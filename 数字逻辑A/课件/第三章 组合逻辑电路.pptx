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wav"/>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9" r:id="rId1"/>
  </p:sldMasterIdLst>
  <p:notesMasterIdLst>
    <p:notesMasterId r:id="rId114"/>
  </p:notesMasterIdLst>
  <p:handoutMasterIdLst>
    <p:handoutMasterId r:id="rId115"/>
  </p:handoutMasterIdLst>
  <p:sldIdLst>
    <p:sldId id="343" r:id="rId2"/>
    <p:sldId id="422" r:id="rId3"/>
    <p:sldId id="297" r:id="rId4"/>
    <p:sldId id="518" r:id="rId5"/>
    <p:sldId id="374" r:id="rId6"/>
    <p:sldId id="423" r:id="rId7"/>
    <p:sldId id="424" r:id="rId8"/>
    <p:sldId id="425" r:id="rId9"/>
    <p:sldId id="426" r:id="rId10"/>
    <p:sldId id="427" r:id="rId11"/>
    <p:sldId id="428" r:id="rId12"/>
    <p:sldId id="429" r:id="rId13"/>
    <p:sldId id="430" r:id="rId14"/>
    <p:sldId id="431" r:id="rId15"/>
    <p:sldId id="532" r:id="rId16"/>
    <p:sldId id="432" r:id="rId17"/>
    <p:sldId id="506" r:id="rId18"/>
    <p:sldId id="433" r:id="rId19"/>
    <p:sldId id="507" r:id="rId20"/>
    <p:sldId id="434" r:id="rId21"/>
    <p:sldId id="508" r:id="rId22"/>
    <p:sldId id="435" r:id="rId23"/>
    <p:sldId id="509" r:id="rId24"/>
    <p:sldId id="436" r:id="rId25"/>
    <p:sldId id="533" r:id="rId26"/>
    <p:sldId id="534" r:id="rId27"/>
    <p:sldId id="535" r:id="rId28"/>
    <p:sldId id="536" r:id="rId29"/>
    <p:sldId id="492" r:id="rId30"/>
    <p:sldId id="493" r:id="rId31"/>
    <p:sldId id="437" r:id="rId32"/>
    <p:sldId id="443" r:id="rId33"/>
    <p:sldId id="511" r:id="rId34"/>
    <p:sldId id="519" r:id="rId35"/>
    <p:sldId id="520" r:id="rId36"/>
    <p:sldId id="521" r:id="rId37"/>
    <p:sldId id="522" r:id="rId38"/>
    <p:sldId id="523" r:id="rId39"/>
    <p:sldId id="524" r:id="rId40"/>
    <p:sldId id="510" r:id="rId41"/>
    <p:sldId id="512" r:id="rId42"/>
    <p:sldId id="444" r:id="rId43"/>
    <p:sldId id="495" r:id="rId44"/>
    <p:sldId id="494" r:id="rId45"/>
    <p:sldId id="497" r:id="rId46"/>
    <p:sldId id="498" r:id="rId47"/>
    <p:sldId id="513" r:id="rId48"/>
    <p:sldId id="499" r:id="rId49"/>
    <p:sldId id="500" r:id="rId50"/>
    <p:sldId id="501" r:id="rId51"/>
    <p:sldId id="514" r:id="rId52"/>
    <p:sldId id="525" r:id="rId53"/>
    <p:sldId id="526" r:id="rId54"/>
    <p:sldId id="527" r:id="rId55"/>
    <p:sldId id="516" r:id="rId56"/>
    <p:sldId id="438" r:id="rId57"/>
    <p:sldId id="439" r:id="rId58"/>
    <p:sldId id="440" r:id="rId59"/>
    <p:sldId id="441" r:id="rId60"/>
    <p:sldId id="477" r:id="rId61"/>
    <p:sldId id="478" r:id="rId62"/>
    <p:sldId id="442" r:id="rId63"/>
    <p:sldId id="531" r:id="rId64"/>
    <p:sldId id="445" r:id="rId65"/>
    <p:sldId id="528" r:id="rId66"/>
    <p:sldId id="529" r:id="rId67"/>
    <p:sldId id="530" r:id="rId68"/>
    <p:sldId id="479" r:id="rId69"/>
    <p:sldId id="408" r:id="rId70"/>
    <p:sldId id="447" r:id="rId71"/>
    <p:sldId id="448" r:id="rId72"/>
    <p:sldId id="503" r:id="rId73"/>
    <p:sldId id="504" r:id="rId74"/>
    <p:sldId id="451" r:id="rId75"/>
    <p:sldId id="452" r:id="rId76"/>
    <p:sldId id="453" r:id="rId77"/>
    <p:sldId id="454" r:id="rId78"/>
    <p:sldId id="455" r:id="rId79"/>
    <p:sldId id="460" r:id="rId80"/>
    <p:sldId id="456" r:id="rId81"/>
    <p:sldId id="457" r:id="rId82"/>
    <p:sldId id="458" r:id="rId83"/>
    <p:sldId id="459" r:id="rId84"/>
    <p:sldId id="461" r:id="rId85"/>
    <p:sldId id="466" r:id="rId86"/>
    <p:sldId id="464" r:id="rId87"/>
    <p:sldId id="467" r:id="rId88"/>
    <p:sldId id="463" r:id="rId89"/>
    <p:sldId id="480" r:id="rId90"/>
    <p:sldId id="481" r:id="rId91"/>
    <p:sldId id="468" r:id="rId92"/>
    <p:sldId id="470" r:id="rId93"/>
    <p:sldId id="471" r:id="rId94"/>
    <p:sldId id="472" r:id="rId95"/>
    <p:sldId id="473" r:id="rId96"/>
    <p:sldId id="469" r:id="rId97"/>
    <p:sldId id="505" r:id="rId98"/>
    <p:sldId id="462" r:id="rId99"/>
    <p:sldId id="475" r:id="rId100"/>
    <p:sldId id="476" r:id="rId101"/>
    <p:sldId id="474" r:id="rId102"/>
    <p:sldId id="517" r:id="rId103"/>
    <p:sldId id="482" r:id="rId104"/>
    <p:sldId id="483" r:id="rId105"/>
    <p:sldId id="484" r:id="rId106"/>
    <p:sldId id="485" r:id="rId107"/>
    <p:sldId id="486" r:id="rId108"/>
    <p:sldId id="487" r:id="rId109"/>
    <p:sldId id="488" r:id="rId110"/>
    <p:sldId id="489" r:id="rId111"/>
    <p:sldId id="490" r:id="rId112"/>
    <p:sldId id="491" r:id="rId11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ACB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72" autoAdjust="0"/>
    <p:restoredTop sz="93532" autoAdjust="0"/>
  </p:normalViewPr>
  <p:slideViewPr>
    <p:cSldViewPr snapToGrid="0">
      <p:cViewPr varScale="1">
        <p:scale>
          <a:sx n="83" d="100"/>
          <a:sy n="83" d="100"/>
        </p:scale>
        <p:origin x="-948" y="-90"/>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14220"/>
    </p:cViewPr>
  </p:sorterViewPr>
  <p:notesViewPr>
    <p:cSldViewPr snapToGrid="0">
      <p:cViewPr varScale="1">
        <p:scale>
          <a:sx n="55" d="100"/>
          <a:sy n="55" d="100"/>
        </p:scale>
        <p:origin x="-18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slide" Target="slides/slide7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10" Type="http://schemas.openxmlformats.org/officeDocument/2006/relationships/image" Target="../media/image57.wmf"/><Relationship Id="rId4" Type="http://schemas.openxmlformats.org/officeDocument/2006/relationships/image" Target="../media/image51.wmf"/><Relationship Id="rId9" Type="http://schemas.openxmlformats.org/officeDocument/2006/relationships/image" Target="../media/image5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5" Type="http://schemas.openxmlformats.org/officeDocument/2006/relationships/image" Target="../media/image97.wmf"/><Relationship Id="rId4" Type="http://schemas.openxmlformats.org/officeDocument/2006/relationships/image" Target="../media/image9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95.wmf"/><Relationship Id="rId4" Type="http://schemas.openxmlformats.org/officeDocument/2006/relationships/image" Target="../media/image9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95.wmf"/><Relationship Id="rId1" Type="http://schemas.openxmlformats.org/officeDocument/2006/relationships/image" Target="../media/image105.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11.wmf"/><Relationship Id="rId1" Type="http://schemas.openxmlformats.org/officeDocument/2006/relationships/image" Target="../media/image11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9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31.wmf"/><Relationship Id="rId1" Type="http://schemas.openxmlformats.org/officeDocument/2006/relationships/image" Target="../media/image13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31.wmf"/><Relationship Id="rId1" Type="http://schemas.openxmlformats.org/officeDocument/2006/relationships/image" Target="../media/image13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4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55.wmf"/><Relationship Id="rId1" Type="http://schemas.openxmlformats.org/officeDocument/2006/relationships/image" Target="../media/image154.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5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5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71.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72.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7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290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290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290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69CCF64-C200-4806-B72C-4230EBFCD86C}" type="slidenum">
              <a:rPr lang="en-US" altLang="zh-CN"/>
              <a:pPr>
                <a:defRPr/>
              </a:pPr>
              <a:t>‹#›</a:t>
            </a:fld>
            <a:endParaRPr lang="en-US" altLang="zh-CN"/>
          </a:p>
        </p:txBody>
      </p:sp>
    </p:spTree>
    <p:extLst>
      <p:ext uri="{BB962C8B-B14F-4D97-AF65-F5344CB8AC3E}">
        <p14:creationId xmlns:p14="http://schemas.microsoft.com/office/powerpoint/2010/main" val="30027419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2800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136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2800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2800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D5BAD3-3B7F-4C74-B7CF-79BE24AFC129}" type="slidenum">
              <a:rPr lang="en-US" altLang="zh-CN"/>
              <a:pPr>
                <a:defRPr/>
              </a:pPr>
              <a:t>‹#›</a:t>
            </a:fld>
            <a:endParaRPr lang="en-US" altLang="zh-CN"/>
          </a:p>
        </p:txBody>
      </p:sp>
    </p:spTree>
    <p:extLst>
      <p:ext uri="{BB962C8B-B14F-4D97-AF65-F5344CB8AC3E}">
        <p14:creationId xmlns:p14="http://schemas.microsoft.com/office/powerpoint/2010/main" val="37623318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7EBCE346-8FB1-4D17-AD94-348BF439F8F3}" type="slidenum">
              <a:rPr lang="en-US" altLang="zh-CN" sz="1200" smtClean="0"/>
              <a:pPr eaLnBrk="1" hangingPunct="1"/>
              <a:t>1</a:t>
            </a:fld>
            <a:endParaRPr lang="en-US" altLang="zh-CN" sz="12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5174964-7294-44B5-901C-EC40E71ACED9}" type="slidenum">
              <a:rPr lang="en-US" altLang="zh-CN" sz="1200" smtClean="0"/>
              <a:pPr eaLnBrk="1" hangingPunct="1"/>
              <a:t>2</a:t>
            </a:fld>
            <a:endParaRPr lang="en-US" altLang="zh-CN" sz="12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6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F27BD5C-2E8B-4EE6-AC9A-FA69A0B68743}" type="slidenum">
              <a:rPr lang="en-US" altLang="zh-CN" sz="1200" smtClean="0"/>
              <a:pPr eaLnBrk="1" hangingPunct="1"/>
              <a:t>3</a:t>
            </a:fld>
            <a:endParaRPr lang="en-US" altLang="zh-CN" sz="12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7764" name="灯片编号占位符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0F3C7F7F-2C73-4148-B524-0A1E796C92EC}" type="slidenum">
              <a:rPr lang="en-US" altLang="zh-CN" sz="1200"/>
              <a:pPr algn="r" eaLnBrk="1" hangingPunct="1"/>
              <a:t>4</a:t>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8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5180E31-5882-417C-9D13-20AC7FA6194B}" type="slidenum">
              <a:rPr lang="en-US" altLang="zh-CN" sz="1200" smtClean="0"/>
              <a:pPr eaLnBrk="1" hangingPunct="1"/>
              <a:t>5</a:t>
            </a:fld>
            <a:endParaRPr lang="en-US" altLang="zh-CN" sz="120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0F01EEA-07A7-47CF-9134-12A2F618889C}" type="slidenum">
              <a:rPr lang="en-US" altLang="zh-CN" sz="1200" smtClean="0"/>
              <a:pPr eaLnBrk="1" hangingPunct="1"/>
              <a:t>6</a:t>
            </a:fld>
            <a:endParaRPr lang="en-US" altLang="zh-CN"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DBB4003-861B-4676-ABFA-B0C8DDD07B15}" type="slidenum">
              <a:rPr lang="en-US" altLang="zh-CN" sz="1200" smtClean="0"/>
              <a:pPr eaLnBrk="1" hangingPunct="1"/>
              <a:t>7</a:t>
            </a:fld>
            <a:endParaRPr lang="en-US" altLang="zh-CN" sz="120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D761DF1-B6D2-46C3-9019-8E0C9EB1E9CC}" type="slidenum">
              <a:rPr lang="en-US" altLang="zh-CN" sz="1200" smtClean="0"/>
              <a:pPr eaLnBrk="1" hangingPunct="1"/>
              <a:t>8</a:t>
            </a:fld>
            <a:endParaRPr lang="en-US" altLang="zh-CN" sz="120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242CE88-B1E7-41F6-B49D-2AA59723AB53}" type="slidenum">
              <a:rPr lang="en-US" altLang="zh-CN" sz="1200" smtClean="0"/>
              <a:pPr eaLnBrk="1" hangingPunct="1"/>
              <a:t>9</a:t>
            </a:fld>
            <a:endParaRPr lang="en-US" altLang="zh-CN" sz="120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09B548-43E7-4181-B784-64A1417F9152}" type="slidenum">
              <a:rPr lang="en-US" altLang="zh-CN" sz="1200" smtClean="0"/>
              <a:pPr eaLnBrk="1" hangingPunct="1"/>
              <a:t>10</a:t>
            </a:fld>
            <a:endParaRPr lang="en-US" altLang="zh-CN" sz="12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F184ABA-F983-407A-823E-1C074B1A3EC4}" type="slidenum">
              <a:rPr lang="en-US" altLang="zh-CN" sz="1200" smtClean="0"/>
              <a:pPr eaLnBrk="1" hangingPunct="1"/>
              <a:t>11</a:t>
            </a:fld>
            <a:endParaRPr lang="en-US" altLang="zh-CN" sz="12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609433E-2EDE-4FBC-9AB4-84AB5792FF7E}" type="slidenum">
              <a:rPr lang="en-US" altLang="zh-CN" sz="1200" smtClean="0"/>
              <a:pPr eaLnBrk="1" hangingPunct="1"/>
              <a:t>12</a:t>
            </a:fld>
            <a:endParaRPr lang="en-US" altLang="zh-CN" sz="120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40BA592-2336-4554-8151-EBC294320084}" type="slidenum">
              <a:rPr lang="en-US" altLang="zh-CN" sz="1200" smtClean="0"/>
              <a:pPr eaLnBrk="1" hangingPunct="1"/>
              <a:t>13</a:t>
            </a:fld>
            <a:endParaRPr lang="en-US" altLang="zh-CN" sz="120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49E6018-FD76-4A89-8ACB-4D699AC93521}" type="slidenum">
              <a:rPr lang="en-US" altLang="zh-CN" sz="1200" smtClean="0"/>
              <a:pPr eaLnBrk="1" hangingPunct="1"/>
              <a:t>14</a:t>
            </a:fld>
            <a:endParaRPr lang="en-US" altLang="zh-CN" sz="120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49E6018-FD76-4A89-8ACB-4D699AC93521}" type="slidenum">
              <a:rPr lang="en-US" altLang="zh-CN" sz="1200" smtClean="0"/>
              <a:pPr eaLnBrk="1" hangingPunct="1"/>
              <a:t>15</a:t>
            </a:fld>
            <a:endParaRPr lang="en-US" altLang="zh-CN" sz="120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44E9967-7D83-4893-823A-BE842B868384}" type="slidenum">
              <a:rPr lang="en-US" altLang="zh-CN" sz="1200" smtClean="0"/>
              <a:pPr eaLnBrk="1" hangingPunct="1"/>
              <a:t>16</a:t>
            </a:fld>
            <a:endParaRPr lang="en-US" altLang="zh-CN" sz="120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14740F06-47EC-46FB-8224-B5EFE08AAA37}" type="slidenum">
              <a:rPr lang="en-US" altLang="zh-CN" sz="1200" smtClean="0"/>
              <a:pPr eaLnBrk="1" hangingPunct="1"/>
              <a:t>18</a:t>
            </a:fld>
            <a:endParaRPr lang="en-US" altLang="zh-CN" sz="120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4DAABC8-E543-4C1E-BE78-EAF0EFCC75A9}" type="slidenum">
              <a:rPr lang="en-US" altLang="zh-CN" sz="1200" smtClean="0"/>
              <a:pPr eaLnBrk="1" hangingPunct="1"/>
              <a:t>20</a:t>
            </a:fld>
            <a:endParaRPr lang="en-US" altLang="zh-CN" sz="120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65B65F6-C273-4584-B21A-5368957F721D}" type="slidenum">
              <a:rPr lang="en-US" altLang="zh-CN" sz="1200" smtClean="0"/>
              <a:pPr eaLnBrk="1" hangingPunct="1"/>
              <a:t>22</a:t>
            </a:fld>
            <a:endParaRPr lang="en-US" altLang="zh-CN" sz="120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6E0A27D-8345-42B3-9585-B39E93B1B8FA}" type="slidenum">
              <a:rPr lang="en-US" altLang="zh-CN" sz="1200" smtClean="0"/>
              <a:pPr eaLnBrk="1" hangingPunct="1"/>
              <a:t>24</a:t>
            </a:fld>
            <a:endParaRPr lang="en-US" altLang="zh-CN" sz="120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8F64CBB-C54B-4DF6-852E-68B0E2D7EFAF}" type="slidenum">
              <a:rPr lang="en-US" altLang="zh-CN" sz="1200" smtClean="0"/>
              <a:pPr eaLnBrk="1" hangingPunct="1"/>
              <a:t>29</a:t>
            </a:fld>
            <a:endParaRPr lang="en-US" altLang="zh-CN" sz="120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106D914-5470-491F-8F23-1704C91C3DA5}" type="slidenum">
              <a:rPr lang="en-US" altLang="zh-CN" sz="1200" smtClean="0"/>
              <a:pPr eaLnBrk="1" hangingPunct="1"/>
              <a:t>30</a:t>
            </a:fld>
            <a:endParaRPr lang="en-US" altLang="zh-CN" sz="120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6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D98F9F8-25BC-4CE6-8825-54A29B62962E}" type="slidenum">
              <a:rPr lang="en-US" altLang="zh-CN" sz="1200" smtClean="0"/>
              <a:pPr eaLnBrk="1" hangingPunct="1"/>
              <a:t>31</a:t>
            </a:fld>
            <a:endParaRPr lang="en-US" altLang="zh-CN" sz="120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B4889D5-976B-4915-83A4-98C8607DCB50}" type="slidenum">
              <a:rPr lang="en-US" altLang="zh-CN" sz="1200" smtClean="0"/>
              <a:pPr eaLnBrk="1" hangingPunct="1"/>
              <a:t>32</a:t>
            </a:fld>
            <a:endParaRPr lang="en-US" altLang="zh-CN" sz="120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8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9945192-4FBF-454C-8647-66E139B409AF}" type="slidenum">
              <a:rPr lang="en-US" altLang="zh-CN" sz="1200" smtClean="0"/>
              <a:pPr eaLnBrk="1" hangingPunct="1"/>
              <a:t>42</a:t>
            </a:fld>
            <a:endParaRPr lang="en-US" altLang="zh-CN" sz="120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228F24E-B7E3-47D7-8EEF-AFD2C4E155BA}" type="slidenum">
              <a:rPr lang="en-US" altLang="zh-CN" sz="1200" smtClean="0"/>
              <a:pPr eaLnBrk="1" hangingPunct="1"/>
              <a:t>43</a:t>
            </a:fld>
            <a:endParaRPr lang="en-US" altLang="zh-CN" sz="120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0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FEAC267-BE95-4DAE-93DA-B490A4867C08}" type="slidenum">
              <a:rPr lang="en-US" altLang="zh-CN" sz="1200" smtClean="0"/>
              <a:pPr eaLnBrk="1" hangingPunct="1"/>
              <a:t>44</a:t>
            </a:fld>
            <a:endParaRPr lang="en-US" altLang="zh-CN" sz="120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13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D69E097-E5D1-4E1E-8521-3A9D64CEC3EC}" type="slidenum">
              <a:rPr lang="en-US" altLang="zh-CN" sz="1200" smtClean="0"/>
              <a:pPr eaLnBrk="1" hangingPunct="1"/>
              <a:t>45</a:t>
            </a:fld>
            <a:endParaRPr lang="en-US" altLang="zh-CN" sz="120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2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46515A9-F8D2-4CD3-A4CF-8A98F667F6D6}" type="slidenum">
              <a:rPr lang="en-US" altLang="zh-CN" sz="1200" smtClean="0"/>
              <a:pPr eaLnBrk="1" hangingPunct="1"/>
              <a:t>46</a:t>
            </a:fld>
            <a:endParaRPr lang="en-US" altLang="zh-CN" sz="120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3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23C7C60-5424-4446-AC1C-1FBE35874DB2}" type="slidenum">
              <a:rPr lang="en-US" altLang="zh-CN" sz="1200" smtClean="0"/>
              <a:pPr eaLnBrk="1" hangingPunct="1"/>
              <a:t>48</a:t>
            </a:fld>
            <a:endParaRPr lang="en-US" altLang="zh-CN" sz="120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43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1DA396B-4B15-4C4F-A908-C3993C492F62}" type="slidenum">
              <a:rPr lang="en-US" altLang="zh-CN" sz="1200" smtClean="0"/>
              <a:pPr eaLnBrk="1" hangingPunct="1"/>
              <a:t>49</a:t>
            </a:fld>
            <a:endParaRPr lang="en-US" altLang="zh-CN" sz="120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5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5B9E809-35B4-475F-B131-6F9C98F5AE2D}" type="slidenum">
              <a:rPr lang="en-US" altLang="zh-CN" sz="1200" smtClean="0"/>
              <a:pPr eaLnBrk="1" hangingPunct="1"/>
              <a:t>50</a:t>
            </a:fld>
            <a:endParaRPr lang="en-US" altLang="zh-CN" sz="120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6436" name="灯片编号占位符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BA9162B5-91FE-4968-800D-349A8C62E773}" type="slidenum">
              <a:rPr lang="en-US" altLang="zh-CN" sz="1200"/>
              <a:pPr algn="r" eaLnBrk="1" hangingPunct="1"/>
              <a:t>52</a:t>
            </a:fld>
            <a:endParaRPr lang="en-US" altLang="zh-CN"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7460" name="灯片编号占位符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E248A10F-1A59-47DF-8D16-61B2E6FAD7C9}" type="slidenum">
              <a:rPr lang="en-US" altLang="zh-CN" sz="1200"/>
              <a:pPr algn="r" eaLnBrk="1" hangingPunct="1"/>
              <a:t>53</a:t>
            </a:fld>
            <a:endParaRPr lang="en-US" altLang="zh-CN"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8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6D21084-FCB3-4521-9611-1878B1C57203}" type="slidenum">
              <a:rPr lang="en-US" altLang="zh-CN" sz="1200" smtClean="0"/>
              <a:pPr eaLnBrk="1" hangingPunct="1"/>
              <a:t>56</a:t>
            </a:fld>
            <a:endParaRPr lang="en-US" altLang="zh-CN" sz="120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D897542-4FC8-43F2-AF1A-247DC90C0509}" type="slidenum">
              <a:rPr lang="en-US" altLang="zh-CN" sz="1200" smtClean="0"/>
              <a:pPr eaLnBrk="1" hangingPunct="1"/>
              <a:t>57</a:t>
            </a:fld>
            <a:endParaRPr lang="en-US" altLang="zh-CN" sz="120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0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D09EDC3-7CC0-4091-A56C-E52BA2789BA9}" type="slidenum">
              <a:rPr lang="en-US" altLang="zh-CN" sz="1200" smtClean="0"/>
              <a:pPr eaLnBrk="1" hangingPunct="1"/>
              <a:t>58</a:t>
            </a:fld>
            <a:endParaRPr lang="en-US" altLang="zh-CN" sz="120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3F79430-EDEC-4C16-8AB5-D641B981CF8F}" type="slidenum">
              <a:rPr lang="en-US" altLang="zh-CN" sz="1200" smtClean="0"/>
              <a:pPr eaLnBrk="1" hangingPunct="1"/>
              <a:t>59</a:t>
            </a:fld>
            <a:endParaRPr lang="en-US" altLang="zh-CN" sz="120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2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C83AC6F-9A3B-4CAE-A541-923F333227E9}" type="slidenum">
              <a:rPr lang="en-US" altLang="zh-CN" sz="1200" smtClean="0"/>
              <a:pPr eaLnBrk="1" hangingPunct="1"/>
              <a:t>60</a:t>
            </a:fld>
            <a:endParaRPr lang="en-US" altLang="zh-CN" sz="120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a:ln/>
        </p:spPr>
      </p:sp>
      <p:sp>
        <p:nvSpPr>
          <p:cNvPr id="1536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36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5BA8446-5B34-4A80-8A0D-3AD4133683B2}" type="slidenum">
              <a:rPr lang="en-US" altLang="zh-CN" sz="1200" smtClean="0"/>
              <a:pPr eaLnBrk="1" hangingPunct="1"/>
              <a:t>61</a:t>
            </a:fld>
            <a:endParaRPr lang="en-US" altLang="zh-CN" sz="120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229E2D5-1FBB-4529-AFC7-FCA82E5F9192}" type="slidenum">
              <a:rPr lang="en-US" altLang="zh-CN" sz="1200" smtClean="0"/>
              <a:pPr eaLnBrk="1" hangingPunct="1"/>
              <a:t>62</a:t>
            </a:fld>
            <a:endParaRPr lang="en-US" altLang="zh-CN" sz="1200" smtClean="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FC34B881-CABE-4442-979F-00F12BA61F74}" type="slidenum">
              <a:rPr lang="en-US" altLang="zh-CN" sz="1200"/>
              <a:pPr algn="r" eaLnBrk="1" hangingPunct="1"/>
              <a:t>63</a:t>
            </a:fld>
            <a:endParaRPr lang="en-US" altLang="zh-CN"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6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EE69732-49CB-418D-80FC-57EB857F5B36}" type="slidenum">
              <a:rPr lang="en-US" altLang="zh-CN" sz="1200" smtClean="0"/>
              <a:pPr eaLnBrk="1" hangingPunct="1"/>
              <a:t>64</a:t>
            </a:fld>
            <a:endParaRPr lang="en-US" altLang="zh-CN" sz="120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7700" name="灯片编号占位符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4825441F-B513-4590-B811-0E114B676D32}" type="slidenum">
              <a:rPr lang="en-US" altLang="zh-CN" sz="1200"/>
              <a:pPr algn="r" eaLnBrk="1" hangingPunct="1"/>
              <a:t>66</a:t>
            </a:fld>
            <a:endParaRPr lang="en-US" altLang="zh-CN"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8724" name="灯片编号占位符 3"/>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fld id="{A924F45D-C45B-4E16-8A41-FC243FA5BAF6}" type="slidenum">
              <a:rPr lang="en-US" altLang="zh-CN" sz="1200"/>
              <a:pPr algn="r" eaLnBrk="1" hangingPunct="1"/>
              <a:t>67</a:t>
            </a:fld>
            <a:endParaRPr lang="en-US" altLang="zh-CN"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0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239B65C-4EC2-4C9F-B04F-D94E7FD79010}" type="slidenum">
              <a:rPr lang="en-US" altLang="zh-CN" sz="1200" smtClean="0"/>
              <a:pPr eaLnBrk="1" hangingPunct="1"/>
              <a:t>68</a:t>
            </a:fld>
            <a:endParaRPr lang="en-US" altLang="zh-CN" sz="120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1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57129AF-D4AB-4AFC-BB71-02238DAAF54E}" type="slidenum">
              <a:rPr lang="en-US" altLang="zh-CN" sz="1200" smtClean="0"/>
              <a:pPr eaLnBrk="1" hangingPunct="1"/>
              <a:t>69</a:t>
            </a:fld>
            <a:endParaRPr lang="en-US" altLang="zh-CN" sz="120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2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B7F3049-CA25-4047-A415-ED037F8D397C}" type="slidenum">
              <a:rPr lang="en-US" altLang="zh-CN" sz="1200" smtClean="0"/>
              <a:pPr eaLnBrk="1" hangingPunct="1"/>
              <a:t>70</a:t>
            </a:fld>
            <a:endParaRPr lang="en-US" altLang="zh-CN" sz="120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ln/>
        </p:spPr>
      </p:sp>
      <p:sp>
        <p:nvSpPr>
          <p:cNvPr id="163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3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A905924-B99C-4949-91F1-A21C0C744922}" type="slidenum">
              <a:rPr lang="en-US" altLang="zh-CN" sz="1200" smtClean="0"/>
              <a:pPr eaLnBrk="1" hangingPunct="1"/>
              <a:t>71</a:t>
            </a:fld>
            <a:endParaRPr lang="en-US" altLang="zh-CN" sz="120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a:ln/>
        </p:spPr>
      </p:sp>
      <p:sp>
        <p:nvSpPr>
          <p:cNvPr id="164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4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F42E52D-F49D-4847-868C-F4580E1942BD}" type="slidenum">
              <a:rPr lang="en-US" altLang="zh-CN" sz="1200" smtClean="0"/>
              <a:pPr eaLnBrk="1" hangingPunct="1"/>
              <a:t>72</a:t>
            </a:fld>
            <a:endParaRPr lang="en-US" altLang="zh-CN" sz="120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a:ln/>
        </p:spPr>
      </p:sp>
      <p:sp>
        <p:nvSpPr>
          <p:cNvPr id="165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5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12236B8-34AD-413C-B170-C012158453FB}" type="slidenum">
              <a:rPr lang="en-US" altLang="zh-CN" sz="1200" smtClean="0"/>
              <a:pPr eaLnBrk="1" hangingPunct="1"/>
              <a:t>74</a:t>
            </a:fld>
            <a:endParaRPr lang="en-US" altLang="zh-CN" sz="120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a:ln/>
        </p:spPr>
      </p:sp>
      <p:sp>
        <p:nvSpPr>
          <p:cNvPr id="166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6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E06128-2394-4B2B-9246-C2E5A5890C89}" type="slidenum">
              <a:rPr lang="en-US" altLang="zh-CN" sz="1200" smtClean="0"/>
              <a:pPr eaLnBrk="1" hangingPunct="1"/>
              <a:t>75</a:t>
            </a:fld>
            <a:endParaRPr lang="en-US" altLang="zh-CN" sz="120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p:cNvSpPr>
            <a:spLocks noGrp="1" noRot="1" noChangeAspect="1" noTextEdit="1"/>
          </p:cNvSpPr>
          <p:nvPr>
            <p:ph type="sldImg"/>
          </p:nvPr>
        </p:nvSpPr>
        <p:spPr>
          <a:ln/>
        </p:spPr>
      </p:sp>
      <p:sp>
        <p:nvSpPr>
          <p:cNvPr id="167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7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B248008-5725-479F-9547-5D996447D761}" type="slidenum">
              <a:rPr lang="en-US" altLang="zh-CN" sz="1200" smtClean="0"/>
              <a:pPr eaLnBrk="1" hangingPunct="1"/>
              <a:t>76</a:t>
            </a:fld>
            <a:endParaRPr lang="en-US" altLang="zh-CN" sz="120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a:ln/>
        </p:spPr>
      </p:sp>
      <p:sp>
        <p:nvSpPr>
          <p:cNvPr id="168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8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A6921FC-CDAA-4255-B2D8-062799AAF26E}" type="slidenum">
              <a:rPr lang="en-US" altLang="zh-CN" sz="1200" smtClean="0"/>
              <a:pPr eaLnBrk="1" hangingPunct="1"/>
              <a:t>77</a:t>
            </a:fld>
            <a:endParaRPr lang="en-US" altLang="zh-CN" sz="1200"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a:ln/>
        </p:spPr>
      </p:sp>
      <p:sp>
        <p:nvSpPr>
          <p:cNvPr id="169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69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25F2675-E211-4219-A2D7-5F6C73AE0AE0}" type="slidenum">
              <a:rPr lang="en-US" altLang="zh-CN" sz="1200" smtClean="0"/>
              <a:pPr eaLnBrk="1" hangingPunct="1"/>
              <a:t>78</a:t>
            </a:fld>
            <a:endParaRPr lang="en-US" altLang="zh-CN" sz="1200"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a:ln/>
        </p:spPr>
      </p:sp>
      <p:sp>
        <p:nvSpPr>
          <p:cNvPr id="171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1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FFFEB17-D534-407C-8135-BCF0435160C6}" type="slidenum">
              <a:rPr lang="en-US" altLang="zh-CN" sz="1200" smtClean="0"/>
              <a:pPr eaLnBrk="1" hangingPunct="1"/>
              <a:t>79</a:t>
            </a:fld>
            <a:endParaRPr lang="en-US" altLang="zh-CN" sz="1200"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TextEdit="1"/>
          </p:cNvSpPr>
          <p:nvPr>
            <p:ph type="sldImg"/>
          </p:nvPr>
        </p:nvSpPr>
        <p:spPr>
          <a:ln/>
        </p:spPr>
      </p:sp>
      <p:sp>
        <p:nvSpPr>
          <p:cNvPr id="172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2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D68B361-293A-4C95-9044-C2FEAA46A8D6}" type="slidenum">
              <a:rPr lang="en-US" altLang="zh-CN" sz="1200" smtClean="0"/>
              <a:pPr eaLnBrk="1" hangingPunct="1"/>
              <a:t>80</a:t>
            </a:fld>
            <a:endParaRPr lang="en-US" altLang="zh-CN" sz="1200"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a:ln/>
        </p:spPr>
      </p:sp>
      <p:sp>
        <p:nvSpPr>
          <p:cNvPr id="1730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30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24ABBDF-437E-4533-8936-CBDD07409D3C}" type="slidenum">
              <a:rPr lang="en-US" altLang="zh-CN" sz="1200" smtClean="0"/>
              <a:pPr eaLnBrk="1" hangingPunct="1"/>
              <a:t>81</a:t>
            </a:fld>
            <a:endParaRPr lang="en-US" altLang="zh-CN" sz="1200"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a:ln/>
        </p:spPr>
      </p:sp>
      <p:sp>
        <p:nvSpPr>
          <p:cNvPr id="174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4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19E57BD-171E-4FDC-84A9-25F0543B175A}" type="slidenum">
              <a:rPr lang="en-US" altLang="zh-CN" sz="1200" smtClean="0"/>
              <a:pPr eaLnBrk="1" hangingPunct="1"/>
              <a:t>82</a:t>
            </a:fld>
            <a:endParaRPr lang="en-US" altLang="zh-CN" sz="1200"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a:ln/>
        </p:spPr>
      </p:sp>
      <p:sp>
        <p:nvSpPr>
          <p:cNvPr id="175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5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7747C5-8DD2-4AD8-A53B-4F75D8EC1012}" type="slidenum">
              <a:rPr lang="en-US" altLang="zh-CN" sz="1200" smtClean="0"/>
              <a:pPr eaLnBrk="1" hangingPunct="1"/>
              <a:t>83</a:t>
            </a:fld>
            <a:endParaRPr lang="en-US" altLang="zh-CN" sz="1200"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a:ln/>
        </p:spPr>
      </p:sp>
      <p:sp>
        <p:nvSpPr>
          <p:cNvPr id="1761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61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7002FE91-CA83-4B0E-81C4-EEE4F81270BD}" type="slidenum">
              <a:rPr lang="en-US" altLang="zh-CN" sz="1200" smtClean="0"/>
              <a:pPr eaLnBrk="1" hangingPunct="1"/>
              <a:t>84</a:t>
            </a:fld>
            <a:endParaRPr lang="en-US" altLang="zh-CN" sz="1200"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a:ln/>
        </p:spPr>
      </p:sp>
      <p:sp>
        <p:nvSpPr>
          <p:cNvPr id="1771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71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DF5D168-306B-4B40-8F9A-13F217DDDECF}" type="slidenum">
              <a:rPr lang="en-US" altLang="zh-CN" sz="1200" smtClean="0"/>
              <a:pPr eaLnBrk="1" hangingPunct="1"/>
              <a:t>85</a:t>
            </a:fld>
            <a:endParaRPr lang="en-US" altLang="zh-CN" sz="1200"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a:ln/>
        </p:spPr>
      </p:sp>
      <p:sp>
        <p:nvSpPr>
          <p:cNvPr id="178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8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B0E4BC5-2E80-45B1-8DA4-C2DCAA3FE4E2}" type="slidenum">
              <a:rPr lang="en-US" altLang="zh-CN" sz="1200" smtClean="0"/>
              <a:pPr eaLnBrk="1" hangingPunct="1"/>
              <a:t>86</a:t>
            </a:fld>
            <a:endParaRPr lang="en-US" altLang="zh-CN" sz="1200"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p:cNvSpPr>
            <a:spLocks noGrp="1" noRot="1" noChangeAspect="1" noTextEdit="1"/>
          </p:cNvSpPr>
          <p:nvPr>
            <p:ph type="sldImg"/>
          </p:nvPr>
        </p:nvSpPr>
        <p:spPr>
          <a:ln/>
        </p:spPr>
      </p:sp>
      <p:sp>
        <p:nvSpPr>
          <p:cNvPr id="179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9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D0EB6D1-C180-428B-AF03-D80F3AA4BE0E}" type="slidenum">
              <a:rPr lang="en-US" altLang="zh-CN" sz="1200" smtClean="0"/>
              <a:pPr eaLnBrk="1" hangingPunct="1"/>
              <a:t>87</a:t>
            </a:fld>
            <a:endParaRPr lang="en-US" altLang="zh-CN" sz="1200"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a:ln/>
        </p:spPr>
      </p:sp>
      <p:sp>
        <p:nvSpPr>
          <p:cNvPr id="180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0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3C36E51-F5F2-4503-B45F-A460ED12903D}" type="slidenum">
              <a:rPr lang="en-US" altLang="zh-CN" sz="1200" smtClean="0"/>
              <a:pPr eaLnBrk="1" hangingPunct="1"/>
              <a:t>88</a:t>
            </a:fld>
            <a:endParaRPr lang="en-US" altLang="zh-CN" sz="1200"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a:ln/>
        </p:spPr>
      </p:sp>
      <p:sp>
        <p:nvSpPr>
          <p:cNvPr id="181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1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346947D-E518-4EFF-97E4-5AA19AF20654}" type="slidenum">
              <a:rPr lang="en-US" altLang="zh-CN" sz="1200" smtClean="0"/>
              <a:pPr eaLnBrk="1" hangingPunct="1"/>
              <a:t>89</a:t>
            </a:fld>
            <a:endParaRPr lang="en-US" altLang="zh-CN" sz="1200"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a:ln/>
        </p:spPr>
      </p:sp>
      <p:sp>
        <p:nvSpPr>
          <p:cNvPr id="182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2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A8D0141-6158-419D-AAD5-46774A3A83A3}" type="slidenum">
              <a:rPr lang="en-US" altLang="zh-CN" sz="1200" smtClean="0"/>
              <a:pPr eaLnBrk="1" hangingPunct="1"/>
              <a:t>90</a:t>
            </a:fld>
            <a:endParaRPr lang="en-US" altLang="zh-CN" sz="1200"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a:ln/>
        </p:spPr>
      </p:sp>
      <p:sp>
        <p:nvSpPr>
          <p:cNvPr id="183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3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15A4F97-C92D-47B9-9F92-09507DB5768A}" type="slidenum">
              <a:rPr lang="en-US" altLang="zh-CN" sz="1200" smtClean="0"/>
              <a:pPr eaLnBrk="1" hangingPunct="1"/>
              <a:t>91</a:t>
            </a:fld>
            <a:endParaRPr lang="en-US" altLang="zh-CN" sz="1200"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a:ln/>
        </p:spPr>
      </p:sp>
      <p:sp>
        <p:nvSpPr>
          <p:cNvPr id="184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4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94C2BFF-7ED7-43C7-B559-05BBBB01AB30}" type="slidenum">
              <a:rPr lang="en-US" altLang="zh-CN" sz="1200" smtClean="0"/>
              <a:pPr eaLnBrk="1" hangingPunct="1"/>
              <a:t>92</a:t>
            </a:fld>
            <a:endParaRPr lang="en-US" altLang="zh-CN" sz="1200"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TextEdit="1"/>
          </p:cNvSpPr>
          <p:nvPr>
            <p:ph type="sldImg"/>
          </p:nvPr>
        </p:nvSpPr>
        <p:spPr>
          <a:ln/>
        </p:spPr>
      </p:sp>
      <p:sp>
        <p:nvSpPr>
          <p:cNvPr id="1853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53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822FCD9-7E25-4750-A123-66B456552BFF}" type="slidenum">
              <a:rPr lang="en-US" altLang="zh-CN" sz="1200" smtClean="0"/>
              <a:pPr eaLnBrk="1" hangingPunct="1"/>
              <a:t>93</a:t>
            </a:fld>
            <a:endParaRPr lang="en-US" altLang="zh-CN" sz="1200"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a:ln/>
        </p:spPr>
      </p:sp>
      <p:sp>
        <p:nvSpPr>
          <p:cNvPr id="186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6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132F9AC-241C-4ECC-92D5-4B69978D8A9E}" type="slidenum">
              <a:rPr lang="en-US" altLang="zh-CN" sz="1200" smtClean="0"/>
              <a:pPr eaLnBrk="1" hangingPunct="1"/>
              <a:t>94</a:t>
            </a:fld>
            <a:endParaRPr lang="en-US" altLang="zh-CN" sz="1200"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p:cNvSpPr>
            <a:spLocks noGrp="1" noRot="1" noChangeAspect="1" noTextEdit="1"/>
          </p:cNvSpPr>
          <p:nvPr>
            <p:ph type="sldImg"/>
          </p:nvPr>
        </p:nvSpPr>
        <p:spPr>
          <a:ln/>
        </p:spPr>
      </p:sp>
      <p:sp>
        <p:nvSpPr>
          <p:cNvPr id="187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73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FF9AFC7-DEDC-4B30-B408-7D160395164F}" type="slidenum">
              <a:rPr lang="en-US" altLang="zh-CN" sz="1200" smtClean="0"/>
              <a:pPr eaLnBrk="1" hangingPunct="1"/>
              <a:t>95</a:t>
            </a:fld>
            <a:endParaRPr lang="en-US" altLang="zh-CN" sz="1200"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a:ln/>
        </p:spPr>
      </p:sp>
      <p:sp>
        <p:nvSpPr>
          <p:cNvPr id="188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8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1F12B39-27EB-4B55-B904-31F49AE1FCF8}" type="slidenum">
              <a:rPr lang="en-US" altLang="zh-CN" sz="1200" smtClean="0"/>
              <a:pPr eaLnBrk="1" hangingPunct="1"/>
              <a:t>96</a:t>
            </a:fld>
            <a:endParaRPr lang="en-US" altLang="zh-CN" sz="1200"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7DA2387-470F-443B-97AE-C6E754571BF5}" type="slidenum">
              <a:rPr lang="en-US" altLang="zh-CN" sz="1200" smtClean="0"/>
              <a:pPr eaLnBrk="1" hangingPunct="1"/>
              <a:t>98</a:t>
            </a:fld>
            <a:endParaRPr lang="en-US" altLang="zh-CN" sz="1200"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a:ln/>
        </p:spPr>
      </p:sp>
      <p:sp>
        <p:nvSpPr>
          <p:cNvPr id="190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0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BFC131D-346E-469E-A89B-E1B2EFA79FF1}" type="slidenum">
              <a:rPr lang="en-US" altLang="zh-CN" sz="1200" smtClean="0"/>
              <a:pPr eaLnBrk="1" hangingPunct="1"/>
              <a:t>99</a:t>
            </a:fld>
            <a:endParaRPr lang="en-US" altLang="zh-CN" sz="1200"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a:ln/>
        </p:spPr>
      </p:sp>
      <p:sp>
        <p:nvSpPr>
          <p:cNvPr id="1914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14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BFDEAEC-3A3E-4E16-AAE1-E3BA4685C760}" type="slidenum">
              <a:rPr lang="en-US" altLang="zh-CN" sz="1200" smtClean="0"/>
              <a:pPr eaLnBrk="1" hangingPunct="1"/>
              <a:t>100</a:t>
            </a:fld>
            <a:endParaRPr lang="en-US" altLang="zh-CN" sz="1200"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2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EEF2F9F-94FE-48AE-BF33-51255B230BFF}" type="slidenum">
              <a:rPr lang="en-US" altLang="zh-CN" sz="1200" smtClean="0"/>
              <a:pPr eaLnBrk="1" hangingPunct="1"/>
              <a:t>101</a:t>
            </a:fld>
            <a:endParaRPr lang="en-US" altLang="zh-CN" sz="1200"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a:ln/>
        </p:spPr>
      </p:sp>
      <p:sp>
        <p:nvSpPr>
          <p:cNvPr id="193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3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7F6642EE-5EB5-4CBA-B1CE-40218E7E72A2}" type="slidenum">
              <a:rPr lang="en-US" altLang="zh-CN" sz="1200" smtClean="0"/>
              <a:pPr eaLnBrk="1" hangingPunct="1"/>
              <a:t>103</a:t>
            </a:fld>
            <a:endParaRPr lang="en-US" altLang="zh-CN" sz="1200"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a:ln/>
        </p:spPr>
      </p:sp>
      <p:sp>
        <p:nvSpPr>
          <p:cNvPr id="1945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45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97D008E-EE90-48B1-A613-94189C89824F}" type="slidenum">
              <a:rPr lang="en-US" altLang="zh-CN" sz="1200" smtClean="0"/>
              <a:pPr eaLnBrk="1" hangingPunct="1"/>
              <a:t>104</a:t>
            </a:fld>
            <a:endParaRPr lang="en-US" altLang="zh-CN" sz="1200"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TextEdit="1"/>
          </p:cNvSpPr>
          <p:nvPr>
            <p:ph type="sldImg"/>
          </p:nvPr>
        </p:nvSpPr>
        <p:spPr>
          <a:ln/>
        </p:spPr>
      </p:sp>
      <p:sp>
        <p:nvSpPr>
          <p:cNvPr id="195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55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610E627-169F-475E-A66A-DE520413F0AD}" type="slidenum">
              <a:rPr lang="en-US" altLang="zh-CN" sz="1200" smtClean="0"/>
              <a:pPr eaLnBrk="1" hangingPunct="1"/>
              <a:t>105</a:t>
            </a:fld>
            <a:endParaRPr lang="en-US" altLang="zh-CN" sz="1200"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a:ln/>
        </p:spPr>
      </p:sp>
      <p:sp>
        <p:nvSpPr>
          <p:cNvPr id="1966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66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FF1D2E0-229F-49AE-A9A3-B5D3902BB44A}" type="slidenum">
              <a:rPr lang="en-US" altLang="zh-CN" sz="1200" smtClean="0"/>
              <a:pPr eaLnBrk="1" hangingPunct="1"/>
              <a:t>106</a:t>
            </a:fld>
            <a:endParaRPr lang="en-US" altLang="zh-CN" sz="1200"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63E2554-2299-4ED8-9C8D-F928F000CA82}" type="slidenum">
              <a:rPr lang="en-US" altLang="zh-CN" sz="1200" smtClean="0"/>
              <a:pPr eaLnBrk="1" hangingPunct="1"/>
              <a:t>107</a:t>
            </a:fld>
            <a:endParaRPr lang="en-US" altLang="zh-CN" sz="1200"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a:ln/>
        </p:spPr>
      </p:sp>
      <p:sp>
        <p:nvSpPr>
          <p:cNvPr id="1986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86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B31247C-BF29-4E99-9577-60F1C69E2B14}" type="slidenum">
              <a:rPr lang="en-US" altLang="zh-CN" sz="1200" smtClean="0"/>
              <a:pPr eaLnBrk="1" hangingPunct="1"/>
              <a:t>108</a:t>
            </a:fld>
            <a:endParaRPr lang="en-US" altLang="zh-CN" sz="1200"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a:ln/>
        </p:spPr>
      </p:sp>
      <p:sp>
        <p:nvSpPr>
          <p:cNvPr id="199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99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1644E639-5631-4D44-B030-109DED70AD79}" type="slidenum">
              <a:rPr lang="en-US" altLang="zh-CN" sz="1200" smtClean="0"/>
              <a:pPr eaLnBrk="1" hangingPunct="1"/>
              <a:t>109</a:t>
            </a:fld>
            <a:endParaRPr lang="en-US" altLang="zh-CN" sz="1200"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a:ln/>
        </p:spPr>
      </p:sp>
      <p:sp>
        <p:nvSpPr>
          <p:cNvPr id="200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00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793C003E-5F8F-4BE1-A372-EA232A04E546}" type="slidenum">
              <a:rPr lang="en-US" altLang="zh-CN" sz="1200" smtClean="0"/>
              <a:pPr eaLnBrk="1" hangingPunct="1"/>
              <a:t>110</a:t>
            </a:fld>
            <a:endParaRPr lang="en-US" altLang="zh-CN" sz="1200"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幻灯片图像占位符 1"/>
          <p:cNvSpPr>
            <a:spLocks noGrp="1" noRot="1" noChangeAspect="1" noTextEdit="1"/>
          </p:cNvSpPr>
          <p:nvPr>
            <p:ph type="sldImg"/>
          </p:nvPr>
        </p:nvSpPr>
        <p:spPr>
          <a:ln/>
        </p:spPr>
      </p:sp>
      <p:sp>
        <p:nvSpPr>
          <p:cNvPr id="201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01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2843C53-F1AF-44BC-A2EB-E6AB203C6292}" type="slidenum">
              <a:rPr lang="en-US" altLang="zh-CN" sz="1200" smtClean="0"/>
              <a:pPr eaLnBrk="1" hangingPunct="1"/>
              <a:t>111</a:t>
            </a:fld>
            <a:endParaRPr lang="en-US" altLang="zh-CN" sz="1200"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a:ln/>
        </p:spPr>
      </p:sp>
      <p:sp>
        <p:nvSpPr>
          <p:cNvPr id="2027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027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F333EA53-A8A2-4D87-A33B-9E4363BA7F4A}" type="slidenum">
              <a:rPr lang="en-US" altLang="zh-CN" sz="1200" smtClean="0"/>
              <a:pPr eaLnBrk="1" hangingPunct="1"/>
              <a:t>112</a:t>
            </a:fld>
            <a:endParaRPr lang="en-US" altLang="zh-CN" sz="12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10252" name="Rectangle 12"/>
          <p:cNvSpPr>
            <a:spLocks noGrp="1" noChangeArrowheads="1"/>
          </p:cNvSpPr>
          <p:nvPr>
            <p:ph type="ctrTitle"/>
          </p:nvPr>
        </p:nvSpPr>
        <p:spPr>
          <a:xfrm>
            <a:off x="990600" y="1828800"/>
            <a:ext cx="7772400" cy="1143000"/>
          </a:xfrm>
        </p:spPr>
        <p:txBody>
          <a:bodyPr/>
          <a:lstStyle>
            <a:lvl1pPr>
              <a:defRPr/>
            </a:lvl1pPr>
          </a:lstStyle>
          <a:p>
            <a:r>
              <a:rPr lang="en-US" altLang="zh-CN"/>
              <a:t>Click to edit Master title style</a:t>
            </a:r>
          </a:p>
        </p:txBody>
      </p:sp>
      <p:sp>
        <p:nvSpPr>
          <p:cNvPr id="10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ltLang="zh-CN"/>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966009C4-A4B9-445E-87E8-C4C51906B94A}" type="datetime1">
              <a:rPr lang="zh-CN" altLang="en-US"/>
              <a:pPr>
                <a:defRPr/>
              </a:pPr>
              <a:t>2020/10/10</a:t>
            </a:fld>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ltLang="zh-CN"/>
              <a:t>上海大学计算机学院</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38B66190-87BB-47C8-8562-6499520CF1D8}" type="slidenum">
              <a:rPr lang="en-US" altLang="zh-CN"/>
              <a:pPr>
                <a:defRPr/>
              </a:pPr>
              <a:t>‹#›</a:t>
            </a:fld>
            <a:endParaRPr lang="en-US" altLang="zh-CN"/>
          </a:p>
        </p:txBody>
      </p:sp>
    </p:spTree>
    <p:extLst>
      <p:ext uri="{BB962C8B-B14F-4D97-AF65-F5344CB8AC3E}">
        <p14:creationId xmlns:p14="http://schemas.microsoft.com/office/powerpoint/2010/main" val="1866171074"/>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6B8C991F-A527-421A-A142-B93CE40EDF80}" type="datetime1">
              <a:rPr lang="zh-CN" altLang="en-US"/>
              <a:pPr>
                <a:defRPr/>
              </a:pPr>
              <a:t>2020/10/10</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DC6DBBA1-C0BD-4AB1-9A7A-2146138EA9CF}" type="slidenum">
              <a:rPr lang="en-US" altLang="zh-CN"/>
              <a:pPr>
                <a:defRPr/>
              </a:pPr>
              <a:t>‹#›</a:t>
            </a:fld>
            <a:endParaRPr lang="en-US" altLang="zh-CN"/>
          </a:p>
        </p:txBody>
      </p:sp>
    </p:spTree>
    <p:extLst>
      <p:ext uri="{BB962C8B-B14F-4D97-AF65-F5344CB8AC3E}">
        <p14:creationId xmlns:p14="http://schemas.microsoft.com/office/powerpoint/2010/main" val="2691881253"/>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3DA15B03-B537-424C-9E21-0D08EC113FC4}" type="datetime1">
              <a:rPr lang="zh-CN" altLang="en-US"/>
              <a:pPr>
                <a:defRPr/>
              </a:pPr>
              <a:t>2020/10/10</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1DF192F2-9E3D-4628-ABEC-086C5ED457F7}" type="slidenum">
              <a:rPr lang="en-US" altLang="zh-CN"/>
              <a:pPr>
                <a:defRPr/>
              </a:pPr>
              <a:t>‹#›</a:t>
            </a:fld>
            <a:endParaRPr lang="en-US" altLang="zh-CN"/>
          </a:p>
        </p:txBody>
      </p:sp>
    </p:spTree>
    <p:extLst>
      <p:ext uri="{BB962C8B-B14F-4D97-AF65-F5344CB8AC3E}">
        <p14:creationId xmlns:p14="http://schemas.microsoft.com/office/powerpoint/2010/main" val="301616371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fld id="{5D6241EF-B2D1-411E-8B4B-0A137AD032A9}" type="datetime1">
              <a:rPr lang="zh-CN" altLang="en-US"/>
              <a:pPr>
                <a:defRPr/>
              </a:pPr>
              <a:t>2020/10/10</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780C093C-D6ED-471F-9A42-B9C2E8B41BA9}" type="slidenum">
              <a:rPr lang="en-US" altLang="zh-CN"/>
              <a:pPr>
                <a:defRPr/>
              </a:pPr>
              <a:t>‹#›</a:t>
            </a:fld>
            <a:endParaRPr lang="en-US" altLang="zh-CN"/>
          </a:p>
        </p:txBody>
      </p:sp>
    </p:spTree>
    <p:extLst>
      <p:ext uri="{BB962C8B-B14F-4D97-AF65-F5344CB8AC3E}">
        <p14:creationId xmlns:p14="http://schemas.microsoft.com/office/powerpoint/2010/main" val="2357631526"/>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fld id="{BCE2DF62-0BD5-49CE-8229-F65D4979849A}" type="datetime1">
              <a:rPr lang="zh-CN" altLang="en-US"/>
              <a:pPr>
                <a:defRPr/>
              </a:pPr>
              <a:t>2020/10/10</a:t>
            </a:fld>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9" name="Rectangle 13"/>
          <p:cNvSpPr>
            <a:spLocks noGrp="1" noChangeArrowheads="1"/>
          </p:cNvSpPr>
          <p:nvPr>
            <p:ph type="sldNum" sz="quarter" idx="12"/>
          </p:nvPr>
        </p:nvSpPr>
        <p:spPr>
          <a:ln/>
        </p:spPr>
        <p:txBody>
          <a:bodyPr/>
          <a:lstStyle>
            <a:lvl1pPr>
              <a:defRPr/>
            </a:lvl1pPr>
          </a:lstStyle>
          <a:p>
            <a:pPr>
              <a:defRPr/>
            </a:pPr>
            <a:fld id="{5EA649AC-F75E-48BD-A338-6FA5DB4EC80F}" type="slidenum">
              <a:rPr lang="en-US" altLang="zh-CN"/>
              <a:pPr>
                <a:defRPr/>
              </a:pPr>
              <a:t>‹#›</a:t>
            </a:fld>
            <a:endParaRPr lang="en-US" altLang="zh-CN"/>
          </a:p>
        </p:txBody>
      </p:sp>
    </p:spTree>
    <p:extLst>
      <p:ext uri="{BB962C8B-B14F-4D97-AF65-F5344CB8AC3E}">
        <p14:creationId xmlns:p14="http://schemas.microsoft.com/office/powerpoint/2010/main" val="56176569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fld id="{62822040-331A-41B3-859D-F53A63FC369E}" type="datetime1">
              <a:rPr lang="zh-CN" altLang="en-US"/>
              <a:pPr>
                <a:defRPr/>
              </a:pPr>
              <a:t>2020/10/10</a:t>
            </a:fld>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5" name="Rectangle 13"/>
          <p:cNvSpPr>
            <a:spLocks noGrp="1" noChangeArrowheads="1"/>
          </p:cNvSpPr>
          <p:nvPr>
            <p:ph type="sldNum" sz="quarter" idx="12"/>
          </p:nvPr>
        </p:nvSpPr>
        <p:spPr>
          <a:ln/>
        </p:spPr>
        <p:txBody>
          <a:bodyPr/>
          <a:lstStyle>
            <a:lvl1pPr>
              <a:defRPr/>
            </a:lvl1pPr>
          </a:lstStyle>
          <a:p>
            <a:pPr>
              <a:defRPr/>
            </a:pPr>
            <a:fld id="{32081F66-9AA9-4026-ACEF-713DAABBE7D6}" type="slidenum">
              <a:rPr lang="en-US" altLang="zh-CN"/>
              <a:pPr>
                <a:defRPr/>
              </a:pPr>
              <a:t>‹#›</a:t>
            </a:fld>
            <a:endParaRPr lang="en-US" altLang="zh-CN"/>
          </a:p>
        </p:txBody>
      </p:sp>
    </p:spTree>
    <p:extLst>
      <p:ext uri="{BB962C8B-B14F-4D97-AF65-F5344CB8AC3E}">
        <p14:creationId xmlns:p14="http://schemas.microsoft.com/office/powerpoint/2010/main" val="4192266907"/>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CDB74A06-5EF0-4F08-B463-A75C47D1D2E1}" type="datetime1">
              <a:rPr lang="zh-CN" altLang="en-US"/>
              <a:pPr>
                <a:defRPr/>
              </a:pPr>
              <a:t>2020/10/10</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4" name="Rectangle 13"/>
          <p:cNvSpPr>
            <a:spLocks noGrp="1" noChangeArrowheads="1"/>
          </p:cNvSpPr>
          <p:nvPr>
            <p:ph type="sldNum" sz="quarter" idx="12"/>
          </p:nvPr>
        </p:nvSpPr>
        <p:spPr>
          <a:ln/>
        </p:spPr>
        <p:txBody>
          <a:bodyPr/>
          <a:lstStyle>
            <a:lvl1pPr>
              <a:defRPr/>
            </a:lvl1pPr>
          </a:lstStyle>
          <a:p>
            <a:pPr>
              <a:defRPr/>
            </a:pPr>
            <a:fld id="{79C69FE1-777D-429A-BA65-802FE41D428F}" type="slidenum">
              <a:rPr lang="en-US" altLang="zh-CN"/>
              <a:pPr>
                <a:defRPr/>
              </a:pPr>
              <a:t>‹#›</a:t>
            </a:fld>
            <a:endParaRPr lang="en-US" altLang="zh-CN"/>
          </a:p>
        </p:txBody>
      </p:sp>
    </p:spTree>
    <p:extLst>
      <p:ext uri="{BB962C8B-B14F-4D97-AF65-F5344CB8AC3E}">
        <p14:creationId xmlns:p14="http://schemas.microsoft.com/office/powerpoint/2010/main" val="2500912390"/>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906A6DCF-D597-4DB3-8625-9B6893E1024F}" type="datetime1">
              <a:rPr lang="zh-CN" altLang="en-US"/>
              <a:pPr>
                <a:defRPr/>
              </a:pPr>
              <a:t>2020/10/10</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53A801E0-CD2F-41FE-B637-CD5D560D04EB}" type="slidenum">
              <a:rPr lang="en-US" altLang="zh-CN"/>
              <a:pPr>
                <a:defRPr/>
              </a:pPr>
              <a:t>‹#›</a:t>
            </a:fld>
            <a:endParaRPr lang="en-US" altLang="zh-CN"/>
          </a:p>
        </p:txBody>
      </p:sp>
    </p:spTree>
    <p:extLst>
      <p:ext uri="{BB962C8B-B14F-4D97-AF65-F5344CB8AC3E}">
        <p14:creationId xmlns:p14="http://schemas.microsoft.com/office/powerpoint/2010/main" val="182381023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BD483EA0-6D74-4894-8755-C69D9084F17E}" type="datetime1">
              <a:rPr lang="zh-CN" altLang="en-US"/>
              <a:pPr>
                <a:defRPr/>
              </a:pPr>
              <a:t>2020/10/10</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E7C4E40E-B740-45FE-A931-A30FF41029C1}" type="slidenum">
              <a:rPr lang="en-US" altLang="zh-CN"/>
              <a:pPr>
                <a:defRPr/>
              </a:pPr>
              <a:t>‹#›</a:t>
            </a:fld>
            <a:endParaRPr lang="en-US" altLang="zh-CN"/>
          </a:p>
        </p:txBody>
      </p:sp>
    </p:spTree>
    <p:extLst>
      <p:ext uri="{BB962C8B-B14F-4D97-AF65-F5344CB8AC3E}">
        <p14:creationId xmlns:p14="http://schemas.microsoft.com/office/powerpoint/2010/main" val="4169499793"/>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F63E82CD-6DE4-498D-B89C-AE429EB219E5}" type="datetime1">
              <a:rPr lang="zh-CN" altLang="en-US"/>
              <a:pPr>
                <a:defRPr/>
              </a:pPr>
              <a:t>2020/10/10</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10C766FE-1C28-4351-8154-4958FD099C33}" type="slidenum">
              <a:rPr lang="en-US" altLang="zh-CN"/>
              <a:pPr>
                <a:defRPr/>
              </a:pPr>
              <a:t>‹#›</a:t>
            </a:fld>
            <a:endParaRPr lang="en-US" altLang="zh-CN"/>
          </a:p>
        </p:txBody>
      </p:sp>
    </p:spTree>
    <p:extLst>
      <p:ext uri="{BB962C8B-B14F-4D97-AF65-F5344CB8AC3E}">
        <p14:creationId xmlns:p14="http://schemas.microsoft.com/office/powerpoint/2010/main" val="2779447360"/>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3075" y="457200"/>
            <a:ext cx="21209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213475"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803EF5BF-0C2D-4944-887E-79D089AA90BE}" type="datetime1">
              <a:rPr lang="zh-CN" altLang="en-US"/>
              <a:pPr>
                <a:defRPr/>
              </a:pPr>
              <a:t>2020/10/10</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99C48BCC-FFDE-4460-9A07-24DC70D7A0DF}" type="slidenum">
              <a:rPr lang="en-US" altLang="zh-CN"/>
              <a:pPr>
                <a:defRPr/>
              </a:pPr>
              <a:t>‹#›</a:t>
            </a:fld>
            <a:endParaRPr lang="en-US" altLang="zh-CN"/>
          </a:p>
        </p:txBody>
      </p:sp>
    </p:spTree>
    <p:extLst>
      <p:ext uri="{BB962C8B-B14F-4D97-AF65-F5344CB8AC3E}">
        <p14:creationId xmlns:p14="http://schemas.microsoft.com/office/powerpoint/2010/main" val="238560553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290513" y="547688"/>
            <a:ext cx="438150" cy="387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7" name="Rectangle 5"/>
          <p:cNvSpPr>
            <a:spLocks noChangeArrowheads="1"/>
          </p:cNvSpPr>
          <p:nvPr/>
        </p:nvSpPr>
        <p:spPr bwMode="ltGray">
          <a:xfrm>
            <a:off x="784225" y="969963"/>
            <a:ext cx="368300" cy="38735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8" name="Rectangle 6"/>
          <p:cNvSpPr>
            <a:spLocks noChangeArrowheads="1"/>
          </p:cNvSpPr>
          <p:nvPr/>
        </p:nvSpPr>
        <p:spPr bwMode="ltGray">
          <a:xfrm>
            <a:off x="0" y="887413"/>
            <a:ext cx="560388" cy="344487"/>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9" name="Rectangle 7"/>
          <p:cNvSpPr>
            <a:spLocks noChangeArrowheads="1"/>
          </p:cNvSpPr>
          <p:nvPr/>
        </p:nvSpPr>
        <p:spPr bwMode="gray">
          <a:xfrm>
            <a:off x="762000" y="3810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30" name="Rectangle 8"/>
          <p:cNvSpPr>
            <a:spLocks noChangeArrowheads="1"/>
          </p:cNvSpPr>
          <p:nvPr/>
        </p:nvSpPr>
        <p:spPr bwMode="gray">
          <a:xfrm>
            <a:off x="315913" y="11430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31" name="Rectangle 9"/>
          <p:cNvSpPr>
            <a:spLocks noGrp="1" noChangeArrowheads="1"/>
          </p:cNvSpPr>
          <p:nvPr>
            <p:ph type="title"/>
          </p:nvPr>
        </p:nvSpPr>
        <p:spPr bwMode="auto">
          <a:xfrm>
            <a:off x="1150938" y="457200"/>
            <a:ext cx="77930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1032" name="Rectangle 10"/>
          <p:cNvSpPr>
            <a:spLocks noGrp="1" noChangeArrowheads="1"/>
          </p:cNvSpPr>
          <p:nvPr>
            <p:ph type="body" idx="1"/>
          </p:nvPr>
        </p:nvSpPr>
        <p:spPr bwMode="auto">
          <a:xfrm>
            <a:off x="457200" y="1371600"/>
            <a:ext cx="8382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9227"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mn-lt"/>
              </a:defRPr>
            </a:lvl1pPr>
          </a:lstStyle>
          <a:p>
            <a:pPr>
              <a:defRPr/>
            </a:pPr>
            <a:fld id="{4C84F915-F695-439D-994C-E6DD8E1B7628}" type="datetime1">
              <a:rPr lang="zh-CN" altLang="en-US"/>
              <a:pPr>
                <a:defRPr/>
              </a:pPr>
              <a:t>2020/10/10</a:t>
            </a:fld>
            <a:endParaRPr lang="en-US" altLang="zh-CN"/>
          </a:p>
        </p:txBody>
      </p:sp>
      <p:sp>
        <p:nvSpPr>
          <p:cNvPr id="9228"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mn-lt"/>
              </a:defRPr>
            </a:lvl1pPr>
          </a:lstStyle>
          <a:p>
            <a:pPr>
              <a:defRPr/>
            </a:pPr>
            <a:r>
              <a:rPr lang="en-US" altLang="zh-CN"/>
              <a:t>上海大学计算机学院</a:t>
            </a:r>
          </a:p>
        </p:txBody>
      </p:sp>
      <p:sp>
        <p:nvSpPr>
          <p:cNvPr id="9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mn-lt"/>
              </a:defRPr>
            </a:lvl1pPr>
          </a:lstStyle>
          <a:p>
            <a:pPr>
              <a:defRPr/>
            </a:pPr>
            <a:fld id="{0F6FCEEC-A7B9-4590-B9DE-CF3B9A67BEE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76"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random/>
  </p:transition>
  <p:hf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notesSlide" Target="../notesSlides/notesSlide8.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wmf"/><Relationship Id="rId5" Type="http://schemas.openxmlformats.org/officeDocument/2006/relationships/oleObject" Target="../embeddings/Microsoft_Word_97_-_2003___1.doc"/><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notesSlide" Target="../notesSlides/notesSlide9.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Microsoft_Word_97_-_2003___2.doc"/><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10.xml"/><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emf"/><Relationship Id="rId5" Type="http://schemas.openxmlformats.org/officeDocument/2006/relationships/oleObject" Target="../embeddings/Microsoft_Word_97_-_2003___3.doc"/><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12.xml"/><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9.emf"/><Relationship Id="rId5" Type="http://schemas.openxmlformats.org/officeDocument/2006/relationships/oleObject" Target="../embeddings/Microsoft_Word_97_-_2003___4.doc"/><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3.xml"/><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1.emf"/><Relationship Id="rId5" Type="http://schemas.openxmlformats.org/officeDocument/2006/relationships/oleObject" Target="../embeddings/Microsoft_Word_97_-_2003___5.doc"/><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51.wmf"/><Relationship Id="rId18" Type="http://schemas.openxmlformats.org/officeDocument/2006/relationships/oleObject" Target="../embeddings/oleObject18.bin"/><Relationship Id="rId3" Type="http://schemas.openxmlformats.org/officeDocument/2006/relationships/notesSlide" Target="../notesSlides/notesSlide21.xml"/><Relationship Id="rId21" Type="http://schemas.openxmlformats.org/officeDocument/2006/relationships/image" Target="../media/image55.wmf"/><Relationship Id="rId7" Type="http://schemas.openxmlformats.org/officeDocument/2006/relationships/image" Target="../media/image48.wmf"/><Relationship Id="rId12" Type="http://schemas.openxmlformats.org/officeDocument/2006/relationships/oleObject" Target="../embeddings/oleObject15.bin"/><Relationship Id="rId17" Type="http://schemas.openxmlformats.org/officeDocument/2006/relationships/image" Target="../media/image53.wmf"/><Relationship Id="rId25" Type="http://schemas.openxmlformats.org/officeDocument/2006/relationships/image" Target="../media/image57.wmf"/><Relationship Id="rId2" Type="http://schemas.openxmlformats.org/officeDocument/2006/relationships/slideLayout" Target="../slideLayouts/slideLayout7.xml"/><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vmlDrawing" Target="../drawings/vmlDrawing7.vml"/><Relationship Id="rId6" Type="http://schemas.openxmlformats.org/officeDocument/2006/relationships/oleObject" Target="../embeddings/oleObject12.bin"/><Relationship Id="rId11" Type="http://schemas.openxmlformats.org/officeDocument/2006/relationships/image" Target="../media/image50.wmf"/><Relationship Id="rId24" Type="http://schemas.openxmlformats.org/officeDocument/2006/relationships/oleObject" Target="../embeddings/oleObject21.bin"/><Relationship Id="rId5" Type="http://schemas.openxmlformats.org/officeDocument/2006/relationships/audio" Target="../media/audio2.wav"/><Relationship Id="rId15" Type="http://schemas.openxmlformats.org/officeDocument/2006/relationships/image" Target="../media/image52.wmf"/><Relationship Id="rId23" Type="http://schemas.openxmlformats.org/officeDocument/2006/relationships/image" Target="../media/image56.wmf"/><Relationship Id="rId10" Type="http://schemas.openxmlformats.org/officeDocument/2006/relationships/oleObject" Target="../embeddings/oleObject14.bin"/><Relationship Id="rId19" Type="http://schemas.openxmlformats.org/officeDocument/2006/relationships/image" Target="../media/image54.wmf"/><Relationship Id="rId4" Type="http://schemas.openxmlformats.org/officeDocument/2006/relationships/audio" Target="../media/audio1.wav"/><Relationship Id="rId9" Type="http://schemas.openxmlformats.org/officeDocument/2006/relationships/image" Target="../media/image49.wmf"/><Relationship Id="rId14" Type="http://schemas.openxmlformats.org/officeDocument/2006/relationships/oleObject" Target="../embeddings/oleObject16.bin"/><Relationship Id="rId22"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22.xml"/><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58.wmf"/><Relationship Id="rId5" Type="http://schemas.openxmlformats.org/officeDocument/2006/relationships/oleObject" Target="../embeddings/Microsoft_Word_97_-_2003___6.doc"/><Relationship Id="rId4"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26.xml"/><Relationship Id="rId7" Type="http://schemas.openxmlformats.org/officeDocument/2006/relationships/image" Target="../media/image90.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4.bin"/><Relationship Id="rId11" Type="http://schemas.openxmlformats.org/officeDocument/2006/relationships/image" Target="../media/image92.wmf"/><Relationship Id="rId5" Type="http://schemas.openxmlformats.org/officeDocument/2006/relationships/audio" Target="../media/audio2.wav"/><Relationship Id="rId10" Type="http://schemas.openxmlformats.org/officeDocument/2006/relationships/oleObject" Target="../embeddings/oleObject26.bin"/><Relationship Id="rId4" Type="http://schemas.openxmlformats.org/officeDocument/2006/relationships/audio" Target="../media/audio3.wav"/><Relationship Id="rId9" Type="http://schemas.openxmlformats.org/officeDocument/2006/relationships/image" Target="../media/image91.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31.bin"/><Relationship Id="rId3" Type="http://schemas.openxmlformats.org/officeDocument/2006/relationships/notesSlide" Target="../notesSlides/notesSlide28.xml"/><Relationship Id="rId7" Type="http://schemas.openxmlformats.org/officeDocument/2006/relationships/oleObject" Target="../embeddings/oleObject28.bin"/><Relationship Id="rId12" Type="http://schemas.openxmlformats.org/officeDocument/2006/relationships/image" Target="../media/image96.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93.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95.wmf"/><Relationship Id="rId4" Type="http://schemas.openxmlformats.org/officeDocument/2006/relationships/audio" Target="../media/audio2.wav"/><Relationship Id="rId9" Type="http://schemas.openxmlformats.org/officeDocument/2006/relationships/oleObject" Target="../embeddings/oleObject29.bin"/><Relationship Id="rId14" Type="http://schemas.openxmlformats.org/officeDocument/2006/relationships/image" Target="../media/image97.wmf"/></Relationships>
</file>

<file path=ppt/slides/_rels/slide46.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notesSlide" Target="../notesSlides/notesSlide29.xml"/><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98.wmf"/><Relationship Id="rId5" Type="http://schemas.openxmlformats.org/officeDocument/2006/relationships/oleObject" Target="../embeddings/oleObject32.bin"/><Relationship Id="rId10" Type="http://schemas.openxmlformats.org/officeDocument/2006/relationships/image" Target="../media/image100.wmf"/><Relationship Id="rId4" Type="http://schemas.openxmlformats.org/officeDocument/2006/relationships/audio" Target="../media/audio2.wav"/><Relationship Id="rId9"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audio" Target="../media/audio2.wav"/><Relationship Id="rId7" Type="http://schemas.openxmlformats.org/officeDocument/2006/relationships/image" Target="../media/image101.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36.bin"/><Relationship Id="rId11" Type="http://schemas.openxmlformats.org/officeDocument/2006/relationships/image" Target="../media/image94.wmf"/><Relationship Id="rId5" Type="http://schemas.openxmlformats.org/officeDocument/2006/relationships/image" Target="../media/image95.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102.wmf"/></Relationships>
</file>

<file path=ppt/slides/_rels/slide48.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notesSlide" Target="../notesSlides/notesSlide30.xml"/><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01.wmf"/><Relationship Id="rId5" Type="http://schemas.openxmlformats.org/officeDocument/2006/relationships/oleObject" Target="../embeddings/oleObject39.bin"/><Relationship Id="rId10" Type="http://schemas.openxmlformats.org/officeDocument/2006/relationships/image" Target="../media/image104.wmf"/><Relationship Id="rId4" Type="http://schemas.openxmlformats.org/officeDocument/2006/relationships/audio" Target="../media/audio2.wav"/><Relationship Id="rId9" Type="http://schemas.openxmlformats.org/officeDocument/2006/relationships/oleObject" Target="../embeddings/oleObject41.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107.wmf"/><Relationship Id="rId3" Type="http://schemas.openxmlformats.org/officeDocument/2006/relationships/notesSlide" Target="../notesSlides/notesSlide31.xml"/><Relationship Id="rId7" Type="http://schemas.openxmlformats.org/officeDocument/2006/relationships/image" Target="../media/image105.wmf"/><Relationship Id="rId12" Type="http://schemas.openxmlformats.org/officeDocument/2006/relationships/oleObject" Target="../embeddings/oleObject45.bin"/><Relationship Id="rId17" Type="http://schemas.openxmlformats.org/officeDocument/2006/relationships/image" Target="../media/image109.wmf"/><Relationship Id="rId2" Type="http://schemas.openxmlformats.org/officeDocument/2006/relationships/slideLayout" Target="../slideLayouts/slideLayout7.xml"/><Relationship Id="rId16" Type="http://schemas.openxmlformats.org/officeDocument/2006/relationships/oleObject" Target="../embeddings/oleObject47.bin"/><Relationship Id="rId1" Type="http://schemas.openxmlformats.org/officeDocument/2006/relationships/vmlDrawing" Target="../drawings/vmlDrawing14.vml"/><Relationship Id="rId6" Type="http://schemas.openxmlformats.org/officeDocument/2006/relationships/oleObject" Target="../embeddings/oleObject42.bin"/><Relationship Id="rId11" Type="http://schemas.openxmlformats.org/officeDocument/2006/relationships/image" Target="../media/image106.wmf"/><Relationship Id="rId5" Type="http://schemas.openxmlformats.org/officeDocument/2006/relationships/audio" Target="../media/audio3.wav"/><Relationship Id="rId15" Type="http://schemas.openxmlformats.org/officeDocument/2006/relationships/image" Target="../media/image108.wmf"/><Relationship Id="rId10" Type="http://schemas.openxmlformats.org/officeDocument/2006/relationships/oleObject" Target="../embeddings/oleObject44.bin"/><Relationship Id="rId4" Type="http://schemas.openxmlformats.org/officeDocument/2006/relationships/audio" Target="../media/audio2.wav"/><Relationship Id="rId9" Type="http://schemas.openxmlformats.org/officeDocument/2006/relationships/image" Target="../media/image95.wmf"/><Relationship Id="rId14" Type="http://schemas.openxmlformats.org/officeDocument/2006/relationships/oleObject" Target="../embeddings/oleObject46.bin"/></Relationships>
</file>

<file path=ppt/slides/_rels/slide50.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notesSlide" Target="../notesSlides/notesSlide32.xml"/><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110.wmf"/><Relationship Id="rId5" Type="http://schemas.openxmlformats.org/officeDocument/2006/relationships/oleObject" Target="../embeddings/oleObject48.bin"/><Relationship Id="rId10" Type="http://schemas.openxmlformats.org/officeDocument/2006/relationships/image" Target="../media/image108.wmf"/><Relationship Id="rId4" Type="http://schemas.openxmlformats.org/officeDocument/2006/relationships/audio" Target="../media/audio2.wav"/><Relationship Id="rId9" Type="http://schemas.openxmlformats.org/officeDocument/2006/relationships/oleObject" Target="../embeddings/oleObject50.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audio" Target="../media/audio2.wav"/><Relationship Id="rId7" Type="http://schemas.openxmlformats.org/officeDocument/2006/relationships/image" Target="../media/image112.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2.bin"/><Relationship Id="rId5" Type="http://schemas.openxmlformats.org/officeDocument/2006/relationships/image" Target="../media/image91.wmf"/><Relationship Id="rId10" Type="http://schemas.openxmlformats.org/officeDocument/2006/relationships/image" Target="../media/image114.png"/><Relationship Id="rId4" Type="http://schemas.openxmlformats.org/officeDocument/2006/relationships/oleObject" Target="../embeddings/oleObject51.bin"/><Relationship Id="rId9" Type="http://schemas.openxmlformats.org/officeDocument/2006/relationships/image" Target="../media/image113.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notesSlide" Target="../notesSlides/notesSlide40.xml"/><Relationship Id="rId7" Type="http://schemas.openxmlformats.org/officeDocument/2006/relationships/image" Target="../media/image121.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54.bin"/><Relationship Id="rId11" Type="http://schemas.openxmlformats.org/officeDocument/2006/relationships/image" Target="../media/image123.wmf"/><Relationship Id="rId5" Type="http://schemas.openxmlformats.org/officeDocument/2006/relationships/audio" Target="../media/audio2.wav"/><Relationship Id="rId10" Type="http://schemas.openxmlformats.org/officeDocument/2006/relationships/oleObject" Target="../embeddings/oleObject56.bin"/><Relationship Id="rId4" Type="http://schemas.openxmlformats.org/officeDocument/2006/relationships/audio" Target="../media/audio3.wav"/><Relationship Id="rId9" Type="http://schemas.openxmlformats.org/officeDocument/2006/relationships/image" Target="../media/image122.w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25.png"/><Relationship Id="rId5" Type="http://schemas.openxmlformats.org/officeDocument/2006/relationships/image" Target="../media/image124.wmf"/><Relationship Id="rId4" Type="http://schemas.openxmlformats.org/officeDocument/2006/relationships/oleObject" Target="../embeddings/oleObject57.bin"/></Relationships>
</file>

<file path=ppt/slides/_rels/slide6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131.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59.bin"/><Relationship Id="rId5" Type="http://schemas.openxmlformats.org/officeDocument/2006/relationships/image" Target="../media/image130.wmf"/><Relationship Id="rId4" Type="http://schemas.openxmlformats.org/officeDocument/2006/relationships/oleObject" Target="../embeddings/oleObject58.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notesSlide" Target="../notesSlides/notesSlide45.xml"/><Relationship Id="rId7" Type="http://schemas.openxmlformats.org/officeDocument/2006/relationships/image" Target="../media/image131.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61.bin"/><Relationship Id="rId5" Type="http://schemas.openxmlformats.org/officeDocument/2006/relationships/image" Target="../media/image132.wmf"/><Relationship Id="rId4" Type="http://schemas.openxmlformats.org/officeDocument/2006/relationships/oleObject" Target="../embeddings/oleObject60.bin"/><Relationship Id="rId9" Type="http://schemas.openxmlformats.org/officeDocument/2006/relationships/image" Target="../media/image130.wmf"/></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33.png"/><Relationship Id="rId5" Type="http://schemas.openxmlformats.org/officeDocument/2006/relationships/image" Target="../media/image130.wmf"/><Relationship Id="rId4" Type="http://schemas.openxmlformats.org/officeDocument/2006/relationships/oleObject" Target="../embeddings/oleObject63.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135.wmf"/><Relationship Id="rId3" Type="http://schemas.openxmlformats.org/officeDocument/2006/relationships/notesSlide" Target="../notesSlides/notesSlide50.xml"/><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34.wmf"/><Relationship Id="rId5" Type="http://schemas.openxmlformats.org/officeDocument/2006/relationships/oleObject" Target="../embeddings/oleObject64.bin"/><Relationship Id="rId4" Type="http://schemas.openxmlformats.org/officeDocument/2006/relationships/audio" Target="../media/audio2.wav"/></Relationships>
</file>

<file path=ppt/slides/_rels/slide7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137.wmf"/><Relationship Id="rId4" Type="http://schemas.openxmlformats.org/officeDocument/2006/relationships/oleObject" Target="../embeddings/oleObject66.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39.wmf"/><Relationship Id="rId5" Type="http://schemas.openxmlformats.org/officeDocument/2006/relationships/oleObject" Target="../embeddings/oleObject67.bin"/><Relationship Id="rId4" Type="http://schemas.openxmlformats.org/officeDocument/2006/relationships/image" Target="../media/image140.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141.wmf"/><Relationship Id="rId4" Type="http://schemas.openxmlformats.org/officeDocument/2006/relationships/oleObject" Target="../embeddings/oleObject68.bin"/></Relationships>
</file>

<file path=ppt/slides/_rels/slide8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143.wmf"/><Relationship Id="rId4" Type="http://schemas.openxmlformats.org/officeDocument/2006/relationships/oleObject" Target="../embeddings/oleObject69.bin"/></Relationships>
</file>

<file path=ppt/slides/_rels/slide8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145.wmf"/><Relationship Id="rId4" Type="http://schemas.openxmlformats.org/officeDocument/2006/relationships/oleObject" Target="../embeddings/oleObject70.bin"/></Relationships>
</file>

<file path=ppt/slides/_rels/slide8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147.wmf"/><Relationship Id="rId4" Type="http://schemas.openxmlformats.org/officeDocument/2006/relationships/oleObject" Target="../embeddings/oleObject71.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vmlDrawing" Target="../drawings/vmlDrawing29.vml"/><Relationship Id="rId5" Type="http://schemas.openxmlformats.org/officeDocument/2006/relationships/image" Target="../media/image148.wmf"/><Relationship Id="rId4" Type="http://schemas.openxmlformats.org/officeDocument/2006/relationships/oleObject" Target="../embeddings/oleObject72.bin"/></Relationships>
</file>

<file path=ppt/slides/_rels/slide90.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notesSlide" Target="../notesSlides/notesSlide67.xml"/><Relationship Id="rId7"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49.wmf"/><Relationship Id="rId5" Type="http://schemas.openxmlformats.org/officeDocument/2006/relationships/oleObject" Target="../embeddings/oleObject73.bin"/><Relationship Id="rId4" Type="http://schemas.openxmlformats.org/officeDocument/2006/relationships/image" Target="../media/image151.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1.xml"/><Relationship Id="rId7" Type="http://schemas.openxmlformats.org/officeDocument/2006/relationships/image" Target="../media/image155.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76.bin"/><Relationship Id="rId5" Type="http://schemas.openxmlformats.org/officeDocument/2006/relationships/image" Target="../media/image154.wmf"/><Relationship Id="rId4" Type="http://schemas.openxmlformats.org/officeDocument/2006/relationships/oleObject" Target="../embeddings/oleObject75.bin"/></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2.xml"/><Relationship Id="rId7" Type="http://schemas.openxmlformats.org/officeDocument/2006/relationships/image" Target="../media/image157.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78.bin"/><Relationship Id="rId5" Type="http://schemas.openxmlformats.org/officeDocument/2006/relationships/image" Target="../media/image156.wmf"/><Relationship Id="rId4" Type="http://schemas.openxmlformats.org/officeDocument/2006/relationships/oleObject" Target="../embeddings/oleObject77.bin"/></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vmlDrawing" Target="../drawings/vmlDrawing33.vml"/><Relationship Id="rId5" Type="http://schemas.openxmlformats.org/officeDocument/2006/relationships/image" Target="../media/image159.wmf"/><Relationship Id="rId4" Type="http://schemas.openxmlformats.org/officeDocument/2006/relationships/oleObject" Target="../embeddings/oleObject79.bin"/></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34.vml"/><Relationship Id="rId5" Type="http://schemas.openxmlformats.org/officeDocument/2006/relationships/image" Target="../media/image160.wmf"/><Relationship Id="rId4" Type="http://schemas.openxmlformats.org/officeDocument/2006/relationships/oleObject" Target="../embeddings/oleObject80.bin"/></Relationships>
</file>

<file path=ppt/slides/_rels/slide101.xml.rels><?xml version="1.0" encoding="UTF-8" standalone="yes"?>
<Relationships xmlns="http://schemas.openxmlformats.org/package/2006/relationships"><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102.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69.png"/><Relationship Id="rId5" Type="http://schemas.openxmlformats.org/officeDocument/2006/relationships/image" Target="../media/image168.wmf"/><Relationship Id="rId4" Type="http://schemas.openxmlformats.org/officeDocument/2006/relationships/oleObject" Target="../embeddings/oleObject81.bin"/></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7.xml"/><Relationship Id="rId1" Type="http://schemas.openxmlformats.org/officeDocument/2006/relationships/vmlDrawing" Target="../drawings/vmlDrawing36.vml"/><Relationship Id="rId5" Type="http://schemas.openxmlformats.org/officeDocument/2006/relationships/image" Target="../media/image170.wmf"/><Relationship Id="rId4" Type="http://schemas.openxmlformats.org/officeDocument/2006/relationships/oleObject" Target="../embeddings/oleObject82.bin"/></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7.xml"/><Relationship Id="rId1" Type="http://schemas.openxmlformats.org/officeDocument/2006/relationships/vmlDrawing" Target="../drawings/vmlDrawing37.vml"/><Relationship Id="rId5" Type="http://schemas.openxmlformats.org/officeDocument/2006/relationships/image" Target="../media/image171.wmf"/><Relationship Id="rId4" Type="http://schemas.openxmlformats.org/officeDocument/2006/relationships/oleObject" Target="../embeddings/oleObject83.bin"/></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73.png"/><Relationship Id="rId5" Type="http://schemas.openxmlformats.org/officeDocument/2006/relationships/image" Target="../media/image172.wmf"/><Relationship Id="rId4" Type="http://schemas.openxmlformats.org/officeDocument/2006/relationships/oleObject" Target="../embeddings/oleObject84.bin"/></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7.xml"/><Relationship Id="rId1" Type="http://schemas.openxmlformats.org/officeDocument/2006/relationships/vmlDrawing" Target="../drawings/vmlDrawing39.vml"/><Relationship Id="rId5" Type="http://schemas.openxmlformats.org/officeDocument/2006/relationships/image" Target="../media/image174.wmf"/><Relationship Id="rId4" Type="http://schemas.openxmlformats.org/officeDocument/2006/relationships/oleObject" Target="../embeddings/oleObject85.bin"/></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7.xml"/><Relationship Id="rId1" Type="http://schemas.openxmlformats.org/officeDocument/2006/relationships/vmlDrawing" Target="../drawings/vmlDrawing40.vml"/><Relationship Id="rId5" Type="http://schemas.openxmlformats.org/officeDocument/2006/relationships/image" Target="../media/image175.wmf"/><Relationship Id="rId4" Type="http://schemas.openxmlformats.org/officeDocument/2006/relationships/oleObject" Target="../embeddings/oleObject86.bin"/></Relationships>
</file>

<file path=ppt/slides/_rels/slide11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4"/>
          <p:cNvSpPr>
            <a:spLocks noGrp="1" noChangeArrowheads="1"/>
          </p:cNvSpPr>
          <p:nvPr>
            <p:ph type="dt" sz="quarter" idx="10"/>
          </p:nvPr>
        </p:nvSpPr>
        <p:spPr/>
        <p:txBody>
          <a:bodyPr/>
          <a:lstStyle/>
          <a:p>
            <a:pPr>
              <a:defRPr/>
            </a:pPr>
            <a:fld id="{F3672476-8AA3-466F-8891-08B9FE33962E}" type="datetime1">
              <a:rPr lang="zh-CN" altLang="en-US"/>
              <a:pPr>
                <a:defRPr/>
              </a:pPr>
              <a:t>2020/10/10</a:t>
            </a:fld>
            <a:endParaRPr lang="en-US" altLang="zh-CN"/>
          </a:p>
        </p:txBody>
      </p:sp>
      <p:sp>
        <p:nvSpPr>
          <p:cNvPr id="4" name="Rectangle 16"/>
          <p:cNvSpPr>
            <a:spLocks noGrp="1" noChangeArrowheads="1"/>
          </p:cNvSpPr>
          <p:nvPr>
            <p:ph type="sldNum" sz="quarter" idx="12"/>
          </p:nvPr>
        </p:nvSpPr>
        <p:spPr/>
        <p:txBody>
          <a:bodyPr/>
          <a:lstStyle/>
          <a:p>
            <a:pPr>
              <a:defRPr/>
            </a:pPr>
            <a:fld id="{867E6B75-C209-4873-8E55-D5E04D893C09}" type="slidenum">
              <a:rPr lang="en-US" altLang="zh-CN"/>
              <a:pPr>
                <a:defRPr/>
              </a:pPr>
              <a:t>1</a:t>
            </a:fld>
            <a:endParaRPr lang="en-US" altLang="zh-CN"/>
          </a:p>
        </p:txBody>
      </p:sp>
      <p:sp>
        <p:nvSpPr>
          <p:cNvPr id="108546" name="Rectangle 2"/>
          <p:cNvSpPr>
            <a:spLocks noGrp="1" noChangeArrowheads="1"/>
          </p:cNvSpPr>
          <p:nvPr>
            <p:ph type="ctrTitle"/>
          </p:nvPr>
        </p:nvSpPr>
        <p:spPr>
          <a:xfrm>
            <a:off x="1066800" y="2133600"/>
            <a:ext cx="7772400" cy="1143000"/>
          </a:xfrm>
        </p:spPr>
        <p:txBody>
          <a:bodyPr/>
          <a:lstStyle/>
          <a:p>
            <a:pPr eaLnBrk="1" hangingPunct="1">
              <a:defRPr/>
            </a:pPr>
            <a:r>
              <a:rPr lang="zh-CN" altLang="en-US" b="1">
                <a:effectLst>
                  <a:outerShdw blurRad="38100" dist="38100" dir="2700000" algn="tl">
                    <a:srgbClr val="C0C0C0"/>
                  </a:outerShdw>
                </a:effectLst>
              </a:rPr>
              <a:t>第三章 组合逻辑电路</a:t>
            </a: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BD9068E-3891-4599-8260-CE98C176A816}"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C2621460-29E1-45A6-9098-86CF9EC73755}" type="slidenum">
              <a:rPr lang="en-US" altLang="zh-CN"/>
              <a:pPr>
                <a:defRPr/>
              </a:pPr>
              <a:t>2</a:t>
            </a:fld>
            <a:endParaRPr lang="en-US" altLang="zh-CN"/>
          </a:p>
        </p:txBody>
      </p:sp>
      <p:sp>
        <p:nvSpPr>
          <p:cNvPr id="4100" name="Rectangle 2"/>
          <p:cNvSpPr>
            <a:spLocks noGrp="1" noChangeArrowheads="1"/>
          </p:cNvSpPr>
          <p:nvPr>
            <p:ph type="body" idx="1"/>
          </p:nvPr>
        </p:nvSpPr>
        <p:spPr/>
        <p:txBody>
          <a:bodyPr/>
          <a:lstStyle/>
          <a:p>
            <a:pPr eaLnBrk="1" hangingPunct="1"/>
            <a:r>
              <a:rPr lang="zh-CN" altLang="en-US" smtClean="0"/>
              <a:t>逻辑门电路</a:t>
            </a:r>
          </a:p>
          <a:p>
            <a:pPr eaLnBrk="1" hangingPunct="1"/>
            <a:r>
              <a:rPr lang="zh-CN" altLang="en-US" smtClean="0"/>
              <a:t>逻辑函数的实现</a:t>
            </a:r>
          </a:p>
          <a:p>
            <a:pPr eaLnBrk="1" hangingPunct="1"/>
            <a:r>
              <a:rPr lang="zh-CN" altLang="en-US" smtClean="0"/>
              <a:t>组合逻辑电路的分析</a:t>
            </a:r>
          </a:p>
          <a:p>
            <a:pPr eaLnBrk="1" hangingPunct="1"/>
            <a:r>
              <a:rPr lang="zh-CN" altLang="en-US" smtClean="0"/>
              <a:t>组合逻辑电路的设计</a:t>
            </a:r>
          </a:p>
          <a:p>
            <a:pPr eaLnBrk="1" hangingPunct="1"/>
            <a:r>
              <a:rPr lang="zh-CN" altLang="en-US" smtClean="0"/>
              <a:t>组合逻辑电路的竞争与冒险</a:t>
            </a:r>
          </a:p>
        </p:txBody>
      </p:sp>
      <p:sp>
        <p:nvSpPr>
          <p:cNvPr id="4101" name="Rectangle 3"/>
          <p:cNvSpPr>
            <a:spLocks noGrp="1" noChangeArrowheads="1"/>
          </p:cNvSpPr>
          <p:nvPr>
            <p:ph type="title"/>
          </p:nvPr>
        </p:nvSpPr>
        <p:spPr>
          <a:xfrm>
            <a:off x="1274763" y="533400"/>
            <a:ext cx="7793037" cy="609600"/>
          </a:xfrm>
        </p:spPr>
        <p:txBody>
          <a:bodyPr/>
          <a:lstStyle/>
          <a:p>
            <a:pPr eaLnBrk="1" hangingPunct="1"/>
            <a:r>
              <a:rPr lang="zh-CN" altLang="en-US" smtClean="0"/>
              <a:t>本章的组成</a:t>
            </a:r>
          </a:p>
        </p:txBody>
      </p:sp>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日期占位符 3"/>
          <p:cNvSpPr>
            <a:spLocks noGrp="1"/>
          </p:cNvSpPr>
          <p:nvPr>
            <p:ph type="dt" sz="quarter" idx="10"/>
          </p:nvPr>
        </p:nvSpPr>
        <p:spPr/>
        <p:txBody>
          <a:bodyPr/>
          <a:lstStyle/>
          <a:p>
            <a:pPr>
              <a:defRPr/>
            </a:pPr>
            <a:fld id="{7E92ED45-458D-4127-8294-0C25DCDC1137}" type="datetime1">
              <a:rPr lang="zh-CN" altLang="en-US"/>
              <a:pPr>
                <a:defRPr/>
              </a:pPr>
              <a:t>2020/10/10</a:t>
            </a:fld>
            <a:endParaRPr lang="en-US" altLang="zh-CN"/>
          </a:p>
        </p:txBody>
      </p:sp>
      <p:sp>
        <p:nvSpPr>
          <p:cNvPr id="38" name="灯片编号占位符 5"/>
          <p:cNvSpPr>
            <a:spLocks noGrp="1"/>
          </p:cNvSpPr>
          <p:nvPr>
            <p:ph type="sldNum" sz="quarter" idx="12"/>
          </p:nvPr>
        </p:nvSpPr>
        <p:spPr/>
        <p:txBody>
          <a:bodyPr/>
          <a:lstStyle/>
          <a:p>
            <a:pPr>
              <a:defRPr/>
            </a:pPr>
            <a:fld id="{5B84CEDB-677D-405D-B9D5-E4102482E335}" type="slidenum">
              <a:rPr lang="en-US" altLang="zh-CN"/>
              <a:pPr>
                <a:defRPr/>
              </a:pPr>
              <a:t>3</a:t>
            </a:fld>
            <a:endParaRPr lang="en-US" altLang="zh-CN"/>
          </a:p>
        </p:txBody>
      </p:sp>
      <p:sp>
        <p:nvSpPr>
          <p:cNvPr id="5124" name="Rectangle 3"/>
          <p:cNvSpPr>
            <a:spLocks noGrp="1" noChangeArrowheads="1"/>
          </p:cNvSpPr>
          <p:nvPr>
            <p:ph type="body" idx="1"/>
          </p:nvPr>
        </p:nvSpPr>
        <p:spPr/>
        <p:txBody>
          <a:bodyPr/>
          <a:lstStyle/>
          <a:p>
            <a:pPr eaLnBrk="1" hangingPunct="1"/>
            <a:r>
              <a:rPr lang="zh-CN" altLang="en-US" smtClean="0"/>
              <a:t>数字系统的逻辑电路分为两类</a:t>
            </a:r>
          </a:p>
          <a:p>
            <a:pPr lvl="1" eaLnBrk="1" hangingPunct="1"/>
            <a:r>
              <a:rPr lang="zh-CN" altLang="en-US" smtClean="0"/>
              <a:t>组合逻辑电路：电路在任何时刻所产生的输出，仅取决于该时刻电路的输入，而与电路过去的输入无关</a:t>
            </a:r>
          </a:p>
          <a:p>
            <a:pPr lvl="1" eaLnBrk="1" hangingPunct="1"/>
            <a:r>
              <a:rPr lang="zh-CN" altLang="en-US" smtClean="0"/>
              <a:t>时序逻辑电路：任何时刻电路的输出，不仅取决于该时刻电路的输入，还取决于电路过去的输入</a:t>
            </a:r>
          </a:p>
        </p:txBody>
      </p:sp>
      <p:sp>
        <p:nvSpPr>
          <p:cNvPr id="5125" name="Rectangle 2"/>
          <p:cNvSpPr>
            <a:spLocks noGrp="1" noChangeArrowheads="1"/>
          </p:cNvSpPr>
          <p:nvPr>
            <p:ph type="title"/>
          </p:nvPr>
        </p:nvSpPr>
        <p:spPr>
          <a:xfrm>
            <a:off x="1274763" y="533400"/>
            <a:ext cx="7793037" cy="609600"/>
          </a:xfrm>
        </p:spPr>
        <p:txBody>
          <a:bodyPr/>
          <a:lstStyle/>
          <a:p>
            <a:pPr eaLnBrk="1" hangingPunct="1"/>
            <a:r>
              <a:rPr lang="zh-CN" altLang="en-US" smtClean="0"/>
              <a:t>概念</a:t>
            </a:r>
          </a:p>
        </p:txBody>
      </p:sp>
      <p:grpSp>
        <p:nvGrpSpPr>
          <p:cNvPr id="5126" name="Group 20"/>
          <p:cNvGrpSpPr>
            <a:grpSpLocks/>
          </p:cNvGrpSpPr>
          <p:nvPr/>
        </p:nvGrpSpPr>
        <p:grpSpPr bwMode="auto">
          <a:xfrm>
            <a:off x="2209800" y="4495800"/>
            <a:ext cx="2111375" cy="990600"/>
            <a:chOff x="1200" y="2928"/>
            <a:chExt cx="1330" cy="624"/>
          </a:xfrm>
        </p:grpSpPr>
        <p:sp>
          <p:nvSpPr>
            <p:cNvPr id="5148" name="Text Box 9"/>
            <p:cNvSpPr txBox="1">
              <a:spLocks noChangeArrowheads="1"/>
            </p:cNvSpPr>
            <p:nvPr/>
          </p:nvSpPr>
          <p:spPr bwMode="auto">
            <a:xfrm>
              <a:off x="1632" y="2969"/>
              <a:ext cx="432" cy="5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1800"/>
                <a:t>组合逻辑电路</a:t>
              </a:r>
            </a:p>
          </p:txBody>
        </p:sp>
        <p:sp>
          <p:nvSpPr>
            <p:cNvPr id="5149" name="Text Box 10"/>
            <p:cNvSpPr txBox="1">
              <a:spLocks noChangeArrowheads="1"/>
            </p:cNvSpPr>
            <p:nvPr/>
          </p:nvSpPr>
          <p:spPr bwMode="auto">
            <a:xfrm>
              <a:off x="1200" y="2928"/>
              <a:ext cx="20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x</a:t>
              </a:r>
              <a:r>
                <a:rPr lang="en-US" altLang="zh-CN" sz="1400" i="1" baseline="-25000"/>
                <a:t>1</a:t>
              </a:r>
            </a:p>
            <a:p>
              <a:pPr eaLnBrk="1" hangingPunct="1"/>
              <a:r>
                <a:rPr lang="en-US" altLang="zh-CN" sz="1400" i="1"/>
                <a:t>x</a:t>
              </a:r>
              <a:r>
                <a:rPr lang="en-US" altLang="zh-CN" sz="1400" i="1" baseline="-25000"/>
                <a:t>2</a:t>
              </a:r>
            </a:p>
            <a:p>
              <a:pPr eaLnBrk="1" hangingPunct="1"/>
              <a:endParaRPr lang="en-US" altLang="zh-CN" sz="1400" i="1"/>
            </a:p>
            <a:p>
              <a:pPr eaLnBrk="1" hangingPunct="1"/>
              <a:r>
                <a:rPr lang="en-US" altLang="zh-CN" sz="1400" i="1"/>
                <a:t>x</a:t>
              </a:r>
              <a:r>
                <a:rPr lang="en-US" altLang="zh-CN" sz="1400" i="1" baseline="-25000"/>
                <a:t>n</a:t>
              </a:r>
            </a:p>
          </p:txBody>
        </p:sp>
        <p:sp>
          <p:nvSpPr>
            <p:cNvPr id="5150" name="Line 11"/>
            <p:cNvSpPr>
              <a:spLocks noChangeShapeType="1"/>
            </p:cNvSpPr>
            <p:nvPr/>
          </p:nvSpPr>
          <p:spPr bwMode="auto">
            <a:xfrm>
              <a:off x="1392" y="302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1" name="Line 12"/>
            <p:cNvSpPr>
              <a:spLocks noChangeShapeType="1"/>
            </p:cNvSpPr>
            <p:nvPr/>
          </p:nvSpPr>
          <p:spPr bwMode="auto">
            <a:xfrm>
              <a:off x="1392" y="3168"/>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2" name="Line 13"/>
            <p:cNvSpPr>
              <a:spLocks noChangeShapeType="1"/>
            </p:cNvSpPr>
            <p:nvPr/>
          </p:nvSpPr>
          <p:spPr bwMode="auto">
            <a:xfrm>
              <a:off x="1392" y="3456"/>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3" name="Line 14"/>
            <p:cNvSpPr>
              <a:spLocks noChangeShapeType="1"/>
            </p:cNvSpPr>
            <p:nvPr/>
          </p:nvSpPr>
          <p:spPr bwMode="auto">
            <a:xfrm>
              <a:off x="1488" y="3216"/>
              <a:ext cx="0" cy="19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54" name="Text Box 15"/>
            <p:cNvSpPr txBox="1">
              <a:spLocks noChangeArrowheads="1"/>
            </p:cNvSpPr>
            <p:nvPr/>
          </p:nvSpPr>
          <p:spPr bwMode="auto">
            <a:xfrm>
              <a:off x="2294" y="2958"/>
              <a:ext cx="236"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F</a:t>
              </a:r>
              <a:r>
                <a:rPr lang="en-US" altLang="zh-CN" sz="1400" i="1" baseline="-25000"/>
                <a:t>1</a:t>
              </a:r>
            </a:p>
            <a:p>
              <a:pPr eaLnBrk="1" hangingPunct="1"/>
              <a:r>
                <a:rPr lang="en-US" altLang="zh-CN" sz="1400" i="1"/>
                <a:t>F</a:t>
              </a:r>
              <a:r>
                <a:rPr lang="en-US" altLang="zh-CN" sz="1400" i="1" baseline="-25000"/>
                <a:t>2</a:t>
              </a:r>
            </a:p>
            <a:p>
              <a:pPr eaLnBrk="1" hangingPunct="1"/>
              <a:endParaRPr lang="en-US" altLang="zh-CN" sz="1400" i="1"/>
            </a:p>
            <a:p>
              <a:pPr eaLnBrk="1" hangingPunct="1"/>
              <a:r>
                <a:rPr lang="en-US" altLang="zh-CN" sz="1400" i="1"/>
                <a:t>F</a:t>
              </a:r>
              <a:r>
                <a:rPr lang="en-US" altLang="zh-CN" sz="1400" i="1" baseline="-25000"/>
                <a:t>m</a:t>
              </a:r>
            </a:p>
          </p:txBody>
        </p:sp>
        <p:sp>
          <p:nvSpPr>
            <p:cNvPr id="5155" name="Line 16"/>
            <p:cNvSpPr>
              <a:spLocks noChangeShapeType="1"/>
            </p:cNvSpPr>
            <p:nvPr/>
          </p:nvSpPr>
          <p:spPr bwMode="auto">
            <a:xfrm>
              <a:off x="2064" y="302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6" name="Line 17"/>
            <p:cNvSpPr>
              <a:spLocks noChangeShapeType="1"/>
            </p:cNvSpPr>
            <p:nvPr/>
          </p:nvSpPr>
          <p:spPr bwMode="auto">
            <a:xfrm>
              <a:off x="2064" y="3168"/>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7" name="Line 18"/>
            <p:cNvSpPr>
              <a:spLocks noChangeShapeType="1"/>
            </p:cNvSpPr>
            <p:nvPr/>
          </p:nvSpPr>
          <p:spPr bwMode="auto">
            <a:xfrm>
              <a:off x="2064" y="3456"/>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58" name="Line 19"/>
            <p:cNvSpPr>
              <a:spLocks noChangeShapeType="1"/>
            </p:cNvSpPr>
            <p:nvPr/>
          </p:nvSpPr>
          <p:spPr bwMode="auto">
            <a:xfrm>
              <a:off x="2160" y="3216"/>
              <a:ext cx="0" cy="19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127" name="Group 42"/>
          <p:cNvGrpSpPr>
            <a:grpSpLocks/>
          </p:cNvGrpSpPr>
          <p:nvPr/>
        </p:nvGrpSpPr>
        <p:grpSpPr bwMode="auto">
          <a:xfrm>
            <a:off x="5153025" y="4419600"/>
            <a:ext cx="2162175" cy="1660525"/>
            <a:chOff x="2958" y="2880"/>
            <a:chExt cx="1362" cy="1046"/>
          </a:xfrm>
        </p:grpSpPr>
        <p:sp>
          <p:nvSpPr>
            <p:cNvPr id="5130" name="Text Box 22"/>
            <p:cNvSpPr txBox="1">
              <a:spLocks noChangeArrowheads="1"/>
            </p:cNvSpPr>
            <p:nvPr/>
          </p:nvSpPr>
          <p:spPr bwMode="auto">
            <a:xfrm>
              <a:off x="3390" y="2969"/>
              <a:ext cx="432" cy="5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1800"/>
                <a:t>组合逻辑电路</a:t>
              </a:r>
            </a:p>
          </p:txBody>
        </p:sp>
        <p:sp>
          <p:nvSpPr>
            <p:cNvPr id="5131" name="Text Box 23"/>
            <p:cNvSpPr txBox="1">
              <a:spLocks noChangeArrowheads="1"/>
            </p:cNvSpPr>
            <p:nvPr/>
          </p:nvSpPr>
          <p:spPr bwMode="auto">
            <a:xfrm>
              <a:off x="2958" y="2880"/>
              <a:ext cx="202"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x</a:t>
              </a:r>
              <a:r>
                <a:rPr lang="en-US" altLang="zh-CN" sz="1400" i="1" baseline="-25000"/>
                <a:t>1</a:t>
              </a:r>
            </a:p>
            <a:p>
              <a:pPr eaLnBrk="1" hangingPunct="1"/>
              <a:endParaRPr lang="en-US" altLang="zh-CN" sz="1400" i="1"/>
            </a:p>
            <a:p>
              <a:pPr eaLnBrk="1" hangingPunct="1"/>
              <a:r>
                <a:rPr lang="en-US" altLang="zh-CN" sz="1400" i="1"/>
                <a:t>x</a:t>
              </a:r>
              <a:r>
                <a:rPr lang="en-US" altLang="zh-CN" sz="1400" i="1" baseline="-25000"/>
                <a:t>n</a:t>
              </a:r>
            </a:p>
          </p:txBody>
        </p:sp>
        <p:sp>
          <p:nvSpPr>
            <p:cNvPr id="5132" name="Line 24"/>
            <p:cNvSpPr>
              <a:spLocks noChangeShapeType="1"/>
            </p:cNvSpPr>
            <p:nvPr/>
          </p:nvSpPr>
          <p:spPr bwMode="auto">
            <a:xfrm>
              <a:off x="3150" y="302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33" name="Line 26"/>
            <p:cNvSpPr>
              <a:spLocks noChangeShapeType="1"/>
            </p:cNvSpPr>
            <p:nvPr/>
          </p:nvSpPr>
          <p:spPr bwMode="auto">
            <a:xfrm>
              <a:off x="3150" y="326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34" name="Line 27"/>
            <p:cNvSpPr>
              <a:spLocks noChangeShapeType="1"/>
            </p:cNvSpPr>
            <p:nvPr/>
          </p:nvSpPr>
          <p:spPr bwMode="auto">
            <a:xfrm>
              <a:off x="3246" y="3048"/>
              <a:ext cx="0" cy="19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35" name="Text Box 28"/>
            <p:cNvSpPr txBox="1">
              <a:spLocks noChangeArrowheads="1"/>
            </p:cNvSpPr>
            <p:nvPr/>
          </p:nvSpPr>
          <p:spPr bwMode="auto">
            <a:xfrm>
              <a:off x="4052" y="2910"/>
              <a:ext cx="21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Z</a:t>
              </a:r>
              <a:r>
                <a:rPr lang="en-US" altLang="zh-CN" sz="1400" i="1" baseline="-25000"/>
                <a:t>1</a:t>
              </a:r>
            </a:p>
            <a:p>
              <a:pPr eaLnBrk="1" hangingPunct="1"/>
              <a:endParaRPr lang="en-US" altLang="zh-CN" sz="1400" i="1"/>
            </a:p>
            <a:p>
              <a:pPr eaLnBrk="1" hangingPunct="1"/>
              <a:r>
                <a:rPr lang="en-US" altLang="zh-CN" sz="1400" i="1"/>
                <a:t>Z</a:t>
              </a:r>
              <a:r>
                <a:rPr lang="en-US" altLang="zh-CN" sz="1400" i="1" baseline="-25000"/>
                <a:t>j</a:t>
              </a:r>
            </a:p>
          </p:txBody>
        </p:sp>
        <p:sp>
          <p:nvSpPr>
            <p:cNvPr id="5136" name="Line 29"/>
            <p:cNvSpPr>
              <a:spLocks noChangeShapeType="1"/>
            </p:cNvSpPr>
            <p:nvPr/>
          </p:nvSpPr>
          <p:spPr bwMode="auto">
            <a:xfrm>
              <a:off x="3822" y="302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37" name="Line 31"/>
            <p:cNvSpPr>
              <a:spLocks noChangeShapeType="1"/>
            </p:cNvSpPr>
            <p:nvPr/>
          </p:nvSpPr>
          <p:spPr bwMode="auto">
            <a:xfrm>
              <a:off x="3822" y="326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38" name="Line 32"/>
            <p:cNvSpPr>
              <a:spLocks noChangeShapeType="1"/>
            </p:cNvSpPr>
            <p:nvPr/>
          </p:nvSpPr>
          <p:spPr bwMode="auto">
            <a:xfrm>
              <a:off x="3918" y="3048"/>
              <a:ext cx="0" cy="19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39" name="Text Box 33"/>
            <p:cNvSpPr txBox="1">
              <a:spLocks noChangeArrowheads="1"/>
            </p:cNvSpPr>
            <p:nvPr/>
          </p:nvSpPr>
          <p:spPr bwMode="auto">
            <a:xfrm>
              <a:off x="3264" y="3672"/>
              <a:ext cx="69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a:t>存储电路</a:t>
              </a:r>
            </a:p>
          </p:txBody>
        </p:sp>
        <p:sp>
          <p:nvSpPr>
            <p:cNvPr id="5140" name="Freeform 34"/>
            <p:cNvSpPr>
              <a:spLocks/>
            </p:cNvSpPr>
            <p:nvPr/>
          </p:nvSpPr>
          <p:spPr bwMode="auto">
            <a:xfrm>
              <a:off x="3840" y="3504"/>
              <a:ext cx="192" cy="192"/>
            </a:xfrm>
            <a:custGeom>
              <a:avLst/>
              <a:gdLst>
                <a:gd name="T0" fmla="*/ 0 w 192"/>
                <a:gd name="T1" fmla="*/ 0 h 192"/>
                <a:gd name="T2" fmla="*/ 192 w 192"/>
                <a:gd name="T3" fmla="*/ 0 h 192"/>
                <a:gd name="T4" fmla="*/ 192 w 192"/>
                <a:gd name="T5" fmla="*/ 192 h 192"/>
                <a:gd name="T6" fmla="*/ 96 w 192"/>
                <a:gd name="T7" fmla="*/ 192 h 192"/>
                <a:gd name="T8" fmla="*/ 0 60000 65536"/>
                <a:gd name="T9" fmla="*/ 0 60000 65536"/>
                <a:gd name="T10" fmla="*/ 0 60000 65536"/>
                <a:gd name="T11" fmla="*/ 0 60000 65536"/>
                <a:gd name="T12" fmla="*/ 0 w 192"/>
                <a:gd name="T13" fmla="*/ 0 h 192"/>
                <a:gd name="T14" fmla="*/ 192 w 192"/>
                <a:gd name="T15" fmla="*/ 192 h 192"/>
              </a:gdLst>
              <a:ahLst/>
              <a:cxnLst>
                <a:cxn ang="T8">
                  <a:pos x="T0" y="T1"/>
                </a:cxn>
                <a:cxn ang="T9">
                  <a:pos x="T2" y="T3"/>
                </a:cxn>
                <a:cxn ang="T10">
                  <a:pos x="T4" y="T5"/>
                </a:cxn>
                <a:cxn ang="T11">
                  <a:pos x="T6" y="T7"/>
                </a:cxn>
              </a:cxnLst>
              <a:rect l="T12" t="T13" r="T14" b="T15"/>
              <a:pathLst>
                <a:path w="192" h="192">
                  <a:moveTo>
                    <a:pt x="0" y="0"/>
                  </a:moveTo>
                  <a:lnTo>
                    <a:pt x="192" y="0"/>
                  </a:lnTo>
                  <a:lnTo>
                    <a:pt x="192" y="192"/>
                  </a:lnTo>
                  <a:lnTo>
                    <a:pt x="96" y="192"/>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141" name="Freeform 35"/>
            <p:cNvSpPr>
              <a:spLocks/>
            </p:cNvSpPr>
            <p:nvPr/>
          </p:nvSpPr>
          <p:spPr bwMode="auto">
            <a:xfrm>
              <a:off x="3840" y="3360"/>
              <a:ext cx="480" cy="528"/>
            </a:xfrm>
            <a:custGeom>
              <a:avLst/>
              <a:gdLst>
                <a:gd name="T0" fmla="*/ 0 w 480"/>
                <a:gd name="T1" fmla="*/ 0 h 528"/>
                <a:gd name="T2" fmla="*/ 480 w 480"/>
                <a:gd name="T3" fmla="*/ 0 h 528"/>
                <a:gd name="T4" fmla="*/ 480 w 480"/>
                <a:gd name="T5" fmla="*/ 528 h 528"/>
                <a:gd name="T6" fmla="*/ 96 w 480"/>
                <a:gd name="T7" fmla="*/ 528 h 528"/>
                <a:gd name="T8" fmla="*/ 0 60000 65536"/>
                <a:gd name="T9" fmla="*/ 0 60000 65536"/>
                <a:gd name="T10" fmla="*/ 0 60000 65536"/>
                <a:gd name="T11" fmla="*/ 0 60000 65536"/>
                <a:gd name="T12" fmla="*/ 0 w 480"/>
                <a:gd name="T13" fmla="*/ 0 h 528"/>
                <a:gd name="T14" fmla="*/ 480 w 480"/>
                <a:gd name="T15" fmla="*/ 528 h 528"/>
              </a:gdLst>
              <a:ahLst/>
              <a:cxnLst>
                <a:cxn ang="T8">
                  <a:pos x="T0" y="T1"/>
                </a:cxn>
                <a:cxn ang="T9">
                  <a:pos x="T2" y="T3"/>
                </a:cxn>
                <a:cxn ang="T10">
                  <a:pos x="T4" y="T5"/>
                </a:cxn>
                <a:cxn ang="T11">
                  <a:pos x="T6" y="T7"/>
                </a:cxn>
              </a:cxnLst>
              <a:rect l="T12" t="T13" r="T14" b="T15"/>
              <a:pathLst>
                <a:path w="480" h="528">
                  <a:moveTo>
                    <a:pt x="0" y="0"/>
                  </a:moveTo>
                  <a:lnTo>
                    <a:pt x="480" y="0"/>
                  </a:lnTo>
                  <a:lnTo>
                    <a:pt x="480" y="528"/>
                  </a:lnTo>
                  <a:lnTo>
                    <a:pt x="96" y="528"/>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142" name="Line 36"/>
            <p:cNvSpPr>
              <a:spLocks noChangeShapeType="1"/>
            </p:cNvSpPr>
            <p:nvPr/>
          </p:nvSpPr>
          <p:spPr bwMode="auto">
            <a:xfrm>
              <a:off x="4032" y="3744"/>
              <a:ext cx="0" cy="9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43" name="Text Box 37"/>
            <p:cNvSpPr txBox="1">
              <a:spLocks noChangeArrowheads="1"/>
            </p:cNvSpPr>
            <p:nvPr/>
          </p:nvSpPr>
          <p:spPr bwMode="auto">
            <a:xfrm>
              <a:off x="4001" y="3600"/>
              <a:ext cx="22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w</a:t>
              </a:r>
              <a:r>
                <a:rPr lang="en-US" altLang="zh-CN" sz="1400" i="1" baseline="-25000"/>
                <a:t>1</a:t>
              </a:r>
            </a:p>
            <a:p>
              <a:pPr eaLnBrk="1" hangingPunct="1"/>
              <a:r>
                <a:rPr lang="en-US" altLang="zh-CN" sz="1400" i="1"/>
                <a:t>w</a:t>
              </a:r>
              <a:r>
                <a:rPr lang="en-US" altLang="zh-CN" sz="1400" i="1" baseline="-25000"/>
                <a:t>k</a:t>
              </a:r>
            </a:p>
          </p:txBody>
        </p:sp>
        <p:sp>
          <p:nvSpPr>
            <p:cNvPr id="5144" name="Freeform 38"/>
            <p:cNvSpPr>
              <a:spLocks/>
            </p:cNvSpPr>
            <p:nvPr/>
          </p:nvSpPr>
          <p:spPr bwMode="auto">
            <a:xfrm>
              <a:off x="3216" y="3504"/>
              <a:ext cx="192" cy="192"/>
            </a:xfrm>
            <a:custGeom>
              <a:avLst/>
              <a:gdLst>
                <a:gd name="T0" fmla="*/ 48 w 192"/>
                <a:gd name="T1" fmla="*/ 192 h 192"/>
                <a:gd name="T2" fmla="*/ 0 w 192"/>
                <a:gd name="T3" fmla="*/ 192 h 192"/>
                <a:gd name="T4" fmla="*/ 0 w 192"/>
                <a:gd name="T5" fmla="*/ 0 h 192"/>
                <a:gd name="T6" fmla="*/ 192 w 192"/>
                <a:gd name="T7" fmla="*/ 0 h 192"/>
                <a:gd name="T8" fmla="*/ 0 60000 65536"/>
                <a:gd name="T9" fmla="*/ 0 60000 65536"/>
                <a:gd name="T10" fmla="*/ 0 60000 65536"/>
                <a:gd name="T11" fmla="*/ 0 60000 65536"/>
                <a:gd name="T12" fmla="*/ 0 w 192"/>
                <a:gd name="T13" fmla="*/ 0 h 192"/>
                <a:gd name="T14" fmla="*/ 192 w 192"/>
                <a:gd name="T15" fmla="*/ 192 h 192"/>
              </a:gdLst>
              <a:ahLst/>
              <a:cxnLst>
                <a:cxn ang="T8">
                  <a:pos x="T0" y="T1"/>
                </a:cxn>
                <a:cxn ang="T9">
                  <a:pos x="T2" y="T3"/>
                </a:cxn>
                <a:cxn ang="T10">
                  <a:pos x="T4" y="T5"/>
                </a:cxn>
                <a:cxn ang="T11">
                  <a:pos x="T6" y="T7"/>
                </a:cxn>
              </a:cxnLst>
              <a:rect l="T12" t="T13" r="T14" b="T15"/>
              <a:pathLst>
                <a:path w="192" h="192">
                  <a:moveTo>
                    <a:pt x="48" y="192"/>
                  </a:moveTo>
                  <a:lnTo>
                    <a:pt x="0" y="192"/>
                  </a:lnTo>
                  <a:lnTo>
                    <a:pt x="0" y="0"/>
                  </a:lnTo>
                  <a:lnTo>
                    <a:pt x="192" y="0"/>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145" name="Freeform 39"/>
            <p:cNvSpPr>
              <a:spLocks/>
            </p:cNvSpPr>
            <p:nvPr/>
          </p:nvSpPr>
          <p:spPr bwMode="auto">
            <a:xfrm>
              <a:off x="2976" y="3360"/>
              <a:ext cx="432" cy="528"/>
            </a:xfrm>
            <a:custGeom>
              <a:avLst/>
              <a:gdLst>
                <a:gd name="T0" fmla="*/ 288 w 432"/>
                <a:gd name="T1" fmla="*/ 528 h 528"/>
                <a:gd name="T2" fmla="*/ 0 w 432"/>
                <a:gd name="T3" fmla="*/ 528 h 528"/>
                <a:gd name="T4" fmla="*/ 0 w 432"/>
                <a:gd name="T5" fmla="*/ 0 h 528"/>
                <a:gd name="T6" fmla="*/ 432 w 432"/>
                <a:gd name="T7" fmla="*/ 0 h 528"/>
                <a:gd name="T8" fmla="*/ 0 60000 65536"/>
                <a:gd name="T9" fmla="*/ 0 60000 65536"/>
                <a:gd name="T10" fmla="*/ 0 60000 65536"/>
                <a:gd name="T11" fmla="*/ 0 60000 65536"/>
                <a:gd name="T12" fmla="*/ 0 w 432"/>
                <a:gd name="T13" fmla="*/ 0 h 528"/>
                <a:gd name="T14" fmla="*/ 432 w 432"/>
                <a:gd name="T15" fmla="*/ 528 h 528"/>
              </a:gdLst>
              <a:ahLst/>
              <a:cxnLst>
                <a:cxn ang="T8">
                  <a:pos x="T0" y="T1"/>
                </a:cxn>
                <a:cxn ang="T9">
                  <a:pos x="T2" y="T3"/>
                </a:cxn>
                <a:cxn ang="T10">
                  <a:pos x="T4" y="T5"/>
                </a:cxn>
                <a:cxn ang="T11">
                  <a:pos x="T6" y="T7"/>
                </a:cxn>
              </a:cxnLst>
              <a:rect l="T12" t="T13" r="T14" b="T15"/>
              <a:pathLst>
                <a:path w="432" h="528">
                  <a:moveTo>
                    <a:pt x="288" y="528"/>
                  </a:moveTo>
                  <a:lnTo>
                    <a:pt x="0" y="528"/>
                  </a:lnTo>
                  <a:lnTo>
                    <a:pt x="0" y="0"/>
                  </a:lnTo>
                  <a:lnTo>
                    <a:pt x="432" y="0"/>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146" name="Line 40"/>
            <p:cNvSpPr>
              <a:spLocks noChangeShapeType="1"/>
            </p:cNvSpPr>
            <p:nvPr/>
          </p:nvSpPr>
          <p:spPr bwMode="auto">
            <a:xfrm>
              <a:off x="3216" y="3744"/>
              <a:ext cx="0" cy="9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47" name="Text Box 41"/>
            <p:cNvSpPr txBox="1">
              <a:spLocks noChangeArrowheads="1"/>
            </p:cNvSpPr>
            <p:nvPr/>
          </p:nvSpPr>
          <p:spPr bwMode="auto">
            <a:xfrm>
              <a:off x="3041" y="3274"/>
              <a:ext cx="21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400" i="1"/>
                <a:t>Y</a:t>
              </a:r>
              <a:r>
                <a:rPr lang="en-US" altLang="zh-CN" sz="1400" i="1" baseline="-25000"/>
                <a:t>1</a:t>
              </a:r>
            </a:p>
            <a:p>
              <a:pPr eaLnBrk="1" hangingPunct="1"/>
              <a:r>
                <a:rPr lang="en-US" altLang="zh-CN" sz="1400" i="1"/>
                <a:t>Y</a:t>
              </a:r>
              <a:r>
                <a:rPr lang="en-US" altLang="zh-CN" sz="1400" i="1" baseline="-25000"/>
                <a:t>p</a:t>
              </a:r>
            </a:p>
          </p:txBody>
        </p:sp>
      </p:grpSp>
      <p:sp>
        <p:nvSpPr>
          <p:cNvPr id="5128" name="Text Box 43"/>
          <p:cNvSpPr txBox="1">
            <a:spLocks noChangeArrowheads="1"/>
          </p:cNvSpPr>
          <p:nvPr/>
        </p:nvSpPr>
        <p:spPr bwMode="auto">
          <a:xfrm>
            <a:off x="2228850" y="5715000"/>
            <a:ext cx="1962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400"/>
              <a:t>组合逻辑电路一般结构</a:t>
            </a:r>
          </a:p>
        </p:txBody>
      </p:sp>
      <p:sp>
        <p:nvSpPr>
          <p:cNvPr id="5129" name="Text Box 45"/>
          <p:cNvSpPr txBox="1">
            <a:spLocks noChangeArrowheads="1"/>
          </p:cNvSpPr>
          <p:nvPr/>
        </p:nvSpPr>
        <p:spPr bwMode="auto">
          <a:xfrm>
            <a:off x="5276850" y="6172200"/>
            <a:ext cx="1962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400"/>
              <a:t>时序逻辑电路一般结构</a:t>
            </a: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日期占位符 3"/>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7E92ED45-458D-4127-8294-0C25DCDC1137}" type="datetime1">
              <a:rPr lang="zh-CN" altLang="en-US" sz="1400">
                <a:latin typeface="+mn-lt"/>
              </a:rPr>
              <a:pPr>
                <a:defRPr/>
              </a:pPr>
              <a:t>2020/10/10</a:t>
            </a:fld>
            <a:endParaRPr lang="en-US" altLang="zh-CN" sz="1400">
              <a:latin typeface="+mn-lt"/>
            </a:endParaRPr>
          </a:p>
        </p:txBody>
      </p:sp>
      <p:sp>
        <p:nvSpPr>
          <p:cNvPr id="38" name="灯片编号占位符 5"/>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E990461B-B108-4E06-ACF2-16E109500356}" type="slidenum">
              <a:rPr lang="en-US" altLang="zh-CN" sz="1400">
                <a:latin typeface="+mn-lt"/>
              </a:rPr>
              <a:pPr algn="r">
                <a:defRPr/>
              </a:pPr>
              <a:t>4</a:t>
            </a:fld>
            <a:endParaRPr lang="en-US" altLang="zh-CN" sz="1400">
              <a:latin typeface="+mn-lt"/>
            </a:endParaRPr>
          </a:p>
        </p:txBody>
      </p:sp>
      <p:sp>
        <p:nvSpPr>
          <p:cNvPr id="6148" name="Rectangle 3"/>
          <p:cNvSpPr>
            <a:spLocks noGrp="1" noChangeArrowheads="1"/>
          </p:cNvSpPr>
          <p:nvPr>
            <p:ph type="body" idx="4294967295"/>
          </p:nvPr>
        </p:nvSpPr>
        <p:spPr/>
        <p:txBody>
          <a:bodyPr/>
          <a:lstStyle/>
          <a:p>
            <a:pPr eaLnBrk="1" hangingPunct="1"/>
            <a:r>
              <a:rPr lang="zh-CN" altLang="en-US" smtClean="0"/>
              <a:t>逻辑电路的设计与分析</a:t>
            </a:r>
          </a:p>
          <a:p>
            <a:pPr lvl="1" eaLnBrk="1" hangingPunct="1"/>
            <a:r>
              <a:rPr lang="zh-CN" altLang="en-US" smtClean="0"/>
              <a:t>分析：对一个已知的逻辑电路使用对应的逻辑函数研究其工作特性和逻辑功能</a:t>
            </a:r>
          </a:p>
          <a:p>
            <a:pPr lvl="1" eaLnBrk="1" hangingPunct="1"/>
            <a:r>
              <a:rPr lang="zh-CN" altLang="en-US" smtClean="0"/>
              <a:t>设计：根据确定的逻辑要求或者已知逻辑功能的函数，确定相应的逻辑电路</a:t>
            </a:r>
          </a:p>
        </p:txBody>
      </p:sp>
      <p:sp>
        <p:nvSpPr>
          <p:cNvPr id="6149" name="Rectangle 2"/>
          <p:cNvSpPr>
            <a:spLocks noGrp="1" noChangeArrowheads="1"/>
          </p:cNvSpPr>
          <p:nvPr>
            <p:ph type="title" idx="4294967295"/>
          </p:nvPr>
        </p:nvSpPr>
        <p:spPr>
          <a:xfrm>
            <a:off x="1274763" y="533400"/>
            <a:ext cx="7793037" cy="609600"/>
          </a:xfrm>
        </p:spPr>
        <p:txBody>
          <a:bodyPr/>
          <a:lstStyle/>
          <a:p>
            <a:pPr eaLnBrk="1" hangingPunct="1"/>
            <a:r>
              <a:rPr lang="zh-CN" altLang="en-US" smtClean="0"/>
              <a:t>概念</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7D1EBA2-32D7-4527-9BF9-9D3BD907855B}"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481637CF-E06E-4934-BF44-5CFE7C5E7966}" type="slidenum">
              <a:rPr lang="en-US" altLang="zh-CN"/>
              <a:pPr>
                <a:defRPr/>
              </a:pPr>
              <a:t>5</a:t>
            </a:fld>
            <a:endParaRPr lang="en-US" altLang="zh-CN"/>
          </a:p>
        </p:txBody>
      </p:sp>
      <p:sp>
        <p:nvSpPr>
          <p:cNvPr id="7172" name="Rectangle 2"/>
          <p:cNvSpPr>
            <a:spLocks noGrp="1" noChangeArrowheads="1"/>
          </p:cNvSpPr>
          <p:nvPr>
            <p:ph type="body" idx="1"/>
          </p:nvPr>
        </p:nvSpPr>
        <p:spPr/>
        <p:txBody>
          <a:bodyPr/>
          <a:lstStyle/>
          <a:p>
            <a:pPr eaLnBrk="1" hangingPunct="1"/>
            <a:r>
              <a:rPr lang="zh-CN" altLang="en-US" smtClean="0"/>
              <a:t>简单逻辑门电路</a:t>
            </a:r>
          </a:p>
          <a:p>
            <a:pPr lvl="1" eaLnBrk="1" hangingPunct="1"/>
            <a:r>
              <a:rPr lang="zh-CN" altLang="en-US" smtClean="0"/>
              <a:t>用来实现与、或、非三种基本逻辑运算的逻辑电路分别称为与门、或门、非门</a:t>
            </a:r>
          </a:p>
          <a:p>
            <a:pPr eaLnBrk="1" hangingPunct="1"/>
            <a:r>
              <a:rPr lang="zh-CN" altLang="en-US" smtClean="0"/>
              <a:t>复合逻辑门电路</a:t>
            </a:r>
          </a:p>
        </p:txBody>
      </p:sp>
      <p:sp>
        <p:nvSpPr>
          <p:cNvPr id="7173" name="Rectangle 3"/>
          <p:cNvSpPr>
            <a:spLocks noGrp="1" noChangeArrowheads="1"/>
          </p:cNvSpPr>
          <p:nvPr>
            <p:ph type="title"/>
          </p:nvPr>
        </p:nvSpPr>
        <p:spPr>
          <a:xfrm>
            <a:off x="1274763" y="533400"/>
            <a:ext cx="7793037" cy="609600"/>
          </a:xfrm>
        </p:spPr>
        <p:txBody>
          <a:bodyPr/>
          <a:lstStyle/>
          <a:p>
            <a:pPr eaLnBrk="1" hangingPunct="1"/>
            <a:r>
              <a:rPr lang="en-US" altLang="zh-CN" smtClean="0"/>
              <a:t>3.1 </a:t>
            </a:r>
            <a:r>
              <a:rPr lang="zh-CN" altLang="en-US" smtClean="0"/>
              <a:t>逻辑门电路</a:t>
            </a: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EA83DA2-5964-4312-ADFD-554792FC27D6}"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1AA41FD0-32C0-4CFF-A93A-5CEF9108EDBF}" type="slidenum">
              <a:rPr lang="en-US" altLang="zh-CN"/>
              <a:pPr>
                <a:defRPr/>
              </a:pPr>
              <a:t>6</a:t>
            </a:fld>
            <a:endParaRPr lang="en-US" altLang="zh-CN"/>
          </a:p>
        </p:txBody>
      </p:sp>
      <p:sp>
        <p:nvSpPr>
          <p:cNvPr id="8196" name="Rectangle 2"/>
          <p:cNvSpPr>
            <a:spLocks noGrp="1" noChangeArrowheads="1"/>
          </p:cNvSpPr>
          <p:nvPr>
            <p:ph type="body" idx="1"/>
          </p:nvPr>
        </p:nvSpPr>
        <p:spPr/>
        <p:txBody>
          <a:bodyPr/>
          <a:lstStyle/>
          <a:p>
            <a:pPr eaLnBrk="1" hangingPunct="1"/>
            <a:r>
              <a:rPr lang="en-US" altLang="zh-CN" smtClean="0"/>
              <a:t>“</a:t>
            </a:r>
            <a:r>
              <a:rPr lang="zh-CN" altLang="en-US" smtClean="0"/>
              <a:t>与”门：实现“与”逻辑功能的电路</a:t>
            </a:r>
          </a:p>
          <a:p>
            <a:pPr lvl="1" eaLnBrk="1" hangingPunct="1"/>
            <a:r>
              <a:rPr lang="zh-CN" altLang="en-US" smtClean="0"/>
              <a:t>有两个以上输入端和一个输出端</a:t>
            </a:r>
          </a:p>
          <a:p>
            <a:pPr lvl="1" eaLnBrk="1" hangingPunct="1"/>
            <a:r>
              <a:rPr lang="zh-CN" altLang="en-US" smtClean="0"/>
              <a:t>真值表</a:t>
            </a:r>
          </a:p>
        </p:txBody>
      </p:sp>
      <p:sp>
        <p:nvSpPr>
          <p:cNvPr id="8197" name="Rectangle 3"/>
          <p:cNvSpPr>
            <a:spLocks noGrp="1" noChangeArrowheads="1"/>
          </p:cNvSpPr>
          <p:nvPr>
            <p:ph type="title"/>
          </p:nvPr>
        </p:nvSpPr>
        <p:spPr>
          <a:xfrm>
            <a:off x="1274763" y="533400"/>
            <a:ext cx="7793037" cy="609600"/>
          </a:xfrm>
        </p:spPr>
        <p:txBody>
          <a:bodyPr/>
          <a:lstStyle/>
          <a:p>
            <a:pPr eaLnBrk="1" hangingPunct="1"/>
            <a:r>
              <a:rPr lang="zh-CN" altLang="en-US" smtClean="0"/>
              <a:t>简单逻辑门电路</a:t>
            </a:r>
          </a:p>
        </p:txBody>
      </p:sp>
      <p:sp>
        <p:nvSpPr>
          <p:cNvPr id="6" name="Text Box 14"/>
          <p:cNvSpPr txBox="1">
            <a:spLocks noChangeArrowheads="1"/>
          </p:cNvSpPr>
          <p:nvPr/>
        </p:nvSpPr>
        <p:spPr bwMode="auto">
          <a:xfrm>
            <a:off x="285750" y="3357563"/>
            <a:ext cx="3676650" cy="5794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逻辑式：</a:t>
            </a:r>
            <a:r>
              <a:rPr lang="en-US" altLang="zh-CN" sz="3200" b="1">
                <a:solidFill>
                  <a:srgbClr val="0033CC"/>
                </a:solidFill>
                <a:ea typeface="楷体_GB2312" pitchFamily="49" charset="-122"/>
              </a:rPr>
              <a:t>F=A • B</a:t>
            </a:r>
          </a:p>
        </p:txBody>
      </p:sp>
      <p:sp>
        <p:nvSpPr>
          <p:cNvPr id="7" name="Text Box 15"/>
          <p:cNvSpPr txBox="1">
            <a:spLocks noChangeArrowheads="1"/>
          </p:cNvSpPr>
          <p:nvPr/>
        </p:nvSpPr>
        <p:spPr bwMode="auto">
          <a:xfrm>
            <a:off x="71438" y="4071938"/>
            <a:ext cx="2476500" cy="5794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逻辑符号：</a:t>
            </a:r>
            <a:endParaRPr lang="zh-CN" altLang="en-US" sz="3200" b="1">
              <a:solidFill>
                <a:srgbClr val="CC0000"/>
              </a:solidFill>
              <a:ea typeface="楷体_GB2312" pitchFamily="49" charset="-122"/>
            </a:endParaRPr>
          </a:p>
        </p:txBody>
      </p:sp>
      <p:grpSp>
        <p:nvGrpSpPr>
          <p:cNvPr id="2" name="Group 16"/>
          <p:cNvGrpSpPr>
            <a:grpSpLocks/>
          </p:cNvGrpSpPr>
          <p:nvPr/>
        </p:nvGrpSpPr>
        <p:grpSpPr bwMode="auto">
          <a:xfrm>
            <a:off x="1571625" y="4786313"/>
            <a:ext cx="3111500" cy="1404937"/>
            <a:chOff x="1416" y="1728"/>
            <a:chExt cx="1960" cy="885"/>
          </a:xfrm>
        </p:grpSpPr>
        <p:sp>
          <p:nvSpPr>
            <p:cNvPr id="8212" name="Rectangle 17"/>
            <p:cNvSpPr>
              <a:spLocks noChangeArrowheads="1"/>
            </p:cNvSpPr>
            <p:nvPr/>
          </p:nvSpPr>
          <p:spPr bwMode="auto">
            <a:xfrm>
              <a:off x="1932" y="1801"/>
              <a:ext cx="504" cy="805"/>
            </a:xfrm>
            <a:prstGeom prst="rect">
              <a:avLst/>
            </a:prstGeom>
            <a:noFill/>
            <a:ln w="3810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13" name="Text Box 18"/>
            <p:cNvSpPr txBox="1">
              <a:spLocks noChangeArrowheads="1"/>
            </p:cNvSpPr>
            <p:nvPr/>
          </p:nvSpPr>
          <p:spPr bwMode="auto">
            <a:xfrm>
              <a:off x="2028" y="1753"/>
              <a:ext cx="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&amp;</a:t>
              </a:r>
            </a:p>
          </p:txBody>
        </p:sp>
        <p:sp>
          <p:nvSpPr>
            <p:cNvPr id="8214" name="Line 19"/>
            <p:cNvSpPr>
              <a:spLocks noChangeShapeType="1"/>
            </p:cNvSpPr>
            <p:nvPr/>
          </p:nvSpPr>
          <p:spPr bwMode="auto">
            <a:xfrm>
              <a:off x="1748" y="1945"/>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5" name="Line 20"/>
            <p:cNvSpPr>
              <a:spLocks noChangeShapeType="1"/>
            </p:cNvSpPr>
            <p:nvPr/>
          </p:nvSpPr>
          <p:spPr bwMode="auto">
            <a:xfrm>
              <a:off x="1740" y="2437"/>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6" name="Line 21"/>
            <p:cNvSpPr>
              <a:spLocks noChangeShapeType="1"/>
            </p:cNvSpPr>
            <p:nvPr/>
          </p:nvSpPr>
          <p:spPr bwMode="auto">
            <a:xfrm>
              <a:off x="2436" y="2197"/>
              <a:ext cx="43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7" name="Text Box 22"/>
            <p:cNvSpPr txBox="1">
              <a:spLocks noChangeArrowheads="1"/>
            </p:cNvSpPr>
            <p:nvPr/>
          </p:nvSpPr>
          <p:spPr bwMode="auto">
            <a:xfrm>
              <a:off x="1416" y="1728"/>
              <a:ext cx="5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A</a:t>
              </a:r>
            </a:p>
          </p:txBody>
        </p:sp>
        <p:sp>
          <p:nvSpPr>
            <p:cNvPr id="8218" name="Text Box 23"/>
            <p:cNvSpPr txBox="1">
              <a:spLocks noChangeArrowheads="1"/>
            </p:cNvSpPr>
            <p:nvPr/>
          </p:nvSpPr>
          <p:spPr bwMode="auto">
            <a:xfrm>
              <a:off x="1432" y="2248"/>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B</a:t>
              </a:r>
            </a:p>
          </p:txBody>
        </p:sp>
        <p:sp>
          <p:nvSpPr>
            <p:cNvPr id="8219" name="Text Box 24"/>
            <p:cNvSpPr txBox="1">
              <a:spLocks noChangeArrowheads="1"/>
            </p:cNvSpPr>
            <p:nvPr/>
          </p:nvSpPr>
          <p:spPr bwMode="auto">
            <a:xfrm>
              <a:off x="2888" y="2016"/>
              <a:ext cx="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F</a:t>
              </a:r>
            </a:p>
          </p:txBody>
        </p:sp>
      </p:grpSp>
      <p:grpSp>
        <p:nvGrpSpPr>
          <p:cNvPr id="3" name="Group 3"/>
          <p:cNvGrpSpPr>
            <a:grpSpLocks/>
          </p:cNvGrpSpPr>
          <p:nvPr/>
        </p:nvGrpSpPr>
        <p:grpSpPr bwMode="auto">
          <a:xfrm>
            <a:off x="4859338" y="2444750"/>
            <a:ext cx="4122737" cy="3341688"/>
            <a:chOff x="2934" y="256"/>
            <a:chExt cx="2724" cy="2269"/>
          </a:xfrm>
        </p:grpSpPr>
        <p:sp>
          <p:nvSpPr>
            <p:cNvPr id="8202" name="Text Box 4"/>
            <p:cNvSpPr txBox="1">
              <a:spLocks noChangeArrowheads="1"/>
            </p:cNvSpPr>
            <p:nvPr/>
          </p:nvSpPr>
          <p:spPr bwMode="auto">
            <a:xfrm>
              <a:off x="3126" y="779"/>
              <a:ext cx="2484"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0       0            0</a:t>
              </a:r>
            </a:p>
          </p:txBody>
        </p:sp>
        <p:sp>
          <p:nvSpPr>
            <p:cNvPr id="8203" name="Text Box 5"/>
            <p:cNvSpPr txBox="1">
              <a:spLocks noChangeArrowheads="1"/>
            </p:cNvSpPr>
            <p:nvPr/>
          </p:nvSpPr>
          <p:spPr bwMode="auto">
            <a:xfrm>
              <a:off x="3126" y="1203"/>
              <a:ext cx="2532"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0       1            0</a:t>
              </a:r>
            </a:p>
          </p:txBody>
        </p:sp>
        <p:grpSp>
          <p:nvGrpSpPr>
            <p:cNvPr id="8204" name="Group 6"/>
            <p:cNvGrpSpPr>
              <a:grpSpLocks/>
            </p:cNvGrpSpPr>
            <p:nvPr/>
          </p:nvGrpSpPr>
          <p:grpSpPr bwMode="auto">
            <a:xfrm>
              <a:off x="2934" y="256"/>
              <a:ext cx="2117" cy="2269"/>
              <a:chOff x="2700" y="256"/>
              <a:chExt cx="2424" cy="2269"/>
            </a:xfrm>
          </p:grpSpPr>
          <p:sp>
            <p:nvSpPr>
              <p:cNvPr id="8208" name="Line 7"/>
              <p:cNvSpPr>
                <a:spLocks noChangeShapeType="1"/>
              </p:cNvSpPr>
              <p:nvPr/>
            </p:nvSpPr>
            <p:spPr bwMode="auto">
              <a:xfrm>
                <a:off x="2712" y="719"/>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9" name="Line 8"/>
              <p:cNvSpPr>
                <a:spLocks noChangeShapeType="1"/>
              </p:cNvSpPr>
              <p:nvPr/>
            </p:nvSpPr>
            <p:spPr bwMode="auto">
              <a:xfrm>
                <a:off x="2712" y="2525"/>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0" name="Line 9"/>
              <p:cNvSpPr>
                <a:spLocks noChangeShapeType="1"/>
              </p:cNvSpPr>
              <p:nvPr/>
            </p:nvSpPr>
            <p:spPr bwMode="auto">
              <a:xfrm>
                <a:off x="4320" y="256"/>
                <a:ext cx="0" cy="225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1" name="Line 10"/>
              <p:cNvSpPr>
                <a:spLocks noChangeShapeType="1"/>
              </p:cNvSpPr>
              <p:nvPr/>
            </p:nvSpPr>
            <p:spPr bwMode="auto">
              <a:xfrm>
                <a:off x="2700" y="257"/>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05" name="Text Box 11"/>
            <p:cNvSpPr txBox="1">
              <a:spLocks noChangeArrowheads="1"/>
            </p:cNvSpPr>
            <p:nvPr/>
          </p:nvSpPr>
          <p:spPr bwMode="auto">
            <a:xfrm>
              <a:off x="3054" y="296"/>
              <a:ext cx="2517"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en-US" sz="3200" b="1">
                  <a:ea typeface="楷体_GB2312" pitchFamily="49" charset="-122"/>
                </a:rPr>
                <a:t> </a:t>
              </a:r>
              <a:r>
                <a:rPr lang="en-US" altLang="zh-CN" sz="3200" b="1">
                  <a:ea typeface="楷体_GB2312" pitchFamily="49" charset="-122"/>
                </a:rPr>
                <a:t>A       B           F</a:t>
              </a:r>
            </a:p>
          </p:txBody>
        </p:sp>
        <p:sp>
          <p:nvSpPr>
            <p:cNvPr id="8206" name="Text Box 12"/>
            <p:cNvSpPr txBox="1">
              <a:spLocks noChangeArrowheads="1"/>
            </p:cNvSpPr>
            <p:nvPr/>
          </p:nvSpPr>
          <p:spPr bwMode="auto">
            <a:xfrm>
              <a:off x="3114" y="1651"/>
              <a:ext cx="253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1       0            0</a:t>
              </a:r>
            </a:p>
          </p:txBody>
        </p:sp>
        <p:sp>
          <p:nvSpPr>
            <p:cNvPr id="8207" name="Text Box 13"/>
            <p:cNvSpPr txBox="1">
              <a:spLocks noChangeArrowheads="1"/>
            </p:cNvSpPr>
            <p:nvPr/>
          </p:nvSpPr>
          <p:spPr bwMode="auto">
            <a:xfrm>
              <a:off x="3114" y="2094"/>
              <a:ext cx="253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1       1            1</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vertic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ox(ou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89DE0CD-CA7F-48E2-A25B-157B4AFBA1F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B2E2CE3B-A18E-468E-8C51-7A95299F3A9A}" type="slidenum">
              <a:rPr lang="en-US" altLang="zh-CN"/>
              <a:pPr>
                <a:defRPr/>
              </a:pPr>
              <a:t>7</a:t>
            </a:fld>
            <a:endParaRPr lang="en-US" altLang="zh-CN"/>
          </a:p>
        </p:txBody>
      </p:sp>
      <p:sp>
        <p:nvSpPr>
          <p:cNvPr id="9220" name="Rectangle 2"/>
          <p:cNvSpPr>
            <a:spLocks noGrp="1" noChangeArrowheads="1"/>
          </p:cNvSpPr>
          <p:nvPr>
            <p:ph type="body" idx="1"/>
          </p:nvPr>
        </p:nvSpPr>
        <p:spPr/>
        <p:txBody>
          <a:bodyPr/>
          <a:lstStyle/>
          <a:p>
            <a:pPr eaLnBrk="1" hangingPunct="1"/>
            <a:r>
              <a:rPr lang="en-US" altLang="zh-CN" smtClean="0"/>
              <a:t>“</a:t>
            </a:r>
            <a:r>
              <a:rPr lang="zh-CN" altLang="en-US" smtClean="0"/>
              <a:t>或”门：实现“或”逻辑功能的电路</a:t>
            </a:r>
          </a:p>
          <a:p>
            <a:pPr lvl="1" eaLnBrk="1" hangingPunct="1"/>
            <a:r>
              <a:rPr lang="zh-CN" altLang="en-US" smtClean="0"/>
              <a:t>有两个以上输入端和一个输出端</a:t>
            </a:r>
          </a:p>
          <a:p>
            <a:pPr lvl="1" eaLnBrk="1" hangingPunct="1"/>
            <a:r>
              <a:rPr lang="zh-CN" altLang="en-US" smtClean="0"/>
              <a:t>真值表</a:t>
            </a:r>
          </a:p>
        </p:txBody>
      </p:sp>
      <p:sp>
        <p:nvSpPr>
          <p:cNvPr id="9221" name="Rectangle 3"/>
          <p:cNvSpPr>
            <a:spLocks noGrp="1" noChangeArrowheads="1"/>
          </p:cNvSpPr>
          <p:nvPr>
            <p:ph type="title"/>
          </p:nvPr>
        </p:nvSpPr>
        <p:spPr>
          <a:xfrm>
            <a:off x="1274763" y="533400"/>
            <a:ext cx="7793037" cy="609600"/>
          </a:xfrm>
        </p:spPr>
        <p:txBody>
          <a:bodyPr/>
          <a:lstStyle/>
          <a:p>
            <a:pPr eaLnBrk="1" hangingPunct="1"/>
            <a:r>
              <a:rPr lang="zh-CN" altLang="en-US" smtClean="0"/>
              <a:t>简单逻辑门电路</a:t>
            </a:r>
          </a:p>
        </p:txBody>
      </p:sp>
      <p:grpSp>
        <p:nvGrpSpPr>
          <p:cNvPr id="2" name="Group 3"/>
          <p:cNvGrpSpPr>
            <a:grpSpLocks/>
          </p:cNvGrpSpPr>
          <p:nvPr/>
        </p:nvGrpSpPr>
        <p:grpSpPr bwMode="auto">
          <a:xfrm>
            <a:off x="4932363" y="2943225"/>
            <a:ext cx="4049712" cy="3200400"/>
            <a:chOff x="2934" y="256"/>
            <a:chExt cx="2724" cy="2269"/>
          </a:xfrm>
        </p:grpSpPr>
        <p:sp>
          <p:nvSpPr>
            <p:cNvPr id="9234" name="Text Box 4"/>
            <p:cNvSpPr txBox="1">
              <a:spLocks noChangeArrowheads="1"/>
            </p:cNvSpPr>
            <p:nvPr/>
          </p:nvSpPr>
          <p:spPr bwMode="auto">
            <a:xfrm>
              <a:off x="3126" y="779"/>
              <a:ext cx="248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0       0            0</a:t>
              </a:r>
            </a:p>
          </p:txBody>
        </p:sp>
        <p:sp>
          <p:nvSpPr>
            <p:cNvPr id="9235" name="Text Box 5"/>
            <p:cNvSpPr txBox="1">
              <a:spLocks noChangeArrowheads="1"/>
            </p:cNvSpPr>
            <p:nvPr/>
          </p:nvSpPr>
          <p:spPr bwMode="auto">
            <a:xfrm>
              <a:off x="3126" y="1204"/>
              <a:ext cx="253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0       1            1</a:t>
              </a:r>
            </a:p>
          </p:txBody>
        </p:sp>
        <p:grpSp>
          <p:nvGrpSpPr>
            <p:cNvPr id="9236" name="Group 6"/>
            <p:cNvGrpSpPr>
              <a:grpSpLocks/>
            </p:cNvGrpSpPr>
            <p:nvPr/>
          </p:nvGrpSpPr>
          <p:grpSpPr bwMode="auto">
            <a:xfrm>
              <a:off x="2934" y="256"/>
              <a:ext cx="2117" cy="2269"/>
              <a:chOff x="2700" y="256"/>
              <a:chExt cx="2424" cy="2269"/>
            </a:xfrm>
          </p:grpSpPr>
          <p:sp>
            <p:nvSpPr>
              <p:cNvPr id="9240" name="Line 7"/>
              <p:cNvSpPr>
                <a:spLocks noChangeShapeType="1"/>
              </p:cNvSpPr>
              <p:nvPr/>
            </p:nvSpPr>
            <p:spPr bwMode="auto">
              <a:xfrm>
                <a:off x="2712" y="719"/>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8"/>
              <p:cNvSpPr>
                <a:spLocks noChangeShapeType="1"/>
              </p:cNvSpPr>
              <p:nvPr/>
            </p:nvSpPr>
            <p:spPr bwMode="auto">
              <a:xfrm>
                <a:off x="2712" y="2525"/>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9"/>
              <p:cNvSpPr>
                <a:spLocks noChangeShapeType="1"/>
              </p:cNvSpPr>
              <p:nvPr/>
            </p:nvSpPr>
            <p:spPr bwMode="auto">
              <a:xfrm>
                <a:off x="4320" y="256"/>
                <a:ext cx="0" cy="225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3" name="Line 10"/>
              <p:cNvSpPr>
                <a:spLocks noChangeShapeType="1"/>
              </p:cNvSpPr>
              <p:nvPr/>
            </p:nvSpPr>
            <p:spPr bwMode="auto">
              <a:xfrm>
                <a:off x="2700" y="257"/>
                <a:ext cx="24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37" name="Text Box 11"/>
            <p:cNvSpPr txBox="1">
              <a:spLocks noChangeArrowheads="1"/>
            </p:cNvSpPr>
            <p:nvPr/>
          </p:nvSpPr>
          <p:spPr bwMode="auto">
            <a:xfrm>
              <a:off x="3054" y="297"/>
              <a:ext cx="2518"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en-US" sz="3200" b="1">
                  <a:ea typeface="楷体_GB2312" pitchFamily="49" charset="-122"/>
                </a:rPr>
                <a:t> </a:t>
              </a:r>
              <a:r>
                <a:rPr lang="en-US" altLang="zh-CN" sz="3200" b="1">
                  <a:ea typeface="楷体_GB2312" pitchFamily="49" charset="-122"/>
                </a:rPr>
                <a:t>A       B           F</a:t>
              </a:r>
            </a:p>
          </p:txBody>
        </p:sp>
        <p:sp>
          <p:nvSpPr>
            <p:cNvPr id="9238" name="Text Box 12"/>
            <p:cNvSpPr txBox="1">
              <a:spLocks noChangeArrowheads="1"/>
            </p:cNvSpPr>
            <p:nvPr/>
          </p:nvSpPr>
          <p:spPr bwMode="auto">
            <a:xfrm>
              <a:off x="3114" y="1650"/>
              <a:ext cx="253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1       0            1</a:t>
              </a:r>
            </a:p>
          </p:txBody>
        </p:sp>
        <p:sp>
          <p:nvSpPr>
            <p:cNvPr id="9239" name="Text Box 13"/>
            <p:cNvSpPr txBox="1">
              <a:spLocks noChangeArrowheads="1"/>
            </p:cNvSpPr>
            <p:nvPr/>
          </p:nvSpPr>
          <p:spPr bwMode="auto">
            <a:xfrm>
              <a:off x="3114" y="2094"/>
              <a:ext cx="253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1       1            1</a:t>
              </a:r>
            </a:p>
          </p:txBody>
        </p:sp>
      </p:grpSp>
      <p:sp>
        <p:nvSpPr>
          <p:cNvPr id="17" name="Text Box 14"/>
          <p:cNvSpPr txBox="1">
            <a:spLocks noChangeArrowheads="1"/>
          </p:cNvSpPr>
          <p:nvPr/>
        </p:nvSpPr>
        <p:spPr bwMode="auto">
          <a:xfrm>
            <a:off x="158750" y="3071813"/>
            <a:ext cx="3676650" cy="5794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逻辑式：</a:t>
            </a:r>
            <a:r>
              <a:rPr lang="en-US" altLang="zh-CN" sz="3200" b="1">
                <a:solidFill>
                  <a:srgbClr val="0033CC"/>
                </a:solidFill>
                <a:ea typeface="楷体_GB2312" pitchFamily="49" charset="-122"/>
              </a:rPr>
              <a:t>F=A+B</a:t>
            </a:r>
          </a:p>
        </p:txBody>
      </p:sp>
      <p:sp>
        <p:nvSpPr>
          <p:cNvPr id="18" name="Text Box 15"/>
          <p:cNvSpPr txBox="1">
            <a:spLocks noChangeArrowheads="1"/>
          </p:cNvSpPr>
          <p:nvPr/>
        </p:nvSpPr>
        <p:spPr bwMode="auto">
          <a:xfrm>
            <a:off x="142875" y="3922713"/>
            <a:ext cx="2476500" cy="5794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逻辑符号：</a:t>
            </a:r>
          </a:p>
        </p:txBody>
      </p:sp>
      <p:grpSp>
        <p:nvGrpSpPr>
          <p:cNvPr id="6" name="Group 16"/>
          <p:cNvGrpSpPr>
            <a:grpSpLocks/>
          </p:cNvGrpSpPr>
          <p:nvPr/>
        </p:nvGrpSpPr>
        <p:grpSpPr bwMode="auto">
          <a:xfrm>
            <a:off x="785813" y="4738688"/>
            <a:ext cx="3413125" cy="1404937"/>
            <a:chOff x="1416" y="1728"/>
            <a:chExt cx="1960" cy="885"/>
          </a:xfrm>
        </p:grpSpPr>
        <p:sp>
          <p:nvSpPr>
            <p:cNvPr id="9226" name="Rectangle 17"/>
            <p:cNvSpPr>
              <a:spLocks noChangeArrowheads="1"/>
            </p:cNvSpPr>
            <p:nvPr/>
          </p:nvSpPr>
          <p:spPr bwMode="auto">
            <a:xfrm>
              <a:off x="1932" y="1801"/>
              <a:ext cx="504" cy="805"/>
            </a:xfrm>
            <a:prstGeom prst="rect">
              <a:avLst/>
            </a:prstGeom>
            <a:noFill/>
            <a:ln w="3810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7" name="Text Box 18"/>
            <p:cNvSpPr txBox="1">
              <a:spLocks noChangeArrowheads="1"/>
            </p:cNvSpPr>
            <p:nvPr/>
          </p:nvSpPr>
          <p:spPr bwMode="auto">
            <a:xfrm>
              <a:off x="2028" y="1753"/>
              <a:ext cx="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sym typeface="Symbol" pitchFamily="18" charset="2"/>
                </a:rPr>
                <a:t>1</a:t>
              </a:r>
              <a:endParaRPr lang="en-US" altLang="zh-CN" sz="3200" b="1">
                <a:ea typeface="楷体_GB2312" pitchFamily="49" charset="-122"/>
              </a:endParaRPr>
            </a:p>
          </p:txBody>
        </p:sp>
        <p:sp>
          <p:nvSpPr>
            <p:cNvPr id="9228" name="Line 19"/>
            <p:cNvSpPr>
              <a:spLocks noChangeShapeType="1"/>
            </p:cNvSpPr>
            <p:nvPr/>
          </p:nvSpPr>
          <p:spPr bwMode="auto">
            <a:xfrm>
              <a:off x="1748" y="1945"/>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9" name="Line 20"/>
            <p:cNvSpPr>
              <a:spLocks noChangeShapeType="1"/>
            </p:cNvSpPr>
            <p:nvPr/>
          </p:nvSpPr>
          <p:spPr bwMode="auto">
            <a:xfrm>
              <a:off x="1740" y="2437"/>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0" name="Line 21"/>
            <p:cNvSpPr>
              <a:spLocks noChangeShapeType="1"/>
            </p:cNvSpPr>
            <p:nvPr/>
          </p:nvSpPr>
          <p:spPr bwMode="auto">
            <a:xfrm>
              <a:off x="2436" y="2197"/>
              <a:ext cx="43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1" name="Text Box 22"/>
            <p:cNvSpPr txBox="1">
              <a:spLocks noChangeArrowheads="1"/>
            </p:cNvSpPr>
            <p:nvPr/>
          </p:nvSpPr>
          <p:spPr bwMode="auto">
            <a:xfrm>
              <a:off x="1416" y="1728"/>
              <a:ext cx="5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A</a:t>
              </a:r>
            </a:p>
          </p:txBody>
        </p:sp>
        <p:sp>
          <p:nvSpPr>
            <p:cNvPr id="9232" name="Text Box 23"/>
            <p:cNvSpPr txBox="1">
              <a:spLocks noChangeArrowheads="1"/>
            </p:cNvSpPr>
            <p:nvPr/>
          </p:nvSpPr>
          <p:spPr bwMode="auto">
            <a:xfrm>
              <a:off x="1432" y="2248"/>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B</a:t>
              </a:r>
            </a:p>
          </p:txBody>
        </p:sp>
        <p:sp>
          <p:nvSpPr>
            <p:cNvPr id="9233" name="Text Box 24"/>
            <p:cNvSpPr txBox="1">
              <a:spLocks noChangeArrowheads="1"/>
            </p:cNvSpPr>
            <p:nvPr/>
          </p:nvSpPr>
          <p:spPr bwMode="auto">
            <a:xfrm>
              <a:off x="2888" y="2016"/>
              <a:ext cx="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rPr>
                <a:t>F</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P spid="1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BF1242C-52BB-41B9-9B8D-6D8ED4B0DCB4}"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C92B9D4B-9FE8-4B2F-82ED-F2247CD070D7}" type="slidenum">
              <a:rPr lang="en-US" altLang="zh-CN"/>
              <a:pPr>
                <a:defRPr/>
              </a:pPr>
              <a:t>8</a:t>
            </a:fld>
            <a:endParaRPr lang="en-US" altLang="zh-CN"/>
          </a:p>
        </p:txBody>
      </p:sp>
      <p:sp>
        <p:nvSpPr>
          <p:cNvPr id="10244" name="Rectangle 2"/>
          <p:cNvSpPr>
            <a:spLocks noGrp="1" noChangeArrowheads="1"/>
          </p:cNvSpPr>
          <p:nvPr>
            <p:ph type="body" idx="1"/>
          </p:nvPr>
        </p:nvSpPr>
        <p:spPr/>
        <p:txBody>
          <a:bodyPr/>
          <a:lstStyle/>
          <a:p>
            <a:pPr eaLnBrk="1" hangingPunct="1"/>
            <a:r>
              <a:rPr lang="en-US" altLang="zh-CN" smtClean="0"/>
              <a:t>“</a:t>
            </a:r>
            <a:r>
              <a:rPr lang="zh-CN" altLang="en-US" smtClean="0"/>
              <a:t>非”门：实现“非”逻辑功能的电路，亦称反门、反相器</a:t>
            </a:r>
          </a:p>
          <a:p>
            <a:pPr lvl="1" eaLnBrk="1" hangingPunct="1"/>
            <a:r>
              <a:rPr lang="zh-CN" altLang="en-US" smtClean="0"/>
              <a:t>只有一个输入端和一个输出端</a:t>
            </a:r>
          </a:p>
          <a:p>
            <a:pPr lvl="1" eaLnBrk="1" hangingPunct="1"/>
            <a:r>
              <a:rPr lang="zh-CN" altLang="en-US" smtClean="0"/>
              <a:t>真值表</a:t>
            </a:r>
          </a:p>
        </p:txBody>
      </p:sp>
      <p:sp>
        <p:nvSpPr>
          <p:cNvPr id="10245" name="Rectangle 3"/>
          <p:cNvSpPr>
            <a:spLocks noGrp="1" noChangeArrowheads="1"/>
          </p:cNvSpPr>
          <p:nvPr>
            <p:ph type="title"/>
          </p:nvPr>
        </p:nvSpPr>
        <p:spPr>
          <a:xfrm>
            <a:off x="1274763" y="533400"/>
            <a:ext cx="7793037" cy="609600"/>
          </a:xfrm>
        </p:spPr>
        <p:txBody>
          <a:bodyPr/>
          <a:lstStyle/>
          <a:p>
            <a:pPr eaLnBrk="1" hangingPunct="1"/>
            <a:r>
              <a:rPr lang="zh-CN" altLang="en-US" smtClean="0"/>
              <a:t>简单逻辑门电路</a:t>
            </a:r>
          </a:p>
        </p:txBody>
      </p:sp>
      <p:graphicFrame>
        <p:nvGraphicFramePr>
          <p:cNvPr id="6" name="Object 6"/>
          <p:cNvGraphicFramePr>
            <a:graphicFrameLocks noChangeAspect="1"/>
          </p:cNvGraphicFramePr>
          <p:nvPr/>
        </p:nvGraphicFramePr>
        <p:xfrm>
          <a:off x="5857875" y="3009900"/>
          <a:ext cx="2841625" cy="3276600"/>
        </p:xfrm>
        <a:graphic>
          <a:graphicData uri="http://schemas.openxmlformats.org/presentationml/2006/ole">
            <mc:AlternateContent xmlns:mc="http://schemas.openxmlformats.org/markup-compatibility/2006">
              <mc:Choice xmlns:v="urn:schemas-microsoft-com:vml" Requires="v">
                <p:oleObj spid="_x0000_s10266" name="Document" r:id="rId5" imgW="3201924" imgH="3695700" progId="Word.Document.8">
                  <p:embed/>
                </p:oleObj>
              </mc:Choice>
              <mc:Fallback>
                <p:oleObj name="Document" r:id="rId5" imgW="3201924" imgH="3695700"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7875" y="3009900"/>
                        <a:ext cx="284162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4"/>
          <p:cNvSpPr txBox="1">
            <a:spLocks noChangeArrowheads="1"/>
          </p:cNvSpPr>
          <p:nvPr/>
        </p:nvSpPr>
        <p:spPr bwMode="auto">
          <a:xfrm>
            <a:off x="142875" y="3786188"/>
            <a:ext cx="3676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逻辑式：</a:t>
            </a:r>
            <a:endParaRPr lang="zh-CN" altLang="en-US" sz="3200" b="1">
              <a:solidFill>
                <a:schemeClr val="accent2"/>
              </a:solidFill>
              <a:ea typeface="楷体_GB2312" pitchFamily="49" charset="-122"/>
            </a:endParaRPr>
          </a:p>
        </p:txBody>
      </p:sp>
      <p:sp>
        <p:nvSpPr>
          <p:cNvPr id="8" name="Text Box 6"/>
          <p:cNvSpPr txBox="1">
            <a:spLocks noChangeArrowheads="1"/>
          </p:cNvSpPr>
          <p:nvPr/>
        </p:nvSpPr>
        <p:spPr bwMode="auto">
          <a:xfrm>
            <a:off x="214313" y="4848225"/>
            <a:ext cx="2476500" cy="57943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b="1">
                <a:solidFill>
                  <a:srgbClr val="FF0000"/>
                </a:solidFill>
                <a:ea typeface="楷体_GB2312" pitchFamily="49" charset="-122"/>
              </a:rPr>
              <a:t>逻辑符号：</a:t>
            </a:r>
          </a:p>
        </p:txBody>
      </p:sp>
      <p:grpSp>
        <p:nvGrpSpPr>
          <p:cNvPr id="2" name="Group 7"/>
          <p:cNvGrpSpPr>
            <a:grpSpLocks/>
          </p:cNvGrpSpPr>
          <p:nvPr/>
        </p:nvGrpSpPr>
        <p:grpSpPr bwMode="auto">
          <a:xfrm>
            <a:off x="2428875" y="5003800"/>
            <a:ext cx="3416300" cy="1354138"/>
            <a:chOff x="128" y="1189"/>
            <a:chExt cx="2152" cy="853"/>
          </a:xfrm>
        </p:grpSpPr>
        <p:sp>
          <p:nvSpPr>
            <p:cNvPr id="10251" name="Rectangle 8"/>
            <p:cNvSpPr>
              <a:spLocks noChangeArrowheads="1"/>
            </p:cNvSpPr>
            <p:nvPr/>
          </p:nvSpPr>
          <p:spPr bwMode="auto">
            <a:xfrm>
              <a:off x="836" y="1237"/>
              <a:ext cx="504" cy="805"/>
            </a:xfrm>
            <a:prstGeom prst="rect">
              <a:avLst/>
            </a:prstGeom>
            <a:noFill/>
            <a:ln w="3810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52" name="Text Box 9"/>
            <p:cNvSpPr txBox="1">
              <a:spLocks noChangeArrowheads="1"/>
            </p:cNvSpPr>
            <p:nvPr/>
          </p:nvSpPr>
          <p:spPr bwMode="auto">
            <a:xfrm>
              <a:off x="932" y="1189"/>
              <a:ext cx="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ea typeface="楷体_GB2312" pitchFamily="49" charset="-122"/>
                  <a:sym typeface="Symbol" pitchFamily="18" charset="2"/>
                </a:rPr>
                <a:t>1</a:t>
              </a:r>
              <a:endParaRPr lang="en-US" altLang="zh-CN" sz="3200" b="1">
                <a:ea typeface="楷体_GB2312" pitchFamily="49" charset="-122"/>
              </a:endParaRPr>
            </a:p>
          </p:txBody>
        </p:sp>
        <p:sp>
          <p:nvSpPr>
            <p:cNvPr id="10253" name="Line 10"/>
            <p:cNvSpPr>
              <a:spLocks noChangeShapeType="1"/>
            </p:cNvSpPr>
            <p:nvPr/>
          </p:nvSpPr>
          <p:spPr bwMode="auto">
            <a:xfrm>
              <a:off x="460" y="1632"/>
              <a:ext cx="384"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4" name="Line 11"/>
            <p:cNvSpPr>
              <a:spLocks noChangeShapeType="1"/>
            </p:cNvSpPr>
            <p:nvPr/>
          </p:nvSpPr>
          <p:spPr bwMode="auto">
            <a:xfrm>
              <a:off x="1496" y="1609"/>
              <a:ext cx="348"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5" name="Text Box 12"/>
            <p:cNvSpPr txBox="1">
              <a:spLocks noChangeArrowheads="1"/>
            </p:cNvSpPr>
            <p:nvPr/>
          </p:nvSpPr>
          <p:spPr bwMode="auto">
            <a:xfrm>
              <a:off x="128" y="1416"/>
              <a:ext cx="3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solidFill>
                    <a:srgbClr val="0033CC"/>
                  </a:solidFill>
                  <a:ea typeface="楷体_GB2312" pitchFamily="49" charset="-122"/>
                </a:rPr>
                <a:t>A</a:t>
              </a:r>
            </a:p>
          </p:txBody>
        </p:sp>
        <p:sp>
          <p:nvSpPr>
            <p:cNvPr id="10256" name="Text Box 13"/>
            <p:cNvSpPr txBox="1">
              <a:spLocks noChangeArrowheads="1"/>
            </p:cNvSpPr>
            <p:nvPr/>
          </p:nvSpPr>
          <p:spPr bwMode="auto">
            <a:xfrm>
              <a:off x="1792" y="1452"/>
              <a:ext cx="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a:solidFill>
                    <a:srgbClr val="0033CC"/>
                  </a:solidFill>
                  <a:ea typeface="楷体_GB2312" pitchFamily="49" charset="-122"/>
                </a:rPr>
                <a:t>F</a:t>
              </a:r>
            </a:p>
          </p:txBody>
        </p:sp>
        <p:sp>
          <p:nvSpPr>
            <p:cNvPr id="10257" name="Oval 14"/>
            <p:cNvSpPr>
              <a:spLocks noChangeArrowheads="1"/>
            </p:cNvSpPr>
            <p:nvPr/>
          </p:nvSpPr>
          <p:spPr bwMode="auto">
            <a:xfrm>
              <a:off x="1344" y="1524"/>
              <a:ext cx="156" cy="156"/>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32775" name="Object 7"/>
          <p:cNvGraphicFramePr>
            <a:graphicFrameLocks noChangeAspect="1"/>
          </p:cNvGraphicFramePr>
          <p:nvPr/>
        </p:nvGraphicFramePr>
        <p:xfrm>
          <a:off x="2500313" y="3643313"/>
          <a:ext cx="1543050" cy="620712"/>
        </p:xfrm>
        <a:graphic>
          <a:graphicData uri="http://schemas.openxmlformats.org/presentationml/2006/ole">
            <mc:AlternateContent xmlns:mc="http://schemas.openxmlformats.org/markup-compatibility/2006">
              <mc:Choice xmlns:v="urn:schemas-microsoft-com:vml" Requires="v">
                <p:oleObj spid="_x0000_s10267" name="公式" r:id="rId7" imgW="418918" imgH="203112" progId="Equation.3">
                  <p:embed/>
                </p:oleObj>
              </mc:Choice>
              <mc:Fallback>
                <p:oleObj name="公式" r:id="rId7" imgW="418918"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0313" y="3643313"/>
                        <a:ext cx="154305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2775"/>
                                        </p:tgtEl>
                                        <p:attrNameLst>
                                          <p:attrName>style.visibility</p:attrName>
                                        </p:attrNameLst>
                                      </p:cBhvr>
                                      <p:to>
                                        <p:strVal val="visible"/>
                                      </p:to>
                                    </p:set>
                                    <p:animEffect transition="in" filter="box(out)">
                                      <p:cBhvr>
                                        <p:cTn id="27" dur="500"/>
                                        <p:tgtEl>
                                          <p:spTgt spid="32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F2A880AE-C406-4F76-A309-14513EBCEB52}"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6713E024-4059-4CAF-98CA-D322B086C332}" type="slidenum">
              <a:rPr lang="en-US" altLang="zh-CN"/>
              <a:pPr>
                <a:defRPr/>
              </a:pPr>
              <a:t>9</a:t>
            </a:fld>
            <a:endParaRPr lang="en-US" altLang="zh-CN"/>
          </a:p>
        </p:txBody>
      </p:sp>
      <p:sp>
        <p:nvSpPr>
          <p:cNvPr id="11268" name="Rectangle 2"/>
          <p:cNvSpPr>
            <a:spLocks noGrp="1" noChangeArrowheads="1"/>
          </p:cNvSpPr>
          <p:nvPr>
            <p:ph type="body" idx="1"/>
          </p:nvPr>
        </p:nvSpPr>
        <p:spPr/>
        <p:txBody>
          <a:bodyPr/>
          <a:lstStyle/>
          <a:p>
            <a:pPr eaLnBrk="1" hangingPunct="1"/>
            <a:r>
              <a:rPr lang="en-US" altLang="zh-CN" smtClean="0"/>
              <a:t>“</a:t>
            </a:r>
            <a:r>
              <a:rPr lang="zh-CN" altLang="en-US" smtClean="0"/>
              <a:t>与非”门：实现“与非”逻辑功能的电路</a:t>
            </a:r>
          </a:p>
          <a:p>
            <a:pPr lvl="1" eaLnBrk="1" hangingPunct="1"/>
            <a:r>
              <a:rPr lang="zh-CN" altLang="en-US" smtClean="0"/>
              <a:t>有两个以上输入端和一个输出端</a:t>
            </a:r>
          </a:p>
          <a:p>
            <a:pPr lvl="1" eaLnBrk="1" hangingPunct="1"/>
            <a:r>
              <a:rPr lang="zh-CN" altLang="en-US" smtClean="0"/>
              <a:t>真值表</a:t>
            </a:r>
            <a:endParaRPr lang="en-US" altLang="zh-CN" smtClean="0"/>
          </a:p>
          <a:p>
            <a:pPr lvl="1" eaLnBrk="1" hangingPunct="1"/>
            <a:r>
              <a:rPr lang="zh-CN" altLang="en-US" smtClean="0"/>
              <a:t>逻辑符号</a:t>
            </a:r>
          </a:p>
          <a:p>
            <a:pPr lvl="1" eaLnBrk="1" hangingPunct="1"/>
            <a:endParaRPr lang="zh-CN" altLang="en-US" smtClean="0"/>
          </a:p>
        </p:txBody>
      </p:sp>
      <p:sp>
        <p:nvSpPr>
          <p:cNvPr id="11269"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复合逻辑门电路</a:t>
            </a:r>
          </a:p>
        </p:txBody>
      </p:sp>
      <p:grpSp>
        <p:nvGrpSpPr>
          <p:cNvPr id="11270" name="Group 24"/>
          <p:cNvGrpSpPr>
            <a:grpSpLocks/>
          </p:cNvGrpSpPr>
          <p:nvPr/>
        </p:nvGrpSpPr>
        <p:grpSpPr bwMode="auto">
          <a:xfrm>
            <a:off x="1017588" y="3857625"/>
            <a:ext cx="2627312" cy="1474788"/>
            <a:chOff x="657" y="1570"/>
            <a:chExt cx="1655" cy="929"/>
          </a:xfrm>
        </p:grpSpPr>
        <p:sp>
          <p:nvSpPr>
            <p:cNvPr id="11273" name="Rectangle 16"/>
            <p:cNvSpPr>
              <a:spLocks noChangeArrowheads="1"/>
            </p:cNvSpPr>
            <p:nvPr/>
          </p:nvSpPr>
          <p:spPr bwMode="auto">
            <a:xfrm>
              <a:off x="1186" y="1740"/>
              <a:ext cx="456" cy="612"/>
            </a:xfrm>
            <a:prstGeom prst="rect">
              <a:avLst/>
            </a:prstGeom>
            <a:solidFill>
              <a:srgbClr val="FFFFFF"/>
            </a:solidFill>
            <a:ln w="38100" algn="ctr">
              <a:solidFill>
                <a:schemeClr val="tx1"/>
              </a:solidFill>
              <a:miter lim="800000"/>
              <a:headEnd/>
              <a:tailEnd type="none" w="sm" len="lg"/>
            </a:ln>
          </p:spPr>
          <p:txBody>
            <a:bodyPr lIns="90000" tIns="46800" rIns="90000" bIns="46800" anchor="ctr">
              <a:spAutoFit/>
            </a:bodyPr>
            <a:lstStyle/>
            <a:p>
              <a:pPr algn="ctr"/>
              <a:r>
                <a:rPr lang="zh-CN" altLang="en-US" sz="3200" b="1">
                  <a:ea typeface="楷体_GB2312" pitchFamily="49" charset="-122"/>
                </a:rPr>
                <a:t>＆</a:t>
              </a:r>
            </a:p>
          </p:txBody>
        </p:sp>
        <p:sp>
          <p:nvSpPr>
            <p:cNvPr id="11274" name="Line 17"/>
            <p:cNvSpPr>
              <a:spLocks noChangeShapeType="1"/>
            </p:cNvSpPr>
            <p:nvPr/>
          </p:nvSpPr>
          <p:spPr bwMode="auto">
            <a:xfrm>
              <a:off x="657" y="1954"/>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1275" name="Line 18"/>
            <p:cNvSpPr>
              <a:spLocks noChangeShapeType="1"/>
            </p:cNvSpPr>
            <p:nvPr/>
          </p:nvSpPr>
          <p:spPr bwMode="auto">
            <a:xfrm>
              <a:off x="657" y="2134"/>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1276" name="Line 19"/>
            <p:cNvSpPr>
              <a:spLocks noChangeShapeType="1"/>
            </p:cNvSpPr>
            <p:nvPr/>
          </p:nvSpPr>
          <p:spPr bwMode="auto">
            <a:xfrm>
              <a:off x="1760" y="2060"/>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1277" name="Text Box 20"/>
            <p:cNvSpPr txBox="1">
              <a:spLocks noChangeArrowheads="1"/>
            </p:cNvSpPr>
            <p:nvPr/>
          </p:nvSpPr>
          <p:spPr bwMode="auto">
            <a:xfrm>
              <a:off x="765" y="157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A</a:t>
              </a:r>
            </a:p>
          </p:txBody>
        </p:sp>
        <p:sp>
          <p:nvSpPr>
            <p:cNvPr id="11278" name="Text Box 21"/>
            <p:cNvSpPr txBox="1">
              <a:spLocks noChangeArrowheads="1"/>
            </p:cNvSpPr>
            <p:nvPr/>
          </p:nvSpPr>
          <p:spPr bwMode="auto">
            <a:xfrm>
              <a:off x="789" y="2134"/>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B</a:t>
              </a:r>
            </a:p>
          </p:txBody>
        </p:sp>
        <p:sp>
          <p:nvSpPr>
            <p:cNvPr id="11279" name="Text Box 22"/>
            <p:cNvSpPr txBox="1">
              <a:spLocks noChangeArrowheads="1"/>
            </p:cNvSpPr>
            <p:nvPr/>
          </p:nvSpPr>
          <p:spPr bwMode="auto">
            <a:xfrm>
              <a:off x="1797" y="1594"/>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F</a:t>
              </a:r>
            </a:p>
          </p:txBody>
        </p:sp>
        <p:sp>
          <p:nvSpPr>
            <p:cNvPr id="11280" name="Oval 23"/>
            <p:cNvSpPr>
              <a:spLocks noChangeArrowheads="1"/>
            </p:cNvSpPr>
            <p:nvPr/>
          </p:nvSpPr>
          <p:spPr bwMode="auto">
            <a:xfrm>
              <a:off x="1655" y="2007"/>
              <a:ext cx="91" cy="91"/>
            </a:xfrm>
            <a:prstGeom prst="ellipse">
              <a:avLst/>
            </a:prstGeom>
            <a:solidFill>
              <a:srgbClr val="FFFFFF"/>
            </a:solidFill>
            <a:ln w="38100" algn="ctr">
              <a:solidFill>
                <a:schemeClr val="tx1"/>
              </a:solidFill>
              <a:round/>
              <a:headEnd/>
              <a:tailEnd type="none" w="sm" len="lg"/>
            </a:ln>
          </p:spPr>
          <p:txBody>
            <a:bodyPr lIns="90000" tIns="46800" rIns="90000" bIns="46800" anchor="ctr">
              <a:spAutoFit/>
            </a:bodyPr>
            <a:lstStyle/>
            <a:p>
              <a:endParaRPr lang="zh-CN" altLang="en-US"/>
            </a:p>
          </p:txBody>
        </p:sp>
      </p:grpSp>
      <p:graphicFrame>
        <p:nvGraphicFramePr>
          <p:cNvPr id="11271" name="Object 6"/>
          <p:cNvGraphicFramePr>
            <a:graphicFrameLocks noChangeAspect="1"/>
          </p:cNvGraphicFramePr>
          <p:nvPr/>
        </p:nvGraphicFramePr>
        <p:xfrm>
          <a:off x="4857750" y="2657475"/>
          <a:ext cx="4000500" cy="4057650"/>
        </p:xfrm>
        <a:graphic>
          <a:graphicData uri="http://schemas.openxmlformats.org/presentationml/2006/ole">
            <mc:AlternateContent xmlns:mc="http://schemas.openxmlformats.org/markup-compatibility/2006">
              <mc:Choice xmlns:v="urn:schemas-microsoft-com:vml" Requires="v">
                <p:oleObj spid="_x0000_s11289" name="Document" r:id="rId5" imgW="4020710" imgH="4071603" progId="Word.Document.8">
                  <p:embed/>
                </p:oleObj>
              </mc:Choice>
              <mc:Fallback>
                <p:oleObj name="Document" r:id="rId5" imgW="4020710" imgH="4071603"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0" y="2657475"/>
                        <a:ext cx="400050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9" name="Object 7"/>
          <p:cNvGraphicFramePr>
            <a:graphicFrameLocks noChangeAspect="1"/>
          </p:cNvGraphicFramePr>
          <p:nvPr/>
        </p:nvGraphicFramePr>
        <p:xfrm>
          <a:off x="1808163" y="5718175"/>
          <a:ext cx="1917700" cy="619125"/>
        </p:xfrm>
        <a:graphic>
          <a:graphicData uri="http://schemas.openxmlformats.org/presentationml/2006/ole">
            <mc:AlternateContent xmlns:mc="http://schemas.openxmlformats.org/markup-compatibility/2006">
              <mc:Choice xmlns:v="urn:schemas-microsoft-com:vml" Requires="v">
                <p:oleObj spid="_x0000_s11290" name="公式" r:id="rId7" imgW="520474" imgH="203112" progId="Equation.3">
                  <p:embed/>
                </p:oleObj>
              </mc:Choice>
              <mc:Fallback>
                <p:oleObj name="公式" r:id="rId7" imgW="520474"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8163" y="5718175"/>
                        <a:ext cx="19177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box(out)">
                                      <p:cBhvr>
                                        <p:cTn id="7" dur="50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8790651-6268-406B-AF56-B753036AB125}"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BABBE3B3-F0D0-433B-A309-F3D80B5AEB78}" type="slidenum">
              <a:rPr lang="en-US" altLang="zh-CN"/>
              <a:pPr>
                <a:defRPr/>
              </a:pPr>
              <a:t>10</a:t>
            </a:fld>
            <a:endParaRPr lang="en-US" altLang="zh-CN"/>
          </a:p>
        </p:txBody>
      </p:sp>
      <p:sp>
        <p:nvSpPr>
          <p:cNvPr id="12292" name="Rectangle 2"/>
          <p:cNvSpPr>
            <a:spLocks noGrp="1" noChangeArrowheads="1"/>
          </p:cNvSpPr>
          <p:nvPr>
            <p:ph type="body" idx="1"/>
          </p:nvPr>
        </p:nvSpPr>
        <p:spPr/>
        <p:txBody>
          <a:bodyPr/>
          <a:lstStyle/>
          <a:p>
            <a:pPr eaLnBrk="1" hangingPunct="1"/>
            <a:r>
              <a:rPr lang="en-US" altLang="zh-CN" smtClean="0"/>
              <a:t>“</a:t>
            </a:r>
            <a:r>
              <a:rPr lang="zh-CN" altLang="en-US" smtClean="0"/>
              <a:t>或非”门：实现“或非”逻辑功能的电路</a:t>
            </a:r>
          </a:p>
          <a:p>
            <a:pPr lvl="1" eaLnBrk="1" hangingPunct="1"/>
            <a:r>
              <a:rPr lang="zh-CN" altLang="en-US" smtClean="0"/>
              <a:t>有两个以上输入端和一个输出端</a:t>
            </a:r>
          </a:p>
          <a:p>
            <a:pPr lvl="1" eaLnBrk="1" hangingPunct="1"/>
            <a:r>
              <a:rPr lang="zh-CN" altLang="en-US" smtClean="0"/>
              <a:t>真值表</a:t>
            </a:r>
            <a:endParaRPr lang="en-US" altLang="zh-CN" smtClean="0"/>
          </a:p>
          <a:p>
            <a:pPr lvl="1" eaLnBrk="1" hangingPunct="1"/>
            <a:r>
              <a:rPr lang="zh-CN" altLang="en-US" smtClean="0"/>
              <a:t>逻辑符号</a:t>
            </a:r>
          </a:p>
          <a:p>
            <a:pPr lvl="1" eaLnBrk="1" hangingPunct="1"/>
            <a:endParaRPr lang="zh-CN" altLang="en-US" smtClean="0"/>
          </a:p>
        </p:txBody>
      </p:sp>
      <p:sp>
        <p:nvSpPr>
          <p:cNvPr id="12293"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复合逻辑门电路</a:t>
            </a:r>
          </a:p>
        </p:txBody>
      </p:sp>
      <p:grpSp>
        <p:nvGrpSpPr>
          <p:cNvPr id="12294" name="Group 24"/>
          <p:cNvGrpSpPr>
            <a:grpSpLocks/>
          </p:cNvGrpSpPr>
          <p:nvPr/>
        </p:nvGrpSpPr>
        <p:grpSpPr bwMode="auto">
          <a:xfrm>
            <a:off x="500063" y="4168775"/>
            <a:ext cx="2838450" cy="1474788"/>
            <a:chOff x="657" y="1525"/>
            <a:chExt cx="1788" cy="929"/>
          </a:xfrm>
        </p:grpSpPr>
        <p:sp>
          <p:nvSpPr>
            <p:cNvPr id="12297" name="Rectangle 12"/>
            <p:cNvSpPr>
              <a:spLocks noChangeArrowheads="1"/>
            </p:cNvSpPr>
            <p:nvPr/>
          </p:nvSpPr>
          <p:spPr bwMode="auto">
            <a:xfrm>
              <a:off x="1209" y="1620"/>
              <a:ext cx="588" cy="726"/>
            </a:xfrm>
            <a:prstGeom prst="rect">
              <a:avLst/>
            </a:prstGeom>
            <a:solidFill>
              <a:srgbClr val="FFFFFF"/>
            </a:solidFill>
            <a:ln w="38100" algn="ctr">
              <a:solidFill>
                <a:schemeClr val="tx1"/>
              </a:solidFill>
              <a:miter lim="800000"/>
              <a:headEnd/>
              <a:tailEnd type="none" w="sm" len="lg"/>
            </a:ln>
          </p:spPr>
          <p:txBody>
            <a:bodyPr lIns="90000" tIns="46800" rIns="90000" bIns="46800" anchor="ctr">
              <a:spAutoFit/>
            </a:bodyPr>
            <a:lstStyle/>
            <a:p>
              <a:pPr algn="ctr"/>
              <a:r>
                <a:rPr lang="en-US" altLang="zh-CN" sz="3200" b="1">
                  <a:ea typeface="楷体_GB2312" pitchFamily="49" charset="-122"/>
                </a:rPr>
                <a:t>≥1</a:t>
              </a:r>
            </a:p>
          </p:txBody>
        </p:sp>
        <p:sp>
          <p:nvSpPr>
            <p:cNvPr id="12298" name="Line 13"/>
            <p:cNvSpPr>
              <a:spLocks noChangeShapeType="1"/>
            </p:cNvSpPr>
            <p:nvPr/>
          </p:nvSpPr>
          <p:spPr bwMode="auto">
            <a:xfrm>
              <a:off x="657" y="1909"/>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299" name="Line 14"/>
            <p:cNvSpPr>
              <a:spLocks noChangeShapeType="1"/>
            </p:cNvSpPr>
            <p:nvPr/>
          </p:nvSpPr>
          <p:spPr bwMode="auto">
            <a:xfrm>
              <a:off x="657" y="2089"/>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300" name="Line 15"/>
            <p:cNvSpPr>
              <a:spLocks noChangeShapeType="1"/>
            </p:cNvSpPr>
            <p:nvPr/>
          </p:nvSpPr>
          <p:spPr bwMode="auto">
            <a:xfrm>
              <a:off x="1881" y="1981"/>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301" name="Text Box 16"/>
            <p:cNvSpPr txBox="1">
              <a:spLocks noChangeArrowheads="1"/>
            </p:cNvSpPr>
            <p:nvPr/>
          </p:nvSpPr>
          <p:spPr bwMode="auto">
            <a:xfrm>
              <a:off x="765" y="152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A</a:t>
              </a:r>
            </a:p>
          </p:txBody>
        </p:sp>
        <p:sp>
          <p:nvSpPr>
            <p:cNvPr id="12302" name="Text Box 17"/>
            <p:cNvSpPr txBox="1">
              <a:spLocks noChangeArrowheads="1"/>
            </p:cNvSpPr>
            <p:nvPr/>
          </p:nvSpPr>
          <p:spPr bwMode="auto">
            <a:xfrm>
              <a:off x="789" y="2089"/>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B</a:t>
              </a:r>
            </a:p>
          </p:txBody>
        </p:sp>
        <p:sp>
          <p:nvSpPr>
            <p:cNvPr id="12303" name="Text Box 18"/>
            <p:cNvSpPr txBox="1">
              <a:spLocks noChangeArrowheads="1"/>
            </p:cNvSpPr>
            <p:nvPr/>
          </p:nvSpPr>
          <p:spPr bwMode="auto">
            <a:xfrm>
              <a:off x="1893" y="153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F</a:t>
              </a:r>
            </a:p>
          </p:txBody>
        </p:sp>
        <p:sp>
          <p:nvSpPr>
            <p:cNvPr id="12304" name="Line 21"/>
            <p:cNvSpPr>
              <a:spLocks noChangeShapeType="1"/>
            </p:cNvSpPr>
            <p:nvPr/>
          </p:nvSpPr>
          <p:spPr bwMode="auto">
            <a:xfrm>
              <a:off x="1893" y="1981"/>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2305" name="Oval 22"/>
            <p:cNvSpPr>
              <a:spLocks noChangeArrowheads="1"/>
            </p:cNvSpPr>
            <p:nvPr/>
          </p:nvSpPr>
          <p:spPr bwMode="auto">
            <a:xfrm>
              <a:off x="1791" y="1939"/>
              <a:ext cx="85" cy="85"/>
            </a:xfrm>
            <a:prstGeom prst="ellipse">
              <a:avLst/>
            </a:prstGeom>
            <a:solidFill>
              <a:srgbClr val="FFFFFF"/>
            </a:solidFill>
            <a:ln w="38100" algn="ctr">
              <a:solidFill>
                <a:schemeClr val="tx1"/>
              </a:solidFill>
              <a:round/>
              <a:headEnd/>
              <a:tailEnd type="none" w="sm" len="lg"/>
            </a:ln>
          </p:spPr>
          <p:txBody>
            <a:bodyPr lIns="90000" tIns="46800" rIns="90000" bIns="46800" anchor="ctr">
              <a:spAutoFit/>
            </a:bodyPr>
            <a:lstStyle/>
            <a:p>
              <a:endParaRPr lang="zh-CN" altLang="en-US"/>
            </a:p>
          </p:txBody>
        </p:sp>
      </p:grpSp>
      <p:graphicFrame>
        <p:nvGraphicFramePr>
          <p:cNvPr id="12295" name="Object 6"/>
          <p:cNvGraphicFramePr>
            <a:graphicFrameLocks noChangeAspect="1"/>
          </p:cNvGraphicFramePr>
          <p:nvPr/>
        </p:nvGraphicFramePr>
        <p:xfrm>
          <a:off x="4662488" y="2657475"/>
          <a:ext cx="3981450" cy="4057650"/>
        </p:xfrm>
        <a:graphic>
          <a:graphicData uri="http://schemas.openxmlformats.org/presentationml/2006/ole">
            <mc:AlternateContent xmlns:mc="http://schemas.openxmlformats.org/markup-compatibility/2006">
              <mc:Choice xmlns:v="urn:schemas-microsoft-com:vml" Requires="v">
                <p:oleObj spid="_x0000_s12314" name="Document" r:id="rId5" imgW="4020710" imgH="4071603" progId="Word.Document.8">
                  <p:embed/>
                </p:oleObj>
              </mc:Choice>
              <mc:Fallback>
                <p:oleObj name="Document" r:id="rId5" imgW="4020710" imgH="4071603"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2488" y="2657475"/>
                        <a:ext cx="398145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3" name="Object 7"/>
          <p:cNvGraphicFramePr>
            <a:graphicFrameLocks noChangeAspect="1"/>
          </p:cNvGraphicFramePr>
          <p:nvPr/>
        </p:nvGraphicFramePr>
        <p:xfrm>
          <a:off x="1528763" y="5718175"/>
          <a:ext cx="2478087" cy="619125"/>
        </p:xfrm>
        <a:graphic>
          <a:graphicData uri="http://schemas.openxmlformats.org/presentationml/2006/ole">
            <mc:AlternateContent xmlns:mc="http://schemas.openxmlformats.org/markup-compatibility/2006">
              <mc:Choice xmlns:v="urn:schemas-microsoft-com:vml" Requires="v">
                <p:oleObj spid="_x0000_s12315" name="公式" r:id="rId7" imgW="672808" imgH="203112" progId="Equation.3">
                  <p:embed/>
                </p:oleObj>
              </mc:Choice>
              <mc:Fallback>
                <p:oleObj name="公式" r:id="rId7" imgW="672808"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8763" y="5718175"/>
                        <a:ext cx="2478087"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box(out)">
                                      <p:cBhvr>
                                        <p:cTn id="7"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1A8E0AE-CD79-4F21-9287-FAB395A688DA}"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353A98F5-4139-4181-A9E7-EA618BB2B29B}" type="slidenum">
              <a:rPr lang="en-US" altLang="zh-CN"/>
              <a:pPr>
                <a:defRPr/>
              </a:pPr>
              <a:t>11</a:t>
            </a:fld>
            <a:endParaRPr lang="en-US" altLang="zh-CN"/>
          </a:p>
        </p:txBody>
      </p:sp>
      <p:sp>
        <p:nvSpPr>
          <p:cNvPr id="13316" name="Rectangle 2"/>
          <p:cNvSpPr>
            <a:spLocks noGrp="1" noChangeArrowheads="1"/>
          </p:cNvSpPr>
          <p:nvPr>
            <p:ph type="body" idx="1"/>
          </p:nvPr>
        </p:nvSpPr>
        <p:spPr/>
        <p:txBody>
          <a:bodyPr/>
          <a:lstStyle/>
          <a:p>
            <a:pPr eaLnBrk="1" hangingPunct="1"/>
            <a:r>
              <a:rPr lang="en-US" altLang="zh-CN" smtClean="0"/>
              <a:t>“</a:t>
            </a:r>
            <a:r>
              <a:rPr lang="zh-CN" altLang="en-US" smtClean="0"/>
              <a:t>与或非”门：实现“与或非”逻辑功能的电路</a:t>
            </a:r>
          </a:p>
          <a:p>
            <a:pPr lvl="1" eaLnBrk="1" hangingPunct="1"/>
            <a:r>
              <a:rPr lang="zh-CN" altLang="en-US" smtClean="0"/>
              <a:t>逻辑符号</a:t>
            </a:r>
          </a:p>
          <a:p>
            <a:pPr lvl="1" eaLnBrk="1" hangingPunct="1"/>
            <a:r>
              <a:rPr lang="zh-CN" altLang="en-US" smtClean="0"/>
              <a:t>逻辑关系</a:t>
            </a:r>
          </a:p>
          <a:p>
            <a:pPr lvl="1" eaLnBrk="1" hangingPunct="1">
              <a:buFont typeface="Wingdings" pitchFamily="2" charset="2"/>
              <a:buNone/>
            </a:pPr>
            <a:endParaRPr lang="zh-CN" altLang="en-US" smtClean="0"/>
          </a:p>
        </p:txBody>
      </p:sp>
      <p:sp>
        <p:nvSpPr>
          <p:cNvPr id="13317"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复合逻辑门电路</a:t>
            </a:r>
          </a:p>
        </p:txBody>
      </p:sp>
      <p:graphicFrame>
        <p:nvGraphicFramePr>
          <p:cNvPr id="35848" name="Object 8"/>
          <p:cNvGraphicFramePr>
            <a:graphicFrameLocks noChangeAspect="1"/>
          </p:cNvGraphicFramePr>
          <p:nvPr/>
        </p:nvGraphicFramePr>
        <p:xfrm>
          <a:off x="571500" y="4000500"/>
          <a:ext cx="4535488" cy="658813"/>
        </p:xfrm>
        <a:graphic>
          <a:graphicData uri="http://schemas.openxmlformats.org/presentationml/2006/ole">
            <mc:AlternateContent xmlns:mc="http://schemas.openxmlformats.org/markup-compatibility/2006">
              <mc:Choice xmlns:v="urn:schemas-microsoft-com:vml" Requires="v">
                <p:oleObj spid="_x0000_s13324" name="公式" r:id="rId4" imgW="1231366" imgH="215806" progId="Equation.3">
                  <p:embed/>
                </p:oleObj>
              </mc:Choice>
              <mc:Fallback>
                <p:oleObj name="公式" r:id="rId4" imgW="1231366" imgH="215806"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4000500"/>
                        <a:ext cx="4535488"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31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5063" y="2214563"/>
            <a:ext cx="214312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5848"/>
                                        </p:tgtEl>
                                        <p:attrNameLst>
                                          <p:attrName>style.visibility</p:attrName>
                                        </p:attrNameLst>
                                      </p:cBhvr>
                                      <p:to>
                                        <p:strVal val="visible"/>
                                      </p:to>
                                    </p:set>
                                    <p:animEffect transition="in" filter="box(out)">
                                      <p:cBhvr>
                                        <p:cTn id="7" dur="5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EF75BE65-48F3-46EB-AD2B-BF417EE4A048}"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BF8F120A-C16B-4BD1-946E-BDAE24D5C06B}" type="slidenum">
              <a:rPr lang="en-US" altLang="zh-CN"/>
              <a:pPr>
                <a:defRPr/>
              </a:pPr>
              <a:t>12</a:t>
            </a:fld>
            <a:endParaRPr lang="en-US" altLang="zh-CN"/>
          </a:p>
        </p:txBody>
      </p:sp>
      <p:sp>
        <p:nvSpPr>
          <p:cNvPr id="14340" name="Rectangle 2"/>
          <p:cNvSpPr>
            <a:spLocks noGrp="1" noChangeArrowheads="1"/>
          </p:cNvSpPr>
          <p:nvPr>
            <p:ph type="body" idx="1"/>
          </p:nvPr>
        </p:nvSpPr>
        <p:spPr/>
        <p:txBody>
          <a:bodyPr/>
          <a:lstStyle/>
          <a:p>
            <a:pPr eaLnBrk="1" hangingPunct="1"/>
            <a:r>
              <a:rPr lang="en-US" altLang="zh-CN" smtClean="0"/>
              <a:t>“</a:t>
            </a:r>
            <a:r>
              <a:rPr lang="zh-CN" altLang="en-US" smtClean="0"/>
              <a:t>异或”门：实现“异或”逻辑功能的电路</a:t>
            </a:r>
          </a:p>
          <a:p>
            <a:pPr lvl="1" eaLnBrk="1" hangingPunct="1"/>
            <a:r>
              <a:rPr lang="zh-CN" altLang="en-US" smtClean="0"/>
              <a:t>有两个输入端和一个输出端</a:t>
            </a:r>
          </a:p>
          <a:p>
            <a:pPr lvl="1" eaLnBrk="1" hangingPunct="1"/>
            <a:r>
              <a:rPr lang="zh-CN" altLang="en-US" smtClean="0"/>
              <a:t>真值表</a:t>
            </a:r>
            <a:endParaRPr lang="en-US" altLang="zh-CN" smtClean="0"/>
          </a:p>
          <a:p>
            <a:pPr lvl="1" eaLnBrk="1" hangingPunct="1"/>
            <a:r>
              <a:rPr lang="zh-CN" altLang="en-US" smtClean="0"/>
              <a:t>逻辑符号</a:t>
            </a:r>
          </a:p>
          <a:p>
            <a:pPr lvl="1" eaLnBrk="1" hangingPunct="1"/>
            <a:endParaRPr lang="zh-CN" altLang="en-US" smtClean="0"/>
          </a:p>
        </p:txBody>
      </p:sp>
      <p:sp>
        <p:nvSpPr>
          <p:cNvPr id="14341"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复合逻辑门电路</a:t>
            </a:r>
          </a:p>
        </p:txBody>
      </p:sp>
      <p:grpSp>
        <p:nvGrpSpPr>
          <p:cNvPr id="14342" name="Group 5"/>
          <p:cNvGrpSpPr>
            <a:grpSpLocks/>
          </p:cNvGrpSpPr>
          <p:nvPr/>
        </p:nvGrpSpPr>
        <p:grpSpPr bwMode="auto">
          <a:xfrm>
            <a:off x="862013" y="3571875"/>
            <a:ext cx="2638425" cy="1519238"/>
            <a:chOff x="3624" y="1512"/>
            <a:chExt cx="1608" cy="929"/>
          </a:xfrm>
        </p:grpSpPr>
        <p:sp>
          <p:nvSpPr>
            <p:cNvPr id="14345" name="Rectangle 6"/>
            <p:cNvSpPr>
              <a:spLocks noChangeArrowheads="1"/>
            </p:cNvSpPr>
            <p:nvPr/>
          </p:nvSpPr>
          <p:spPr bwMode="auto">
            <a:xfrm>
              <a:off x="4176" y="1711"/>
              <a:ext cx="483" cy="526"/>
            </a:xfrm>
            <a:prstGeom prst="rect">
              <a:avLst/>
            </a:prstGeom>
            <a:solidFill>
              <a:srgbClr val="FFFFFF"/>
            </a:solidFill>
            <a:ln w="38100" algn="ctr">
              <a:solidFill>
                <a:schemeClr val="tx1"/>
              </a:solidFill>
              <a:miter lim="800000"/>
              <a:headEnd/>
              <a:tailEnd type="none" w="sm" len="lg"/>
            </a:ln>
          </p:spPr>
          <p:txBody>
            <a:bodyPr lIns="90000" tIns="46800" rIns="90000" bIns="46800" anchor="ctr">
              <a:spAutoFit/>
            </a:bodyPr>
            <a:lstStyle/>
            <a:p>
              <a:pPr algn="ctr"/>
              <a:r>
                <a:rPr lang="zh-CN" altLang="en-US" b="1">
                  <a:ea typeface="楷体_GB2312" pitchFamily="49" charset="-122"/>
                </a:rPr>
                <a:t>＝</a:t>
              </a:r>
              <a:r>
                <a:rPr lang="en-US" altLang="zh-CN" b="1">
                  <a:ea typeface="楷体_GB2312" pitchFamily="49" charset="-122"/>
                </a:rPr>
                <a:t>1</a:t>
              </a:r>
            </a:p>
            <a:p>
              <a:pPr algn="ctr"/>
              <a:endParaRPr lang="en-US" altLang="zh-CN" b="1">
                <a:ea typeface="楷体_GB2312" pitchFamily="49" charset="-122"/>
              </a:endParaRPr>
            </a:p>
          </p:txBody>
        </p:sp>
        <p:sp>
          <p:nvSpPr>
            <p:cNvPr id="14346" name="Line 7"/>
            <p:cNvSpPr>
              <a:spLocks noChangeShapeType="1"/>
            </p:cNvSpPr>
            <p:nvPr/>
          </p:nvSpPr>
          <p:spPr bwMode="auto">
            <a:xfrm>
              <a:off x="3624" y="1896"/>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347" name="Line 8"/>
            <p:cNvSpPr>
              <a:spLocks noChangeShapeType="1"/>
            </p:cNvSpPr>
            <p:nvPr/>
          </p:nvSpPr>
          <p:spPr bwMode="auto">
            <a:xfrm>
              <a:off x="3624" y="2076"/>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348" name="Line 9"/>
            <p:cNvSpPr>
              <a:spLocks noChangeShapeType="1"/>
            </p:cNvSpPr>
            <p:nvPr/>
          </p:nvSpPr>
          <p:spPr bwMode="auto">
            <a:xfrm>
              <a:off x="4669" y="1960"/>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4349" name="Text Box 10"/>
            <p:cNvSpPr txBox="1">
              <a:spLocks noChangeArrowheads="1"/>
            </p:cNvSpPr>
            <p:nvPr/>
          </p:nvSpPr>
          <p:spPr bwMode="auto">
            <a:xfrm>
              <a:off x="3732" y="151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A</a:t>
              </a:r>
            </a:p>
          </p:txBody>
        </p:sp>
        <p:sp>
          <p:nvSpPr>
            <p:cNvPr id="14350" name="Text Box 11"/>
            <p:cNvSpPr txBox="1">
              <a:spLocks noChangeArrowheads="1"/>
            </p:cNvSpPr>
            <p:nvPr/>
          </p:nvSpPr>
          <p:spPr bwMode="auto">
            <a:xfrm>
              <a:off x="3756" y="2076"/>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B</a:t>
              </a:r>
            </a:p>
          </p:txBody>
        </p:sp>
        <p:sp>
          <p:nvSpPr>
            <p:cNvPr id="14351" name="Text Box 12"/>
            <p:cNvSpPr txBox="1">
              <a:spLocks noChangeArrowheads="1"/>
            </p:cNvSpPr>
            <p:nvPr/>
          </p:nvSpPr>
          <p:spPr bwMode="auto">
            <a:xfrm>
              <a:off x="4860" y="1524"/>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F</a:t>
              </a:r>
            </a:p>
          </p:txBody>
        </p:sp>
      </p:grpSp>
      <p:graphicFrame>
        <p:nvGraphicFramePr>
          <p:cNvPr id="14343" name="Object 6"/>
          <p:cNvGraphicFramePr>
            <a:graphicFrameLocks noChangeAspect="1"/>
          </p:cNvGraphicFramePr>
          <p:nvPr/>
        </p:nvGraphicFramePr>
        <p:xfrm>
          <a:off x="5143500" y="2657475"/>
          <a:ext cx="4000500" cy="4057650"/>
        </p:xfrm>
        <a:graphic>
          <a:graphicData uri="http://schemas.openxmlformats.org/presentationml/2006/ole">
            <mc:AlternateContent xmlns:mc="http://schemas.openxmlformats.org/markup-compatibility/2006">
              <mc:Choice xmlns:v="urn:schemas-microsoft-com:vml" Requires="v">
                <p:oleObj spid="_x0000_s14360" name="Document" r:id="rId5" imgW="4020710" imgH="4071603" progId="Word.Document.8">
                  <p:embed/>
                </p:oleObj>
              </mc:Choice>
              <mc:Fallback>
                <p:oleObj name="Document" r:id="rId5" imgW="4020710" imgH="4071603"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0" y="2657475"/>
                        <a:ext cx="400050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1" name="Object 7"/>
          <p:cNvGraphicFramePr>
            <a:graphicFrameLocks noChangeAspect="1"/>
          </p:cNvGraphicFramePr>
          <p:nvPr/>
        </p:nvGraphicFramePr>
        <p:xfrm>
          <a:off x="1000125" y="5172075"/>
          <a:ext cx="3225800" cy="1471613"/>
        </p:xfrm>
        <a:graphic>
          <a:graphicData uri="http://schemas.openxmlformats.org/presentationml/2006/ole">
            <mc:AlternateContent xmlns:mc="http://schemas.openxmlformats.org/markup-compatibility/2006">
              <mc:Choice xmlns:v="urn:schemas-microsoft-com:vml" Requires="v">
                <p:oleObj spid="_x0000_s14361" name="公式" r:id="rId7" imgW="876300" imgH="482600" progId="Equation.3">
                  <p:embed/>
                </p:oleObj>
              </mc:Choice>
              <mc:Fallback>
                <p:oleObj name="公式" r:id="rId7" imgW="876300" imgH="482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125" y="5172075"/>
                        <a:ext cx="3225800" cy="147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6871"/>
                                        </p:tgtEl>
                                        <p:attrNameLst>
                                          <p:attrName>style.visibility</p:attrName>
                                        </p:attrNameLst>
                                      </p:cBhvr>
                                      <p:to>
                                        <p:strVal val="visible"/>
                                      </p:to>
                                    </p:set>
                                    <p:animEffect transition="in" filter="box(out)">
                                      <p:cBhvr>
                                        <p:cTn id="7" dur="500"/>
                                        <p:tgtEl>
                                          <p:spTgt spid="3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AF62FA7-A2D1-49E0-8648-9536249E380C}"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A3B33402-444B-46D5-88F5-4C4F8D838056}" type="slidenum">
              <a:rPr lang="en-US" altLang="zh-CN"/>
              <a:pPr>
                <a:defRPr/>
              </a:pPr>
              <a:t>13</a:t>
            </a:fld>
            <a:endParaRPr lang="en-US" altLang="zh-CN"/>
          </a:p>
        </p:txBody>
      </p:sp>
      <p:sp>
        <p:nvSpPr>
          <p:cNvPr id="15364" name="Rectangle 2"/>
          <p:cNvSpPr>
            <a:spLocks noGrp="1" noChangeArrowheads="1"/>
          </p:cNvSpPr>
          <p:nvPr>
            <p:ph type="body" idx="1"/>
          </p:nvPr>
        </p:nvSpPr>
        <p:spPr/>
        <p:txBody>
          <a:bodyPr/>
          <a:lstStyle/>
          <a:p>
            <a:pPr eaLnBrk="1" hangingPunct="1"/>
            <a:r>
              <a:rPr lang="en-US" altLang="zh-CN" smtClean="0"/>
              <a:t>“</a:t>
            </a:r>
            <a:r>
              <a:rPr lang="zh-CN" altLang="en-US" smtClean="0"/>
              <a:t>同或”门：实现“同或”逻辑功能的电路</a:t>
            </a:r>
          </a:p>
          <a:p>
            <a:pPr lvl="1" eaLnBrk="1" hangingPunct="1"/>
            <a:r>
              <a:rPr lang="zh-CN" altLang="en-US" smtClean="0"/>
              <a:t>有两个输入端和一个输出端</a:t>
            </a:r>
          </a:p>
          <a:p>
            <a:pPr lvl="1" eaLnBrk="1" hangingPunct="1"/>
            <a:r>
              <a:rPr lang="zh-CN" altLang="en-US" smtClean="0"/>
              <a:t>真值表</a:t>
            </a:r>
            <a:endParaRPr lang="en-US" altLang="zh-CN" smtClean="0"/>
          </a:p>
          <a:p>
            <a:pPr lvl="1" eaLnBrk="1" hangingPunct="1"/>
            <a:r>
              <a:rPr lang="zh-CN" altLang="en-US" smtClean="0"/>
              <a:t>逻辑符号</a:t>
            </a:r>
            <a:endParaRPr lang="en-US" altLang="zh-CN" smtClean="0"/>
          </a:p>
          <a:p>
            <a:pPr lvl="1" eaLnBrk="1" hangingPunct="1"/>
            <a:endParaRPr lang="en-US" altLang="zh-CN" smtClean="0"/>
          </a:p>
          <a:p>
            <a:pPr lvl="1" eaLnBrk="1" hangingPunct="1"/>
            <a:endParaRPr lang="en-US" altLang="zh-CN" smtClean="0"/>
          </a:p>
          <a:p>
            <a:pPr lvl="1" eaLnBrk="1" hangingPunct="1"/>
            <a:endParaRPr lang="en-US" altLang="zh-CN" smtClean="0"/>
          </a:p>
          <a:p>
            <a:pPr lvl="1" eaLnBrk="1" hangingPunct="1">
              <a:buFont typeface="Wingdings" pitchFamily="2" charset="2"/>
              <a:buNone/>
            </a:pPr>
            <a:endParaRPr lang="en-US" altLang="zh-CN" sz="3200" i="1" smtClean="0"/>
          </a:p>
          <a:p>
            <a:pPr lvl="1" eaLnBrk="1" hangingPunct="1">
              <a:buFont typeface="Wingdings" pitchFamily="2" charset="2"/>
              <a:buNone/>
            </a:pPr>
            <a:r>
              <a:rPr lang="en-US" altLang="zh-CN" sz="3200" i="1" smtClean="0"/>
              <a:t>    =A⊙B</a:t>
            </a:r>
            <a:endParaRPr lang="zh-CN" altLang="en-US" sz="3200" i="1" smtClean="0"/>
          </a:p>
        </p:txBody>
      </p:sp>
      <p:sp>
        <p:nvSpPr>
          <p:cNvPr id="15365"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复合逻辑门电路</a:t>
            </a:r>
          </a:p>
        </p:txBody>
      </p:sp>
      <p:grpSp>
        <p:nvGrpSpPr>
          <p:cNvPr id="15366" name="Group 5"/>
          <p:cNvGrpSpPr>
            <a:grpSpLocks/>
          </p:cNvGrpSpPr>
          <p:nvPr/>
        </p:nvGrpSpPr>
        <p:grpSpPr bwMode="auto">
          <a:xfrm>
            <a:off x="1214438" y="3643313"/>
            <a:ext cx="2686050" cy="1474787"/>
            <a:chOff x="3624" y="1512"/>
            <a:chExt cx="1692" cy="929"/>
          </a:xfrm>
        </p:grpSpPr>
        <p:sp>
          <p:nvSpPr>
            <p:cNvPr id="15371" name="Rectangle 6"/>
            <p:cNvSpPr>
              <a:spLocks noChangeArrowheads="1"/>
            </p:cNvSpPr>
            <p:nvPr/>
          </p:nvSpPr>
          <p:spPr bwMode="auto">
            <a:xfrm>
              <a:off x="4176" y="1589"/>
              <a:ext cx="588" cy="696"/>
            </a:xfrm>
            <a:prstGeom prst="rect">
              <a:avLst/>
            </a:prstGeom>
            <a:solidFill>
              <a:srgbClr val="FFFFFF"/>
            </a:solidFill>
            <a:ln w="38100" algn="ctr">
              <a:solidFill>
                <a:schemeClr val="tx1"/>
              </a:solidFill>
              <a:miter lim="800000"/>
              <a:headEnd/>
              <a:tailEnd type="none" w="sm" len="lg"/>
            </a:ln>
          </p:spPr>
          <p:txBody>
            <a:bodyPr lIns="90000" tIns="46800" rIns="90000" bIns="46800" anchor="ctr">
              <a:spAutoFit/>
            </a:bodyPr>
            <a:lstStyle/>
            <a:p>
              <a:pPr algn="ctr"/>
              <a:r>
                <a:rPr lang="zh-CN" altLang="en-US" sz="3200" b="1">
                  <a:ea typeface="楷体_GB2312" pitchFamily="49" charset="-122"/>
                </a:rPr>
                <a:t>＝</a:t>
              </a:r>
              <a:r>
                <a:rPr lang="en-US" altLang="zh-CN" sz="3200" b="1">
                  <a:ea typeface="楷体_GB2312" pitchFamily="49" charset="-122"/>
                </a:rPr>
                <a:t>1</a:t>
              </a:r>
            </a:p>
            <a:p>
              <a:pPr algn="ctr"/>
              <a:endParaRPr lang="zh-CN" altLang="en-US" sz="3200" b="1">
                <a:ea typeface="楷体_GB2312" pitchFamily="49" charset="-122"/>
              </a:endParaRPr>
            </a:p>
          </p:txBody>
        </p:sp>
        <p:sp>
          <p:nvSpPr>
            <p:cNvPr id="15372" name="Line 7"/>
            <p:cNvSpPr>
              <a:spLocks noChangeShapeType="1"/>
            </p:cNvSpPr>
            <p:nvPr/>
          </p:nvSpPr>
          <p:spPr bwMode="auto">
            <a:xfrm>
              <a:off x="3624" y="1896"/>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373" name="Line 8"/>
            <p:cNvSpPr>
              <a:spLocks noChangeShapeType="1"/>
            </p:cNvSpPr>
            <p:nvPr/>
          </p:nvSpPr>
          <p:spPr bwMode="auto">
            <a:xfrm>
              <a:off x="3624" y="2076"/>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374" name="Line 9"/>
            <p:cNvSpPr>
              <a:spLocks noChangeShapeType="1"/>
            </p:cNvSpPr>
            <p:nvPr/>
          </p:nvSpPr>
          <p:spPr bwMode="auto">
            <a:xfrm>
              <a:off x="4764" y="1968"/>
              <a:ext cx="55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375" name="Text Box 10"/>
            <p:cNvSpPr txBox="1">
              <a:spLocks noChangeArrowheads="1"/>
            </p:cNvSpPr>
            <p:nvPr/>
          </p:nvSpPr>
          <p:spPr bwMode="auto">
            <a:xfrm>
              <a:off x="3732" y="151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A</a:t>
              </a:r>
            </a:p>
          </p:txBody>
        </p:sp>
        <p:sp>
          <p:nvSpPr>
            <p:cNvPr id="15376" name="Text Box 11"/>
            <p:cNvSpPr txBox="1">
              <a:spLocks noChangeArrowheads="1"/>
            </p:cNvSpPr>
            <p:nvPr/>
          </p:nvSpPr>
          <p:spPr bwMode="auto">
            <a:xfrm>
              <a:off x="3756" y="2076"/>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B</a:t>
              </a:r>
            </a:p>
          </p:txBody>
        </p:sp>
        <p:sp>
          <p:nvSpPr>
            <p:cNvPr id="15377" name="Text Box 12"/>
            <p:cNvSpPr txBox="1">
              <a:spLocks noChangeArrowheads="1"/>
            </p:cNvSpPr>
            <p:nvPr/>
          </p:nvSpPr>
          <p:spPr bwMode="auto">
            <a:xfrm>
              <a:off x="4860" y="1524"/>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sm" len="lg"/>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sz="3200" b="1">
                  <a:ea typeface="楷体_GB2312" pitchFamily="49" charset="-122"/>
                </a:rPr>
                <a:t>F</a:t>
              </a:r>
            </a:p>
          </p:txBody>
        </p:sp>
      </p:grpSp>
      <p:sp>
        <p:nvSpPr>
          <p:cNvPr id="15367" name="Oval 13"/>
          <p:cNvSpPr>
            <a:spLocks noChangeArrowheads="1"/>
          </p:cNvSpPr>
          <p:nvPr/>
        </p:nvSpPr>
        <p:spPr bwMode="auto">
          <a:xfrm flipV="1">
            <a:off x="3014663" y="4276725"/>
            <a:ext cx="180975" cy="179388"/>
          </a:xfrm>
          <a:prstGeom prst="ellipse">
            <a:avLst/>
          </a:prstGeom>
          <a:solidFill>
            <a:srgbClr val="FFFFFF"/>
          </a:solidFill>
          <a:ln w="38100" algn="ctr">
            <a:solidFill>
              <a:schemeClr val="tx1"/>
            </a:solidFill>
            <a:round/>
            <a:headEnd/>
            <a:tailEnd type="none" w="sm" len="lg"/>
          </a:ln>
        </p:spPr>
        <p:txBody>
          <a:bodyPr lIns="90000" tIns="46800" rIns="90000" bIns="46800" anchor="ctr">
            <a:spAutoFit/>
          </a:bodyPr>
          <a:lstStyle/>
          <a:p>
            <a:endParaRPr lang="zh-CN" altLang="en-US"/>
          </a:p>
        </p:txBody>
      </p:sp>
      <p:graphicFrame>
        <p:nvGraphicFramePr>
          <p:cNvPr id="15368" name="Object 6"/>
          <p:cNvGraphicFramePr>
            <a:graphicFrameLocks noChangeAspect="1"/>
          </p:cNvGraphicFramePr>
          <p:nvPr/>
        </p:nvGraphicFramePr>
        <p:xfrm>
          <a:off x="4662488" y="2571750"/>
          <a:ext cx="3981450" cy="4057650"/>
        </p:xfrm>
        <a:graphic>
          <a:graphicData uri="http://schemas.openxmlformats.org/presentationml/2006/ole">
            <mc:AlternateContent xmlns:mc="http://schemas.openxmlformats.org/markup-compatibility/2006">
              <mc:Choice xmlns:v="urn:schemas-microsoft-com:vml" Requires="v">
                <p:oleObj spid="_x0000_s15386" name="Document" r:id="rId5" imgW="4020710" imgH="4071603" progId="Word.Document.8">
                  <p:embed/>
                </p:oleObj>
              </mc:Choice>
              <mc:Fallback>
                <p:oleObj name="Document" r:id="rId5" imgW="4020710" imgH="4071603"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2488" y="2571750"/>
                        <a:ext cx="398145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9" name="Object 7"/>
          <p:cNvGraphicFramePr>
            <a:graphicFrameLocks noChangeAspect="1"/>
          </p:cNvGraphicFramePr>
          <p:nvPr/>
        </p:nvGraphicFramePr>
        <p:xfrm>
          <a:off x="1000125" y="5143500"/>
          <a:ext cx="3225800" cy="619125"/>
        </p:xfrm>
        <a:graphic>
          <a:graphicData uri="http://schemas.openxmlformats.org/presentationml/2006/ole">
            <mc:AlternateContent xmlns:mc="http://schemas.openxmlformats.org/markup-compatibility/2006">
              <mc:Choice xmlns:v="urn:schemas-microsoft-com:vml" Requires="v">
                <p:oleObj spid="_x0000_s15387" name="公式" r:id="rId7" imgW="876300" imgH="203200" progId="Equation.3">
                  <p:embed/>
                </p:oleObj>
              </mc:Choice>
              <mc:Fallback>
                <p:oleObj name="公式" r:id="rId7" imgW="876300" imgH="203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125" y="5143500"/>
                        <a:ext cx="32258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0" name="Rectangle 18"/>
          <p:cNvSpPr>
            <a:spLocks noChangeArrowheads="1"/>
          </p:cNvSpPr>
          <p:nvPr/>
        </p:nvSpPr>
        <p:spPr bwMode="auto">
          <a:xfrm>
            <a:off x="468313" y="6021388"/>
            <a:ext cx="2898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spcBef>
                <a:spcPct val="20000"/>
              </a:spcBef>
              <a:buClr>
                <a:schemeClr val="hlink"/>
              </a:buClr>
              <a:buSzPct val="55000"/>
              <a:buFont typeface="Wingdings" pitchFamily="2" charset="2"/>
              <a:buChar char="n"/>
            </a:pPr>
            <a:r>
              <a:rPr kumimoji="0" lang="zh-CN" altLang="en-US"/>
              <a:t>同或是异或之非</a:t>
            </a: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FB7E75A-0770-4599-9FDA-10FE164118C3}"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971F2EB5-5F29-4927-B361-AE72FF340100}" type="slidenum">
              <a:rPr lang="en-US" altLang="zh-CN"/>
              <a:pPr>
                <a:defRPr/>
              </a:pPr>
              <a:t>14</a:t>
            </a:fld>
            <a:endParaRPr lang="en-US" altLang="zh-CN"/>
          </a:p>
        </p:txBody>
      </p:sp>
      <p:sp>
        <p:nvSpPr>
          <p:cNvPr id="16389" name="Rectangle 3"/>
          <p:cNvSpPr>
            <a:spLocks noGrp="1" noChangeArrowheads="1"/>
          </p:cNvSpPr>
          <p:nvPr>
            <p:ph type="title"/>
          </p:nvPr>
        </p:nvSpPr>
        <p:spPr>
          <a:xfrm>
            <a:off x="1274763" y="533400"/>
            <a:ext cx="7793037" cy="609600"/>
          </a:xfrm>
        </p:spPr>
        <p:txBody>
          <a:bodyPr/>
          <a:lstStyle/>
          <a:p>
            <a:pPr eaLnBrk="1" hangingPunct="1"/>
            <a:r>
              <a:rPr lang="en-US" altLang="zh-CN" smtClean="0"/>
              <a:t>3.2 </a:t>
            </a:r>
            <a:r>
              <a:rPr lang="zh-CN" altLang="en-US" smtClean="0"/>
              <a:t>逻辑函数的实现</a:t>
            </a:r>
          </a:p>
        </p:txBody>
      </p:sp>
      <p:sp>
        <p:nvSpPr>
          <p:cNvPr id="2" name="内容占位符 1"/>
          <p:cNvSpPr>
            <a:spLocks noGrp="1"/>
          </p:cNvSpPr>
          <p:nvPr>
            <p:ph idx="1"/>
          </p:nvPr>
        </p:nvSpPr>
        <p:spPr/>
        <p:txBody>
          <a:bodyPr/>
          <a:lstStyle/>
          <a:p>
            <a:r>
              <a:rPr lang="zh-CN" altLang="en-US" dirty="0" smtClean="0"/>
              <a:t>一个逻辑函数可以表示成许多种不同的形式，通常有以下几种：</a:t>
            </a:r>
            <a:endParaRPr lang="zh-CN" altLang="en-US" dirty="0"/>
          </a:p>
        </p:txBody>
      </p:sp>
      <p:pic>
        <p:nvPicPr>
          <p:cNvPr id="163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136" y="3050654"/>
            <a:ext cx="7849832"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FB7E75A-0770-4599-9FDA-10FE164118C3}"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971F2EB5-5F29-4927-B361-AE72FF340100}" type="slidenum">
              <a:rPr lang="en-US" altLang="zh-CN"/>
              <a:pPr>
                <a:defRPr/>
              </a:pPr>
              <a:t>15</a:t>
            </a:fld>
            <a:endParaRPr lang="en-US" altLang="zh-CN"/>
          </a:p>
        </p:txBody>
      </p:sp>
      <p:sp>
        <p:nvSpPr>
          <p:cNvPr id="16388" name="Rectangle 2"/>
          <p:cNvSpPr>
            <a:spLocks noGrp="1" noChangeArrowheads="1"/>
          </p:cNvSpPr>
          <p:nvPr>
            <p:ph type="body" idx="1"/>
          </p:nvPr>
        </p:nvSpPr>
        <p:spPr/>
        <p:txBody>
          <a:bodyPr/>
          <a:lstStyle/>
          <a:p>
            <a:pPr eaLnBrk="1" hangingPunct="1"/>
            <a:r>
              <a:rPr lang="zh-CN" altLang="en-US" smtClean="0"/>
              <a:t>用“与非”门实现逻辑函数</a:t>
            </a:r>
          </a:p>
          <a:p>
            <a:pPr eaLnBrk="1" hangingPunct="1"/>
            <a:r>
              <a:rPr lang="zh-CN" altLang="en-US" smtClean="0"/>
              <a:t>用“或非”门实现逻辑函数</a:t>
            </a:r>
          </a:p>
          <a:p>
            <a:pPr eaLnBrk="1" hangingPunct="1"/>
            <a:r>
              <a:rPr lang="zh-CN" altLang="en-US" smtClean="0"/>
              <a:t>用“与或非”门实现逻辑函数</a:t>
            </a:r>
          </a:p>
          <a:p>
            <a:pPr eaLnBrk="1" hangingPunct="1"/>
            <a:r>
              <a:rPr lang="zh-CN" altLang="en-US" smtClean="0"/>
              <a:t>用“异或”门实现逻辑函数</a:t>
            </a:r>
          </a:p>
        </p:txBody>
      </p:sp>
      <p:sp>
        <p:nvSpPr>
          <p:cNvPr id="16389" name="Rectangle 3"/>
          <p:cNvSpPr>
            <a:spLocks noGrp="1" noChangeArrowheads="1"/>
          </p:cNvSpPr>
          <p:nvPr>
            <p:ph type="title"/>
          </p:nvPr>
        </p:nvSpPr>
        <p:spPr>
          <a:xfrm>
            <a:off x="1274763" y="533400"/>
            <a:ext cx="7793037" cy="609600"/>
          </a:xfrm>
        </p:spPr>
        <p:txBody>
          <a:bodyPr/>
          <a:lstStyle/>
          <a:p>
            <a:pPr eaLnBrk="1" hangingPunct="1"/>
            <a:r>
              <a:rPr lang="en-US" altLang="zh-CN" smtClean="0"/>
              <a:t>3.2 </a:t>
            </a:r>
            <a:r>
              <a:rPr lang="zh-CN" altLang="en-US" smtClean="0"/>
              <a:t>逻辑函数的实现</a:t>
            </a:r>
          </a:p>
        </p:txBody>
      </p:sp>
    </p:spTree>
    <p:extLst>
      <p:ext uri="{BB962C8B-B14F-4D97-AF65-F5344CB8AC3E}">
        <p14:creationId xmlns:p14="http://schemas.microsoft.com/office/powerpoint/2010/main" val="2121645744"/>
      </p:ext>
    </p:extLst>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4BFFD04-C44C-4BA0-B38A-7D94748E503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3BCA3CB8-7824-4A2F-BD5A-00EF026B3424}" type="slidenum">
              <a:rPr lang="en-US" altLang="zh-CN"/>
              <a:pPr>
                <a:defRPr/>
              </a:pPr>
              <a:t>16</a:t>
            </a:fld>
            <a:endParaRPr lang="en-US" altLang="zh-CN"/>
          </a:p>
        </p:txBody>
      </p:sp>
      <p:sp>
        <p:nvSpPr>
          <p:cNvPr id="17412" name="Rectangle 2"/>
          <p:cNvSpPr>
            <a:spLocks noGrp="1" noChangeArrowheads="1"/>
          </p:cNvSpPr>
          <p:nvPr>
            <p:ph type="body" idx="1"/>
          </p:nvPr>
        </p:nvSpPr>
        <p:spPr>
          <a:xfrm>
            <a:off x="457200" y="1371600"/>
            <a:ext cx="8382000" cy="3343275"/>
          </a:xfrm>
        </p:spPr>
        <p:txBody>
          <a:bodyPr/>
          <a:lstStyle/>
          <a:p>
            <a:pPr eaLnBrk="1" hangingPunct="1"/>
            <a:r>
              <a:rPr lang="zh-CN" altLang="en-US" sz="2800" b="1" smtClean="0"/>
              <a:t>步骤一，求出原函数的最简“与或”式</a:t>
            </a:r>
          </a:p>
          <a:p>
            <a:pPr lvl="1" eaLnBrk="1" hangingPunct="1"/>
            <a:r>
              <a:rPr lang="zh-CN" altLang="en-US" sz="2400" b="1" smtClean="0"/>
              <a:t>方法：代数化简法或卡诺图化简法</a:t>
            </a:r>
          </a:p>
          <a:p>
            <a:pPr eaLnBrk="1" hangingPunct="1"/>
            <a:r>
              <a:rPr lang="zh-CN" altLang="en-US" sz="2800" b="1" smtClean="0"/>
              <a:t>步骤二，将最简“与或”式变换为“与非</a:t>
            </a:r>
            <a:r>
              <a:rPr lang="en-US" altLang="zh-CN" sz="2800" b="1" smtClean="0"/>
              <a:t>-</a:t>
            </a:r>
            <a:r>
              <a:rPr lang="zh-CN" altLang="en-US" sz="2800" b="1" smtClean="0"/>
              <a:t>与非”式</a:t>
            </a:r>
          </a:p>
          <a:p>
            <a:pPr lvl="1" eaLnBrk="1" hangingPunct="1"/>
            <a:r>
              <a:rPr lang="zh-CN" altLang="en-US" sz="2400" b="1" smtClean="0"/>
              <a:t>方法：将原函数的最简“与或”式</a:t>
            </a:r>
            <a:r>
              <a:rPr lang="zh-CN" altLang="en-US" sz="2400" b="1" smtClean="0">
                <a:solidFill>
                  <a:schemeClr val="hlink"/>
                </a:solidFill>
              </a:rPr>
              <a:t>两次求反</a:t>
            </a:r>
          </a:p>
          <a:p>
            <a:pPr eaLnBrk="1" hangingPunct="1"/>
            <a:r>
              <a:rPr lang="zh-CN" altLang="en-US" sz="2800" b="1" smtClean="0"/>
              <a:t>步骤三，画出与函数表达式对应的逻辑电路图</a:t>
            </a:r>
          </a:p>
        </p:txBody>
      </p:sp>
      <p:sp>
        <p:nvSpPr>
          <p:cNvPr id="17413" name="Rectangle 3"/>
          <p:cNvSpPr>
            <a:spLocks noGrp="1" noChangeArrowheads="1"/>
          </p:cNvSpPr>
          <p:nvPr>
            <p:ph type="title"/>
          </p:nvPr>
        </p:nvSpPr>
        <p:spPr>
          <a:xfrm>
            <a:off x="1274763" y="533400"/>
            <a:ext cx="7793037" cy="609600"/>
          </a:xfrm>
        </p:spPr>
        <p:txBody>
          <a:bodyPr/>
          <a:lstStyle/>
          <a:p>
            <a:pPr eaLnBrk="1" hangingPunct="1"/>
            <a:r>
              <a:rPr lang="zh-CN" altLang="en-US" smtClean="0"/>
              <a:t>用“与非”门实现逻辑函数</a:t>
            </a:r>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0FFC7B9D-7D0B-43A8-B5A4-CA26E40A6932}" type="slidenum">
              <a:rPr lang="en-US" altLang="zh-CN" smtClean="0"/>
              <a:pPr>
                <a:defRPr/>
              </a:pPr>
              <a:t>17</a:t>
            </a:fld>
            <a:endParaRPr lang="en-US" altLang="zh-CN"/>
          </a:p>
        </p:txBody>
      </p:sp>
      <p:pic>
        <p:nvPicPr>
          <p:cNvPr id="1843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85750"/>
            <a:ext cx="52863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1143000"/>
            <a:ext cx="2789237"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063" y="1643063"/>
            <a:ext cx="321468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0500" y="2286000"/>
            <a:ext cx="32861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9063" y="2786063"/>
            <a:ext cx="2786062"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188" y="5214938"/>
            <a:ext cx="31432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3625" y="4652963"/>
            <a:ext cx="2500313"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1"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7625" y="5010150"/>
            <a:ext cx="19050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3" name="Text Box 13"/>
          <p:cNvSpPr txBox="1">
            <a:spLocks noChangeArrowheads="1"/>
          </p:cNvSpPr>
          <p:nvPr/>
        </p:nvSpPr>
        <p:spPr bwMode="auto">
          <a:xfrm>
            <a:off x="7072313" y="3521075"/>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两级“与非”</a:t>
            </a:r>
            <a:endParaRPr lang="en-US" altLang="zh-CN"/>
          </a:p>
        </p:txBody>
      </p:sp>
      <p:sp>
        <p:nvSpPr>
          <p:cNvPr id="51214" name="Text Box 14"/>
          <p:cNvSpPr txBox="1">
            <a:spLocks noChangeArrowheads="1"/>
          </p:cNvSpPr>
          <p:nvPr/>
        </p:nvSpPr>
        <p:spPr bwMode="auto">
          <a:xfrm>
            <a:off x="4932363" y="5876925"/>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三级“与非”</a:t>
            </a:r>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blinds(horizontal)">
                                      <p:cBhvr>
                                        <p:cTn id="7" dur="500"/>
                                        <p:tgtEl>
                                          <p:spTgt spid="51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206"/>
                                        </p:tgtEl>
                                        <p:attrNameLst>
                                          <p:attrName>style.visibility</p:attrName>
                                        </p:attrNameLst>
                                      </p:cBhvr>
                                      <p:to>
                                        <p:strVal val="visible"/>
                                      </p:to>
                                    </p:set>
                                    <p:animEffect transition="in" filter="blinds(horizontal)">
                                      <p:cBhvr>
                                        <p:cTn id="12" dur="500"/>
                                        <p:tgtEl>
                                          <p:spTgt spid="51206"/>
                                        </p:tgtEl>
                                      </p:cBhvr>
                                    </p:animEffect>
                                  </p:childTnLst>
                                </p:cTn>
                              </p:par>
                              <p:par>
                                <p:cTn id="13" presetID="3" presetClass="entr" presetSubtype="10" fill="hold" nodeType="withEffect">
                                  <p:stCondLst>
                                    <p:cond delay="0"/>
                                  </p:stCondLst>
                                  <p:childTnLst>
                                    <p:set>
                                      <p:cBhvr>
                                        <p:cTn id="14" dur="1" fill="hold">
                                          <p:stCondLst>
                                            <p:cond delay="0"/>
                                          </p:stCondLst>
                                        </p:cTn>
                                        <p:tgtEl>
                                          <p:spTgt spid="51207"/>
                                        </p:tgtEl>
                                        <p:attrNameLst>
                                          <p:attrName>style.visibility</p:attrName>
                                        </p:attrNameLst>
                                      </p:cBhvr>
                                      <p:to>
                                        <p:strVal val="visible"/>
                                      </p:to>
                                    </p:set>
                                    <p:animEffect transition="in" filter="blinds(horizontal)">
                                      <p:cBhvr>
                                        <p:cTn id="15" dur="500"/>
                                        <p:tgtEl>
                                          <p:spTgt spid="51207"/>
                                        </p:tgtEl>
                                      </p:cBhvr>
                                    </p:animEffect>
                                  </p:childTnLst>
                                </p:cTn>
                              </p:par>
                              <p:par>
                                <p:cTn id="16" presetID="3" presetClass="entr" presetSubtype="10" fill="hold" nodeType="withEffect">
                                  <p:stCondLst>
                                    <p:cond delay="0"/>
                                  </p:stCondLst>
                                  <p:childTnLst>
                                    <p:set>
                                      <p:cBhvr>
                                        <p:cTn id="17" dur="1" fill="hold">
                                          <p:stCondLst>
                                            <p:cond delay="0"/>
                                          </p:stCondLst>
                                        </p:cTn>
                                        <p:tgtEl>
                                          <p:spTgt spid="51208"/>
                                        </p:tgtEl>
                                        <p:attrNameLst>
                                          <p:attrName>style.visibility</p:attrName>
                                        </p:attrNameLst>
                                      </p:cBhvr>
                                      <p:to>
                                        <p:strVal val="visible"/>
                                      </p:to>
                                    </p:set>
                                    <p:animEffect transition="in" filter="blinds(horizontal)">
                                      <p:cBhvr>
                                        <p:cTn id="18" dur="500"/>
                                        <p:tgtEl>
                                          <p:spTgt spid="5120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1213"/>
                                        </p:tgtEl>
                                        <p:attrNameLst>
                                          <p:attrName>style.visibility</p:attrName>
                                        </p:attrNameLst>
                                      </p:cBhvr>
                                      <p:to>
                                        <p:strVal val="visible"/>
                                      </p:to>
                                    </p:set>
                                    <p:animEffect transition="in" filter="blinds(horizontal)">
                                      <p:cBhvr>
                                        <p:cTn id="21" dur="500"/>
                                        <p:tgtEl>
                                          <p:spTgt spid="5121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51209"/>
                                        </p:tgtEl>
                                        <p:attrNameLst>
                                          <p:attrName>style.visibility</p:attrName>
                                        </p:attrNameLst>
                                      </p:cBhvr>
                                      <p:to>
                                        <p:strVal val="visible"/>
                                      </p:to>
                                    </p:set>
                                    <p:animEffect transition="in" filter="blinds(horizontal)">
                                      <p:cBhvr>
                                        <p:cTn id="26" dur="500"/>
                                        <p:tgtEl>
                                          <p:spTgt spid="51209"/>
                                        </p:tgtEl>
                                      </p:cBhvr>
                                    </p:animEffect>
                                  </p:childTnLst>
                                </p:cTn>
                              </p:par>
                              <p:par>
                                <p:cTn id="27" presetID="3" presetClass="entr" presetSubtype="10" fill="hold" nodeType="withEffect">
                                  <p:stCondLst>
                                    <p:cond delay="0"/>
                                  </p:stCondLst>
                                  <p:childTnLst>
                                    <p:set>
                                      <p:cBhvr>
                                        <p:cTn id="28" dur="1" fill="hold">
                                          <p:stCondLst>
                                            <p:cond delay="0"/>
                                          </p:stCondLst>
                                        </p:cTn>
                                        <p:tgtEl>
                                          <p:spTgt spid="51211"/>
                                        </p:tgtEl>
                                        <p:attrNameLst>
                                          <p:attrName>style.visibility</p:attrName>
                                        </p:attrNameLst>
                                      </p:cBhvr>
                                      <p:to>
                                        <p:strVal val="visible"/>
                                      </p:to>
                                    </p:set>
                                    <p:animEffect transition="in" filter="blinds(horizontal)">
                                      <p:cBhvr>
                                        <p:cTn id="29" dur="500"/>
                                        <p:tgtEl>
                                          <p:spTgt spid="51211"/>
                                        </p:tgtEl>
                                      </p:cBhvr>
                                    </p:animEffect>
                                  </p:childTnLst>
                                </p:cTn>
                              </p:par>
                              <p:par>
                                <p:cTn id="30" presetID="3" presetClass="entr" presetSubtype="10" fill="hold" nodeType="withEffect">
                                  <p:stCondLst>
                                    <p:cond delay="0"/>
                                  </p:stCondLst>
                                  <p:childTnLst>
                                    <p:set>
                                      <p:cBhvr>
                                        <p:cTn id="31" dur="1" fill="hold">
                                          <p:stCondLst>
                                            <p:cond delay="0"/>
                                          </p:stCondLst>
                                        </p:cTn>
                                        <p:tgtEl>
                                          <p:spTgt spid="51210"/>
                                        </p:tgtEl>
                                        <p:attrNameLst>
                                          <p:attrName>style.visibility</p:attrName>
                                        </p:attrNameLst>
                                      </p:cBhvr>
                                      <p:to>
                                        <p:strVal val="visible"/>
                                      </p:to>
                                    </p:set>
                                    <p:animEffect transition="in" filter="blinds(horizontal)">
                                      <p:cBhvr>
                                        <p:cTn id="32" dur="500"/>
                                        <p:tgtEl>
                                          <p:spTgt spid="51210"/>
                                        </p:tgtEl>
                                      </p:cBhvr>
                                    </p:animEffect>
                                  </p:childTnLst>
                                </p:cTn>
                              </p:par>
                              <p:par>
                                <p:cTn id="33" presetID="3" presetClass="entr" presetSubtype="10" fill="hold" nodeType="withEffect">
                                  <p:stCondLst>
                                    <p:cond delay="0"/>
                                  </p:stCondLst>
                                  <p:childTnLst>
                                    <p:set>
                                      <p:cBhvr>
                                        <p:cTn id="34" dur="1" fill="hold">
                                          <p:stCondLst>
                                            <p:cond delay="0"/>
                                          </p:stCondLst>
                                        </p:cTn>
                                        <p:tgtEl>
                                          <p:spTgt spid="51214"/>
                                        </p:tgtEl>
                                        <p:attrNameLst>
                                          <p:attrName>style.visibility</p:attrName>
                                        </p:attrNameLst>
                                      </p:cBhvr>
                                      <p:to>
                                        <p:strVal val="visible"/>
                                      </p:to>
                                    </p:set>
                                    <p:animEffect transition="in" filter="blinds(horizontal)">
                                      <p:cBhvr>
                                        <p:cTn id="35" dur="500"/>
                                        <p:tgtEl>
                                          <p:spTgt spid="51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AA2F968-201C-4319-956F-A34B0E8C25F5}"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3FEBF9E2-E49E-40A8-8E27-3690DE6935BC}" type="slidenum">
              <a:rPr lang="en-US" altLang="zh-CN"/>
              <a:pPr>
                <a:defRPr/>
              </a:pPr>
              <a:t>18</a:t>
            </a:fld>
            <a:endParaRPr lang="en-US" altLang="zh-CN"/>
          </a:p>
        </p:txBody>
      </p:sp>
      <p:sp>
        <p:nvSpPr>
          <p:cNvPr id="19460" name="Rectangle 2"/>
          <p:cNvSpPr>
            <a:spLocks noGrp="1" noChangeArrowheads="1"/>
          </p:cNvSpPr>
          <p:nvPr>
            <p:ph type="body" idx="1"/>
          </p:nvPr>
        </p:nvSpPr>
        <p:spPr/>
        <p:txBody>
          <a:bodyPr/>
          <a:lstStyle/>
          <a:p>
            <a:pPr eaLnBrk="1" hangingPunct="1"/>
            <a:r>
              <a:rPr lang="zh-CN" altLang="en-US" sz="2800" smtClean="0"/>
              <a:t>步骤一，求出原函数的最简“或与”式</a:t>
            </a:r>
          </a:p>
          <a:p>
            <a:pPr lvl="1" eaLnBrk="1" hangingPunct="1"/>
            <a:r>
              <a:rPr lang="zh-CN" altLang="en-US" sz="2400" smtClean="0"/>
              <a:t>方法：</a:t>
            </a:r>
          </a:p>
          <a:p>
            <a:pPr lvl="2" eaLnBrk="1" hangingPunct="1"/>
            <a:r>
              <a:rPr lang="zh-CN" altLang="en-US" sz="2000" smtClean="0"/>
              <a:t>代数化简法或卡诺图化简法（</a:t>
            </a:r>
            <a:r>
              <a:rPr lang="en-US" altLang="zh-CN" sz="2000" b="1" smtClean="0">
                <a:solidFill>
                  <a:schemeClr val="hlink"/>
                </a:solidFill>
              </a:rPr>
              <a:t>0</a:t>
            </a:r>
            <a:r>
              <a:rPr lang="zh-CN" altLang="en-US" sz="2000" b="1" smtClean="0">
                <a:solidFill>
                  <a:schemeClr val="hlink"/>
                </a:solidFill>
              </a:rPr>
              <a:t>方格合并</a:t>
            </a:r>
            <a:r>
              <a:rPr lang="zh-CN" altLang="en-US" sz="2000" smtClean="0"/>
              <a:t>）求出</a:t>
            </a:r>
            <a:r>
              <a:rPr lang="zh-CN" altLang="en-US" sz="2000" b="1" smtClean="0">
                <a:solidFill>
                  <a:schemeClr val="hlink"/>
                </a:solidFill>
              </a:rPr>
              <a:t>反函数的最简与或式</a:t>
            </a:r>
          </a:p>
          <a:p>
            <a:pPr lvl="2" eaLnBrk="1" hangingPunct="1"/>
            <a:r>
              <a:rPr lang="zh-CN" altLang="en-US" sz="2000" smtClean="0"/>
              <a:t>对反函数求反，得到原函数的</a:t>
            </a:r>
            <a:r>
              <a:rPr lang="zh-CN" altLang="en-US" sz="2000" b="1" smtClean="0">
                <a:solidFill>
                  <a:schemeClr val="hlink"/>
                </a:solidFill>
              </a:rPr>
              <a:t>最简或与式</a:t>
            </a:r>
          </a:p>
          <a:p>
            <a:pPr eaLnBrk="1" hangingPunct="1"/>
            <a:r>
              <a:rPr lang="zh-CN" altLang="en-US" sz="2800" smtClean="0"/>
              <a:t>步骤二，将最简“或与”式变换为“或非</a:t>
            </a:r>
            <a:r>
              <a:rPr lang="en-US" altLang="zh-CN" sz="2800" smtClean="0"/>
              <a:t>-</a:t>
            </a:r>
            <a:r>
              <a:rPr lang="zh-CN" altLang="en-US" sz="2800" smtClean="0"/>
              <a:t>或非”式</a:t>
            </a:r>
          </a:p>
          <a:p>
            <a:pPr lvl="1" eaLnBrk="1" hangingPunct="1"/>
            <a:r>
              <a:rPr lang="zh-CN" altLang="en-US" sz="2400" smtClean="0"/>
              <a:t>方法：将原函数的</a:t>
            </a:r>
            <a:r>
              <a:rPr lang="zh-CN" altLang="en-US" sz="2400" b="1" smtClean="0">
                <a:solidFill>
                  <a:schemeClr val="hlink"/>
                </a:solidFill>
              </a:rPr>
              <a:t>最简“或与”式两次求反</a:t>
            </a:r>
          </a:p>
          <a:p>
            <a:pPr eaLnBrk="1" hangingPunct="1"/>
            <a:r>
              <a:rPr lang="zh-CN" altLang="en-US" sz="2800" smtClean="0"/>
              <a:t>步骤三，画出与函数表达式对应的逻辑电路图</a:t>
            </a:r>
          </a:p>
        </p:txBody>
      </p:sp>
      <p:sp>
        <p:nvSpPr>
          <p:cNvPr id="19461" name="Rectangle 3"/>
          <p:cNvSpPr>
            <a:spLocks noGrp="1" noChangeArrowheads="1"/>
          </p:cNvSpPr>
          <p:nvPr>
            <p:ph type="title"/>
          </p:nvPr>
        </p:nvSpPr>
        <p:spPr>
          <a:xfrm>
            <a:off x="1274763" y="533400"/>
            <a:ext cx="7793037" cy="609600"/>
          </a:xfrm>
        </p:spPr>
        <p:txBody>
          <a:bodyPr/>
          <a:lstStyle/>
          <a:p>
            <a:pPr eaLnBrk="1" hangingPunct="1"/>
            <a:r>
              <a:rPr lang="zh-CN" altLang="en-US" smtClean="0"/>
              <a:t>用“或非”门实现逻辑函数</a:t>
            </a:r>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455B10CE-E9FF-4FFE-8BB0-4EB34D24B7EE}" type="slidenum">
              <a:rPr lang="en-US" altLang="zh-CN" smtClean="0"/>
              <a:pPr>
                <a:defRPr/>
              </a:pPr>
              <a:t>19</a:t>
            </a:fld>
            <a:endParaRPr lang="en-US" altLang="zh-CN"/>
          </a:p>
        </p:txBody>
      </p:sp>
      <p:pic>
        <p:nvPicPr>
          <p:cNvPr id="204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285750"/>
            <a:ext cx="5286375"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643063"/>
            <a:ext cx="2500312"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1785938"/>
            <a:ext cx="2038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0" y="2571750"/>
            <a:ext cx="23907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0438" y="3786188"/>
            <a:ext cx="24574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6563" y="4143375"/>
            <a:ext cx="18573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blinds(horizontal)">
                                      <p:cBhvr>
                                        <p:cTn id="7" dur="500"/>
                                        <p:tgtEl>
                                          <p:spTgt spid="532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53254"/>
                                        </p:tgtEl>
                                        <p:attrNameLst>
                                          <p:attrName>style.visibility</p:attrName>
                                        </p:attrNameLst>
                                      </p:cBhvr>
                                      <p:to>
                                        <p:strVal val="visible"/>
                                      </p:to>
                                    </p:set>
                                    <p:animEffect transition="in" filter="diamond(in)">
                                      <p:cBhvr>
                                        <p:cTn id="12" dur="2000"/>
                                        <p:tgtEl>
                                          <p:spTgt spid="532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255"/>
                                        </p:tgtEl>
                                        <p:attrNameLst>
                                          <p:attrName>style.visibility</p:attrName>
                                        </p:attrNameLst>
                                      </p:cBhvr>
                                      <p:to>
                                        <p:strVal val="visible"/>
                                      </p:to>
                                    </p:set>
                                    <p:animEffect transition="in" filter="blinds(horizontal)">
                                      <p:cBhvr>
                                        <p:cTn id="17" dur="500"/>
                                        <p:tgtEl>
                                          <p:spTgt spid="532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256"/>
                                        </p:tgtEl>
                                        <p:attrNameLst>
                                          <p:attrName>style.visibility</p:attrName>
                                        </p:attrNameLst>
                                      </p:cBhvr>
                                      <p:to>
                                        <p:strVal val="visible"/>
                                      </p:to>
                                    </p:set>
                                    <p:animEffect transition="in" filter="blinds(horizontal)">
                                      <p:cBhvr>
                                        <p:cTn id="22" dur="500"/>
                                        <p:tgtEl>
                                          <p:spTgt spid="532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mph" presetSubtype="0" fill="hold" nodeType="clickEffect">
                                  <p:stCondLst>
                                    <p:cond delay="0"/>
                                  </p:stCondLst>
                                  <p:childTnLst>
                                    <p:animScale>
                                      <p:cBhvr>
                                        <p:cTn id="26" dur="2000" fill="hold"/>
                                        <p:tgtEl>
                                          <p:spTgt spid="53256"/>
                                        </p:tgtEl>
                                      </p:cBhvr>
                                      <p:by x="150000" y="150000"/>
                                    </p:animScale>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53257"/>
                                        </p:tgtEl>
                                        <p:attrNameLst>
                                          <p:attrName>style.visibility</p:attrName>
                                        </p:attrNameLst>
                                      </p:cBhvr>
                                      <p:to>
                                        <p:strVal val="visible"/>
                                      </p:to>
                                    </p:set>
                                    <p:animEffect transition="in" filter="box(in)">
                                      <p:cBhvr>
                                        <p:cTn id="31" dur="50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23D58D9-6C7B-4CB4-97A9-78BA3ED273BB}"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45E43300-804B-4DBB-87D2-864A7F0E8FC8}" type="slidenum">
              <a:rPr lang="en-US" altLang="zh-CN"/>
              <a:pPr>
                <a:defRPr/>
              </a:pPr>
              <a:t>20</a:t>
            </a:fld>
            <a:endParaRPr lang="en-US" altLang="zh-CN"/>
          </a:p>
        </p:txBody>
      </p:sp>
      <p:sp>
        <p:nvSpPr>
          <p:cNvPr id="21508" name="Rectangle 2"/>
          <p:cNvSpPr>
            <a:spLocks noGrp="1" noChangeArrowheads="1"/>
          </p:cNvSpPr>
          <p:nvPr>
            <p:ph type="body" idx="1"/>
          </p:nvPr>
        </p:nvSpPr>
        <p:spPr>
          <a:xfrm>
            <a:off x="214313" y="1371600"/>
            <a:ext cx="8624887" cy="4876800"/>
          </a:xfrm>
        </p:spPr>
        <p:txBody>
          <a:bodyPr/>
          <a:lstStyle/>
          <a:p>
            <a:pPr eaLnBrk="1" hangingPunct="1"/>
            <a:r>
              <a:rPr lang="zh-CN" altLang="en-US" sz="2800" b="1" dirty="0" smtClean="0"/>
              <a:t>步骤一，求出</a:t>
            </a:r>
            <a:r>
              <a:rPr lang="zh-CN" altLang="en-US" sz="2800" b="1" dirty="0" smtClean="0">
                <a:solidFill>
                  <a:srgbClr val="FF0000"/>
                </a:solidFill>
                <a:effectLst>
                  <a:outerShdw blurRad="38100" dist="38100" dir="2700000" algn="tl">
                    <a:srgbClr val="000000">
                      <a:alpha val="43137"/>
                    </a:srgbClr>
                  </a:outerShdw>
                </a:effectLst>
              </a:rPr>
              <a:t>反函数的最简“与或”式</a:t>
            </a:r>
          </a:p>
          <a:p>
            <a:pPr lvl="1" eaLnBrk="1" hangingPunct="1"/>
            <a:r>
              <a:rPr lang="zh-CN" altLang="en-US" sz="2400" b="1" dirty="0" smtClean="0"/>
              <a:t>方法：代数化简法或卡诺图化简法（合并</a:t>
            </a:r>
            <a:r>
              <a:rPr lang="en-US" altLang="zh-CN" sz="2400" b="1" dirty="0" smtClean="0"/>
              <a:t>0</a:t>
            </a:r>
            <a:r>
              <a:rPr lang="zh-CN" altLang="en-US" sz="2400" b="1" dirty="0" smtClean="0"/>
              <a:t>方格）</a:t>
            </a:r>
          </a:p>
          <a:p>
            <a:pPr eaLnBrk="1" hangingPunct="1"/>
            <a:r>
              <a:rPr lang="zh-CN" altLang="en-US" sz="2800" b="1" dirty="0" smtClean="0"/>
              <a:t>步骤二，将反函数的</a:t>
            </a:r>
            <a:r>
              <a:rPr lang="zh-CN" altLang="en-US" sz="2800" b="1" dirty="0" smtClean="0">
                <a:solidFill>
                  <a:srgbClr val="FF0000"/>
                </a:solidFill>
                <a:effectLst>
                  <a:outerShdw blurRad="38100" dist="38100" dir="2700000" algn="tl">
                    <a:srgbClr val="000000">
                      <a:alpha val="43137"/>
                    </a:srgbClr>
                  </a:outerShdw>
                </a:effectLst>
              </a:rPr>
              <a:t>最简“与或”式变换为“与或非”式</a:t>
            </a:r>
          </a:p>
          <a:p>
            <a:pPr lvl="1" eaLnBrk="1" hangingPunct="1"/>
            <a:r>
              <a:rPr lang="zh-CN" altLang="en-US" sz="2400" b="1" dirty="0" smtClean="0"/>
              <a:t>方法：直接对反函数的最简“与或”式求反</a:t>
            </a:r>
          </a:p>
          <a:p>
            <a:pPr eaLnBrk="1" hangingPunct="1"/>
            <a:r>
              <a:rPr lang="zh-CN" altLang="en-US" sz="2800" b="1" dirty="0" smtClean="0"/>
              <a:t>步骤三，画出与函数表达式对应的逻辑电路图</a:t>
            </a:r>
          </a:p>
        </p:txBody>
      </p:sp>
      <p:sp>
        <p:nvSpPr>
          <p:cNvPr id="21509" name="Rectangle 3"/>
          <p:cNvSpPr>
            <a:spLocks noGrp="1" noChangeArrowheads="1"/>
          </p:cNvSpPr>
          <p:nvPr>
            <p:ph type="title"/>
          </p:nvPr>
        </p:nvSpPr>
        <p:spPr>
          <a:xfrm>
            <a:off x="1274763" y="533400"/>
            <a:ext cx="7793037" cy="609600"/>
          </a:xfrm>
        </p:spPr>
        <p:txBody>
          <a:bodyPr/>
          <a:lstStyle/>
          <a:p>
            <a:pPr eaLnBrk="1" hangingPunct="1"/>
            <a:r>
              <a:rPr lang="zh-CN" altLang="en-US" smtClean="0"/>
              <a:t>用“与或非”门实现逻辑函数</a:t>
            </a: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AA3E0CF2-393A-42B3-8505-20EDBAF10A15}" type="slidenum">
              <a:rPr lang="en-US" altLang="zh-CN" smtClean="0"/>
              <a:pPr>
                <a:defRPr/>
              </a:pPr>
              <a:t>21</a:t>
            </a:fld>
            <a:endParaRPr lang="en-US" altLang="zh-CN"/>
          </a:p>
        </p:txBody>
      </p:sp>
      <p:pic>
        <p:nvPicPr>
          <p:cNvPr id="225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214313"/>
            <a:ext cx="5624512"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2071688"/>
            <a:ext cx="22860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1643063"/>
            <a:ext cx="2428875"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7750" y="3071813"/>
            <a:ext cx="20859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4221163"/>
            <a:ext cx="1795462"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blinds(horizontal)">
                                      <p:cBhvr>
                                        <p:cTn id="7" dur="500"/>
                                        <p:tgtEl>
                                          <p:spTgt spid="553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5301"/>
                                        </p:tgtEl>
                                        <p:attrNameLst>
                                          <p:attrName>style.visibility</p:attrName>
                                        </p:attrNameLst>
                                      </p:cBhvr>
                                      <p:to>
                                        <p:strVal val="visible"/>
                                      </p:to>
                                    </p:set>
                                    <p:animEffect transition="in" filter="blinds(horizontal)">
                                      <p:cBhvr>
                                        <p:cTn id="12" dur="500"/>
                                        <p:tgtEl>
                                          <p:spTgt spid="553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5303"/>
                                        </p:tgtEl>
                                        <p:attrNameLst>
                                          <p:attrName>style.visibility</p:attrName>
                                        </p:attrNameLst>
                                      </p:cBhvr>
                                      <p:to>
                                        <p:strVal val="visible"/>
                                      </p:to>
                                    </p:set>
                                    <p:animEffect transition="in" filter="blinds(horizontal)">
                                      <p:cBhvr>
                                        <p:cTn id="17" dur="500"/>
                                        <p:tgtEl>
                                          <p:spTgt spid="553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5304"/>
                                        </p:tgtEl>
                                        <p:attrNameLst>
                                          <p:attrName>style.visibility</p:attrName>
                                        </p:attrNameLst>
                                      </p:cBhvr>
                                      <p:to>
                                        <p:strVal val="visible"/>
                                      </p:to>
                                    </p:set>
                                    <p:animEffect transition="in" filter="blinds(horizontal)">
                                      <p:cBhvr>
                                        <p:cTn id="22" dur="500"/>
                                        <p:tgtEl>
                                          <p:spTgt spid="55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4390C11-5290-49D0-894D-2AC78E8F8F3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8FC9D62C-264C-4A66-9BD8-A30409C1D268}" type="slidenum">
              <a:rPr lang="en-US" altLang="zh-CN"/>
              <a:pPr>
                <a:defRPr/>
              </a:pPr>
              <a:t>22</a:t>
            </a:fld>
            <a:endParaRPr lang="en-US" altLang="zh-CN"/>
          </a:p>
        </p:txBody>
      </p:sp>
      <p:sp>
        <p:nvSpPr>
          <p:cNvPr id="23556" name="Rectangle 2"/>
          <p:cNvSpPr>
            <a:spLocks noGrp="1" noChangeArrowheads="1"/>
          </p:cNvSpPr>
          <p:nvPr>
            <p:ph type="body" idx="1"/>
          </p:nvPr>
        </p:nvSpPr>
        <p:spPr/>
        <p:txBody>
          <a:bodyPr/>
          <a:lstStyle/>
          <a:p>
            <a:pPr eaLnBrk="1" hangingPunct="1"/>
            <a:r>
              <a:rPr lang="zh-CN" altLang="en-US" sz="2800" b="1" dirty="0" smtClean="0"/>
              <a:t>只适用于某些特殊的逻辑函数，不能实现所有的</a:t>
            </a:r>
          </a:p>
          <a:p>
            <a:pPr eaLnBrk="1" hangingPunct="1"/>
            <a:r>
              <a:rPr lang="zh-CN" altLang="en-US" sz="2800" b="1" dirty="0" smtClean="0"/>
              <a:t>步骤一，将函数写成最简形式</a:t>
            </a:r>
          </a:p>
          <a:p>
            <a:pPr eaLnBrk="1" hangingPunct="1"/>
            <a:r>
              <a:rPr lang="zh-CN" altLang="en-US" sz="2800" b="1" dirty="0" smtClean="0"/>
              <a:t>步骤二，将函数转换为“异或”表达式</a:t>
            </a:r>
          </a:p>
          <a:p>
            <a:pPr lvl="1" eaLnBrk="1" hangingPunct="1"/>
            <a:r>
              <a:rPr lang="zh-CN" altLang="en-US" sz="2400" b="1" dirty="0" smtClean="0"/>
              <a:t>方法：公式法</a:t>
            </a:r>
          </a:p>
          <a:p>
            <a:pPr eaLnBrk="1" hangingPunct="1"/>
            <a:r>
              <a:rPr lang="zh-CN" altLang="en-US" sz="2800" b="1" dirty="0" smtClean="0"/>
              <a:t>步骤三，画出与函数表达式对应的逻辑电路图</a:t>
            </a:r>
          </a:p>
        </p:txBody>
      </p:sp>
      <p:sp>
        <p:nvSpPr>
          <p:cNvPr id="23557" name="Rectangle 3"/>
          <p:cNvSpPr>
            <a:spLocks noGrp="1" noChangeArrowheads="1"/>
          </p:cNvSpPr>
          <p:nvPr>
            <p:ph type="title"/>
          </p:nvPr>
        </p:nvSpPr>
        <p:spPr>
          <a:xfrm>
            <a:off x="1274763" y="533400"/>
            <a:ext cx="7793037" cy="609600"/>
          </a:xfrm>
        </p:spPr>
        <p:txBody>
          <a:bodyPr/>
          <a:lstStyle/>
          <a:p>
            <a:pPr eaLnBrk="1" hangingPunct="1"/>
            <a:r>
              <a:rPr lang="zh-CN" altLang="en-US" smtClean="0"/>
              <a:t>用“异或”门实现逻辑函数</a:t>
            </a: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C278D6E2-8C8E-4506-8118-85C9DD6AE13F}" type="slidenum">
              <a:rPr lang="en-US" altLang="zh-CN" smtClean="0"/>
              <a:pPr>
                <a:defRPr/>
              </a:pPr>
              <a:t>23</a:t>
            </a:fld>
            <a:endParaRPr lang="en-US" altLang="zh-CN"/>
          </a:p>
        </p:txBody>
      </p:sp>
      <p:pic>
        <p:nvPicPr>
          <p:cNvPr id="245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285750"/>
            <a:ext cx="414337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700213"/>
            <a:ext cx="26431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4813" y="2643188"/>
            <a:ext cx="4071937"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0" y="3714750"/>
            <a:ext cx="18573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1875" y="4857750"/>
            <a:ext cx="278606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blinds(horizontal)">
                                      <p:cBhvr>
                                        <p:cTn id="7" dur="500"/>
                                        <p:tgtEl>
                                          <p:spTgt spid="57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50"/>
                                        </p:tgtEl>
                                        <p:attrNameLst>
                                          <p:attrName>style.visibility</p:attrName>
                                        </p:attrNameLst>
                                      </p:cBhvr>
                                      <p:to>
                                        <p:strVal val="visible"/>
                                      </p:to>
                                    </p:set>
                                    <p:animEffect transition="in" filter="blinds(horizontal)">
                                      <p:cBhvr>
                                        <p:cTn id="12" dur="500"/>
                                        <p:tgtEl>
                                          <p:spTgt spid="573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52"/>
                                        </p:tgtEl>
                                        <p:attrNameLst>
                                          <p:attrName>style.visibility</p:attrName>
                                        </p:attrNameLst>
                                      </p:cBhvr>
                                      <p:to>
                                        <p:strVal val="visible"/>
                                      </p:to>
                                    </p:set>
                                    <p:animEffect transition="in" filter="blinds(horizontal)">
                                      <p:cBhvr>
                                        <p:cTn id="17" dur="500"/>
                                        <p:tgtEl>
                                          <p:spTgt spid="57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446242E-9354-4914-B87C-9D82222420F7}"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D4776F48-AD12-4B44-939A-E98C91E08335}" type="slidenum">
              <a:rPr lang="en-US" altLang="zh-CN"/>
              <a:pPr>
                <a:defRPr/>
              </a:pPr>
              <a:t>24</a:t>
            </a:fld>
            <a:endParaRPr lang="en-US" altLang="zh-CN"/>
          </a:p>
        </p:txBody>
      </p:sp>
      <p:sp>
        <p:nvSpPr>
          <p:cNvPr id="25604" name="Rectangle 2"/>
          <p:cNvSpPr>
            <a:spLocks noGrp="1" noChangeArrowheads="1"/>
          </p:cNvSpPr>
          <p:nvPr>
            <p:ph type="body" idx="1"/>
          </p:nvPr>
        </p:nvSpPr>
        <p:spPr/>
        <p:txBody>
          <a:bodyPr/>
          <a:lstStyle/>
          <a:p>
            <a:pPr eaLnBrk="1" hangingPunct="1">
              <a:lnSpc>
                <a:spcPct val="90000"/>
              </a:lnSpc>
            </a:pPr>
            <a:r>
              <a:rPr lang="zh-CN" altLang="en-US" sz="2800" dirty="0" smtClean="0"/>
              <a:t>目的：对于已知的逻辑电路图推导出描述其逻辑特性的逻辑表达式，以确定其逻辑功能，进而对逻辑电路设计是否合理进行评定，以便完善或改善电路</a:t>
            </a:r>
          </a:p>
          <a:p>
            <a:pPr eaLnBrk="1" hangingPunct="1">
              <a:lnSpc>
                <a:spcPct val="90000"/>
              </a:lnSpc>
            </a:pPr>
            <a:r>
              <a:rPr lang="zh-CN" altLang="en-US" sz="2800" dirty="0" smtClean="0"/>
              <a:t>方法</a:t>
            </a:r>
          </a:p>
          <a:p>
            <a:pPr lvl="1" eaLnBrk="1" hangingPunct="1">
              <a:lnSpc>
                <a:spcPct val="90000"/>
              </a:lnSpc>
            </a:pPr>
            <a:r>
              <a:rPr lang="zh-CN" altLang="en-US" sz="2400" dirty="0" smtClean="0"/>
              <a:t>第一步，根据给定逻辑电路图，写出逻辑函数表达式</a:t>
            </a:r>
          </a:p>
          <a:p>
            <a:pPr lvl="2" eaLnBrk="1" hangingPunct="1">
              <a:lnSpc>
                <a:spcPct val="90000"/>
              </a:lnSpc>
            </a:pPr>
            <a:r>
              <a:rPr lang="zh-CN" altLang="en-US" sz="2000" dirty="0" smtClean="0"/>
              <a:t>通过“</a:t>
            </a:r>
            <a:r>
              <a:rPr lang="zh-CN" altLang="en-US" sz="2000" b="1" dirty="0" smtClean="0">
                <a:solidFill>
                  <a:srgbClr val="FF0000"/>
                </a:solidFill>
                <a:effectLst>
                  <a:outerShdw blurRad="38100" dist="38100" dir="2700000" algn="tl">
                    <a:srgbClr val="000000">
                      <a:alpha val="43137"/>
                    </a:srgbClr>
                  </a:outerShdw>
                </a:effectLst>
              </a:rPr>
              <a:t>逐级推导</a:t>
            </a:r>
            <a:r>
              <a:rPr lang="zh-CN" altLang="en-US" sz="2000" dirty="0" smtClean="0"/>
              <a:t>”、“</a:t>
            </a:r>
            <a:r>
              <a:rPr lang="zh-CN" altLang="en-US" sz="2000" b="1" dirty="0">
                <a:solidFill>
                  <a:srgbClr val="FF0000"/>
                </a:solidFill>
                <a:effectLst>
                  <a:outerShdw blurRad="38100" dist="38100" dir="2700000" algn="tl">
                    <a:srgbClr val="000000">
                      <a:alpha val="43137"/>
                    </a:srgbClr>
                  </a:outerShdw>
                </a:effectLst>
              </a:rPr>
              <a:t>逐级展开</a:t>
            </a:r>
            <a:r>
              <a:rPr lang="zh-CN" altLang="en-US" sz="2000" dirty="0" smtClean="0"/>
              <a:t>”的方法</a:t>
            </a:r>
          </a:p>
          <a:p>
            <a:pPr lvl="1" eaLnBrk="1" hangingPunct="1">
              <a:lnSpc>
                <a:spcPct val="90000"/>
              </a:lnSpc>
            </a:pPr>
            <a:r>
              <a:rPr lang="zh-CN" altLang="en-US" sz="2400" dirty="0" smtClean="0"/>
              <a:t>第二步，简化逻辑函数表达式</a:t>
            </a:r>
          </a:p>
          <a:p>
            <a:pPr lvl="1" eaLnBrk="1" hangingPunct="1">
              <a:lnSpc>
                <a:spcPct val="90000"/>
              </a:lnSpc>
            </a:pPr>
            <a:r>
              <a:rPr lang="zh-CN" altLang="en-US" sz="2400" dirty="0" smtClean="0"/>
              <a:t>第三步，列出逻辑电路的真值表</a:t>
            </a:r>
          </a:p>
          <a:p>
            <a:pPr lvl="1" eaLnBrk="1" hangingPunct="1">
              <a:lnSpc>
                <a:spcPct val="90000"/>
              </a:lnSpc>
            </a:pPr>
            <a:r>
              <a:rPr lang="zh-CN" altLang="en-US" sz="2400" dirty="0" smtClean="0"/>
              <a:t>第四步，逻辑问题评述</a:t>
            </a:r>
          </a:p>
          <a:p>
            <a:pPr lvl="2" eaLnBrk="1" hangingPunct="1">
              <a:lnSpc>
                <a:spcPct val="90000"/>
              </a:lnSpc>
            </a:pPr>
            <a:r>
              <a:rPr lang="zh-CN" altLang="en-US" sz="2000" dirty="0" smtClean="0"/>
              <a:t>用文字描述电路的输出与输入的逻辑关系，判断其逻辑功能，并对电路的设计进行评定，必要时提出完善和改进电路设计的方案</a:t>
            </a:r>
          </a:p>
        </p:txBody>
      </p:sp>
      <p:sp>
        <p:nvSpPr>
          <p:cNvPr id="25605" name="Rectangle 3"/>
          <p:cNvSpPr>
            <a:spLocks noGrp="1" noChangeArrowheads="1"/>
          </p:cNvSpPr>
          <p:nvPr>
            <p:ph type="title"/>
          </p:nvPr>
        </p:nvSpPr>
        <p:spPr>
          <a:xfrm>
            <a:off x="1274763" y="533400"/>
            <a:ext cx="7793037" cy="609600"/>
          </a:xfrm>
        </p:spPr>
        <p:txBody>
          <a:bodyPr/>
          <a:lstStyle/>
          <a:p>
            <a:pPr eaLnBrk="1" hangingPunct="1"/>
            <a:r>
              <a:rPr lang="en-US" altLang="zh-CN" smtClean="0"/>
              <a:t>3.3 </a:t>
            </a:r>
            <a:r>
              <a:rPr lang="zh-CN" altLang="en-US" smtClean="0"/>
              <a:t>组合逻辑电路的分析</a:t>
            </a:r>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pPr>
              <a:defRPr/>
            </a:pPr>
            <a:fld id="{6B8C991F-A527-421A-A142-B93CE40EDF80}" type="datetime1">
              <a:rPr lang="zh-CN" altLang="en-US" smtClean="0"/>
              <a:pPr>
                <a:defRPr/>
              </a:pPr>
              <a:t>2020/10/10</a:t>
            </a:fld>
            <a:endParaRPr lang="en-US" altLang="zh-CN"/>
          </a:p>
        </p:txBody>
      </p:sp>
      <p:sp>
        <p:nvSpPr>
          <p:cNvPr id="5" name="灯片编号占位符 4"/>
          <p:cNvSpPr>
            <a:spLocks noGrp="1"/>
          </p:cNvSpPr>
          <p:nvPr>
            <p:ph type="sldNum" sz="quarter" idx="12"/>
          </p:nvPr>
        </p:nvSpPr>
        <p:spPr/>
        <p:txBody>
          <a:bodyPr/>
          <a:lstStyle/>
          <a:p>
            <a:pPr>
              <a:defRPr/>
            </a:pPr>
            <a:fld id="{DC6DBBA1-C0BD-4AB1-9A7A-2146138EA9CF}" type="slidenum">
              <a:rPr lang="en-US" altLang="zh-CN" smtClean="0"/>
              <a:pPr>
                <a:defRPr/>
              </a:pPr>
              <a:t>25</a:t>
            </a:fld>
            <a:endParaRPr lang="en-US" altLang="zh-CN"/>
          </a:p>
        </p:txBody>
      </p:sp>
      <p:pic>
        <p:nvPicPr>
          <p:cNvPr id="216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172" y="440668"/>
            <a:ext cx="5893578"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6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07" y="1018511"/>
            <a:ext cx="4536504" cy="3380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60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111" y="3212976"/>
            <a:ext cx="4274725"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右箭头 5"/>
          <p:cNvSpPr/>
          <p:nvPr/>
        </p:nvSpPr>
        <p:spPr bwMode="auto">
          <a:xfrm>
            <a:off x="3203848" y="4689140"/>
            <a:ext cx="1296144" cy="540060"/>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414268245"/>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化简得到</a:t>
            </a:r>
            <a:endParaRPr lang="zh-CN" altLang="en-US" dirty="0"/>
          </a:p>
        </p:txBody>
      </p:sp>
      <p:sp>
        <p:nvSpPr>
          <p:cNvPr id="4" name="日期占位符 3"/>
          <p:cNvSpPr>
            <a:spLocks noGrp="1"/>
          </p:cNvSpPr>
          <p:nvPr>
            <p:ph type="dt" sz="half" idx="10"/>
          </p:nvPr>
        </p:nvSpPr>
        <p:spPr/>
        <p:txBody>
          <a:bodyPr/>
          <a:lstStyle/>
          <a:p>
            <a:pPr>
              <a:defRPr/>
            </a:pPr>
            <a:fld id="{6B8C991F-A527-421A-A142-B93CE40EDF80}" type="datetime1">
              <a:rPr lang="zh-CN" altLang="en-US" smtClean="0"/>
              <a:pPr>
                <a:defRPr/>
              </a:pPr>
              <a:t>2020/10/10</a:t>
            </a:fld>
            <a:endParaRPr lang="en-US" altLang="zh-CN"/>
          </a:p>
        </p:txBody>
      </p:sp>
      <p:sp>
        <p:nvSpPr>
          <p:cNvPr id="5" name="灯片编号占位符 4"/>
          <p:cNvSpPr>
            <a:spLocks noGrp="1"/>
          </p:cNvSpPr>
          <p:nvPr>
            <p:ph type="sldNum" sz="quarter" idx="12"/>
          </p:nvPr>
        </p:nvSpPr>
        <p:spPr/>
        <p:txBody>
          <a:bodyPr/>
          <a:lstStyle/>
          <a:p>
            <a:pPr>
              <a:defRPr/>
            </a:pPr>
            <a:fld id="{DC6DBBA1-C0BD-4AB1-9A7A-2146138EA9CF}" type="slidenum">
              <a:rPr lang="en-US" altLang="zh-CN" smtClean="0"/>
              <a:pPr>
                <a:defRPr/>
              </a:pPr>
              <a:t>26</a:t>
            </a:fld>
            <a:endParaRPr lang="en-US" altLang="zh-CN"/>
          </a:p>
        </p:txBody>
      </p:sp>
      <p:pic>
        <p:nvPicPr>
          <p:cNvPr id="217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68" y="1893972"/>
            <a:ext cx="5260512"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70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1858536"/>
            <a:ext cx="3517117"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右箭头 5"/>
          <p:cNvSpPr/>
          <p:nvPr/>
        </p:nvSpPr>
        <p:spPr bwMode="auto">
          <a:xfrm>
            <a:off x="4427984" y="3068960"/>
            <a:ext cx="724008" cy="409756"/>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pic>
        <p:nvPicPr>
          <p:cNvPr id="2170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7691" y="4653136"/>
            <a:ext cx="3020585" cy="2132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下箭头 6"/>
          <p:cNvSpPr/>
          <p:nvPr/>
        </p:nvSpPr>
        <p:spPr bwMode="auto">
          <a:xfrm>
            <a:off x="4644008" y="4293096"/>
            <a:ext cx="507984" cy="648072"/>
          </a:xfrm>
          <a:prstGeom prst="down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688630120"/>
      </p:ext>
    </p:extLst>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pPr>
              <a:defRPr/>
            </a:pPr>
            <a:fld id="{6B8C991F-A527-421A-A142-B93CE40EDF80}" type="datetime1">
              <a:rPr lang="zh-CN" altLang="en-US" smtClean="0"/>
              <a:pPr>
                <a:defRPr/>
              </a:pPr>
              <a:t>2020/10/10</a:t>
            </a:fld>
            <a:endParaRPr lang="en-US" altLang="zh-CN"/>
          </a:p>
        </p:txBody>
      </p:sp>
      <p:sp>
        <p:nvSpPr>
          <p:cNvPr id="5" name="灯片编号占位符 4"/>
          <p:cNvSpPr>
            <a:spLocks noGrp="1"/>
          </p:cNvSpPr>
          <p:nvPr>
            <p:ph type="sldNum" sz="quarter" idx="12"/>
          </p:nvPr>
        </p:nvSpPr>
        <p:spPr/>
        <p:txBody>
          <a:bodyPr/>
          <a:lstStyle/>
          <a:p>
            <a:pPr>
              <a:defRPr/>
            </a:pPr>
            <a:fld id="{DC6DBBA1-C0BD-4AB1-9A7A-2146138EA9CF}" type="slidenum">
              <a:rPr lang="en-US" altLang="zh-CN" smtClean="0"/>
              <a:pPr>
                <a:defRPr/>
              </a:pPr>
              <a:t>27</a:t>
            </a:fld>
            <a:endParaRPr lang="en-US" altLang="zh-CN"/>
          </a:p>
        </p:txBody>
      </p:sp>
      <p:pic>
        <p:nvPicPr>
          <p:cNvPr id="2181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060848"/>
            <a:ext cx="4125923"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11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1461" r="6897"/>
          <a:stretch/>
        </p:blipFill>
        <p:spPr bwMode="auto">
          <a:xfrm>
            <a:off x="4815438" y="2420888"/>
            <a:ext cx="4217671"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右箭头 5"/>
          <p:cNvSpPr/>
          <p:nvPr/>
        </p:nvSpPr>
        <p:spPr bwMode="auto">
          <a:xfrm>
            <a:off x="4067944" y="3645024"/>
            <a:ext cx="864096" cy="504056"/>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06490590"/>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371600"/>
            <a:ext cx="8382000" cy="761256"/>
          </a:xfrm>
        </p:spPr>
        <p:txBody>
          <a:bodyPr/>
          <a:lstStyle/>
          <a:p>
            <a:r>
              <a:rPr lang="zh-CN" altLang="en-US" dirty="0" smtClean="0"/>
              <a:t>化简</a:t>
            </a:r>
            <a:endParaRPr lang="zh-CN" altLang="en-US" dirty="0"/>
          </a:p>
        </p:txBody>
      </p:sp>
      <p:sp>
        <p:nvSpPr>
          <p:cNvPr id="4" name="日期占位符 3"/>
          <p:cNvSpPr>
            <a:spLocks noGrp="1"/>
          </p:cNvSpPr>
          <p:nvPr>
            <p:ph type="dt" sz="half" idx="10"/>
          </p:nvPr>
        </p:nvSpPr>
        <p:spPr/>
        <p:txBody>
          <a:bodyPr/>
          <a:lstStyle/>
          <a:p>
            <a:pPr>
              <a:defRPr/>
            </a:pPr>
            <a:fld id="{6B8C991F-A527-421A-A142-B93CE40EDF80}" type="datetime1">
              <a:rPr lang="zh-CN" altLang="en-US" smtClean="0"/>
              <a:pPr>
                <a:defRPr/>
              </a:pPr>
              <a:t>2020/10/10</a:t>
            </a:fld>
            <a:endParaRPr lang="en-US" altLang="zh-CN"/>
          </a:p>
        </p:txBody>
      </p:sp>
      <p:sp>
        <p:nvSpPr>
          <p:cNvPr id="5" name="灯片编号占位符 4"/>
          <p:cNvSpPr>
            <a:spLocks noGrp="1"/>
          </p:cNvSpPr>
          <p:nvPr>
            <p:ph type="sldNum" sz="quarter" idx="12"/>
          </p:nvPr>
        </p:nvSpPr>
        <p:spPr/>
        <p:txBody>
          <a:bodyPr/>
          <a:lstStyle/>
          <a:p>
            <a:pPr>
              <a:defRPr/>
            </a:pPr>
            <a:fld id="{DC6DBBA1-C0BD-4AB1-9A7A-2146138EA9CF}" type="slidenum">
              <a:rPr lang="en-US" altLang="zh-CN" smtClean="0"/>
              <a:pPr>
                <a:defRPr/>
              </a:pPr>
              <a:t>28</a:t>
            </a:fld>
            <a:endParaRPr lang="en-US" altLang="zh-CN"/>
          </a:p>
        </p:txBody>
      </p:sp>
      <p:pic>
        <p:nvPicPr>
          <p:cNvPr id="2191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196752"/>
            <a:ext cx="6078598"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83568" y="4941168"/>
            <a:ext cx="4392487" cy="1200329"/>
          </a:xfrm>
          <a:prstGeom prst="rect">
            <a:avLst/>
          </a:prstGeom>
          <a:noFill/>
        </p:spPr>
        <p:txBody>
          <a:bodyPr wrap="square" rtlCol="0">
            <a:spAutoFit/>
          </a:bodyPr>
          <a:lstStyle/>
          <a:p>
            <a:r>
              <a:rPr lang="zh-CN" altLang="en-US" dirty="0" smtClean="0"/>
              <a:t>从而发现该电路实现了异或的功能，从而可以简化为使用异或门实现。</a:t>
            </a:r>
            <a:endParaRPr lang="zh-CN" altLang="en-US" dirty="0"/>
          </a:p>
        </p:txBody>
      </p:sp>
      <p:pic>
        <p:nvPicPr>
          <p:cNvPr id="2191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6360" y="4365104"/>
            <a:ext cx="2475454"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5574514"/>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0AF86ACD-072E-4408-A3B2-01DBCE3B8A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A3B046D-51CC-4DB2-BCCA-792DF1931942}" type="slidenum">
              <a:rPr lang="en-US" altLang="zh-CN" smtClean="0"/>
              <a:pPr>
                <a:defRPr/>
              </a:pPr>
              <a:t>29</a:t>
            </a:fld>
            <a:endParaRPr lang="en-US" altLang="zh-CN"/>
          </a:p>
        </p:txBody>
      </p:sp>
      <p:graphicFrame>
        <p:nvGraphicFramePr>
          <p:cNvPr id="92162" name="Object 2"/>
          <p:cNvGraphicFramePr>
            <a:graphicFrameLocks noChangeAspect="1"/>
          </p:cNvGraphicFramePr>
          <p:nvPr/>
        </p:nvGraphicFramePr>
        <p:xfrm>
          <a:off x="3532188" y="762000"/>
          <a:ext cx="4849812" cy="2971800"/>
        </p:xfrm>
        <a:graphic>
          <a:graphicData uri="http://schemas.openxmlformats.org/presentationml/2006/ole">
            <mc:AlternateContent xmlns:mc="http://schemas.openxmlformats.org/markup-compatibility/2006">
              <mc:Choice xmlns:v="urn:schemas-microsoft-com:vml" Requires="v">
                <p:oleObj spid="_x0000_s26692" name="Picture" r:id="rId6" imgW="1752600" imgH="1095375" progId="Word.Picture.8">
                  <p:embed/>
                </p:oleObj>
              </mc:Choice>
              <mc:Fallback>
                <p:oleObj name="Picture" r:id="rId6" imgW="1752600" imgH="1095375" progId="Word.Picture.8">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t="-2702" b="-2702"/>
                      <a:stretch>
                        <a:fillRect/>
                      </a:stretch>
                    </p:blipFill>
                    <p:spPr bwMode="auto">
                      <a:xfrm>
                        <a:off x="3532188" y="762000"/>
                        <a:ext cx="4849812" cy="2971800"/>
                      </a:xfrm>
                      <a:prstGeom prst="rect">
                        <a:avLst/>
                      </a:prstGeom>
                      <a:solidFill>
                        <a:srgbClr val="F8F8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3" name="Object 3"/>
          <p:cNvGraphicFramePr>
            <a:graphicFrameLocks noChangeAspect="1"/>
          </p:cNvGraphicFramePr>
          <p:nvPr/>
        </p:nvGraphicFramePr>
        <p:xfrm>
          <a:off x="3214688" y="3814763"/>
          <a:ext cx="1285875" cy="611187"/>
        </p:xfrm>
        <a:graphic>
          <a:graphicData uri="http://schemas.openxmlformats.org/presentationml/2006/ole">
            <mc:AlternateContent xmlns:mc="http://schemas.openxmlformats.org/markup-compatibility/2006">
              <mc:Choice xmlns:v="urn:schemas-microsoft-com:vml" Requires="v">
                <p:oleObj spid="_x0000_s26693" name="公式" r:id="rId8" imgW="508000" imgH="241300" progId="Equation.3">
                  <p:embed/>
                </p:oleObj>
              </mc:Choice>
              <mc:Fallback>
                <p:oleObj name="公式" r:id="rId8" imgW="508000" imgH="2413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4688" y="3814763"/>
                        <a:ext cx="1285875" cy="611187"/>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4" name="Object 4"/>
          <p:cNvGraphicFramePr>
            <a:graphicFrameLocks noChangeAspect="1"/>
          </p:cNvGraphicFramePr>
          <p:nvPr/>
        </p:nvGraphicFramePr>
        <p:xfrm>
          <a:off x="3214688" y="4500563"/>
          <a:ext cx="1285875" cy="600075"/>
        </p:xfrm>
        <a:graphic>
          <a:graphicData uri="http://schemas.openxmlformats.org/presentationml/2006/ole">
            <mc:AlternateContent xmlns:mc="http://schemas.openxmlformats.org/markup-compatibility/2006">
              <mc:Choice xmlns:v="urn:schemas-microsoft-com:vml" Requires="v">
                <p:oleObj spid="_x0000_s26694" name="公式" r:id="rId10" imgW="533169" imgH="241195" progId="Equation.3">
                  <p:embed/>
                </p:oleObj>
              </mc:Choice>
              <mc:Fallback>
                <p:oleObj name="公式" r:id="rId10" imgW="533169" imgH="241195"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4688" y="4500563"/>
                        <a:ext cx="1285875" cy="60007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5" name="Object 5"/>
          <p:cNvGraphicFramePr>
            <a:graphicFrameLocks noChangeAspect="1"/>
          </p:cNvGraphicFramePr>
          <p:nvPr/>
        </p:nvGraphicFramePr>
        <p:xfrm>
          <a:off x="3214688" y="5148263"/>
          <a:ext cx="1285875" cy="635000"/>
        </p:xfrm>
        <a:graphic>
          <a:graphicData uri="http://schemas.openxmlformats.org/presentationml/2006/ole">
            <mc:AlternateContent xmlns:mc="http://schemas.openxmlformats.org/markup-compatibility/2006">
              <mc:Choice xmlns:v="urn:schemas-microsoft-com:vml" Requires="v">
                <p:oleObj spid="_x0000_s26695" name="公式" r:id="rId12" imgW="507780" imgH="253890" progId="Equation.3">
                  <p:embed/>
                </p:oleObj>
              </mc:Choice>
              <mc:Fallback>
                <p:oleObj name="公式" r:id="rId12" imgW="507780" imgH="25389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14688" y="5148263"/>
                        <a:ext cx="1285875" cy="6350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6" name="Object 6"/>
          <p:cNvGraphicFramePr>
            <a:graphicFrameLocks noChangeAspect="1"/>
          </p:cNvGraphicFramePr>
          <p:nvPr/>
        </p:nvGraphicFramePr>
        <p:xfrm>
          <a:off x="4648200" y="6172200"/>
          <a:ext cx="2438400" cy="438150"/>
        </p:xfrm>
        <a:graphic>
          <a:graphicData uri="http://schemas.openxmlformats.org/presentationml/2006/ole">
            <mc:AlternateContent xmlns:mc="http://schemas.openxmlformats.org/markup-compatibility/2006">
              <mc:Choice xmlns:v="urn:schemas-microsoft-com:vml" Requires="v">
                <p:oleObj spid="_x0000_s26696" name="公式" r:id="rId14" imgW="1193282" imgH="177723" progId="Equation.3">
                  <p:embed/>
                </p:oleObj>
              </mc:Choice>
              <mc:Fallback>
                <p:oleObj name="公式" r:id="rId14" imgW="1193282" imgH="177723" progId="Equation.3">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8200" y="6172200"/>
                        <a:ext cx="2438400" cy="43815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7" name="Object 7"/>
          <p:cNvGraphicFramePr>
            <a:graphicFrameLocks noChangeAspect="1"/>
          </p:cNvGraphicFramePr>
          <p:nvPr/>
        </p:nvGraphicFramePr>
        <p:xfrm>
          <a:off x="5143500" y="4500563"/>
          <a:ext cx="3810000" cy="714375"/>
        </p:xfrm>
        <a:graphic>
          <a:graphicData uri="http://schemas.openxmlformats.org/presentationml/2006/ole">
            <mc:AlternateContent xmlns:mc="http://schemas.openxmlformats.org/markup-compatibility/2006">
              <mc:Choice xmlns:v="urn:schemas-microsoft-com:vml" Requires="v">
                <p:oleObj spid="_x0000_s26697" name="公式" r:id="rId16" imgW="1548728" imgH="291973" progId="Equation.3">
                  <p:embed/>
                </p:oleObj>
              </mc:Choice>
              <mc:Fallback>
                <p:oleObj name="公式" r:id="rId16" imgW="1548728" imgH="291973" progId="Equation.3">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500563"/>
                        <a:ext cx="3810000" cy="71437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3" name="Object 13"/>
          <p:cNvGraphicFramePr>
            <a:graphicFrameLocks noChangeAspect="1"/>
          </p:cNvGraphicFramePr>
          <p:nvPr/>
        </p:nvGraphicFramePr>
        <p:xfrm>
          <a:off x="5786438" y="500063"/>
          <a:ext cx="268287" cy="501650"/>
        </p:xfrm>
        <a:graphic>
          <a:graphicData uri="http://schemas.openxmlformats.org/presentationml/2006/ole">
            <mc:AlternateContent xmlns:mc="http://schemas.openxmlformats.org/markup-compatibility/2006">
              <mc:Choice xmlns:v="urn:schemas-microsoft-com:vml" Requires="v">
                <p:oleObj spid="_x0000_s26698" name="公式" r:id="rId18" imgW="139579" imgH="215713" progId="Equation.3">
                  <p:embed/>
                </p:oleObj>
              </mc:Choice>
              <mc:Fallback>
                <p:oleObj name="公式" r:id="rId18" imgW="139579" imgH="215713" progId="Equation.3">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86438" y="500063"/>
                        <a:ext cx="268287" cy="50165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4" name="Object 14"/>
          <p:cNvGraphicFramePr>
            <a:graphicFrameLocks noChangeAspect="1"/>
          </p:cNvGraphicFramePr>
          <p:nvPr/>
        </p:nvGraphicFramePr>
        <p:xfrm>
          <a:off x="5643563" y="1643063"/>
          <a:ext cx="314325" cy="500062"/>
        </p:xfrm>
        <a:graphic>
          <a:graphicData uri="http://schemas.openxmlformats.org/presentationml/2006/ole">
            <mc:AlternateContent xmlns:mc="http://schemas.openxmlformats.org/markup-compatibility/2006">
              <mc:Choice xmlns:v="urn:schemas-microsoft-com:vml" Requires="v">
                <p:oleObj spid="_x0000_s26699" name="公式" r:id="rId20" imgW="164885" imgH="215619" progId="Equation.3">
                  <p:embed/>
                </p:oleObj>
              </mc:Choice>
              <mc:Fallback>
                <p:oleObj name="公式" r:id="rId20" imgW="164885" imgH="215619" progId="Equation.3">
                  <p:embed/>
                  <p:pic>
                    <p:nvPicPr>
                      <p:cNvPr id="0" name="Object 1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43563" y="1643063"/>
                        <a:ext cx="314325" cy="500062"/>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5" name="Object 15"/>
          <p:cNvGraphicFramePr>
            <a:graphicFrameLocks noChangeAspect="1"/>
          </p:cNvGraphicFramePr>
          <p:nvPr/>
        </p:nvGraphicFramePr>
        <p:xfrm>
          <a:off x="5654675" y="2590800"/>
          <a:ext cx="288925" cy="533400"/>
        </p:xfrm>
        <a:graphic>
          <a:graphicData uri="http://schemas.openxmlformats.org/presentationml/2006/ole">
            <mc:AlternateContent xmlns:mc="http://schemas.openxmlformats.org/markup-compatibility/2006">
              <mc:Choice xmlns:v="urn:schemas-microsoft-com:vml" Requires="v">
                <p:oleObj spid="_x0000_s26700" name="公式" r:id="rId22" imgW="152334" imgH="228501" progId="Equation.3">
                  <p:embed/>
                </p:oleObj>
              </mc:Choice>
              <mc:Fallback>
                <p:oleObj name="公式" r:id="rId22" imgW="152334" imgH="228501" progId="Equation.3">
                  <p:embed/>
                  <p:pic>
                    <p:nvPicPr>
                      <p:cNvPr id="0" name="Object 1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54675" y="2590800"/>
                        <a:ext cx="288925" cy="5334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6" name="Object 16"/>
          <p:cNvGraphicFramePr>
            <a:graphicFrameLocks noChangeAspect="1"/>
          </p:cNvGraphicFramePr>
          <p:nvPr/>
        </p:nvGraphicFramePr>
        <p:xfrm>
          <a:off x="8429625" y="2000250"/>
          <a:ext cx="268288" cy="382588"/>
        </p:xfrm>
        <a:graphic>
          <a:graphicData uri="http://schemas.openxmlformats.org/presentationml/2006/ole">
            <mc:AlternateContent xmlns:mc="http://schemas.openxmlformats.org/markup-compatibility/2006">
              <mc:Choice xmlns:v="urn:schemas-microsoft-com:vml" Requires="v">
                <p:oleObj spid="_x0000_s26701" name="公式" r:id="rId24" imgW="139579" imgH="164957" progId="Equation.3">
                  <p:embed/>
                </p:oleObj>
              </mc:Choice>
              <mc:Fallback>
                <p:oleObj name="公式" r:id="rId24" imgW="139579" imgH="164957" progId="Equation.3">
                  <p:embed/>
                  <p:pic>
                    <p:nvPicPr>
                      <p:cNvPr id="0" name="Object 1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429625" y="2000250"/>
                        <a:ext cx="268288" cy="38258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20"/>
          <p:cNvSpPr txBox="1">
            <a:spLocks noChangeArrowheads="1"/>
          </p:cNvSpPr>
          <p:nvPr/>
        </p:nvSpPr>
        <p:spPr bwMode="auto">
          <a:xfrm>
            <a:off x="222250" y="3724275"/>
            <a:ext cx="1676400" cy="10763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逻辑表达式</a:t>
            </a:r>
            <a:endParaRPr lang="zh-CN" altLang="en-US" sz="6000">
              <a:ea typeface="隶书" pitchFamily="49" charset="-122"/>
            </a:endParaRPr>
          </a:p>
        </p:txBody>
      </p:sp>
      <p:sp>
        <p:nvSpPr>
          <p:cNvPr id="21" name="AutoShape 21"/>
          <p:cNvSpPr>
            <a:spLocks noChangeArrowheads="1"/>
          </p:cNvSpPr>
          <p:nvPr/>
        </p:nvSpPr>
        <p:spPr bwMode="auto">
          <a:xfrm>
            <a:off x="755650" y="1295400"/>
            <a:ext cx="228600" cy="2438400"/>
          </a:xfrm>
          <a:prstGeom prst="downArrow">
            <a:avLst>
              <a:gd name="adj1" fmla="val 50000"/>
              <a:gd name="adj2" fmla="val 266667"/>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22" name="AutoShape 22"/>
          <p:cNvSpPr>
            <a:spLocks noChangeArrowheads="1"/>
          </p:cNvSpPr>
          <p:nvPr/>
        </p:nvSpPr>
        <p:spPr bwMode="auto">
          <a:xfrm>
            <a:off x="5715000" y="3733800"/>
            <a:ext cx="228600" cy="457200"/>
          </a:xfrm>
          <a:prstGeom prst="downArrow">
            <a:avLst>
              <a:gd name="adj1" fmla="val 50000"/>
              <a:gd name="adj2" fmla="val 50000"/>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23" name="Oval 23"/>
          <p:cNvSpPr>
            <a:spLocks noChangeArrowheads="1"/>
          </p:cNvSpPr>
          <p:nvPr/>
        </p:nvSpPr>
        <p:spPr bwMode="auto">
          <a:xfrm>
            <a:off x="6080125" y="366395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1  </a:t>
            </a:r>
          </a:p>
        </p:txBody>
      </p:sp>
      <p:sp>
        <p:nvSpPr>
          <p:cNvPr id="24" name="Oval 24"/>
          <p:cNvSpPr>
            <a:spLocks noChangeArrowheads="1"/>
          </p:cNvSpPr>
          <p:nvPr/>
        </p:nvSpPr>
        <p:spPr bwMode="auto">
          <a:xfrm>
            <a:off x="222250" y="198120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1  </a:t>
            </a:r>
          </a:p>
        </p:txBody>
      </p:sp>
      <p:sp>
        <p:nvSpPr>
          <p:cNvPr id="25" name="AutoShape 25"/>
          <p:cNvSpPr>
            <a:spLocks noChangeArrowheads="1"/>
          </p:cNvSpPr>
          <p:nvPr/>
        </p:nvSpPr>
        <p:spPr bwMode="auto">
          <a:xfrm>
            <a:off x="908050" y="4800600"/>
            <a:ext cx="228600" cy="685800"/>
          </a:xfrm>
          <a:prstGeom prst="downArrow">
            <a:avLst>
              <a:gd name="adj1" fmla="val 50000"/>
              <a:gd name="adj2" fmla="val 75000"/>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26" name="Text Box 26"/>
          <p:cNvSpPr txBox="1">
            <a:spLocks noChangeArrowheads="1"/>
          </p:cNvSpPr>
          <p:nvPr/>
        </p:nvSpPr>
        <p:spPr bwMode="auto">
          <a:xfrm>
            <a:off x="222250" y="5476875"/>
            <a:ext cx="1905000" cy="10763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最简与或表达式</a:t>
            </a:r>
            <a:endParaRPr lang="zh-CN" altLang="en-US" sz="6000">
              <a:ea typeface="隶书" pitchFamily="49" charset="-122"/>
            </a:endParaRPr>
          </a:p>
        </p:txBody>
      </p:sp>
      <p:sp>
        <p:nvSpPr>
          <p:cNvPr id="27" name="Text Box 27"/>
          <p:cNvSpPr txBox="1">
            <a:spLocks noChangeArrowheads="1"/>
          </p:cNvSpPr>
          <p:nvPr/>
        </p:nvSpPr>
        <p:spPr bwMode="auto">
          <a:xfrm>
            <a:off x="527050" y="4800600"/>
            <a:ext cx="365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r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CC0066"/>
                </a:solidFill>
              </a:rPr>
              <a:t>化简</a:t>
            </a:r>
            <a:endParaRPr lang="zh-CN" altLang="en-US"/>
          </a:p>
        </p:txBody>
      </p:sp>
      <p:sp>
        <p:nvSpPr>
          <p:cNvPr id="28" name="Oval 28"/>
          <p:cNvSpPr>
            <a:spLocks noChangeArrowheads="1"/>
          </p:cNvSpPr>
          <p:nvPr/>
        </p:nvSpPr>
        <p:spPr bwMode="auto">
          <a:xfrm>
            <a:off x="1212850" y="488315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2  </a:t>
            </a:r>
          </a:p>
        </p:txBody>
      </p:sp>
      <p:sp>
        <p:nvSpPr>
          <p:cNvPr id="29" name="AutoShape 78"/>
          <p:cNvSpPr>
            <a:spLocks/>
          </p:cNvSpPr>
          <p:nvPr/>
        </p:nvSpPr>
        <p:spPr bwMode="auto">
          <a:xfrm>
            <a:off x="4641850" y="4051300"/>
            <a:ext cx="381000" cy="1524000"/>
          </a:xfrm>
          <a:prstGeom prst="rightBrace">
            <a:avLst>
              <a:gd name="adj1" fmla="val 33333"/>
              <a:gd name="adj2" fmla="val 50000"/>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lIns="0" rIns="0" anchor="ctr">
            <a:spAutoFit/>
          </a:bodyPr>
          <a:lstStyle/>
          <a:p>
            <a:endParaRPr lang="zh-CN" altLang="en-US"/>
          </a:p>
        </p:txBody>
      </p:sp>
      <p:sp>
        <p:nvSpPr>
          <p:cNvPr id="30" name="AutoShape 79"/>
          <p:cNvSpPr>
            <a:spLocks noChangeArrowheads="1"/>
          </p:cNvSpPr>
          <p:nvPr/>
        </p:nvSpPr>
        <p:spPr bwMode="auto">
          <a:xfrm>
            <a:off x="5632450" y="5410200"/>
            <a:ext cx="311150" cy="609600"/>
          </a:xfrm>
          <a:prstGeom prst="downArrow">
            <a:avLst>
              <a:gd name="adj1" fmla="val 50000"/>
              <a:gd name="adj2" fmla="val 48980"/>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31" name="Oval 80"/>
          <p:cNvSpPr>
            <a:spLocks noChangeArrowheads="1"/>
          </p:cNvSpPr>
          <p:nvPr/>
        </p:nvSpPr>
        <p:spPr bwMode="auto">
          <a:xfrm>
            <a:off x="6003925" y="541020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2  </a:t>
            </a:r>
          </a:p>
        </p:txBody>
      </p:sp>
      <p:sp>
        <p:nvSpPr>
          <p:cNvPr id="32" name="Text Box 82"/>
          <p:cNvSpPr txBox="1">
            <a:spLocks noChangeArrowheads="1"/>
          </p:cNvSpPr>
          <p:nvPr/>
        </p:nvSpPr>
        <p:spPr bwMode="auto">
          <a:xfrm>
            <a:off x="1092200" y="1524000"/>
            <a:ext cx="7302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rIns="0">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CC0066"/>
                </a:solidFill>
              </a:rPr>
              <a:t>从输入到输出逐级写出</a:t>
            </a:r>
          </a:p>
        </p:txBody>
      </p:sp>
      <p:sp>
        <p:nvSpPr>
          <p:cNvPr id="19" name="Text Box 19"/>
          <p:cNvSpPr txBox="1">
            <a:spLocks noChangeArrowheads="1"/>
          </p:cNvSpPr>
          <p:nvPr/>
        </p:nvSpPr>
        <p:spPr bwMode="auto">
          <a:xfrm>
            <a:off x="222250" y="685800"/>
            <a:ext cx="1524000" cy="588963"/>
          </a:xfrm>
          <a:prstGeom prst="rect">
            <a:avLst/>
          </a:prstGeom>
          <a:solidFill>
            <a:schemeClr val="bg1"/>
          </a:solidFill>
          <a:ln w="9525">
            <a:solidFill>
              <a:srgbClr val="CC3300"/>
            </a:solidFill>
            <a:miter lim="800000"/>
            <a:headEnd/>
            <a:tailEnd/>
          </a:ln>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逻辑图</a:t>
            </a:r>
            <a:endParaRPr lang="zh-CN" altLang="en-US">
              <a:ea typeface="幼圆"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additive="base">
                                        <p:cTn id="7" dur="500" fill="hold"/>
                                        <p:tgtEl>
                                          <p:spTgt spid="92162"/>
                                        </p:tgtEl>
                                        <p:attrNameLst>
                                          <p:attrName>ppt_x</p:attrName>
                                        </p:attrNameLst>
                                      </p:cBhvr>
                                      <p:tavLst>
                                        <p:tav tm="0">
                                          <p:val>
                                            <p:strVal val="0-#ppt_w/2"/>
                                          </p:val>
                                        </p:tav>
                                        <p:tav tm="100000">
                                          <p:val>
                                            <p:strVal val="#ppt_x"/>
                                          </p:val>
                                        </p:tav>
                                      </p:tavLst>
                                    </p:anim>
                                    <p:anim calcmode="lin" valueType="num">
                                      <p:cBhvr additive="base">
                                        <p:cTn id="8" dur="500" fill="hold"/>
                                        <p:tgtEl>
                                          <p:spTgt spid="921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nodeType="clickEffect">
                                  <p:stCondLst>
                                    <p:cond delay="0"/>
                                  </p:stCondLst>
                                  <p:childTnLst>
                                    <p:set>
                                      <p:cBhvr>
                                        <p:cTn id="12" dur="1" fill="hold">
                                          <p:stCondLst>
                                            <p:cond delay="0"/>
                                          </p:stCondLst>
                                        </p:cTn>
                                        <p:tgtEl>
                                          <p:spTgt spid="92173"/>
                                        </p:tgtEl>
                                        <p:attrNameLst>
                                          <p:attrName>style.visibility</p:attrName>
                                        </p:attrNameLst>
                                      </p:cBhvr>
                                      <p:to>
                                        <p:strVal val="visible"/>
                                      </p:to>
                                    </p:set>
                                    <p:anim calcmode="lin" valueType="num">
                                      <p:cBhvr additive="base">
                                        <p:cTn id="13" dur="500" fill="hold"/>
                                        <p:tgtEl>
                                          <p:spTgt spid="92173"/>
                                        </p:tgtEl>
                                        <p:attrNameLst>
                                          <p:attrName>ppt_x</p:attrName>
                                        </p:attrNameLst>
                                      </p:cBhvr>
                                      <p:tavLst>
                                        <p:tav tm="0">
                                          <p:val>
                                            <p:strVal val="1+#ppt_w/2"/>
                                          </p:val>
                                        </p:tav>
                                        <p:tav tm="100000">
                                          <p:val>
                                            <p:strVal val="#ppt_x"/>
                                          </p:val>
                                        </p:tav>
                                      </p:tavLst>
                                    </p:anim>
                                    <p:anim calcmode="lin" valueType="num">
                                      <p:cBhvr additive="base">
                                        <p:cTn id="14" dur="500" fill="hold"/>
                                        <p:tgtEl>
                                          <p:spTgt spid="92173"/>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3" fill="hold" nodeType="clickEffect">
                                  <p:stCondLst>
                                    <p:cond delay="0"/>
                                  </p:stCondLst>
                                  <p:childTnLst>
                                    <p:set>
                                      <p:cBhvr>
                                        <p:cTn id="18" dur="1" fill="hold">
                                          <p:stCondLst>
                                            <p:cond delay="0"/>
                                          </p:stCondLst>
                                        </p:cTn>
                                        <p:tgtEl>
                                          <p:spTgt spid="92174"/>
                                        </p:tgtEl>
                                        <p:attrNameLst>
                                          <p:attrName>style.visibility</p:attrName>
                                        </p:attrNameLst>
                                      </p:cBhvr>
                                      <p:to>
                                        <p:strVal val="visible"/>
                                      </p:to>
                                    </p:set>
                                    <p:anim calcmode="lin" valueType="num">
                                      <p:cBhvr additive="base">
                                        <p:cTn id="19" dur="500" fill="hold"/>
                                        <p:tgtEl>
                                          <p:spTgt spid="92174"/>
                                        </p:tgtEl>
                                        <p:attrNameLst>
                                          <p:attrName>ppt_x</p:attrName>
                                        </p:attrNameLst>
                                      </p:cBhvr>
                                      <p:tavLst>
                                        <p:tav tm="0">
                                          <p:val>
                                            <p:strVal val="1+#ppt_w/2"/>
                                          </p:val>
                                        </p:tav>
                                        <p:tav tm="100000">
                                          <p:val>
                                            <p:strVal val="#ppt_x"/>
                                          </p:val>
                                        </p:tav>
                                      </p:tavLst>
                                    </p:anim>
                                    <p:anim calcmode="lin" valueType="num">
                                      <p:cBhvr additive="base">
                                        <p:cTn id="20" dur="500" fill="hold"/>
                                        <p:tgtEl>
                                          <p:spTgt spid="92174"/>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3" fill="hold" nodeType="clickEffect">
                                  <p:stCondLst>
                                    <p:cond delay="0"/>
                                  </p:stCondLst>
                                  <p:childTnLst>
                                    <p:set>
                                      <p:cBhvr>
                                        <p:cTn id="24" dur="1" fill="hold">
                                          <p:stCondLst>
                                            <p:cond delay="0"/>
                                          </p:stCondLst>
                                        </p:cTn>
                                        <p:tgtEl>
                                          <p:spTgt spid="92175"/>
                                        </p:tgtEl>
                                        <p:attrNameLst>
                                          <p:attrName>style.visibility</p:attrName>
                                        </p:attrNameLst>
                                      </p:cBhvr>
                                      <p:to>
                                        <p:strVal val="visible"/>
                                      </p:to>
                                    </p:set>
                                    <p:anim calcmode="lin" valueType="num">
                                      <p:cBhvr additive="base">
                                        <p:cTn id="25" dur="500" fill="hold"/>
                                        <p:tgtEl>
                                          <p:spTgt spid="92175"/>
                                        </p:tgtEl>
                                        <p:attrNameLst>
                                          <p:attrName>ppt_x</p:attrName>
                                        </p:attrNameLst>
                                      </p:cBhvr>
                                      <p:tavLst>
                                        <p:tav tm="0">
                                          <p:val>
                                            <p:strVal val="1+#ppt_w/2"/>
                                          </p:val>
                                        </p:tav>
                                        <p:tav tm="100000">
                                          <p:val>
                                            <p:strVal val="#ppt_x"/>
                                          </p:val>
                                        </p:tav>
                                      </p:tavLst>
                                    </p:anim>
                                    <p:anim calcmode="lin" valueType="num">
                                      <p:cBhvr additive="base">
                                        <p:cTn id="26" dur="500" fill="hold"/>
                                        <p:tgtEl>
                                          <p:spTgt spid="92175"/>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3" fill="hold" nodeType="clickEffect">
                                  <p:stCondLst>
                                    <p:cond delay="0"/>
                                  </p:stCondLst>
                                  <p:childTnLst>
                                    <p:set>
                                      <p:cBhvr>
                                        <p:cTn id="30" dur="1" fill="hold">
                                          <p:stCondLst>
                                            <p:cond delay="0"/>
                                          </p:stCondLst>
                                        </p:cTn>
                                        <p:tgtEl>
                                          <p:spTgt spid="92176"/>
                                        </p:tgtEl>
                                        <p:attrNameLst>
                                          <p:attrName>style.visibility</p:attrName>
                                        </p:attrNameLst>
                                      </p:cBhvr>
                                      <p:to>
                                        <p:strVal val="visible"/>
                                      </p:to>
                                    </p:set>
                                    <p:anim calcmode="lin" valueType="num">
                                      <p:cBhvr additive="base">
                                        <p:cTn id="31" dur="500" fill="hold"/>
                                        <p:tgtEl>
                                          <p:spTgt spid="92176"/>
                                        </p:tgtEl>
                                        <p:attrNameLst>
                                          <p:attrName>ppt_x</p:attrName>
                                        </p:attrNameLst>
                                      </p:cBhvr>
                                      <p:tavLst>
                                        <p:tav tm="0">
                                          <p:val>
                                            <p:strVal val="1+#ppt_w/2"/>
                                          </p:val>
                                        </p:tav>
                                        <p:tav tm="100000">
                                          <p:val>
                                            <p:strVal val="#ppt_x"/>
                                          </p:val>
                                        </p:tav>
                                      </p:tavLst>
                                    </p:anim>
                                    <p:anim calcmode="lin" valueType="num">
                                      <p:cBhvr additive="base">
                                        <p:cTn id="32" dur="500" fill="hold"/>
                                        <p:tgtEl>
                                          <p:spTgt spid="92176"/>
                                        </p:tgtEl>
                                        <p:attrNameLst>
                                          <p:attrName>ppt_y</p:attrName>
                                        </p:attrNameLst>
                                      </p:cBhvr>
                                      <p:tavLst>
                                        <p:tav tm="0">
                                          <p:val>
                                            <p:strVal val="0-#ppt_h/2"/>
                                          </p:val>
                                        </p:tav>
                                        <p:tav tm="100000">
                                          <p:val>
                                            <p:strVal val="#ppt_y"/>
                                          </p:val>
                                        </p:tav>
                                      </p:tavLst>
                                    </p:anim>
                                  </p:childTnLst>
                                </p:cTn>
                              </p:par>
                            </p:childTnLst>
                          </p:cTn>
                        </p:par>
                        <p:par>
                          <p:cTn id="33" fill="hold" nodeType="afterGroup">
                            <p:stCondLst>
                              <p:cond delay="500"/>
                            </p:stCondLst>
                            <p:childTnLst>
                              <p:par>
                                <p:cTn id="34" presetID="16" presetClass="entr" presetSubtype="37" fill="hold" nodeType="afterEffect">
                                  <p:stCondLst>
                                    <p:cond delay="0"/>
                                  </p:stCondLst>
                                  <p:childTnLst>
                                    <p:set>
                                      <p:cBhvr>
                                        <p:cTn id="35" dur="1" fill="hold">
                                          <p:stCondLst>
                                            <p:cond delay="0"/>
                                          </p:stCondLst>
                                        </p:cTn>
                                        <p:tgtEl>
                                          <p:spTgt spid="92163"/>
                                        </p:tgtEl>
                                        <p:attrNameLst>
                                          <p:attrName>style.visibility</p:attrName>
                                        </p:attrNameLst>
                                      </p:cBhvr>
                                      <p:to>
                                        <p:strVal val="visible"/>
                                      </p:to>
                                    </p:set>
                                    <p:animEffect transition="in" filter="barn(outVertical)">
                                      <p:cBhvr>
                                        <p:cTn id="36" dur="500"/>
                                        <p:tgtEl>
                                          <p:spTgt spid="92163"/>
                                        </p:tgtEl>
                                      </p:cBhvr>
                                    </p:animEffect>
                                  </p:childTnLst>
                                </p:cTn>
                              </p:par>
                            </p:childTnLst>
                          </p:cTn>
                        </p:par>
                        <p:par>
                          <p:cTn id="37" fill="hold" nodeType="afterGroup">
                            <p:stCondLst>
                              <p:cond delay="1000"/>
                            </p:stCondLst>
                            <p:childTnLst>
                              <p:par>
                                <p:cTn id="38" presetID="16" presetClass="entr" presetSubtype="37" fill="hold" nodeType="afterEffect">
                                  <p:stCondLst>
                                    <p:cond delay="0"/>
                                  </p:stCondLst>
                                  <p:childTnLst>
                                    <p:set>
                                      <p:cBhvr>
                                        <p:cTn id="39" dur="1" fill="hold">
                                          <p:stCondLst>
                                            <p:cond delay="0"/>
                                          </p:stCondLst>
                                        </p:cTn>
                                        <p:tgtEl>
                                          <p:spTgt spid="92164"/>
                                        </p:tgtEl>
                                        <p:attrNameLst>
                                          <p:attrName>style.visibility</p:attrName>
                                        </p:attrNameLst>
                                      </p:cBhvr>
                                      <p:to>
                                        <p:strVal val="visible"/>
                                      </p:to>
                                    </p:set>
                                    <p:animEffect transition="in" filter="barn(outVertical)">
                                      <p:cBhvr>
                                        <p:cTn id="40" dur="500"/>
                                        <p:tgtEl>
                                          <p:spTgt spid="92164"/>
                                        </p:tgtEl>
                                      </p:cBhvr>
                                    </p:animEffect>
                                  </p:childTnLst>
                                </p:cTn>
                              </p:par>
                            </p:childTnLst>
                          </p:cTn>
                        </p:par>
                        <p:par>
                          <p:cTn id="41" fill="hold" nodeType="afterGroup">
                            <p:stCondLst>
                              <p:cond delay="1500"/>
                            </p:stCondLst>
                            <p:childTnLst>
                              <p:par>
                                <p:cTn id="42" presetID="16" presetClass="entr" presetSubtype="37" fill="hold" nodeType="afterEffect">
                                  <p:stCondLst>
                                    <p:cond delay="0"/>
                                  </p:stCondLst>
                                  <p:childTnLst>
                                    <p:set>
                                      <p:cBhvr>
                                        <p:cTn id="43" dur="1" fill="hold">
                                          <p:stCondLst>
                                            <p:cond delay="0"/>
                                          </p:stCondLst>
                                        </p:cTn>
                                        <p:tgtEl>
                                          <p:spTgt spid="92165"/>
                                        </p:tgtEl>
                                        <p:attrNameLst>
                                          <p:attrName>style.visibility</p:attrName>
                                        </p:attrNameLst>
                                      </p:cBhvr>
                                      <p:to>
                                        <p:strVal val="visible"/>
                                      </p:to>
                                    </p:set>
                                    <p:animEffect transition="in" filter="barn(outVertical)">
                                      <p:cBhvr>
                                        <p:cTn id="44" dur="500"/>
                                        <p:tgtEl>
                                          <p:spTgt spid="92165"/>
                                        </p:tgtEl>
                                      </p:cBhvr>
                                    </p:animEffect>
                                  </p:childTnLst>
                                </p:cTn>
                              </p:par>
                            </p:childTnLst>
                          </p:cTn>
                        </p:par>
                        <p:par>
                          <p:cTn id="45" fill="hold" nodeType="afterGroup">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up)">
                                      <p:cBhvr>
                                        <p:cTn id="48" dur="500"/>
                                        <p:tgtEl>
                                          <p:spTgt spid="29"/>
                                        </p:tgtEl>
                                      </p:cBhvr>
                                    </p:animEffect>
                                  </p:childTnLst>
                                </p:cTn>
                              </p:par>
                            </p:childTnLst>
                          </p:cTn>
                        </p:par>
                        <p:par>
                          <p:cTn id="49" fill="hold" nodeType="afterGroup">
                            <p:stCondLst>
                              <p:cond delay="2500"/>
                            </p:stCondLst>
                            <p:childTnLst>
                              <p:par>
                                <p:cTn id="50" presetID="4" presetClass="entr" presetSubtype="32" fill="hold" nodeType="afterEffect">
                                  <p:stCondLst>
                                    <p:cond delay="0"/>
                                  </p:stCondLst>
                                  <p:childTnLst>
                                    <p:set>
                                      <p:cBhvr>
                                        <p:cTn id="51" dur="1" fill="hold">
                                          <p:stCondLst>
                                            <p:cond delay="0"/>
                                          </p:stCondLst>
                                        </p:cTn>
                                        <p:tgtEl>
                                          <p:spTgt spid="92167"/>
                                        </p:tgtEl>
                                        <p:attrNameLst>
                                          <p:attrName>style.visibility</p:attrName>
                                        </p:attrNameLst>
                                      </p:cBhvr>
                                      <p:to>
                                        <p:strVal val="visible"/>
                                      </p:to>
                                    </p:set>
                                    <p:animEffect transition="in" filter="box(out)">
                                      <p:cBhvr>
                                        <p:cTn id="52" dur="500"/>
                                        <p:tgtEl>
                                          <p:spTgt spid="92167"/>
                                        </p:tgtEl>
                                      </p:cBhvr>
                                    </p:animEffect>
                                  </p:childTnLst>
                                  <p:subTnLst>
                                    <p:audio>
                                      <p:cMediaNode>
                                        <p:cTn display="0" masterRel="sameClick">
                                          <p:stCondLst>
                                            <p:cond evt="begin" delay="0">
                                              <p:tn val="50"/>
                                            </p:cond>
                                          </p:stCondLst>
                                          <p:endCondLst>
                                            <p:cond evt="onStopAudio" delay="0">
                                              <p:tgtEl>
                                                <p:sldTgt/>
                                              </p:tgtEl>
                                            </p:cond>
                                          </p:endCondLst>
                                        </p:cTn>
                                        <p:tgtEl>
                                          <p:sndTgt r:embed="rId5"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up)">
                                      <p:cBhvr>
                                        <p:cTn id="57" dur="500"/>
                                        <p:tgtEl>
                                          <p:spTgt spid="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37" fill="hold" nodeType="clickEffect">
                                  <p:stCondLst>
                                    <p:cond delay="0"/>
                                  </p:stCondLst>
                                  <p:childTnLst>
                                    <p:set>
                                      <p:cBhvr>
                                        <p:cTn id="61" dur="1" fill="hold">
                                          <p:stCondLst>
                                            <p:cond delay="0"/>
                                          </p:stCondLst>
                                        </p:cTn>
                                        <p:tgtEl>
                                          <p:spTgt spid="92166"/>
                                        </p:tgtEl>
                                        <p:attrNameLst>
                                          <p:attrName>style.visibility</p:attrName>
                                        </p:attrNameLst>
                                      </p:cBhvr>
                                      <p:to>
                                        <p:strVal val="visible"/>
                                      </p:to>
                                    </p:set>
                                    <p:animEffect transition="in" filter="barn(outVertical)">
                                      <p:cBhvr>
                                        <p:cTn id="62" dur="500"/>
                                        <p:tgtEl>
                                          <p:spTgt spid="9216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up)">
                                      <p:cBhvr>
                                        <p:cTn id="67" dur="500"/>
                                        <p:tgtEl>
                                          <p:spTgt spid="19"/>
                                        </p:tgtEl>
                                      </p:cBhvr>
                                    </p:animEffect>
                                  </p:childTnLst>
                                </p:cTn>
                              </p:par>
                            </p:childTnLst>
                          </p:cTn>
                        </p:par>
                        <p:par>
                          <p:cTn id="68" fill="hold" nodeType="afterGroup">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up)">
                                      <p:cBhvr>
                                        <p:cTn id="71" dur="500"/>
                                        <p:tgtEl>
                                          <p:spTgt spid="21"/>
                                        </p:tgtEl>
                                      </p:cBhvr>
                                    </p:animEffect>
                                  </p:childTnLst>
                                </p:cTn>
                              </p:par>
                            </p:childTnLst>
                          </p:cTn>
                        </p:par>
                        <p:par>
                          <p:cTn id="72" fill="hold" nodeType="afterGroup">
                            <p:stCondLst>
                              <p:cond delay="1000"/>
                            </p:stCondLst>
                            <p:childTnLst>
                              <p:par>
                                <p:cTn id="73" presetID="1" presetClass="entr" presetSubtype="0" fill="hold" grpId="0" nodeType="afterEffect">
                                  <p:stCondLst>
                                    <p:cond delay="0"/>
                                  </p:stCondLst>
                                  <p:childTnLst>
                                    <p:set>
                                      <p:cBhvr>
                                        <p:cTn id="74" dur="1" fill="hold">
                                          <p:stCondLst>
                                            <p:cond delay="499"/>
                                          </p:stCondLst>
                                        </p:cTn>
                                        <p:tgtEl>
                                          <p:spTgt spid="24"/>
                                        </p:tgtEl>
                                        <p:attrNameLst>
                                          <p:attrName>style.visibility</p:attrName>
                                        </p:attrNameLst>
                                      </p:cBhvr>
                                      <p:to>
                                        <p:strVal val="visible"/>
                                      </p:to>
                                    </p:set>
                                  </p:childTnLst>
                                </p:cTn>
                              </p:par>
                            </p:childTnLst>
                          </p:cTn>
                        </p:par>
                        <p:par>
                          <p:cTn id="75" fill="hold" nodeType="afterGroup">
                            <p:stCondLst>
                              <p:cond delay="1500"/>
                            </p:stCondLst>
                            <p:childTnLst>
                              <p:par>
                                <p:cTn id="76" presetID="3" presetClass="entr" presetSubtype="10" fill="hold" grpId="0" nodeType="after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blinds(horizontal)">
                                      <p:cBhvr>
                                        <p:cTn id="78" dur="500"/>
                                        <p:tgtEl>
                                          <p:spTgt spid="3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wipe(up)">
                                      <p:cBhvr>
                                        <p:cTn id="83" dur="500"/>
                                        <p:tgtEl>
                                          <p:spTgt spid="20"/>
                                        </p:tgtEl>
                                      </p:cBhvr>
                                    </p:animEffect>
                                  </p:childTnLst>
                                </p:cTn>
                              </p:par>
                            </p:childTnLst>
                          </p:cTn>
                        </p:par>
                        <p:par>
                          <p:cTn id="84" fill="hold" nodeType="afterGroup">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up)">
                                      <p:cBhvr>
                                        <p:cTn id="87" dur="500"/>
                                        <p:tgtEl>
                                          <p:spTgt spid="22"/>
                                        </p:tgtEl>
                                      </p:cBhvr>
                                    </p:animEffect>
                                  </p:childTnLst>
                                </p:cTn>
                              </p:par>
                            </p:childTnLst>
                          </p:cTn>
                        </p:par>
                        <p:par>
                          <p:cTn id="88" fill="hold" nodeType="afterGroup">
                            <p:stCondLst>
                              <p:cond delay="1000"/>
                            </p:stCondLst>
                            <p:childTnLst>
                              <p:par>
                                <p:cTn id="89" presetID="1" presetClass="entr" presetSubtype="0" fill="hold" grpId="0" nodeType="afterEffect">
                                  <p:stCondLst>
                                    <p:cond delay="0"/>
                                  </p:stCondLst>
                                  <p:childTnLst>
                                    <p:set>
                                      <p:cBhvr>
                                        <p:cTn id="90" dur="1" fill="hold">
                                          <p:stCondLst>
                                            <p:cond delay="499"/>
                                          </p:stCondLst>
                                        </p:cTn>
                                        <p:tgtEl>
                                          <p:spTgt spid="2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wipe(up)">
                                      <p:cBhvr>
                                        <p:cTn id="95" dur="500"/>
                                        <p:tgtEl>
                                          <p:spTgt spid="25"/>
                                        </p:tgtEl>
                                      </p:cBhvr>
                                    </p:animEffect>
                                  </p:childTnLst>
                                </p:cTn>
                              </p:par>
                            </p:childTnLst>
                          </p:cTn>
                        </p:par>
                        <p:par>
                          <p:cTn id="96" fill="hold" nodeType="afterGroup">
                            <p:stCondLst>
                              <p:cond delay="500"/>
                            </p:stCondLst>
                            <p:childTnLst>
                              <p:par>
                                <p:cTn id="97" presetID="1" presetClass="entr" presetSubtype="0" fill="hold" grpId="0" nodeType="afterEffect">
                                  <p:stCondLst>
                                    <p:cond delay="0"/>
                                  </p:stCondLst>
                                  <p:childTnLst>
                                    <p:set>
                                      <p:cBhvr>
                                        <p:cTn id="98" dur="1" fill="hold">
                                          <p:stCondLst>
                                            <p:cond delay="499"/>
                                          </p:stCondLst>
                                        </p:cTn>
                                        <p:tgtEl>
                                          <p:spTgt spid="28"/>
                                        </p:tgtEl>
                                        <p:attrNameLst>
                                          <p:attrName>style.visibility</p:attrName>
                                        </p:attrNameLst>
                                      </p:cBhvr>
                                      <p:to>
                                        <p:strVal val="visible"/>
                                      </p:to>
                                    </p:set>
                                  </p:childTnLst>
                                </p:cTn>
                              </p:par>
                            </p:childTnLst>
                          </p:cTn>
                        </p:par>
                        <p:par>
                          <p:cTn id="99" fill="hold" nodeType="afterGroup">
                            <p:stCondLst>
                              <p:cond delay="1000"/>
                            </p:stCondLst>
                            <p:childTnLst>
                              <p:par>
                                <p:cTn id="100" presetID="9" presetClass="entr" presetSubtype="0" fill="hold" grpId="0" nodeType="afterEffect">
                                  <p:stCondLst>
                                    <p:cond delay="0"/>
                                  </p:stCondLst>
                                  <p:childTnLst>
                                    <p:set>
                                      <p:cBhvr>
                                        <p:cTn id="101" dur="1" fill="hold">
                                          <p:stCondLst>
                                            <p:cond delay="0"/>
                                          </p:stCondLst>
                                        </p:cTn>
                                        <p:tgtEl>
                                          <p:spTgt spid="27">
                                            <p:txEl>
                                              <p:pRg st="0" end="0"/>
                                            </p:txEl>
                                          </p:spTgt>
                                        </p:tgtEl>
                                        <p:attrNameLst>
                                          <p:attrName>style.visibility</p:attrName>
                                        </p:attrNameLst>
                                      </p:cBhvr>
                                      <p:to>
                                        <p:strVal val="visible"/>
                                      </p:to>
                                    </p:set>
                                    <p:animEffect transition="in" filter="dissolve">
                                      <p:cBhvr>
                                        <p:cTn id="102" dur="500"/>
                                        <p:tgtEl>
                                          <p:spTgt spid="27">
                                            <p:txEl>
                                              <p:pRg st="0" end="0"/>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wipe(up)">
                                      <p:cBhvr>
                                        <p:cTn id="107" dur="500"/>
                                        <p:tgtEl>
                                          <p:spTgt spid="26"/>
                                        </p:tgtEl>
                                      </p:cBhvr>
                                    </p:animEffect>
                                  </p:childTnLst>
                                </p:cTn>
                              </p:par>
                            </p:childTnLst>
                          </p:cTn>
                        </p:par>
                        <p:par>
                          <p:cTn id="108" fill="hold" nodeType="afterGroup">
                            <p:stCondLst>
                              <p:cond delay="500"/>
                            </p:stCondLst>
                            <p:childTnLst>
                              <p:par>
                                <p:cTn id="109" presetID="1" presetClass="entr" presetSubtype="0" fill="hold" grpId="0" nodeType="afterEffect">
                                  <p:stCondLst>
                                    <p:cond delay="0"/>
                                  </p:stCondLst>
                                  <p:childTnLst>
                                    <p:set>
                                      <p:cBhvr>
                                        <p:cTn id="110" dur="1" fill="hold">
                                          <p:stCondLst>
                                            <p:cond delay="49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autoUpdateAnimBg="0"/>
      <p:bldP spid="21" grpId="0" animBg="1"/>
      <p:bldP spid="22" grpId="0" animBg="1"/>
      <p:bldP spid="23" grpId="0" animBg="1" autoUpdateAnimBg="0"/>
      <p:bldP spid="24" grpId="0" animBg="1" autoUpdateAnimBg="0"/>
      <p:bldP spid="25" grpId="0" animBg="1"/>
      <p:bldP spid="26" grpId="0" animBg="1" autoUpdateAnimBg="0"/>
      <p:bldP spid="27" grpId="0" build="p" autoUpdateAnimBg="0" advAuto="0"/>
      <p:bldP spid="28" grpId="0" animBg="1" autoUpdateAnimBg="0"/>
      <p:bldP spid="29" grpId="0" animBg="1"/>
      <p:bldP spid="30" grpId="0" animBg="1"/>
      <p:bldP spid="31" grpId="0" animBg="1" autoUpdateAnimBg="0"/>
      <p:bldP spid="32" grpId="0" autoUpdateAnimBg="0"/>
      <p:bldP spid="19"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0AF86ACD-072E-4408-A3B2-01DBCE3B8A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0A9214FB-BB1D-49F6-90CC-D385092DA1EE}" type="slidenum">
              <a:rPr lang="en-US" altLang="zh-CN" smtClean="0"/>
              <a:pPr>
                <a:defRPr/>
              </a:pPr>
              <a:t>30</a:t>
            </a:fld>
            <a:endParaRPr lang="en-US" altLang="zh-CN"/>
          </a:p>
        </p:txBody>
      </p:sp>
      <p:graphicFrame>
        <p:nvGraphicFramePr>
          <p:cNvPr id="4" name="Object 2"/>
          <p:cNvGraphicFramePr>
            <a:graphicFrameLocks noChangeAspect="1"/>
          </p:cNvGraphicFramePr>
          <p:nvPr/>
        </p:nvGraphicFramePr>
        <p:xfrm>
          <a:off x="2286000" y="1524000"/>
          <a:ext cx="3440113" cy="5105400"/>
        </p:xfrm>
        <a:graphic>
          <a:graphicData uri="http://schemas.openxmlformats.org/presentationml/2006/ole">
            <mc:AlternateContent xmlns:mc="http://schemas.openxmlformats.org/markup-compatibility/2006">
              <mc:Choice xmlns:v="urn:schemas-microsoft-com:vml" Requires="v">
                <p:oleObj spid="_x0000_s27674" name="Document" r:id="rId5" imgW="1038225" imgH="2000250" progId="Word.Document.8">
                  <p:embed/>
                </p:oleObj>
              </mc:Choice>
              <mc:Fallback>
                <p:oleObj name="Document" r:id="rId5" imgW="1038225" imgH="2000250" progId="Word.Document.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t="-1393" b="8067"/>
                      <a:stretch>
                        <a:fillRect/>
                      </a:stretch>
                    </p:blipFill>
                    <p:spPr bwMode="auto">
                      <a:xfrm>
                        <a:off x="2286000" y="1524000"/>
                        <a:ext cx="3440113" cy="510540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6"/>
          <p:cNvSpPr txBox="1">
            <a:spLocks noChangeArrowheads="1"/>
          </p:cNvSpPr>
          <p:nvPr/>
        </p:nvSpPr>
        <p:spPr bwMode="auto">
          <a:xfrm>
            <a:off x="76200" y="152400"/>
            <a:ext cx="1905000" cy="1076325"/>
          </a:xfrm>
          <a:prstGeom prst="rect">
            <a:avLst/>
          </a:prstGeom>
          <a:solidFill>
            <a:schemeClr val="bg1"/>
          </a:solidFill>
          <a:ln w="9525">
            <a:solidFill>
              <a:srgbClr val="CC3300"/>
            </a:solidFill>
            <a:miter lim="800000"/>
            <a:headEnd/>
            <a:tailEnd/>
          </a:ln>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最简与或表达式</a:t>
            </a:r>
            <a:endParaRPr lang="zh-CN" altLang="en-US" sz="6000">
              <a:ea typeface="隶书" pitchFamily="49" charset="-122"/>
            </a:endParaRPr>
          </a:p>
        </p:txBody>
      </p:sp>
      <p:sp>
        <p:nvSpPr>
          <p:cNvPr id="6" name="AutoShape 7"/>
          <p:cNvSpPr>
            <a:spLocks noChangeArrowheads="1"/>
          </p:cNvSpPr>
          <p:nvPr/>
        </p:nvSpPr>
        <p:spPr bwMode="auto">
          <a:xfrm>
            <a:off x="838200" y="1295400"/>
            <a:ext cx="228600" cy="1447800"/>
          </a:xfrm>
          <a:prstGeom prst="downArrow">
            <a:avLst>
              <a:gd name="adj1" fmla="val 50000"/>
              <a:gd name="adj2" fmla="val 158333"/>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7" name="Oval 8"/>
          <p:cNvSpPr>
            <a:spLocks noChangeArrowheads="1"/>
          </p:cNvSpPr>
          <p:nvPr/>
        </p:nvSpPr>
        <p:spPr bwMode="auto">
          <a:xfrm>
            <a:off x="1203325" y="175260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3  </a:t>
            </a:r>
          </a:p>
        </p:txBody>
      </p:sp>
      <p:sp>
        <p:nvSpPr>
          <p:cNvPr id="8" name="Text Box 9"/>
          <p:cNvSpPr txBox="1">
            <a:spLocks noChangeArrowheads="1"/>
          </p:cNvSpPr>
          <p:nvPr/>
        </p:nvSpPr>
        <p:spPr bwMode="auto">
          <a:xfrm>
            <a:off x="228600" y="2819400"/>
            <a:ext cx="1524000" cy="588963"/>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真值表</a:t>
            </a:r>
            <a:endParaRPr lang="zh-CN" altLang="en-US">
              <a:ea typeface="幼圆" pitchFamily="49" charset="-122"/>
            </a:endParaRPr>
          </a:p>
        </p:txBody>
      </p:sp>
      <p:graphicFrame>
        <p:nvGraphicFramePr>
          <p:cNvPr id="9" name="Object 3"/>
          <p:cNvGraphicFramePr>
            <a:graphicFrameLocks noChangeAspect="1"/>
          </p:cNvGraphicFramePr>
          <p:nvPr/>
        </p:nvGraphicFramePr>
        <p:xfrm>
          <a:off x="2895600" y="298450"/>
          <a:ext cx="2587625" cy="463550"/>
        </p:xfrm>
        <a:graphic>
          <a:graphicData uri="http://schemas.openxmlformats.org/presentationml/2006/ole">
            <mc:AlternateContent xmlns:mc="http://schemas.openxmlformats.org/markup-compatibility/2006">
              <mc:Choice xmlns:v="urn:schemas-microsoft-com:vml" Requires="v">
                <p:oleObj spid="_x0000_s27675" name="公式" r:id="rId7" imgW="1193282" imgH="177723" progId="Equation.3">
                  <p:embed/>
                </p:oleObj>
              </mc:Choice>
              <mc:Fallback>
                <p:oleObj name="公式" r:id="rId7" imgW="1193282" imgH="177723"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298450"/>
                        <a:ext cx="2587625" cy="46355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AutoShape 11"/>
          <p:cNvSpPr>
            <a:spLocks noChangeArrowheads="1"/>
          </p:cNvSpPr>
          <p:nvPr/>
        </p:nvSpPr>
        <p:spPr bwMode="auto">
          <a:xfrm>
            <a:off x="3886200" y="838200"/>
            <a:ext cx="304800" cy="609600"/>
          </a:xfrm>
          <a:prstGeom prst="downArrow">
            <a:avLst>
              <a:gd name="adj1" fmla="val 50000"/>
              <a:gd name="adj2" fmla="val 50000"/>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11" name="Oval 12"/>
          <p:cNvSpPr>
            <a:spLocks noChangeArrowheads="1"/>
          </p:cNvSpPr>
          <p:nvPr/>
        </p:nvSpPr>
        <p:spPr bwMode="auto">
          <a:xfrm>
            <a:off x="4251325" y="84455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3  </a:t>
            </a:r>
          </a:p>
        </p:txBody>
      </p:sp>
      <p:sp>
        <p:nvSpPr>
          <p:cNvPr id="12" name="AutoShape 13"/>
          <p:cNvSpPr>
            <a:spLocks noChangeArrowheads="1"/>
          </p:cNvSpPr>
          <p:nvPr/>
        </p:nvSpPr>
        <p:spPr bwMode="auto">
          <a:xfrm>
            <a:off x="838200" y="3435350"/>
            <a:ext cx="228600" cy="908050"/>
          </a:xfrm>
          <a:prstGeom prst="downArrow">
            <a:avLst>
              <a:gd name="adj1" fmla="val 50000"/>
              <a:gd name="adj2" fmla="val 99306"/>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13" name="Oval 14"/>
          <p:cNvSpPr>
            <a:spLocks noChangeArrowheads="1"/>
          </p:cNvSpPr>
          <p:nvPr/>
        </p:nvSpPr>
        <p:spPr bwMode="auto">
          <a:xfrm>
            <a:off x="1203325" y="358775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4  </a:t>
            </a:r>
          </a:p>
        </p:txBody>
      </p:sp>
      <p:sp>
        <p:nvSpPr>
          <p:cNvPr id="14" name="Text Box 15"/>
          <p:cNvSpPr txBox="1">
            <a:spLocks noChangeArrowheads="1"/>
          </p:cNvSpPr>
          <p:nvPr/>
        </p:nvSpPr>
        <p:spPr bwMode="auto">
          <a:xfrm>
            <a:off x="76200" y="4419600"/>
            <a:ext cx="1905000" cy="10763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电路的逻辑功能</a:t>
            </a:r>
            <a:endParaRPr lang="zh-CN" altLang="en-US" sz="6000">
              <a:ea typeface="隶书" pitchFamily="49" charset="-122"/>
            </a:endParaRPr>
          </a:p>
        </p:txBody>
      </p:sp>
      <p:sp>
        <p:nvSpPr>
          <p:cNvPr id="15" name="Text Box 18"/>
          <p:cNvSpPr txBox="1">
            <a:spLocks noChangeArrowheads="1"/>
          </p:cNvSpPr>
          <p:nvPr/>
        </p:nvSpPr>
        <p:spPr bwMode="auto">
          <a:xfrm>
            <a:off x="6781800" y="1851025"/>
            <a:ext cx="20574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当输入</a:t>
            </a:r>
            <a:r>
              <a:rPr lang="en-US" altLang="zh-CN"/>
              <a:t>A</a:t>
            </a:r>
            <a:r>
              <a:rPr lang="zh-CN" altLang="en-US"/>
              <a:t>、</a:t>
            </a:r>
            <a:r>
              <a:rPr lang="en-US" altLang="zh-CN"/>
              <a:t>B</a:t>
            </a:r>
            <a:r>
              <a:rPr lang="zh-CN" altLang="en-US"/>
              <a:t>、</a:t>
            </a:r>
            <a:r>
              <a:rPr lang="en-US" altLang="zh-CN"/>
              <a:t>C</a:t>
            </a:r>
            <a:r>
              <a:rPr lang="zh-CN" altLang="en-US"/>
              <a:t>中有</a:t>
            </a:r>
            <a:r>
              <a:rPr lang="en-US" altLang="zh-CN">
                <a:latin typeface="宋体" pitchFamily="2" charset="-122"/>
              </a:rPr>
              <a:t>2</a:t>
            </a:r>
            <a:r>
              <a:rPr lang="zh-CN" altLang="en-US">
                <a:latin typeface="宋体" pitchFamily="2" charset="-122"/>
              </a:rPr>
              <a:t>个或</a:t>
            </a:r>
            <a:r>
              <a:rPr lang="en-US" altLang="zh-CN">
                <a:latin typeface="宋体" pitchFamily="2" charset="-122"/>
              </a:rPr>
              <a:t>3</a:t>
            </a:r>
            <a:r>
              <a:rPr lang="zh-CN" altLang="en-US">
                <a:latin typeface="宋体" pitchFamily="2" charset="-122"/>
              </a:rPr>
              <a:t>个为</a:t>
            </a:r>
            <a:r>
              <a:rPr lang="en-US" altLang="zh-CN">
                <a:latin typeface="宋体" pitchFamily="2" charset="-122"/>
              </a:rPr>
              <a:t>1</a:t>
            </a:r>
            <a:r>
              <a:rPr lang="zh-CN" altLang="en-US">
                <a:latin typeface="宋体" pitchFamily="2" charset="-122"/>
              </a:rPr>
              <a:t>时，输出</a:t>
            </a:r>
            <a:r>
              <a:rPr lang="en-US" altLang="zh-CN"/>
              <a:t>Y</a:t>
            </a:r>
            <a:r>
              <a:rPr lang="zh-CN" altLang="en-US">
                <a:latin typeface="宋体" pitchFamily="2" charset="-122"/>
              </a:rPr>
              <a:t>为</a:t>
            </a:r>
            <a:r>
              <a:rPr lang="en-US" altLang="zh-CN">
                <a:latin typeface="宋体" pitchFamily="2" charset="-122"/>
              </a:rPr>
              <a:t>1</a:t>
            </a:r>
            <a:r>
              <a:rPr lang="zh-CN" altLang="en-US">
                <a:latin typeface="宋体" pitchFamily="2" charset="-122"/>
              </a:rPr>
              <a:t>，否则输出</a:t>
            </a:r>
            <a:r>
              <a:rPr lang="en-US" altLang="zh-CN"/>
              <a:t>Y</a:t>
            </a:r>
            <a:r>
              <a:rPr lang="zh-CN" altLang="en-US">
                <a:latin typeface="宋体" pitchFamily="2" charset="-122"/>
              </a:rPr>
              <a:t>为</a:t>
            </a:r>
            <a:r>
              <a:rPr lang="en-US" altLang="zh-CN">
                <a:latin typeface="宋体" pitchFamily="2" charset="-122"/>
              </a:rPr>
              <a:t>0</a:t>
            </a:r>
            <a:r>
              <a:rPr lang="zh-CN" altLang="en-US">
                <a:latin typeface="宋体" pitchFamily="2" charset="-122"/>
              </a:rPr>
              <a:t>。所以这个电路实际上是一种</a:t>
            </a:r>
            <a:r>
              <a:rPr lang="en-US" altLang="zh-CN">
                <a:latin typeface="宋体" pitchFamily="2" charset="-122"/>
              </a:rPr>
              <a:t>3</a:t>
            </a:r>
            <a:r>
              <a:rPr lang="zh-CN" altLang="en-US"/>
              <a:t>人表决用的组合电路：只要有</a:t>
            </a:r>
            <a:r>
              <a:rPr lang="en-US" altLang="zh-CN"/>
              <a:t>2</a:t>
            </a:r>
            <a:r>
              <a:rPr lang="zh-CN" altLang="en-US"/>
              <a:t>票或</a:t>
            </a:r>
            <a:r>
              <a:rPr lang="en-US" altLang="zh-CN"/>
              <a:t>3</a:t>
            </a:r>
            <a:r>
              <a:rPr lang="zh-CN" altLang="en-US"/>
              <a:t>票同意，表决就通过。</a:t>
            </a:r>
          </a:p>
        </p:txBody>
      </p:sp>
      <p:sp>
        <p:nvSpPr>
          <p:cNvPr id="16" name="AutoShape 19"/>
          <p:cNvSpPr>
            <a:spLocks noChangeArrowheads="1"/>
          </p:cNvSpPr>
          <p:nvPr/>
        </p:nvSpPr>
        <p:spPr bwMode="auto">
          <a:xfrm rot="-5400000">
            <a:off x="6130925" y="3775075"/>
            <a:ext cx="228600" cy="908050"/>
          </a:xfrm>
          <a:prstGeom prst="downArrow">
            <a:avLst>
              <a:gd name="adj1" fmla="val 50000"/>
              <a:gd name="adj2" fmla="val 99306"/>
            </a:avLst>
          </a:prstGeom>
          <a:solidFill>
            <a:srgbClr val="CC3300">
              <a:alpha val="50195"/>
            </a:srgbClr>
          </a:solidFill>
          <a:ln w="9525">
            <a:solidFill>
              <a:schemeClr val="tx1"/>
            </a:solidFill>
            <a:miter lim="800000"/>
            <a:headEnd/>
            <a:tailEnd/>
          </a:ln>
        </p:spPr>
        <p:txBody>
          <a:bodyPr vert="eaVert" wrap="none" anchor="ctr"/>
          <a:lstStyle/>
          <a:p>
            <a:endParaRPr lang="zh-CN" altLang="en-US"/>
          </a:p>
        </p:txBody>
      </p:sp>
      <p:sp>
        <p:nvSpPr>
          <p:cNvPr id="17" name="Oval 20"/>
          <p:cNvSpPr>
            <a:spLocks noChangeArrowheads="1"/>
          </p:cNvSpPr>
          <p:nvPr/>
        </p:nvSpPr>
        <p:spPr bwMode="auto">
          <a:xfrm>
            <a:off x="6003925" y="3435350"/>
            <a:ext cx="549275" cy="527050"/>
          </a:xfrm>
          <a:prstGeom prst="ellipse">
            <a:avLst/>
          </a:prstGeom>
          <a:noFill/>
          <a:ln w="95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spcBef>
                <a:spcPct val="50000"/>
              </a:spcBef>
            </a:pPr>
            <a:r>
              <a:rPr lang="en-US" altLang="zh-CN"/>
              <a:t> 4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37"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outVertical)">
                                      <p:cBhvr>
                                        <p:cTn id="24" dur="500"/>
                                        <p:tgtEl>
                                          <p:spTgt spid="9"/>
                                        </p:tgtEl>
                                      </p:cBhvr>
                                    </p:animEffect>
                                  </p:childTnLst>
                                </p:cTn>
                              </p:par>
                            </p:childTnLst>
                          </p:cTn>
                        </p:par>
                        <p:par>
                          <p:cTn id="25" fill="hold" nodeType="afterGroup">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500"/>
                                        <p:tgtEl>
                                          <p:spTgt spid="10"/>
                                        </p:tgtEl>
                                      </p:cBhvr>
                                    </p:animEffect>
                                  </p:childTnLst>
                                </p:cTn>
                              </p:par>
                            </p:childTnLst>
                          </p:cTn>
                        </p:par>
                        <p:par>
                          <p:cTn id="29" fill="hold" nodeType="afterGroup">
                            <p:stCondLst>
                              <p:cond delay="1000"/>
                            </p:stCondLst>
                            <p:childTnLst>
                              <p:par>
                                <p:cTn id="30" presetID="1" presetClass="entr" presetSubtype="0" fill="hold" grpId="0" nodeType="afterEffect">
                                  <p:stCondLst>
                                    <p:cond delay="0"/>
                                  </p:stCondLst>
                                  <p:childTnLst>
                                    <p:set>
                                      <p:cBhvr>
                                        <p:cTn id="31" dur="1" fill="hold">
                                          <p:stCondLst>
                                            <p:cond delay="499"/>
                                          </p:stCondLst>
                                        </p:cTn>
                                        <p:tgtEl>
                                          <p:spTgt spid="11"/>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dissolve">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up)">
                                      <p:cBhvr>
                                        <p:cTn id="41" dur="500"/>
                                        <p:tgtEl>
                                          <p:spTgt spid="12"/>
                                        </p:tgtEl>
                                      </p:cBhvr>
                                    </p:animEffect>
                                  </p:childTnLst>
                                </p:cTn>
                              </p:par>
                            </p:childTnLst>
                          </p:cTn>
                        </p:par>
                        <p:par>
                          <p:cTn id="42" fill="hold" nodeType="afterGroup">
                            <p:stCondLst>
                              <p:cond delay="500"/>
                            </p:stCondLst>
                            <p:childTnLst>
                              <p:par>
                                <p:cTn id="43" presetID="1" presetClass="entr" presetSubtype="0" fill="hold" grpId="0" nodeType="afterEffect">
                                  <p:stCondLst>
                                    <p:cond delay="0"/>
                                  </p:stCondLst>
                                  <p:childTnLst>
                                    <p:set>
                                      <p:cBhvr>
                                        <p:cTn id="44" dur="1" fill="hold">
                                          <p:stCondLst>
                                            <p:cond delay="499"/>
                                          </p:stCondLst>
                                        </p:cTn>
                                        <p:tgtEl>
                                          <p:spTgt spid="13"/>
                                        </p:tgtEl>
                                        <p:attrNameLst>
                                          <p:attrName>style.visibility</p:attrName>
                                        </p:attrNameLst>
                                      </p:cBhvr>
                                      <p:to>
                                        <p:strVal val="visible"/>
                                      </p:to>
                                    </p:set>
                                  </p:childTnLst>
                                </p:cTn>
                              </p:par>
                            </p:childTnLst>
                          </p:cTn>
                        </p:par>
                        <p:par>
                          <p:cTn id="45" fill="hold" nodeType="afterGroup">
                            <p:stCondLst>
                              <p:cond delay="1000"/>
                            </p:stCondLst>
                            <p:childTnLst>
                              <p:par>
                                <p:cTn id="46" presetID="22" presetClass="entr" presetSubtype="1"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500"/>
                                        <p:tgtEl>
                                          <p:spTgt spid="1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up)">
                                      <p:cBhvr>
                                        <p:cTn id="53" dur="500"/>
                                        <p:tgtEl>
                                          <p:spTgt spid="16"/>
                                        </p:tgtEl>
                                      </p:cBhvr>
                                    </p:animEffect>
                                  </p:childTnLst>
                                </p:cTn>
                              </p:par>
                            </p:childTnLst>
                          </p:cTn>
                        </p:par>
                        <p:par>
                          <p:cTn id="54" fill="hold" nodeType="afterGroup">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1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3" fill="hold" grpId="0" nodeType="clickEffect">
                                  <p:stCondLst>
                                    <p:cond delay="0"/>
                                  </p:stCondLst>
                                  <p:childTnLst>
                                    <p:set>
                                      <p:cBhvr>
                                        <p:cTn id="60" dur="1" fill="hold">
                                          <p:stCondLst>
                                            <p:cond delay="0"/>
                                          </p:stCondLst>
                                        </p:cTn>
                                        <p:tgtEl>
                                          <p:spTgt spid="15">
                                            <p:txEl>
                                              <p:pRg st="0" end="0"/>
                                            </p:txEl>
                                          </p:spTgt>
                                        </p:tgtEl>
                                        <p:attrNameLst>
                                          <p:attrName>style.visibility</p:attrName>
                                        </p:attrNameLst>
                                      </p:cBhvr>
                                      <p:to>
                                        <p:strVal val="visible"/>
                                      </p:to>
                                    </p:set>
                                    <p:anim calcmode="lin" valueType="num">
                                      <p:cBhvr additive="base">
                                        <p:cTn id="61"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p:bldP spid="7" grpId="0" animBg="1" autoUpdateAnimBg="0"/>
      <p:bldP spid="8" grpId="0" animBg="1" autoUpdateAnimBg="0"/>
      <p:bldP spid="10" grpId="0" animBg="1"/>
      <p:bldP spid="11" grpId="0" animBg="1" autoUpdateAnimBg="0"/>
      <p:bldP spid="12" grpId="0" animBg="1"/>
      <p:bldP spid="13" grpId="0" animBg="1" autoUpdateAnimBg="0"/>
      <p:bldP spid="14" grpId="0" animBg="1" autoUpdateAnimBg="0"/>
      <p:bldP spid="15" grpId="0" build="p" autoUpdateAnimBg="0"/>
      <p:bldP spid="16" grpId="0" animBg="1"/>
      <p:bldP spid="17"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904E673-0974-4CBB-BF0D-F64D9F48AAE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6AE91E1F-CC7E-4250-895F-2622A1A26E98}" type="slidenum">
              <a:rPr lang="en-US" altLang="zh-CN"/>
              <a:pPr>
                <a:defRPr/>
              </a:pPr>
              <a:t>31</a:t>
            </a:fld>
            <a:endParaRPr lang="en-US" altLang="zh-CN"/>
          </a:p>
        </p:txBody>
      </p:sp>
      <p:sp>
        <p:nvSpPr>
          <p:cNvPr id="28676" name="Rectangle 2"/>
          <p:cNvSpPr>
            <a:spLocks noGrp="1" noChangeArrowheads="1"/>
          </p:cNvSpPr>
          <p:nvPr>
            <p:ph type="body" idx="1"/>
          </p:nvPr>
        </p:nvSpPr>
        <p:spPr/>
        <p:txBody>
          <a:bodyPr/>
          <a:lstStyle/>
          <a:p>
            <a:pPr eaLnBrk="1" hangingPunct="1">
              <a:lnSpc>
                <a:spcPct val="90000"/>
              </a:lnSpc>
            </a:pPr>
            <a:r>
              <a:rPr lang="zh-CN" altLang="en-US" smtClean="0"/>
              <a:t>设计：由给定的逻辑功能或逻辑要求，求得实现这个功能或要求的逻辑电路</a:t>
            </a:r>
          </a:p>
          <a:p>
            <a:pPr eaLnBrk="1" hangingPunct="1">
              <a:lnSpc>
                <a:spcPct val="90000"/>
              </a:lnSpc>
            </a:pPr>
            <a:r>
              <a:rPr lang="zh-CN" altLang="en-US" smtClean="0"/>
              <a:t>设计步骤</a:t>
            </a:r>
          </a:p>
          <a:p>
            <a:pPr lvl="1" eaLnBrk="1" hangingPunct="1">
              <a:lnSpc>
                <a:spcPct val="90000"/>
              </a:lnSpc>
            </a:pPr>
            <a:r>
              <a:rPr lang="zh-CN" altLang="en-US" smtClean="0"/>
              <a:t>第一步，根据给定的逻辑要求建立真值表</a:t>
            </a:r>
          </a:p>
          <a:p>
            <a:pPr lvl="1" eaLnBrk="1" hangingPunct="1">
              <a:lnSpc>
                <a:spcPct val="90000"/>
              </a:lnSpc>
            </a:pPr>
            <a:r>
              <a:rPr lang="zh-CN" altLang="en-US" smtClean="0"/>
              <a:t>第二步，根据真值表写出逻辑函数表达式</a:t>
            </a:r>
          </a:p>
          <a:p>
            <a:pPr lvl="1" eaLnBrk="1" hangingPunct="1">
              <a:lnSpc>
                <a:spcPct val="90000"/>
              </a:lnSpc>
            </a:pPr>
            <a:r>
              <a:rPr lang="zh-CN" altLang="en-US" smtClean="0"/>
              <a:t>第三步，将逻辑函数化简并根据实际要求把函数表达式转换成适当的形式</a:t>
            </a:r>
          </a:p>
          <a:p>
            <a:pPr lvl="1" eaLnBrk="1" hangingPunct="1">
              <a:lnSpc>
                <a:spcPct val="90000"/>
              </a:lnSpc>
            </a:pPr>
            <a:r>
              <a:rPr lang="zh-CN" altLang="en-US" smtClean="0"/>
              <a:t>第四步，根据逻辑函数表达式画出逻辑电路图</a:t>
            </a:r>
          </a:p>
          <a:p>
            <a:pPr eaLnBrk="1" hangingPunct="1">
              <a:lnSpc>
                <a:spcPct val="90000"/>
              </a:lnSpc>
            </a:pPr>
            <a:r>
              <a:rPr lang="zh-CN" altLang="en-US" smtClean="0"/>
              <a:t>单输出组合逻辑电路的设计</a:t>
            </a:r>
          </a:p>
          <a:p>
            <a:pPr eaLnBrk="1" hangingPunct="1">
              <a:lnSpc>
                <a:spcPct val="90000"/>
              </a:lnSpc>
            </a:pPr>
            <a:r>
              <a:rPr lang="zh-CN" altLang="en-US" smtClean="0"/>
              <a:t>多输出组合逻辑电路的设计</a:t>
            </a:r>
          </a:p>
        </p:txBody>
      </p:sp>
      <p:sp>
        <p:nvSpPr>
          <p:cNvPr id="28677" name="Rectangle 3"/>
          <p:cNvSpPr>
            <a:spLocks noGrp="1" noChangeArrowheads="1"/>
          </p:cNvSpPr>
          <p:nvPr>
            <p:ph type="title"/>
          </p:nvPr>
        </p:nvSpPr>
        <p:spPr>
          <a:xfrm>
            <a:off x="1274763" y="533400"/>
            <a:ext cx="7793037" cy="609600"/>
          </a:xfrm>
        </p:spPr>
        <p:txBody>
          <a:bodyPr/>
          <a:lstStyle/>
          <a:p>
            <a:pPr eaLnBrk="1" hangingPunct="1"/>
            <a:r>
              <a:rPr lang="en-US" altLang="zh-CN" smtClean="0"/>
              <a:t>3.4 </a:t>
            </a:r>
            <a:r>
              <a:rPr lang="zh-CN" altLang="en-US" smtClean="0"/>
              <a:t>组合逻辑电路的设计</a:t>
            </a:r>
          </a:p>
        </p:txBody>
      </p:sp>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4368766-B7D8-400B-94AC-58A4492FF70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5B74B776-8BE3-4F37-991F-EF21088ADC08}" type="slidenum">
              <a:rPr lang="en-US" altLang="zh-CN"/>
              <a:pPr>
                <a:defRPr/>
              </a:pPr>
              <a:t>32</a:t>
            </a:fld>
            <a:endParaRPr lang="en-US" altLang="zh-CN"/>
          </a:p>
        </p:txBody>
      </p:sp>
      <p:sp>
        <p:nvSpPr>
          <p:cNvPr id="29700" name="Rectangle 2"/>
          <p:cNvSpPr>
            <a:spLocks noGrp="1" noChangeArrowheads="1"/>
          </p:cNvSpPr>
          <p:nvPr>
            <p:ph type="body" idx="1"/>
          </p:nvPr>
        </p:nvSpPr>
        <p:spPr/>
        <p:txBody>
          <a:bodyPr/>
          <a:lstStyle/>
          <a:p>
            <a:pPr eaLnBrk="1" hangingPunct="1"/>
            <a:r>
              <a:rPr lang="en-US" altLang="zh-CN" sz="2800" b="1" smtClean="0"/>
              <a:t>eg.1. </a:t>
            </a:r>
            <a:r>
              <a:rPr lang="zh-CN" altLang="en-US" sz="2800" b="1" smtClean="0"/>
              <a:t>用“与非”门设计一个检测</a:t>
            </a:r>
            <a:r>
              <a:rPr lang="en-US" altLang="zh-CN" sz="2800" b="1" smtClean="0"/>
              <a:t>X&gt;Y</a:t>
            </a:r>
            <a:r>
              <a:rPr lang="zh-CN" altLang="en-US" sz="2800" b="1" smtClean="0"/>
              <a:t>的电路，其中</a:t>
            </a:r>
            <a:r>
              <a:rPr lang="en-US" altLang="zh-CN" sz="2800" b="1" smtClean="0">
                <a:latin typeface="Times New Roman" pitchFamily="18" charset="0"/>
              </a:rPr>
              <a:t>X=</a:t>
            </a:r>
            <a:r>
              <a:rPr lang="en-US" altLang="zh-CN" sz="2800" b="1" i="1" smtClean="0">
                <a:latin typeface="Times New Roman" pitchFamily="18" charset="0"/>
              </a:rPr>
              <a:t>x</a:t>
            </a:r>
            <a:r>
              <a:rPr lang="en-US" altLang="zh-CN" sz="2800" b="1" i="1" baseline="-25000" smtClean="0">
                <a:latin typeface="Times New Roman" pitchFamily="18" charset="0"/>
              </a:rPr>
              <a:t>1</a:t>
            </a:r>
            <a:r>
              <a:rPr lang="en-US" altLang="zh-CN" sz="2800" b="1" i="1" smtClean="0">
                <a:latin typeface="Times New Roman" pitchFamily="18" charset="0"/>
              </a:rPr>
              <a:t>x</a:t>
            </a:r>
            <a:r>
              <a:rPr lang="en-US" altLang="zh-CN" sz="2800" b="1" i="1" baseline="-25000" smtClean="0">
                <a:latin typeface="Times New Roman" pitchFamily="18" charset="0"/>
              </a:rPr>
              <a:t>2</a:t>
            </a:r>
            <a:r>
              <a:rPr lang="zh-CN" altLang="en-US" sz="2800" b="1" smtClean="0">
                <a:latin typeface="Times New Roman" pitchFamily="18" charset="0"/>
              </a:rPr>
              <a:t>，</a:t>
            </a:r>
            <a:r>
              <a:rPr lang="en-US" altLang="zh-CN" sz="2800" b="1" smtClean="0">
                <a:latin typeface="Times New Roman" pitchFamily="18" charset="0"/>
              </a:rPr>
              <a:t>Y=</a:t>
            </a:r>
            <a:r>
              <a:rPr lang="en-US" altLang="zh-CN" sz="2800" b="1" i="1" smtClean="0">
                <a:latin typeface="Times New Roman" pitchFamily="18" charset="0"/>
              </a:rPr>
              <a:t>y</a:t>
            </a:r>
            <a:r>
              <a:rPr lang="en-US" altLang="zh-CN" sz="2800" b="1" i="1" baseline="-25000" smtClean="0">
                <a:latin typeface="Times New Roman" pitchFamily="18" charset="0"/>
              </a:rPr>
              <a:t>1</a:t>
            </a:r>
            <a:r>
              <a:rPr lang="en-US" altLang="zh-CN" sz="2800" b="1" i="1" smtClean="0">
                <a:latin typeface="Times New Roman" pitchFamily="18" charset="0"/>
              </a:rPr>
              <a:t>y</a:t>
            </a:r>
            <a:r>
              <a:rPr lang="en-US" altLang="zh-CN" sz="2800" b="1" i="1" baseline="-25000" smtClean="0">
                <a:latin typeface="Times New Roman" pitchFamily="18" charset="0"/>
              </a:rPr>
              <a:t>2</a:t>
            </a:r>
            <a:r>
              <a:rPr lang="zh-CN" altLang="en-US" sz="2800" b="1" smtClean="0">
                <a:latin typeface="Times New Roman" pitchFamily="18" charset="0"/>
              </a:rPr>
              <a:t>，</a:t>
            </a:r>
            <a:r>
              <a:rPr lang="en-US" altLang="zh-CN" sz="2800" b="1" i="1" smtClean="0">
                <a:latin typeface="Times New Roman" pitchFamily="18" charset="0"/>
              </a:rPr>
              <a:t>x</a:t>
            </a:r>
            <a:r>
              <a:rPr lang="en-US" altLang="zh-CN" sz="2800" b="1" i="1" baseline="-25000" smtClean="0">
                <a:latin typeface="Times New Roman" pitchFamily="18" charset="0"/>
              </a:rPr>
              <a:t>1</a:t>
            </a:r>
            <a:r>
              <a:rPr lang="zh-CN" altLang="en-US" sz="2800" b="1" smtClean="0">
                <a:latin typeface="Times New Roman" pitchFamily="18" charset="0"/>
              </a:rPr>
              <a:t>、</a:t>
            </a:r>
            <a:r>
              <a:rPr lang="en-US" altLang="zh-CN" sz="2800" b="1" i="1" smtClean="0">
                <a:latin typeface="Times New Roman" pitchFamily="18" charset="0"/>
              </a:rPr>
              <a:t>x</a:t>
            </a:r>
            <a:r>
              <a:rPr lang="en-US" altLang="zh-CN" sz="2800" b="1" i="1" baseline="-25000" smtClean="0">
                <a:latin typeface="Times New Roman" pitchFamily="18" charset="0"/>
              </a:rPr>
              <a:t>2</a:t>
            </a:r>
            <a:r>
              <a:rPr lang="zh-CN" altLang="en-US" sz="2800" b="1" smtClean="0">
                <a:latin typeface="Times New Roman" pitchFamily="18" charset="0"/>
              </a:rPr>
              <a:t>、</a:t>
            </a:r>
            <a:r>
              <a:rPr lang="en-US" altLang="zh-CN" sz="2800" b="1" i="1" smtClean="0">
                <a:latin typeface="Times New Roman" pitchFamily="18" charset="0"/>
              </a:rPr>
              <a:t>y</a:t>
            </a:r>
            <a:r>
              <a:rPr lang="en-US" altLang="zh-CN" sz="2800" b="1" i="1" baseline="-25000" smtClean="0">
                <a:latin typeface="Times New Roman" pitchFamily="18" charset="0"/>
              </a:rPr>
              <a:t>1</a:t>
            </a:r>
            <a:r>
              <a:rPr lang="zh-CN" altLang="en-US" sz="2800" b="1" smtClean="0">
                <a:latin typeface="Times New Roman" pitchFamily="18" charset="0"/>
              </a:rPr>
              <a:t>、</a:t>
            </a:r>
            <a:r>
              <a:rPr lang="en-US" altLang="zh-CN" sz="2800" b="1" i="1" smtClean="0">
                <a:latin typeface="Times New Roman" pitchFamily="18" charset="0"/>
              </a:rPr>
              <a:t>y</a:t>
            </a:r>
            <a:r>
              <a:rPr lang="en-US" altLang="zh-CN" sz="2800" b="1" i="1" baseline="-25000" smtClean="0">
                <a:latin typeface="Times New Roman" pitchFamily="18" charset="0"/>
              </a:rPr>
              <a:t>2</a:t>
            </a:r>
            <a:r>
              <a:rPr lang="zh-CN" altLang="en-US" sz="2800" b="1" smtClean="0">
                <a:latin typeface="Times New Roman" pitchFamily="18" charset="0"/>
              </a:rPr>
              <a:t>分别表示一位二进制数。</a:t>
            </a:r>
          </a:p>
        </p:txBody>
      </p:sp>
      <p:sp>
        <p:nvSpPr>
          <p:cNvPr id="29701" name="Rectangle 3"/>
          <p:cNvSpPr>
            <a:spLocks noGrp="1" noChangeArrowheads="1"/>
          </p:cNvSpPr>
          <p:nvPr>
            <p:ph type="title"/>
          </p:nvPr>
        </p:nvSpPr>
        <p:spPr>
          <a:xfrm>
            <a:off x="1274763" y="533400"/>
            <a:ext cx="7793037" cy="609600"/>
          </a:xfrm>
        </p:spPr>
        <p:txBody>
          <a:bodyPr/>
          <a:lstStyle/>
          <a:p>
            <a:pPr eaLnBrk="1" hangingPunct="1"/>
            <a:r>
              <a:rPr lang="zh-CN" altLang="en-US" sz="4000" smtClean="0"/>
              <a:t>单输出组合逻辑电路的设计举例</a:t>
            </a:r>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2ACFE494-E58D-4A6A-900E-A7B12943208E}" type="slidenum">
              <a:rPr lang="en-US" altLang="zh-CN" smtClean="0"/>
              <a:pPr>
                <a:defRPr/>
              </a:pPr>
              <a:t>33</a:t>
            </a:fld>
            <a:endParaRPr lang="en-US" altLang="zh-CN"/>
          </a:p>
        </p:txBody>
      </p:sp>
      <p:pic>
        <p:nvPicPr>
          <p:cNvPr id="307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5750"/>
            <a:ext cx="6357938"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3143250"/>
            <a:ext cx="3000375"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0" y="2428875"/>
            <a:ext cx="421481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4813" y="3286125"/>
            <a:ext cx="4643437"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7625" y="4429125"/>
            <a:ext cx="2347913"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endParaRPr lang="zh-CN" altLang="en-US" smtClean="0"/>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620713"/>
            <a:ext cx="8785225"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1557338"/>
            <a:ext cx="413385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157788"/>
            <a:ext cx="44767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5661025"/>
            <a:ext cx="30670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endParaRPr lang="zh-CN" altLang="en-US" smtClean="0"/>
          </a:p>
        </p:txBody>
      </p:sp>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268413"/>
            <a:ext cx="79359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1773238"/>
            <a:ext cx="31527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789363"/>
            <a:ext cx="32099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5084763"/>
            <a:ext cx="33242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4508500"/>
            <a:ext cx="78311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endParaRPr lang="zh-CN" altLang="en-US" smtClean="0"/>
          </a:p>
        </p:txBody>
      </p:sp>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2708275"/>
            <a:ext cx="4362450"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628775"/>
            <a:ext cx="4800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endParaRPr lang="zh-CN" altLang="en-US" smtClean="0"/>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8" y="549275"/>
            <a:ext cx="90852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12875"/>
            <a:ext cx="50863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700213"/>
            <a:ext cx="784860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127375"/>
            <a:ext cx="7559675"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endParaRPr lang="zh-CN" altLang="en-US" smtClean="0"/>
          </a:p>
        </p:txBody>
      </p:sp>
      <p:pic>
        <p:nvPicPr>
          <p:cNvPr id="358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549275"/>
            <a:ext cx="44672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052513"/>
            <a:ext cx="675163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p:cNvPicPr>
            <a:picLocks noChangeAspect="1" noChangeArrowheads="1"/>
          </p:cNvPicPr>
          <p:nvPr/>
        </p:nvPicPr>
        <p:blipFill>
          <a:blip r:embed="rId4">
            <a:extLst>
              <a:ext uri="{28A0092B-C50C-407E-A947-70E740481C1C}">
                <a14:useLocalDpi xmlns:a14="http://schemas.microsoft.com/office/drawing/2010/main" val="0"/>
              </a:ext>
            </a:extLst>
          </a:blip>
          <a:srcRect b="66614"/>
          <a:stretch>
            <a:fillRect/>
          </a:stretch>
        </p:blipFill>
        <p:spPr bwMode="auto">
          <a:xfrm>
            <a:off x="684213" y="5445125"/>
            <a:ext cx="807878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1484313"/>
            <a:ext cx="427672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endParaRPr lang="zh-CN" altLang="en-US" smtClean="0"/>
          </a:p>
        </p:txBody>
      </p:sp>
      <p:pic>
        <p:nvPicPr>
          <p:cNvPr id="36867" name="Picture 3"/>
          <p:cNvPicPr>
            <a:picLocks noChangeAspect="1" noChangeArrowheads="1"/>
          </p:cNvPicPr>
          <p:nvPr/>
        </p:nvPicPr>
        <p:blipFill>
          <a:blip r:embed="rId2">
            <a:extLst>
              <a:ext uri="{28A0092B-C50C-407E-A947-70E740481C1C}">
                <a14:useLocalDpi xmlns:a14="http://schemas.microsoft.com/office/drawing/2010/main" val="0"/>
              </a:ext>
            </a:extLst>
          </a:blip>
          <a:srcRect t="35751"/>
          <a:stretch>
            <a:fillRect/>
          </a:stretch>
        </p:blipFill>
        <p:spPr bwMode="auto">
          <a:xfrm>
            <a:off x="468313" y="476250"/>
            <a:ext cx="807878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781300"/>
            <a:ext cx="44862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27131713-60AE-41C6-AB95-0F5FD3DE3165}" type="slidenum">
              <a:rPr lang="en-US" altLang="zh-CN" smtClean="0"/>
              <a:pPr>
                <a:defRPr/>
              </a:pPr>
              <a:t>40</a:t>
            </a:fld>
            <a:endParaRPr lang="en-US" altLang="zh-CN"/>
          </a:p>
        </p:txBody>
      </p:sp>
      <p:sp>
        <p:nvSpPr>
          <p:cNvPr id="4" name="Rectangle 2"/>
          <p:cNvSpPr txBox="1">
            <a:spLocks noChangeArrowheads="1"/>
          </p:cNvSpPr>
          <p:nvPr/>
        </p:nvSpPr>
        <p:spPr>
          <a:xfrm>
            <a:off x="285750" y="142875"/>
            <a:ext cx="8686800" cy="4876800"/>
          </a:xfrm>
          <a:prstGeom prst="rect">
            <a:avLst/>
          </a:prstGeom>
        </p:spPr>
        <p:txBody>
          <a:bodyPr/>
          <a:lstStyle/>
          <a:p>
            <a:pPr marL="342900" indent="-342900">
              <a:spcBef>
                <a:spcPct val="20000"/>
              </a:spcBef>
              <a:buClr>
                <a:schemeClr val="folHlink"/>
              </a:buClr>
              <a:buSzPct val="60000"/>
              <a:buFont typeface="Wingdings" pitchFamily="2" charset="2"/>
              <a:buChar char="n"/>
              <a:defRPr/>
            </a:pPr>
            <a:r>
              <a:rPr kumimoji="0" lang="en-US" altLang="zh-CN" sz="2800" b="1" kern="0" dirty="0">
                <a:latin typeface="+mn-lt"/>
                <a:ea typeface="+mn-ea"/>
              </a:rPr>
              <a:t>eg.3.</a:t>
            </a:r>
            <a:r>
              <a:rPr kumimoji="0" lang="zh-CN" altLang="en-US" sz="2800" b="1" kern="0" dirty="0">
                <a:latin typeface="+mn-lt"/>
                <a:ea typeface="+mn-ea"/>
              </a:rPr>
              <a:t>设计一个对四位二进制码进行偶校验的奇偶发生器和奇偶检测器。</a:t>
            </a:r>
          </a:p>
        </p:txBody>
      </p:sp>
      <p:pic>
        <p:nvPicPr>
          <p:cNvPr id="3789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205038"/>
            <a:ext cx="6524625"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Text Box 7"/>
          <p:cNvSpPr txBox="1">
            <a:spLocks noChangeArrowheads="1"/>
          </p:cNvSpPr>
          <p:nvPr/>
        </p:nvSpPr>
        <p:spPr bwMode="auto">
          <a:xfrm>
            <a:off x="1258888" y="14128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偶校验</a:t>
            </a:r>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D41CF7B-C208-4D30-B617-C837A4BC3E17}"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EAA894B-63A1-4BE7-8D38-BC49931F1FF7}" type="slidenum">
              <a:rPr lang="en-US" altLang="zh-CN" smtClean="0"/>
              <a:pPr>
                <a:defRPr/>
              </a:pPr>
              <a:t>41</a:t>
            </a:fld>
            <a:endParaRPr lang="en-US" altLang="zh-CN"/>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0"/>
            <a:ext cx="511968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428750"/>
            <a:ext cx="2571750"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8" y="1214438"/>
            <a:ext cx="5286375"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5" y="5000625"/>
            <a:ext cx="2271713"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0" y="4857750"/>
            <a:ext cx="350043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0E34A03-E05D-4F58-88D9-BC839957E867}"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AE64072A-3CD0-40FE-B1C0-D3DDCCE2A988}" type="slidenum">
              <a:rPr lang="en-US" altLang="zh-CN"/>
              <a:pPr>
                <a:defRPr/>
              </a:pPr>
              <a:t>42</a:t>
            </a:fld>
            <a:endParaRPr lang="en-US" altLang="zh-CN"/>
          </a:p>
        </p:txBody>
      </p:sp>
      <p:sp>
        <p:nvSpPr>
          <p:cNvPr id="39940" name="Rectangle 2"/>
          <p:cNvSpPr>
            <a:spLocks noGrp="1" noChangeArrowheads="1"/>
          </p:cNvSpPr>
          <p:nvPr>
            <p:ph type="body" idx="1"/>
          </p:nvPr>
        </p:nvSpPr>
        <p:spPr/>
        <p:txBody>
          <a:bodyPr/>
          <a:lstStyle/>
          <a:p>
            <a:pPr eaLnBrk="1" hangingPunct="1"/>
            <a:r>
              <a:rPr lang="en-US" altLang="zh-CN" sz="2800" smtClean="0"/>
              <a:t>eg.1.</a:t>
            </a:r>
            <a:r>
              <a:rPr lang="zh-CN" altLang="en-US" sz="2800" smtClean="0"/>
              <a:t>半加器（</a:t>
            </a:r>
            <a:r>
              <a:rPr lang="en-US" altLang="zh-CN" sz="2800" smtClean="0"/>
              <a:t>Half Adder</a:t>
            </a:r>
            <a:r>
              <a:rPr lang="zh-CN" altLang="en-US" sz="2800" smtClean="0"/>
              <a:t>）的设计</a:t>
            </a:r>
          </a:p>
          <a:p>
            <a:pPr lvl="1" eaLnBrk="1" hangingPunct="1"/>
            <a:r>
              <a:rPr lang="zh-CN" altLang="en-US" sz="2400" smtClean="0"/>
              <a:t>设计要求：用“与非”门实现一个能对两个一位二进制数相加，而求得“半加和”及“半加进位”的逻辑电路。</a:t>
            </a:r>
            <a:endParaRPr lang="zh-CN" altLang="en-US" sz="2400" smtClean="0">
              <a:latin typeface="Times New Roman" pitchFamily="18" charset="0"/>
            </a:endParaRPr>
          </a:p>
        </p:txBody>
      </p:sp>
      <p:sp>
        <p:nvSpPr>
          <p:cNvPr id="39941" name="Rectangle 3"/>
          <p:cNvSpPr>
            <a:spLocks noGrp="1" noChangeArrowheads="1"/>
          </p:cNvSpPr>
          <p:nvPr>
            <p:ph type="title"/>
          </p:nvPr>
        </p:nvSpPr>
        <p:spPr>
          <a:xfrm>
            <a:off x="1274763" y="533400"/>
            <a:ext cx="7793037" cy="609600"/>
          </a:xfrm>
        </p:spPr>
        <p:txBody>
          <a:bodyPr/>
          <a:lstStyle/>
          <a:p>
            <a:pPr eaLnBrk="1" hangingPunct="1"/>
            <a:r>
              <a:rPr lang="zh-CN" altLang="en-US" sz="4000" smtClean="0"/>
              <a:t>多输出组合逻辑电路的设计举例</a:t>
            </a:r>
          </a:p>
        </p:txBody>
      </p:sp>
    </p:spTree>
  </p:cSld>
  <p:clrMapOvr>
    <a:masterClrMapping/>
  </p:clrMapOvr>
  <p:transition>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0AF86ACD-072E-4408-A3B2-01DBCE3B8A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A2C0AAD-8DCB-42C1-B42B-EEAC425FC682}" type="slidenum">
              <a:rPr lang="en-US" altLang="zh-CN" smtClean="0"/>
              <a:pPr>
                <a:defRPr/>
              </a:pPr>
              <a:t>43</a:t>
            </a:fld>
            <a:endParaRPr lang="en-US" altLang="zh-CN"/>
          </a:p>
        </p:txBody>
      </p:sp>
      <p:sp>
        <p:nvSpPr>
          <p:cNvPr id="4" name="Text Box 2052"/>
          <p:cNvSpPr txBox="1">
            <a:spLocks noChangeArrowheads="1"/>
          </p:cNvSpPr>
          <p:nvPr/>
        </p:nvSpPr>
        <p:spPr bwMode="auto">
          <a:xfrm>
            <a:off x="914400" y="1752600"/>
            <a:ext cx="746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能对两个</a:t>
            </a:r>
            <a:r>
              <a:rPr lang="en-US" altLang="zh-CN"/>
              <a:t>1</a:t>
            </a:r>
            <a:r>
              <a:rPr lang="zh-CN" altLang="en-US"/>
              <a:t>位二进制数进行相加而求得和及进位的逻辑电路称为半加器。</a:t>
            </a:r>
          </a:p>
        </p:txBody>
      </p:sp>
      <p:sp>
        <p:nvSpPr>
          <p:cNvPr id="5" name="Oval 2053"/>
          <p:cNvSpPr>
            <a:spLocks noChangeArrowheads="1"/>
          </p:cNvSpPr>
          <p:nvPr/>
        </p:nvSpPr>
        <p:spPr bwMode="auto">
          <a:xfrm>
            <a:off x="1981200" y="2133600"/>
            <a:ext cx="15240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 name="Object 2"/>
          <p:cNvGraphicFramePr>
            <a:graphicFrameLocks noChangeAspect="1"/>
          </p:cNvGraphicFramePr>
          <p:nvPr/>
        </p:nvGraphicFramePr>
        <p:xfrm>
          <a:off x="1482725" y="2743200"/>
          <a:ext cx="2830513" cy="2895600"/>
        </p:xfrm>
        <a:graphic>
          <a:graphicData uri="http://schemas.openxmlformats.org/presentationml/2006/ole">
            <mc:AlternateContent xmlns:mc="http://schemas.openxmlformats.org/markup-compatibility/2006">
              <mc:Choice xmlns:v="urn:schemas-microsoft-com:vml" Requires="v">
                <p:oleObj spid="_x0000_s40990" name="Picture" r:id="rId6" imgW="1257300" imgH="1285875" progId="Word.Picture.8">
                  <p:embed/>
                </p:oleObj>
              </mc:Choice>
              <mc:Fallback>
                <p:oleObj name="Picture" r:id="rId6" imgW="1257300" imgH="1285875" progId="Word.Picture.8">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2725" y="2743200"/>
                        <a:ext cx="2830513" cy="28956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3"/>
          <p:cNvGraphicFramePr>
            <a:graphicFrameLocks noChangeAspect="1"/>
          </p:cNvGraphicFramePr>
          <p:nvPr/>
        </p:nvGraphicFramePr>
        <p:xfrm>
          <a:off x="990600" y="5573713"/>
          <a:ext cx="3733800" cy="1131887"/>
        </p:xfrm>
        <a:graphic>
          <a:graphicData uri="http://schemas.openxmlformats.org/presentationml/2006/ole">
            <mc:AlternateContent xmlns:mc="http://schemas.openxmlformats.org/markup-compatibility/2006">
              <mc:Choice xmlns:v="urn:schemas-microsoft-com:vml" Requires="v">
                <p:oleObj spid="_x0000_s40991" name="公式" r:id="rId8" imgW="1586811" imgH="482391" progId="Equation.3">
                  <p:embed/>
                </p:oleObj>
              </mc:Choice>
              <mc:Fallback>
                <p:oleObj name="公式" r:id="rId8" imgW="1586811" imgH="482391"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5573713"/>
                        <a:ext cx="3733800" cy="113188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p:cNvGraphicFramePr>
            <a:graphicFrameLocks noChangeAspect="1"/>
          </p:cNvGraphicFramePr>
          <p:nvPr/>
        </p:nvGraphicFramePr>
        <p:xfrm>
          <a:off x="5214938" y="2286000"/>
          <a:ext cx="3267075" cy="4114800"/>
        </p:xfrm>
        <a:graphic>
          <a:graphicData uri="http://schemas.openxmlformats.org/presentationml/2006/ole">
            <mc:AlternateContent xmlns:mc="http://schemas.openxmlformats.org/markup-compatibility/2006">
              <mc:Choice xmlns:v="urn:schemas-microsoft-com:vml" Requires="v">
                <p:oleObj spid="_x0000_s40992" name="Picture" r:id="rId10" imgW="1381125" imgH="1781175" progId="Word.Picture.8">
                  <p:embed/>
                </p:oleObj>
              </mc:Choice>
              <mc:Fallback>
                <p:oleObj name="Picture" r:id="rId10" imgW="1381125" imgH="1781175" progId="Word.Picture.8">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14938" y="2286000"/>
                        <a:ext cx="3267075" cy="4114800"/>
                      </a:xfrm>
                      <a:prstGeom prst="rect">
                        <a:avLst/>
                      </a:prstGeom>
                      <a:solidFill>
                        <a:srgbClr val="F8F8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Oval 2057"/>
          <p:cNvSpPr>
            <a:spLocks noChangeArrowheads="1"/>
          </p:cNvSpPr>
          <p:nvPr/>
        </p:nvSpPr>
        <p:spPr bwMode="auto">
          <a:xfrm>
            <a:off x="1804988" y="3200400"/>
            <a:ext cx="1066800" cy="650875"/>
          </a:xfrm>
          <a:prstGeom prst="ellipse">
            <a:avLst/>
          </a:prstGeom>
          <a:noFill/>
          <a:ln w="9525">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Oval 2058"/>
          <p:cNvSpPr>
            <a:spLocks noChangeArrowheads="1"/>
          </p:cNvSpPr>
          <p:nvPr/>
        </p:nvSpPr>
        <p:spPr bwMode="auto">
          <a:xfrm>
            <a:off x="2947988" y="3159125"/>
            <a:ext cx="609600" cy="650875"/>
          </a:xfrm>
          <a:prstGeom prst="ellipse">
            <a:avLst/>
          </a:prstGeom>
          <a:noFill/>
          <a:ln w="9525">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Oval 2059"/>
          <p:cNvSpPr>
            <a:spLocks noChangeArrowheads="1"/>
          </p:cNvSpPr>
          <p:nvPr/>
        </p:nvSpPr>
        <p:spPr bwMode="auto">
          <a:xfrm>
            <a:off x="3568700" y="3159125"/>
            <a:ext cx="609600" cy="650875"/>
          </a:xfrm>
          <a:prstGeom prst="ellipse">
            <a:avLst/>
          </a:prstGeom>
          <a:noFill/>
          <a:ln w="9525">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Text Box 2060"/>
          <p:cNvSpPr txBox="1">
            <a:spLocks noChangeArrowheads="1"/>
          </p:cNvSpPr>
          <p:nvPr/>
        </p:nvSpPr>
        <p:spPr bwMode="auto">
          <a:xfrm>
            <a:off x="609600" y="3657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FF"/>
                </a:solidFill>
              </a:rPr>
              <a:t>加数</a:t>
            </a:r>
          </a:p>
        </p:txBody>
      </p:sp>
      <p:sp>
        <p:nvSpPr>
          <p:cNvPr id="13" name="Line 2061"/>
          <p:cNvSpPr>
            <a:spLocks noChangeShapeType="1"/>
          </p:cNvSpPr>
          <p:nvPr/>
        </p:nvSpPr>
        <p:spPr bwMode="auto">
          <a:xfrm flipV="1">
            <a:off x="1295400" y="3581400"/>
            <a:ext cx="457200" cy="304800"/>
          </a:xfrm>
          <a:prstGeom prst="line">
            <a:avLst/>
          </a:prstGeom>
          <a:noFill/>
          <a:ln w="9525">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2062"/>
          <p:cNvSpPr txBox="1">
            <a:spLocks noChangeArrowheads="1"/>
          </p:cNvSpPr>
          <p:nvPr/>
        </p:nvSpPr>
        <p:spPr bwMode="auto">
          <a:xfrm>
            <a:off x="4267200" y="2590800"/>
            <a:ext cx="838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FF"/>
                </a:solidFill>
              </a:rPr>
              <a:t>本位的和</a:t>
            </a:r>
          </a:p>
        </p:txBody>
      </p:sp>
      <p:sp>
        <p:nvSpPr>
          <p:cNvPr id="15" name="Text Box 2063"/>
          <p:cNvSpPr txBox="1">
            <a:spLocks noChangeArrowheads="1"/>
          </p:cNvSpPr>
          <p:nvPr/>
        </p:nvSpPr>
        <p:spPr bwMode="auto">
          <a:xfrm>
            <a:off x="4267200" y="3657600"/>
            <a:ext cx="91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solidFill>
                  <a:srgbClr val="0000FF"/>
                </a:solidFill>
              </a:rPr>
              <a:t>向高位的进位</a:t>
            </a:r>
          </a:p>
        </p:txBody>
      </p:sp>
      <p:sp>
        <p:nvSpPr>
          <p:cNvPr id="16" name="Line 2064"/>
          <p:cNvSpPr>
            <a:spLocks noChangeShapeType="1"/>
          </p:cNvSpPr>
          <p:nvPr/>
        </p:nvSpPr>
        <p:spPr bwMode="auto">
          <a:xfrm flipV="1">
            <a:off x="3276600" y="2971800"/>
            <a:ext cx="1143000" cy="228600"/>
          </a:xfrm>
          <a:prstGeom prst="line">
            <a:avLst/>
          </a:prstGeom>
          <a:noFill/>
          <a:ln w="9525">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065"/>
          <p:cNvSpPr>
            <a:spLocks noChangeShapeType="1"/>
          </p:cNvSpPr>
          <p:nvPr/>
        </p:nvSpPr>
        <p:spPr bwMode="auto">
          <a:xfrm>
            <a:off x="4038600" y="3657600"/>
            <a:ext cx="381000" cy="533400"/>
          </a:xfrm>
          <a:prstGeom prst="line">
            <a:avLst/>
          </a:prstGeom>
          <a:noFill/>
          <a:ln w="9525">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75"/>
                                        <p:tgtEl>
                                          <p:spTgt spid="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par>
                          <p:cTn id="8" fill="hold" nodeType="afterGroup">
                            <p:stCondLst>
                              <p:cond delay="2400"/>
                            </p:stCondLst>
                            <p:childTnLst>
                              <p:par>
                                <p:cTn id="9" presetID="19"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0" fill="hold"/>
                                        <p:tgtEl>
                                          <p:spTgt spid="5"/>
                                        </p:tgtEl>
                                        <p:attrNameLst>
                                          <p:attrName>ppt_w</p:attrName>
                                        </p:attrNameLst>
                                      </p:cBhvr>
                                      <p:tavLst>
                                        <p:tav tm="0" fmla="#ppt_w*sin(2.5*pi*$)">
                                          <p:val>
                                            <p:fltVal val="0"/>
                                          </p:val>
                                        </p:tav>
                                        <p:tav tm="100000">
                                          <p:val>
                                            <p:fltVal val="1"/>
                                          </p:val>
                                        </p:tav>
                                      </p:tavLst>
                                    </p:anim>
                                    <p:anim calcmode="lin" valueType="num">
                                      <p:cBhvr>
                                        <p:cTn id="12" dur="5000" fill="hold"/>
                                        <p:tgtEl>
                                          <p:spTgt spid="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
                                            </p:cond>
                                          </p:stCondLst>
                                          <p:endCondLst>
                                            <p:cond evt="onStopAudio" delay="0">
                                              <p:tgtEl>
                                                <p:sldTgt/>
                                              </p:tgtEl>
                                            </p:cond>
                                          </p:endCondLst>
                                        </p:cTn>
                                        <p:tgtEl>
                                          <p:sndTgt r:embed="rId5"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 calcmode="lin" valueType="num">
                                      <p:cBhvr additive="base">
                                        <p:cTn id="22"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12">
                                            <p:txEl>
                                              <p:pRg st="0" end="0"/>
                                            </p:txEl>
                                          </p:spTgt>
                                        </p:tgtEl>
                                        <p:attrNameLst>
                                          <p:attrName>ppt_y</p:attrName>
                                        </p:attrNameLst>
                                      </p:cBhvr>
                                      <p:tavLst>
                                        <p:tav tm="0">
                                          <p:val>
                                            <p:strVal val="0-#ppt_h/2"/>
                                          </p:val>
                                        </p:tav>
                                        <p:tav tm="100000">
                                          <p:val>
                                            <p:strVal val="#ppt_y"/>
                                          </p:val>
                                        </p:tav>
                                      </p:tavLst>
                                    </p:anim>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par>
                          <p:cTn id="28" fill="hold" nodeType="afterGroup">
                            <p:stCondLst>
                              <p:cond delay="1000"/>
                            </p:stCondLst>
                            <p:childTnLst>
                              <p:par>
                                <p:cTn id="29" presetID="4" presetClass="entr" presetSubtype="32"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ox(out)">
                                      <p:cBhvr>
                                        <p:cTn id="31" dur="500"/>
                                        <p:tgtEl>
                                          <p:spTgt spid="9"/>
                                        </p:tgtEl>
                                      </p:cBhvr>
                                    </p:animEffect>
                                  </p:childTnLst>
                                  <p:subTnLst>
                                    <p:audio>
                                      <p:cMediaNode>
                                        <p:cTn display="0" masterRel="sameClick">
                                          <p:stCondLst>
                                            <p:cond evt="begin" delay="0">
                                              <p:tn val="29"/>
                                            </p:cond>
                                          </p:stCondLst>
                                          <p:endCondLst>
                                            <p:cond evt="onStopAudio" delay="0">
                                              <p:tgtEl>
                                                <p:sldTgt/>
                                              </p:tgtEl>
                                            </p:cond>
                                          </p:endCondLst>
                                        </p:cTn>
                                        <p:tgtEl>
                                          <p:sndTgt r:embed="rId5" name="CAMERA.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3" fill="hold" grpId="0" nodeType="clickEffect">
                                  <p:stCondLst>
                                    <p:cond delay="0"/>
                                  </p:stCondLst>
                                  <p:childTnLst>
                                    <p:set>
                                      <p:cBhvr>
                                        <p:cTn id="35" dur="1" fill="hold">
                                          <p:stCondLst>
                                            <p:cond delay="0"/>
                                          </p:stCondLst>
                                        </p:cTn>
                                        <p:tgtEl>
                                          <p:spTgt spid="14">
                                            <p:txEl>
                                              <p:pRg st="0" end="0"/>
                                            </p:txEl>
                                          </p:spTgt>
                                        </p:tgtEl>
                                        <p:attrNameLst>
                                          <p:attrName>style.visibility</p:attrName>
                                        </p:attrNameLst>
                                      </p:cBhvr>
                                      <p:to>
                                        <p:strVal val="visible"/>
                                      </p:to>
                                    </p:set>
                                    <p:anim calcmode="lin" valueType="num">
                                      <p:cBhvr additive="base">
                                        <p:cTn id="36"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4">
                                            <p:txEl>
                                              <p:pRg st="0" end="0"/>
                                            </p:txEl>
                                          </p:spTgt>
                                        </p:tgtEl>
                                        <p:attrNameLst>
                                          <p:attrName>ppt_y</p:attrName>
                                        </p:attrNameLst>
                                      </p:cBhvr>
                                      <p:tavLst>
                                        <p:tav tm="0">
                                          <p:val>
                                            <p:strVal val="0-#ppt_h/2"/>
                                          </p:val>
                                        </p:tav>
                                        <p:tav tm="100000">
                                          <p:val>
                                            <p:strVal val="#ppt_y"/>
                                          </p:val>
                                        </p:tav>
                                      </p:tavLst>
                                    </p:anim>
                                  </p:childTnLst>
                                </p:cTn>
                              </p:par>
                            </p:childTnLst>
                          </p:cTn>
                        </p:par>
                        <p:par>
                          <p:cTn id="38" fill="hold" nodeType="afterGroup">
                            <p:stCondLst>
                              <p:cond delay="500"/>
                            </p:stCondLst>
                            <p:childTnLst>
                              <p:par>
                                <p:cTn id="39" presetID="22" presetClass="entr" presetSubtype="2"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right)">
                                      <p:cBhvr>
                                        <p:cTn id="41" dur="500"/>
                                        <p:tgtEl>
                                          <p:spTgt spid="16"/>
                                        </p:tgtEl>
                                      </p:cBhvr>
                                    </p:animEffect>
                                  </p:childTnLst>
                                </p:cTn>
                              </p:par>
                            </p:childTnLst>
                          </p:cTn>
                        </p:par>
                        <p:par>
                          <p:cTn id="42" fill="hold" nodeType="afterGroup">
                            <p:stCondLst>
                              <p:cond delay="1000"/>
                            </p:stCondLst>
                            <p:childTnLst>
                              <p:par>
                                <p:cTn id="43" presetID="4" presetClass="entr" presetSubtype="32"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ox(out)">
                                      <p:cBhvr>
                                        <p:cTn id="45" dur="500"/>
                                        <p:tgtEl>
                                          <p:spTgt spid="10"/>
                                        </p:tgtEl>
                                      </p:cBhvr>
                                    </p:animEffect>
                                  </p:childTnLst>
                                  <p:subTnLst>
                                    <p:audio>
                                      <p:cMediaNode>
                                        <p:cTn display="0" masterRel="sameClick">
                                          <p:stCondLst>
                                            <p:cond evt="begin" delay="0">
                                              <p:tn val="43"/>
                                            </p:cond>
                                          </p:stCondLst>
                                          <p:endCondLst>
                                            <p:cond evt="onStopAudio" delay="0">
                                              <p:tgtEl>
                                                <p:sldTgt/>
                                              </p:tgtEl>
                                            </p:cond>
                                          </p:endCondLst>
                                        </p:cTn>
                                        <p:tgtEl>
                                          <p:sndTgt r:embed="rId5" name="CAMERA.WAV"/>
                                        </p:tgtEl>
                                      </p:cMediaNode>
                                    </p:audio>
                                  </p:sub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3" fill="hold" grpId="0" nodeType="clickEffect">
                                  <p:stCondLst>
                                    <p:cond delay="0"/>
                                  </p:stCondLst>
                                  <p:childTnLst>
                                    <p:set>
                                      <p:cBhvr>
                                        <p:cTn id="49" dur="1" fill="hold">
                                          <p:stCondLst>
                                            <p:cond delay="0"/>
                                          </p:stCondLst>
                                        </p:cTn>
                                        <p:tgtEl>
                                          <p:spTgt spid="15">
                                            <p:txEl>
                                              <p:pRg st="0" end="0"/>
                                            </p:txEl>
                                          </p:spTgt>
                                        </p:tgtEl>
                                        <p:attrNameLst>
                                          <p:attrName>style.visibility</p:attrName>
                                        </p:attrNameLst>
                                      </p:cBhvr>
                                      <p:to>
                                        <p:strVal val="visible"/>
                                      </p:to>
                                    </p:set>
                                    <p:anim calcmode="lin" valueType="num">
                                      <p:cBhvr additive="base">
                                        <p:cTn id="50"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par>
                          <p:cTn id="52" fill="hold" nodeType="afterGroup">
                            <p:stCondLst>
                              <p:cond delay="500"/>
                            </p:stCondLst>
                            <p:childTnLst>
                              <p:par>
                                <p:cTn id="53" presetID="22" presetClass="entr" presetSubtype="2"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right)">
                                      <p:cBhvr>
                                        <p:cTn id="55" dur="500"/>
                                        <p:tgtEl>
                                          <p:spTgt spid="17"/>
                                        </p:tgtEl>
                                      </p:cBhvr>
                                    </p:animEffect>
                                  </p:childTnLst>
                                </p:cTn>
                              </p:par>
                            </p:childTnLst>
                          </p:cTn>
                        </p:par>
                        <p:par>
                          <p:cTn id="56" fill="hold" nodeType="afterGroup">
                            <p:stCondLst>
                              <p:cond delay="1000"/>
                            </p:stCondLst>
                            <p:childTnLst>
                              <p:par>
                                <p:cTn id="57" presetID="4" presetClass="entr" presetSubtype="32"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box(out)">
                                      <p:cBhvr>
                                        <p:cTn id="59" dur="500"/>
                                        <p:tgtEl>
                                          <p:spTgt spid="11"/>
                                        </p:tgtEl>
                                      </p:cBhvr>
                                    </p:animEffect>
                                  </p:childTnLst>
                                  <p:subTnLst>
                                    <p:audio>
                                      <p:cMediaNode>
                                        <p:cTn display="0" masterRel="sameClick">
                                          <p:stCondLst>
                                            <p:cond evt="begin" delay="0">
                                              <p:tn val="57"/>
                                            </p:cond>
                                          </p:stCondLst>
                                          <p:endCondLst>
                                            <p:cond evt="onStopAudio" delay="0">
                                              <p:tgtEl>
                                                <p:sldTgt/>
                                              </p:tgtEl>
                                            </p:cond>
                                          </p:endCondLst>
                                        </p:cTn>
                                        <p:tgtEl>
                                          <p:sndTgt r:embed="rId5" name="CAMERA.WAV"/>
                                        </p:tgtEl>
                                      </p:cMediaNode>
                                    </p:audio>
                                  </p:sub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box(out)">
                                      <p:cBhvr>
                                        <p:cTn id="64" dur="500"/>
                                        <p:tgtEl>
                                          <p:spTgt spid="7"/>
                                        </p:tgtEl>
                                      </p:cBhvr>
                                    </p:animEffect>
                                  </p:childTnLst>
                                  <p:subTnLst>
                                    <p:audio>
                                      <p:cMediaNode>
                                        <p:cTn display="0" masterRel="sameClick">
                                          <p:stCondLst>
                                            <p:cond evt="begin" delay="0">
                                              <p:tn val="62"/>
                                            </p:cond>
                                          </p:stCondLst>
                                          <p:endCondLst>
                                            <p:cond evt="onStopAudio" delay="0">
                                              <p:tgtEl>
                                                <p:sldTgt/>
                                              </p:tgtEl>
                                            </p:cond>
                                          </p:endCondLst>
                                        </p:cTn>
                                        <p:tgtEl>
                                          <p:sndTgt r:embed="rId5" name="CAMERA.WAV"/>
                                        </p:tgtEl>
                                      </p:cMediaNode>
                                    </p:audio>
                                  </p:sub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dissolv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nimBg="1"/>
      <p:bldP spid="9" grpId="0" animBg="1"/>
      <p:bldP spid="10" grpId="0" animBg="1"/>
      <p:bldP spid="11" grpId="0" animBg="1"/>
      <p:bldP spid="12" grpId="0" build="p" autoUpdateAnimBg="0"/>
      <p:bldP spid="13" grpId="0" animBg="1"/>
      <p:bldP spid="14" grpId="0" build="p" autoUpdateAnimBg="0"/>
      <p:bldP spid="15" grpId="0" build="p" autoUpdateAnimBg="0"/>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0AF86ACD-072E-4408-A3B2-01DBCE3B8A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5AC2A4B5-ED9A-4302-AFDF-8A8D7973A12D}" type="slidenum">
              <a:rPr lang="en-US" altLang="zh-CN" smtClean="0"/>
              <a:pPr>
                <a:defRPr/>
              </a:pPr>
              <a:t>44</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342900" indent="-342900">
              <a:spcBef>
                <a:spcPct val="20000"/>
              </a:spcBef>
              <a:buClr>
                <a:schemeClr val="folHlink"/>
              </a:buClr>
              <a:buSzPct val="60000"/>
              <a:buFont typeface="Wingdings" pitchFamily="2" charset="2"/>
              <a:buChar char="n"/>
              <a:defRPr/>
            </a:pPr>
            <a:r>
              <a:rPr kumimoji="0" lang="en-US" altLang="zh-CN" sz="2800" kern="0" dirty="0">
                <a:latin typeface="+mn-lt"/>
                <a:ea typeface="+mn-ea"/>
              </a:rPr>
              <a:t>eg.2.</a:t>
            </a:r>
            <a:r>
              <a:rPr kumimoji="0" lang="zh-CN" altLang="en-US" sz="2800" kern="0" dirty="0">
                <a:latin typeface="+mn-lt"/>
                <a:ea typeface="+mn-ea"/>
              </a:rPr>
              <a:t>全加器（</a:t>
            </a:r>
            <a:r>
              <a:rPr kumimoji="0" lang="en-US" altLang="zh-CN" sz="2800" kern="0" dirty="0">
                <a:latin typeface="+mn-lt"/>
                <a:ea typeface="+mn-ea"/>
              </a:rPr>
              <a:t>Full Adder</a:t>
            </a:r>
            <a:r>
              <a:rPr kumimoji="0" lang="zh-CN" altLang="en-US" sz="2800" kern="0" dirty="0">
                <a:latin typeface="+mn-lt"/>
                <a:ea typeface="+mn-ea"/>
              </a:rPr>
              <a:t>）的设计</a:t>
            </a:r>
          </a:p>
          <a:p>
            <a:pPr marL="742950" lvl="1" indent="-285750">
              <a:spcBef>
                <a:spcPct val="20000"/>
              </a:spcBef>
              <a:buClr>
                <a:schemeClr val="hlink"/>
              </a:buClr>
              <a:buSzPct val="55000"/>
              <a:buFont typeface="Wingdings" pitchFamily="2" charset="2"/>
              <a:buChar char="n"/>
              <a:defRPr/>
            </a:pPr>
            <a:r>
              <a:rPr kumimoji="0" lang="zh-CN" altLang="en-US" kern="0" dirty="0">
                <a:latin typeface="+mn-lt"/>
                <a:ea typeface="+mn-ea"/>
              </a:rPr>
              <a:t>设计要求：两个一位的二进制数相加，考虑比它们低一位来的进位，即相当于三个一位的二进制数相加。要求用“与非”门设计一个求“全加和”及“全加进位”的逻辑电路。即要求设计一个全加器电路。</a:t>
            </a:r>
          </a:p>
        </p:txBody>
      </p:sp>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C5BE1339-BEF4-408E-8873-2EC28DD9435D}"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22072B11-2CBA-4950-B8C8-07C05EDE84EB}" type="slidenum">
              <a:rPr lang="en-US" altLang="zh-CN" smtClean="0"/>
              <a:pPr>
                <a:defRPr/>
              </a:pPr>
              <a:t>45</a:t>
            </a:fld>
            <a:endParaRPr lang="en-US" altLang="zh-CN"/>
          </a:p>
        </p:txBody>
      </p:sp>
      <p:sp>
        <p:nvSpPr>
          <p:cNvPr id="5" name="Text Box 6"/>
          <p:cNvSpPr txBox="1">
            <a:spLocks noChangeArrowheads="1"/>
          </p:cNvSpPr>
          <p:nvPr/>
        </p:nvSpPr>
        <p:spPr bwMode="auto">
          <a:xfrm>
            <a:off x="0" y="428625"/>
            <a:ext cx="883920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能对两个</a:t>
            </a:r>
            <a:r>
              <a:rPr lang="en-US" altLang="zh-CN"/>
              <a:t>1</a:t>
            </a:r>
            <a:r>
              <a:rPr lang="zh-CN" altLang="en-US"/>
              <a:t>位二进制数进行相加并考虑低位来的进位，即相当于</a:t>
            </a:r>
            <a:r>
              <a:rPr lang="en-US" altLang="zh-CN"/>
              <a:t>3</a:t>
            </a:r>
            <a:r>
              <a:rPr lang="zh-CN" altLang="en-US"/>
              <a:t>个</a:t>
            </a:r>
            <a:r>
              <a:rPr lang="en-US" altLang="zh-CN"/>
              <a:t>1</a:t>
            </a:r>
            <a:r>
              <a:rPr lang="zh-CN" altLang="en-US"/>
              <a:t>位二进制数相加，求得和及进位的逻辑电路称为全加器。</a:t>
            </a:r>
          </a:p>
        </p:txBody>
      </p:sp>
      <p:sp>
        <p:nvSpPr>
          <p:cNvPr id="6" name="Oval 7"/>
          <p:cNvSpPr>
            <a:spLocks noChangeArrowheads="1"/>
          </p:cNvSpPr>
          <p:nvPr/>
        </p:nvSpPr>
        <p:spPr bwMode="auto">
          <a:xfrm>
            <a:off x="6858000" y="785813"/>
            <a:ext cx="15240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 name="Object 2"/>
          <p:cNvGraphicFramePr>
            <a:graphicFrameLocks noChangeAspect="1"/>
          </p:cNvGraphicFramePr>
          <p:nvPr/>
        </p:nvGraphicFramePr>
        <p:xfrm>
          <a:off x="457200" y="1274763"/>
          <a:ext cx="3713163" cy="4083050"/>
        </p:xfrm>
        <a:graphic>
          <a:graphicData uri="http://schemas.openxmlformats.org/presentationml/2006/ole">
            <mc:AlternateContent xmlns:mc="http://schemas.openxmlformats.org/markup-compatibility/2006">
              <mc:Choice xmlns:v="urn:schemas-microsoft-com:vml" Requires="v">
                <p:oleObj spid="_x0000_s43054" name="Picture" r:id="rId5" imgW="1714500" imgH="1885950" progId="Word.Picture.8">
                  <p:embed/>
                </p:oleObj>
              </mc:Choice>
              <mc:Fallback>
                <p:oleObj name="Picture" r:id="rId5" imgW="1714500" imgH="1885950"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274763"/>
                        <a:ext cx="3713163" cy="408305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nvGraphicFramePr>
        <p:xfrm>
          <a:off x="4419600" y="1447800"/>
          <a:ext cx="4343400" cy="1766888"/>
        </p:xfrm>
        <a:graphic>
          <a:graphicData uri="http://schemas.openxmlformats.org/presentationml/2006/ole">
            <mc:AlternateContent xmlns:mc="http://schemas.openxmlformats.org/markup-compatibility/2006">
              <mc:Choice xmlns:v="urn:schemas-microsoft-com:vml" Requires="v">
                <p:oleObj spid="_x0000_s43055" name="Picture" r:id="rId7" imgW="1943100" imgH="790575" progId="Word.Picture.8">
                  <p:embed/>
                </p:oleObj>
              </mc:Choice>
              <mc:Fallback>
                <p:oleObj name="Picture" r:id="rId7" imgW="1943100" imgH="790575" progId="Word.Picture.8">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1447800"/>
                        <a:ext cx="4343400" cy="1766888"/>
                      </a:xfrm>
                      <a:prstGeom prst="rect">
                        <a:avLst/>
                      </a:prstGeom>
                      <a:solidFill>
                        <a:srgbClr val="F8F8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4419600" y="3886200"/>
          <a:ext cx="4343400" cy="1768475"/>
        </p:xfrm>
        <a:graphic>
          <a:graphicData uri="http://schemas.openxmlformats.org/presentationml/2006/ole">
            <mc:AlternateContent xmlns:mc="http://schemas.openxmlformats.org/markup-compatibility/2006">
              <mc:Choice xmlns:v="urn:schemas-microsoft-com:vml" Requires="v">
                <p:oleObj spid="_x0000_s43056" name="Picture" r:id="rId9" imgW="1943100" imgH="790575" progId="Word.Picture.8">
                  <p:embed/>
                </p:oleObj>
              </mc:Choice>
              <mc:Fallback>
                <p:oleObj name="Picture" r:id="rId9" imgW="1943100" imgH="790575" progId="Word.Picture.8">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3886200"/>
                        <a:ext cx="434340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4267200" y="3259138"/>
          <a:ext cx="4876800" cy="550862"/>
        </p:xfrm>
        <a:graphic>
          <a:graphicData uri="http://schemas.openxmlformats.org/presentationml/2006/ole">
            <mc:AlternateContent xmlns:mc="http://schemas.openxmlformats.org/markup-compatibility/2006">
              <mc:Choice xmlns:v="urn:schemas-microsoft-com:vml" Requires="v">
                <p:oleObj spid="_x0000_s43057" name="公式" r:id="rId11" imgW="2451100" imgH="228600" progId="Equation.3">
                  <p:embed/>
                </p:oleObj>
              </mc:Choice>
              <mc:Fallback>
                <p:oleObj name="公式" r:id="rId11" imgW="2451100" imgH="2286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3259138"/>
                        <a:ext cx="4876800" cy="5508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6"/>
          <p:cNvGraphicFramePr>
            <a:graphicFrameLocks noChangeAspect="1"/>
          </p:cNvGraphicFramePr>
          <p:nvPr/>
        </p:nvGraphicFramePr>
        <p:xfrm>
          <a:off x="5483225" y="5715000"/>
          <a:ext cx="3160713" cy="1108075"/>
        </p:xfrm>
        <a:graphic>
          <a:graphicData uri="http://schemas.openxmlformats.org/presentationml/2006/ole">
            <mc:AlternateContent xmlns:mc="http://schemas.openxmlformats.org/markup-compatibility/2006">
              <mc:Choice xmlns:v="urn:schemas-microsoft-com:vml" Requires="v">
                <p:oleObj spid="_x0000_s43058" name="公式" r:id="rId13" imgW="1536700" imgH="457200" progId="Equation.3">
                  <p:embed/>
                </p:oleObj>
              </mc:Choice>
              <mc:Fallback>
                <p:oleObj name="公式" r:id="rId13" imgW="1536700" imgH="457200"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83225" y="5715000"/>
                        <a:ext cx="3160713" cy="11080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Oval 15"/>
          <p:cNvSpPr>
            <a:spLocks noChangeArrowheads="1"/>
          </p:cNvSpPr>
          <p:nvPr/>
        </p:nvSpPr>
        <p:spPr bwMode="auto">
          <a:xfrm>
            <a:off x="5597525" y="22860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Oval 16"/>
          <p:cNvSpPr>
            <a:spLocks noChangeArrowheads="1"/>
          </p:cNvSpPr>
          <p:nvPr/>
        </p:nvSpPr>
        <p:spPr bwMode="auto">
          <a:xfrm>
            <a:off x="6376988" y="19812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Oval 17"/>
          <p:cNvSpPr>
            <a:spLocks noChangeArrowheads="1"/>
          </p:cNvSpPr>
          <p:nvPr/>
        </p:nvSpPr>
        <p:spPr bwMode="auto">
          <a:xfrm>
            <a:off x="7150100" y="22860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Oval 18"/>
          <p:cNvSpPr>
            <a:spLocks noChangeArrowheads="1"/>
          </p:cNvSpPr>
          <p:nvPr/>
        </p:nvSpPr>
        <p:spPr bwMode="auto">
          <a:xfrm>
            <a:off x="7907338" y="19812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Oval 19"/>
          <p:cNvSpPr>
            <a:spLocks noChangeArrowheads="1"/>
          </p:cNvSpPr>
          <p:nvPr/>
        </p:nvSpPr>
        <p:spPr bwMode="auto">
          <a:xfrm>
            <a:off x="6383338" y="47244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 name="Oval 20"/>
          <p:cNvSpPr>
            <a:spLocks noChangeArrowheads="1"/>
          </p:cNvSpPr>
          <p:nvPr/>
        </p:nvSpPr>
        <p:spPr bwMode="auto">
          <a:xfrm>
            <a:off x="7924800" y="47244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 name="Oval 21"/>
          <p:cNvSpPr>
            <a:spLocks noChangeArrowheads="1"/>
          </p:cNvSpPr>
          <p:nvPr/>
        </p:nvSpPr>
        <p:spPr bwMode="auto">
          <a:xfrm>
            <a:off x="7127875" y="4419600"/>
            <a:ext cx="533400" cy="838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 name="Line 22"/>
          <p:cNvSpPr>
            <a:spLocks noChangeShapeType="1"/>
          </p:cNvSpPr>
          <p:nvPr/>
        </p:nvSpPr>
        <p:spPr bwMode="auto">
          <a:xfrm flipH="1">
            <a:off x="5105400" y="2667000"/>
            <a:ext cx="5334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3"/>
          <p:cNvSpPr>
            <a:spLocks noChangeShapeType="1"/>
          </p:cNvSpPr>
          <p:nvPr/>
        </p:nvSpPr>
        <p:spPr bwMode="auto">
          <a:xfrm flipH="1">
            <a:off x="5715000" y="2362200"/>
            <a:ext cx="685800" cy="1066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4"/>
          <p:cNvSpPr>
            <a:spLocks noChangeShapeType="1"/>
          </p:cNvSpPr>
          <p:nvPr/>
        </p:nvSpPr>
        <p:spPr bwMode="auto">
          <a:xfrm flipH="1">
            <a:off x="6248400" y="2362200"/>
            <a:ext cx="1676400" cy="1066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5"/>
          <p:cNvSpPr>
            <a:spLocks noChangeShapeType="1"/>
          </p:cNvSpPr>
          <p:nvPr/>
        </p:nvSpPr>
        <p:spPr bwMode="auto">
          <a:xfrm flipH="1">
            <a:off x="6934200" y="2667000"/>
            <a:ext cx="609600" cy="762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6"/>
          <p:cNvSpPr>
            <a:spLocks noChangeShapeType="1"/>
          </p:cNvSpPr>
          <p:nvPr/>
        </p:nvSpPr>
        <p:spPr bwMode="auto">
          <a:xfrm flipH="1">
            <a:off x="6248400" y="5029200"/>
            <a:ext cx="152400" cy="762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7"/>
          <p:cNvSpPr>
            <a:spLocks noChangeShapeType="1"/>
          </p:cNvSpPr>
          <p:nvPr/>
        </p:nvSpPr>
        <p:spPr bwMode="auto">
          <a:xfrm flipH="1">
            <a:off x="6781800" y="5029200"/>
            <a:ext cx="1143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8"/>
          <p:cNvSpPr>
            <a:spLocks noChangeShapeType="1"/>
          </p:cNvSpPr>
          <p:nvPr/>
        </p:nvSpPr>
        <p:spPr bwMode="auto">
          <a:xfrm>
            <a:off x="7620000" y="5105400"/>
            <a:ext cx="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Text Box 29"/>
          <p:cNvSpPr txBox="1">
            <a:spLocks noChangeArrowheads="1"/>
          </p:cNvSpPr>
          <p:nvPr/>
        </p:nvSpPr>
        <p:spPr bwMode="auto">
          <a:xfrm>
            <a:off x="609600" y="5594350"/>
            <a:ext cx="3581400" cy="118745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a:t>A</a:t>
            </a:r>
            <a:r>
              <a:rPr lang="en-US" altLang="zh-CN" baseline="-25000"/>
              <a:t>i</a:t>
            </a:r>
            <a:r>
              <a:rPr lang="zh-CN" altLang="en-US"/>
              <a:t>、</a:t>
            </a:r>
            <a:r>
              <a:rPr lang="en-US" altLang="zh-CN"/>
              <a:t>B</a:t>
            </a:r>
            <a:r>
              <a:rPr lang="en-US" altLang="zh-CN" baseline="-25000"/>
              <a:t>i</a:t>
            </a:r>
            <a:r>
              <a:rPr lang="zh-CN" altLang="en-US"/>
              <a:t>：加数， </a:t>
            </a:r>
            <a:r>
              <a:rPr lang="en-US" altLang="zh-CN"/>
              <a:t>C</a:t>
            </a:r>
            <a:r>
              <a:rPr lang="en-US" altLang="zh-CN" baseline="-25000"/>
              <a:t>i-1</a:t>
            </a:r>
            <a:r>
              <a:rPr lang="zh-CN" altLang="en-US" baseline="-25000"/>
              <a:t>：</a:t>
            </a:r>
            <a:r>
              <a:rPr lang="zh-CN" altLang="en-US"/>
              <a:t>低位来的进位，</a:t>
            </a:r>
            <a:r>
              <a:rPr lang="en-US" altLang="zh-CN"/>
              <a:t>S</a:t>
            </a:r>
            <a:r>
              <a:rPr lang="en-US" altLang="zh-CN" baseline="-25000"/>
              <a:t>i</a:t>
            </a:r>
            <a:r>
              <a:rPr lang="zh-CN" altLang="en-US"/>
              <a:t>：本位的和， </a:t>
            </a:r>
            <a:r>
              <a:rPr lang="en-US" altLang="zh-CN"/>
              <a:t>C</a:t>
            </a:r>
            <a:r>
              <a:rPr lang="en-US" altLang="zh-CN" baseline="-25000"/>
              <a:t>i</a:t>
            </a:r>
            <a:r>
              <a:rPr lang="zh-CN" altLang="en-US"/>
              <a:t>：向高位的进位。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nodeType="afterGroup">
                            <p:stCondLst>
                              <p:cond delay="500"/>
                            </p:stCondLst>
                            <p:childTnLst>
                              <p:par>
                                <p:cTn id="9" presetID="19"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0" fill="hold"/>
                                        <p:tgtEl>
                                          <p:spTgt spid="6"/>
                                        </p:tgtEl>
                                        <p:attrNameLst>
                                          <p:attrName>ppt_w</p:attrName>
                                        </p:attrNameLst>
                                      </p:cBhvr>
                                      <p:tavLst>
                                        <p:tav tm="0" fmla="#ppt_w*sin(2.5*pi*$)">
                                          <p:val>
                                            <p:fltVal val="0"/>
                                          </p:val>
                                        </p:tav>
                                        <p:tav tm="100000">
                                          <p:val>
                                            <p:fltVal val="1"/>
                                          </p:val>
                                        </p:tav>
                                      </p:tavLst>
                                    </p:anim>
                                    <p:anim calcmode="lin" valueType="num">
                                      <p:cBhvr>
                                        <p:cTn id="12" dur="50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out)">
                                      <p:cBhvr>
                                        <p:cTn id="17" dur="500"/>
                                        <p:tgtEl>
                                          <p:spTgt spid="7"/>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out)">
                                      <p:cBhvr>
                                        <p:cTn id="32" dur="500"/>
                                        <p:tgtEl>
                                          <p:spTgt spid="10"/>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par>
                          <p:cTn id="38" fill="hold" nodeType="afterGroup">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left)">
                                      <p:cBhvr>
                                        <p:cTn id="59" dur="500"/>
                                        <p:tgtEl>
                                          <p:spTgt spid="1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wipe(left)">
                                      <p:cBhvr>
                                        <p:cTn id="64" dur="500"/>
                                        <p:tgtEl>
                                          <p:spTgt spid="22"/>
                                        </p:tgtEl>
                                      </p:cBhvr>
                                    </p:animEffect>
                                  </p:childTnLst>
                                </p:cTn>
                              </p:par>
                            </p:childTnLst>
                          </p:cTn>
                        </p:par>
                        <p:par>
                          <p:cTn id="65" fill="hold" nodeType="afterGroup">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left)">
                                      <p:cBhvr>
                                        <p:cTn id="68" dur="500"/>
                                        <p:tgtEl>
                                          <p:spTgt spid="1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dissolve">
                                      <p:cBhvr>
                                        <p:cTn id="73" dur="500"/>
                                        <p:tgtEl>
                                          <p:spTgt spid="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4" presetClass="entr" presetSubtype="32" fill="hold" nodeType="click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box(out)">
                                      <p:cBhvr>
                                        <p:cTn id="78" dur="500"/>
                                        <p:tgtEl>
                                          <p:spTgt spid="11"/>
                                        </p:tgtEl>
                                      </p:cBhvr>
                                    </p:animEffect>
                                  </p:childTnLst>
                                  <p:subTnLst>
                                    <p:audio>
                                      <p:cMediaNode>
                                        <p:cTn display="0" masterRel="sameClick">
                                          <p:stCondLst>
                                            <p:cond evt="begin" delay="0">
                                              <p:tn val="76"/>
                                            </p:cond>
                                          </p:stCondLst>
                                          <p:endCondLst>
                                            <p:cond evt="onStopAudio" delay="0">
                                              <p:tgtEl>
                                                <p:sldTgt/>
                                              </p:tgtEl>
                                            </p:cond>
                                          </p:endCondLst>
                                        </p:cTn>
                                        <p:tgtEl>
                                          <p:sndTgt r:embed="rId4" name="CAMERA.WAV"/>
                                        </p:tgtEl>
                                      </p:cMediaNode>
                                    </p:audio>
                                  </p:sub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left)">
                                      <p:cBhvr>
                                        <p:cTn id="83" dur="500"/>
                                        <p:tgtEl>
                                          <p:spTgt spid="23"/>
                                        </p:tgtEl>
                                      </p:cBhvr>
                                    </p:animEffect>
                                  </p:childTnLst>
                                </p:cTn>
                              </p:par>
                            </p:childTnLst>
                          </p:cTn>
                        </p:par>
                        <p:par>
                          <p:cTn id="84" fill="hold" nodeType="afterGroup">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wipe(left)">
                                      <p:cBhvr>
                                        <p:cTn id="87" dur="500"/>
                                        <p:tgtEl>
                                          <p:spTgt spid="1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left)">
                                      <p:cBhvr>
                                        <p:cTn id="92" dur="500"/>
                                        <p:tgtEl>
                                          <p:spTgt spid="24"/>
                                        </p:tgtEl>
                                      </p:cBhvr>
                                    </p:animEffect>
                                  </p:childTnLst>
                                </p:cTn>
                              </p:par>
                            </p:childTnLst>
                          </p:cTn>
                        </p:par>
                        <p:par>
                          <p:cTn id="93" fill="hold" nodeType="afterGroup">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17"/>
                                        </p:tgtEl>
                                        <p:attrNameLst>
                                          <p:attrName>style.visibility</p:attrName>
                                        </p:attrNameLst>
                                      </p:cBhvr>
                                      <p:to>
                                        <p:strVal val="visible"/>
                                      </p:to>
                                    </p:set>
                                    <p:animEffect transition="in" filter="wipe(left)">
                                      <p:cBhvr>
                                        <p:cTn id="96" dur="500"/>
                                        <p:tgtEl>
                                          <p:spTgt spid="1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wipe(down)">
                                      <p:cBhvr>
                                        <p:cTn id="101" dur="500"/>
                                        <p:tgtEl>
                                          <p:spTgt spid="25"/>
                                        </p:tgtEl>
                                      </p:cBhvr>
                                    </p:animEffect>
                                  </p:childTnLst>
                                </p:cTn>
                              </p:par>
                            </p:childTnLst>
                          </p:cTn>
                        </p:par>
                        <p:par>
                          <p:cTn id="102" fill="hold" nodeType="afterGroup">
                            <p:stCondLst>
                              <p:cond delay="500"/>
                            </p:stCondLst>
                            <p:childTnLst>
                              <p:par>
                                <p:cTn id="103" presetID="22" presetClass="entr" presetSubtype="8" fill="hold" grpId="0" nodeType="after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wipe(left)">
                                      <p:cBhvr>
                                        <p:cTn id="10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C5BE1339-BEF4-408E-8873-2EC28DD9435D}"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E5EF9594-14AF-4C8C-882D-AB60E811ABC9}" type="slidenum">
              <a:rPr lang="en-US" altLang="zh-CN" smtClean="0"/>
              <a:pPr>
                <a:defRPr/>
              </a:pPr>
              <a:t>46</a:t>
            </a:fld>
            <a:endParaRPr lang="en-US" altLang="zh-CN"/>
          </a:p>
        </p:txBody>
      </p:sp>
      <p:graphicFrame>
        <p:nvGraphicFramePr>
          <p:cNvPr id="4" name="Object 2"/>
          <p:cNvGraphicFramePr>
            <a:graphicFrameLocks noChangeAspect="1"/>
          </p:cNvGraphicFramePr>
          <p:nvPr/>
        </p:nvGraphicFramePr>
        <p:xfrm>
          <a:off x="0" y="2416175"/>
          <a:ext cx="9147175" cy="1165225"/>
        </p:xfrm>
        <a:graphic>
          <a:graphicData uri="http://schemas.openxmlformats.org/presentationml/2006/ole">
            <mc:AlternateContent xmlns:mc="http://schemas.openxmlformats.org/markup-compatibility/2006">
              <mc:Choice xmlns:v="urn:schemas-microsoft-com:vml" Requires="v">
                <p:oleObj spid="_x0000_s44052" name="公式" r:id="rId5" imgW="4483100" imgH="482600" progId="Equation.3">
                  <p:embed/>
                </p:oleObj>
              </mc:Choice>
              <mc:Fallback>
                <p:oleObj name="公式" r:id="rId5" imgW="4483100" imgH="482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416175"/>
                        <a:ext cx="9147175" cy="11652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6"/>
          <p:cNvSpPr txBox="1">
            <a:spLocks noChangeArrowheads="1"/>
          </p:cNvSpPr>
          <p:nvPr/>
        </p:nvSpPr>
        <p:spPr bwMode="auto">
          <a:xfrm>
            <a:off x="2286000" y="76200"/>
            <a:ext cx="5181600" cy="588963"/>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3200">
                <a:ea typeface="隶书" pitchFamily="49" charset="-122"/>
              </a:rPr>
              <a:t>全加器的逻辑图和逻辑符号</a:t>
            </a:r>
            <a:endParaRPr lang="zh-CN" altLang="en-US"/>
          </a:p>
        </p:txBody>
      </p:sp>
      <p:graphicFrame>
        <p:nvGraphicFramePr>
          <p:cNvPr id="6" name="Object 3"/>
          <p:cNvGraphicFramePr>
            <a:graphicFrameLocks noChangeAspect="1"/>
          </p:cNvGraphicFramePr>
          <p:nvPr/>
        </p:nvGraphicFramePr>
        <p:xfrm>
          <a:off x="0" y="3581400"/>
          <a:ext cx="9144000" cy="3276600"/>
        </p:xfrm>
        <a:graphic>
          <a:graphicData uri="http://schemas.openxmlformats.org/presentationml/2006/ole">
            <mc:AlternateContent xmlns:mc="http://schemas.openxmlformats.org/markup-compatibility/2006">
              <mc:Choice xmlns:v="urn:schemas-microsoft-com:vml" Requires="v">
                <p:oleObj spid="_x0000_s44053" name="Picture" r:id="rId7" imgW="4467225" imgH="1371600" progId="Word.Picture.8">
                  <p:embed/>
                </p:oleObj>
              </mc:Choice>
              <mc:Fallback>
                <p:oleObj name="Picture" r:id="rId7" imgW="4467225" imgH="1371600" progId="Word.Picture.8">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t="-2222"/>
                      <a:stretch>
                        <a:fillRect/>
                      </a:stretch>
                    </p:blipFill>
                    <p:spPr bwMode="auto">
                      <a:xfrm>
                        <a:off x="0" y="3581400"/>
                        <a:ext cx="9144000" cy="32766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4"/>
          <p:cNvGraphicFramePr>
            <a:graphicFrameLocks noChangeAspect="1"/>
          </p:cNvGraphicFramePr>
          <p:nvPr/>
        </p:nvGraphicFramePr>
        <p:xfrm>
          <a:off x="0" y="663575"/>
          <a:ext cx="9172575" cy="1774825"/>
        </p:xfrm>
        <a:graphic>
          <a:graphicData uri="http://schemas.openxmlformats.org/presentationml/2006/ole">
            <mc:AlternateContent xmlns:mc="http://schemas.openxmlformats.org/markup-compatibility/2006">
              <mc:Choice xmlns:v="urn:schemas-microsoft-com:vml" Requires="v">
                <p:oleObj spid="_x0000_s44054" name="公式" r:id="rId9" imgW="4610100" imgH="736600" progId="Equation.3">
                  <p:embed/>
                </p:oleObj>
              </mc:Choice>
              <mc:Fallback>
                <p:oleObj name="公式" r:id="rId9" imgW="4610100" imgH="7366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63575"/>
                        <a:ext cx="9172575" cy="17748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8A973A0E-21C6-4AB2-9640-ACFE80090846}"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99AD2ABF-3EFC-4554-924A-80A9F8BF0752}" type="slidenum">
              <a:rPr lang="en-US" altLang="zh-CN" smtClean="0"/>
              <a:pPr>
                <a:defRPr/>
              </a:pPr>
              <a:t>47</a:t>
            </a:fld>
            <a:endParaRPr lang="en-US" altLang="zh-CN"/>
          </a:p>
        </p:txBody>
      </p:sp>
      <p:graphicFrame>
        <p:nvGraphicFramePr>
          <p:cNvPr id="9" name="Object 4"/>
          <p:cNvGraphicFramePr>
            <a:graphicFrameLocks noChangeAspect="1"/>
          </p:cNvGraphicFramePr>
          <p:nvPr/>
        </p:nvGraphicFramePr>
        <p:xfrm>
          <a:off x="4419600" y="3886200"/>
          <a:ext cx="4343400" cy="1768475"/>
        </p:xfrm>
        <a:graphic>
          <a:graphicData uri="http://schemas.openxmlformats.org/presentationml/2006/ole">
            <mc:AlternateContent xmlns:mc="http://schemas.openxmlformats.org/markup-compatibility/2006">
              <mc:Choice xmlns:v="urn:schemas-microsoft-com:vml" Requires="v">
                <p:oleObj spid="_x0000_s45088" name="Picture" r:id="rId4" imgW="1943100" imgH="790575" progId="Word.Picture.8">
                  <p:embed/>
                </p:oleObj>
              </mc:Choice>
              <mc:Fallback>
                <p:oleObj name="Picture" r:id="rId4" imgW="1943100" imgH="790575"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3886200"/>
                        <a:ext cx="434340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3"/>
          <p:cNvSpPr txBox="1">
            <a:spLocks noChangeArrowheads="1"/>
          </p:cNvSpPr>
          <p:nvPr/>
        </p:nvSpPr>
        <p:spPr bwMode="auto">
          <a:xfrm>
            <a:off x="2438400" y="76200"/>
            <a:ext cx="3733800" cy="588963"/>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a:ea typeface="隶书" pitchFamily="49" charset="-122"/>
              </a:rPr>
              <a:t>  </a:t>
            </a:r>
            <a:r>
              <a:rPr lang="zh-CN" altLang="en-US" sz="3200">
                <a:ea typeface="隶书" pitchFamily="49" charset="-122"/>
              </a:rPr>
              <a:t>用与门和或门实现</a:t>
            </a:r>
            <a:endParaRPr lang="zh-CN" altLang="en-US"/>
          </a:p>
        </p:txBody>
      </p:sp>
      <p:sp>
        <p:nvSpPr>
          <p:cNvPr id="6" name="Oval 21"/>
          <p:cNvSpPr>
            <a:spLocks noChangeArrowheads="1"/>
          </p:cNvSpPr>
          <p:nvPr/>
        </p:nvSpPr>
        <p:spPr bwMode="auto">
          <a:xfrm>
            <a:off x="7127875" y="4419600"/>
            <a:ext cx="533400" cy="838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 name="Oval 21"/>
          <p:cNvSpPr>
            <a:spLocks noChangeArrowheads="1"/>
          </p:cNvSpPr>
          <p:nvPr/>
        </p:nvSpPr>
        <p:spPr bwMode="auto">
          <a:xfrm rot="5400000">
            <a:off x="6715125" y="4572001"/>
            <a:ext cx="357187" cy="785812"/>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Oval 21"/>
          <p:cNvSpPr>
            <a:spLocks noChangeArrowheads="1"/>
          </p:cNvSpPr>
          <p:nvPr/>
        </p:nvSpPr>
        <p:spPr bwMode="auto">
          <a:xfrm rot="5400000">
            <a:off x="7715250" y="4572001"/>
            <a:ext cx="357187" cy="785812"/>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 name="Object 2"/>
          <p:cNvGraphicFramePr>
            <a:graphicFrameLocks noChangeAspect="1"/>
          </p:cNvGraphicFramePr>
          <p:nvPr/>
        </p:nvGraphicFramePr>
        <p:xfrm>
          <a:off x="5424488" y="5732463"/>
          <a:ext cx="3290887" cy="554037"/>
        </p:xfrm>
        <a:graphic>
          <a:graphicData uri="http://schemas.openxmlformats.org/presentationml/2006/ole">
            <mc:AlternateContent xmlns:mc="http://schemas.openxmlformats.org/markup-compatibility/2006">
              <mc:Choice xmlns:v="urn:schemas-microsoft-com:vml" Requires="v">
                <p:oleObj spid="_x0000_s45089" name="公式" r:id="rId6" imgW="1612900" imgH="228600" progId="Equation.3">
                  <p:embed/>
                </p:oleObj>
              </mc:Choice>
              <mc:Fallback>
                <p:oleObj name="公式" r:id="rId6" imgW="16129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4488" y="5732463"/>
                        <a:ext cx="3290887" cy="5540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458788" y="3071813"/>
          <a:ext cx="8185150" cy="581025"/>
        </p:xfrm>
        <a:graphic>
          <a:graphicData uri="http://schemas.openxmlformats.org/presentationml/2006/ole">
            <mc:AlternateContent xmlns:mc="http://schemas.openxmlformats.org/markup-compatibility/2006">
              <mc:Choice xmlns:v="urn:schemas-microsoft-com:vml" Requires="v">
                <p:oleObj spid="_x0000_s45090" name="公式" r:id="rId8" imgW="4114800" imgH="241300" progId="Equation.3">
                  <p:embed/>
                </p:oleObj>
              </mc:Choice>
              <mc:Fallback>
                <p:oleObj name="公式" r:id="rId8" imgW="4114800" imgH="2413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8788" y="3071813"/>
                        <a:ext cx="8185150" cy="5810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3"/>
          <p:cNvGraphicFramePr>
            <a:graphicFrameLocks noChangeAspect="1"/>
          </p:cNvGraphicFramePr>
          <p:nvPr/>
        </p:nvGraphicFramePr>
        <p:xfrm>
          <a:off x="4419600" y="1071563"/>
          <a:ext cx="4343400" cy="1766887"/>
        </p:xfrm>
        <a:graphic>
          <a:graphicData uri="http://schemas.openxmlformats.org/presentationml/2006/ole">
            <mc:AlternateContent xmlns:mc="http://schemas.openxmlformats.org/markup-compatibility/2006">
              <mc:Choice xmlns:v="urn:schemas-microsoft-com:vml" Requires="v">
                <p:oleObj spid="_x0000_s45091" name="Picture" r:id="rId10" imgW="1943100" imgH="790575" progId="Word.Picture.8">
                  <p:embed/>
                </p:oleObj>
              </mc:Choice>
              <mc:Fallback>
                <p:oleObj name="Picture" r:id="rId10" imgW="1943100" imgH="790575" progId="Word.Picture.8">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9600" y="1071563"/>
                        <a:ext cx="4343400" cy="1766887"/>
                      </a:xfrm>
                      <a:prstGeom prst="rect">
                        <a:avLst/>
                      </a:prstGeom>
                      <a:solidFill>
                        <a:srgbClr val="F8F8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Oval 15"/>
          <p:cNvSpPr>
            <a:spLocks noChangeArrowheads="1"/>
          </p:cNvSpPr>
          <p:nvPr/>
        </p:nvSpPr>
        <p:spPr bwMode="auto">
          <a:xfrm>
            <a:off x="5597525" y="192087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Oval 16"/>
          <p:cNvSpPr>
            <a:spLocks noChangeArrowheads="1"/>
          </p:cNvSpPr>
          <p:nvPr/>
        </p:nvSpPr>
        <p:spPr bwMode="auto">
          <a:xfrm>
            <a:off x="6376988" y="161607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Oval 17"/>
          <p:cNvSpPr>
            <a:spLocks noChangeArrowheads="1"/>
          </p:cNvSpPr>
          <p:nvPr/>
        </p:nvSpPr>
        <p:spPr bwMode="auto">
          <a:xfrm>
            <a:off x="7150100" y="192087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Oval 18"/>
          <p:cNvSpPr>
            <a:spLocks noChangeArrowheads="1"/>
          </p:cNvSpPr>
          <p:nvPr/>
        </p:nvSpPr>
        <p:spPr bwMode="auto">
          <a:xfrm>
            <a:off x="7907338" y="161607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ox(out)">
                                      <p:cBhvr>
                                        <p:cTn id="28" dur="500"/>
                                        <p:tgtEl>
                                          <p:spTgt spid="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ox(out)">
                                      <p:cBhvr>
                                        <p:cTn id="33" dur="500"/>
                                        <p:tgtEl>
                                          <p:spTgt spid="10"/>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par>
                          <p:cTn id="39" fill="hold" nodeType="afterGroup">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par>
                          <p:cTn id="43" fill="hold" nodeType="afterGroup">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nodeType="afterGroup">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par>
                          <p:cTn id="51" fill="hold" nodeType="afterGroup">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p:bldP spid="7" grpId="0" animBg="1"/>
      <p:bldP spid="8" grpId="0" animBg="1"/>
      <p:bldP spid="12" grpId="0" animBg="1"/>
      <p:bldP spid="13" grpId="0" animBg="1"/>
      <p:bldP spid="14" grpId="0" animBg="1"/>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C5BE1339-BEF4-408E-8873-2EC28DD9435D}"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BC725913-EE0F-4440-9B83-688C042D629F}" type="slidenum">
              <a:rPr lang="en-US" altLang="zh-CN" smtClean="0"/>
              <a:pPr>
                <a:defRPr/>
              </a:pPr>
              <a:t>48</a:t>
            </a:fld>
            <a:endParaRPr lang="en-US" altLang="zh-CN"/>
          </a:p>
        </p:txBody>
      </p:sp>
      <p:graphicFrame>
        <p:nvGraphicFramePr>
          <p:cNvPr id="4" name="Object 2"/>
          <p:cNvGraphicFramePr>
            <a:graphicFrameLocks noChangeAspect="1"/>
          </p:cNvGraphicFramePr>
          <p:nvPr/>
        </p:nvGraphicFramePr>
        <p:xfrm>
          <a:off x="2500313" y="1371600"/>
          <a:ext cx="3290887" cy="554038"/>
        </p:xfrm>
        <a:graphic>
          <a:graphicData uri="http://schemas.openxmlformats.org/presentationml/2006/ole">
            <mc:AlternateContent xmlns:mc="http://schemas.openxmlformats.org/markup-compatibility/2006">
              <mc:Choice xmlns:v="urn:schemas-microsoft-com:vml" Requires="v">
                <p:oleObj spid="_x0000_s46100" name="公式" r:id="rId5" imgW="1612900" imgH="228600" progId="Equation.3">
                  <p:embed/>
                </p:oleObj>
              </mc:Choice>
              <mc:Fallback>
                <p:oleObj name="公式" r:id="rId5" imgW="1612900" imgH="228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0313" y="1371600"/>
                        <a:ext cx="3290887" cy="5540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3"/>
          <p:cNvSpPr txBox="1">
            <a:spLocks noChangeArrowheads="1"/>
          </p:cNvSpPr>
          <p:nvPr/>
        </p:nvSpPr>
        <p:spPr bwMode="auto">
          <a:xfrm>
            <a:off x="2438400" y="76200"/>
            <a:ext cx="3733800" cy="588963"/>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a:ea typeface="隶书" pitchFamily="49" charset="-122"/>
              </a:rPr>
              <a:t>  </a:t>
            </a:r>
            <a:r>
              <a:rPr lang="zh-CN" altLang="en-US" sz="3200">
                <a:ea typeface="隶书" pitchFamily="49" charset="-122"/>
              </a:rPr>
              <a:t>用与门和或门实现</a:t>
            </a:r>
            <a:endParaRPr lang="zh-CN" altLang="en-US"/>
          </a:p>
        </p:txBody>
      </p:sp>
      <p:graphicFrame>
        <p:nvGraphicFramePr>
          <p:cNvPr id="6" name="Object 3"/>
          <p:cNvGraphicFramePr>
            <a:graphicFrameLocks noChangeAspect="1"/>
          </p:cNvGraphicFramePr>
          <p:nvPr/>
        </p:nvGraphicFramePr>
        <p:xfrm>
          <a:off x="1276350" y="762000"/>
          <a:ext cx="5999163" cy="620713"/>
        </p:xfrm>
        <a:graphic>
          <a:graphicData uri="http://schemas.openxmlformats.org/presentationml/2006/ole">
            <mc:AlternateContent xmlns:mc="http://schemas.openxmlformats.org/markup-compatibility/2006">
              <mc:Choice xmlns:v="urn:schemas-microsoft-com:vml" Requires="v">
                <p:oleObj spid="_x0000_s46101" name="公式" r:id="rId7" imgW="2806700" imgH="241300" progId="Equation.3">
                  <p:embed/>
                </p:oleObj>
              </mc:Choice>
              <mc:Fallback>
                <p:oleObj name="公式" r:id="rId7" imgW="2806700" imgH="2413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6350" y="762000"/>
                        <a:ext cx="5999163" cy="620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4"/>
          <p:cNvGraphicFramePr>
            <a:graphicFrameLocks noChangeAspect="1"/>
          </p:cNvGraphicFramePr>
          <p:nvPr/>
        </p:nvGraphicFramePr>
        <p:xfrm>
          <a:off x="609600" y="1981200"/>
          <a:ext cx="8077200" cy="4864100"/>
        </p:xfrm>
        <a:graphic>
          <a:graphicData uri="http://schemas.openxmlformats.org/presentationml/2006/ole">
            <mc:AlternateContent xmlns:mc="http://schemas.openxmlformats.org/markup-compatibility/2006">
              <mc:Choice xmlns:v="urn:schemas-microsoft-com:vml" Requires="v">
                <p:oleObj spid="_x0000_s46102" name="Picture" r:id="rId9" imgW="2761488" imgH="1783080" progId="Word.Picture.8">
                  <p:embed/>
                </p:oleObj>
              </mc:Choice>
              <mc:Fallback>
                <p:oleObj name="Picture" r:id="rId9" imgW="2761488" imgH="1783080" progId="Word.Picture.8">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1981200"/>
                        <a:ext cx="8077200" cy="48641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ou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C5BE1339-BEF4-408E-8873-2EC28DD9435D}"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E6A86FC3-FC9A-4034-9699-3B9B19FFB07F}" type="slidenum">
              <a:rPr lang="en-US" altLang="zh-CN" smtClean="0"/>
              <a:pPr>
                <a:defRPr/>
              </a:pPr>
              <a:t>49</a:t>
            </a:fld>
            <a:endParaRPr lang="en-US" altLang="zh-CN"/>
          </a:p>
        </p:txBody>
      </p:sp>
      <p:sp>
        <p:nvSpPr>
          <p:cNvPr id="4" name="Text Box 2050"/>
          <p:cNvSpPr txBox="1">
            <a:spLocks noChangeArrowheads="1"/>
          </p:cNvSpPr>
          <p:nvPr/>
        </p:nvSpPr>
        <p:spPr bwMode="auto">
          <a:xfrm>
            <a:off x="2743200" y="249238"/>
            <a:ext cx="3352800" cy="588962"/>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a:ea typeface="隶书" pitchFamily="49" charset="-122"/>
              </a:rPr>
              <a:t>  </a:t>
            </a:r>
            <a:r>
              <a:rPr lang="zh-CN" altLang="en-US" sz="3200">
                <a:ea typeface="隶书" pitchFamily="49" charset="-122"/>
              </a:rPr>
              <a:t>用与或非门实现</a:t>
            </a:r>
            <a:endParaRPr lang="zh-CN" altLang="en-US"/>
          </a:p>
        </p:txBody>
      </p:sp>
      <p:graphicFrame>
        <p:nvGraphicFramePr>
          <p:cNvPr id="5" name="Object 2"/>
          <p:cNvGraphicFramePr>
            <a:graphicFrameLocks noChangeAspect="1"/>
          </p:cNvGraphicFramePr>
          <p:nvPr/>
        </p:nvGraphicFramePr>
        <p:xfrm>
          <a:off x="533400" y="1600200"/>
          <a:ext cx="4343400" cy="1787525"/>
        </p:xfrm>
        <a:graphic>
          <a:graphicData uri="http://schemas.openxmlformats.org/presentationml/2006/ole">
            <mc:AlternateContent xmlns:mc="http://schemas.openxmlformats.org/markup-compatibility/2006">
              <mc:Choice xmlns:v="urn:schemas-microsoft-com:vml" Requires="v">
                <p:oleObj spid="_x0000_s47157" name="Picture" r:id="rId6" imgW="1943100" imgH="800100" progId="Word.Picture.8">
                  <p:embed/>
                </p:oleObj>
              </mc:Choice>
              <mc:Fallback>
                <p:oleObj name="Picture" r:id="rId6" imgW="1943100" imgH="800100" progId="Word.Picture.8">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1600200"/>
                        <a:ext cx="4343400" cy="1787525"/>
                      </a:xfrm>
                      <a:prstGeom prst="rect">
                        <a:avLst/>
                      </a:prstGeom>
                      <a:solidFill>
                        <a:srgbClr val="F8F8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3"/>
          <p:cNvGraphicFramePr>
            <a:graphicFrameLocks noChangeAspect="1"/>
          </p:cNvGraphicFramePr>
          <p:nvPr/>
        </p:nvGraphicFramePr>
        <p:xfrm>
          <a:off x="4800600" y="1609725"/>
          <a:ext cx="4343400" cy="1768475"/>
        </p:xfrm>
        <a:graphic>
          <a:graphicData uri="http://schemas.openxmlformats.org/presentationml/2006/ole">
            <mc:AlternateContent xmlns:mc="http://schemas.openxmlformats.org/markup-compatibility/2006">
              <mc:Choice xmlns:v="urn:schemas-microsoft-com:vml" Requires="v">
                <p:oleObj spid="_x0000_s47158" name="Picture" r:id="rId8" imgW="1943100" imgH="790575" progId="Word.Picture.8">
                  <p:embed/>
                </p:oleObj>
              </mc:Choice>
              <mc:Fallback>
                <p:oleObj name="Picture" r:id="rId8" imgW="1943100" imgH="790575" progId="Word.Picture.8">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1609725"/>
                        <a:ext cx="4343400"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
          <p:cNvGraphicFramePr>
            <a:graphicFrameLocks noChangeAspect="1"/>
          </p:cNvGraphicFramePr>
          <p:nvPr/>
        </p:nvGraphicFramePr>
        <p:xfrm>
          <a:off x="79375" y="3470275"/>
          <a:ext cx="5407025" cy="577850"/>
        </p:xfrm>
        <a:graphic>
          <a:graphicData uri="http://schemas.openxmlformats.org/presentationml/2006/ole">
            <mc:AlternateContent xmlns:mc="http://schemas.openxmlformats.org/markup-compatibility/2006">
              <mc:Choice xmlns:v="urn:schemas-microsoft-com:vml" Requires="v">
                <p:oleObj spid="_x0000_s47159" name="公式" r:id="rId10" imgW="2717800" imgH="241300" progId="Equation.3">
                  <p:embed/>
                </p:oleObj>
              </mc:Choice>
              <mc:Fallback>
                <p:oleObj name="公式" r:id="rId10" imgW="2717800" imgH="2413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75" y="3470275"/>
                        <a:ext cx="5407025" cy="5778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3923075779"/>
              </p:ext>
            </p:extLst>
          </p:nvPr>
        </p:nvGraphicFramePr>
        <p:xfrm>
          <a:off x="5441950" y="3503613"/>
          <a:ext cx="3786188" cy="549275"/>
        </p:xfrm>
        <a:graphic>
          <a:graphicData uri="http://schemas.openxmlformats.org/presentationml/2006/ole">
            <mc:AlternateContent xmlns:mc="http://schemas.openxmlformats.org/markup-compatibility/2006">
              <mc:Choice xmlns:v="urn:schemas-microsoft-com:vml" Requires="v">
                <p:oleObj spid="_x0000_s47160" name="公式" r:id="rId12" imgW="1841400" imgH="228600" progId="Equation.3">
                  <p:embed/>
                </p:oleObj>
              </mc:Choice>
              <mc:Fallback>
                <p:oleObj name="公式" r:id="rId12" imgW="1841400" imgH="228600" progId="Equation.3">
                  <p:embed/>
                  <p:pic>
                    <p:nvPicPr>
                      <p:cNvPr id="0" name="Object 5"/>
                      <p:cNvPicPr>
                        <a:picLocks noChangeAspect="1" noChangeArrowheads="1"/>
                      </p:cNvPicPr>
                      <p:nvPr/>
                    </p:nvPicPr>
                    <p:blipFill>
                      <a:blip r:embed="rId13"/>
                      <a:srcRect/>
                      <a:stretch>
                        <a:fillRect/>
                      </a:stretch>
                    </p:blipFill>
                    <p:spPr bwMode="auto">
                      <a:xfrm>
                        <a:off x="5441950" y="3503613"/>
                        <a:ext cx="3786188" cy="5492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Oval 2055"/>
          <p:cNvSpPr>
            <a:spLocks noChangeArrowheads="1"/>
          </p:cNvSpPr>
          <p:nvPr/>
        </p:nvSpPr>
        <p:spPr bwMode="auto">
          <a:xfrm>
            <a:off x="1711325" y="214312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Oval 2056"/>
          <p:cNvSpPr>
            <a:spLocks noChangeArrowheads="1"/>
          </p:cNvSpPr>
          <p:nvPr/>
        </p:nvSpPr>
        <p:spPr bwMode="auto">
          <a:xfrm>
            <a:off x="2490788" y="2489200"/>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Oval 2057"/>
          <p:cNvSpPr>
            <a:spLocks noChangeArrowheads="1"/>
          </p:cNvSpPr>
          <p:nvPr/>
        </p:nvSpPr>
        <p:spPr bwMode="auto">
          <a:xfrm>
            <a:off x="3263900" y="214312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Oval 2058"/>
          <p:cNvSpPr>
            <a:spLocks noChangeArrowheads="1"/>
          </p:cNvSpPr>
          <p:nvPr/>
        </p:nvSpPr>
        <p:spPr bwMode="auto">
          <a:xfrm>
            <a:off x="4021138" y="2524125"/>
            <a:ext cx="533400" cy="457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Oval 2059"/>
          <p:cNvSpPr>
            <a:spLocks noChangeArrowheads="1"/>
          </p:cNvSpPr>
          <p:nvPr/>
        </p:nvSpPr>
        <p:spPr bwMode="auto">
          <a:xfrm>
            <a:off x="6026150" y="2143125"/>
            <a:ext cx="1219200" cy="45720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Oval 2061"/>
          <p:cNvSpPr>
            <a:spLocks noChangeArrowheads="1"/>
          </p:cNvSpPr>
          <p:nvPr/>
        </p:nvSpPr>
        <p:spPr bwMode="auto">
          <a:xfrm>
            <a:off x="5949950" y="2143125"/>
            <a:ext cx="533400" cy="8382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Line 2062"/>
          <p:cNvSpPr>
            <a:spLocks noChangeShapeType="1"/>
          </p:cNvSpPr>
          <p:nvPr/>
        </p:nvSpPr>
        <p:spPr bwMode="auto">
          <a:xfrm flipH="1">
            <a:off x="838200" y="2447925"/>
            <a:ext cx="914400" cy="990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063"/>
          <p:cNvSpPr>
            <a:spLocks noChangeShapeType="1"/>
          </p:cNvSpPr>
          <p:nvPr/>
        </p:nvSpPr>
        <p:spPr bwMode="auto">
          <a:xfrm flipH="1">
            <a:off x="2209800" y="2828925"/>
            <a:ext cx="3048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064"/>
          <p:cNvSpPr>
            <a:spLocks noChangeShapeType="1"/>
          </p:cNvSpPr>
          <p:nvPr/>
        </p:nvSpPr>
        <p:spPr bwMode="auto">
          <a:xfrm flipH="1">
            <a:off x="3581400" y="2981325"/>
            <a:ext cx="609600"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065"/>
          <p:cNvSpPr>
            <a:spLocks noChangeShapeType="1"/>
          </p:cNvSpPr>
          <p:nvPr/>
        </p:nvSpPr>
        <p:spPr bwMode="auto">
          <a:xfrm>
            <a:off x="3581400" y="2524125"/>
            <a:ext cx="1219200" cy="990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 name="Group 2072"/>
          <p:cNvGrpSpPr>
            <a:grpSpLocks/>
          </p:cNvGrpSpPr>
          <p:nvPr/>
        </p:nvGrpSpPr>
        <p:grpSpPr bwMode="auto">
          <a:xfrm>
            <a:off x="685800" y="1000125"/>
            <a:ext cx="5791200" cy="457200"/>
            <a:chOff x="432" y="528"/>
            <a:chExt cx="3648" cy="288"/>
          </a:xfrm>
          <a:solidFill>
            <a:schemeClr val="bg1"/>
          </a:solidFill>
        </p:grpSpPr>
        <p:sp>
          <p:nvSpPr>
            <p:cNvPr id="20" name="Text Box 2069"/>
            <p:cNvSpPr txBox="1">
              <a:spLocks noChangeArrowheads="1"/>
            </p:cNvSpPr>
            <p:nvPr/>
          </p:nvSpPr>
          <p:spPr bwMode="auto">
            <a:xfrm>
              <a:off x="432" y="528"/>
              <a:ext cx="3648" cy="288"/>
            </a:xfrm>
            <a:prstGeom prst="rect">
              <a:avLst/>
            </a:prstGeom>
            <a:grpFill/>
            <a:ln w="9525">
              <a:noFill/>
              <a:miter lim="800000"/>
              <a:headEnd/>
              <a:tailEnd/>
            </a:ln>
            <a:effectLst/>
          </p:spPr>
          <p:txBody>
            <a:bodyPr>
              <a:spAutoFit/>
            </a:bodyPr>
            <a:lstStyle/>
            <a:p>
              <a:pPr>
                <a:spcBef>
                  <a:spcPct val="50000"/>
                </a:spcBef>
                <a:defRPr/>
              </a:pPr>
              <a:r>
                <a:rPr lang="zh-CN" altLang="en-US" dirty="0"/>
                <a:t>先求</a:t>
              </a:r>
              <a:r>
                <a:rPr lang="en-US" altLang="zh-CN" dirty="0"/>
                <a:t>S</a:t>
              </a:r>
              <a:r>
                <a:rPr lang="en-US" altLang="zh-CN" baseline="-25000" dirty="0"/>
                <a:t>i</a:t>
              </a:r>
              <a:r>
                <a:rPr lang="zh-CN" altLang="en-US" dirty="0"/>
                <a:t>和</a:t>
              </a:r>
              <a:r>
                <a:rPr lang="en-US" altLang="zh-CN" dirty="0"/>
                <a:t>C</a:t>
              </a:r>
              <a:r>
                <a:rPr lang="en-US" altLang="zh-CN" baseline="-25000" dirty="0"/>
                <a:t>i</a:t>
              </a:r>
              <a:r>
                <a:rPr lang="zh-CN" altLang="en-US" dirty="0"/>
                <a:t>。为此，合并值为</a:t>
              </a:r>
              <a:r>
                <a:rPr lang="en-US" altLang="zh-CN" dirty="0"/>
                <a:t>0</a:t>
              </a:r>
              <a:r>
                <a:rPr lang="zh-CN" altLang="en-US" dirty="0"/>
                <a:t>的最小项。</a:t>
              </a:r>
            </a:p>
          </p:txBody>
        </p:sp>
        <p:sp>
          <p:nvSpPr>
            <p:cNvPr id="21" name="Line 2070"/>
            <p:cNvSpPr>
              <a:spLocks noChangeShapeType="1"/>
            </p:cNvSpPr>
            <p:nvPr/>
          </p:nvSpPr>
          <p:spPr bwMode="auto">
            <a:xfrm>
              <a:off x="864" y="576"/>
              <a:ext cx="144" cy="1"/>
            </a:xfrm>
            <a:prstGeom prst="line">
              <a:avLst/>
            </a:prstGeom>
            <a:grpFill/>
            <a:ln w="9525">
              <a:solidFill>
                <a:schemeClr val="tx1"/>
              </a:solidFill>
              <a:round/>
              <a:headEnd/>
              <a:tailEnd/>
            </a:ln>
            <a:effectLst/>
          </p:spPr>
          <p:txBody>
            <a:bodyPr wrap="none" anchor="ctr"/>
            <a:lstStyle/>
            <a:p>
              <a:pPr>
                <a:defRPr/>
              </a:pPr>
              <a:endParaRPr lang="zh-CN" altLang="en-US"/>
            </a:p>
          </p:txBody>
        </p:sp>
        <p:sp>
          <p:nvSpPr>
            <p:cNvPr id="22" name="Line 2071"/>
            <p:cNvSpPr>
              <a:spLocks noChangeShapeType="1"/>
            </p:cNvSpPr>
            <p:nvPr/>
          </p:nvSpPr>
          <p:spPr bwMode="auto">
            <a:xfrm>
              <a:off x="1211" y="576"/>
              <a:ext cx="144" cy="1"/>
            </a:xfrm>
            <a:prstGeom prst="line">
              <a:avLst/>
            </a:prstGeom>
            <a:grpFill/>
            <a:ln w="9525">
              <a:solidFill>
                <a:schemeClr val="tx1"/>
              </a:solidFill>
              <a:round/>
              <a:headEnd/>
              <a:tailEnd/>
            </a:ln>
            <a:effectLst/>
          </p:spPr>
          <p:txBody>
            <a:bodyPr wrap="none" anchor="ctr"/>
            <a:lstStyle/>
            <a:p>
              <a:pPr>
                <a:defRPr/>
              </a:pPr>
              <a:endParaRPr lang="zh-CN" altLang="en-US"/>
            </a:p>
          </p:txBody>
        </p:sp>
      </p:grpSp>
      <p:sp>
        <p:nvSpPr>
          <p:cNvPr id="23" name="Line 2073"/>
          <p:cNvSpPr>
            <a:spLocks noChangeShapeType="1"/>
          </p:cNvSpPr>
          <p:nvPr/>
        </p:nvSpPr>
        <p:spPr bwMode="auto">
          <a:xfrm>
            <a:off x="6330950" y="2962275"/>
            <a:ext cx="30480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074"/>
          <p:cNvSpPr>
            <a:spLocks noChangeShapeType="1"/>
          </p:cNvSpPr>
          <p:nvPr/>
        </p:nvSpPr>
        <p:spPr bwMode="auto">
          <a:xfrm>
            <a:off x="6711950" y="2616200"/>
            <a:ext cx="685800" cy="838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 name="Group 2077"/>
          <p:cNvGrpSpPr>
            <a:grpSpLocks/>
          </p:cNvGrpSpPr>
          <p:nvPr/>
        </p:nvGrpSpPr>
        <p:grpSpPr bwMode="auto">
          <a:xfrm>
            <a:off x="5797550" y="2082800"/>
            <a:ext cx="3200400" cy="457200"/>
            <a:chOff x="3408" y="2880"/>
            <a:chExt cx="2016" cy="288"/>
          </a:xfrm>
        </p:grpSpPr>
        <p:sp>
          <p:nvSpPr>
            <p:cNvPr id="47131" name="Freeform 2075"/>
            <p:cNvSpPr>
              <a:spLocks/>
            </p:cNvSpPr>
            <p:nvPr/>
          </p:nvSpPr>
          <p:spPr bwMode="auto">
            <a:xfrm>
              <a:off x="3408" y="2880"/>
              <a:ext cx="496" cy="288"/>
            </a:xfrm>
            <a:custGeom>
              <a:avLst/>
              <a:gdLst>
                <a:gd name="T0" fmla="*/ 96 w 496"/>
                <a:gd name="T1" fmla="*/ 0 h 288"/>
                <a:gd name="T2" fmla="*/ 480 w 496"/>
                <a:gd name="T3" fmla="*/ 192 h 288"/>
                <a:gd name="T4" fmla="*/ 0 w 496"/>
                <a:gd name="T5" fmla="*/ 288 h 288"/>
                <a:gd name="T6" fmla="*/ 0 60000 65536"/>
                <a:gd name="T7" fmla="*/ 0 60000 65536"/>
                <a:gd name="T8" fmla="*/ 0 60000 65536"/>
                <a:gd name="T9" fmla="*/ 0 w 496"/>
                <a:gd name="T10" fmla="*/ 0 h 288"/>
                <a:gd name="T11" fmla="*/ 496 w 496"/>
                <a:gd name="T12" fmla="*/ 288 h 288"/>
              </a:gdLst>
              <a:ahLst/>
              <a:cxnLst>
                <a:cxn ang="T6">
                  <a:pos x="T0" y="T1"/>
                </a:cxn>
                <a:cxn ang="T7">
                  <a:pos x="T2" y="T3"/>
                </a:cxn>
                <a:cxn ang="T8">
                  <a:pos x="T4" y="T5"/>
                </a:cxn>
              </a:cxnLst>
              <a:rect l="T9" t="T10" r="T11" b="T12"/>
              <a:pathLst>
                <a:path w="496" h="288">
                  <a:moveTo>
                    <a:pt x="96" y="0"/>
                  </a:moveTo>
                  <a:cubicBezTo>
                    <a:pt x="296" y="72"/>
                    <a:pt x="496" y="144"/>
                    <a:pt x="480" y="192"/>
                  </a:cubicBezTo>
                  <a:cubicBezTo>
                    <a:pt x="464" y="240"/>
                    <a:pt x="232" y="264"/>
                    <a:pt x="0" y="288"/>
                  </a:cubicBezTo>
                </a:path>
              </a:pathLst>
            </a:custGeom>
            <a:noFill/>
            <a:ln w="381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32" name="Freeform 2076"/>
            <p:cNvSpPr>
              <a:spLocks/>
            </p:cNvSpPr>
            <p:nvPr/>
          </p:nvSpPr>
          <p:spPr bwMode="auto">
            <a:xfrm flipH="1">
              <a:off x="4928" y="2880"/>
              <a:ext cx="496" cy="288"/>
            </a:xfrm>
            <a:custGeom>
              <a:avLst/>
              <a:gdLst>
                <a:gd name="T0" fmla="*/ 96 w 496"/>
                <a:gd name="T1" fmla="*/ 0 h 288"/>
                <a:gd name="T2" fmla="*/ 480 w 496"/>
                <a:gd name="T3" fmla="*/ 192 h 288"/>
                <a:gd name="T4" fmla="*/ 0 w 496"/>
                <a:gd name="T5" fmla="*/ 288 h 288"/>
                <a:gd name="T6" fmla="*/ 0 60000 65536"/>
                <a:gd name="T7" fmla="*/ 0 60000 65536"/>
                <a:gd name="T8" fmla="*/ 0 60000 65536"/>
                <a:gd name="T9" fmla="*/ 0 w 496"/>
                <a:gd name="T10" fmla="*/ 0 h 288"/>
                <a:gd name="T11" fmla="*/ 496 w 496"/>
                <a:gd name="T12" fmla="*/ 288 h 288"/>
              </a:gdLst>
              <a:ahLst/>
              <a:cxnLst>
                <a:cxn ang="T6">
                  <a:pos x="T0" y="T1"/>
                </a:cxn>
                <a:cxn ang="T7">
                  <a:pos x="T2" y="T3"/>
                </a:cxn>
                <a:cxn ang="T8">
                  <a:pos x="T4" y="T5"/>
                </a:cxn>
              </a:cxnLst>
              <a:rect l="T9" t="T10" r="T11" b="T12"/>
              <a:pathLst>
                <a:path w="496" h="288">
                  <a:moveTo>
                    <a:pt x="96" y="0"/>
                  </a:moveTo>
                  <a:cubicBezTo>
                    <a:pt x="296" y="72"/>
                    <a:pt x="496" y="144"/>
                    <a:pt x="480" y="192"/>
                  </a:cubicBezTo>
                  <a:cubicBezTo>
                    <a:pt x="464" y="240"/>
                    <a:pt x="232" y="264"/>
                    <a:pt x="0" y="288"/>
                  </a:cubicBezTo>
                </a:path>
              </a:pathLst>
            </a:custGeom>
            <a:noFill/>
            <a:ln w="381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8" name="Freeform 2078"/>
          <p:cNvSpPr>
            <a:spLocks/>
          </p:cNvSpPr>
          <p:nvPr/>
        </p:nvSpPr>
        <p:spPr bwMode="auto">
          <a:xfrm>
            <a:off x="6407150" y="2463800"/>
            <a:ext cx="2133600" cy="990600"/>
          </a:xfrm>
          <a:custGeom>
            <a:avLst/>
            <a:gdLst>
              <a:gd name="T0" fmla="*/ 0 w 1344"/>
              <a:gd name="T1" fmla="*/ 0 h 624"/>
              <a:gd name="T2" fmla="*/ 2147483647 w 1344"/>
              <a:gd name="T3" fmla="*/ 2147483647 h 624"/>
              <a:gd name="T4" fmla="*/ 2147483647 w 1344"/>
              <a:gd name="T5" fmla="*/ 0 h 624"/>
              <a:gd name="T6" fmla="*/ 0 60000 65536"/>
              <a:gd name="T7" fmla="*/ 0 60000 65536"/>
              <a:gd name="T8" fmla="*/ 0 60000 65536"/>
              <a:gd name="T9" fmla="*/ 0 w 1344"/>
              <a:gd name="T10" fmla="*/ 0 h 624"/>
              <a:gd name="T11" fmla="*/ 1344 w 1344"/>
              <a:gd name="T12" fmla="*/ 624 h 624"/>
            </a:gdLst>
            <a:ahLst/>
            <a:cxnLst>
              <a:cxn ang="T6">
                <a:pos x="T0" y="T1"/>
              </a:cxn>
              <a:cxn ang="T7">
                <a:pos x="T2" y="T3"/>
              </a:cxn>
              <a:cxn ang="T8">
                <a:pos x="T4" y="T5"/>
              </a:cxn>
            </a:cxnLst>
            <a:rect l="T9" t="T10" r="T11" b="T12"/>
            <a:pathLst>
              <a:path w="1344" h="624">
                <a:moveTo>
                  <a:pt x="0" y="0"/>
                </a:moveTo>
                <a:lnTo>
                  <a:pt x="1344" y="624"/>
                </a:lnTo>
                <a:lnTo>
                  <a:pt x="1200" y="0"/>
                </a:lnTo>
              </a:path>
            </a:pathLst>
          </a:custGeom>
          <a:noFill/>
          <a:ln w="381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Text Box 2079"/>
          <p:cNvSpPr txBox="1">
            <a:spLocks noChangeArrowheads="1"/>
          </p:cNvSpPr>
          <p:nvPr/>
        </p:nvSpPr>
        <p:spPr bwMode="auto">
          <a:xfrm>
            <a:off x="609600" y="4200525"/>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再取反，得：</a:t>
            </a:r>
          </a:p>
        </p:txBody>
      </p:sp>
      <p:graphicFrame>
        <p:nvGraphicFramePr>
          <p:cNvPr id="30" name="Object 6"/>
          <p:cNvGraphicFramePr>
            <a:graphicFrameLocks noChangeAspect="1"/>
          </p:cNvGraphicFramePr>
          <p:nvPr/>
        </p:nvGraphicFramePr>
        <p:xfrm>
          <a:off x="1120775" y="4837113"/>
          <a:ext cx="6215063" cy="642937"/>
        </p:xfrm>
        <a:graphic>
          <a:graphicData uri="http://schemas.openxmlformats.org/presentationml/2006/ole">
            <mc:AlternateContent xmlns:mc="http://schemas.openxmlformats.org/markup-compatibility/2006">
              <mc:Choice xmlns:v="urn:schemas-microsoft-com:vml" Requires="v">
                <p:oleObj spid="_x0000_s47161" name="公式" r:id="rId14" imgW="3124200" imgH="266700" progId="Equation.3">
                  <p:embed/>
                </p:oleObj>
              </mc:Choice>
              <mc:Fallback>
                <p:oleObj name="公式" r:id="rId14" imgW="3124200" imgH="266700" progId="Equation.3">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0775" y="4837113"/>
                        <a:ext cx="6215063" cy="6429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7"/>
          <p:cNvGraphicFramePr>
            <a:graphicFrameLocks noChangeAspect="1"/>
          </p:cNvGraphicFramePr>
          <p:nvPr/>
        </p:nvGraphicFramePr>
        <p:xfrm>
          <a:off x="2152650" y="5648325"/>
          <a:ext cx="3943350" cy="676275"/>
        </p:xfrm>
        <a:graphic>
          <a:graphicData uri="http://schemas.openxmlformats.org/presentationml/2006/ole">
            <mc:AlternateContent xmlns:mc="http://schemas.openxmlformats.org/markup-compatibility/2006">
              <mc:Choice xmlns:v="urn:schemas-microsoft-com:vml" Requires="v">
                <p:oleObj spid="_x0000_s47162" name="公式" r:id="rId16" imgW="1917700" imgH="279400" progId="Equation.3">
                  <p:embed/>
                </p:oleObj>
              </mc:Choice>
              <mc:Fallback>
                <p:oleObj name="公式" r:id="rId16" imgW="1917700" imgH="279400" progId="Equation.3">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52650" y="5648325"/>
                        <a:ext cx="3943350" cy="6762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out)">
                                      <p:cBhvr>
                                        <p:cTn id="22" dur="500"/>
                                        <p:tgtEl>
                                          <p:spTgt spid="7"/>
                                        </p:tgtEl>
                                      </p:cBhvr>
                                    </p:animEffect>
                                  </p:childTnLst>
                                  <p:subTnLs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nodeType="afterGroup">
                            <p:stCondLst>
                              <p:cond delay="500"/>
                            </p:stCondLst>
                            <p:childTnLst>
                              <p:par>
                                <p:cTn id="29" presetID="18" presetClass="entr" presetSubtype="12"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strips(downLeft)">
                                      <p:cBhvr>
                                        <p:cTn id="31" dur="500"/>
                                        <p:tgtEl>
                                          <p:spTgt spid="1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nodeType="afterGroup">
                            <p:stCondLst>
                              <p:cond delay="500"/>
                            </p:stCondLst>
                            <p:childTnLst>
                              <p:par>
                                <p:cTn id="38" presetID="18" presetClass="entr" presetSubtype="12"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par>
                          <p:cTn id="46" fill="hold" nodeType="afterGroup">
                            <p:stCondLst>
                              <p:cond delay="500"/>
                            </p:stCondLst>
                            <p:childTnLst>
                              <p:par>
                                <p:cTn id="47" presetID="18" presetClass="entr" presetSubtype="12"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strips(downLeft)">
                                      <p:cBhvr>
                                        <p:cTn id="49" dur="500"/>
                                        <p:tgtEl>
                                          <p:spTgt spid="1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par>
                          <p:cTn id="55" fill="hold" nodeType="afterGroup">
                            <p:stCondLst>
                              <p:cond delay="500"/>
                            </p:stCondLst>
                            <p:childTnLst>
                              <p:par>
                                <p:cTn id="56" presetID="18" presetClass="entr" presetSubtype="6"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strips(downRight)">
                                      <p:cBhvr>
                                        <p:cTn id="58" dur="500"/>
                                        <p:tgtEl>
                                          <p:spTgt spid="1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dissolve">
                                      <p:cBhvr>
                                        <p:cTn id="63" dur="500"/>
                                        <p:tgtEl>
                                          <p:spTgt spid="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4" presetClass="entr" presetSubtype="32"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box(out)">
                                      <p:cBhvr>
                                        <p:cTn id="68" dur="500"/>
                                        <p:tgtEl>
                                          <p:spTgt spid="8"/>
                                        </p:tgtEl>
                                      </p:cBhvr>
                                    </p:animEffect>
                                  </p:childTnLst>
                                  <p:subTnLst>
                                    <p:audio>
                                      <p:cMediaNode>
                                        <p:cTn display="0" masterRel="sameClick">
                                          <p:stCondLst>
                                            <p:cond evt="begin" delay="0">
                                              <p:tn val="66"/>
                                            </p:cond>
                                          </p:stCondLst>
                                          <p:endCondLst>
                                            <p:cond evt="onStopAudio" delay="0">
                                              <p:tgtEl>
                                                <p:sldTgt/>
                                              </p:tgtEl>
                                            </p:cond>
                                          </p:endCondLst>
                                        </p:cTn>
                                        <p:tgtEl>
                                          <p:sndTgt r:embed="rId4" name="CAMERA.WAV"/>
                                        </p:tgtEl>
                                      </p:cMediaNode>
                                    </p:audio>
                                  </p:subTnLst>
                                </p:cTn>
                              </p:par>
                            </p:childTnLst>
                          </p:cTn>
                        </p:par>
                        <p:par>
                          <p:cTn id="69" fill="hold" nodeType="afterGroup">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par>
                          <p:cTn id="73" fill="hold" nodeType="afterGroup">
                            <p:stCondLst>
                              <p:cond delay="1000"/>
                            </p:stCondLst>
                            <p:childTnLst>
                              <p:par>
                                <p:cTn id="74" presetID="18" presetClass="entr" presetSubtype="6" fill="hold" grpId="0" nodeType="after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strips(downRight)">
                                      <p:cBhvr>
                                        <p:cTn id="76" dur="500"/>
                                        <p:tgtEl>
                                          <p:spTgt spid="2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wipe(left)">
                                      <p:cBhvr>
                                        <p:cTn id="81" dur="500"/>
                                        <p:tgtEl>
                                          <p:spTgt spid="13"/>
                                        </p:tgtEl>
                                      </p:cBhvr>
                                    </p:animEffect>
                                  </p:childTnLst>
                                </p:cTn>
                              </p:par>
                            </p:childTnLst>
                          </p:cTn>
                        </p:par>
                        <p:par>
                          <p:cTn id="82" fill="hold" nodeType="afterGroup">
                            <p:stCondLst>
                              <p:cond delay="500"/>
                            </p:stCondLst>
                            <p:childTnLst>
                              <p:par>
                                <p:cTn id="83" presetID="18" presetClass="entr" presetSubtype="6" fill="hold" grpId="0" nodeType="after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strips(downRight)">
                                      <p:cBhvr>
                                        <p:cTn id="85" dur="500"/>
                                        <p:tgtEl>
                                          <p:spTgt spid="2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6" presetClass="entr" presetSubtype="37" fill="hold"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barn(outVertical)">
                                      <p:cBhvr>
                                        <p:cTn id="90" dur="500"/>
                                        <p:tgtEl>
                                          <p:spTgt spid="25"/>
                                        </p:tgtEl>
                                      </p:cBhvr>
                                    </p:animEffect>
                                  </p:childTnLst>
                                </p:cTn>
                              </p:par>
                            </p:childTnLst>
                          </p:cTn>
                        </p:par>
                        <p:par>
                          <p:cTn id="91" fill="hold" nodeType="afterGroup">
                            <p:stCondLst>
                              <p:cond delay="500"/>
                            </p:stCondLst>
                            <p:childTnLst>
                              <p:par>
                                <p:cTn id="92" presetID="18" presetClass="entr" presetSubtype="6" fill="hold" grpId="0" nodeType="after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strips(downRight)">
                                      <p:cBhvr>
                                        <p:cTn id="94" dur="500"/>
                                        <p:tgtEl>
                                          <p:spTgt spid="28"/>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grpId="0" nodeType="clickEffect">
                                  <p:stCondLst>
                                    <p:cond delay="0"/>
                                  </p:stCondLst>
                                  <p:iterate type="lt">
                                    <p:tmPct val="100000"/>
                                  </p:iterate>
                                  <p:childTnLst>
                                    <p:set>
                                      <p:cBhvr>
                                        <p:cTn id="98" dur="1" fill="hold">
                                          <p:stCondLst>
                                            <p:cond delay="0"/>
                                          </p:stCondLst>
                                        </p:cTn>
                                        <p:tgtEl>
                                          <p:spTgt spid="29">
                                            <p:txEl>
                                              <p:pRg st="0" end="0"/>
                                            </p:txEl>
                                          </p:spTgt>
                                        </p:tgtEl>
                                        <p:attrNameLst>
                                          <p:attrName>style.visibility</p:attrName>
                                        </p:attrNameLst>
                                      </p:cBhvr>
                                      <p:to>
                                        <p:strVal val="visible"/>
                                      </p:to>
                                    </p:set>
                                    <p:animEffect transition="in" filter="wipe(up)">
                                      <p:cBhvr>
                                        <p:cTn id="99" dur="75"/>
                                        <p:tgtEl>
                                          <p:spTgt spid="29">
                                            <p:txEl>
                                              <p:pRg st="0" end="0"/>
                                            </p:txEl>
                                          </p:spTgt>
                                        </p:tgtEl>
                                      </p:cBhvr>
                                    </p:animEffect>
                                  </p:childTnLst>
                                  <p:subTnLst>
                                    <p:audio>
                                      <p:cMediaNode>
                                        <p:cTn display="0" masterRel="sameClick">
                                          <p:stCondLst>
                                            <p:cond evt="begin" delay="0">
                                              <p:tn val="97"/>
                                            </p:cond>
                                          </p:stCondLst>
                                          <p:endCondLst>
                                            <p:cond evt="onStopAudio" delay="0">
                                              <p:tgtEl>
                                                <p:sldTgt/>
                                              </p:tgtEl>
                                            </p:cond>
                                          </p:endCondLst>
                                        </p:cTn>
                                        <p:tgtEl>
                                          <p:sndTgt r:embed="rId5" name="TYPE.WAV"/>
                                        </p:tgtEl>
                                      </p:cMediaNode>
                                    </p:audio>
                                  </p:subTnLst>
                                </p:cTn>
                              </p:par>
                            </p:childTnLst>
                          </p:cTn>
                        </p:par>
                      </p:childTnLst>
                    </p:cTn>
                  </p:par>
                  <p:par>
                    <p:cTn id="100" fill="hold" nodeType="clickPar">
                      <p:stCondLst>
                        <p:cond delay="indefinite"/>
                      </p:stCondLst>
                      <p:childTnLst>
                        <p:par>
                          <p:cTn id="101" fill="hold" nodeType="withGroup">
                            <p:stCondLst>
                              <p:cond delay="0"/>
                            </p:stCondLst>
                            <p:childTnLst>
                              <p:par>
                                <p:cTn id="102" presetID="4" presetClass="entr" presetSubtype="32" fill="hold" nodeType="click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box(out)">
                                      <p:cBhvr>
                                        <p:cTn id="104" dur="500"/>
                                        <p:tgtEl>
                                          <p:spTgt spid="30"/>
                                        </p:tgtEl>
                                      </p:cBhvr>
                                    </p:animEffect>
                                  </p:childTnLst>
                                  <p:subTnLst>
                                    <p:audio>
                                      <p:cMediaNode>
                                        <p:cTn display="0" masterRel="sameClick">
                                          <p:stCondLst>
                                            <p:cond evt="begin" delay="0">
                                              <p:tn val="102"/>
                                            </p:cond>
                                          </p:stCondLst>
                                          <p:endCondLst>
                                            <p:cond evt="onStopAudio" delay="0">
                                              <p:tgtEl>
                                                <p:sldTgt/>
                                              </p:tgtEl>
                                            </p:cond>
                                          </p:endCondLst>
                                        </p:cTn>
                                        <p:tgtEl>
                                          <p:sndTgt r:embed="rId4" name="CAMERA.WAV"/>
                                        </p:tgtEl>
                                      </p:cMediaNode>
                                    </p:audio>
                                  </p:subTnLst>
                                </p:cTn>
                              </p:par>
                            </p:childTnLst>
                          </p:cTn>
                        </p:par>
                      </p:childTnLst>
                    </p:cTn>
                  </p:par>
                  <p:par>
                    <p:cTn id="105" fill="hold" nodeType="clickPar">
                      <p:stCondLst>
                        <p:cond delay="indefinite"/>
                      </p:stCondLst>
                      <p:childTnLst>
                        <p:par>
                          <p:cTn id="106" fill="hold" nodeType="withGroup">
                            <p:stCondLst>
                              <p:cond delay="0"/>
                            </p:stCondLst>
                            <p:childTnLst>
                              <p:par>
                                <p:cTn id="107" presetID="4" presetClass="entr" presetSubtype="32" fill="hold" nodeType="click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box(out)">
                                      <p:cBhvr>
                                        <p:cTn id="109" dur="500"/>
                                        <p:tgtEl>
                                          <p:spTgt spid="31"/>
                                        </p:tgtEl>
                                      </p:cBhvr>
                                    </p:animEffect>
                                  </p:childTnLst>
                                  <p:subTnLst>
                                    <p:audio>
                                      <p:cMediaNode>
                                        <p:cTn display="0" masterRel="sameClick">
                                          <p:stCondLst>
                                            <p:cond evt="begin" delay="0">
                                              <p:tn val="107"/>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3" grpId="0" animBg="1"/>
      <p:bldP spid="24" grpId="0" animBg="1"/>
      <p:bldP spid="28" grpId="0" animBg="1"/>
      <p:bldP spid="29"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C5BE1339-BEF4-408E-8873-2EC28DD9435D}"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129CEC5A-8183-41DF-87D3-40EEAF4C7B2A}" type="slidenum">
              <a:rPr lang="en-US" altLang="zh-CN" smtClean="0"/>
              <a:pPr>
                <a:defRPr/>
              </a:pPr>
              <a:t>50</a:t>
            </a:fld>
            <a:endParaRPr lang="en-US" altLang="zh-CN"/>
          </a:p>
        </p:txBody>
      </p:sp>
      <p:graphicFrame>
        <p:nvGraphicFramePr>
          <p:cNvPr id="100354" name="Object 2"/>
          <p:cNvGraphicFramePr>
            <a:graphicFrameLocks noChangeAspect="1"/>
          </p:cNvGraphicFramePr>
          <p:nvPr/>
        </p:nvGraphicFramePr>
        <p:xfrm>
          <a:off x="1966913" y="1600200"/>
          <a:ext cx="6248400" cy="5164138"/>
        </p:xfrm>
        <a:graphic>
          <a:graphicData uri="http://schemas.openxmlformats.org/presentationml/2006/ole">
            <mc:AlternateContent xmlns:mc="http://schemas.openxmlformats.org/markup-compatibility/2006">
              <mc:Choice xmlns:v="urn:schemas-microsoft-com:vml" Requires="v">
                <p:oleObj spid="_x0000_s48147" name="Picture" r:id="rId5" imgW="2009775" imgH="1647825" progId="Word.Picture.8">
                  <p:embed/>
                </p:oleObj>
              </mc:Choice>
              <mc:Fallback>
                <p:oleObj name="Picture" r:id="rId5" imgW="2009775" imgH="1647825"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l="-1305" t="-1907" r="-1357" b="-1526"/>
                      <a:stretch>
                        <a:fillRect/>
                      </a:stretch>
                    </p:blipFill>
                    <p:spPr bwMode="auto">
                      <a:xfrm>
                        <a:off x="1966913" y="1600200"/>
                        <a:ext cx="6248400" cy="5164138"/>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56" name="Object 4"/>
          <p:cNvGraphicFramePr>
            <a:graphicFrameLocks noChangeAspect="1"/>
          </p:cNvGraphicFramePr>
          <p:nvPr/>
        </p:nvGraphicFramePr>
        <p:xfrm>
          <a:off x="2986088" y="882650"/>
          <a:ext cx="3341687" cy="676275"/>
        </p:xfrm>
        <a:graphic>
          <a:graphicData uri="http://schemas.openxmlformats.org/presentationml/2006/ole">
            <mc:AlternateContent xmlns:mc="http://schemas.openxmlformats.org/markup-compatibility/2006">
              <mc:Choice xmlns:v="urn:schemas-microsoft-com:vml" Requires="v">
                <p:oleObj spid="_x0000_s48148" name="公式" r:id="rId7" imgW="1625600" imgH="279400" progId="Equation.3">
                  <p:embed/>
                </p:oleObj>
              </mc:Choice>
              <mc:Fallback>
                <p:oleObj name="公式" r:id="rId7" imgW="1625600" imgH="2794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6088" y="882650"/>
                        <a:ext cx="3341687" cy="6762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6"/>
          <p:cNvGraphicFramePr>
            <a:graphicFrameLocks noChangeAspect="1"/>
          </p:cNvGraphicFramePr>
          <p:nvPr/>
        </p:nvGraphicFramePr>
        <p:xfrm>
          <a:off x="1120775" y="142875"/>
          <a:ext cx="6215063" cy="642938"/>
        </p:xfrm>
        <a:graphic>
          <a:graphicData uri="http://schemas.openxmlformats.org/presentationml/2006/ole">
            <mc:AlternateContent xmlns:mc="http://schemas.openxmlformats.org/markup-compatibility/2006">
              <mc:Choice xmlns:v="urn:schemas-microsoft-com:vml" Requires="v">
                <p:oleObj spid="_x0000_s48149" name="公式" r:id="rId9" imgW="3124200" imgH="266700" progId="Equation.3">
                  <p:embed/>
                </p:oleObj>
              </mc:Choice>
              <mc:Fallback>
                <p:oleObj name="公式" r:id="rId9" imgW="3124200" imgH="2667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0775" y="142875"/>
                        <a:ext cx="6215063" cy="6429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box(out)">
                                      <p:cBhvr>
                                        <p:cTn id="7" dur="500"/>
                                        <p:tgtEl>
                                          <p:spTgt spid="100356"/>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0354"/>
                                        </p:tgtEl>
                                        <p:attrNameLst>
                                          <p:attrName>style.visibility</p:attrName>
                                        </p:attrNameLst>
                                      </p:cBhvr>
                                      <p:to>
                                        <p:strVal val="visible"/>
                                      </p:to>
                                    </p:set>
                                    <p:animEffect transition="in" filter="dissolve">
                                      <p:cBhvr>
                                        <p:cTn id="12" dur="500"/>
                                        <p:tgtEl>
                                          <p:spTgt spid="1003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ox(out)">
                                      <p:cBhvr>
                                        <p:cTn id="17" dur="500"/>
                                        <p:tgtEl>
                                          <p:spTgt spid="30"/>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81E6C6D3-3AE8-4D40-802E-69DEB0561243}"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7CB7D7A8-CCF6-444C-9836-F52E7BE00A8F}" type="slidenum">
              <a:rPr lang="en-US" altLang="zh-CN" smtClean="0"/>
              <a:pPr>
                <a:defRPr/>
              </a:pPr>
              <a:t>51</a:t>
            </a:fld>
            <a:endParaRPr lang="en-US" altLang="zh-CN"/>
          </a:p>
        </p:txBody>
      </p:sp>
      <p:sp>
        <p:nvSpPr>
          <p:cNvPr id="4" name="Text Box 2050"/>
          <p:cNvSpPr txBox="1">
            <a:spLocks noChangeArrowheads="1"/>
          </p:cNvSpPr>
          <p:nvPr/>
        </p:nvSpPr>
        <p:spPr bwMode="auto">
          <a:xfrm>
            <a:off x="2743200" y="249238"/>
            <a:ext cx="3352800" cy="588962"/>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a:ea typeface="隶书" pitchFamily="49" charset="-122"/>
              </a:rPr>
              <a:t>  </a:t>
            </a:r>
            <a:r>
              <a:rPr lang="zh-CN" altLang="en-US" sz="3200">
                <a:ea typeface="隶书" pitchFamily="49" charset="-122"/>
              </a:rPr>
              <a:t>用半加器实现</a:t>
            </a:r>
            <a:endParaRPr lang="zh-CN" altLang="en-US"/>
          </a:p>
        </p:txBody>
      </p:sp>
      <p:graphicFrame>
        <p:nvGraphicFramePr>
          <p:cNvPr id="7" name="Object 3"/>
          <p:cNvGraphicFramePr>
            <a:graphicFrameLocks noChangeAspect="1"/>
          </p:cNvGraphicFramePr>
          <p:nvPr/>
        </p:nvGraphicFramePr>
        <p:xfrm>
          <a:off x="142875" y="1000125"/>
          <a:ext cx="3733800" cy="1131888"/>
        </p:xfrm>
        <a:graphic>
          <a:graphicData uri="http://schemas.openxmlformats.org/presentationml/2006/ole">
            <mc:AlternateContent xmlns:mc="http://schemas.openxmlformats.org/markup-compatibility/2006">
              <mc:Choice xmlns:v="urn:schemas-microsoft-com:vml" Requires="v">
                <p:oleObj spid="_x0000_s49180" name="公式" r:id="rId4" imgW="1586811" imgH="482391" progId="Equation.3">
                  <p:embed/>
                </p:oleObj>
              </mc:Choice>
              <mc:Fallback>
                <p:oleObj name="公式" r:id="rId4" imgW="1586811" imgH="48239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1000125"/>
                        <a:ext cx="3733800" cy="11318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5672138" y="1235075"/>
          <a:ext cx="2400300" cy="550863"/>
        </p:xfrm>
        <a:graphic>
          <a:graphicData uri="http://schemas.openxmlformats.org/presentationml/2006/ole">
            <mc:AlternateContent xmlns:mc="http://schemas.openxmlformats.org/markup-compatibility/2006">
              <mc:Choice xmlns:v="urn:schemas-microsoft-com:vml" Requires="v">
                <p:oleObj spid="_x0000_s49181" name="公式" r:id="rId6" imgW="1206500" imgH="228600" progId="Equation.3">
                  <p:embed/>
                </p:oleObj>
              </mc:Choice>
              <mc:Fallback>
                <p:oleObj name="公式" r:id="rId6" imgW="1206500" imgH="228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2138" y="1235075"/>
                        <a:ext cx="2400300" cy="55086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182640753"/>
              </p:ext>
            </p:extLst>
          </p:nvPr>
        </p:nvGraphicFramePr>
        <p:xfrm>
          <a:off x="5260975" y="1990725"/>
          <a:ext cx="3605213" cy="554038"/>
        </p:xfrm>
        <a:graphic>
          <a:graphicData uri="http://schemas.openxmlformats.org/presentationml/2006/ole">
            <mc:AlternateContent xmlns:mc="http://schemas.openxmlformats.org/markup-compatibility/2006">
              <mc:Choice xmlns:v="urn:schemas-microsoft-com:vml" Requires="v">
                <p:oleObj spid="_x0000_s49182" name="公式" r:id="rId8" imgW="1752480" imgH="228600" progId="Equation.3">
                  <p:embed/>
                </p:oleObj>
              </mc:Choice>
              <mc:Fallback>
                <p:oleObj name="公式" r:id="rId8" imgW="1752480" imgH="228600" progId="Equation.3">
                  <p:embed/>
                  <p:pic>
                    <p:nvPicPr>
                      <p:cNvPr id="0" name="Object 6"/>
                      <p:cNvPicPr>
                        <a:picLocks noChangeAspect="1" noChangeArrowheads="1"/>
                      </p:cNvPicPr>
                      <p:nvPr/>
                    </p:nvPicPr>
                    <p:blipFill>
                      <a:blip r:embed="rId9"/>
                      <a:srcRect/>
                      <a:stretch>
                        <a:fillRect/>
                      </a:stretch>
                    </p:blipFill>
                    <p:spPr bwMode="auto">
                      <a:xfrm>
                        <a:off x="5260975" y="1990725"/>
                        <a:ext cx="3605213" cy="5540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16"/>
          <p:cNvGrpSpPr>
            <a:grpSpLocks/>
          </p:cNvGrpSpPr>
          <p:nvPr/>
        </p:nvGrpSpPr>
        <p:grpSpPr bwMode="auto">
          <a:xfrm>
            <a:off x="5912168" y="5421313"/>
            <a:ext cx="1728787" cy="1008062"/>
            <a:chOff x="1748" y="1753"/>
            <a:chExt cx="993" cy="635"/>
          </a:xfrm>
        </p:grpSpPr>
        <p:sp>
          <p:nvSpPr>
            <p:cNvPr id="49163" name="Rectangle 17"/>
            <p:cNvSpPr>
              <a:spLocks noChangeArrowheads="1"/>
            </p:cNvSpPr>
            <p:nvPr/>
          </p:nvSpPr>
          <p:spPr bwMode="auto">
            <a:xfrm>
              <a:off x="1932" y="1801"/>
              <a:ext cx="377" cy="587"/>
            </a:xfrm>
            <a:prstGeom prst="rect">
              <a:avLst/>
            </a:prstGeom>
            <a:noFill/>
            <a:ln w="3810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4" name="Text Box 18"/>
            <p:cNvSpPr txBox="1">
              <a:spLocks noChangeArrowheads="1"/>
            </p:cNvSpPr>
            <p:nvPr/>
          </p:nvSpPr>
          <p:spPr bwMode="auto">
            <a:xfrm>
              <a:off x="1942" y="1753"/>
              <a:ext cx="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sz="3200" b="1" dirty="0">
                  <a:ea typeface="楷体_GB2312" pitchFamily="49" charset="-122"/>
                  <a:sym typeface="Symbol" pitchFamily="18" charset="2"/>
                </a:rPr>
                <a:t>1</a:t>
              </a:r>
              <a:endParaRPr lang="en-US" altLang="zh-CN" sz="3200" b="1" dirty="0">
                <a:ea typeface="楷体_GB2312" pitchFamily="49" charset="-122"/>
              </a:endParaRPr>
            </a:p>
          </p:txBody>
        </p:sp>
        <p:sp>
          <p:nvSpPr>
            <p:cNvPr id="49165" name="Line 19"/>
            <p:cNvSpPr>
              <a:spLocks noChangeShapeType="1"/>
            </p:cNvSpPr>
            <p:nvPr/>
          </p:nvSpPr>
          <p:spPr bwMode="auto">
            <a:xfrm>
              <a:off x="1748" y="1945"/>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6" name="Line 20"/>
            <p:cNvSpPr>
              <a:spLocks noChangeShapeType="1"/>
            </p:cNvSpPr>
            <p:nvPr/>
          </p:nvSpPr>
          <p:spPr bwMode="auto">
            <a:xfrm>
              <a:off x="1748" y="2208"/>
              <a:ext cx="19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7" name="Line 21"/>
            <p:cNvSpPr>
              <a:spLocks noChangeShapeType="1"/>
            </p:cNvSpPr>
            <p:nvPr/>
          </p:nvSpPr>
          <p:spPr bwMode="auto">
            <a:xfrm>
              <a:off x="2309" y="2118"/>
              <a:ext cx="432" cy="0"/>
            </a:xfrm>
            <a:prstGeom prst="line">
              <a:avLst/>
            </a:prstGeom>
            <a:noFill/>
            <a:ln w="381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49161" name="Picture 6"/>
          <p:cNvPicPr>
            <a:picLocks noChangeAspect="1" noChangeArrowheads="1"/>
          </p:cNvPicPr>
          <p:nvPr/>
        </p:nvPicPr>
        <p:blipFill rotWithShape="1">
          <a:blip r:embed="rId10">
            <a:extLst>
              <a:ext uri="{28A0092B-C50C-407E-A947-70E740481C1C}">
                <a14:useLocalDpi xmlns:a14="http://schemas.microsoft.com/office/drawing/2010/main" val="0"/>
              </a:ext>
            </a:extLst>
          </a:blip>
          <a:srcRect r="13228"/>
          <a:stretch/>
        </p:blipFill>
        <p:spPr bwMode="auto">
          <a:xfrm>
            <a:off x="642939" y="3071813"/>
            <a:ext cx="227287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2" name="Picture 7"/>
          <p:cNvPicPr>
            <a:picLocks noChangeAspect="1" noChangeArrowheads="1"/>
          </p:cNvPicPr>
          <p:nvPr/>
        </p:nvPicPr>
        <p:blipFill rotWithShape="1">
          <a:blip r:embed="rId10">
            <a:extLst>
              <a:ext uri="{28A0092B-C50C-407E-A947-70E740481C1C}">
                <a14:useLocalDpi xmlns:a14="http://schemas.microsoft.com/office/drawing/2010/main" val="0"/>
              </a:ext>
            </a:extLst>
          </a:blip>
          <a:srcRect l="21927" r="13108"/>
          <a:stretch/>
        </p:blipFill>
        <p:spPr bwMode="auto">
          <a:xfrm>
            <a:off x="4215490" y="3060382"/>
            <a:ext cx="1701654"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p:cNvCxnSpPr/>
          <p:nvPr/>
        </p:nvCxnSpPr>
        <p:spPr bwMode="auto">
          <a:xfrm>
            <a:off x="2915816" y="3954735"/>
            <a:ext cx="0" cy="2210569"/>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bwMode="auto">
          <a:xfrm>
            <a:off x="2915816" y="6165304"/>
            <a:ext cx="2996352" cy="0"/>
          </a:xfrm>
          <a:prstGeom prst="line">
            <a:avLst/>
          </a:prstGeom>
          <a:solidFill>
            <a:schemeClr val="accent1"/>
          </a:solidFill>
          <a:ln w="19050" cap="flat" cmpd="sng" algn="ctr">
            <a:solidFill>
              <a:schemeClr val="tx1"/>
            </a:solidFill>
            <a:prstDash val="solid"/>
            <a:miter lim="800000"/>
            <a:headEnd type="none" w="med" len="med"/>
            <a:tailEnd type="none" w="med" len="med"/>
          </a:ln>
          <a:effectLst/>
        </p:spPr>
      </p:cxnSp>
      <p:cxnSp>
        <p:nvCxnSpPr>
          <p:cNvPr id="14" name="直接连接符 13"/>
          <p:cNvCxnSpPr/>
          <p:nvPr/>
        </p:nvCxnSpPr>
        <p:spPr bwMode="auto">
          <a:xfrm>
            <a:off x="2915817" y="3501008"/>
            <a:ext cx="1299673" cy="0"/>
          </a:xfrm>
          <a:prstGeom prst="line">
            <a:avLst/>
          </a:prstGeom>
          <a:solidFill>
            <a:schemeClr val="accent1"/>
          </a:solidFill>
          <a:ln w="28575" cap="flat" cmpd="sng" algn="ctr">
            <a:solidFill>
              <a:schemeClr val="tx1"/>
            </a:solidFill>
            <a:prstDash val="solid"/>
            <a:miter lim="800000"/>
            <a:headEnd type="none" w="med" len="med"/>
            <a:tailEnd type="none" w="med" len="med"/>
          </a:ln>
          <a:effectLst/>
        </p:spPr>
      </p:cxnSp>
      <p:sp>
        <p:nvSpPr>
          <p:cNvPr id="18" name="TextBox 17"/>
          <p:cNvSpPr txBox="1"/>
          <p:nvPr/>
        </p:nvSpPr>
        <p:spPr>
          <a:xfrm>
            <a:off x="3596410" y="3831907"/>
            <a:ext cx="619080" cy="461665"/>
          </a:xfrm>
          <a:prstGeom prst="rect">
            <a:avLst/>
          </a:prstGeom>
          <a:noFill/>
        </p:spPr>
        <p:txBody>
          <a:bodyPr wrap="none" rtlCol="0">
            <a:spAutoFit/>
          </a:bodyPr>
          <a:lstStyle/>
          <a:p>
            <a:r>
              <a:rPr lang="en-US" altLang="zh-CN" dirty="0" smtClean="0"/>
              <a:t>C</a:t>
            </a:r>
            <a:r>
              <a:rPr lang="en-US" altLang="zh-CN" baseline="-25000" dirty="0" smtClean="0"/>
              <a:t>i-1</a:t>
            </a:r>
            <a:endParaRPr lang="zh-CN" altLang="en-US" baseline="-25000" dirty="0"/>
          </a:p>
        </p:txBody>
      </p:sp>
      <p:cxnSp>
        <p:nvCxnSpPr>
          <p:cNvPr id="26" name="直接连接符 25"/>
          <p:cNvCxnSpPr/>
          <p:nvPr/>
        </p:nvCxnSpPr>
        <p:spPr bwMode="auto">
          <a:xfrm>
            <a:off x="5917144" y="3954735"/>
            <a:ext cx="0" cy="177137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7331415" y="5398155"/>
            <a:ext cx="447558" cy="461665"/>
          </a:xfrm>
          <a:prstGeom prst="rect">
            <a:avLst/>
          </a:prstGeom>
          <a:noFill/>
        </p:spPr>
        <p:txBody>
          <a:bodyPr wrap="none" rtlCol="0">
            <a:spAutoFit/>
          </a:bodyPr>
          <a:lstStyle/>
          <a:p>
            <a:r>
              <a:rPr lang="en-US" altLang="zh-CN" dirty="0" err="1" smtClean="0"/>
              <a:t>C</a:t>
            </a:r>
            <a:r>
              <a:rPr lang="en-US" altLang="zh-CN" baseline="-25000" dirty="0" err="1" smtClean="0"/>
              <a:t>i</a:t>
            </a:r>
            <a:endParaRPr lang="zh-CN" altLang="en-US" baseline="-25000" dirty="0"/>
          </a:p>
        </p:txBody>
      </p:sp>
      <p:sp>
        <p:nvSpPr>
          <p:cNvPr id="31" name="TextBox 30"/>
          <p:cNvSpPr txBox="1"/>
          <p:nvPr/>
        </p:nvSpPr>
        <p:spPr>
          <a:xfrm>
            <a:off x="5963962" y="3071813"/>
            <a:ext cx="413896" cy="461665"/>
          </a:xfrm>
          <a:prstGeom prst="rect">
            <a:avLst/>
          </a:prstGeom>
          <a:noFill/>
        </p:spPr>
        <p:txBody>
          <a:bodyPr wrap="none" rtlCol="0">
            <a:spAutoFit/>
          </a:bodyPr>
          <a:lstStyle/>
          <a:p>
            <a:r>
              <a:rPr lang="en-US" altLang="zh-CN" dirty="0" smtClean="0"/>
              <a:t>S</a:t>
            </a:r>
            <a:r>
              <a:rPr lang="en-US" altLang="zh-CN" baseline="-25000" dirty="0" smtClean="0"/>
              <a:t>i</a:t>
            </a:r>
            <a:endParaRPr lang="zh-CN" altLang="en-US" baseline="-25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out)">
                                      <p:cBhvr>
                                        <p:cTn id="17" dur="500"/>
                                        <p:tgtEl>
                                          <p:spTgt spid="1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out)">
                                      <p:cBhvr>
                                        <p:cTn id="22" dur="500"/>
                                        <p:tgtEl>
                                          <p:spTgt spid="1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vertical)">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30" grpId="0"/>
      <p:bldP spid="3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C5BE1339-BEF4-408E-8873-2EC28DD9435D}" type="datetime1">
              <a:rPr lang="zh-CN" altLang="en-US" sz="1400">
                <a:latin typeface="+mn-lt"/>
              </a:rPr>
              <a:pPr>
                <a:defRPr/>
              </a:pPr>
              <a:t>2020/10/10</a:t>
            </a:fld>
            <a:endParaRPr lang="en-US" altLang="zh-CN" sz="1400" dirty="0">
              <a:latin typeface="+mn-lt"/>
            </a:endParaRPr>
          </a:p>
        </p:txBody>
      </p:sp>
      <p:sp>
        <p:nvSpPr>
          <p:cNvPr id="3" name="灯片编号占位符 2"/>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31B91081-F2FE-477B-9D0A-95A43E597AB4}" type="slidenum">
              <a:rPr lang="en-US" altLang="zh-CN" sz="1400">
                <a:latin typeface="+mn-lt"/>
              </a:rPr>
              <a:pPr algn="r">
                <a:defRPr/>
              </a:pPr>
              <a:t>52</a:t>
            </a:fld>
            <a:endParaRPr lang="en-US" altLang="zh-CN" sz="1400">
              <a:latin typeface="+mn-lt"/>
            </a:endParaRPr>
          </a:p>
        </p:txBody>
      </p:sp>
      <p:sp>
        <p:nvSpPr>
          <p:cNvPr id="4" name="Rectangle 2"/>
          <p:cNvSpPr txBox="1">
            <a:spLocks noChangeArrowheads="1"/>
          </p:cNvSpPr>
          <p:nvPr/>
        </p:nvSpPr>
        <p:spPr>
          <a:xfrm>
            <a:off x="457200" y="71438"/>
            <a:ext cx="8382000" cy="1057275"/>
          </a:xfrm>
          <a:prstGeom prst="rect">
            <a:avLst/>
          </a:prstGeom>
          <a:solidFill>
            <a:schemeClr val="bg1"/>
          </a:solidFill>
        </p:spPr>
        <p:txBody>
          <a:bodyPr/>
          <a:lstStyle/>
          <a:p>
            <a:pPr marL="342900" indent="-342900">
              <a:spcBef>
                <a:spcPct val="20000"/>
              </a:spcBef>
              <a:buClr>
                <a:schemeClr val="folHlink"/>
              </a:buClr>
              <a:buSzPct val="60000"/>
              <a:buFont typeface="Wingdings" pitchFamily="2" charset="2"/>
              <a:buChar char="n"/>
              <a:defRPr/>
            </a:pPr>
            <a:r>
              <a:rPr kumimoji="0" lang="en-US" altLang="zh-CN" sz="2800" kern="0" dirty="0">
                <a:latin typeface="+mn-lt"/>
                <a:ea typeface="+mn-ea"/>
              </a:rPr>
              <a:t>eg.3.</a:t>
            </a:r>
            <a:r>
              <a:rPr kumimoji="0" lang="zh-CN" altLang="en-US" sz="2800" kern="0" dirty="0">
                <a:latin typeface="+mn-lt"/>
                <a:ea typeface="+mn-ea"/>
              </a:rPr>
              <a:t>用“与非”门设计一个将“</a:t>
            </a:r>
            <a:r>
              <a:rPr kumimoji="0" lang="en-US" altLang="zh-CN" sz="2800" kern="0" dirty="0"/>
              <a:t>8421 BCD</a:t>
            </a:r>
            <a:r>
              <a:rPr kumimoji="0" lang="zh-CN" altLang="en-US" sz="2800" kern="0" dirty="0"/>
              <a:t>码</a:t>
            </a:r>
            <a:r>
              <a:rPr kumimoji="0" lang="zh-CN" altLang="en-US" sz="2800" kern="0" dirty="0">
                <a:latin typeface="+mn-lt"/>
                <a:ea typeface="+mn-ea"/>
              </a:rPr>
              <a:t>”转换为“</a:t>
            </a:r>
            <a:r>
              <a:rPr kumimoji="0" lang="zh-CN" altLang="en-US" sz="2800" kern="0" dirty="0"/>
              <a:t>余</a:t>
            </a:r>
            <a:r>
              <a:rPr kumimoji="0" lang="en-US" altLang="zh-CN" sz="2800" kern="0" dirty="0"/>
              <a:t>3</a:t>
            </a:r>
            <a:r>
              <a:rPr kumimoji="0" lang="zh-CN" altLang="en-US" sz="2800" kern="0" dirty="0"/>
              <a:t>码</a:t>
            </a:r>
            <a:r>
              <a:rPr kumimoji="0" lang="zh-CN" altLang="en-US" sz="2800" kern="0" dirty="0">
                <a:latin typeface="+mn-lt"/>
                <a:ea typeface="+mn-ea"/>
              </a:rPr>
              <a:t>”的代码转换电路。</a:t>
            </a:r>
          </a:p>
        </p:txBody>
      </p:sp>
      <p:grpSp>
        <p:nvGrpSpPr>
          <p:cNvPr id="7" name="Group 6"/>
          <p:cNvGrpSpPr>
            <a:grpSpLocks/>
          </p:cNvGrpSpPr>
          <p:nvPr/>
        </p:nvGrpSpPr>
        <p:grpSpPr bwMode="auto">
          <a:xfrm>
            <a:off x="5374653" y="1100698"/>
            <a:ext cx="3626503" cy="5757326"/>
            <a:chOff x="3078" y="528"/>
            <a:chExt cx="2154" cy="3504"/>
          </a:xfrm>
          <a:solidFill>
            <a:schemeClr val="bg1"/>
          </a:solidFill>
        </p:grpSpPr>
        <p:sp>
          <p:nvSpPr>
            <p:cNvPr id="47" name="Text Box 7"/>
            <p:cNvSpPr txBox="1">
              <a:spLocks noChangeArrowheads="1"/>
            </p:cNvSpPr>
            <p:nvPr/>
          </p:nvSpPr>
          <p:spPr bwMode="auto">
            <a:xfrm>
              <a:off x="3168" y="528"/>
              <a:ext cx="1858" cy="3428"/>
            </a:xfrm>
            <a:prstGeom prst="rect">
              <a:avLst/>
            </a:prstGeom>
            <a:grpFill/>
            <a:ln w="9525">
              <a:noFill/>
              <a:miter lim="800000"/>
              <a:headEnd/>
              <a:tailEnd/>
            </a:ln>
            <a:effectLst/>
          </p:spPr>
          <p:txBody>
            <a:bodyPr wrap="none">
              <a:spAutoFit/>
            </a:bodyPr>
            <a:lstStyle/>
            <a:p>
              <a:pPr>
                <a:defRPr/>
              </a:pPr>
              <a:r>
                <a:rPr lang="en-US" altLang="zh-CN" sz="1800" b="1" dirty="0"/>
                <a:t>              8421</a:t>
              </a:r>
              <a:r>
                <a:rPr lang="zh-CN" altLang="en-US" sz="1800" b="1" dirty="0"/>
                <a:t>码           余</a:t>
              </a:r>
              <a:r>
                <a:rPr lang="en-US" altLang="zh-CN" sz="1800" b="1" dirty="0"/>
                <a:t>3</a:t>
              </a:r>
              <a:r>
                <a:rPr lang="zh-CN" altLang="en-US" sz="1800" b="1" dirty="0"/>
                <a:t>码</a:t>
              </a:r>
            </a:p>
            <a:p>
              <a:pPr>
                <a:defRPr/>
              </a:pPr>
              <a:r>
                <a:rPr lang="zh-CN" altLang="en-US" sz="1800" b="1" dirty="0"/>
                <a:t>       </a:t>
              </a:r>
              <a:endParaRPr lang="en-US" altLang="zh-CN" sz="1800" b="1" dirty="0"/>
            </a:p>
            <a:p>
              <a:pPr>
                <a:defRPr/>
              </a:pPr>
              <a:r>
                <a:rPr lang="en-US" altLang="zh-CN" sz="1800" b="1" dirty="0"/>
                <a:t>          A   B  C  D     W  X  Y  Z</a:t>
              </a:r>
            </a:p>
            <a:p>
              <a:pPr>
                <a:defRPr/>
              </a:pPr>
              <a:endParaRPr lang="en-US" altLang="zh-CN" sz="1800" b="1" dirty="0"/>
            </a:p>
            <a:p>
              <a:pPr>
                <a:defRPr/>
              </a:pPr>
              <a:r>
                <a:rPr lang="en-US" altLang="zh-CN" sz="1800" b="1" dirty="0"/>
                <a:t>0        0    0   0   0     0    0   1   1</a:t>
              </a:r>
            </a:p>
            <a:p>
              <a:pPr>
                <a:defRPr/>
              </a:pPr>
              <a:r>
                <a:rPr lang="en-US" altLang="zh-CN" sz="1800" b="1" dirty="0"/>
                <a:t>1        0    0   0   1     0    1   0   0</a:t>
              </a:r>
            </a:p>
            <a:p>
              <a:pPr>
                <a:defRPr/>
              </a:pPr>
              <a:r>
                <a:rPr lang="en-US" altLang="zh-CN" sz="1800" b="1" dirty="0"/>
                <a:t>2        0    0   1   0     0    1   0   1</a:t>
              </a:r>
            </a:p>
            <a:p>
              <a:pPr>
                <a:defRPr/>
              </a:pPr>
              <a:r>
                <a:rPr lang="en-US" altLang="zh-CN" sz="1800" b="1" dirty="0"/>
                <a:t>3        0    0   1   1     0    1   1   0</a:t>
              </a:r>
            </a:p>
            <a:p>
              <a:pPr>
                <a:defRPr/>
              </a:pPr>
              <a:r>
                <a:rPr lang="en-US" altLang="zh-CN" sz="1800" b="1" dirty="0"/>
                <a:t>4        0    1   0   0     0    1   1   1</a:t>
              </a:r>
            </a:p>
            <a:p>
              <a:pPr>
                <a:defRPr/>
              </a:pPr>
              <a:r>
                <a:rPr lang="en-US" altLang="zh-CN" sz="1800" b="1" dirty="0"/>
                <a:t>5        0    1   0   1     1    0   0   0</a:t>
              </a:r>
            </a:p>
            <a:p>
              <a:pPr>
                <a:defRPr/>
              </a:pPr>
              <a:r>
                <a:rPr lang="en-US" altLang="zh-CN" sz="1800" b="1" dirty="0"/>
                <a:t>6        0    1   1   0     1    0   0   1</a:t>
              </a:r>
            </a:p>
            <a:p>
              <a:pPr>
                <a:defRPr/>
              </a:pPr>
              <a:r>
                <a:rPr lang="en-US" altLang="zh-CN" sz="1800" b="1" dirty="0"/>
                <a:t>7        0    1   1   1     1    0   1   0</a:t>
              </a:r>
            </a:p>
            <a:p>
              <a:pPr>
                <a:defRPr/>
              </a:pPr>
              <a:r>
                <a:rPr lang="en-US" altLang="zh-CN" sz="1800" b="1" dirty="0"/>
                <a:t>8        1    0   0   0     1    0   1   1</a:t>
              </a:r>
            </a:p>
            <a:p>
              <a:pPr>
                <a:defRPr/>
              </a:pPr>
              <a:r>
                <a:rPr lang="en-US" altLang="zh-CN" sz="1800" b="1" dirty="0"/>
                <a:t>9        1    0   0   1     1    1   0   0</a:t>
              </a:r>
            </a:p>
            <a:p>
              <a:pPr>
                <a:defRPr/>
              </a:pPr>
              <a:r>
                <a:rPr lang="en-US" altLang="zh-CN" sz="1800" b="1" dirty="0"/>
                <a:t>10      1    0   1   0     d   d   d   d</a:t>
              </a:r>
            </a:p>
            <a:p>
              <a:pPr>
                <a:defRPr/>
              </a:pPr>
              <a:r>
                <a:rPr lang="en-US" altLang="zh-CN" sz="1800" b="1" dirty="0"/>
                <a:t>11      1    0   1   1     d   d   d   d</a:t>
              </a:r>
            </a:p>
            <a:p>
              <a:pPr>
                <a:defRPr/>
              </a:pPr>
              <a:r>
                <a:rPr lang="en-US" altLang="zh-CN" sz="1800" b="1" dirty="0"/>
                <a:t>12      1    1   0   0     d   d   d   d</a:t>
              </a:r>
            </a:p>
            <a:p>
              <a:pPr>
                <a:defRPr/>
              </a:pPr>
              <a:r>
                <a:rPr lang="en-US" altLang="zh-CN" sz="1800" b="1" dirty="0"/>
                <a:t>13      1    1   0   1     d   d   d   d</a:t>
              </a:r>
            </a:p>
            <a:p>
              <a:pPr>
                <a:defRPr/>
              </a:pPr>
              <a:r>
                <a:rPr lang="en-US" altLang="zh-CN" sz="1800" b="1" dirty="0"/>
                <a:t>14      1    1   1   0     d   d   d   d</a:t>
              </a:r>
            </a:p>
            <a:p>
              <a:pPr>
                <a:defRPr/>
              </a:pPr>
              <a:r>
                <a:rPr lang="en-US" altLang="zh-CN" sz="1800" b="1" dirty="0"/>
                <a:t>15      1    1   1   1</a:t>
              </a:r>
              <a:r>
                <a:rPr lang="en-US" altLang="zh-CN" sz="1800" b="1" dirty="0">
                  <a:solidFill>
                    <a:srgbClr val="000000"/>
                  </a:solidFill>
                </a:rPr>
                <a:t>     d   d   d   d</a:t>
              </a:r>
              <a:endParaRPr lang="en-US" altLang="zh-CN" b="1" dirty="0"/>
            </a:p>
          </p:txBody>
        </p:sp>
        <p:sp>
          <p:nvSpPr>
            <p:cNvPr id="48" name="Line 8"/>
            <p:cNvSpPr>
              <a:spLocks noChangeShapeType="1"/>
            </p:cNvSpPr>
            <p:nvPr/>
          </p:nvSpPr>
          <p:spPr bwMode="auto">
            <a:xfrm>
              <a:off x="3078" y="832"/>
              <a:ext cx="2112"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49" name="Line 9"/>
            <p:cNvSpPr>
              <a:spLocks noChangeShapeType="1"/>
            </p:cNvSpPr>
            <p:nvPr/>
          </p:nvSpPr>
          <p:spPr bwMode="auto">
            <a:xfrm>
              <a:off x="3120" y="1093"/>
              <a:ext cx="2112"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50" name="Line 10"/>
            <p:cNvSpPr>
              <a:spLocks noChangeShapeType="1"/>
            </p:cNvSpPr>
            <p:nvPr/>
          </p:nvSpPr>
          <p:spPr bwMode="auto">
            <a:xfrm>
              <a:off x="3408" y="720"/>
              <a:ext cx="0"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51" name="Line 11"/>
            <p:cNvSpPr>
              <a:spLocks noChangeShapeType="1"/>
            </p:cNvSpPr>
            <p:nvPr/>
          </p:nvSpPr>
          <p:spPr bwMode="auto">
            <a:xfrm>
              <a:off x="3408" y="720"/>
              <a:ext cx="0" cy="3312"/>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52" name="Line 12"/>
            <p:cNvSpPr>
              <a:spLocks noChangeShapeType="1"/>
            </p:cNvSpPr>
            <p:nvPr/>
          </p:nvSpPr>
          <p:spPr bwMode="auto">
            <a:xfrm>
              <a:off x="4272" y="720"/>
              <a:ext cx="0" cy="3312"/>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53" name="Line 13"/>
            <p:cNvSpPr>
              <a:spLocks noChangeShapeType="1"/>
            </p:cNvSpPr>
            <p:nvPr/>
          </p:nvSpPr>
          <p:spPr bwMode="auto">
            <a:xfrm>
              <a:off x="3078" y="4006"/>
              <a:ext cx="2016" cy="0"/>
            </a:xfrm>
            <a:prstGeom prst="line">
              <a:avLst/>
            </a:prstGeom>
            <a:grpFill/>
            <a:ln w="9525">
              <a:solidFill>
                <a:schemeClr val="tx1"/>
              </a:solidFill>
              <a:round/>
              <a:headEnd/>
              <a:tailEnd/>
            </a:ln>
            <a:effectLst/>
          </p:spPr>
          <p:txBody>
            <a:bodyPr wrap="none" anchor="ctr"/>
            <a:lstStyle/>
            <a:p>
              <a:pPr>
                <a:defRPr/>
              </a:pPr>
              <a:endParaRPr lang="zh-CN" altLang="en-US" b="1"/>
            </a:p>
          </p:txBody>
        </p:sp>
      </p:grpSp>
      <p:grpSp>
        <p:nvGrpSpPr>
          <p:cNvPr id="208902" name="Group 6"/>
          <p:cNvGrpSpPr>
            <a:grpSpLocks/>
          </p:cNvGrpSpPr>
          <p:nvPr/>
        </p:nvGrpSpPr>
        <p:grpSpPr bwMode="auto">
          <a:xfrm>
            <a:off x="323850" y="3779838"/>
            <a:ext cx="4464050" cy="2817812"/>
            <a:chOff x="204" y="2352"/>
            <a:chExt cx="2812" cy="1775"/>
          </a:xfrm>
        </p:grpSpPr>
        <p:grpSp>
          <p:nvGrpSpPr>
            <p:cNvPr id="50225" name="Group 7"/>
            <p:cNvGrpSpPr>
              <a:grpSpLocks/>
            </p:cNvGrpSpPr>
            <p:nvPr/>
          </p:nvGrpSpPr>
          <p:grpSpPr bwMode="auto">
            <a:xfrm>
              <a:off x="204" y="2352"/>
              <a:ext cx="2792" cy="1758"/>
              <a:chOff x="204" y="2425"/>
              <a:chExt cx="2792" cy="1758"/>
            </a:xfrm>
          </p:grpSpPr>
          <p:grpSp>
            <p:nvGrpSpPr>
              <p:cNvPr id="50229" name="Group 53"/>
              <p:cNvGrpSpPr>
                <a:grpSpLocks/>
              </p:cNvGrpSpPr>
              <p:nvPr/>
            </p:nvGrpSpPr>
            <p:grpSpPr bwMode="auto">
              <a:xfrm>
                <a:off x="586" y="2425"/>
                <a:ext cx="2410" cy="1758"/>
                <a:chOff x="231" y="1248"/>
                <a:chExt cx="2410" cy="1758"/>
              </a:xfrm>
            </p:grpSpPr>
            <p:sp>
              <p:nvSpPr>
                <p:cNvPr id="50231" name="Rectangle 54"/>
                <p:cNvSpPr>
                  <a:spLocks noChangeArrowheads="1"/>
                </p:cNvSpPr>
                <p:nvPr/>
              </p:nvSpPr>
              <p:spPr bwMode="auto">
                <a:xfrm>
                  <a:off x="2183" y="2680"/>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32" name="Rectangle 55"/>
                <p:cNvSpPr>
                  <a:spLocks noChangeArrowheads="1"/>
                </p:cNvSpPr>
                <p:nvPr/>
              </p:nvSpPr>
              <p:spPr bwMode="auto">
                <a:xfrm>
                  <a:off x="1724"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33" name="Rectangle 57"/>
                <p:cNvSpPr>
                  <a:spLocks noChangeArrowheads="1"/>
                </p:cNvSpPr>
                <p:nvPr/>
              </p:nvSpPr>
              <p:spPr bwMode="auto">
                <a:xfrm>
                  <a:off x="807"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234" name="Rectangle 58"/>
                <p:cNvSpPr>
                  <a:spLocks noChangeArrowheads="1"/>
                </p:cNvSpPr>
                <p:nvPr/>
              </p:nvSpPr>
              <p:spPr bwMode="auto">
                <a:xfrm>
                  <a:off x="2183" y="2354"/>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35" name="Rectangle 59"/>
                <p:cNvSpPr>
                  <a:spLocks noChangeArrowheads="1"/>
                </p:cNvSpPr>
                <p:nvPr/>
              </p:nvSpPr>
              <p:spPr bwMode="auto">
                <a:xfrm>
                  <a:off x="1724"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36" name="Rectangle 61"/>
                <p:cNvSpPr>
                  <a:spLocks noChangeArrowheads="1"/>
                </p:cNvSpPr>
                <p:nvPr/>
              </p:nvSpPr>
              <p:spPr bwMode="auto">
                <a:xfrm>
                  <a:off x="807"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237" name="Rectangle 62"/>
                <p:cNvSpPr>
                  <a:spLocks noChangeArrowheads="1"/>
                </p:cNvSpPr>
                <p:nvPr/>
              </p:nvSpPr>
              <p:spPr bwMode="auto">
                <a:xfrm>
                  <a:off x="2183"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238" name="Rectangle 63"/>
                <p:cNvSpPr>
                  <a:spLocks noChangeArrowheads="1"/>
                </p:cNvSpPr>
                <p:nvPr/>
              </p:nvSpPr>
              <p:spPr bwMode="auto">
                <a:xfrm>
                  <a:off x="2183"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en-US" altLang="zh-CN" baseline="-30000"/>
                </a:p>
              </p:txBody>
            </p:sp>
            <p:sp>
              <p:nvSpPr>
                <p:cNvPr id="50239" name="Rectangle 64"/>
                <p:cNvSpPr>
                  <a:spLocks noChangeArrowheads="1"/>
                </p:cNvSpPr>
                <p:nvPr/>
              </p:nvSpPr>
              <p:spPr bwMode="auto">
                <a:xfrm>
                  <a:off x="1724"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40" name="Rectangle 65"/>
                <p:cNvSpPr>
                  <a:spLocks noChangeArrowheads="1"/>
                </p:cNvSpPr>
                <p:nvPr/>
              </p:nvSpPr>
              <p:spPr bwMode="auto">
                <a:xfrm>
                  <a:off x="1724"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41" name="Rectangle 66"/>
                <p:cNvSpPr>
                  <a:spLocks noChangeArrowheads="1"/>
                </p:cNvSpPr>
                <p:nvPr/>
              </p:nvSpPr>
              <p:spPr bwMode="auto">
                <a:xfrm>
                  <a:off x="1266"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p>
              </p:txBody>
            </p:sp>
            <p:sp>
              <p:nvSpPr>
                <p:cNvPr id="50242" name="Rectangle 67"/>
                <p:cNvSpPr>
                  <a:spLocks noChangeArrowheads="1"/>
                </p:cNvSpPr>
                <p:nvPr/>
              </p:nvSpPr>
              <p:spPr bwMode="auto">
                <a:xfrm>
                  <a:off x="807"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 </a:t>
                  </a:r>
                </a:p>
              </p:txBody>
            </p:sp>
            <p:sp>
              <p:nvSpPr>
                <p:cNvPr id="50243" name="Rectangle 68"/>
                <p:cNvSpPr>
                  <a:spLocks noChangeArrowheads="1"/>
                </p:cNvSpPr>
                <p:nvPr/>
              </p:nvSpPr>
              <p:spPr bwMode="auto">
                <a:xfrm>
                  <a:off x="1266"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r>
                    <a:rPr lang="en-US" altLang="zh-CN" baseline="-30000"/>
                    <a:t> </a:t>
                  </a:r>
                </a:p>
              </p:txBody>
            </p:sp>
            <p:sp>
              <p:nvSpPr>
                <p:cNvPr id="50244" name="Rectangle 69"/>
                <p:cNvSpPr>
                  <a:spLocks noChangeArrowheads="1"/>
                </p:cNvSpPr>
                <p:nvPr/>
              </p:nvSpPr>
              <p:spPr bwMode="auto">
                <a:xfrm>
                  <a:off x="807"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 </a:t>
                  </a:r>
                </a:p>
              </p:txBody>
            </p:sp>
            <p:sp>
              <p:nvSpPr>
                <p:cNvPr id="50245" name="Line 70"/>
                <p:cNvSpPr>
                  <a:spLocks noChangeShapeType="1"/>
                </p:cNvSpPr>
                <p:nvPr/>
              </p:nvSpPr>
              <p:spPr bwMode="auto">
                <a:xfrm>
                  <a:off x="807" y="1702"/>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46" name="Line 71"/>
                <p:cNvSpPr>
                  <a:spLocks noChangeShapeType="1"/>
                </p:cNvSpPr>
                <p:nvPr/>
              </p:nvSpPr>
              <p:spPr bwMode="auto">
                <a:xfrm>
                  <a:off x="807" y="2028"/>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47" name="Line 72"/>
                <p:cNvSpPr>
                  <a:spLocks noChangeShapeType="1"/>
                </p:cNvSpPr>
                <p:nvPr/>
              </p:nvSpPr>
              <p:spPr bwMode="auto">
                <a:xfrm>
                  <a:off x="807" y="3006"/>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48" name="Line 73"/>
                <p:cNvSpPr>
                  <a:spLocks noChangeShapeType="1"/>
                </p:cNvSpPr>
                <p:nvPr/>
              </p:nvSpPr>
              <p:spPr bwMode="auto">
                <a:xfrm>
                  <a:off x="807"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49" name="Line 74"/>
                <p:cNvSpPr>
                  <a:spLocks noChangeShapeType="1"/>
                </p:cNvSpPr>
                <p:nvPr/>
              </p:nvSpPr>
              <p:spPr bwMode="auto">
                <a:xfrm>
                  <a:off x="1266"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0" name="Line 75"/>
                <p:cNvSpPr>
                  <a:spLocks noChangeShapeType="1"/>
                </p:cNvSpPr>
                <p:nvPr/>
              </p:nvSpPr>
              <p:spPr bwMode="auto">
                <a:xfrm>
                  <a:off x="2641"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1" name="Line 76"/>
                <p:cNvSpPr>
                  <a:spLocks noChangeShapeType="1"/>
                </p:cNvSpPr>
                <p:nvPr/>
              </p:nvSpPr>
              <p:spPr bwMode="auto">
                <a:xfrm>
                  <a:off x="1724"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2" name="Line 77"/>
                <p:cNvSpPr>
                  <a:spLocks noChangeShapeType="1"/>
                </p:cNvSpPr>
                <p:nvPr/>
              </p:nvSpPr>
              <p:spPr bwMode="auto">
                <a:xfrm>
                  <a:off x="2183"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3" name="Line 78"/>
                <p:cNvSpPr>
                  <a:spLocks noChangeShapeType="1"/>
                </p:cNvSpPr>
                <p:nvPr/>
              </p:nvSpPr>
              <p:spPr bwMode="auto">
                <a:xfrm>
                  <a:off x="807" y="2354"/>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4" name="Line 79"/>
                <p:cNvSpPr>
                  <a:spLocks noChangeShapeType="1"/>
                </p:cNvSpPr>
                <p:nvPr/>
              </p:nvSpPr>
              <p:spPr bwMode="auto">
                <a:xfrm>
                  <a:off x="807" y="2680"/>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5" name="Line 80"/>
                <p:cNvSpPr>
                  <a:spLocks noChangeShapeType="1"/>
                </p:cNvSpPr>
                <p:nvPr/>
              </p:nvSpPr>
              <p:spPr bwMode="auto">
                <a:xfrm>
                  <a:off x="566" y="1462"/>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56" name="Text Box 81"/>
                <p:cNvSpPr txBox="1">
                  <a:spLocks noChangeArrowheads="1"/>
                </p:cNvSpPr>
                <p:nvPr/>
              </p:nvSpPr>
              <p:spPr bwMode="auto">
                <a:xfrm>
                  <a:off x="864" y="142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0257" name="Text Box 82"/>
                <p:cNvSpPr txBox="1">
                  <a:spLocks noChangeArrowheads="1"/>
                </p:cNvSpPr>
                <p:nvPr/>
              </p:nvSpPr>
              <p:spPr bwMode="auto">
                <a:xfrm>
                  <a:off x="1344" y="14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0258" name="Text Box 83"/>
                <p:cNvSpPr txBox="1">
                  <a:spLocks noChangeArrowheads="1"/>
                </p:cNvSpPr>
                <p:nvPr/>
              </p:nvSpPr>
              <p:spPr bwMode="auto">
                <a:xfrm>
                  <a:off x="1803" y="142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0259" name="Text Box 84"/>
                <p:cNvSpPr txBox="1">
                  <a:spLocks noChangeArrowheads="1"/>
                </p:cNvSpPr>
                <p:nvPr/>
              </p:nvSpPr>
              <p:spPr bwMode="auto">
                <a:xfrm>
                  <a:off x="2248" y="141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sp>
              <p:nvSpPr>
                <p:cNvPr id="50260" name="Text Box 85"/>
                <p:cNvSpPr txBox="1">
                  <a:spLocks noChangeArrowheads="1"/>
                </p:cNvSpPr>
                <p:nvPr/>
              </p:nvSpPr>
              <p:spPr bwMode="auto">
                <a:xfrm>
                  <a:off x="577" y="1248"/>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AB</a:t>
                  </a:r>
                </a:p>
              </p:txBody>
            </p:sp>
            <p:sp>
              <p:nvSpPr>
                <p:cNvPr id="50261" name="Text Box 86"/>
                <p:cNvSpPr txBox="1">
                  <a:spLocks noChangeArrowheads="1"/>
                </p:cNvSpPr>
                <p:nvPr/>
              </p:nvSpPr>
              <p:spPr bwMode="auto">
                <a:xfrm>
                  <a:off x="231" y="1488"/>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CD</a:t>
                  </a:r>
                </a:p>
              </p:txBody>
            </p:sp>
            <p:sp>
              <p:nvSpPr>
                <p:cNvPr id="50262" name="Text Box 87"/>
                <p:cNvSpPr txBox="1">
                  <a:spLocks noChangeArrowheads="1"/>
                </p:cNvSpPr>
                <p:nvPr/>
              </p:nvSpPr>
              <p:spPr bwMode="auto">
                <a:xfrm>
                  <a:off x="4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0263" name="Text Box 88"/>
                <p:cNvSpPr txBox="1">
                  <a:spLocks noChangeArrowheads="1"/>
                </p:cNvSpPr>
                <p:nvPr/>
              </p:nvSpPr>
              <p:spPr bwMode="auto">
                <a:xfrm>
                  <a:off x="489"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0264" name="Text Box 89"/>
                <p:cNvSpPr txBox="1">
                  <a:spLocks noChangeArrowheads="1"/>
                </p:cNvSpPr>
                <p:nvPr/>
              </p:nvSpPr>
              <p:spPr bwMode="auto">
                <a:xfrm>
                  <a:off x="489" y="24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0265" name="Text Box 90"/>
                <p:cNvSpPr txBox="1">
                  <a:spLocks noChangeArrowheads="1"/>
                </p:cNvSpPr>
                <p:nvPr/>
              </p:nvSpPr>
              <p:spPr bwMode="auto">
                <a:xfrm>
                  <a:off x="471" y="27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grpSp>
          <p:sp>
            <p:nvSpPr>
              <p:cNvPr id="50230" name="Text Box 91"/>
              <p:cNvSpPr txBox="1">
                <a:spLocks noChangeArrowheads="1"/>
              </p:cNvSpPr>
              <p:nvPr/>
            </p:nvSpPr>
            <p:spPr bwMode="auto">
              <a:xfrm>
                <a:off x="204" y="3203"/>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X </a:t>
                </a:r>
              </a:p>
            </p:txBody>
          </p:sp>
        </p:grpSp>
        <p:sp>
          <p:nvSpPr>
            <p:cNvPr id="50226" name="Rectangle 60"/>
            <p:cNvSpPr>
              <a:spLocks noChangeArrowheads="1"/>
            </p:cNvSpPr>
            <p:nvPr/>
          </p:nvSpPr>
          <p:spPr bwMode="auto">
            <a:xfrm>
              <a:off x="1621" y="3793"/>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0227" name="Rectangle 60"/>
            <p:cNvSpPr>
              <a:spLocks noChangeArrowheads="1"/>
            </p:cNvSpPr>
            <p:nvPr/>
          </p:nvSpPr>
          <p:spPr bwMode="auto">
            <a:xfrm>
              <a:off x="2521" y="2875"/>
              <a:ext cx="49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0228" name="Rectangle 60"/>
            <p:cNvSpPr>
              <a:spLocks noChangeArrowheads="1"/>
            </p:cNvSpPr>
            <p:nvPr/>
          </p:nvSpPr>
          <p:spPr bwMode="auto">
            <a:xfrm>
              <a:off x="1621" y="3475"/>
              <a:ext cx="495"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grpSp>
      <p:grpSp>
        <p:nvGrpSpPr>
          <p:cNvPr id="208944" name="Group 48"/>
          <p:cNvGrpSpPr>
            <a:grpSpLocks/>
          </p:cNvGrpSpPr>
          <p:nvPr/>
        </p:nvGrpSpPr>
        <p:grpSpPr bwMode="auto">
          <a:xfrm>
            <a:off x="250825" y="998538"/>
            <a:ext cx="4402138" cy="2798762"/>
            <a:chOff x="158" y="629"/>
            <a:chExt cx="2773" cy="1763"/>
          </a:xfrm>
        </p:grpSpPr>
        <p:grpSp>
          <p:nvGrpSpPr>
            <p:cNvPr id="50184" name="Group 49"/>
            <p:cNvGrpSpPr>
              <a:grpSpLocks/>
            </p:cNvGrpSpPr>
            <p:nvPr/>
          </p:nvGrpSpPr>
          <p:grpSpPr bwMode="auto">
            <a:xfrm>
              <a:off x="158" y="629"/>
              <a:ext cx="2773" cy="1758"/>
              <a:chOff x="158" y="663"/>
              <a:chExt cx="2773" cy="1758"/>
            </a:xfrm>
          </p:grpSpPr>
          <p:grpSp>
            <p:nvGrpSpPr>
              <p:cNvPr id="50187" name="Group 53"/>
              <p:cNvGrpSpPr>
                <a:grpSpLocks/>
              </p:cNvGrpSpPr>
              <p:nvPr/>
            </p:nvGrpSpPr>
            <p:grpSpPr bwMode="auto">
              <a:xfrm>
                <a:off x="521" y="663"/>
                <a:ext cx="2410" cy="1758"/>
                <a:chOff x="231" y="1248"/>
                <a:chExt cx="2410" cy="1758"/>
              </a:xfrm>
            </p:grpSpPr>
            <p:sp>
              <p:nvSpPr>
                <p:cNvPr id="50189" name="Rectangle 54"/>
                <p:cNvSpPr>
                  <a:spLocks noChangeArrowheads="1"/>
                </p:cNvSpPr>
                <p:nvPr/>
              </p:nvSpPr>
              <p:spPr bwMode="auto">
                <a:xfrm>
                  <a:off x="2183" y="2680"/>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190" name="Rectangle 55"/>
                <p:cNvSpPr>
                  <a:spLocks noChangeArrowheads="1"/>
                </p:cNvSpPr>
                <p:nvPr/>
              </p:nvSpPr>
              <p:spPr bwMode="auto">
                <a:xfrm>
                  <a:off x="1724"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191" name="Rectangle 57"/>
                <p:cNvSpPr>
                  <a:spLocks noChangeArrowheads="1"/>
                </p:cNvSpPr>
                <p:nvPr/>
              </p:nvSpPr>
              <p:spPr bwMode="auto">
                <a:xfrm>
                  <a:off x="807"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0192" name="Rectangle 58"/>
                <p:cNvSpPr>
                  <a:spLocks noChangeArrowheads="1"/>
                </p:cNvSpPr>
                <p:nvPr/>
              </p:nvSpPr>
              <p:spPr bwMode="auto">
                <a:xfrm>
                  <a:off x="2183" y="2354"/>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193" name="Rectangle 59"/>
                <p:cNvSpPr>
                  <a:spLocks noChangeArrowheads="1"/>
                </p:cNvSpPr>
                <p:nvPr/>
              </p:nvSpPr>
              <p:spPr bwMode="auto">
                <a:xfrm>
                  <a:off x="1724"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194" name="Rectangle 60"/>
                <p:cNvSpPr>
                  <a:spLocks noChangeArrowheads="1"/>
                </p:cNvSpPr>
                <p:nvPr/>
              </p:nvSpPr>
              <p:spPr bwMode="auto">
                <a:xfrm>
                  <a:off x="1266" y="2354"/>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195" name="Rectangle 61"/>
                <p:cNvSpPr>
                  <a:spLocks noChangeArrowheads="1"/>
                </p:cNvSpPr>
                <p:nvPr/>
              </p:nvSpPr>
              <p:spPr bwMode="auto">
                <a:xfrm>
                  <a:off x="807"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0196" name="Rectangle 62"/>
                <p:cNvSpPr>
                  <a:spLocks noChangeArrowheads="1"/>
                </p:cNvSpPr>
                <p:nvPr/>
              </p:nvSpPr>
              <p:spPr bwMode="auto">
                <a:xfrm>
                  <a:off x="2183"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197" name="Rectangle 63"/>
                <p:cNvSpPr>
                  <a:spLocks noChangeArrowheads="1"/>
                </p:cNvSpPr>
                <p:nvPr/>
              </p:nvSpPr>
              <p:spPr bwMode="auto">
                <a:xfrm>
                  <a:off x="2183"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en-US" altLang="zh-CN" baseline="-30000"/>
                </a:p>
              </p:txBody>
            </p:sp>
            <p:sp>
              <p:nvSpPr>
                <p:cNvPr id="50198" name="Rectangle 64"/>
                <p:cNvSpPr>
                  <a:spLocks noChangeArrowheads="1"/>
                </p:cNvSpPr>
                <p:nvPr/>
              </p:nvSpPr>
              <p:spPr bwMode="auto">
                <a:xfrm>
                  <a:off x="1724"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199" name="Rectangle 65"/>
                <p:cNvSpPr>
                  <a:spLocks noChangeArrowheads="1"/>
                </p:cNvSpPr>
                <p:nvPr/>
              </p:nvSpPr>
              <p:spPr bwMode="auto">
                <a:xfrm>
                  <a:off x="1724"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0200" name="Rectangle 66"/>
                <p:cNvSpPr>
                  <a:spLocks noChangeArrowheads="1"/>
                </p:cNvSpPr>
                <p:nvPr/>
              </p:nvSpPr>
              <p:spPr bwMode="auto">
                <a:xfrm>
                  <a:off x="1266"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p>
              </p:txBody>
            </p:sp>
            <p:sp>
              <p:nvSpPr>
                <p:cNvPr id="50201" name="Rectangle 67"/>
                <p:cNvSpPr>
                  <a:spLocks noChangeArrowheads="1"/>
                </p:cNvSpPr>
                <p:nvPr/>
              </p:nvSpPr>
              <p:spPr bwMode="auto">
                <a:xfrm>
                  <a:off x="807"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 </a:t>
                  </a:r>
                </a:p>
              </p:txBody>
            </p:sp>
            <p:sp>
              <p:nvSpPr>
                <p:cNvPr id="50202" name="Rectangle 68"/>
                <p:cNvSpPr>
                  <a:spLocks noChangeArrowheads="1"/>
                </p:cNvSpPr>
                <p:nvPr/>
              </p:nvSpPr>
              <p:spPr bwMode="auto">
                <a:xfrm>
                  <a:off x="1266"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r>
                    <a:rPr lang="en-US" altLang="zh-CN" baseline="-30000"/>
                    <a:t> </a:t>
                  </a:r>
                </a:p>
              </p:txBody>
            </p:sp>
            <p:sp>
              <p:nvSpPr>
                <p:cNvPr id="50203" name="Rectangle 69"/>
                <p:cNvSpPr>
                  <a:spLocks noChangeArrowheads="1"/>
                </p:cNvSpPr>
                <p:nvPr/>
              </p:nvSpPr>
              <p:spPr bwMode="auto">
                <a:xfrm>
                  <a:off x="807"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 </a:t>
                  </a:r>
                </a:p>
              </p:txBody>
            </p:sp>
            <p:sp>
              <p:nvSpPr>
                <p:cNvPr id="50204" name="Line 70"/>
                <p:cNvSpPr>
                  <a:spLocks noChangeShapeType="1"/>
                </p:cNvSpPr>
                <p:nvPr/>
              </p:nvSpPr>
              <p:spPr bwMode="auto">
                <a:xfrm>
                  <a:off x="807" y="1702"/>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05" name="Line 71"/>
                <p:cNvSpPr>
                  <a:spLocks noChangeShapeType="1"/>
                </p:cNvSpPr>
                <p:nvPr/>
              </p:nvSpPr>
              <p:spPr bwMode="auto">
                <a:xfrm>
                  <a:off x="807" y="2028"/>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06" name="Line 72"/>
                <p:cNvSpPr>
                  <a:spLocks noChangeShapeType="1"/>
                </p:cNvSpPr>
                <p:nvPr/>
              </p:nvSpPr>
              <p:spPr bwMode="auto">
                <a:xfrm>
                  <a:off x="807" y="3006"/>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07" name="Line 73"/>
                <p:cNvSpPr>
                  <a:spLocks noChangeShapeType="1"/>
                </p:cNvSpPr>
                <p:nvPr/>
              </p:nvSpPr>
              <p:spPr bwMode="auto">
                <a:xfrm>
                  <a:off x="807"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08" name="Line 74"/>
                <p:cNvSpPr>
                  <a:spLocks noChangeShapeType="1"/>
                </p:cNvSpPr>
                <p:nvPr/>
              </p:nvSpPr>
              <p:spPr bwMode="auto">
                <a:xfrm>
                  <a:off x="1266"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09" name="Line 75"/>
                <p:cNvSpPr>
                  <a:spLocks noChangeShapeType="1"/>
                </p:cNvSpPr>
                <p:nvPr/>
              </p:nvSpPr>
              <p:spPr bwMode="auto">
                <a:xfrm>
                  <a:off x="2641"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0" name="Line 76"/>
                <p:cNvSpPr>
                  <a:spLocks noChangeShapeType="1"/>
                </p:cNvSpPr>
                <p:nvPr/>
              </p:nvSpPr>
              <p:spPr bwMode="auto">
                <a:xfrm>
                  <a:off x="1724"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1" name="Line 77"/>
                <p:cNvSpPr>
                  <a:spLocks noChangeShapeType="1"/>
                </p:cNvSpPr>
                <p:nvPr/>
              </p:nvSpPr>
              <p:spPr bwMode="auto">
                <a:xfrm>
                  <a:off x="2183"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2" name="Line 78"/>
                <p:cNvSpPr>
                  <a:spLocks noChangeShapeType="1"/>
                </p:cNvSpPr>
                <p:nvPr/>
              </p:nvSpPr>
              <p:spPr bwMode="auto">
                <a:xfrm>
                  <a:off x="807" y="2354"/>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3" name="Line 79"/>
                <p:cNvSpPr>
                  <a:spLocks noChangeShapeType="1"/>
                </p:cNvSpPr>
                <p:nvPr/>
              </p:nvSpPr>
              <p:spPr bwMode="auto">
                <a:xfrm>
                  <a:off x="807" y="2680"/>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4" name="Line 80"/>
                <p:cNvSpPr>
                  <a:spLocks noChangeShapeType="1"/>
                </p:cNvSpPr>
                <p:nvPr/>
              </p:nvSpPr>
              <p:spPr bwMode="auto">
                <a:xfrm>
                  <a:off x="566" y="1462"/>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215" name="Text Box 81"/>
                <p:cNvSpPr txBox="1">
                  <a:spLocks noChangeArrowheads="1"/>
                </p:cNvSpPr>
                <p:nvPr/>
              </p:nvSpPr>
              <p:spPr bwMode="auto">
                <a:xfrm>
                  <a:off x="864" y="142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0216" name="Text Box 82"/>
                <p:cNvSpPr txBox="1">
                  <a:spLocks noChangeArrowheads="1"/>
                </p:cNvSpPr>
                <p:nvPr/>
              </p:nvSpPr>
              <p:spPr bwMode="auto">
                <a:xfrm>
                  <a:off x="1344" y="14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0217" name="Text Box 83"/>
                <p:cNvSpPr txBox="1">
                  <a:spLocks noChangeArrowheads="1"/>
                </p:cNvSpPr>
                <p:nvPr/>
              </p:nvSpPr>
              <p:spPr bwMode="auto">
                <a:xfrm>
                  <a:off x="1803" y="142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0218" name="Text Box 84"/>
                <p:cNvSpPr txBox="1">
                  <a:spLocks noChangeArrowheads="1"/>
                </p:cNvSpPr>
                <p:nvPr/>
              </p:nvSpPr>
              <p:spPr bwMode="auto">
                <a:xfrm>
                  <a:off x="2248" y="141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sp>
              <p:nvSpPr>
                <p:cNvPr id="50219" name="Text Box 85"/>
                <p:cNvSpPr txBox="1">
                  <a:spLocks noChangeArrowheads="1"/>
                </p:cNvSpPr>
                <p:nvPr/>
              </p:nvSpPr>
              <p:spPr bwMode="auto">
                <a:xfrm>
                  <a:off x="577" y="1248"/>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AB</a:t>
                  </a:r>
                </a:p>
              </p:txBody>
            </p:sp>
            <p:sp>
              <p:nvSpPr>
                <p:cNvPr id="50220" name="Text Box 86"/>
                <p:cNvSpPr txBox="1">
                  <a:spLocks noChangeArrowheads="1"/>
                </p:cNvSpPr>
                <p:nvPr/>
              </p:nvSpPr>
              <p:spPr bwMode="auto">
                <a:xfrm>
                  <a:off x="231" y="1488"/>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CD</a:t>
                  </a:r>
                </a:p>
              </p:txBody>
            </p:sp>
            <p:sp>
              <p:nvSpPr>
                <p:cNvPr id="50221" name="Text Box 87"/>
                <p:cNvSpPr txBox="1">
                  <a:spLocks noChangeArrowheads="1"/>
                </p:cNvSpPr>
                <p:nvPr/>
              </p:nvSpPr>
              <p:spPr bwMode="auto">
                <a:xfrm>
                  <a:off x="4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0222" name="Text Box 88"/>
                <p:cNvSpPr txBox="1">
                  <a:spLocks noChangeArrowheads="1"/>
                </p:cNvSpPr>
                <p:nvPr/>
              </p:nvSpPr>
              <p:spPr bwMode="auto">
                <a:xfrm>
                  <a:off x="489"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0223" name="Text Box 89"/>
                <p:cNvSpPr txBox="1">
                  <a:spLocks noChangeArrowheads="1"/>
                </p:cNvSpPr>
                <p:nvPr/>
              </p:nvSpPr>
              <p:spPr bwMode="auto">
                <a:xfrm>
                  <a:off x="489" y="24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0224" name="Text Box 90"/>
                <p:cNvSpPr txBox="1">
                  <a:spLocks noChangeArrowheads="1"/>
                </p:cNvSpPr>
                <p:nvPr/>
              </p:nvSpPr>
              <p:spPr bwMode="auto">
                <a:xfrm>
                  <a:off x="471" y="27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grpSp>
          <p:sp>
            <p:nvSpPr>
              <p:cNvPr id="50188" name="Text Box 91"/>
              <p:cNvSpPr txBox="1">
                <a:spLocks noChangeArrowheads="1"/>
              </p:cNvSpPr>
              <p:nvPr/>
            </p:nvSpPr>
            <p:spPr bwMode="auto">
              <a:xfrm>
                <a:off x="158" y="1616"/>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W </a:t>
                </a:r>
              </a:p>
            </p:txBody>
          </p:sp>
        </p:grpSp>
        <p:sp>
          <p:nvSpPr>
            <p:cNvPr id="50185" name="Rectangle 60"/>
            <p:cNvSpPr>
              <a:spLocks noChangeArrowheads="1"/>
            </p:cNvSpPr>
            <p:nvPr/>
          </p:nvSpPr>
          <p:spPr bwMode="auto">
            <a:xfrm>
              <a:off x="1530" y="2058"/>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0186" name="Rectangle 60"/>
            <p:cNvSpPr>
              <a:spLocks noChangeArrowheads="1"/>
            </p:cNvSpPr>
            <p:nvPr/>
          </p:nvSpPr>
          <p:spPr bwMode="auto">
            <a:xfrm>
              <a:off x="2430" y="1068"/>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08944"/>
                                        </p:tgtEl>
                                        <p:attrNameLst>
                                          <p:attrName>style.visibility</p:attrName>
                                        </p:attrNameLst>
                                      </p:cBhvr>
                                      <p:to>
                                        <p:strVal val="visible"/>
                                      </p:to>
                                    </p:set>
                                    <p:anim calcmode="lin" valueType="num">
                                      <p:cBhvr additive="base">
                                        <p:cTn id="17" dur="500" fill="hold"/>
                                        <p:tgtEl>
                                          <p:spTgt spid="208944"/>
                                        </p:tgtEl>
                                        <p:attrNameLst>
                                          <p:attrName>ppt_x</p:attrName>
                                        </p:attrNameLst>
                                      </p:cBhvr>
                                      <p:tavLst>
                                        <p:tav tm="0">
                                          <p:val>
                                            <p:strVal val="0-#ppt_w/2"/>
                                          </p:val>
                                        </p:tav>
                                        <p:tav tm="100000">
                                          <p:val>
                                            <p:strVal val="#ppt_x"/>
                                          </p:val>
                                        </p:tav>
                                      </p:tavLst>
                                    </p:anim>
                                    <p:anim calcmode="lin" valueType="num">
                                      <p:cBhvr additive="base">
                                        <p:cTn id="18" dur="500" fill="hold"/>
                                        <p:tgtEl>
                                          <p:spTgt spid="20894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08902"/>
                                        </p:tgtEl>
                                        <p:attrNameLst>
                                          <p:attrName>style.visibility</p:attrName>
                                        </p:attrNameLst>
                                      </p:cBhvr>
                                      <p:to>
                                        <p:strVal val="visible"/>
                                      </p:to>
                                    </p:set>
                                    <p:anim calcmode="lin" valueType="num">
                                      <p:cBhvr additive="base">
                                        <p:cTn id="23" dur="500" fill="hold"/>
                                        <p:tgtEl>
                                          <p:spTgt spid="208902"/>
                                        </p:tgtEl>
                                        <p:attrNameLst>
                                          <p:attrName>ppt_x</p:attrName>
                                        </p:attrNameLst>
                                      </p:cBhvr>
                                      <p:tavLst>
                                        <p:tav tm="0">
                                          <p:val>
                                            <p:strVal val="0-#ppt_w/2"/>
                                          </p:val>
                                        </p:tav>
                                        <p:tav tm="100000">
                                          <p:val>
                                            <p:strVal val="#ppt_x"/>
                                          </p:val>
                                        </p:tav>
                                      </p:tavLst>
                                    </p:anim>
                                    <p:anim calcmode="lin" valueType="num">
                                      <p:cBhvr additive="base">
                                        <p:cTn id="24" dur="500" fill="hold"/>
                                        <p:tgtEl>
                                          <p:spTgt spid="2089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C5BE1339-BEF4-408E-8873-2EC28DD9435D}" type="datetime1">
              <a:rPr lang="zh-CN" altLang="en-US" sz="1400">
                <a:latin typeface="+mn-lt"/>
              </a:rPr>
              <a:pPr>
                <a:defRPr/>
              </a:pPr>
              <a:t>2020/10/10</a:t>
            </a:fld>
            <a:endParaRPr lang="en-US" altLang="zh-CN" sz="1400">
              <a:latin typeface="+mn-lt"/>
            </a:endParaRPr>
          </a:p>
        </p:txBody>
      </p:sp>
      <p:sp>
        <p:nvSpPr>
          <p:cNvPr id="3" name="灯片编号占位符 2"/>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8826C484-23C9-49C2-8161-E4F44C8E4597}" type="slidenum">
              <a:rPr lang="en-US" altLang="zh-CN" sz="1400" b="1">
                <a:latin typeface="+mn-lt"/>
              </a:rPr>
              <a:pPr algn="r">
                <a:defRPr/>
              </a:pPr>
              <a:t>53</a:t>
            </a:fld>
            <a:endParaRPr lang="en-US" altLang="zh-CN" sz="1400" b="1">
              <a:latin typeface="+mn-lt"/>
            </a:endParaRPr>
          </a:p>
        </p:txBody>
      </p:sp>
      <p:grpSp>
        <p:nvGrpSpPr>
          <p:cNvPr id="4" name="Group 6"/>
          <p:cNvGrpSpPr>
            <a:grpSpLocks/>
          </p:cNvGrpSpPr>
          <p:nvPr/>
        </p:nvGrpSpPr>
        <p:grpSpPr bwMode="auto">
          <a:xfrm>
            <a:off x="4714876" y="665144"/>
            <a:ext cx="3626503" cy="5757326"/>
            <a:chOff x="3078" y="528"/>
            <a:chExt cx="2154" cy="3504"/>
          </a:xfrm>
          <a:solidFill>
            <a:schemeClr val="bg1"/>
          </a:solidFill>
        </p:grpSpPr>
        <p:sp>
          <p:nvSpPr>
            <p:cNvPr id="5" name="Text Box 7"/>
            <p:cNvSpPr txBox="1">
              <a:spLocks noChangeArrowheads="1"/>
            </p:cNvSpPr>
            <p:nvPr/>
          </p:nvSpPr>
          <p:spPr bwMode="auto">
            <a:xfrm>
              <a:off x="3168" y="528"/>
              <a:ext cx="1858" cy="3428"/>
            </a:xfrm>
            <a:prstGeom prst="rect">
              <a:avLst/>
            </a:prstGeom>
            <a:grpFill/>
            <a:ln w="9525">
              <a:noFill/>
              <a:miter lim="800000"/>
              <a:headEnd/>
              <a:tailEnd/>
            </a:ln>
            <a:effectLst/>
          </p:spPr>
          <p:txBody>
            <a:bodyPr wrap="none">
              <a:spAutoFit/>
            </a:bodyPr>
            <a:lstStyle/>
            <a:p>
              <a:pPr>
                <a:defRPr/>
              </a:pPr>
              <a:r>
                <a:rPr lang="en-US" altLang="zh-CN" sz="1800" b="1" dirty="0"/>
                <a:t>              8421</a:t>
              </a:r>
              <a:r>
                <a:rPr lang="zh-CN" altLang="en-US" sz="1800" b="1" dirty="0"/>
                <a:t>码           余</a:t>
              </a:r>
              <a:r>
                <a:rPr lang="en-US" altLang="zh-CN" sz="1800" b="1" dirty="0"/>
                <a:t>3</a:t>
              </a:r>
              <a:r>
                <a:rPr lang="zh-CN" altLang="en-US" sz="1800" b="1" dirty="0"/>
                <a:t>码</a:t>
              </a:r>
            </a:p>
            <a:p>
              <a:pPr>
                <a:defRPr/>
              </a:pPr>
              <a:r>
                <a:rPr lang="zh-CN" altLang="en-US" sz="1800" b="1" dirty="0"/>
                <a:t>       </a:t>
              </a:r>
              <a:endParaRPr lang="en-US" altLang="zh-CN" sz="1800" b="1" dirty="0"/>
            </a:p>
            <a:p>
              <a:pPr>
                <a:defRPr/>
              </a:pPr>
              <a:r>
                <a:rPr lang="en-US" altLang="zh-CN" sz="1800" b="1" dirty="0"/>
                <a:t>          A   B  C  D     W  X  Y  Z</a:t>
              </a:r>
            </a:p>
            <a:p>
              <a:pPr>
                <a:defRPr/>
              </a:pPr>
              <a:endParaRPr lang="en-US" altLang="zh-CN" sz="1800" b="1" dirty="0"/>
            </a:p>
            <a:p>
              <a:pPr>
                <a:defRPr/>
              </a:pPr>
              <a:r>
                <a:rPr lang="en-US" altLang="zh-CN" sz="1800" b="1" dirty="0"/>
                <a:t>0        0    0   0   0     0    0   1   1</a:t>
              </a:r>
            </a:p>
            <a:p>
              <a:pPr>
                <a:defRPr/>
              </a:pPr>
              <a:r>
                <a:rPr lang="en-US" altLang="zh-CN" sz="1800" b="1" dirty="0"/>
                <a:t>1        0    0   0   1     0    1   0   0</a:t>
              </a:r>
            </a:p>
            <a:p>
              <a:pPr>
                <a:defRPr/>
              </a:pPr>
              <a:r>
                <a:rPr lang="en-US" altLang="zh-CN" sz="1800" b="1" dirty="0"/>
                <a:t>2        0    0   1   0     0    1   0   1</a:t>
              </a:r>
            </a:p>
            <a:p>
              <a:pPr>
                <a:defRPr/>
              </a:pPr>
              <a:r>
                <a:rPr lang="en-US" altLang="zh-CN" sz="1800" b="1" dirty="0"/>
                <a:t>3        0    0   1   1     0    1   1   0</a:t>
              </a:r>
            </a:p>
            <a:p>
              <a:pPr>
                <a:defRPr/>
              </a:pPr>
              <a:r>
                <a:rPr lang="en-US" altLang="zh-CN" sz="1800" b="1" dirty="0"/>
                <a:t>4        0    1   0   0     0    1   1   1</a:t>
              </a:r>
            </a:p>
            <a:p>
              <a:pPr>
                <a:defRPr/>
              </a:pPr>
              <a:r>
                <a:rPr lang="en-US" altLang="zh-CN" sz="1800" b="1" dirty="0"/>
                <a:t>5        0    1   0   1     1    0   0   0</a:t>
              </a:r>
            </a:p>
            <a:p>
              <a:pPr>
                <a:defRPr/>
              </a:pPr>
              <a:r>
                <a:rPr lang="en-US" altLang="zh-CN" sz="1800" b="1" dirty="0"/>
                <a:t>6        0    1   1   0     1    0   0   1</a:t>
              </a:r>
            </a:p>
            <a:p>
              <a:pPr>
                <a:defRPr/>
              </a:pPr>
              <a:r>
                <a:rPr lang="en-US" altLang="zh-CN" sz="1800" b="1" dirty="0"/>
                <a:t>7        0    1   1   1     1    0   1   0</a:t>
              </a:r>
            </a:p>
            <a:p>
              <a:pPr>
                <a:defRPr/>
              </a:pPr>
              <a:r>
                <a:rPr lang="en-US" altLang="zh-CN" sz="1800" b="1" dirty="0"/>
                <a:t>8        1    0   0   0     1    0   1   1</a:t>
              </a:r>
            </a:p>
            <a:p>
              <a:pPr>
                <a:defRPr/>
              </a:pPr>
              <a:r>
                <a:rPr lang="en-US" altLang="zh-CN" sz="1800" b="1" dirty="0"/>
                <a:t>9        1    0   0   1     1    1   0   0</a:t>
              </a:r>
            </a:p>
            <a:p>
              <a:pPr>
                <a:defRPr/>
              </a:pPr>
              <a:r>
                <a:rPr lang="en-US" altLang="zh-CN" sz="1800" b="1" dirty="0"/>
                <a:t>10      1    0   1   0     d   d   d   d</a:t>
              </a:r>
            </a:p>
            <a:p>
              <a:pPr>
                <a:defRPr/>
              </a:pPr>
              <a:r>
                <a:rPr lang="en-US" altLang="zh-CN" sz="1800" b="1" dirty="0"/>
                <a:t>11      1    0   1   1     d   d   d   d</a:t>
              </a:r>
            </a:p>
            <a:p>
              <a:pPr>
                <a:defRPr/>
              </a:pPr>
              <a:r>
                <a:rPr lang="en-US" altLang="zh-CN" sz="1800" b="1" dirty="0"/>
                <a:t>12      1    1   0   0     d   d   d   d</a:t>
              </a:r>
            </a:p>
            <a:p>
              <a:pPr>
                <a:defRPr/>
              </a:pPr>
              <a:r>
                <a:rPr lang="en-US" altLang="zh-CN" sz="1800" b="1" dirty="0"/>
                <a:t>13      1    1   0   1     d   d   d   d</a:t>
              </a:r>
            </a:p>
            <a:p>
              <a:pPr>
                <a:defRPr/>
              </a:pPr>
              <a:r>
                <a:rPr lang="en-US" altLang="zh-CN" sz="1800" b="1" dirty="0"/>
                <a:t>14      1    1   1   0     d   d   d   d</a:t>
              </a:r>
            </a:p>
            <a:p>
              <a:pPr>
                <a:defRPr/>
              </a:pPr>
              <a:r>
                <a:rPr lang="en-US" altLang="zh-CN" sz="1800" b="1" dirty="0"/>
                <a:t>15      1    1   1   1</a:t>
              </a:r>
              <a:r>
                <a:rPr lang="en-US" altLang="zh-CN" sz="1800" b="1" dirty="0">
                  <a:solidFill>
                    <a:srgbClr val="000000"/>
                  </a:solidFill>
                </a:rPr>
                <a:t>     d   d   d   d</a:t>
              </a:r>
              <a:endParaRPr lang="en-US" altLang="zh-CN" b="1" dirty="0"/>
            </a:p>
          </p:txBody>
        </p:sp>
        <p:sp>
          <p:nvSpPr>
            <p:cNvPr id="6" name="Line 8"/>
            <p:cNvSpPr>
              <a:spLocks noChangeShapeType="1"/>
            </p:cNvSpPr>
            <p:nvPr/>
          </p:nvSpPr>
          <p:spPr bwMode="auto">
            <a:xfrm>
              <a:off x="3078" y="832"/>
              <a:ext cx="2112"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7" name="Line 9"/>
            <p:cNvSpPr>
              <a:spLocks noChangeShapeType="1"/>
            </p:cNvSpPr>
            <p:nvPr/>
          </p:nvSpPr>
          <p:spPr bwMode="auto">
            <a:xfrm>
              <a:off x="3120" y="1093"/>
              <a:ext cx="2112"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8" name="Line 10"/>
            <p:cNvSpPr>
              <a:spLocks noChangeShapeType="1"/>
            </p:cNvSpPr>
            <p:nvPr/>
          </p:nvSpPr>
          <p:spPr bwMode="auto">
            <a:xfrm>
              <a:off x="3408" y="720"/>
              <a:ext cx="0" cy="0"/>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9" name="Line 11"/>
            <p:cNvSpPr>
              <a:spLocks noChangeShapeType="1"/>
            </p:cNvSpPr>
            <p:nvPr/>
          </p:nvSpPr>
          <p:spPr bwMode="auto">
            <a:xfrm>
              <a:off x="3408" y="720"/>
              <a:ext cx="0" cy="3312"/>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10" name="Line 12"/>
            <p:cNvSpPr>
              <a:spLocks noChangeShapeType="1"/>
            </p:cNvSpPr>
            <p:nvPr/>
          </p:nvSpPr>
          <p:spPr bwMode="auto">
            <a:xfrm>
              <a:off x="4272" y="720"/>
              <a:ext cx="0" cy="3312"/>
            </a:xfrm>
            <a:prstGeom prst="line">
              <a:avLst/>
            </a:prstGeom>
            <a:grpFill/>
            <a:ln w="9525">
              <a:solidFill>
                <a:schemeClr val="tx1"/>
              </a:solidFill>
              <a:round/>
              <a:headEnd/>
              <a:tailEnd/>
            </a:ln>
            <a:effectLst/>
          </p:spPr>
          <p:txBody>
            <a:bodyPr wrap="none" anchor="ctr"/>
            <a:lstStyle/>
            <a:p>
              <a:pPr>
                <a:defRPr/>
              </a:pPr>
              <a:endParaRPr lang="zh-CN" altLang="en-US" b="1"/>
            </a:p>
          </p:txBody>
        </p:sp>
        <p:sp>
          <p:nvSpPr>
            <p:cNvPr id="11" name="Line 13"/>
            <p:cNvSpPr>
              <a:spLocks noChangeShapeType="1"/>
            </p:cNvSpPr>
            <p:nvPr/>
          </p:nvSpPr>
          <p:spPr bwMode="auto">
            <a:xfrm>
              <a:off x="3078" y="4006"/>
              <a:ext cx="2016" cy="0"/>
            </a:xfrm>
            <a:prstGeom prst="line">
              <a:avLst/>
            </a:prstGeom>
            <a:grpFill/>
            <a:ln w="9525">
              <a:solidFill>
                <a:schemeClr val="tx1"/>
              </a:solidFill>
              <a:round/>
              <a:headEnd/>
              <a:tailEnd/>
            </a:ln>
            <a:effectLst/>
          </p:spPr>
          <p:txBody>
            <a:bodyPr wrap="none" anchor="ctr"/>
            <a:lstStyle/>
            <a:p>
              <a:pPr>
                <a:defRPr/>
              </a:pPr>
              <a:endParaRPr lang="zh-CN" altLang="en-US" b="1"/>
            </a:p>
          </p:txBody>
        </p:sp>
      </p:grpSp>
      <p:grpSp>
        <p:nvGrpSpPr>
          <p:cNvPr id="210949" name="Group 5"/>
          <p:cNvGrpSpPr>
            <a:grpSpLocks/>
          </p:cNvGrpSpPr>
          <p:nvPr/>
        </p:nvGrpSpPr>
        <p:grpSpPr bwMode="auto">
          <a:xfrm>
            <a:off x="179388" y="765175"/>
            <a:ext cx="4108450" cy="2833688"/>
            <a:chOff x="113" y="482"/>
            <a:chExt cx="2588" cy="1785"/>
          </a:xfrm>
        </p:grpSpPr>
        <p:grpSp>
          <p:nvGrpSpPr>
            <p:cNvPr id="51247" name="Group 6"/>
            <p:cNvGrpSpPr>
              <a:grpSpLocks/>
            </p:cNvGrpSpPr>
            <p:nvPr/>
          </p:nvGrpSpPr>
          <p:grpSpPr bwMode="auto">
            <a:xfrm>
              <a:off x="113" y="482"/>
              <a:ext cx="2588" cy="1758"/>
              <a:chOff x="91" y="701"/>
              <a:chExt cx="2588" cy="1758"/>
            </a:xfrm>
          </p:grpSpPr>
          <p:grpSp>
            <p:nvGrpSpPr>
              <p:cNvPr id="51250" name="Group 53"/>
              <p:cNvGrpSpPr>
                <a:grpSpLocks/>
              </p:cNvGrpSpPr>
              <p:nvPr/>
            </p:nvGrpSpPr>
            <p:grpSpPr bwMode="auto">
              <a:xfrm>
                <a:off x="269" y="701"/>
                <a:ext cx="2410" cy="1758"/>
                <a:chOff x="231" y="1248"/>
                <a:chExt cx="2410" cy="1758"/>
              </a:xfrm>
            </p:grpSpPr>
            <p:sp>
              <p:nvSpPr>
                <p:cNvPr id="51252" name="Rectangle 54"/>
                <p:cNvSpPr>
                  <a:spLocks noChangeArrowheads="1"/>
                </p:cNvSpPr>
                <p:nvPr/>
              </p:nvSpPr>
              <p:spPr bwMode="auto">
                <a:xfrm>
                  <a:off x="2183" y="2680"/>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53" name="Rectangle 55"/>
                <p:cNvSpPr>
                  <a:spLocks noChangeArrowheads="1"/>
                </p:cNvSpPr>
                <p:nvPr/>
              </p:nvSpPr>
              <p:spPr bwMode="auto">
                <a:xfrm>
                  <a:off x="1724"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54" name="Rectangle 57"/>
                <p:cNvSpPr>
                  <a:spLocks noChangeArrowheads="1"/>
                </p:cNvSpPr>
                <p:nvPr/>
              </p:nvSpPr>
              <p:spPr bwMode="auto">
                <a:xfrm>
                  <a:off x="807"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55" name="Rectangle 58"/>
                <p:cNvSpPr>
                  <a:spLocks noChangeArrowheads="1"/>
                </p:cNvSpPr>
                <p:nvPr/>
              </p:nvSpPr>
              <p:spPr bwMode="auto">
                <a:xfrm>
                  <a:off x="2183" y="2354"/>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56" name="Rectangle 59"/>
                <p:cNvSpPr>
                  <a:spLocks noChangeArrowheads="1"/>
                </p:cNvSpPr>
                <p:nvPr/>
              </p:nvSpPr>
              <p:spPr bwMode="auto">
                <a:xfrm>
                  <a:off x="1724"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57" name="Rectangle 60"/>
                <p:cNvSpPr>
                  <a:spLocks noChangeArrowheads="1"/>
                </p:cNvSpPr>
                <p:nvPr/>
              </p:nvSpPr>
              <p:spPr bwMode="auto">
                <a:xfrm>
                  <a:off x="1266" y="2354"/>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1258" name="Rectangle 61"/>
                <p:cNvSpPr>
                  <a:spLocks noChangeArrowheads="1"/>
                </p:cNvSpPr>
                <p:nvPr/>
              </p:nvSpPr>
              <p:spPr bwMode="auto">
                <a:xfrm>
                  <a:off x="807"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1259" name="Rectangle 62"/>
                <p:cNvSpPr>
                  <a:spLocks noChangeArrowheads="1"/>
                </p:cNvSpPr>
                <p:nvPr/>
              </p:nvSpPr>
              <p:spPr bwMode="auto">
                <a:xfrm>
                  <a:off x="2183"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60" name="Rectangle 63"/>
                <p:cNvSpPr>
                  <a:spLocks noChangeArrowheads="1"/>
                </p:cNvSpPr>
                <p:nvPr/>
              </p:nvSpPr>
              <p:spPr bwMode="auto">
                <a:xfrm>
                  <a:off x="2183"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en-US" altLang="zh-CN" baseline="-30000"/>
                </a:p>
              </p:txBody>
            </p:sp>
            <p:sp>
              <p:nvSpPr>
                <p:cNvPr id="51261" name="Rectangle 64"/>
                <p:cNvSpPr>
                  <a:spLocks noChangeArrowheads="1"/>
                </p:cNvSpPr>
                <p:nvPr/>
              </p:nvSpPr>
              <p:spPr bwMode="auto">
                <a:xfrm>
                  <a:off x="1724"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62" name="Rectangle 65"/>
                <p:cNvSpPr>
                  <a:spLocks noChangeArrowheads="1"/>
                </p:cNvSpPr>
                <p:nvPr/>
              </p:nvSpPr>
              <p:spPr bwMode="auto">
                <a:xfrm>
                  <a:off x="1724"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63" name="Rectangle 66"/>
                <p:cNvSpPr>
                  <a:spLocks noChangeArrowheads="1"/>
                </p:cNvSpPr>
                <p:nvPr/>
              </p:nvSpPr>
              <p:spPr bwMode="auto">
                <a:xfrm>
                  <a:off x="1266"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p>
              </p:txBody>
            </p:sp>
            <p:sp>
              <p:nvSpPr>
                <p:cNvPr id="51264" name="Rectangle 67"/>
                <p:cNvSpPr>
                  <a:spLocks noChangeArrowheads="1"/>
                </p:cNvSpPr>
                <p:nvPr/>
              </p:nvSpPr>
              <p:spPr bwMode="auto">
                <a:xfrm>
                  <a:off x="807"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 </a:t>
                  </a:r>
                </a:p>
              </p:txBody>
            </p:sp>
            <p:sp>
              <p:nvSpPr>
                <p:cNvPr id="51265" name="Rectangle 68"/>
                <p:cNvSpPr>
                  <a:spLocks noChangeArrowheads="1"/>
                </p:cNvSpPr>
                <p:nvPr/>
              </p:nvSpPr>
              <p:spPr bwMode="auto">
                <a:xfrm>
                  <a:off x="1266"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r>
                    <a:rPr lang="en-US" altLang="zh-CN" baseline="-30000"/>
                    <a:t> </a:t>
                  </a:r>
                </a:p>
              </p:txBody>
            </p:sp>
            <p:sp>
              <p:nvSpPr>
                <p:cNvPr id="51266" name="Rectangle 69"/>
                <p:cNvSpPr>
                  <a:spLocks noChangeArrowheads="1"/>
                </p:cNvSpPr>
                <p:nvPr/>
              </p:nvSpPr>
              <p:spPr bwMode="auto">
                <a:xfrm>
                  <a:off x="807"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 </a:t>
                  </a:r>
                </a:p>
              </p:txBody>
            </p:sp>
            <p:sp>
              <p:nvSpPr>
                <p:cNvPr id="51267" name="Line 70"/>
                <p:cNvSpPr>
                  <a:spLocks noChangeShapeType="1"/>
                </p:cNvSpPr>
                <p:nvPr/>
              </p:nvSpPr>
              <p:spPr bwMode="auto">
                <a:xfrm>
                  <a:off x="807" y="1702"/>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68" name="Line 71"/>
                <p:cNvSpPr>
                  <a:spLocks noChangeShapeType="1"/>
                </p:cNvSpPr>
                <p:nvPr/>
              </p:nvSpPr>
              <p:spPr bwMode="auto">
                <a:xfrm>
                  <a:off x="807" y="2028"/>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69" name="Line 72"/>
                <p:cNvSpPr>
                  <a:spLocks noChangeShapeType="1"/>
                </p:cNvSpPr>
                <p:nvPr/>
              </p:nvSpPr>
              <p:spPr bwMode="auto">
                <a:xfrm>
                  <a:off x="807" y="3006"/>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0" name="Line 73"/>
                <p:cNvSpPr>
                  <a:spLocks noChangeShapeType="1"/>
                </p:cNvSpPr>
                <p:nvPr/>
              </p:nvSpPr>
              <p:spPr bwMode="auto">
                <a:xfrm>
                  <a:off x="807"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1" name="Line 74"/>
                <p:cNvSpPr>
                  <a:spLocks noChangeShapeType="1"/>
                </p:cNvSpPr>
                <p:nvPr/>
              </p:nvSpPr>
              <p:spPr bwMode="auto">
                <a:xfrm>
                  <a:off x="1266"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2" name="Line 75"/>
                <p:cNvSpPr>
                  <a:spLocks noChangeShapeType="1"/>
                </p:cNvSpPr>
                <p:nvPr/>
              </p:nvSpPr>
              <p:spPr bwMode="auto">
                <a:xfrm>
                  <a:off x="2641"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3" name="Line 76"/>
                <p:cNvSpPr>
                  <a:spLocks noChangeShapeType="1"/>
                </p:cNvSpPr>
                <p:nvPr/>
              </p:nvSpPr>
              <p:spPr bwMode="auto">
                <a:xfrm>
                  <a:off x="1724"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4" name="Line 77"/>
                <p:cNvSpPr>
                  <a:spLocks noChangeShapeType="1"/>
                </p:cNvSpPr>
                <p:nvPr/>
              </p:nvSpPr>
              <p:spPr bwMode="auto">
                <a:xfrm>
                  <a:off x="2183"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5" name="Line 78"/>
                <p:cNvSpPr>
                  <a:spLocks noChangeShapeType="1"/>
                </p:cNvSpPr>
                <p:nvPr/>
              </p:nvSpPr>
              <p:spPr bwMode="auto">
                <a:xfrm>
                  <a:off x="807" y="2354"/>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6" name="Line 79"/>
                <p:cNvSpPr>
                  <a:spLocks noChangeShapeType="1"/>
                </p:cNvSpPr>
                <p:nvPr/>
              </p:nvSpPr>
              <p:spPr bwMode="auto">
                <a:xfrm>
                  <a:off x="807" y="2680"/>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7" name="Line 80"/>
                <p:cNvSpPr>
                  <a:spLocks noChangeShapeType="1"/>
                </p:cNvSpPr>
                <p:nvPr/>
              </p:nvSpPr>
              <p:spPr bwMode="auto">
                <a:xfrm>
                  <a:off x="566" y="1462"/>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78" name="Text Box 81"/>
                <p:cNvSpPr txBox="1">
                  <a:spLocks noChangeArrowheads="1"/>
                </p:cNvSpPr>
                <p:nvPr/>
              </p:nvSpPr>
              <p:spPr bwMode="auto">
                <a:xfrm>
                  <a:off x="864" y="142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1279" name="Text Box 82"/>
                <p:cNvSpPr txBox="1">
                  <a:spLocks noChangeArrowheads="1"/>
                </p:cNvSpPr>
                <p:nvPr/>
              </p:nvSpPr>
              <p:spPr bwMode="auto">
                <a:xfrm>
                  <a:off x="1344" y="14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1280" name="Text Box 83"/>
                <p:cNvSpPr txBox="1">
                  <a:spLocks noChangeArrowheads="1"/>
                </p:cNvSpPr>
                <p:nvPr/>
              </p:nvSpPr>
              <p:spPr bwMode="auto">
                <a:xfrm>
                  <a:off x="1803" y="142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1281" name="Text Box 84"/>
                <p:cNvSpPr txBox="1">
                  <a:spLocks noChangeArrowheads="1"/>
                </p:cNvSpPr>
                <p:nvPr/>
              </p:nvSpPr>
              <p:spPr bwMode="auto">
                <a:xfrm>
                  <a:off x="2248" y="141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sp>
              <p:nvSpPr>
                <p:cNvPr id="51282" name="Text Box 85"/>
                <p:cNvSpPr txBox="1">
                  <a:spLocks noChangeArrowheads="1"/>
                </p:cNvSpPr>
                <p:nvPr/>
              </p:nvSpPr>
              <p:spPr bwMode="auto">
                <a:xfrm>
                  <a:off x="577" y="1248"/>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AB</a:t>
                  </a:r>
                </a:p>
              </p:txBody>
            </p:sp>
            <p:sp>
              <p:nvSpPr>
                <p:cNvPr id="51283" name="Text Box 86"/>
                <p:cNvSpPr txBox="1">
                  <a:spLocks noChangeArrowheads="1"/>
                </p:cNvSpPr>
                <p:nvPr/>
              </p:nvSpPr>
              <p:spPr bwMode="auto">
                <a:xfrm>
                  <a:off x="231" y="1488"/>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CD</a:t>
                  </a:r>
                </a:p>
              </p:txBody>
            </p:sp>
            <p:sp>
              <p:nvSpPr>
                <p:cNvPr id="51284" name="Text Box 87"/>
                <p:cNvSpPr txBox="1">
                  <a:spLocks noChangeArrowheads="1"/>
                </p:cNvSpPr>
                <p:nvPr/>
              </p:nvSpPr>
              <p:spPr bwMode="auto">
                <a:xfrm>
                  <a:off x="4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1285" name="Text Box 88"/>
                <p:cNvSpPr txBox="1">
                  <a:spLocks noChangeArrowheads="1"/>
                </p:cNvSpPr>
                <p:nvPr/>
              </p:nvSpPr>
              <p:spPr bwMode="auto">
                <a:xfrm>
                  <a:off x="489"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1286" name="Text Box 89"/>
                <p:cNvSpPr txBox="1">
                  <a:spLocks noChangeArrowheads="1"/>
                </p:cNvSpPr>
                <p:nvPr/>
              </p:nvSpPr>
              <p:spPr bwMode="auto">
                <a:xfrm>
                  <a:off x="489" y="24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1287" name="Text Box 90"/>
                <p:cNvSpPr txBox="1">
                  <a:spLocks noChangeArrowheads="1"/>
                </p:cNvSpPr>
                <p:nvPr/>
              </p:nvSpPr>
              <p:spPr bwMode="auto">
                <a:xfrm>
                  <a:off x="471" y="27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grpSp>
          <p:sp>
            <p:nvSpPr>
              <p:cNvPr id="51251" name="Text Box 91"/>
              <p:cNvSpPr txBox="1">
                <a:spLocks noChangeArrowheads="1"/>
              </p:cNvSpPr>
              <p:nvPr/>
            </p:nvSpPr>
            <p:spPr bwMode="auto">
              <a:xfrm>
                <a:off x="91" y="1616"/>
                <a:ext cx="3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Y </a:t>
                </a:r>
              </a:p>
            </p:txBody>
          </p:sp>
        </p:grpSp>
        <p:sp>
          <p:nvSpPr>
            <p:cNvPr id="51248" name="Rectangle 60"/>
            <p:cNvSpPr>
              <a:spLocks noChangeArrowheads="1"/>
            </p:cNvSpPr>
            <p:nvPr/>
          </p:nvSpPr>
          <p:spPr bwMode="auto">
            <a:xfrm>
              <a:off x="1304" y="1933"/>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49" name="Rectangle 60"/>
            <p:cNvSpPr>
              <a:spLocks noChangeArrowheads="1"/>
            </p:cNvSpPr>
            <p:nvPr/>
          </p:nvSpPr>
          <p:spPr bwMode="auto">
            <a:xfrm>
              <a:off x="2204" y="935"/>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grpSp>
      <p:grpSp>
        <p:nvGrpSpPr>
          <p:cNvPr id="210991" name="Group 47"/>
          <p:cNvGrpSpPr>
            <a:grpSpLocks/>
          </p:cNvGrpSpPr>
          <p:nvPr/>
        </p:nvGrpSpPr>
        <p:grpSpPr bwMode="auto">
          <a:xfrm>
            <a:off x="179388" y="3590925"/>
            <a:ext cx="4108450" cy="2862263"/>
            <a:chOff x="113" y="2262"/>
            <a:chExt cx="2588" cy="1803"/>
          </a:xfrm>
        </p:grpSpPr>
        <p:grpSp>
          <p:nvGrpSpPr>
            <p:cNvPr id="51207" name="Group 48"/>
            <p:cNvGrpSpPr>
              <a:grpSpLocks/>
            </p:cNvGrpSpPr>
            <p:nvPr/>
          </p:nvGrpSpPr>
          <p:grpSpPr bwMode="auto">
            <a:xfrm>
              <a:off x="113" y="2262"/>
              <a:ext cx="2588" cy="1758"/>
              <a:chOff x="91" y="701"/>
              <a:chExt cx="2588" cy="1758"/>
            </a:xfrm>
          </p:grpSpPr>
          <p:grpSp>
            <p:nvGrpSpPr>
              <p:cNvPr id="51209" name="Group 53"/>
              <p:cNvGrpSpPr>
                <a:grpSpLocks/>
              </p:cNvGrpSpPr>
              <p:nvPr/>
            </p:nvGrpSpPr>
            <p:grpSpPr bwMode="auto">
              <a:xfrm>
                <a:off x="269" y="701"/>
                <a:ext cx="2410" cy="1758"/>
                <a:chOff x="231" y="1248"/>
                <a:chExt cx="2410" cy="1758"/>
              </a:xfrm>
            </p:grpSpPr>
            <p:sp>
              <p:nvSpPr>
                <p:cNvPr id="51211" name="Rectangle 54"/>
                <p:cNvSpPr>
                  <a:spLocks noChangeArrowheads="1"/>
                </p:cNvSpPr>
                <p:nvPr/>
              </p:nvSpPr>
              <p:spPr bwMode="auto">
                <a:xfrm>
                  <a:off x="2183" y="2680"/>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12" name="Rectangle 55"/>
                <p:cNvSpPr>
                  <a:spLocks noChangeArrowheads="1"/>
                </p:cNvSpPr>
                <p:nvPr/>
              </p:nvSpPr>
              <p:spPr bwMode="auto">
                <a:xfrm>
                  <a:off x="1724"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13" name="Rectangle 57"/>
                <p:cNvSpPr>
                  <a:spLocks noChangeArrowheads="1"/>
                </p:cNvSpPr>
                <p:nvPr/>
              </p:nvSpPr>
              <p:spPr bwMode="auto">
                <a:xfrm>
                  <a:off x="807" y="2680"/>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sp>
              <p:nvSpPr>
                <p:cNvPr id="51214" name="Rectangle 58"/>
                <p:cNvSpPr>
                  <a:spLocks noChangeArrowheads="1"/>
                </p:cNvSpPr>
                <p:nvPr/>
              </p:nvSpPr>
              <p:spPr bwMode="auto">
                <a:xfrm>
                  <a:off x="2183" y="2354"/>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15" name="Rectangle 59"/>
                <p:cNvSpPr>
                  <a:spLocks noChangeArrowheads="1"/>
                </p:cNvSpPr>
                <p:nvPr/>
              </p:nvSpPr>
              <p:spPr bwMode="auto">
                <a:xfrm>
                  <a:off x="1724"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16" name="Rectangle 60"/>
                <p:cNvSpPr>
                  <a:spLocks noChangeArrowheads="1"/>
                </p:cNvSpPr>
                <p:nvPr/>
              </p:nvSpPr>
              <p:spPr bwMode="auto">
                <a:xfrm>
                  <a:off x="1266" y="2354"/>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17" name="Rectangle 61"/>
                <p:cNvSpPr>
                  <a:spLocks noChangeArrowheads="1"/>
                </p:cNvSpPr>
                <p:nvPr/>
              </p:nvSpPr>
              <p:spPr bwMode="auto">
                <a:xfrm>
                  <a:off x="807" y="2354"/>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18" name="Rectangle 62"/>
                <p:cNvSpPr>
                  <a:spLocks noChangeArrowheads="1"/>
                </p:cNvSpPr>
                <p:nvPr/>
              </p:nvSpPr>
              <p:spPr bwMode="auto">
                <a:xfrm>
                  <a:off x="2183"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endParaRPr lang="en-US" altLang="zh-CN" baseline="-30000"/>
                </a:p>
              </p:txBody>
            </p:sp>
            <p:sp>
              <p:nvSpPr>
                <p:cNvPr id="51219" name="Rectangle 63"/>
                <p:cNvSpPr>
                  <a:spLocks noChangeArrowheads="1"/>
                </p:cNvSpPr>
                <p:nvPr/>
              </p:nvSpPr>
              <p:spPr bwMode="auto">
                <a:xfrm>
                  <a:off x="2183"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p>
              </p:txBody>
            </p:sp>
            <p:sp>
              <p:nvSpPr>
                <p:cNvPr id="51220" name="Rectangle 64"/>
                <p:cNvSpPr>
                  <a:spLocks noChangeArrowheads="1"/>
                </p:cNvSpPr>
                <p:nvPr/>
              </p:nvSpPr>
              <p:spPr bwMode="auto">
                <a:xfrm>
                  <a:off x="1724"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21" name="Rectangle 65"/>
                <p:cNvSpPr>
                  <a:spLocks noChangeArrowheads="1"/>
                </p:cNvSpPr>
                <p:nvPr/>
              </p:nvSpPr>
              <p:spPr bwMode="auto">
                <a:xfrm>
                  <a:off x="1724"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d</a:t>
                  </a:r>
                  <a:endParaRPr lang="en-US" altLang="zh-CN" baseline="-30000"/>
                </a:p>
              </p:txBody>
            </p:sp>
            <p:sp>
              <p:nvSpPr>
                <p:cNvPr id="51222" name="Rectangle 66"/>
                <p:cNvSpPr>
                  <a:spLocks noChangeArrowheads="1"/>
                </p:cNvSpPr>
                <p:nvPr/>
              </p:nvSpPr>
              <p:spPr bwMode="auto">
                <a:xfrm>
                  <a:off x="1266" y="2028"/>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a:t>
                  </a:r>
                </a:p>
              </p:txBody>
            </p:sp>
            <p:sp>
              <p:nvSpPr>
                <p:cNvPr id="51223" name="Rectangle 67"/>
                <p:cNvSpPr>
                  <a:spLocks noChangeArrowheads="1"/>
                </p:cNvSpPr>
                <p:nvPr/>
              </p:nvSpPr>
              <p:spPr bwMode="auto">
                <a:xfrm>
                  <a:off x="807" y="2028"/>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0 </a:t>
                  </a:r>
                </a:p>
              </p:txBody>
            </p:sp>
            <p:sp>
              <p:nvSpPr>
                <p:cNvPr id="51224" name="Rectangle 68"/>
                <p:cNvSpPr>
                  <a:spLocks noChangeArrowheads="1"/>
                </p:cNvSpPr>
                <p:nvPr/>
              </p:nvSpPr>
              <p:spPr bwMode="auto">
                <a:xfrm>
                  <a:off x="1266" y="1702"/>
                  <a:ext cx="45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r>
                    <a:rPr lang="en-US" altLang="zh-CN" baseline="-30000"/>
                    <a:t> </a:t>
                  </a:r>
                </a:p>
              </p:txBody>
            </p:sp>
            <p:sp>
              <p:nvSpPr>
                <p:cNvPr id="51225" name="Rectangle 69"/>
                <p:cNvSpPr>
                  <a:spLocks noChangeArrowheads="1"/>
                </p:cNvSpPr>
                <p:nvPr/>
              </p:nvSpPr>
              <p:spPr bwMode="auto">
                <a:xfrm>
                  <a:off x="807" y="1702"/>
                  <a:ext cx="45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 </a:t>
                  </a:r>
                </a:p>
              </p:txBody>
            </p:sp>
            <p:sp>
              <p:nvSpPr>
                <p:cNvPr id="51226" name="Line 70"/>
                <p:cNvSpPr>
                  <a:spLocks noChangeShapeType="1"/>
                </p:cNvSpPr>
                <p:nvPr/>
              </p:nvSpPr>
              <p:spPr bwMode="auto">
                <a:xfrm>
                  <a:off x="807" y="1702"/>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27" name="Line 71"/>
                <p:cNvSpPr>
                  <a:spLocks noChangeShapeType="1"/>
                </p:cNvSpPr>
                <p:nvPr/>
              </p:nvSpPr>
              <p:spPr bwMode="auto">
                <a:xfrm>
                  <a:off x="807" y="2028"/>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28" name="Line 72"/>
                <p:cNvSpPr>
                  <a:spLocks noChangeShapeType="1"/>
                </p:cNvSpPr>
                <p:nvPr/>
              </p:nvSpPr>
              <p:spPr bwMode="auto">
                <a:xfrm>
                  <a:off x="807" y="3006"/>
                  <a:ext cx="1834"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29" name="Line 73"/>
                <p:cNvSpPr>
                  <a:spLocks noChangeShapeType="1"/>
                </p:cNvSpPr>
                <p:nvPr/>
              </p:nvSpPr>
              <p:spPr bwMode="auto">
                <a:xfrm>
                  <a:off x="807"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0" name="Line 74"/>
                <p:cNvSpPr>
                  <a:spLocks noChangeShapeType="1"/>
                </p:cNvSpPr>
                <p:nvPr/>
              </p:nvSpPr>
              <p:spPr bwMode="auto">
                <a:xfrm>
                  <a:off x="1266"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1" name="Line 75"/>
                <p:cNvSpPr>
                  <a:spLocks noChangeShapeType="1"/>
                </p:cNvSpPr>
                <p:nvPr/>
              </p:nvSpPr>
              <p:spPr bwMode="auto">
                <a:xfrm>
                  <a:off x="2641" y="1702"/>
                  <a:ext cx="0" cy="130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2" name="Line 76"/>
                <p:cNvSpPr>
                  <a:spLocks noChangeShapeType="1"/>
                </p:cNvSpPr>
                <p:nvPr/>
              </p:nvSpPr>
              <p:spPr bwMode="auto">
                <a:xfrm>
                  <a:off x="1724"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3" name="Line 77"/>
                <p:cNvSpPr>
                  <a:spLocks noChangeShapeType="1"/>
                </p:cNvSpPr>
                <p:nvPr/>
              </p:nvSpPr>
              <p:spPr bwMode="auto">
                <a:xfrm>
                  <a:off x="2183" y="1702"/>
                  <a:ext cx="0" cy="1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4" name="Line 78"/>
                <p:cNvSpPr>
                  <a:spLocks noChangeShapeType="1"/>
                </p:cNvSpPr>
                <p:nvPr/>
              </p:nvSpPr>
              <p:spPr bwMode="auto">
                <a:xfrm>
                  <a:off x="807" y="2354"/>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5" name="Line 79"/>
                <p:cNvSpPr>
                  <a:spLocks noChangeShapeType="1"/>
                </p:cNvSpPr>
                <p:nvPr/>
              </p:nvSpPr>
              <p:spPr bwMode="auto">
                <a:xfrm>
                  <a:off x="807" y="2680"/>
                  <a:ext cx="18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6" name="Line 80"/>
                <p:cNvSpPr>
                  <a:spLocks noChangeShapeType="1"/>
                </p:cNvSpPr>
                <p:nvPr/>
              </p:nvSpPr>
              <p:spPr bwMode="auto">
                <a:xfrm>
                  <a:off x="566" y="1462"/>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37" name="Text Box 81"/>
                <p:cNvSpPr txBox="1">
                  <a:spLocks noChangeArrowheads="1"/>
                </p:cNvSpPr>
                <p:nvPr/>
              </p:nvSpPr>
              <p:spPr bwMode="auto">
                <a:xfrm>
                  <a:off x="864" y="142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1238" name="Text Box 82"/>
                <p:cNvSpPr txBox="1">
                  <a:spLocks noChangeArrowheads="1"/>
                </p:cNvSpPr>
                <p:nvPr/>
              </p:nvSpPr>
              <p:spPr bwMode="auto">
                <a:xfrm>
                  <a:off x="1344" y="14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1239" name="Text Box 83"/>
                <p:cNvSpPr txBox="1">
                  <a:spLocks noChangeArrowheads="1"/>
                </p:cNvSpPr>
                <p:nvPr/>
              </p:nvSpPr>
              <p:spPr bwMode="auto">
                <a:xfrm>
                  <a:off x="1803" y="142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1240" name="Text Box 84"/>
                <p:cNvSpPr txBox="1">
                  <a:spLocks noChangeArrowheads="1"/>
                </p:cNvSpPr>
                <p:nvPr/>
              </p:nvSpPr>
              <p:spPr bwMode="auto">
                <a:xfrm>
                  <a:off x="2248" y="141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sp>
              <p:nvSpPr>
                <p:cNvPr id="51241" name="Text Box 85"/>
                <p:cNvSpPr txBox="1">
                  <a:spLocks noChangeArrowheads="1"/>
                </p:cNvSpPr>
                <p:nvPr/>
              </p:nvSpPr>
              <p:spPr bwMode="auto">
                <a:xfrm>
                  <a:off x="577" y="1248"/>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AB</a:t>
                  </a:r>
                </a:p>
              </p:txBody>
            </p:sp>
            <p:sp>
              <p:nvSpPr>
                <p:cNvPr id="51242" name="Text Box 86"/>
                <p:cNvSpPr txBox="1">
                  <a:spLocks noChangeArrowheads="1"/>
                </p:cNvSpPr>
                <p:nvPr/>
              </p:nvSpPr>
              <p:spPr bwMode="auto">
                <a:xfrm>
                  <a:off x="231" y="1488"/>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CD</a:t>
                  </a:r>
                </a:p>
              </p:txBody>
            </p:sp>
            <p:sp>
              <p:nvSpPr>
                <p:cNvPr id="51243" name="Text Box 87"/>
                <p:cNvSpPr txBox="1">
                  <a:spLocks noChangeArrowheads="1"/>
                </p:cNvSpPr>
                <p:nvPr/>
              </p:nvSpPr>
              <p:spPr bwMode="auto">
                <a:xfrm>
                  <a:off x="4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00</a:t>
                  </a:r>
                </a:p>
              </p:txBody>
            </p:sp>
            <p:sp>
              <p:nvSpPr>
                <p:cNvPr id="51244" name="Text Box 88"/>
                <p:cNvSpPr txBox="1">
                  <a:spLocks noChangeArrowheads="1"/>
                </p:cNvSpPr>
                <p:nvPr/>
              </p:nvSpPr>
              <p:spPr bwMode="auto">
                <a:xfrm>
                  <a:off x="489"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01</a:t>
                  </a:r>
                </a:p>
              </p:txBody>
            </p:sp>
            <p:sp>
              <p:nvSpPr>
                <p:cNvPr id="51245" name="Text Box 89"/>
                <p:cNvSpPr txBox="1">
                  <a:spLocks noChangeArrowheads="1"/>
                </p:cNvSpPr>
                <p:nvPr/>
              </p:nvSpPr>
              <p:spPr bwMode="auto">
                <a:xfrm>
                  <a:off x="489" y="24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11</a:t>
                  </a:r>
                </a:p>
              </p:txBody>
            </p:sp>
            <p:sp>
              <p:nvSpPr>
                <p:cNvPr id="51246" name="Text Box 90"/>
                <p:cNvSpPr txBox="1">
                  <a:spLocks noChangeArrowheads="1"/>
                </p:cNvSpPr>
                <p:nvPr/>
              </p:nvSpPr>
              <p:spPr bwMode="auto">
                <a:xfrm>
                  <a:off x="471" y="27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10</a:t>
                  </a:r>
                </a:p>
              </p:txBody>
            </p:sp>
          </p:grpSp>
          <p:sp>
            <p:nvSpPr>
              <p:cNvPr id="51210" name="Text Box 91"/>
              <p:cNvSpPr txBox="1">
                <a:spLocks noChangeArrowheads="1"/>
              </p:cNvSpPr>
              <p:nvPr/>
            </p:nvSpPr>
            <p:spPr bwMode="auto">
              <a:xfrm>
                <a:off x="91" y="1616"/>
                <a:ext cx="3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Z </a:t>
                </a:r>
              </a:p>
            </p:txBody>
          </p:sp>
        </p:grpSp>
        <p:sp>
          <p:nvSpPr>
            <p:cNvPr id="51208" name="Rectangle 60"/>
            <p:cNvSpPr>
              <a:spLocks noChangeArrowheads="1"/>
            </p:cNvSpPr>
            <p:nvPr/>
          </p:nvSpPr>
          <p:spPr bwMode="auto">
            <a:xfrm>
              <a:off x="1342" y="3731"/>
              <a:ext cx="49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a:t>1</a:t>
              </a:r>
              <a:endParaRPr lang="en-US" altLang="zh-CN" baseline="-3000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10949"/>
                                        </p:tgtEl>
                                        <p:attrNameLst>
                                          <p:attrName>style.visibility</p:attrName>
                                        </p:attrNameLst>
                                      </p:cBhvr>
                                      <p:to>
                                        <p:strVal val="visible"/>
                                      </p:to>
                                    </p:set>
                                    <p:anim calcmode="lin" valueType="num">
                                      <p:cBhvr additive="base">
                                        <p:cTn id="12" dur="500" fill="hold"/>
                                        <p:tgtEl>
                                          <p:spTgt spid="210949"/>
                                        </p:tgtEl>
                                        <p:attrNameLst>
                                          <p:attrName>ppt_x</p:attrName>
                                        </p:attrNameLst>
                                      </p:cBhvr>
                                      <p:tavLst>
                                        <p:tav tm="0">
                                          <p:val>
                                            <p:strVal val="0-#ppt_w/2"/>
                                          </p:val>
                                        </p:tav>
                                        <p:tav tm="100000">
                                          <p:val>
                                            <p:strVal val="#ppt_x"/>
                                          </p:val>
                                        </p:tav>
                                      </p:tavLst>
                                    </p:anim>
                                    <p:anim calcmode="lin" valueType="num">
                                      <p:cBhvr additive="base">
                                        <p:cTn id="13" dur="500" fill="hold"/>
                                        <p:tgtEl>
                                          <p:spTgt spid="21094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10991"/>
                                        </p:tgtEl>
                                        <p:attrNameLst>
                                          <p:attrName>style.visibility</p:attrName>
                                        </p:attrNameLst>
                                      </p:cBhvr>
                                      <p:to>
                                        <p:strVal val="visible"/>
                                      </p:to>
                                    </p:set>
                                    <p:anim calcmode="lin" valueType="num">
                                      <p:cBhvr additive="base">
                                        <p:cTn id="18" dur="500" fill="hold"/>
                                        <p:tgtEl>
                                          <p:spTgt spid="210991"/>
                                        </p:tgtEl>
                                        <p:attrNameLst>
                                          <p:attrName>ppt_x</p:attrName>
                                        </p:attrNameLst>
                                      </p:cBhvr>
                                      <p:tavLst>
                                        <p:tav tm="0">
                                          <p:val>
                                            <p:strVal val="0-#ppt_w/2"/>
                                          </p:val>
                                        </p:tav>
                                        <p:tav tm="100000">
                                          <p:val>
                                            <p:strVal val="#ppt_x"/>
                                          </p:val>
                                        </p:tav>
                                      </p:tavLst>
                                    </p:anim>
                                    <p:anim calcmode="lin" valueType="num">
                                      <p:cBhvr additive="base">
                                        <p:cTn id="19" dur="500" fill="hold"/>
                                        <p:tgtEl>
                                          <p:spTgt spid="2109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81E6C6D3-3AE8-4D40-802E-69DEB0561243}" type="datetime1">
              <a:rPr lang="zh-CN" altLang="en-US" sz="1400">
                <a:latin typeface="+mn-lt"/>
              </a:rPr>
              <a:pPr>
                <a:defRPr/>
              </a:pPr>
              <a:t>2020/10/10</a:t>
            </a:fld>
            <a:endParaRPr lang="en-US" altLang="zh-CN" sz="1400">
              <a:latin typeface="+mn-lt"/>
            </a:endParaRPr>
          </a:p>
        </p:txBody>
      </p:sp>
      <p:sp>
        <p:nvSpPr>
          <p:cNvPr id="3" name="灯片编号占位符 2"/>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098FF982-BDC7-43B1-A6A1-AD501BF27201}" type="slidenum">
              <a:rPr lang="en-US" altLang="zh-CN" sz="1400">
                <a:latin typeface="+mn-lt"/>
              </a:rPr>
              <a:pPr algn="r">
                <a:defRPr/>
              </a:pPr>
              <a:t>54</a:t>
            </a:fld>
            <a:endParaRPr lang="en-US" altLang="zh-CN" sz="1400">
              <a:latin typeface="+mn-lt"/>
            </a:endParaRPr>
          </a:p>
        </p:txBody>
      </p:sp>
      <p:pic>
        <p:nvPicPr>
          <p:cNvPr id="522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1475"/>
            <a:ext cx="6386513"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300" y="2500313"/>
            <a:ext cx="29337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81E6C6D3-3AE8-4D40-802E-69DEB0561243}"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1A61EA9A-B10B-47FD-B8A0-0A99DE7C57A2}" type="slidenum">
              <a:rPr lang="en-US" altLang="zh-CN" smtClean="0"/>
              <a:pPr>
                <a:defRPr/>
              </a:pPr>
              <a:t>55</a:t>
            </a:fld>
            <a:endParaRPr lang="en-US" altLang="zh-CN"/>
          </a:p>
        </p:txBody>
      </p:sp>
      <p:pic>
        <p:nvPicPr>
          <p:cNvPr id="532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38" y="285750"/>
            <a:ext cx="522446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3205163"/>
            <a:ext cx="7286625"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A4B0D82-C041-421D-A22B-C2709F246DB6}"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37364945-7A78-4902-BE89-25D45B157A56}" type="slidenum">
              <a:rPr lang="en-US" altLang="zh-CN"/>
              <a:pPr>
                <a:defRPr/>
              </a:pPr>
              <a:t>56</a:t>
            </a:fld>
            <a:endParaRPr lang="en-US" altLang="zh-CN"/>
          </a:p>
        </p:txBody>
      </p:sp>
      <p:sp>
        <p:nvSpPr>
          <p:cNvPr id="54276" name="Rectangle 2"/>
          <p:cNvSpPr>
            <a:spLocks noGrp="1" noChangeArrowheads="1"/>
          </p:cNvSpPr>
          <p:nvPr>
            <p:ph type="body" idx="1"/>
          </p:nvPr>
        </p:nvSpPr>
        <p:spPr/>
        <p:txBody>
          <a:bodyPr/>
          <a:lstStyle/>
          <a:p>
            <a:pPr eaLnBrk="1" hangingPunct="1"/>
            <a:r>
              <a:rPr lang="zh-CN" altLang="en-US" b="1" smtClean="0"/>
              <a:t>竞争与冒险的产生</a:t>
            </a:r>
          </a:p>
          <a:p>
            <a:pPr eaLnBrk="1" hangingPunct="1"/>
            <a:r>
              <a:rPr lang="zh-CN" altLang="en-US" b="1" smtClean="0"/>
              <a:t>判别冒险</a:t>
            </a:r>
          </a:p>
          <a:p>
            <a:pPr eaLnBrk="1" hangingPunct="1"/>
            <a:r>
              <a:rPr lang="zh-CN" altLang="en-US" b="1" smtClean="0"/>
              <a:t>消除冒险</a:t>
            </a:r>
          </a:p>
        </p:txBody>
      </p:sp>
      <p:sp>
        <p:nvSpPr>
          <p:cNvPr id="54277" name="Rectangle 3"/>
          <p:cNvSpPr>
            <a:spLocks noGrp="1" noChangeArrowheads="1"/>
          </p:cNvSpPr>
          <p:nvPr>
            <p:ph type="title"/>
          </p:nvPr>
        </p:nvSpPr>
        <p:spPr>
          <a:xfrm>
            <a:off x="1274763" y="533400"/>
            <a:ext cx="7793037" cy="609600"/>
          </a:xfrm>
        </p:spPr>
        <p:txBody>
          <a:bodyPr/>
          <a:lstStyle/>
          <a:p>
            <a:pPr eaLnBrk="1" hangingPunct="1"/>
            <a:r>
              <a:rPr lang="en-US" altLang="zh-CN" sz="4000" b="1" smtClean="0"/>
              <a:t>3.5 </a:t>
            </a:r>
            <a:r>
              <a:rPr lang="zh-CN" altLang="en-US" sz="4000" b="1" smtClean="0"/>
              <a:t>组合逻辑电路的竞争与冒险</a:t>
            </a:r>
          </a:p>
        </p:txBody>
      </p:sp>
      <p:pic>
        <p:nvPicPr>
          <p:cNvPr id="5427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141663"/>
            <a:ext cx="7126288"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1B57766-3205-4A9D-8853-A025C7D9D7EE}"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451C9E0B-9C29-4185-8757-3BFAE31FE92A}" type="slidenum">
              <a:rPr lang="en-US" altLang="zh-CN"/>
              <a:pPr>
                <a:defRPr/>
              </a:pPr>
              <a:t>57</a:t>
            </a:fld>
            <a:endParaRPr lang="en-US" altLang="zh-CN"/>
          </a:p>
        </p:txBody>
      </p:sp>
      <p:sp>
        <p:nvSpPr>
          <p:cNvPr id="55300" name="Rectangle 2"/>
          <p:cNvSpPr>
            <a:spLocks noGrp="1" noChangeArrowheads="1"/>
          </p:cNvSpPr>
          <p:nvPr>
            <p:ph type="body" idx="1"/>
          </p:nvPr>
        </p:nvSpPr>
        <p:spPr/>
        <p:txBody>
          <a:bodyPr/>
          <a:lstStyle/>
          <a:p>
            <a:pPr eaLnBrk="1" hangingPunct="1"/>
            <a:r>
              <a:rPr lang="zh-CN" altLang="en-US" sz="2800" b="1" smtClean="0"/>
              <a:t>由来：在组合逻辑分析和设计中，只考虑了逻辑器件在稳定时输入和输出的关系，而没有考虑它的过渡过程，因而可能在输入状态及网路内部各点状态变化时存在时差，从而可能在网路输出时出现一些“干扰”</a:t>
            </a:r>
          </a:p>
          <a:p>
            <a:pPr eaLnBrk="1" hangingPunct="1"/>
            <a:r>
              <a:rPr lang="zh-CN" altLang="en-US" sz="2800" b="1" smtClean="0"/>
              <a:t>竞争：多个信号由于通过不同途径而到达某一共同点的时间有先有后的现象</a:t>
            </a:r>
          </a:p>
          <a:p>
            <a:pPr eaLnBrk="1" hangingPunct="1"/>
            <a:r>
              <a:rPr lang="zh-CN" altLang="en-US" sz="2800" b="1" smtClean="0"/>
              <a:t>冒险：在网路输出端上得到最后稳定的输出之前，可能出现的一个短暂的、不是原设计所期望的错误输出，这种输出就是由于竞争所引起的冒险</a:t>
            </a:r>
          </a:p>
        </p:txBody>
      </p:sp>
      <p:sp>
        <p:nvSpPr>
          <p:cNvPr id="55301" name="Rectangle 3"/>
          <p:cNvSpPr>
            <a:spLocks noGrp="1" noChangeArrowheads="1"/>
          </p:cNvSpPr>
          <p:nvPr>
            <p:ph type="title"/>
          </p:nvPr>
        </p:nvSpPr>
        <p:spPr>
          <a:xfrm>
            <a:off x="1274763" y="533400"/>
            <a:ext cx="7793037" cy="609600"/>
          </a:xfrm>
        </p:spPr>
        <p:txBody>
          <a:bodyPr/>
          <a:lstStyle/>
          <a:p>
            <a:pPr eaLnBrk="1" hangingPunct="1"/>
            <a:r>
              <a:rPr lang="zh-CN" altLang="en-US" b="1" smtClean="0"/>
              <a:t>竞争与冒险的产生</a:t>
            </a:r>
            <a:endParaRPr lang="zh-CN" altLang="en-US" sz="4000" b="1" smtClean="0"/>
          </a:p>
        </p:txBody>
      </p:sp>
    </p:spTree>
  </p:cSld>
  <p:clrMapOvr>
    <a:masterClrMapping/>
  </p:clrMapOvr>
  <p:transition>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E453B0E-BC90-4539-9811-F569A3C04F0A}"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FD62FB1D-F206-4C70-88DC-ECECC8DEA879}" type="slidenum">
              <a:rPr lang="en-US" altLang="zh-CN"/>
              <a:pPr>
                <a:defRPr/>
              </a:pPr>
              <a:t>58</a:t>
            </a:fld>
            <a:endParaRPr lang="en-US" altLang="zh-CN"/>
          </a:p>
        </p:txBody>
      </p:sp>
      <p:sp>
        <p:nvSpPr>
          <p:cNvPr id="56324" name="Rectangle 2"/>
          <p:cNvSpPr>
            <a:spLocks noGrp="1" noChangeArrowheads="1"/>
          </p:cNvSpPr>
          <p:nvPr>
            <p:ph type="body" idx="1"/>
          </p:nvPr>
        </p:nvSpPr>
        <p:spPr/>
        <p:txBody>
          <a:bodyPr/>
          <a:lstStyle/>
          <a:p>
            <a:pPr eaLnBrk="1" hangingPunct="1"/>
            <a:r>
              <a:rPr lang="zh-CN" altLang="en-US" b="1" smtClean="0"/>
              <a:t>临界竞争与非临界竞争</a:t>
            </a:r>
          </a:p>
          <a:p>
            <a:pPr lvl="1" eaLnBrk="1" hangingPunct="1"/>
            <a:r>
              <a:rPr lang="zh-CN" altLang="en-US" b="1" smtClean="0">
                <a:solidFill>
                  <a:schemeClr val="hlink"/>
                </a:solidFill>
              </a:rPr>
              <a:t>临界竞争</a:t>
            </a:r>
            <a:r>
              <a:rPr lang="zh-CN" altLang="en-US" b="1" smtClean="0"/>
              <a:t>：使网路输出发生冒险（产生错误输出）的竞争</a:t>
            </a:r>
          </a:p>
          <a:p>
            <a:pPr lvl="1" eaLnBrk="1" hangingPunct="1"/>
            <a:r>
              <a:rPr lang="zh-CN" altLang="en-US" b="1" smtClean="0">
                <a:solidFill>
                  <a:schemeClr val="hlink"/>
                </a:solidFill>
              </a:rPr>
              <a:t>非临界竞争</a:t>
            </a:r>
            <a:r>
              <a:rPr lang="zh-CN" altLang="en-US" b="1" smtClean="0"/>
              <a:t>：没有破坏正常的逻辑状态的竞争，即不会使电路发生冒险（产生错误输出）的竞争</a:t>
            </a:r>
          </a:p>
        </p:txBody>
      </p:sp>
      <p:sp>
        <p:nvSpPr>
          <p:cNvPr id="56325" name="Rectangle 3"/>
          <p:cNvSpPr>
            <a:spLocks noGrp="1" noChangeArrowheads="1"/>
          </p:cNvSpPr>
          <p:nvPr>
            <p:ph type="title"/>
          </p:nvPr>
        </p:nvSpPr>
        <p:spPr>
          <a:xfrm>
            <a:off x="1274763" y="533400"/>
            <a:ext cx="7793037" cy="609600"/>
          </a:xfrm>
        </p:spPr>
        <p:txBody>
          <a:bodyPr/>
          <a:lstStyle/>
          <a:p>
            <a:pPr eaLnBrk="1" hangingPunct="1"/>
            <a:r>
              <a:rPr lang="zh-CN" altLang="en-US" b="1" smtClean="0"/>
              <a:t>竞争与冒险的产生</a:t>
            </a:r>
            <a:endParaRPr lang="zh-CN" altLang="en-US" sz="4000" b="1" smtClean="0"/>
          </a:p>
        </p:txBody>
      </p:sp>
    </p:spTree>
  </p:cSld>
  <p:clrMapOvr>
    <a:masterClrMapping/>
  </p:clrMapOvr>
  <p:transition>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486B26D-B3C6-40EE-8553-7B510FED8CB5}"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53CF65E6-EE8A-4410-8AE8-1D4F88C663C1}" type="slidenum">
              <a:rPr lang="en-US" altLang="zh-CN"/>
              <a:pPr>
                <a:defRPr/>
              </a:pPr>
              <a:t>59</a:t>
            </a:fld>
            <a:endParaRPr lang="en-US" altLang="zh-CN"/>
          </a:p>
        </p:txBody>
      </p:sp>
      <p:sp>
        <p:nvSpPr>
          <p:cNvPr id="57348" name="Rectangle 2"/>
          <p:cNvSpPr>
            <a:spLocks noGrp="1" noChangeArrowheads="1"/>
          </p:cNvSpPr>
          <p:nvPr>
            <p:ph type="body" idx="1"/>
          </p:nvPr>
        </p:nvSpPr>
        <p:spPr/>
        <p:txBody>
          <a:bodyPr/>
          <a:lstStyle/>
          <a:p>
            <a:pPr eaLnBrk="1" hangingPunct="1"/>
            <a:r>
              <a:rPr lang="zh-CN" altLang="en-US" sz="2800" b="1" smtClean="0"/>
              <a:t>静态冒险与动态冒险</a:t>
            </a:r>
          </a:p>
          <a:p>
            <a:pPr lvl="1" eaLnBrk="1" hangingPunct="1"/>
            <a:r>
              <a:rPr lang="zh-CN" altLang="en-US" sz="2400" b="1" smtClean="0">
                <a:solidFill>
                  <a:schemeClr val="hlink"/>
                </a:solidFill>
              </a:rPr>
              <a:t>静态冒险</a:t>
            </a:r>
            <a:r>
              <a:rPr lang="zh-CN" altLang="en-US" sz="2400" b="1" smtClean="0"/>
              <a:t>：由于输入变量的变化而使本应不变的输出产生了不应该有的瞬时变化</a:t>
            </a:r>
          </a:p>
          <a:p>
            <a:pPr lvl="2" eaLnBrk="1" hangingPunct="1"/>
            <a:r>
              <a:rPr lang="zh-CN" altLang="en-US" sz="2000" b="1" smtClean="0"/>
              <a:t>静态偏</a:t>
            </a:r>
            <a:r>
              <a:rPr lang="en-US" altLang="zh-CN" sz="2000" b="1" smtClean="0"/>
              <a:t>1</a:t>
            </a:r>
            <a:r>
              <a:rPr lang="zh-CN" altLang="en-US" sz="2000" b="1" smtClean="0"/>
              <a:t>型冒险：输出应当为</a:t>
            </a:r>
            <a:r>
              <a:rPr lang="en-US" altLang="zh-CN" sz="2000" b="1" smtClean="0"/>
              <a:t>1</a:t>
            </a:r>
            <a:r>
              <a:rPr lang="zh-CN" altLang="en-US" sz="2000" b="1" smtClean="0"/>
              <a:t>的情况下出现瞬时的</a:t>
            </a:r>
            <a:r>
              <a:rPr lang="en-US" altLang="zh-CN" sz="2000" b="1" smtClean="0"/>
              <a:t>0</a:t>
            </a:r>
            <a:r>
              <a:rPr lang="zh-CN" altLang="en-US" sz="2000" b="1" smtClean="0"/>
              <a:t>，即</a:t>
            </a:r>
            <a:r>
              <a:rPr lang="en-US" altLang="zh-CN" sz="2000" b="1" smtClean="0"/>
              <a:t>1-0-1</a:t>
            </a:r>
            <a:r>
              <a:rPr lang="zh-CN" altLang="en-US" sz="2000" b="1" smtClean="0"/>
              <a:t>型的输出</a:t>
            </a:r>
          </a:p>
          <a:p>
            <a:pPr lvl="2" eaLnBrk="1" hangingPunct="1"/>
            <a:r>
              <a:rPr lang="zh-CN" altLang="en-US" sz="2000" b="1" smtClean="0"/>
              <a:t>静态偏</a:t>
            </a:r>
            <a:r>
              <a:rPr lang="en-US" altLang="zh-CN" sz="2000" b="1" smtClean="0"/>
              <a:t>0</a:t>
            </a:r>
            <a:r>
              <a:rPr lang="zh-CN" altLang="en-US" sz="2000" b="1" smtClean="0"/>
              <a:t>型冒险：输出应当为</a:t>
            </a:r>
            <a:r>
              <a:rPr lang="en-US" altLang="zh-CN" sz="2000" b="1" smtClean="0"/>
              <a:t>0</a:t>
            </a:r>
            <a:r>
              <a:rPr lang="zh-CN" altLang="en-US" sz="2000" b="1" smtClean="0"/>
              <a:t>的情况下出现瞬时的</a:t>
            </a:r>
            <a:r>
              <a:rPr lang="en-US" altLang="zh-CN" sz="2000" b="1" smtClean="0"/>
              <a:t>1</a:t>
            </a:r>
            <a:r>
              <a:rPr lang="zh-CN" altLang="en-US" sz="2000" b="1" smtClean="0"/>
              <a:t>，即</a:t>
            </a:r>
            <a:r>
              <a:rPr lang="en-US" altLang="zh-CN" sz="2000" b="1" smtClean="0"/>
              <a:t>0-1-0</a:t>
            </a:r>
            <a:r>
              <a:rPr lang="zh-CN" altLang="en-US" sz="2000" b="1" smtClean="0"/>
              <a:t>型的输出</a:t>
            </a:r>
          </a:p>
          <a:p>
            <a:pPr lvl="1" eaLnBrk="1" hangingPunct="1"/>
            <a:r>
              <a:rPr lang="zh-CN" altLang="en-US" sz="2400" b="1" smtClean="0">
                <a:solidFill>
                  <a:schemeClr val="hlink"/>
                </a:solidFill>
              </a:rPr>
              <a:t>动态冒险</a:t>
            </a:r>
            <a:r>
              <a:rPr lang="zh-CN" altLang="en-US" sz="2400" b="1" smtClean="0"/>
              <a:t>：当输入变量有变化时，输出本应有变化，但在变化的过程中出现了不应有的瞬时的错误输出</a:t>
            </a:r>
          </a:p>
          <a:p>
            <a:pPr lvl="2" eaLnBrk="1" hangingPunct="1"/>
            <a:r>
              <a:rPr lang="zh-CN" altLang="en-US" sz="2000" b="1" smtClean="0"/>
              <a:t>动态偏</a:t>
            </a:r>
            <a:r>
              <a:rPr lang="en-US" altLang="zh-CN" sz="2000" b="1" smtClean="0"/>
              <a:t>1</a:t>
            </a:r>
            <a:r>
              <a:rPr lang="zh-CN" altLang="en-US" sz="2000" b="1" smtClean="0"/>
              <a:t>型冒险：输出在正常情况下由</a:t>
            </a:r>
            <a:r>
              <a:rPr lang="en-US" altLang="zh-CN" sz="2000" b="1" smtClean="0"/>
              <a:t>0</a:t>
            </a:r>
            <a:r>
              <a:rPr lang="zh-CN" altLang="en-US" sz="2000" b="1" smtClean="0"/>
              <a:t>变为</a:t>
            </a:r>
            <a:r>
              <a:rPr lang="en-US" altLang="zh-CN" sz="2000" b="1" smtClean="0"/>
              <a:t>1</a:t>
            </a:r>
            <a:r>
              <a:rPr lang="zh-CN" altLang="en-US" sz="2000" b="1" smtClean="0"/>
              <a:t>，但在变化过程中又出现了瞬时的</a:t>
            </a:r>
            <a:r>
              <a:rPr lang="en-US" altLang="zh-CN" sz="2000" b="1" smtClean="0"/>
              <a:t>0</a:t>
            </a:r>
            <a:r>
              <a:rPr lang="zh-CN" altLang="en-US" sz="2000" b="1" smtClean="0"/>
              <a:t>，即</a:t>
            </a:r>
            <a:r>
              <a:rPr lang="en-US" altLang="zh-CN" sz="2000" b="1" smtClean="0"/>
              <a:t>0-1-0-1</a:t>
            </a:r>
            <a:r>
              <a:rPr lang="zh-CN" altLang="en-US" sz="2000" b="1" smtClean="0"/>
              <a:t>型的输出</a:t>
            </a:r>
          </a:p>
          <a:p>
            <a:pPr lvl="2" eaLnBrk="1" hangingPunct="1"/>
            <a:r>
              <a:rPr lang="zh-CN" altLang="en-US" sz="2000" b="1" smtClean="0"/>
              <a:t>动态偏</a:t>
            </a:r>
            <a:r>
              <a:rPr lang="en-US" altLang="zh-CN" sz="2000" b="1" smtClean="0"/>
              <a:t>0</a:t>
            </a:r>
            <a:r>
              <a:rPr lang="zh-CN" altLang="en-US" sz="2000" b="1" smtClean="0"/>
              <a:t>型冒险：输出在正常情况下由</a:t>
            </a:r>
            <a:r>
              <a:rPr lang="en-US" altLang="zh-CN" sz="2000" b="1" smtClean="0"/>
              <a:t>1</a:t>
            </a:r>
            <a:r>
              <a:rPr lang="zh-CN" altLang="en-US" sz="2000" b="1" smtClean="0"/>
              <a:t>变为</a:t>
            </a:r>
            <a:r>
              <a:rPr lang="en-US" altLang="zh-CN" sz="2000" b="1" smtClean="0"/>
              <a:t>0</a:t>
            </a:r>
            <a:r>
              <a:rPr lang="zh-CN" altLang="en-US" sz="2000" b="1" smtClean="0"/>
              <a:t>，但在变化过程中又出现了瞬时的</a:t>
            </a:r>
            <a:r>
              <a:rPr lang="en-US" altLang="zh-CN" sz="2000" b="1" smtClean="0"/>
              <a:t>1</a:t>
            </a:r>
            <a:r>
              <a:rPr lang="zh-CN" altLang="en-US" sz="2000" b="1" smtClean="0"/>
              <a:t>，即</a:t>
            </a:r>
            <a:r>
              <a:rPr lang="en-US" altLang="zh-CN" sz="2000" b="1" smtClean="0"/>
              <a:t>1-0-1-0</a:t>
            </a:r>
            <a:r>
              <a:rPr lang="zh-CN" altLang="en-US" sz="2000" b="1" smtClean="0"/>
              <a:t>型的输出</a:t>
            </a:r>
          </a:p>
        </p:txBody>
      </p:sp>
      <p:sp>
        <p:nvSpPr>
          <p:cNvPr id="57349" name="Rectangle 3"/>
          <p:cNvSpPr>
            <a:spLocks noGrp="1" noChangeArrowheads="1"/>
          </p:cNvSpPr>
          <p:nvPr>
            <p:ph type="title"/>
          </p:nvPr>
        </p:nvSpPr>
        <p:spPr>
          <a:xfrm>
            <a:off x="1274763" y="533400"/>
            <a:ext cx="7793037" cy="609600"/>
          </a:xfrm>
        </p:spPr>
        <p:txBody>
          <a:bodyPr/>
          <a:lstStyle/>
          <a:p>
            <a:pPr eaLnBrk="1" hangingPunct="1"/>
            <a:r>
              <a:rPr lang="zh-CN" altLang="en-US" b="1" smtClean="0"/>
              <a:t>竞争与冒险的产生</a:t>
            </a:r>
            <a:endParaRPr lang="zh-CN" altLang="en-US" sz="4000" b="1" smtClean="0"/>
          </a:p>
        </p:txBody>
      </p:sp>
    </p:spTree>
  </p:cSld>
  <p:clrMapOvr>
    <a:masterClrMapping/>
  </p:clrMapOvr>
  <p:transition>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6BC4A38-4BDE-4094-B3B1-CC84865D60B0}" type="slidenum">
              <a:rPr lang="en-US" altLang="zh-CN" smtClean="0"/>
              <a:pPr>
                <a:defRPr/>
              </a:pPr>
              <a:t>60</a:t>
            </a:fld>
            <a:endParaRPr lang="en-US" altLang="zh-CN"/>
          </a:p>
        </p:txBody>
      </p:sp>
      <p:pic>
        <p:nvPicPr>
          <p:cNvPr id="5837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62163"/>
            <a:ext cx="91440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矩形 4"/>
          <p:cNvSpPr>
            <a:spLocks noChangeArrowheads="1"/>
          </p:cNvSpPr>
          <p:nvPr/>
        </p:nvSpPr>
        <p:spPr bwMode="auto">
          <a:xfrm>
            <a:off x="714375" y="1000125"/>
            <a:ext cx="7858125"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i="1"/>
              <a:t>F</a:t>
            </a:r>
            <a:r>
              <a:rPr lang="en-US" altLang="zh-CN" b="1"/>
              <a:t>=</a:t>
            </a:r>
            <a:r>
              <a:rPr lang="en-US" altLang="zh-CN" b="1" i="1"/>
              <a:t>AB</a:t>
            </a:r>
            <a:r>
              <a:rPr lang="en-US" altLang="zh-CN" b="1"/>
              <a:t>+</a:t>
            </a:r>
            <a:r>
              <a:rPr lang="en-US" altLang="zh-CN" b="1" i="1"/>
              <a:t>AC</a:t>
            </a:r>
            <a:r>
              <a:rPr lang="zh-CN" altLang="en-US" b="1"/>
              <a:t>。当</a:t>
            </a:r>
            <a:r>
              <a:rPr lang="en-US" altLang="zh-CN" b="1" i="1"/>
              <a:t>B</a:t>
            </a:r>
            <a:r>
              <a:rPr lang="en-US" altLang="zh-CN" b="1"/>
              <a:t>=</a:t>
            </a:r>
            <a:r>
              <a:rPr lang="en-US" altLang="zh-CN" b="1" i="1"/>
              <a:t>C</a:t>
            </a:r>
            <a:r>
              <a:rPr lang="en-US" altLang="zh-CN" b="1"/>
              <a:t>=1</a:t>
            </a:r>
            <a:r>
              <a:rPr lang="zh-CN" altLang="en-US" b="1"/>
              <a:t>时， 应有</a:t>
            </a:r>
            <a:r>
              <a:rPr lang="en-US" altLang="zh-CN" b="1" i="1"/>
              <a:t>F</a:t>
            </a:r>
            <a:r>
              <a:rPr lang="en-US" altLang="zh-CN" b="1"/>
              <a:t>=</a:t>
            </a:r>
            <a:r>
              <a:rPr lang="en-US" altLang="zh-CN" b="1" i="1"/>
              <a:t>A</a:t>
            </a:r>
            <a:r>
              <a:rPr lang="en-US" altLang="zh-CN" b="1"/>
              <a:t>+</a:t>
            </a:r>
            <a:r>
              <a:rPr lang="en-US" altLang="zh-CN" b="1" i="1"/>
              <a:t>A</a:t>
            </a:r>
            <a:r>
              <a:rPr lang="en-US" altLang="zh-CN" b="1"/>
              <a:t>=1</a:t>
            </a:r>
            <a:r>
              <a:rPr lang="zh-CN" altLang="en-US" b="1"/>
              <a:t>，即不管</a:t>
            </a:r>
            <a:r>
              <a:rPr lang="en-US" altLang="zh-CN" b="1"/>
              <a:t>A</a:t>
            </a:r>
            <a:r>
              <a:rPr lang="zh-CN" altLang="en-US" b="1"/>
              <a:t>如何变化，输出</a:t>
            </a:r>
            <a:r>
              <a:rPr lang="en-US" altLang="zh-CN" b="1"/>
              <a:t>F</a:t>
            </a:r>
            <a:r>
              <a:rPr lang="zh-CN" altLang="en-US" b="1"/>
              <a:t>恒为高。而实际上由于门电路有延迟，当</a:t>
            </a:r>
            <a:r>
              <a:rPr lang="en-US" altLang="zh-CN" b="1"/>
              <a:t>A</a:t>
            </a:r>
            <a:r>
              <a:rPr lang="zh-CN" altLang="en-US" b="1"/>
              <a:t>由高变低时，在输出波形上出现了一个负脉。 </a:t>
            </a:r>
          </a:p>
        </p:txBody>
      </p:sp>
      <p:cxnSp>
        <p:nvCxnSpPr>
          <p:cNvPr id="58374" name="直接连接符 6"/>
          <p:cNvCxnSpPr>
            <a:cxnSpLocks noChangeShapeType="1"/>
          </p:cNvCxnSpPr>
          <p:nvPr/>
        </p:nvCxnSpPr>
        <p:spPr bwMode="auto">
          <a:xfrm>
            <a:off x="1785938" y="1071563"/>
            <a:ext cx="214312" cy="1587"/>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8375" name="直接连接符 8"/>
          <p:cNvCxnSpPr>
            <a:cxnSpLocks noChangeShapeType="1"/>
          </p:cNvCxnSpPr>
          <p:nvPr/>
        </p:nvCxnSpPr>
        <p:spPr bwMode="auto">
          <a:xfrm>
            <a:off x="5799138" y="1082675"/>
            <a:ext cx="214312"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58376" name="矩形 9"/>
          <p:cNvSpPr>
            <a:spLocks noChangeArrowheads="1"/>
          </p:cNvSpPr>
          <p:nvPr/>
        </p:nvSpPr>
        <p:spPr bwMode="auto">
          <a:xfrm>
            <a:off x="2546350" y="142875"/>
            <a:ext cx="4305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solidFill>
                  <a:srgbClr val="0000FF"/>
                </a:solidFill>
                <a:latin typeface="黑体" pitchFamily="49" charset="-122"/>
                <a:ea typeface="黑体" pitchFamily="49" charset="-122"/>
              </a:rPr>
              <a:t>竞争与冒险现象示例 </a:t>
            </a:r>
            <a:r>
              <a:rPr lang="en-US" altLang="zh-CN" sz="3200" b="1">
                <a:solidFill>
                  <a:srgbClr val="0000FF"/>
                </a:solidFill>
                <a:latin typeface="黑体" pitchFamily="49" charset="-122"/>
                <a:ea typeface="黑体" pitchFamily="49" charset="-122"/>
              </a:rPr>
              <a:t>1</a:t>
            </a:r>
            <a:endParaRPr lang="zh-CN" altLang="en-US" sz="3200" b="1">
              <a:solidFill>
                <a:srgbClr val="0000FF"/>
              </a:solidFill>
              <a:latin typeface="黑体" pitchFamily="49" charset="-122"/>
              <a:ea typeface="黑体" pitchFamily="49" charset="-122"/>
            </a:endParaRPr>
          </a:p>
        </p:txBody>
      </p:sp>
      <p:sp>
        <p:nvSpPr>
          <p:cNvPr id="58377" name="Oval 10"/>
          <p:cNvSpPr>
            <a:spLocks noChangeArrowheads="1"/>
          </p:cNvSpPr>
          <p:nvPr/>
        </p:nvSpPr>
        <p:spPr bwMode="auto">
          <a:xfrm>
            <a:off x="6659563" y="5516563"/>
            <a:ext cx="720725" cy="57626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A54E664F-4A2C-4548-994A-2438D3083B79}" type="slidenum">
              <a:rPr lang="en-US" altLang="zh-CN" smtClean="0"/>
              <a:pPr>
                <a:defRPr/>
              </a:pPr>
              <a:t>61</a:t>
            </a:fld>
            <a:endParaRPr lang="en-US" altLang="zh-CN"/>
          </a:p>
        </p:txBody>
      </p:sp>
      <p:sp>
        <p:nvSpPr>
          <p:cNvPr id="59396" name="Text Box 4"/>
          <p:cNvSpPr txBox="1">
            <a:spLocks noChangeArrowheads="1"/>
          </p:cNvSpPr>
          <p:nvPr/>
        </p:nvSpPr>
        <p:spPr bwMode="auto">
          <a:xfrm>
            <a:off x="2357438" y="357188"/>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0000FF"/>
                </a:solidFill>
                <a:latin typeface="黑体" pitchFamily="49" charset="-122"/>
                <a:ea typeface="黑体" pitchFamily="49" charset="-122"/>
              </a:rPr>
              <a:t>竞争与冒险现象示例 </a:t>
            </a:r>
            <a:r>
              <a:rPr lang="en-US" altLang="zh-CN" b="1">
                <a:solidFill>
                  <a:srgbClr val="0000FF"/>
                </a:solidFill>
                <a:latin typeface="黑体" pitchFamily="49" charset="-122"/>
                <a:ea typeface="黑体" pitchFamily="49" charset="-122"/>
              </a:rPr>
              <a:t>2 </a:t>
            </a:r>
          </a:p>
        </p:txBody>
      </p:sp>
      <p:sp>
        <p:nvSpPr>
          <p:cNvPr id="7" name="Text Box 6"/>
          <p:cNvSpPr txBox="1">
            <a:spLocks noChangeArrowheads="1"/>
          </p:cNvSpPr>
          <p:nvPr/>
        </p:nvSpPr>
        <p:spPr bwMode="auto">
          <a:xfrm>
            <a:off x="533400" y="1639888"/>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产生竞争冒险的原因：主要是门电路的延迟时间产生的。</a:t>
            </a:r>
          </a:p>
        </p:txBody>
      </p:sp>
      <p:graphicFrame>
        <p:nvGraphicFramePr>
          <p:cNvPr id="8" name="Object 6"/>
          <p:cNvGraphicFramePr>
            <a:graphicFrameLocks noChangeAspect="1"/>
          </p:cNvGraphicFramePr>
          <p:nvPr/>
        </p:nvGraphicFramePr>
        <p:xfrm>
          <a:off x="1143000" y="2249488"/>
          <a:ext cx="7010400" cy="2951162"/>
        </p:xfrm>
        <a:graphic>
          <a:graphicData uri="http://schemas.openxmlformats.org/presentationml/2006/ole">
            <mc:AlternateContent xmlns:mc="http://schemas.openxmlformats.org/markup-compatibility/2006">
              <mc:Choice xmlns:v="urn:schemas-microsoft-com:vml" Requires="v">
                <p:oleObj spid="_x0000_s59421" name="Picture" r:id="rId6" imgW="3438525" imgH="1447800" progId="Word.Picture.8">
                  <p:embed/>
                </p:oleObj>
              </mc:Choice>
              <mc:Fallback>
                <p:oleObj name="Picture" r:id="rId6" imgW="3438525" imgH="1447800" progId="Word.Picture.8">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2249488"/>
                        <a:ext cx="7010400" cy="2951162"/>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Oval 8"/>
          <p:cNvSpPr>
            <a:spLocks noChangeArrowheads="1"/>
          </p:cNvSpPr>
          <p:nvPr/>
        </p:nvSpPr>
        <p:spPr bwMode="auto">
          <a:xfrm>
            <a:off x="4495800" y="1628775"/>
            <a:ext cx="2667000" cy="533400"/>
          </a:xfrm>
          <a:prstGeom prst="ellipse">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Line 9"/>
          <p:cNvSpPr>
            <a:spLocks noChangeShapeType="1"/>
          </p:cNvSpPr>
          <p:nvPr/>
        </p:nvSpPr>
        <p:spPr bwMode="auto">
          <a:xfrm flipV="1">
            <a:off x="2286000" y="2097088"/>
            <a:ext cx="2590800" cy="2286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
          <p:cNvSpPr>
            <a:spLocks noChangeShapeType="1"/>
          </p:cNvSpPr>
          <p:nvPr/>
        </p:nvSpPr>
        <p:spPr bwMode="auto">
          <a:xfrm>
            <a:off x="4876800" y="2097088"/>
            <a:ext cx="762000" cy="2286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11"/>
          <p:cNvSpPr>
            <a:spLocks noChangeArrowheads="1"/>
          </p:cNvSpPr>
          <p:nvPr/>
        </p:nvSpPr>
        <p:spPr bwMode="auto">
          <a:xfrm>
            <a:off x="3810000" y="5145088"/>
            <a:ext cx="2057400" cy="685800"/>
          </a:xfrm>
          <a:prstGeom prst="ellipse">
            <a:avLst/>
          </a:prstGeom>
          <a:solidFill>
            <a:schemeClr val="accent1"/>
          </a:solidFill>
          <a:ln w="9525">
            <a:solidFill>
              <a:srgbClr val="CC0066"/>
            </a:solidFill>
            <a:round/>
            <a:headEnd/>
            <a:tailEnd/>
          </a:ln>
        </p:spPr>
        <p:txBody>
          <a:bodyPr wrap="none" anchor="ctr"/>
          <a:lstStyle/>
          <a:p>
            <a:r>
              <a:rPr lang="zh-CN" altLang="en-US"/>
              <a:t>干扰信号</a:t>
            </a:r>
          </a:p>
        </p:txBody>
      </p:sp>
      <p:sp>
        <p:nvSpPr>
          <p:cNvPr id="13" name="Line 12"/>
          <p:cNvSpPr>
            <a:spLocks noChangeShapeType="1"/>
          </p:cNvSpPr>
          <p:nvPr/>
        </p:nvSpPr>
        <p:spPr bwMode="auto">
          <a:xfrm>
            <a:off x="2209800" y="4611688"/>
            <a:ext cx="1752600" cy="7620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3"/>
          <p:cNvSpPr>
            <a:spLocks noChangeShapeType="1"/>
          </p:cNvSpPr>
          <p:nvPr/>
        </p:nvSpPr>
        <p:spPr bwMode="auto">
          <a:xfrm>
            <a:off x="3429000" y="4687888"/>
            <a:ext cx="533400" cy="6858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4"/>
          <p:cNvSpPr>
            <a:spLocks noChangeShapeType="1"/>
          </p:cNvSpPr>
          <p:nvPr/>
        </p:nvSpPr>
        <p:spPr bwMode="auto">
          <a:xfrm flipH="1">
            <a:off x="5562600" y="4611688"/>
            <a:ext cx="685800" cy="6096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5"/>
          <p:cNvSpPr>
            <a:spLocks noChangeShapeType="1"/>
          </p:cNvSpPr>
          <p:nvPr/>
        </p:nvSpPr>
        <p:spPr bwMode="auto">
          <a:xfrm flipH="1">
            <a:off x="5486400" y="4611688"/>
            <a:ext cx="1981200" cy="60960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 name="Object 7"/>
          <p:cNvGraphicFramePr>
            <a:graphicFrameLocks noChangeAspect="1"/>
          </p:cNvGraphicFramePr>
          <p:nvPr/>
        </p:nvGraphicFramePr>
        <p:xfrm>
          <a:off x="3505200" y="2859088"/>
          <a:ext cx="1566863" cy="485775"/>
        </p:xfrm>
        <a:graphic>
          <a:graphicData uri="http://schemas.openxmlformats.org/presentationml/2006/ole">
            <mc:AlternateContent xmlns:mc="http://schemas.openxmlformats.org/markup-compatibility/2006">
              <mc:Choice xmlns:v="urn:schemas-microsoft-com:vml" Requires="v">
                <p:oleObj spid="_x0000_s59422" name="公式" r:id="rId8" imgW="736600" imgH="228600" progId="Equation.3">
                  <p:embed/>
                </p:oleObj>
              </mc:Choice>
              <mc:Fallback>
                <p:oleObj name="公式" r:id="rId8" imgW="73660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5200" y="2859088"/>
                        <a:ext cx="1566863" cy="4857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8"/>
          <p:cNvGraphicFramePr>
            <a:graphicFrameLocks noChangeAspect="1"/>
          </p:cNvGraphicFramePr>
          <p:nvPr/>
        </p:nvGraphicFramePr>
        <p:xfrm>
          <a:off x="7162800" y="2859088"/>
          <a:ext cx="1816100" cy="466725"/>
        </p:xfrm>
        <a:graphic>
          <a:graphicData uri="http://schemas.openxmlformats.org/presentationml/2006/ole">
            <mc:AlternateContent xmlns:mc="http://schemas.openxmlformats.org/markup-compatibility/2006">
              <mc:Choice xmlns:v="urn:schemas-microsoft-com:vml" Requires="v">
                <p:oleObj spid="_x0000_s59423" name="公式" r:id="rId10" imgW="889000" imgH="228600" progId="Equation.3">
                  <p:embed/>
                </p:oleObj>
              </mc:Choice>
              <mc:Fallback>
                <p:oleObj name="公式" r:id="rId10" imgW="889000" imgH="2286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2800" y="2859088"/>
                        <a:ext cx="1816100" cy="46672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75"/>
                                        <p:tgtEl>
                                          <p:spTgt spid="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out)">
                                      <p:cBhvr>
                                        <p:cTn id="17" dur="500"/>
                                        <p:tgtEl>
                                          <p:spTgt spid="17"/>
                                        </p:tgtEl>
                                      </p:cBhvr>
                                    </p:animEffect>
                                  </p:childTnLst>
                                  <p:subTnLst>
                                    <p:audio>
                                      <p:cMediaNode>
                                        <p:cTn display="0" masterRel="sameClick">
                                          <p:stCondLst>
                                            <p:cond evt="begin" delay="0">
                                              <p:tn val="15"/>
                                            </p:cond>
                                          </p:stCondLst>
                                          <p:endCondLst>
                                            <p:cond evt="onStopAudio" delay="0">
                                              <p:tgtEl>
                                                <p:sldTgt/>
                                              </p:tgtEl>
                                            </p:cond>
                                          </p:endCondLst>
                                        </p:cTn>
                                        <p:tgtEl>
                                          <p:sndTgt r:embed="rId5"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out)">
                                      <p:cBhvr>
                                        <p:cTn id="22" dur="500"/>
                                        <p:tgtEl>
                                          <p:spTgt spid="18"/>
                                        </p:tgtEl>
                                      </p:cBhvr>
                                    </p:animEffect>
                                  </p:childTnLst>
                                  <p:subTnLst>
                                    <p:audio>
                                      <p:cMediaNode>
                                        <p:cTn display="0" masterRel="sameClick">
                                          <p:stCondLst>
                                            <p:cond evt="begin" delay="0">
                                              <p:tn val="20"/>
                                            </p:cond>
                                          </p:stCondLst>
                                          <p:endCondLst>
                                            <p:cond evt="onStopAudio" delay="0">
                                              <p:tgtEl>
                                                <p:sldTgt/>
                                              </p:tgtEl>
                                            </p:cond>
                                          </p:endCondLst>
                                        </p:cTn>
                                        <p:tgtEl>
                                          <p:sndTgt r:embed="rId5" name="CAMERA.WAV"/>
                                        </p:tgtEl>
                                      </p:cMediaNode>
                                    </p:audio>
                                  </p:sub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par>
                          <p:cTn id="31" fill="hold" nodeType="afterGroup">
                            <p:stCondLst>
                              <p:cond delay="1500"/>
                            </p:stCondLst>
                            <p:childTnLst>
                              <p:par>
                                <p:cTn id="32" presetID="19" presetClass="entr" presetSubtype="1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0" fill="hold"/>
                                        <p:tgtEl>
                                          <p:spTgt spid="9"/>
                                        </p:tgtEl>
                                        <p:attrNameLst>
                                          <p:attrName>ppt_w</p:attrName>
                                        </p:attrNameLst>
                                      </p:cBhvr>
                                      <p:tavLst>
                                        <p:tav tm="0" fmla="#ppt_w*sin(2.5*pi*$)">
                                          <p:val>
                                            <p:fltVal val="0"/>
                                          </p:val>
                                        </p:tav>
                                        <p:tav tm="100000">
                                          <p:val>
                                            <p:fltVal val="1"/>
                                          </p:val>
                                        </p:tav>
                                      </p:tavLst>
                                    </p:anim>
                                    <p:anim calcmode="lin" valueType="num">
                                      <p:cBhvr>
                                        <p:cTn id="35" dur="5000" fill="hold"/>
                                        <p:tgtEl>
                                          <p:spTgt spid="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5"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dissolve">
                                      <p:cBhvr>
                                        <p:cTn id="40" dur="500"/>
                                        <p:tgtEl>
                                          <p:spTgt spid="12"/>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par>
                          <p:cTn id="45" fill="hold" nodeType="afterGroup">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par>
                          <p:cTn id="49" fill="hold" nodeType="afterGroup">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nodeType="afterGroup">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animBg="1"/>
      <p:bldP spid="10" grpId="0" animBg="1"/>
      <p:bldP spid="11" grpId="0" animBg="1"/>
      <p:bldP spid="12" grpId="0" animBg="1" autoUpdateAnimBg="0"/>
      <p:bldP spid="13" grpId="0" animBg="1"/>
      <p:bldP spid="14" grpId="0" animBg="1"/>
      <p:bldP spid="15" grpId="0" animBg="1"/>
      <p:bldP spid="1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512D4692-D0C0-4A18-A987-CA42C100ABBF}" type="datetime1">
              <a:rPr lang="zh-CN" altLang="en-US"/>
              <a:pPr>
                <a:defRPr/>
              </a:pPr>
              <a:t>2020/10/10</a:t>
            </a:fld>
            <a:endParaRPr lang="en-US" altLang="zh-CN"/>
          </a:p>
        </p:txBody>
      </p:sp>
      <p:sp>
        <p:nvSpPr>
          <p:cNvPr id="9" name="灯片编号占位符 5"/>
          <p:cNvSpPr>
            <a:spLocks noGrp="1"/>
          </p:cNvSpPr>
          <p:nvPr>
            <p:ph type="sldNum" sz="quarter" idx="12"/>
          </p:nvPr>
        </p:nvSpPr>
        <p:spPr/>
        <p:txBody>
          <a:bodyPr/>
          <a:lstStyle/>
          <a:p>
            <a:pPr>
              <a:defRPr/>
            </a:pPr>
            <a:fld id="{B85CC269-A962-4D0C-9706-C1C19F6ECEB3}" type="slidenum">
              <a:rPr lang="en-US" altLang="zh-CN"/>
              <a:pPr>
                <a:defRPr/>
              </a:pPr>
              <a:t>62</a:t>
            </a:fld>
            <a:endParaRPr lang="en-US" altLang="zh-CN"/>
          </a:p>
        </p:txBody>
      </p:sp>
      <p:sp>
        <p:nvSpPr>
          <p:cNvPr id="60420" name="Rectangle 2"/>
          <p:cNvSpPr>
            <a:spLocks noGrp="1" noChangeArrowheads="1"/>
          </p:cNvSpPr>
          <p:nvPr>
            <p:ph type="body" idx="1"/>
          </p:nvPr>
        </p:nvSpPr>
        <p:spPr/>
        <p:txBody>
          <a:bodyPr/>
          <a:lstStyle/>
          <a:p>
            <a:pPr eaLnBrk="1" hangingPunct="1"/>
            <a:r>
              <a:rPr lang="zh-CN" altLang="en-US" b="1" smtClean="0"/>
              <a:t>代数判别法</a:t>
            </a:r>
          </a:p>
          <a:p>
            <a:pPr lvl="1" eaLnBrk="1" hangingPunct="1"/>
            <a:r>
              <a:rPr lang="zh-CN" altLang="en-US" b="1" smtClean="0"/>
              <a:t>函数               存在静态冒险的充要条件：对于某一个变量</a:t>
            </a:r>
            <a:r>
              <a:rPr lang="en-US" altLang="zh-CN" b="1" i="1" smtClean="0">
                <a:latin typeface="Times New Roman" pitchFamily="18" charset="0"/>
              </a:rPr>
              <a:t>x</a:t>
            </a:r>
            <a:r>
              <a:rPr lang="en-US" altLang="zh-CN" b="1" i="1" baseline="-25000" smtClean="0">
                <a:latin typeface="Times New Roman" pitchFamily="18" charset="0"/>
              </a:rPr>
              <a:t>i</a:t>
            </a:r>
            <a:r>
              <a:rPr lang="zh-CN" altLang="en-US" b="1" i="1" baseline="-25000" smtClean="0">
                <a:latin typeface="Times New Roman" pitchFamily="18" charset="0"/>
              </a:rPr>
              <a:t>，</a:t>
            </a:r>
            <a:r>
              <a:rPr lang="zh-CN" altLang="en-US" b="1" smtClean="0">
                <a:latin typeface="Times New Roman" pitchFamily="18" charset="0"/>
              </a:rPr>
              <a:t>使函数</a:t>
            </a:r>
          </a:p>
          <a:p>
            <a:pPr lvl="1" eaLnBrk="1" hangingPunct="1"/>
            <a:endParaRPr lang="zh-CN" altLang="en-US" b="1" smtClean="0">
              <a:latin typeface="Times New Roman" pitchFamily="18" charset="0"/>
            </a:endParaRPr>
          </a:p>
          <a:p>
            <a:pPr lvl="1" eaLnBrk="1" hangingPunct="1"/>
            <a:endParaRPr lang="zh-CN" altLang="en-US" b="1" smtClean="0">
              <a:latin typeface="Times New Roman" pitchFamily="18" charset="0"/>
            </a:endParaRPr>
          </a:p>
          <a:p>
            <a:pPr lvl="1" eaLnBrk="1" hangingPunct="1"/>
            <a:endParaRPr lang="zh-CN" altLang="en-US" b="1" smtClean="0">
              <a:latin typeface="Times New Roman" pitchFamily="18" charset="0"/>
            </a:endParaRPr>
          </a:p>
          <a:p>
            <a:pPr lvl="1" eaLnBrk="1" hangingPunct="1">
              <a:buFont typeface="Wingdings" pitchFamily="2" charset="2"/>
              <a:buNone/>
            </a:pPr>
            <a:r>
              <a:rPr lang="zh-CN" altLang="en-US" b="1" smtClean="0">
                <a:latin typeface="Times New Roman" pitchFamily="18" charset="0"/>
              </a:rPr>
              <a:t>    其中</a:t>
            </a:r>
            <a:r>
              <a:rPr lang="en-US" altLang="zh-CN" b="1" i="1" smtClean="0">
                <a:latin typeface="Times New Roman" pitchFamily="18" charset="0"/>
              </a:rPr>
              <a:t>F</a:t>
            </a:r>
            <a:r>
              <a:rPr lang="en-US" altLang="zh-CN" b="1" smtClean="0">
                <a:latin typeface="Times New Roman" pitchFamily="18" charset="0"/>
              </a:rPr>
              <a:t>=</a:t>
            </a:r>
            <a:r>
              <a:rPr lang="en-US" altLang="zh-CN" b="1" i="1" smtClean="0">
                <a:latin typeface="Times New Roman" pitchFamily="18" charset="0"/>
              </a:rPr>
              <a:t>x</a:t>
            </a:r>
            <a:r>
              <a:rPr lang="en-US" altLang="zh-CN" b="1" smtClean="0">
                <a:latin typeface="Times New Roman" pitchFamily="18" charset="0"/>
              </a:rPr>
              <a:t>+</a:t>
            </a:r>
            <a:r>
              <a:rPr lang="en-US" altLang="zh-CN" b="1" i="1" smtClean="0">
                <a:latin typeface="Times New Roman" pitchFamily="18" charset="0"/>
              </a:rPr>
              <a:t>x</a:t>
            </a:r>
            <a:r>
              <a:rPr lang="zh-CN" altLang="en-US" b="1" smtClean="0">
                <a:latin typeface="Times New Roman" pitchFamily="18" charset="0"/>
              </a:rPr>
              <a:t>为偏</a:t>
            </a:r>
            <a:r>
              <a:rPr lang="en-US" altLang="zh-CN" b="1" smtClean="0">
                <a:latin typeface="Times New Roman" pitchFamily="18" charset="0"/>
              </a:rPr>
              <a:t>1</a:t>
            </a:r>
            <a:r>
              <a:rPr lang="zh-CN" altLang="en-US" b="1" smtClean="0">
                <a:latin typeface="Times New Roman" pitchFamily="18" charset="0"/>
              </a:rPr>
              <a:t>型冒险，</a:t>
            </a:r>
            <a:r>
              <a:rPr lang="en-US" altLang="zh-CN" b="1" i="1" smtClean="0">
                <a:latin typeface="Times New Roman" pitchFamily="18" charset="0"/>
              </a:rPr>
              <a:t>F</a:t>
            </a:r>
            <a:r>
              <a:rPr lang="en-US" altLang="zh-CN" b="1" smtClean="0">
                <a:latin typeface="Times New Roman" pitchFamily="18" charset="0"/>
              </a:rPr>
              <a:t>=</a:t>
            </a:r>
            <a:r>
              <a:rPr lang="en-US" altLang="zh-CN" b="1" i="1" smtClean="0">
                <a:latin typeface="Times New Roman" pitchFamily="18" charset="0"/>
              </a:rPr>
              <a:t>x</a:t>
            </a:r>
            <a:r>
              <a:rPr lang="en-US" altLang="zh-CN" b="1" smtClean="0">
                <a:latin typeface="Times New Roman" pitchFamily="18" charset="0"/>
              </a:rPr>
              <a:t>·</a:t>
            </a:r>
            <a:r>
              <a:rPr lang="en-US" altLang="zh-CN" b="1" i="1" smtClean="0">
                <a:latin typeface="Times New Roman" pitchFamily="18" charset="0"/>
              </a:rPr>
              <a:t>x</a:t>
            </a:r>
            <a:r>
              <a:rPr lang="zh-CN" altLang="en-US" b="1" smtClean="0">
                <a:latin typeface="Times New Roman" pitchFamily="18" charset="0"/>
              </a:rPr>
              <a:t>为偏</a:t>
            </a:r>
            <a:r>
              <a:rPr lang="en-US" altLang="zh-CN" b="1" smtClean="0">
                <a:latin typeface="Times New Roman" pitchFamily="18" charset="0"/>
              </a:rPr>
              <a:t>0</a:t>
            </a:r>
            <a:r>
              <a:rPr lang="zh-CN" altLang="en-US" b="1" smtClean="0">
                <a:latin typeface="Times New Roman" pitchFamily="18" charset="0"/>
              </a:rPr>
              <a:t>型冒险</a:t>
            </a:r>
          </a:p>
        </p:txBody>
      </p:sp>
      <p:sp>
        <p:nvSpPr>
          <p:cNvPr id="60421" name="Rectangle 3"/>
          <p:cNvSpPr>
            <a:spLocks noGrp="1" noChangeArrowheads="1"/>
          </p:cNvSpPr>
          <p:nvPr>
            <p:ph type="title"/>
          </p:nvPr>
        </p:nvSpPr>
        <p:spPr>
          <a:xfrm>
            <a:off x="1274763" y="533400"/>
            <a:ext cx="7793037" cy="609600"/>
          </a:xfrm>
        </p:spPr>
        <p:txBody>
          <a:bodyPr/>
          <a:lstStyle/>
          <a:p>
            <a:pPr eaLnBrk="1" hangingPunct="1"/>
            <a:r>
              <a:rPr lang="zh-CN" altLang="en-US" b="1" smtClean="0"/>
              <a:t>判别冒险</a:t>
            </a:r>
            <a:endParaRPr lang="zh-CN" altLang="en-US" sz="4000" b="1" smtClean="0"/>
          </a:p>
        </p:txBody>
      </p:sp>
      <p:graphicFrame>
        <p:nvGraphicFramePr>
          <p:cNvPr id="60422" name="Object 4"/>
          <p:cNvGraphicFramePr>
            <a:graphicFrameLocks noChangeAspect="1"/>
          </p:cNvGraphicFramePr>
          <p:nvPr/>
        </p:nvGraphicFramePr>
        <p:xfrm>
          <a:off x="2057400" y="1981200"/>
          <a:ext cx="1619250" cy="488950"/>
        </p:xfrm>
        <a:graphic>
          <a:graphicData uri="http://schemas.openxmlformats.org/presentationml/2006/ole">
            <mc:AlternateContent xmlns:mc="http://schemas.openxmlformats.org/markup-compatibility/2006">
              <mc:Choice xmlns:v="urn:schemas-microsoft-com:vml" Requires="v">
                <p:oleObj spid="_x0000_s60431" name="公式" r:id="rId4" imgW="799753" imgH="241195" progId="Equation.3">
                  <p:embed/>
                </p:oleObj>
              </mc:Choice>
              <mc:Fallback>
                <p:oleObj name="公式" r:id="rId4" imgW="799753" imgH="24119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1981200"/>
                        <a:ext cx="16192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3" name="Line 6"/>
          <p:cNvSpPr>
            <a:spLocks noChangeShapeType="1"/>
          </p:cNvSpPr>
          <p:nvPr/>
        </p:nvSpPr>
        <p:spPr bwMode="auto">
          <a:xfrm>
            <a:off x="2882900" y="4584700"/>
            <a:ext cx="1524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424" name="Line 7"/>
          <p:cNvSpPr>
            <a:spLocks noChangeShapeType="1"/>
          </p:cNvSpPr>
          <p:nvPr/>
        </p:nvSpPr>
        <p:spPr bwMode="auto">
          <a:xfrm>
            <a:off x="6127750" y="4584700"/>
            <a:ext cx="1524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0425"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3450" y="2995613"/>
            <a:ext cx="72771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6" name="Rectangle 11"/>
          <p:cNvSpPr>
            <a:spLocks noChangeArrowheads="1"/>
          </p:cNvSpPr>
          <p:nvPr/>
        </p:nvSpPr>
        <p:spPr bwMode="auto">
          <a:xfrm>
            <a:off x="395288" y="5157788"/>
            <a:ext cx="85693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b="1"/>
              <a:t>即首先在不同的与项有互补变量，或不同的或项有互补变量，把其它值用各种组合取值代入，是否出现上述两种情况</a:t>
            </a:r>
          </a:p>
        </p:txBody>
      </p:sp>
    </p:spTree>
  </p:cSld>
  <p:clrMapOvr>
    <a:masterClrMapping/>
  </p:clrMapOvr>
  <p:transition>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512D4692-D0C0-4A18-A987-CA42C100ABBF}" type="datetime1">
              <a:rPr lang="zh-CN" altLang="en-US" sz="1400">
                <a:latin typeface="+mn-lt"/>
              </a:rPr>
              <a:pPr>
                <a:defRPr/>
              </a:pPr>
              <a:t>2020/10/10</a:t>
            </a:fld>
            <a:endParaRPr lang="en-US" altLang="zh-CN" sz="1400">
              <a:latin typeface="+mn-lt"/>
            </a:endParaRPr>
          </a:p>
        </p:txBody>
      </p:sp>
      <p:sp>
        <p:nvSpPr>
          <p:cNvPr id="9" name="灯片编号占位符 5"/>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1D281E54-AB80-44A7-A516-631ACACB2968}" type="slidenum">
              <a:rPr lang="en-US" altLang="zh-CN" sz="1400">
                <a:latin typeface="+mn-lt"/>
              </a:rPr>
              <a:pPr algn="r">
                <a:defRPr/>
              </a:pPr>
              <a:t>63</a:t>
            </a:fld>
            <a:endParaRPr lang="en-US" altLang="zh-CN" sz="1400">
              <a:latin typeface="+mn-lt"/>
            </a:endParaRPr>
          </a:p>
        </p:txBody>
      </p:sp>
      <p:sp>
        <p:nvSpPr>
          <p:cNvPr id="61444" name="Rectangle 2"/>
          <p:cNvSpPr>
            <a:spLocks noGrp="1" noChangeArrowheads="1"/>
          </p:cNvSpPr>
          <p:nvPr>
            <p:ph type="body" idx="4294967295"/>
          </p:nvPr>
        </p:nvSpPr>
        <p:spPr/>
        <p:txBody>
          <a:bodyPr/>
          <a:lstStyle/>
          <a:p>
            <a:pPr eaLnBrk="1" hangingPunct="1"/>
            <a:r>
              <a:rPr lang="zh-CN" altLang="en-US" b="1" smtClean="0"/>
              <a:t>代数判别法实例</a:t>
            </a:r>
            <a:endParaRPr lang="en-US" altLang="zh-CN" b="1" smtClean="0"/>
          </a:p>
        </p:txBody>
      </p:sp>
      <p:sp>
        <p:nvSpPr>
          <p:cNvPr id="61445" name="Rectangle 3"/>
          <p:cNvSpPr>
            <a:spLocks noGrp="1" noChangeArrowheads="1"/>
          </p:cNvSpPr>
          <p:nvPr>
            <p:ph type="title" idx="4294967295"/>
          </p:nvPr>
        </p:nvSpPr>
        <p:spPr>
          <a:xfrm>
            <a:off x="1274763" y="533400"/>
            <a:ext cx="7793037" cy="609600"/>
          </a:xfrm>
        </p:spPr>
        <p:txBody>
          <a:bodyPr/>
          <a:lstStyle/>
          <a:p>
            <a:pPr eaLnBrk="1" hangingPunct="1"/>
            <a:r>
              <a:rPr lang="zh-CN" altLang="en-US" b="1" smtClean="0"/>
              <a:t>判别冒险</a:t>
            </a:r>
            <a:endParaRPr lang="zh-CN" altLang="en-US" sz="4000" b="1" smtClean="0"/>
          </a:p>
        </p:txBody>
      </p:sp>
      <p:pic>
        <p:nvPicPr>
          <p:cNvPr id="1126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483" y="1934528"/>
            <a:ext cx="726757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3FDFDF0-6261-4246-A541-5DC8CD72FB56}"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1C7BC619-5ECA-4B75-AE43-7C4E21BF560C}" type="slidenum">
              <a:rPr lang="en-US" altLang="zh-CN"/>
              <a:pPr>
                <a:defRPr/>
              </a:pPr>
              <a:t>64</a:t>
            </a:fld>
            <a:endParaRPr lang="en-US" altLang="zh-CN"/>
          </a:p>
        </p:txBody>
      </p:sp>
      <p:sp>
        <p:nvSpPr>
          <p:cNvPr id="62468" name="Rectangle 2"/>
          <p:cNvSpPr>
            <a:spLocks noGrp="1" noChangeArrowheads="1"/>
          </p:cNvSpPr>
          <p:nvPr>
            <p:ph type="body" idx="1"/>
          </p:nvPr>
        </p:nvSpPr>
        <p:spPr/>
        <p:txBody>
          <a:bodyPr/>
          <a:lstStyle/>
          <a:p>
            <a:pPr eaLnBrk="1" hangingPunct="1"/>
            <a:r>
              <a:rPr lang="en-US" altLang="zh-CN" b="1" smtClean="0"/>
              <a:t>“</a:t>
            </a:r>
            <a:r>
              <a:rPr lang="zh-CN" altLang="en-US" b="1" smtClean="0"/>
              <a:t>相切”概念：两个卡诺圈之间存在被不同卡诺圈包含的相邻最小项，则此两个卡诺圈相切。</a:t>
            </a:r>
          </a:p>
          <a:p>
            <a:pPr eaLnBrk="1" hangingPunct="1"/>
            <a:r>
              <a:rPr lang="zh-CN" altLang="en-US" b="1" smtClean="0"/>
              <a:t>卡诺图判别法：将函数用卡诺图表示，并画出函数表达式中各“与”项对应的卡诺圈，若存在两各卡诺圈“相切”，则该逻辑电路就可能产生冒险。</a:t>
            </a:r>
            <a:endParaRPr lang="zh-CN" altLang="en-US" b="1" smtClean="0">
              <a:latin typeface="Times New Roman" pitchFamily="18" charset="0"/>
            </a:endParaRPr>
          </a:p>
        </p:txBody>
      </p:sp>
      <p:sp>
        <p:nvSpPr>
          <p:cNvPr id="62469" name="Rectangle 3"/>
          <p:cNvSpPr>
            <a:spLocks noGrp="1" noChangeArrowheads="1"/>
          </p:cNvSpPr>
          <p:nvPr>
            <p:ph type="title"/>
          </p:nvPr>
        </p:nvSpPr>
        <p:spPr>
          <a:xfrm>
            <a:off x="1274763" y="533400"/>
            <a:ext cx="7793037" cy="609600"/>
          </a:xfrm>
        </p:spPr>
        <p:txBody>
          <a:bodyPr/>
          <a:lstStyle/>
          <a:p>
            <a:pPr eaLnBrk="1" hangingPunct="1"/>
            <a:r>
              <a:rPr lang="zh-CN" altLang="en-US" b="1" smtClean="0"/>
              <a:t>卡诺图判别法</a:t>
            </a:r>
            <a:endParaRPr lang="zh-CN" altLang="en-US" sz="4000" b="1" smtClean="0"/>
          </a:p>
        </p:txBody>
      </p:sp>
    </p:spTree>
  </p:cSld>
  <p:clrMapOvr>
    <a:masterClrMapping/>
  </p:clrMapOvr>
  <p:transition>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endParaRPr lang="zh-CN" altLang="en-US" smtClean="0"/>
          </a:p>
        </p:txBody>
      </p:sp>
      <p:pic>
        <p:nvPicPr>
          <p:cNvPr id="2140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620713"/>
            <a:ext cx="2971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0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700213"/>
            <a:ext cx="3724275"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0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361950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22" name="Oval 6"/>
          <p:cNvSpPr>
            <a:spLocks noChangeArrowheads="1"/>
          </p:cNvSpPr>
          <p:nvPr/>
        </p:nvSpPr>
        <p:spPr bwMode="auto">
          <a:xfrm>
            <a:off x="6443663" y="2924175"/>
            <a:ext cx="1081087" cy="720725"/>
          </a:xfrm>
          <a:prstGeom prst="ellipse">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blinds(horizontal)">
                                      <p:cBhvr>
                                        <p:cTn id="7" dur="500"/>
                                        <p:tgtEl>
                                          <p:spTgt spid="214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14021"/>
                                        </p:tgtEl>
                                        <p:attrNameLst>
                                          <p:attrName>style.visibility</p:attrName>
                                        </p:attrNameLst>
                                      </p:cBhvr>
                                      <p:to>
                                        <p:strVal val="visible"/>
                                      </p:to>
                                    </p:set>
                                    <p:anim calcmode="lin" valueType="num">
                                      <p:cBhvr additive="base">
                                        <p:cTn id="12" dur="500" fill="hold"/>
                                        <p:tgtEl>
                                          <p:spTgt spid="214021"/>
                                        </p:tgtEl>
                                        <p:attrNameLst>
                                          <p:attrName>ppt_x</p:attrName>
                                        </p:attrNameLst>
                                      </p:cBhvr>
                                      <p:tavLst>
                                        <p:tav tm="0">
                                          <p:val>
                                            <p:strVal val="0-#ppt_w/2"/>
                                          </p:val>
                                        </p:tav>
                                        <p:tav tm="100000">
                                          <p:val>
                                            <p:strVal val="#ppt_x"/>
                                          </p:val>
                                        </p:tav>
                                      </p:tavLst>
                                    </p:anim>
                                    <p:anim calcmode="lin" valueType="num">
                                      <p:cBhvr additive="base">
                                        <p:cTn id="13" dur="500" fill="hold"/>
                                        <p:tgtEl>
                                          <p:spTgt spid="21402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214020"/>
                                        </p:tgtEl>
                                        <p:attrNameLst>
                                          <p:attrName>style.visibility</p:attrName>
                                        </p:attrNameLst>
                                      </p:cBhvr>
                                      <p:to>
                                        <p:strVal val="visible"/>
                                      </p:to>
                                    </p:set>
                                    <p:anim calcmode="lin" valueType="num">
                                      <p:cBhvr additive="base">
                                        <p:cTn id="18" dur="500" fill="hold"/>
                                        <p:tgtEl>
                                          <p:spTgt spid="214020"/>
                                        </p:tgtEl>
                                        <p:attrNameLst>
                                          <p:attrName>ppt_x</p:attrName>
                                        </p:attrNameLst>
                                      </p:cBhvr>
                                      <p:tavLst>
                                        <p:tav tm="0">
                                          <p:val>
                                            <p:strVal val="1+#ppt_w/2"/>
                                          </p:val>
                                        </p:tav>
                                        <p:tav tm="100000">
                                          <p:val>
                                            <p:strVal val="#ppt_x"/>
                                          </p:val>
                                        </p:tav>
                                      </p:tavLst>
                                    </p:anim>
                                    <p:anim calcmode="lin" valueType="num">
                                      <p:cBhvr additive="base">
                                        <p:cTn id="19" dur="500" fill="hold"/>
                                        <p:tgtEl>
                                          <p:spTgt spid="21402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214022"/>
                                        </p:tgtEl>
                                        <p:attrNameLst>
                                          <p:attrName>style.visibility</p:attrName>
                                        </p:attrNameLst>
                                      </p:cBhvr>
                                      <p:to>
                                        <p:strVal val="visible"/>
                                      </p:to>
                                    </p:set>
                                    <p:animEffect transition="in" filter="checkerboard(across)">
                                      <p:cBhvr>
                                        <p:cTn id="24" dur="500"/>
                                        <p:tgtEl>
                                          <p:spTgt spid="21402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mph" presetSubtype="0" fill="hold" grpId="1" nodeType="clickEffect">
                                  <p:stCondLst>
                                    <p:cond delay="0"/>
                                  </p:stCondLst>
                                  <p:childTnLst>
                                    <p:animScale>
                                      <p:cBhvr>
                                        <p:cTn id="28" dur="2000" fill="hold"/>
                                        <p:tgtEl>
                                          <p:spTgt spid="21402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2" grpId="0" animBg="1"/>
      <p:bldP spid="214022"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B73320C1-8960-40E4-A120-1577F7A27762}" type="datetime1">
              <a:rPr lang="zh-CN" altLang="en-US" sz="1400">
                <a:latin typeface="+mn-lt"/>
              </a:rPr>
              <a:pPr>
                <a:defRPr/>
              </a:pPr>
              <a:t>2020/10/10</a:t>
            </a:fld>
            <a:endParaRPr lang="en-US" altLang="zh-CN" sz="1400">
              <a:latin typeface="+mn-lt"/>
            </a:endParaRPr>
          </a:p>
        </p:txBody>
      </p:sp>
      <p:sp>
        <p:nvSpPr>
          <p:cNvPr id="5" name="灯片编号占位符 5"/>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96B4CF22-050B-474D-B14D-99BD28A06E0E}" type="slidenum">
              <a:rPr lang="en-US" altLang="zh-CN" sz="1400">
                <a:latin typeface="+mn-lt"/>
              </a:rPr>
              <a:pPr algn="r">
                <a:defRPr/>
              </a:pPr>
              <a:t>66</a:t>
            </a:fld>
            <a:endParaRPr lang="en-US" altLang="zh-CN" sz="1400">
              <a:latin typeface="+mn-lt"/>
            </a:endParaRPr>
          </a:p>
        </p:txBody>
      </p:sp>
      <p:sp>
        <p:nvSpPr>
          <p:cNvPr id="64516" name="Rectangle 2"/>
          <p:cNvSpPr>
            <a:spLocks noGrp="1" noChangeArrowheads="1"/>
          </p:cNvSpPr>
          <p:nvPr>
            <p:ph type="body" idx="4294967295"/>
          </p:nvPr>
        </p:nvSpPr>
        <p:spPr>
          <a:xfrm>
            <a:off x="457200" y="1371600"/>
            <a:ext cx="8382000" cy="1943100"/>
          </a:xfrm>
        </p:spPr>
        <p:txBody>
          <a:bodyPr/>
          <a:lstStyle/>
          <a:p>
            <a:pPr eaLnBrk="1" hangingPunct="1">
              <a:lnSpc>
                <a:spcPct val="110000"/>
              </a:lnSpc>
            </a:pPr>
            <a:r>
              <a:rPr lang="zh-CN" altLang="en-US" sz="2400" b="1" smtClean="0"/>
              <a:t>代数法：在逻辑函数最简“与</a:t>
            </a:r>
            <a:r>
              <a:rPr lang="en-US" altLang="zh-CN" sz="2400" b="1" smtClean="0"/>
              <a:t>-</a:t>
            </a:r>
            <a:r>
              <a:rPr lang="zh-CN" altLang="en-US" sz="2400" b="1" smtClean="0"/>
              <a:t>或”表达式（或者“或</a:t>
            </a:r>
            <a:r>
              <a:rPr lang="en-US" altLang="zh-CN" sz="2400" b="1" smtClean="0"/>
              <a:t>-</a:t>
            </a:r>
            <a:r>
              <a:rPr lang="zh-CN" altLang="en-US" sz="2400" b="1" smtClean="0"/>
              <a:t>与”表达式）中增加冗余项，该项应包含而且只能包含彼此相邻但属于不同“与</a:t>
            </a:r>
            <a:r>
              <a:rPr lang="en-US" altLang="zh-CN" sz="2400" b="1" smtClean="0"/>
              <a:t>-</a:t>
            </a:r>
            <a:r>
              <a:rPr lang="zh-CN" altLang="en-US" sz="2400" b="1" smtClean="0"/>
              <a:t>或”项（或“或</a:t>
            </a:r>
            <a:r>
              <a:rPr lang="en-US" altLang="zh-CN" sz="2400" b="1" smtClean="0"/>
              <a:t>-</a:t>
            </a:r>
            <a:r>
              <a:rPr lang="zh-CN" altLang="en-US" sz="2400" b="1" smtClean="0"/>
              <a:t>与” 项）的相邻最小项（或最大项），使原函数不可能出现</a:t>
            </a:r>
            <a:r>
              <a:rPr lang="en-US" altLang="zh-CN" sz="2400" b="1" smtClean="0"/>
              <a:t>x+x</a:t>
            </a:r>
            <a:r>
              <a:rPr lang="zh-CN" altLang="en-US" sz="2400" b="1" smtClean="0"/>
              <a:t>或</a:t>
            </a:r>
            <a:r>
              <a:rPr lang="en-US" altLang="zh-CN" sz="2400" b="1" smtClean="0"/>
              <a:t>xx</a:t>
            </a:r>
            <a:r>
              <a:rPr lang="zh-CN" altLang="en-US" sz="2400" b="1" smtClean="0"/>
              <a:t>的形式。</a:t>
            </a:r>
          </a:p>
        </p:txBody>
      </p:sp>
      <p:sp>
        <p:nvSpPr>
          <p:cNvPr id="64517" name="Rectangle 3"/>
          <p:cNvSpPr>
            <a:spLocks noGrp="1" noChangeArrowheads="1"/>
          </p:cNvSpPr>
          <p:nvPr>
            <p:ph type="title" idx="4294967295"/>
          </p:nvPr>
        </p:nvSpPr>
        <p:spPr>
          <a:xfrm>
            <a:off x="1274763" y="533400"/>
            <a:ext cx="7793037" cy="609600"/>
          </a:xfrm>
        </p:spPr>
        <p:txBody>
          <a:bodyPr/>
          <a:lstStyle/>
          <a:p>
            <a:pPr eaLnBrk="1" hangingPunct="1"/>
            <a:r>
              <a:rPr lang="zh-CN" altLang="en-US" b="1" smtClean="0"/>
              <a:t>消除冒险</a:t>
            </a:r>
            <a:endParaRPr lang="zh-CN" altLang="en-US" sz="4000" b="1" smtClean="0"/>
          </a:p>
        </p:txBody>
      </p:sp>
      <p:sp>
        <p:nvSpPr>
          <p:cNvPr id="64518" name="Line 6"/>
          <p:cNvSpPr>
            <a:spLocks noChangeShapeType="1"/>
          </p:cNvSpPr>
          <p:nvPr/>
        </p:nvSpPr>
        <p:spPr bwMode="auto">
          <a:xfrm>
            <a:off x="6510337" y="2721294"/>
            <a:ext cx="2714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19" name="Line 7"/>
          <p:cNvSpPr>
            <a:spLocks noChangeShapeType="1"/>
          </p:cNvSpPr>
          <p:nvPr/>
        </p:nvSpPr>
        <p:spPr bwMode="auto">
          <a:xfrm>
            <a:off x="7208838" y="2710181"/>
            <a:ext cx="2714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15048" name="Object 5"/>
          <p:cNvGraphicFramePr>
            <a:graphicFrameLocks noChangeAspect="1"/>
          </p:cNvGraphicFramePr>
          <p:nvPr/>
        </p:nvGraphicFramePr>
        <p:xfrm>
          <a:off x="2673350" y="4687888"/>
          <a:ext cx="3429000" cy="614362"/>
        </p:xfrm>
        <a:graphic>
          <a:graphicData uri="http://schemas.openxmlformats.org/presentationml/2006/ole">
            <mc:AlternateContent xmlns:mc="http://schemas.openxmlformats.org/markup-compatibility/2006">
              <mc:Choice xmlns:v="urn:schemas-microsoft-com:vml" Requires="v">
                <p:oleObj spid="_x0000_s64531" name="公式" r:id="rId4" imgW="1205977" imgH="215806" progId="Equation.3">
                  <p:embed/>
                </p:oleObj>
              </mc:Choice>
              <mc:Fallback>
                <p:oleObj name="公式" r:id="rId4" imgW="1205977" imgH="215806"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3350" y="4687888"/>
                        <a:ext cx="34290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1" name="Object 5"/>
          <p:cNvGraphicFramePr>
            <a:graphicFrameLocks noChangeAspect="1"/>
          </p:cNvGraphicFramePr>
          <p:nvPr/>
        </p:nvGraphicFramePr>
        <p:xfrm>
          <a:off x="3168650" y="3370263"/>
          <a:ext cx="2417763" cy="614362"/>
        </p:xfrm>
        <a:graphic>
          <a:graphicData uri="http://schemas.openxmlformats.org/presentationml/2006/ole">
            <mc:AlternateContent xmlns:mc="http://schemas.openxmlformats.org/markup-compatibility/2006">
              <mc:Choice xmlns:v="urn:schemas-microsoft-com:vml" Requires="v">
                <p:oleObj spid="_x0000_s64532" name="公式" r:id="rId6" imgW="850531" imgH="215806" progId="Equation.3">
                  <p:embed/>
                </p:oleObj>
              </mc:Choice>
              <mc:Fallback>
                <p:oleObj name="公式" r:id="rId6" imgW="850531" imgH="215806"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650" y="3370263"/>
                        <a:ext cx="241776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50" name="AutoShape 10"/>
          <p:cNvSpPr>
            <a:spLocks noChangeArrowheads="1"/>
          </p:cNvSpPr>
          <p:nvPr/>
        </p:nvSpPr>
        <p:spPr bwMode="auto">
          <a:xfrm>
            <a:off x="4206875" y="4135438"/>
            <a:ext cx="463550" cy="563562"/>
          </a:xfrm>
          <a:prstGeom prst="downArrow">
            <a:avLst>
              <a:gd name="adj1" fmla="val 50000"/>
              <a:gd name="adj2" fmla="val 3039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5050"/>
                                        </p:tgtEl>
                                        <p:attrNameLst>
                                          <p:attrName>style.visibility</p:attrName>
                                        </p:attrNameLst>
                                      </p:cBhvr>
                                      <p:to>
                                        <p:strVal val="visible"/>
                                      </p:to>
                                    </p:set>
                                    <p:anim calcmode="lin" valueType="num">
                                      <p:cBhvr additive="base">
                                        <p:cTn id="7" dur="500" fill="hold"/>
                                        <p:tgtEl>
                                          <p:spTgt spid="215050"/>
                                        </p:tgtEl>
                                        <p:attrNameLst>
                                          <p:attrName>ppt_x</p:attrName>
                                        </p:attrNameLst>
                                      </p:cBhvr>
                                      <p:tavLst>
                                        <p:tav tm="0">
                                          <p:val>
                                            <p:strVal val="#ppt_x"/>
                                          </p:val>
                                        </p:tav>
                                        <p:tav tm="100000">
                                          <p:val>
                                            <p:strVal val="#ppt_x"/>
                                          </p:val>
                                        </p:tav>
                                      </p:tavLst>
                                    </p:anim>
                                    <p:anim calcmode="lin" valueType="num">
                                      <p:cBhvr additive="base">
                                        <p:cTn id="8" dur="500" fill="hold"/>
                                        <p:tgtEl>
                                          <p:spTgt spid="21505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215048"/>
                                        </p:tgtEl>
                                        <p:attrNameLst>
                                          <p:attrName>style.visibility</p:attrName>
                                        </p:attrNameLst>
                                      </p:cBhvr>
                                      <p:to>
                                        <p:strVal val="visible"/>
                                      </p:to>
                                    </p:set>
                                    <p:anim calcmode="lin" valueType="num">
                                      <p:cBhvr additive="base">
                                        <p:cTn id="11" dur="500" fill="hold"/>
                                        <p:tgtEl>
                                          <p:spTgt spid="215048"/>
                                        </p:tgtEl>
                                        <p:attrNameLst>
                                          <p:attrName>ppt_x</p:attrName>
                                        </p:attrNameLst>
                                      </p:cBhvr>
                                      <p:tavLst>
                                        <p:tav tm="0">
                                          <p:val>
                                            <p:strVal val="#ppt_x"/>
                                          </p:val>
                                        </p:tav>
                                        <p:tav tm="100000">
                                          <p:val>
                                            <p:strVal val="#ppt_x"/>
                                          </p:val>
                                        </p:tav>
                                      </p:tavLst>
                                    </p:anim>
                                    <p:anim calcmode="lin" valueType="num">
                                      <p:cBhvr additive="base">
                                        <p:cTn id="12" dur="500" fill="hold"/>
                                        <p:tgtEl>
                                          <p:spTgt spid="21504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5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nvSpPr>
        <p:spPr bwMode="auto">
          <a:xfrm>
            <a:off x="914400" y="6324600"/>
            <a:ext cx="1905000" cy="457200"/>
          </a:xfrm>
          <a:prstGeom prst="rect">
            <a:avLst/>
          </a:prstGeom>
          <a:noFill/>
          <a:ln>
            <a:miter lim="800000"/>
            <a:headEnd/>
            <a:tailEnd/>
          </a:ln>
        </p:spPr>
        <p:txBody>
          <a:bodyPr anchor="b"/>
          <a:lstStyle/>
          <a:p>
            <a:pPr>
              <a:defRPr/>
            </a:pPr>
            <a:fld id="{B73320C1-8960-40E4-A120-1577F7A27762}" type="datetime1">
              <a:rPr lang="zh-CN" altLang="en-US" sz="1400">
                <a:latin typeface="+mn-lt"/>
              </a:rPr>
              <a:pPr>
                <a:defRPr/>
              </a:pPr>
              <a:t>2020/10/10</a:t>
            </a:fld>
            <a:endParaRPr lang="en-US" altLang="zh-CN" sz="1400">
              <a:latin typeface="+mn-lt"/>
            </a:endParaRPr>
          </a:p>
        </p:txBody>
      </p:sp>
      <p:sp>
        <p:nvSpPr>
          <p:cNvPr id="5" name="灯片编号占位符 5"/>
          <p:cNvSpPr txBox="1">
            <a:spLocks noGrp="1"/>
          </p:cNvSpPr>
          <p:nvPr/>
        </p:nvSpPr>
        <p:spPr bwMode="auto">
          <a:xfrm>
            <a:off x="6781800" y="6324600"/>
            <a:ext cx="1905000" cy="457200"/>
          </a:xfrm>
          <a:prstGeom prst="rect">
            <a:avLst/>
          </a:prstGeom>
          <a:noFill/>
          <a:ln>
            <a:miter lim="800000"/>
            <a:headEnd/>
            <a:tailEnd/>
          </a:ln>
        </p:spPr>
        <p:txBody>
          <a:bodyPr anchor="b"/>
          <a:lstStyle/>
          <a:p>
            <a:pPr algn="r">
              <a:defRPr/>
            </a:pPr>
            <a:fld id="{30FF32DB-9CC3-4A49-877A-F53B92A84696}" type="slidenum">
              <a:rPr lang="en-US" altLang="zh-CN" sz="1400">
                <a:latin typeface="+mn-lt"/>
              </a:rPr>
              <a:pPr algn="r">
                <a:defRPr/>
              </a:pPr>
              <a:t>67</a:t>
            </a:fld>
            <a:endParaRPr lang="en-US" altLang="zh-CN" sz="1400">
              <a:latin typeface="+mn-lt"/>
            </a:endParaRPr>
          </a:p>
        </p:txBody>
      </p:sp>
      <p:sp>
        <p:nvSpPr>
          <p:cNvPr id="65540" name="Rectangle 2"/>
          <p:cNvSpPr>
            <a:spLocks noGrp="1" noChangeArrowheads="1"/>
          </p:cNvSpPr>
          <p:nvPr>
            <p:ph type="body" idx="4294967295"/>
          </p:nvPr>
        </p:nvSpPr>
        <p:spPr>
          <a:xfrm>
            <a:off x="457200" y="1371600"/>
            <a:ext cx="8382000" cy="1914525"/>
          </a:xfrm>
        </p:spPr>
        <p:txBody>
          <a:bodyPr/>
          <a:lstStyle/>
          <a:p>
            <a:pPr eaLnBrk="1" hangingPunct="1"/>
            <a:r>
              <a:rPr lang="zh-CN" altLang="en-US" b="1" smtClean="0"/>
              <a:t>卡诺图法：在卡诺图上增加一个多余圈，该多余圈应能够将原来存在的两个相切的必要卡诺圈连接起来，即可消除原存在的险象。</a:t>
            </a:r>
            <a:endParaRPr lang="zh-CN" altLang="en-US" b="1" smtClean="0">
              <a:latin typeface="Times New Roman" pitchFamily="18" charset="0"/>
            </a:endParaRPr>
          </a:p>
        </p:txBody>
      </p:sp>
      <p:sp>
        <p:nvSpPr>
          <p:cNvPr id="65541" name="Rectangle 3"/>
          <p:cNvSpPr>
            <a:spLocks noGrp="1" noChangeArrowheads="1"/>
          </p:cNvSpPr>
          <p:nvPr>
            <p:ph type="title" idx="4294967295"/>
          </p:nvPr>
        </p:nvSpPr>
        <p:spPr>
          <a:xfrm>
            <a:off x="1274763" y="533400"/>
            <a:ext cx="7793037" cy="609600"/>
          </a:xfrm>
        </p:spPr>
        <p:txBody>
          <a:bodyPr/>
          <a:lstStyle/>
          <a:p>
            <a:pPr eaLnBrk="1" hangingPunct="1"/>
            <a:r>
              <a:rPr lang="zh-CN" altLang="en-US" b="1" smtClean="0"/>
              <a:t>消除冒险</a:t>
            </a:r>
            <a:endParaRPr lang="zh-CN" altLang="en-US" sz="4000" b="1" smtClean="0"/>
          </a:p>
        </p:txBody>
      </p:sp>
      <p:graphicFrame>
        <p:nvGraphicFramePr>
          <p:cNvPr id="65542" name="Object 6"/>
          <p:cNvGraphicFramePr>
            <a:graphicFrameLocks noChangeAspect="1"/>
          </p:cNvGraphicFramePr>
          <p:nvPr/>
        </p:nvGraphicFramePr>
        <p:xfrm>
          <a:off x="347663" y="3375025"/>
          <a:ext cx="8153400" cy="3054350"/>
        </p:xfrm>
        <a:graphic>
          <a:graphicData uri="http://schemas.openxmlformats.org/presentationml/2006/ole">
            <mc:AlternateContent xmlns:mc="http://schemas.openxmlformats.org/markup-compatibility/2006">
              <mc:Choice xmlns:v="urn:schemas-microsoft-com:vml" Requires="v">
                <p:oleObj spid="_x0000_s65557" name="VISIO" r:id="rId4" imgW="2766060" imgH="1036320" progId="">
                  <p:embed/>
                </p:oleObj>
              </mc:Choice>
              <mc:Fallback>
                <p:oleObj name="VISIO" r:id="rId4" imgW="2766060" imgH="103632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663" y="3375025"/>
                        <a:ext cx="815340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3" name="Object 5"/>
          <p:cNvGraphicFramePr>
            <a:graphicFrameLocks noChangeAspect="1"/>
          </p:cNvGraphicFramePr>
          <p:nvPr/>
        </p:nvGraphicFramePr>
        <p:xfrm>
          <a:off x="1508125" y="2933700"/>
          <a:ext cx="2417763" cy="614363"/>
        </p:xfrm>
        <a:graphic>
          <a:graphicData uri="http://schemas.openxmlformats.org/presentationml/2006/ole">
            <mc:AlternateContent xmlns:mc="http://schemas.openxmlformats.org/markup-compatibility/2006">
              <mc:Choice xmlns:v="urn:schemas-microsoft-com:vml" Requires="v">
                <p:oleObj spid="_x0000_s65558" name="公式" r:id="rId6" imgW="850531" imgH="215806" progId="Equation.3">
                  <p:embed/>
                </p:oleObj>
              </mc:Choice>
              <mc:Fallback>
                <p:oleObj name="公式" r:id="rId6" imgW="850531" imgH="215806"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8125" y="2933700"/>
                        <a:ext cx="24177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7096" name="Object 5"/>
          <p:cNvGraphicFramePr>
            <a:graphicFrameLocks noChangeAspect="1"/>
          </p:cNvGraphicFramePr>
          <p:nvPr/>
        </p:nvGraphicFramePr>
        <p:xfrm>
          <a:off x="5008563" y="2913063"/>
          <a:ext cx="3429000" cy="614362"/>
        </p:xfrm>
        <a:graphic>
          <a:graphicData uri="http://schemas.openxmlformats.org/presentationml/2006/ole">
            <mc:AlternateContent xmlns:mc="http://schemas.openxmlformats.org/markup-compatibility/2006">
              <mc:Choice xmlns:v="urn:schemas-microsoft-com:vml" Requires="v">
                <p:oleObj spid="_x0000_s65559" name="公式" r:id="rId8" imgW="1205977" imgH="215806" progId="Equation.3">
                  <p:embed/>
                </p:oleObj>
              </mc:Choice>
              <mc:Fallback>
                <p:oleObj name="公式" r:id="rId8" imgW="1205977" imgH="215806"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8563" y="2913063"/>
                        <a:ext cx="34290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5543"/>
                                        </p:tgtEl>
                                        <p:attrNameLst>
                                          <p:attrName>style.visibility</p:attrName>
                                        </p:attrNameLst>
                                      </p:cBhvr>
                                      <p:to>
                                        <p:strVal val="visible"/>
                                      </p:to>
                                    </p:set>
                                    <p:animEffect transition="in" filter="wipe(down)">
                                      <p:cBhvr>
                                        <p:cTn id="7" dur="500"/>
                                        <p:tgtEl>
                                          <p:spTgt spid="655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554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nodeType="clickEffect">
                                  <p:stCondLst>
                                    <p:cond delay="0"/>
                                  </p:stCondLst>
                                  <p:childTnLst>
                                    <p:set>
                                      <p:cBhvr>
                                        <p:cTn id="15" dur="1" fill="hold">
                                          <p:stCondLst>
                                            <p:cond delay="0"/>
                                          </p:stCondLst>
                                        </p:cTn>
                                        <p:tgtEl>
                                          <p:spTgt spid="217096"/>
                                        </p:tgtEl>
                                        <p:attrNameLst>
                                          <p:attrName>style.visibility</p:attrName>
                                        </p:attrNameLst>
                                      </p:cBhvr>
                                      <p:to>
                                        <p:strVal val="visible"/>
                                      </p:to>
                                    </p:set>
                                    <p:anim calcmode="lin" valueType="num">
                                      <p:cBhvr additive="base">
                                        <p:cTn id="16" dur="500" fill="hold"/>
                                        <p:tgtEl>
                                          <p:spTgt spid="217096"/>
                                        </p:tgtEl>
                                        <p:attrNameLst>
                                          <p:attrName>ppt_x</p:attrName>
                                        </p:attrNameLst>
                                      </p:cBhvr>
                                      <p:tavLst>
                                        <p:tav tm="0">
                                          <p:val>
                                            <p:strVal val="#ppt_x"/>
                                          </p:val>
                                        </p:tav>
                                        <p:tav tm="100000">
                                          <p:val>
                                            <p:strVal val="#ppt_x"/>
                                          </p:val>
                                        </p:tav>
                                      </p:tavLst>
                                    </p:anim>
                                    <p:anim calcmode="lin" valueType="num">
                                      <p:cBhvr additive="base">
                                        <p:cTn id="17" dur="500" fill="hold"/>
                                        <p:tgtEl>
                                          <p:spTgt spid="21709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4696B0D3-6E1C-4D32-B020-17BCFF598CFD}" type="slidenum">
              <a:rPr lang="en-US" altLang="zh-CN" smtClean="0"/>
              <a:pPr>
                <a:defRPr/>
              </a:pPr>
              <a:t>68</a:t>
            </a:fld>
            <a:endParaRPr lang="en-US" altLang="zh-CN"/>
          </a:p>
        </p:txBody>
      </p:sp>
      <p:graphicFrame>
        <p:nvGraphicFramePr>
          <p:cNvPr id="67588" name="Object 5"/>
          <p:cNvGraphicFramePr>
            <a:graphicFrameLocks noChangeAspect="1"/>
          </p:cNvGraphicFramePr>
          <p:nvPr/>
        </p:nvGraphicFramePr>
        <p:xfrm>
          <a:off x="2786063" y="1285875"/>
          <a:ext cx="3429000" cy="614363"/>
        </p:xfrm>
        <a:graphic>
          <a:graphicData uri="http://schemas.openxmlformats.org/presentationml/2006/ole">
            <mc:AlternateContent xmlns:mc="http://schemas.openxmlformats.org/markup-compatibility/2006">
              <mc:Choice xmlns:v="urn:schemas-microsoft-com:vml" Requires="v">
                <p:oleObj spid="_x0000_s67594" name="公式" r:id="rId4" imgW="1205977" imgH="215806" progId="Equation.3">
                  <p:embed/>
                </p:oleObj>
              </mc:Choice>
              <mc:Fallback>
                <p:oleObj name="公式" r:id="rId4" imgW="1205977" imgH="215806"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3" y="1285875"/>
                        <a:ext cx="34290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758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6500" y="2428875"/>
            <a:ext cx="409575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23ED6D87-E00C-486D-BEA0-502EA336E217}"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0382F0B2-AFCF-4DC9-B160-927B99358178}" type="slidenum">
              <a:rPr lang="en-US" altLang="zh-CN"/>
              <a:pPr>
                <a:defRPr/>
              </a:pPr>
              <a:t>69</a:t>
            </a:fld>
            <a:endParaRPr lang="en-US" altLang="zh-CN"/>
          </a:p>
        </p:txBody>
      </p:sp>
      <p:sp>
        <p:nvSpPr>
          <p:cNvPr id="68612" name="Rectangle 2"/>
          <p:cNvSpPr>
            <a:spLocks noGrp="1" noChangeArrowheads="1"/>
          </p:cNvSpPr>
          <p:nvPr>
            <p:ph type="title"/>
          </p:nvPr>
        </p:nvSpPr>
        <p:spPr>
          <a:xfrm>
            <a:off x="1150938" y="533400"/>
            <a:ext cx="7793037" cy="609600"/>
          </a:xfrm>
        </p:spPr>
        <p:txBody>
          <a:bodyPr/>
          <a:lstStyle/>
          <a:p>
            <a:pPr eaLnBrk="1" hangingPunct="1"/>
            <a:r>
              <a:rPr lang="zh-CN" altLang="en-US" smtClean="0"/>
              <a:t>本章小结</a:t>
            </a:r>
            <a:endParaRPr lang="zh-CN" altLang="en-US" sz="2400" smtClean="0"/>
          </a:p>
        </p:txBody>
      </p:sp>
      <p:sp>
        <p:nvSpPr>
          <p:cNvPr id="68613" name="Rectangle 3"/>
          <p:cNvSpPr>
            <a:spLocks noGrp="1" noChangeArrowheads="1"/>
          </p:cNvSpPr>
          <p:nvPr>
            <p:ph type="body" idx="1"/>
          </p:nvPr>
        </p:nvSpPr>
        <p:spPr/>
        <p:txBody>
          <a:bodyPr/>
          <a:lstStyle/>
          <a:p>
            <a:pPr eaLnBrk="1" hangingPunct="1">
              <a:lnSpc>
                <a:spcPct val="90000"/>
              </a:lnSpc>
            </a:pPr>
            <a:r>
              <a:rPr lang="zh-CN" altLang="en-US" sz="2400" smtClean="0"/>
              <a:t>逻辑门电路</a:t>
            </a:r>
          </a:p>
          <a:p>
            <a:pPr lvl="1" eaLnBrk="1" hangingPunct="1">
              <a:lnSpc>
                <a:spcPct val="90000"/>
              </a:lnSpc>
            </a:pPr>
            <a:r>
              <a:rPr lang="zh-CN" altLang="en-US" sz="2000" smtClean="0"/>
              <a:t>简单门电路：与门、或门、非门</a:t>
            </a:r>
          </a:p>
          <a:p>
            <a:pPr lvl="1" eaLnBrk="1" hangingPunct="1">
              <a:lnSpc>
                <a:spcPct val="90000"/>
              </a:lnSpc>
            </a:pPr>
            <a:r>
              <a:rPr lang="zh-CN" altLang="en-US" sz="2000" smtClean="0"/>
              <a:t>复合门电路：与非门、或非门、与或非门、异或门</a:t>
            </a:r>
          </a:p>
          <a:p>
            <a:pPr eaLnBrk="1" hangingPunct="1">
              <a:lnSpc>
                <a:spcPct val="90000"/>
              </a:lnSpc>
            </a:pPr>
            <a:r>
              <a:rPr lang="zh-CN" altLang="en-US" sz="2400" smtClean="0"/>
              <a:t>逻辑函数的实现</a:t>
            </a:r>
          </a:p>
          <a:p>
            <a:pPr lvl="1" eaLnBrk="1" hangingPunct="1">
              <a:lnSpc>
                <a:spcPct val="90000"/>
              </a:lnSpc>
            </a:pPr>
            <a:r>
              <a:rPr lang="zh-CN" altLang="en-US" sz="2000" smtClean="0"/>
              <a:t>与非门实现、或非门实现、与或非门实现、异或门实现</a:t>
            </a:r>
          </a:p>
          <a:p>
            <a:pPr eaLnBrk="1" hangingPunct="1">
              <a:lnSpc>
                <a:spcPct val="90000"/>
              </a:lnSpc>
            </a:pPr>
            <a:r>
              <a:rPr lang="zh-CN" altLang="en-US" sz="2400" smtClean="0"/>
              <a:t>组合逻辑电路的分析</a:t>
            </a:r>
          </a:p>
          <a:p>
            <a:pPr lvl="1" eaLnBrk="1" hangingPunct="1">
              <a:lnSpc>
                <a:spcPct val="90000"/>
              </a:lnSpc>
            </a:pPr>
            <a:r>
              <a:rPr lang="zh-CN" altLang="en-US" sz="2000" smtClean="0"/>
              <a:t>分析的步骤</a:t>
            </a:r>
          </a:p>
          <a:p>
            <a:pPr eaLnBrk="1" hangingPunct="1">
              <a:lnSpc>
                <a:spcPct val="90000"/>
              </a:lnSpc>
            </a:pPr>
            <a:r>
              <a:rPr lang="zh-CN" altLang="en-US" sz="2400" smtClean="0"/>
              <a:t>组合逻辑电路的设计</a:t>
            </a:r>
          </a:p>
          <a:p>
            <a:pPr lvl="1" eaLnBrk="1" hangingPunct="1">
              <a:lnSpc>
                <a:spcPct val="90000"/>
              </a:lnSpc>
            </a:pPr>
            <a:r>
              <a:rPr lang="zh-CN" altLang="en-US" sz="2000" smtClean="0"/>
              <a:t>设计的步骤</a:t>
            </a:r>
          </a:p>
          <a:p>
            <a:pPr lvl="1" eaLnBrk="1" hangingPunct="1">
              <a:lnSpc>
                <a:spcPct val="90000"/>
              </a:lnSpc>
            </a:pPr>
            <a:r>
              <a:rPr lang="zh-CN" altLang="en-US" sz="2000" smtClean="0"/>
              <a:t>单输出组合逻辑电路的设计</a:t>
            </a:r>
          </a:p>
          <a:p>
            <a:pPr lvl="1" eaLnBrk="1" hangingPunct="1">
              <a:lnSpc>
                <a:spcPct val="90000"/>
              </a:lnSpc>
            </a:pPr>
            <a:r>
              <a:rPr lang="zh-CN" altLang="en-US" sz="2000" smtClean="0"/>
              <a:t>多输出组合逻辑电路的设计：半加器、全加器</a:t>
            </a:r>
          </a:p>
          <a:p>
            <a:pPr eaLnBrk="1" hangingPunct="1">
              <a:lnSpc>
                <a:spcPct val="90000"/>
              </a:lnSpc>
            </a:pPr>
            <a:r>
              <a:rPr lang="zh-CN" altLang="en-US" sz="2400" smtClean="0"/>
              <a:t>组合逻辑电路的竞争与冒险</a:t>
            </a:r>
          </a:p>
          <a:p>
            <a:pPr lvl="1" eaLnBrk="1" hangingPunct="1">
              <a:lnSpc>
                <a:spcPct val="90000"/>
              </a:lnSpc>
            </a:pPr>
            <a:r>
              <a:rPr lang="zh-CN" altLang="en-US" sz="2000" smtClean="0"/>
              <a:t>产生、判别、消除</a:t>
            </a:r>
          </a:p>
        </p:txBody>
      </p:sp>
    </p:spTree>
  </p:cSld>
  <p:clrMapOvr>
    <a:masterClrMapping/>
  </p:clrMapOvr>
  <p:transition>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2C928EF-0D04-4A00-8BB6-5299B577C51D}"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6986B35F-3693-4DE5-8A95-27EFB9A66640}" type="slidenum">
              <a:rPr lang="en-US" altLang="zh-CN"/>
              <a:pPr>
                <a:defRPr/>
              </a:pPr>
              <a:t>70</a:t>
            </a:fld>
            <a:endParaRPr lang="en-US" altLang="zh-CN"/>
          </a:p>
        </p:txBody>
      </p:sp>
      <p:sp>
        <p:nvSpPr>
          <p:cNvPr id="69636" name="Rectangle 2"/>
          <p:cNvSpPr>
            <a:spLocks noGrp="1" noChangeArrowheads="1"/>
          </p:cNvSpPr>
          <p:nvPr>
            <p:ph type="body" idx="1"/>
          </p:nvPr>
        </p:nvSpPr>
        <p:spPr/>
        <p:txBody>
          <a:bodyPr/>
          <a:lstStyle/>
          <a:p>
            <a:pPr eaLnBrk="1" hangingPunct="1"/>
            <a:r>
              <a:rPr lang="zh-CN" altLang="en-US" b="1" smtClean="0"/>
              <a:t>二进制并行加法器</a:t>
            </a:r>
          </a:p>
          <a:p>
            <a:pPr eaLnBrk="1" hangingPunct="1"/>
            <a:r>
              <a:rPr lang="zh-CN" altLang="en-US" b="1" smtClean="0"/>
              <a:t>数值比较器</a:t>
            </a:r>
          </a:p>
          <a:p>
            <a:pPr eaLnBrk="1" hangingPunct="1"/>
            <a:r>
              <a:rPr lang="zh-CN" altLang="en-US" b="1" smtClean="0"/>
              <a:t>译码器</a:t>
            </a:r>
          </a:p>
          <a:p>
            <a:pPr eaLnBrk="1" hangingPunct="1"/>
            <a:r>
              <a:rPr lang="zh-CN" altLang="en-US" b="1" smtClean="0"/>
              <a:t>多路选择器</a:t>
            </a:r>
            <a:endParaRPr lang="zh-CN" altLang="en-US" b="1" smtClean="0">
              <a:latin typeface="Times New Roman" pitchFamily="18" charset="0"/>
            </a:endParaRPr>
          </a:p>
        </p:txBody>
      </p:sp>
      <p:sp>
        <p:nvSpPr>
          <p:cNvPr id="69637" name="Rectangle 3"/>
          <p:cNvSpPr>
            <a:spLocks noGrp="1" noChangeArrowheads="1"/>
          </p:cNvSpPr>
          <p:nvPr>
            <p:ph type="title"/>
          </p:nvPr>
        </p:nvSpPr>
        <p:spPr>
          <a:xfrm>
            <a:off x="1274763" y="533400"/>
            <a:ext cx="7793037" cy="609600"/>
          </a:xfrm>
        </p:spPr>
        <p:txBody>
          <a:bodyPr/>
          <a:lstStyle/>
          <a:p>
            <a:pPr eaLnBrk="1" hangingPunct="1"/>
            <a:r>
              <a:rPr lang="zh-CN" altLang="en-US" sz="3600" b="1" smtClean="0"/>
              <a:t>采用中、大规模集成电路的逻辑设计</a:t>
            </a:r>
            <a:endParaRPr lang="zh-CN" altLang="en-US" sz="3200" b="1" smtClean="0"/>
          </a:p>
        </p:txBody>
      </p:sp>
    </p:spTree>
  </p:cSld>
  <p:clrMapOvr>
    <a:masterClrMapping/>
  </p:clrMapOvr>
  <p:transition>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日期占位符 3"/>
          <p:cNvSpPr>
            <a:spLocks noGrp="1"/>
          </p:cNvSpPr>
          <p:nvPr>
            <p:ph type="dt" sz="quarter" idx="10"/>
          </p:nvPr>
        </p:nvSpPr>
        <p:spPr/>
        <p:txBody>
          <a:bodyPr/>
          <a:lstStyle/>
          <a:p>
            <a:pPr>
              <a:defRPr/>
            </a:pPr>
            <a:fld id="{73AAF854-40A5-4AD2-9B76-EB862F8A2538}" type="datetime1">
              <a:rPr lang="zh-CN" altLang="en-US"/>
              <a:pPr>
                <a:defRPr/>
              </a:pPr>
              <a:t>2020/10/10</a:t>
            </a:fld>
            <a:endParaRPr lang="en-US" altLang="zh-CN"/>
          </a:p>
        </p:txBody>
      </p:sp>
      <p:sp>
        <p:nvSpPr>
          <p:cNvPr id="80" name="灯片编号占位符 5"/>
          <p:cNvSpPr>
            <a:spLocks noGrp="1"/>
          </p:cNvSpPr>
          <p:nvPr>
            <p:ph type="sldNum" sz="quarter" idx="12"/>
          </p:nvPr>
        </p:nvSpPr>
        <p:spPr/>
        <p:txBody>
          <a:bodyPr/>
          <a:lstStyle/>
          <a:p>
            <a:pPr>
              <a:defRPr/>
            </a:pPr>
            <a:fld id="{27F8F2BF-E170-4F39-BA54-82F51858BD6E}" type="slidenum">
              <a:rPr lang="en-US" altLang="zh-CN"/>
              <a:pPr>
                <a:defRPr/>
              </a:pPr>
              <a:t>71</a:t>
            </a:fld>
            <a:endParaRPr lang="en-US" altLang="zh-CN"/>
          </a:p>
        </p:txBody>
      </p:sp>
      <p:sp>
        <p:nvSpPr>
          <p:cNvPr id="70660" name="Rectangle 7"/>
          <p:cNvSpPr>
            <a:spLocks noGrp="1" noChangeArrowheads="1"/>
          </p:cNvSpPr>
          <p:nvPr>
            <p:ph type="body" idx="1"/>
          </p:nvPr>
        </p:nvSpPr>
        <p:spPr/>
        <p:txBody>
          <a:bodyPr/>
          <a:lstStyle/>
          <a:p>
            <a:pPr eaLnBrk="1" hangingPunct="1"/>
            <a:r>
              <a:rPr lang="zh-CN" altLang="en-US" b="1" smtClean="0"/>
              <a:t>四位二进制串行进位并行加法器</a:t>
            </a:r>
          </a:p>
        </p:txBody>
      </p:sp>
      <p:sp>
        <p:nvSpPr>
          <p:cNvPr id="70661" name="Rectangle 3"/>
          <p:cNvSpPr>
            <a:spLocks noGrp="1" noChangeArrowheads="1"/>
          </p:cNvSpPr>
          <p:nvPr>
            <p:ph type="title"/>
          </p:nvPr>
        </p:nvSpPr>
        <p:spPr>
          <a:xfrm>
            <a:off x="1274763" y="533400"/>
            <a:ext cx="7793037" cy="609600"/>
          </a:xfrm>
        </p:spPr>
        <p:txBody>
          <a:bodyPr/>
          <a:lstStyle/>
          <a:p>
            <a:pPr eaLnBrk="1" hangingPunct="1"/>
            <a:r>
              <a:rPr lang="zh-CN" altLang="en-US" b="1" smtClean="0"/>
              <a:t>二进制并行加法器</a:t>
            </a:r>
            <a:endParaRPr lang="zh-CN" altLang="en-US" sz="3600" b="1" smtClean="0"/>
          </a:p>
        </p:txBody>
      </p:sp>
      <p:grpSp>
        <p:nvGrpSpPr>
          <p:cNvPr id="70662" name="Group 116"/>
          <p:cNvGrpSpPr>
            <a:grpSpLocks/>
          </p:cNvGrpSpPr>
          <p:nvPr/>
        </p:nvGrpSpPr>
        <p:grpSpPr bwMode="auto">
          <a:xfrm>
            <a:off x="795338" y="2514600"/>
            <a:ext cx="7815262" cy="3108325"/>
            <a:chOff x="597" y="1587"/>
            <a:chExt cx="4923" cy="1958"/>
          </a:xfrm>
        </p:grpSpPr>
        <p:sp>
          <p:nvSpPr>
            <p:cNvPr id="70663" name="Rectangle 8"/>
            <p:cNvSpPr>
              <a:spLocks noChangeArrowheads="1"/>
            </p:cNvSpPr>
            <p:nvPr/>
          </p:nvSpPr>
          <p:spPr bwMode="auto">
            <a:xfrm>
              <a:off x="1331" y="2041"/>
              <a:ext cx="606" cy="90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64" name="Rectangle 9"/>
            <p:cNvSpPr>
              <a:spLocks noChangeArrowheads="1"/>
            </p:cNvSpPr>
            <p:nvPr/>
          </p:nvSpPr>
          <p:spPr bwMode="auto">
            <a:xfrm>
              <a:off x="1586" y="205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Σ</a:t>
              </a:r>
              <a:endParaRPr lang="en-US" altLang="zh-CN"/>
            </a:p>
          </p:txBody>
        </p:sp>
        <p:sp>
          <p:nvSpPr>
            <p:cNvPr id="70665" name="Rectangle 10"/>
            <p:cNvSpPr>
              <a:spLocks noChangeArrowheads="1"/>
            </p:cNvSpPr>
            <p:nvPr/>
          </p:nvSpPr>
          <p:spPr bwMode="auto">
            <a:xfrm>
              <a:off x="1512" y="2359"/>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FA</a:t>
              </a:r>
              <a:endParaRPr lang="en-US" altLang="zh-CN"/>
            </a:p>
          </p:txBody>
        </p:sp>
        <p:sp>
          <p:nvSpPr>
            <p:cNvPr id="70666" name="Rectangle 11"/>
            <p:cNvSpPr>
              <a:spLocks noChangeArrowheads="1"/>
            </p:cNvSpPr>
            <p:nvPr/>
          </p:nvSpPr>
          <p:spPr bwMode="auto">
            <a:xfrm>
              <a:off x="1693" y="24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3</a:t>
              </a:r>
              <a:endParaRPr lang="en-US" altLang="zh-CN"/>
            </a:p>
          </p:txBody>
        </p:sp>
        <p:sp>
          <p:nvSpPr>
            <p:cNvPr id="70667" name="Rectangle 12"/>
            <p:cNvSpPr>
              <a:spLocks noChangeArrowheads="1"/>
            </p:cNvSpPr>
            <p:nvPr/>
          </p:nvSpPr>
          <p:spPr bwMode="auto">
            <a:xfrm>
              <a:off x="1384" y="2762"/>
              <a:ext cx="18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CO</a:t>
              </a:r>
              <a:endParaRPr lang="en-US" altLang="zh-CN"/>
            </a:p>
          </p:txBody>
        </p:sp>
        <p:sp>
          <p:nvSpPr>
            <p:cNvPr id="70668" name="Rectangle 13"/>
            <p:cNvSpPr>
              <a:spLocks noChangeArrowheads="1"/>
            </p:cNvSpPr>
            <p:nvPr/>
          </p:nvSpPr>
          <p:spPr bwMode="auto">
            <a:xfrm>
              <a:off x="1714" y="276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CI</a:t>
              </a:r>
              <a:endParaRPr lang="en-US" altLang="zh-CN"/>
            </a:p>
          </p:txBody>
        </p:sp>
        <p:sp>
          <p:nvSpPr>
            <p:cNvPr id="70669" name="Rectangle 14"/>
            <p:cNvSpPr>
              <a:spLocks noChangeArrowheads="1"/>
            </p:cNvSpPr>
            <p:nvPr/>
          </p:nvSpPr>
          <p:spPr bwMode="auto">
            <a:xfrm>
              <a:off x="2437" y="2041"/>
              <a:ext cx="596" cy="90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70" name="Rectangle 15"/>
            <p:cNvSpPr>
              <a:spLocks noChangeArrowheads="1"/>
            </p:cNvSpPr>
            <p:nvPr/>
          </p:nvSpPr>
          <p:spPr bwMode="auto">
            <a:xfrm>
              <a:off x="2682" y="205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Σ</a:t>
              </a:r>
              <a:endParaRPr lang="en-US" altLang="zh-CN"/>
            </a:p>
          </p:txBody>
        </p:sp>
        <p:sp>
          <p:nvSpPr>
            <p:cNvPr id="70671" name="Rectangle 16"/>
            <p:cNvSpPr>
              <a:spLocks noChangeArrowheads="1"/>
            </p:cNvSpPr>
            <p:nvPr/>
          </p:nvSpPr>
          <p:spPr bwMode="auto">
            <a:xfrm>
              <a:off x="2618" y="2359"/>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FA</a:t>
              </a:r>
              <a:endParaRPr lang="en-US" altLang="zh-CN"/>
            </a:p>
          </p:txBody>
        </p:sp>
        <p:sp>
          <p:nvSpPr>
            <p:cNvPr id="70672" name="Rectangle 17"/>
            <p:cNvSpPr>
              <a:spLocks noChangeArrowheads="1"/>
            </p:cNvSpPr>
            <p:nvPr/>
          </p:nvSpPr>
          <p:spPr bwMode="auto">
            <a:xfrm>
              <a:off x="2799" y="24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70673" name="Rectangle 18"/>
            <p:cNvSpPr>
              <a:spLocks noChangeArrowheads="1"/>
            </p:cNvSpPr>
            <p:nvPr/>
          </p:nvSpPr>
          <p:spPr bwMode="auto">
            <a:xfrm>
              <a:off x="2490" y="2762"/>
              <a:ext cx="18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CO</a:t>
              </a:r>
              <a:endParaRPr lang="en-US" altLang="zh-CN"/>
            </a:p>
          </p:txBody>
        </p:sp>
        <p:sp>
          <p:nvSpPr>
            <p:cNvPr id="70674" name="Rectangle 19"/>
            <p:cNvSpPr>
              <a:spLocks noChangeArrowheads="1"/>
            </p:cNvSpPr>
            <p:nvPr/>
          </p:nvSpPr>
          <p:spPr bwMode="auto">
            <a:xfrm>
              <a:off x="2820" y="276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CI</a:t>
              </a:r>
              <a:endParaRPr lang="en-US" altLang="zh-CN"/>
            </a:p>
          </p:txBody>
        </p:sp>
        <p:sp>
          <p:nvSpPr>
            <p:cNvPr id="70675" name="Rectangle 20"/>
            <p:cNvSpPr>
              <a:spLocks noChangeArrowheads="1"/>
            </p:cNvSpPr>
            <p:nvPr/>
          </p:nvSpPr>
          <p:spPr bwMode="auto">
            <a:xfrm>
              <a:off x="3543" y="2041"/>
              <a:ext cx="596" cy="90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76" name="Rectangle 21"/>
            <p:cNvSpPr>
              <a:spLocks noChangeArrowheads="1"/>
            </p:cNvSpPr>
            <p:nvPr/>
          </p:nvSpPr>
          <p:spPr bwMode="auto">
            <a:xfrm>
              <a:off x="3788" y="205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Σ</a:t>
              </a:r>
              <a:endParaRPr lang="en-US" altLang="zh-CN"/>
            </a:p>
          </p:txBody>
        </p:sp>
        <p:sp>
          <p:nvSpPr>
            <p:cNvPr id="70677" name="Rectangle 22"/>
            <p:cNvSpPr>
              <a:spLocks noChangeArrowheads="1"/>
            </p:cNvSpPr>
            <p:nvPr/>
          </p:nvSpPr>
          <p:spPr bwMode="auto">
            <a:xfrm>
              <a:off x="3724" y="2359"/>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FA</a:t>
              </a:r>
              <a:endParaRPr lang="en-US" altLang="zh-CN"/>
            </a:p>
          </p:txBody>
        </p:sp>
        <p:sp>
          <p:nvSpPr>
            <p:cNvPr id="70678" name="Rectangle 23"/>
            <p:cNvSpPr>
              <a:spLocks noChangeArrowheads="1"/>
            </p:cNvSpPr>
            <p:nvPr/>
          </p:nvSpPr>
          <p:spPr bwMode="auto">
            <a:xfrm>
              <a:off x="3905" y="24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70679" name="Rectangle 24"/>
            <p:cNvSpPr>
              <a:spLocks noChangeArrowheads="1"/>
            </p:cNvSpPr>
            <p:nvPr/>
          </p:nvSpPr>
          <p:spPr bwMode="auto">
            <a:xfrm>
              <a:off x="3596" y="2762"/>
              <a:ext cx="18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CO</a:t>
              </a:r>
              <a:endParaRPr lang="en-US" altLang="zh-CN"/>
            </a:p>
          </p:txBody>
        </p:sp>
        <p:sp>
          <p:nvSpPr>
            <p:cNvPr id="70680" name="Rectangle 25"/>
            <p:cNvSpPr>
              <a:spLocks noChangeArrowheads="1"/>
            </p:cNvSpPr>
            <p:nvPr/>
          </p:nvSpPr>
          <p:spPr bwMode="auto">
            <a:xfrm>
              <a:off x="3926" y="276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CI</a:t>
              </a:r>
              <a:endParaRPr lang="en-US" altLang="zh-CN"/>
            </a:p>
          </p:txBody>
        </p:sp>
        <p:sp>
          <p:nvSpPr>
            <p:cNvPr id="70681" name="Rectangle 26"/>
            <p:cNvSpPr>
              <a:spLocks noChangeArrowheads="1"/>
            </p:cNvSpPr>
            <p:nvPr/>
          </p:nvSpPr>
          <p:spPr bwMode="auto">
            <a:xfrm>
              <a:off x="4649" y="2041"/>
              <a:ext cx="596" cy="90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82" name="Rectangle 27"/>
            <p:cNvSpPr>
              <a:spLocks noChangeArrowheads="1"/>
            </p:cNvSpPr>
            <p:nvPr/>
          </p:nvSpPr>
          <p:spPr bwMode="auto">
            <a:xfrm>
              <a:off x="4894" y="205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Σ</a:t>
              </a:r>
              <a:endParaRPr lang="en-US" altLang="zh-CN"/>
            </a:p>
          </p:txBody>
        </p:sp>
        <p:sp>
          <p:nvSpPr>
            <p:cNvPr id="70683" name="Rectangle 28"/>
            <p:cNvSpPr>
              <a:spLocks noChangeArrowheads="1"/>
            </p:cNvSpPr>
            <p:nvPr/>
          </p:nvSpPr>
          <p:spPr bwMode="auto">
            <a:xfrm>
              <a:off x="4830" y="2359"/>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FA</a:t>
              </a:r>
              <a:endParaRPr lang="en-US" altLang="zh-CN"/>
            </a:p>
          </p:txBody>
        </p:sp>
        <p:sp>
          <p:nvSpPr>
            <p:cNvPr id="70684" name="Rectangle 29"/>
            <p:cNvSpPr>
              <a:spLocks noChangeArrowheads="1"/>
            </p:cNvSpPr>
            <p:nvPr/>
          </p:nvSpPr>
          <p:spPr bwMode="auto">
            <a:xfrm>
              <a:off x="5011" y="242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70685" name="Rectangle 30"/>
            <p:cNvSpPr>
              <a:spLocks noChangeArrowheads="1"/>
            </p:cNvSpPr>
            <p:nvPr/>
          </p:nvSpPr>
          <p:spPr bwMode="auto">
            <a:xfrm>
              <a:off x="4703" y="2762"/>
              <a:ext cx="18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CO</a:t>
              </a:r>
              <a:endParaRPr lang="en-US" altLang="zh-CN"/>
            </a:p>
          </p:txBody>
        </p:sp>
        <p:sp>
          <p:nvSpPr>
            <p:cNvPr id="70686" name="Rectangle 31"/>
            <p:cNvSpPr>
              <a:spLocks noChangeArrowheads="1"/>
            </p:cNvSpPr>
            <p:nvPr/>
          </p:nvSpPr>
          <p:spPr bwMode="auto">
            <a:xfrm>
              <a:off x="5032" y="2762"/>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a:solidFill>
                    <a:srgbClr val="000000"/>
                  </a:solidFill>
                </a:rPr>
                <a:t>CI</a:t>
              </a:r>
              <a:endParaRPr lang="en-US" altLang="zh-CN"/>
            </a:p>
          </p:txBody>
        </p:sp>
        <p:sp>
          <p:nvSpPr>
            <p:cNvPr id="70687" name="Line 34"/>
            <p:cNvSpPr>
              <a:spLocks noChangeShapeType="1"/>
            </p:cNvSpPr>
            <p:nvPr/>
          </p:nvSpPr>
          <p:spPr bwMode="auto">
            <a:xfrm flipH="1">
              <a:off x="1920" y="2847"/>
              <a:ext cx="517" cy="1"/>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88" name="Freeform 46"/>
            <p:cNvSpPr>
              <a:spLocks/>
            </p:cNvSpPr>
            <p:nvPr/>
          </p:nvSpPr>
          <p:spPr bwMode="auto">
            <a:xfrm>
              <a:off x="1129" y="1776"/>
              <a:ext cx="202" cy="360"/>
            </a:xfrm>
            <a:custGeom>
              <a:avLst/>
              <a:gdLst>
                <a:gd name="T0" fmla="*/ 0 w 202"/>
                <a:gd name="T1" fmla="*/ 0 h 339"/>
                <a:gd name="T2" fmla="*/ 0 w 202"/>
                <a:gd name="T3" fmla="*/ 942 h 339"/>
                <a:gd name="T4" fmla="*/ 202 w 202"/>
                <a:gd name="T5" fmla="*/ 942 h 339"/>
                <a:gd name="T6" fmla="*/ 0 60000 65536"/>
                <a:gd name="T7" fmla="*/ 0 60000 65536"/>
                <a:gd name="T8" fmla="*/ 0 60000 65536"/>
                <a:gd name="T9" fmla="*/ 0 w 202"/>
                <a:gd name="T10" fmla="*/ 0 h 339"/>
                <a:gd name="T11" fmla="*/ 202 w 202"/>
                <a:gd name="T12" fmla="*/ 339 h 339"/>
              </a:gdLst>
              <a:ahLst/>
              <a:cxnLst>
                <a:cxn ang="T6">
                  <a:pos x="T0" y="T1"/>
                </a:cxn>
                <a:cxn ang="T7">
                  <a:pos x="T2" y="T3"/>
                </a:cxn>
                <a:cxn ang="T8">
                  <a:pos x="T4" y="T5"/>
                </a:cxn>
              </a:cxnLst>
              <a:rect l="T9" t="T10" r="T11" b="T12"/>
              <a:pathLst>
                <a:path w="202" h="339">
                  <a:moveTo>
                    <a:pt x="0" y="0"/>
                  </a:moveTo>
                  <a:lnTo>
                    <a:pt x="0" y="339"/>
                  </a:lnTo>
                  <a:lnTo>
                    <a:pt x="202" y="339"/>
                  </a:lnTo>
                </a:path>
              </a:pathLst>
            </a:custGeom>
            <a:noFill/>
            <a:ln w="17463">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89" name="Line 48"/>
            <p:cNvSpPr>
              <a:spLocks noChangeShapeType="1"/>
            </p:cNvSpPr>
            <p:nvPr/>
          </p:nvSpPr>
          <p:spPr bwMode="auto">
            <a:xfrm flipV="1">
              <a:off x="1480"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90" name="Rectangle 66"/>
            <p:cNvSpPr>
              <a:spLocks noChangeArrowheads="1"/>
            </p:cNvSpPr>
            <p:nvPr/>
          </p:nvSpPr>
          <p:spPr bwMode="auto">
            <a:xfrm>
              <a:off x="597" y="158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C</a:t>
              </a:r>
              <a:endParaRPr lang="en-US" altLang="zh-CN"/>
            </a:p>
          </p:txBody>
        </p:sp>
        <p:sp>
          <p:nvSpPr>
            <p:cNvPr id="70691" name="Rectangle 67"/>
            <p:cNvSpPr>
              <a:spLocks noChangeArrowheads="1"/>
            </p:cNvSpPr>
            <p:nvPr/>
          </p:nvSpPr>
          <p:spPr bwMode="auto">
            <a:xfrm>
              <a:off x="693" y="1652"/>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3</a:t>
              </a:r>
              <a:endParaRPr lang="en-US" altLang="zh-CN"/>
            </a:p>
          </p:txBody>
        </p:sp>
        <p:sp>
          <p:nvSpPr>
            <p:cNvPr id="70692" name="Rectangle 68"/>
            <p:cNvSpPr>
              <a:spLocks noChangeArrowheads="1"/>
            </p:cNvSpPr>
            <p:nvPr/>
          </p:nvSpPr>
          <p:spPr bwMode="auto">
            <a:xfrm>
              <a:off x="2012" y="285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C</a:t>
              </a:r>
              <a:endParaRPr lang="en-US" altLang="zh-CN"/>
            </a:p>
          </p:txBody>
        </p:sp>
        <p:sp>
          <p:nvSpPr>
            <p:cNvPr id="70693" name="Rectangle 69"/>
            <p:cNvSpPr>
              <a:spLocks noChangeArrowheads="1"/>
            </p:cNvSpPr>
            <p:nvPr/>
          </p:nvSpPr>
          <p:spPr bwMode="auto">
            <a:xfrm>
              <a:off x="2107" y="292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70694" name="Rectangle 70"/>
            <p:cNvSpPr>
              <a:spLocks noChangeArrowheads="1"/>
            </p:cNvSpPr>
            <p:nvPr/>
          </p:nvSpPr>
          <p:spPr bwMode="auto">
            <a:xfrm>
              <a:off x="3118" y="285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C</a:t>
              </a:r>
              <a:endParaRPr lang="en-US" altLang="zh-CN"/>
            </a:p>
          </p:txBody>
        </p:sp>
        <p:sp>
          <p:nvSpPr>
            <p:cNvPr id="70695" name="Rectangle 71"/>
            <p:cNvSpPr>
              <a:spLocks noChangeArrowheads="1"/>
            </p:cNvSpPr>
            <p:nvPr/>
          </p:nvSpPr>
          <p:spPr bwMode="auto">
            <a:xfrm>
              <a:off x="3214" y="292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70696" name="Rectangle 72"/>
            <p:cNvSpPr>
              <a:spLocks noChangeArrowheads="1"/>
            </p:cNvSpPr>
            <p:nvPr/>
          </p:nvSpPr>
          <p:spPr bwMode="auto">
            <a:xfrm>
              <a:off x="4213" y="285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C</a:t>
              </a:r>
              <a:endParaRPr lang="en-US" altLang="zh-CN"/>
            </a:p>
          </p:txBody>
        </p:sp>
        <p:sp>
          <p:nvSpPr>
            <p:cNvPr id="70697" name="Rectangle 73"/>
            <p:cNvSpPr>
              <a:spLocks noChangeArrowheads="1"/>
            </p:cNvSpPr>
            <p:nvPr/>
          </p:nvSpPr>
          <p:spPr bwMode="auto">
            <a:xfrm>
              <a:off x="4309" y="292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70698" name="Rectangle 76"/>
            <p:cNvSpPr>
              <a:spLocks noChangeArrowheads="1"/>
            </p:cNvSpPr>
            <p:nvPr/>
          </p:nvSpPr>
          <p:spPr bwMode="auto">
            <a:xfrm>
              <a:off x="1405"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A</a:t>
              </a:r>
              <a:endParaRPr lang="en-US" altLang="zh-CN"/>
            </a:p>
          </p:txBody>
        </p:sp>
        <p:sp>
          <p:nvSpPr>
            <p:cNvPr id="70699" name="Rectangle 77"/>
            <p:cNvSpPr>
              <a:spLocks noChangeArrowheads="1"/>
            </p:cNvSpPr>
            <p:nvPr/>
          </p:nvSpPr>
          <p:spPr bwMode="auto">
            <a:xfrm>
              <a:off x="1490"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3</a:t>
              </a:r>
              <a:endParaRPr lang="en-US" altLang="zh-CN"/>
            </a:p>
          </p:txBody>
        </p:sp>
        <p:sp>
          <p:nvSpPr>
            <p:cNvPr id="70700" name="Rectangle 78"/>
            <p:cNvSpPr>
              <a:spLocks noChangeArrowheads="1"/>
            </p:cNvSpPr>
            <p:nvPr/>
          </p:nvSpPr>
          <p:spPr bwMode="auto">
            <a:xfrm>
              <a:off x="1714"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B</a:t>
              </a:r>
              <a:endParaRPr lang="en-US" altLang="zh-CN"/>
            </a:p>
          </p:txBody>
        </p:sp>
        <p:sp>
          <p:nvSpPr>
            <p:cNvPr id="70701" name="Rectangle 79"/>
            <p:cNvSpPr>
              <a:spLocks noChangeArrowheads="1"/>
            </p:cNvSpPr>
            <p:nvPr/>
          </p:nvSpPr>
          <p:spPr bwMode="auto">
            <a:xfrm>
              <a:off x="1799"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3</a:t>
              </a:r>
              <a:endParaRPr lang="en-US" altLang="zh-CN"/>
            </a:p>
          </p:txBody>
        </p:sp>
        <p:sp>
          <p:nvSpPr>
            <p:cNvPr id="70702" name="Rectangle 80"/>
            <p:cNvSpPr>
              <a:spLocks noChangeArrowheads="1"/>
            </p:cNvSpPr>
            <p:nvPr/>
          </p:nvSpPr>
          <p:spPr bwMode="auto">
            <a:xfrm>
              <a:off x="2512"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A</a:t>
              </a:r>
              <a:endParaRPr lang="en-US" altLang="zh-CN"/>
            </a:p>
          </p:txBody>
        </p:sp>
        <p:sp>
          <p:nvSpPr>
            <p:cNvPr id="70703" name="Rectangle 81"/>
            <p:cNvSpPr>
              <a:spLocks noChangeArrowheads="1"/>
            </p:cNvSpPr>
            <p:nvPr/>
          </p:nvSpPr>
          <p:spPr bwMode="auto">
            <a:xfrm>
              <a:off x="2597"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70704" name="Rectangle 82"/>
            <p:cNvSpPr>
              <a:spLocks noChangeArrowheads="1"/>
            </p:cNvSpPr>
            <p:nvPr/>
          </p:nvSpPr>
          <p:spPr bwMode="auto">
            <a:xfrm>
              <a:off x="2820"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B</a:t>
              </a:r>
              <a:endParaRPr lang="en-US" altLang="zh-CN"/>
            </a:p>
          </p:txBody>
        </p:sp>
        <p:sp>
          <p:nvSpPr>
            <p:cNvPr id="70705" name="Rectangle 83"/>
            <p:cNvSpPr>
              <a:spLocks noChangeArrowheads="1"/>
            </p:cNvSpPr>
            <p:nvPr/>
          </p:nvSpPr>
          <p:spPr bwMode="auto">
            <a:xfrm>
              <a:off x="2905"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70706" name="Rectangle 84"/>
            <p:cNvSpPr>
              <a:spLocks noChangeArrowheads="1"/>
            </p:cNvSpPr>
            <p:nvPr/>
          </p:nvSpPr>
          <p:spPr bwMode="auto">
            <a:xfrm>
              <a:off x="3618"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A</a:t>
              </a:r>
              <a:endParaRPr lang="en-US" altLang="zh-CN"/>
            </a:p>
          </p:txBody>
        </p:sp>
        <p:sp>
          <p:nvSpPr>
            <p:cNvPr id="70707" name="Rectangle 85"/>
            <p:cNvSpPr>
              <a:spLocks noChangeArrowheads="1"/>
            </p:cNvSpPr>
            <p:nvPr/>
          </p:nvSpPr>
          <p:spPr bwMode="auto">
            <a:xfrm>
              <a:off x="3703"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70708" name="Rectangle 86"/>
            <p:cNvSpPr>
              <a:spLocks noChangeArrowheads="1"/>
            </p:cNvSpPr>
            <p:nvPr/>
          </p:nvSpPr>
          <p:spPr bwMode="auto">
            <a:xfrm>
              <a:off x="3926"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B</a:t>
              </a:r>
              <a:endParaRPr lang="en-US" altLang="zh-CN"/>
            </a:p>
          </p:txBody>
        </p:sp>
        <p:sp>
          <p:nvSpPr>
            <p:cNvPr id="70709" name="Rectangle 87"/>
            <p:cNvSpPr>
              <a:spLocks noChangeArrowheads="1"/>
            </p:cNvSpPr>
            <p:nvPr/>
          </p:nvSpPr>
          <p:spPr bwMode="auto">
            <a:xfrm>
              <a:off x="4011"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70710" name="Rectangle 88"/>
            <p:cNvSpPr>
              <a:spLocks noChangeArrowheads="1"/>
            </p:cNvSpPr>
            <p:nvPr/>
          </p:nvSpPr>
          <p:spPr bwMode="auto">
            <a:xfrm>
              <a:off x="4724"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A</a:t>
              </a:r>
              <a:endParaRPr lang="en-US" altLang="zh-CN"/>
            </a:p>
          </p:txBody>
        </p:sp>
        <p:sp>
          <p:nvSpPr>
            <p:cNvPr id="70711" name="Rectangle 89"/>
            <p:cNvSpPr>
              <a:spLocks noChangeArrowheads="1"/>
            </p:cNvSpPr>
            <p:nvPr/>
          </p:nvSpPr>
          <p:spPr bwMode="auto">
            <a:xfrm>
              <a:off x="4809"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70712" name="Rectangle 90"/>
            <p:cNvSpPr>
              <a:spLocks noChangeArrowheads="1"/>
            </p:cNvSpPr>
            <p:nvPr/>
          </p:nvSpPr>
          <p:spPr bwMode="auto">
            <a:xfrm>
              <a:off x="5032" y="3356"/>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B</a:t>
              </a:r>
              <a:endParaRPr lang="en-US" altLang="zh-CN"/>
            </a:p>
          </p:txBody>
        </p:sp>
        <p:sp>
          <p:nvSpPr>
            <p:cNvPr id="70713" name="Rectangle 91"/>
            <p:cNvSpPr>
              <a:spLocks noChangeArrowheads="1"/>
            </p:cNvSpPr>
            <p:nvPr/>
          </p:nvSpPr>
          <p:spPr bwMode="auto">
            <a:xfrm>
              <a:off x="5117" y="343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70714" name="Rectangle 92"/>
            <p:cNvSpPr>
              <a:spLocks noChangeArrowheads="1"/>
            </p:cNvSpPr>
            <p:nvPr/>
          </p:nvSpPr>
          <p:spPr bwMode="auto">
            <a:xfrm>
              <a:off x="1065" y="15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S</a:t>
              </a:r>
              <a:endParaRPr lang="en-US" altLang="zh-CN"/>
            </a:p>
          </p:txBody>
        </p:sp>
        <p:sp>
          <p:nvSpPr>
            <p:cNvPr id="70715" name="Rectangle 93"/>
            <p:cNvSpPr>
              <a:spLocks noChangeArrowheads="1"/>
            </p:cNvSpPr>
            <p:nvPr/>
          </p:nvSpPr>
          <p:spPr bwMode="auto">
            <a:xfrm>
              <a:off x="1139" y="166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3</a:t>
              </a:r>
              <a:endParaRPr lang="en-US" altLang="zh-CN"/>
            </a:p>
          </p:txBody>
        </p:sp>
        <p:sp>
          <p:nvSpPr>
            <p:cNvPr id="70716" name="Rectangle 94"/>
            <p:cNvSpPr>
              <a:spLocks noChangeArrowheads="1"/>
            </p:cNvSpPr>
            <p:nvPr/>
          </p:nvSpPr>
          <p:spPr bwMode="auto">
            <a:xfrm>
              <a:off x="2171" y="15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S</a:t>
              </a:r>
              <a:endParaRPr lang="en-US" altLang="zh-CN"/>
            </a:p>
          </p:txBody>
        </p:sp>
        <p:sp>
          <p:nvSpPr>
            <p:cNvPr id="70717" name="Rectangle 95"/>
            <p:cNvSpPr>
              <a:spLocks noChangeArrowheads="1"/>
            </p:cNvSpPr>
            <p:nvPr/>
          </p:nvSpPr>
          <p:spPr bwMode="auto">
            <a:xfrm>
              <a:off x="2246" y="166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70718" name="Rectangle 96"/>
            <p:cNvSpPr>
              <a:spLocks noChangeArrowheads="1"/>
            </p:cNvSpPr>
            <p:nvPr/>
          </p:nvSpPr>
          <p:spPr bwMode="auto">
            <a:xfrm>
              <a:off x="3224" y="15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S</a:t>
              </a:r>
              <a:endParaRPr lang="en-US" altLang="zh-CN"/>
            </a:p>
          </p:txBody>
        </p:sp>
        <p:sp>
          <p:nvSpPr>
            <p:cNvPr id="70719" name="Rectangle 97"/>
            <p:cNvSpPr>
              <a:spLocks noChangeArrowheads="1"/>
            </p:cNvSpPr>
            <p:nvPr/>
          </p:nvSpPr>
          <p:spPr bwMode="auto">
            <a:xfrm>
              <a:off x="3299" y="166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70720" name="Rectangle 98"/>
            <p:cNvSpPr>
              <a:spLocks noChangeArrowheads="1"/>
            </p:cNvSpPr>
            <p:nvPr/>
          </p:nvSpPr>
          <p:spPr bwMode="auto">
            <a:xfrm>
              <a:off x="4384" y="15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700" i="1">
                  <a:solidFill>
                    <a:srgbClr val="000000"/>
                  </a:solidFill>
                </a:rPr>
                <a:t>S</a:t>
              </a:r>
              <a:endParaRPr lang="en-US" altLang="zh-CN"/>
            </a:p>
          </p:txBody>
        </p:sp>
        <p:sp>
          <p:nvSpPr>
            <p:cNvPr id="70721" name="Rectangle 99"/>
            <p:cNvSpPr>
              <a:spLocks noChangeArrowheads="1"/>
            </p:cNvSpPr>
            <p:nvPr/>
          </p:nvSpPr>
          <p:spPr bwMode="auto">
            <a:xfrm>
              <a:off x="4458" y="166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70722" name="Freeform 100"/>
            <p:cNvSpPr>
              <a:spLocks/>
            </p:cNvSpPr>
            <p:nvPr/>
          </p:nvSpPr>
          <p:spPr bwMode="auto">
            <a:xfrm>
              <a:off x="5232" y="2832"/>
              <a:ext cx="192" cy="192"/>
            </a:xfrm>
            <a:custGeom>
              <a:avLst/>
              <a:gdLst>
                <a:gd name="T0" fmla="*/ 0 w 192"/>
                <a:gd name="T1" fmla="*/ 0 h 528"/>
                <a:gd name="T2" fmla="*/ 192 w 192"/>
                <a:gd name="T3" fmla="*/ 0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0"/>
                  </a:moveTo>
                  <a:lnTo>
                    <a:pt x="192" y="0"/>
                  </a:lnTo>
                  <a:lnTo>
                    <a:pt x="192" y="528"/>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0723" name="Line 101"/>
            <p:cNvSpPr>
              <a:spLocks noChangeShapeType="1"/>
            </p:cNvSpPr>
            <p:nvPr/>
          </p:nvSpPr>
          <p:spPr bwMode="auto">
            <a:xfrm>
              <a:off x="5328" y="3024"/>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0724" name="Freeform 102"/>
            <p:cNvSpPr>
              <a:spLocks/>
            </p:cNvSpPr>
            <p:nvPr/>
          </p:nvSpPr>
          <p:spPr bwMode="auto">
            <a:xfrm>
              <a:off x="624" y="1776"/>
              <a:ext cx="720" cy="1056"/>
            </a:xfrm>
            <a:custGeom>
              <a:avLst/>
              <a:gdLst>
                <a:gd name="T0" fmla="*/ 720 w 720"/>
                <a:gd name="T1" fmla="*/ 1056 h 1056"/>
                <a:gd name="T2" fmla="*/ 0 w 720"/>
                <a:gd name="T3" fmla="*/ 1056 h 1056"/>
                <a:gd name="T4" fmla="*/ 0 w 720"/>
                <a:gd name="T5" fmla="*/ 0 h 1056"/>
                <a:gd name="T6" fmla="*/ 0 60000 65536"/>
                <a:gd name="T7" fmla="*/ 0 60000 65536"/>
                <a:gd name="T8" fmla="*/ 0 60000 65536"/>
                <a:gd name="T9" fmla="*/ 0 w 720"/>
                <a:gd name="T10" fmla="*/ 0 h 1056"/>
                <a:gd name="T11" fmla="*/ 720 w 720"/>
                <a:gd name="T12" fmla="*/ 1056 h 1056"/>
              </a:gdLst>
              <a:ahLst/>
              <a:cxnLst>
                <a:cxn ang="T6">
                  <a:pos x="T0" y="T1"/>
                </a:cxn>
                <a:cxn ang="T7">
                  <a:pos x="T2" y="T3"/>
                </a:cxn>
                <a:cxn ang="T8">
                  <a:pos x="T4" y="T5"/>
                </a:cxn>
              </a:cxnLst>
              <a:rect l="T9" t="T10" r="T11" b="T12"/>
              <a:pathLst>
                <a:path w="720" h="1056">
                  <a:moveTo>
                    <a:pt x="720" y="1056"/>
                  </a:moveTo>
                  <a:lnTo>
                    <a:pt x="0" y="1056"/>
                  </a:lnTo>
                  <a:lnTo>
                    <a:pt x="0" y="0"/>
                  </a:lnTo>
                </a:path>
              </a:pathLst>
            </a:custGeom>
            <a:noFill/>
            <a:ln w="17463">
              <a:solidFill>
                <a:srgbClr val="000000"/>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25" name="Freeform 103"/>
            <p:cNvSpPr>
              <a:spLocks/>
            </p:cNvSpPr>
            <p:nvPr/>
          </p:nvSpPr>
          <p:spPr bwMode="auto">
            <a:xfrm>
              <a:off x="2246" y="1776"/>
              <a:ext cx="202" cy="360"/>
            </a:xfrm>
            <a:custGeom>
              <a:avLst/>
              <a:gdLst>
                <a:gd name="T0" fmla="*/ 0 w 202"/>
                <a:gd name="T1" fmla="*/ 0 h 339"/>
                <a:gd name="T2" fmla="*/ 0 w 202"/>
                <a:gd name="T3" fmla="*/ 942 h 339"/>
                <a:gd name="T4" fmla="*/ 202 w 202"/>
                <a:gd name="T5" fmla="*/ 942 h 339"/>
                <a:gd name="T6" fmla="*/ 0 60000 65536"/>
                <a:gd name="T7" fmla="*/ 0 60000 65536"/>
                <a:gd name="T8" fmla="*/ 0 60000 65536"/>
                <a:gd name="T9" fmla="*/ 0 w 202"/>
                <a:gd name="T10" fmla="*/ 0 h 339"/>
                <a:gd name="T11" fmla="*/ 202 w 202"/>
                <a:gd name="T12" fmla="*/ 339 h 339"/>
              </a:gdLst>
              <a:ahLst/>
              <a:cxnLst>
                <a:cxn ang="T6">
                  <a:pos x="T0" y="T1"/>
                </a:cxn>
                <a:cxn ang="T7">
                  <a:pos x="T2" y="T3"/>
                </a:cxn>
                <a:cxn ang="T8">
                  <a:pos x="T4" y="T5"/>
                </a:cxn>
              </a:cxnLst>
              <a:rect l="T9" t="T10" r="T11" b="T12"/>
              <a:pathLst>
                <a:path w="202" h="339">
                  <a:moveTo>
                    <a:pt x="0" y="0"/>
                  </a:moveTo>
                  <a:lnTo>
                    <a:pt x="0" y="339"/>
                  </a:lnTo>
                  <a:lnTo>
                    <a:pt x="202" y="339"/>
                  </a:lnTo>
                </a:path>
              </a:pathLst>
            </a:custGeom>
            <a:noFill/>
            <a:ln w="17463">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26" name="Freeform 104"/>
            <p:cNvSpPr>
              <a:spLocks/>
            </p:cNvSpPr>
            <p:nvPr/>
          </p:nvSpPr>
          <p:spPr bwMode="auto">
            <a:xfrm>
              <a:off x="3350" y="1776"/>
              <a:ext cx="202" cy="360"/>
            </a:xfrm>
            <a:custGeom>
              <a:avLst/>
              <a:gdLst>
                <a:gd name="T0" fmla="*/ 0 w 202"/>
                <a:gd name="T1" fmla="*/ 0 h 339"/>
                <a:gd name="T2" fmla="*/ 0 w 202"/>
                <a:gd name="T3" fmla="*/ 942 h 339"/>
                <a:gd name="T4" fmla="*/ 202 w 202"/>
                <a:gd name="T5" fmla="*/ 942 h 339"/>
                <a:gd name="T6" fmla="*/ 0 60000 65536"/>
                <a:gd name="T7" fmla="*/ 0 60000 65536"/>
                <a:gd name="T8" fmla="*/ 0 60000 65536"/>
                <a:gd name="T9" fmla="*/ 0 w 202"/>
                <a:gd name="T10" fmla="*/ 0 h 339"/>
                <a:gd name="T11" fmla="*/ 202 w 202"/>
                <a:gd name="T12" fmla="*/ 339 h 339"/>
              </a:gdLst>
              <a:ahLst/>
              <a:cxnLst>
                <a:cxn ang="T6">
                  <a:pos x="T0" y="T1"/>
                </a:cxn>
                <a:cxn ang="T7">
                  <a:pos x="T2" y="T3"/>
                </a:cxn>
                <a:cxn ang="T8">
                  <a:pos x="T4" y="T5"/>
                </a:cxn>
              </a:cxnLst>
              <a:rect l="T9" t="T10" r="T11" b="T12"/>
              <a:pathLst>
                <a:path w="202" h="339">
                  <a:moveTo>
                    <a:pt x="0" y="0"/>
                  </a:moveTo>
                  <a:lnTo>
                    <a:pt x="0" y="339"/>
                  </a:lnTo>
                  <a:lnTo>
                    <a:pt x="202" y="339"/>
                  </a:lnTo>
                </a:path>
              </a:pathLst>
            </a:custGeom>
            <a:noFill/>
            <a:ln w="17463">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27" name="Freeform 105"/>
            <p:cNvSpPr>
              <a:spLocks/>
            </p:cNvSpPr>
            <p:nvPr/>
          </p:nvSpPr>
          <p:spPr bwMode="auto">
            <a:xfrm>
              <a:off x="4454" y="1776"/>
              <a:ext cx="202" cy="360"/>
            </a:xfrm>
            <a:custGeom>
              <a:avLst/>
              <a:gdLst>
                <a:gd name="T0" fmla="*/ 0 w 202"/>
                <a:gd name="T1" fmla="*/ 0 h 339"/>
                <a:gd name="T2" fmla="*/ 0 w 202"/>
                <a:gd name="T3" fmla="*/ 942 h 339"/>
                <a:gd name="T4" fmla="*/ 202 w 202"/>
                <a:gd name="T5" fmla="*/ 942 h 339"/>
                <a:gd name="T6" fmla="*/ 0 60000 65536"/>
                <a:gd name="T7" fmla="*/ 0 60000 65536"/>
                <a:gd name="T8" fmla="*/ 0 60000 65536"/>
                <a:gd name="T9" fmla="*/ 0 w 202"/>
                <a:gd name="T10" fmla="*/ 0 h 339"/>
                <a:gd name="T11" fmla="*/ 202 w 202"/>
                <a:gd name="T12" fmla="*/ 339 h 339"/>
              </a:gdLst>
              <a:ahLst/>
              <a:cxnLst>
                <a:cxn ang="T6">
                  <a:pos x="T0" y="T1"/>
                </a:cxn>
                <a:cxn ang="T7">
                  <a:pos x="T2" y="T3"/>
                </a:cxn>
                <a:cxn ang="T8">
                  <a:pos x="T4" y="T5"/>
                </a:cxn>
              </a:cxnLst>
              <a:rect l="T9" t="T10" r="T11" b="T12"/>
              <a:pathLst>
                <a:path w="202" h="339">
                  <a:moveTo>
                    <a:pt x="0" y="0"/>
                  </a:moveTo>
                  <a:lnTo>
                    <a:pt x="0" y="339"/>
                  </a:lnTo>
                  <a:lnTo>
                    <a:pt x="202" y="339"/>
                  </a:lnTo>
                </a:path>
              </a:pathLst>
            </a:custGeom>
            <a:noFill/>
            <a:ln w="17463">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28" name="Line 106"/>
            <p:cNvSpPr>
              <a:spLocks noChangeShapeType="1"/>
            </p:cNvSpPr>
            <p:nvPr/>
          </p:nvSpPr>
          <p:spPr bwMode="auto">
            <a:xfrm flipV="1">
              <a:off x="1768"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29" name="Line 107"/>
            <p:cNvSpPr>
              <a:spLocks noChangeShapeType="1"/>
            </p:cNvSpPr>
            <p:nvPr/>
          </p:nvSpPr>
          <p:spPr bwMode="auto">
            <a:xfrm flipV="1">
              <a:off x="2584"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0" name="Line 108"/>
            <p:cNvSpPr>
              <a:spLocks noChangeShapeType="1"/>
            </p:cNvSpPr>
            <p:nvPr/>
          </p:nvSpPr>
          <p:spPr bwMode="auto">
            <a:xfrm flipV="1">
              <a:off x="2880"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1" name="Line 109"/>
            <p:cNvSpPr>
              <a:spLocks noChangeShapeType="1"/>
            </p:cNvSpPr>
            <p:nvPr/>
          </p:nvSpPr>
          <p:spPr bwMode="auto">
            <a:xfrm flipV="1">
              <a:off x="3688"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2" name="Line 110"/>
            <p:cNvSpPr>
              <a:spLocks noChangeShapeType="1"/>
            </p:cNvSpPr>
            <p:nvPr/>
          </p:nvSpPr>
          <p:spPr bwMode="auto">
            <a:xfrm flipV="1">
              <a:off x="3976"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3" name="Line 111"/>
            <p:cNvSpPr>
              <a:spLocks noChangeShapeType="1"/>
            </p:cNvSpPr>
            <p:nvPr/>
          </p:nvSpPr>
          <p:spPr bwMode="auto">
            <a:xfrm flipV="1">
              <a:off x="4800"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4" name="Line 112"/>
            <p:cNvSpPr>
              <a:spLocks noChangeShapeType="1"/>
            </p:cNvSpPr>
            <p:nvPr/>
          </p:nvSpPr>
          <p:spPr bwMode="auto">
            <a:xfrm flipV="1">
              <a:off x="5080" y="2928"/>
              <a:ext cx="8" cy="417"/>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5" name="Line 114"/>
            <p:cNvSpPr>
              <a:spLocks noChangeShapeType="1"/>
            </p:cNvSpPr>
            <p:nvPr/>
          </p:nvSpPr>
          <p:spPr bwMode="auto">
            <a:xfrm flipH="1">
              <a:off x="3035" y="2832"/>
              <a:ext cx="517" cy="1"/>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736" name="Line 115"/>
            <p:cNvSpPr>
              <a:spLocks noChangeShapeType="1"/>
            </p:cNvSpPr>
            <p:nvPr/>
          </p:nvSpPr>
          <p:spPr bwMode="auto">
            <a:xfrm flipH="1">
              <a:off x="4139" y="2832"/>
              <a:ext cx="517" cy="1"/>
            </a:xfrm>
            <a:prstGeom prst="line">
              <a:avLst/>
            </a:prstGeom>
            <a:noFill/>
            <a:ln w="17463">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67163FBA-B1BF-4604-A426-046A27E6E366}"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061B3428-0739-4286-9810-8A87ECD94389}" type="slidenum">
              <a:rPr lang="en-US" altLang="zh-CN" smtClean="0"/>
              <a:pPr>
                <a:defRPr/>
              </a:pPr>
              <a:t>72</a:t>
            </a:fld>
            <a:endParaRPr lang="en-US" altLang="zh-CN"/>
          </a:p>
        </p:txBody>
      </p:sp>
      <p:graphicFrame>
        <p:nvGraphicFramePr>
          <p:cNvPr id="101378" name="Object 2"/>
          <p:cNvGraphicFramePr>
            <a:graphicFrameLocks noChangeAspect="1"/>
          </p:cNvGraphicFramePr>
          <p:nvPr/>
        </p:nvGraphicFramePr>
        <p:xfrm>
          <a:off x="0" y="2071688"/>
          <a:ext cx="8845550" cy="4256087"/>
        </p:xfrm>
        <a:graphic>
          <a:graphicData uri="http://schemas.openxmlformats.org/presentationml/2006/ole">
            <mc:AlternateContent xmlns:mc="http://schemas.openxmlformats.org/markup-compatibility/2006">
              <mc:Choice xmlns:v="urn:schemas-microsoft-com:vml" Requires="v">
                <p:oleObj spid="_x0000_s71694" name="公式" r:id="rId5" imgW="4064000" imgH="1955800" progId="Equation.3">
                  <p:embed/>
                </p:oleObj>
              </mc:Choice>
              <mc:Fallback>
                <p:oleObj name="公式" r:id="rId5" imgW="4064000" imgH="19558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071688"/>
                        <a:ext cx="8845550" cy="42560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79" name="Object 3"/>
          <p:cNvGraphicFramePr>
            <a:graphicFrameLocks noChangeAspect="1"/>
          </p:cNvGraphicFramePr>
          <p:nvPr/>
        </p:nvGraphicFramePr>
        <p:xfrm>
          <a:off x="1071563" y="1000125"/>
          <a:ext cx="5776912" cy="554038"/>
        </p:xfrm>
        <a:graphic>
          <a:graphicData uri="http://schemas.openxmlformats.org/presentationml/2006/ole">
            <mc:AlternateContent xmlns:mc="http://schemas.openxmlformats.org/markup-compatibility/2006">
              <mc:Choice xmlns:v="urn:schemas-microsoft-com:vml" Requires="v">
                <p:oleObj spid="_x0000_s71695" name="公式" r:id="rId7" imgW="2387600" imgH="228600" progId="Equation.3">
                  <p:embed/>
                </p:oleObj>
              </mc:Choice>
              <mc:Fallback>
                <p:oleObj name="公式" r:id="rId7" imgW="2387600" imgH="228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1563" y="1000125"/>
                        <a:ext cx="5776912" cy="55403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dissolve">
                                      <p:cBhvr>
                                        <p:cTn id="7" dur="500"/>
                                        <p:tgtEl>
                                          <p:spTgt spid="101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01379"/>
                                        </p:tgtEl>
                                        <p:attrNameLst>
                                          <p:attrName>style.visibility</p:attrName>
                                        </p:attrNameLst>
                                      </p:cBhvr>
                                      <p:to>
                                        <p:strVal val="visible"/>
                                      </p:to>
                                    </p:set>
                                    <p:animEffect transition="in" filter="box(out)">
                                      <p:cBhvr>
                                        <p:cTn id="12" dur="500"/>
                                        <p:tgtEl>
                                          <p:spTgt spid="101379"/>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489326D2-EEE8-4BFF-BEC6-9469CF213AB8}"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584806BE-88ED-489B-A7B7-032D711C78B6}" type="slidenum">
              <a:rPr lang="en-US" altLang="zh-CN" smtClean="0"/>
              <a:pPr>
                <a:defRPr/>
              </a:pPr>
              <a:t>73</a:t>
            </a:fld>
            <a:endParaRPr lang="en-US" altLang="zh-CN"/>
          </a:p>
        </p:txBody>
      </p:sp>
      <p:pic>
        <p:nvPicPr>
          <p:cNvPr id="72708"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28813"/>
            <a:ext cx="88392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201D0285-3AAE-4037-B10C-3FEFECFE2776}" type="datetime1">
              <a:rPr lang="zh-CN" altLang="en-US"/>
              <a:pPr>
                <a:defRPr/>
              </a:pPr>
              <a:t>2020/10/10</a:t>
            </a:fld>
            <a:endParaRPr lang="en-US" altLang="zh-CN"/>
          </a:p>
        </p:txBody>
      </p:sp>
      <p:sp>
        <p:nvSpPr>
          <p:cNvPr id="9" name="灯片编号占位符 5"/>
          <p:cNvSpPr>
            <a:spLocks noGrp="1"/>
          </p:cNvSpPr>
          <p:nvPr>
            <p:ph type="sldNum" sz="quarter" idx="12"/>
          </p:nvPr>
        </p:nvSpPr>
        <p:spPr/>
        <p:txBody>
          <a:bodyPr/>
          <a:lstStyle/>
          <a:p>
            <a:pPr>
              <a:defRPr/>
            </a:pPr>
            <a:fld id="{4F448AC0-EF57-439C-A69E-F5CDF0945070}" type="slidenum">
              <a:rPr lang="en-US" altLang="zh-CN"/>
              <a:pPr>
                <a:defRPr/>
              </a:pPr>
              <a:t>74</a:t>
            </a:fld>
            <a:endParaRPr lang="en-US" altLang="zh-CN"/>
          </a:p>
        </p:txBody>
      </p:sp>
      <p:sp>
        <p:nvSpPr>
          <p:cNvPr id="73732" name="Rectangle 2"/>
          <p:cNvSpPr>
            <a:spLocks noGrp="1" noChangeArrowheads="1"/>
          </p:cNvSpPr>
          <p:nvPr>
            <p:ph type="body" idx="1"/>
          </p:nvPr>
        </p:nvSpPr>
        <p:spPr/>
        <p:txBody>
          <a:bodyPr/>
          <a:lstStyle/>
          <a:p>
            <a:pPr eaLnBrk="1" hangingPunct="1"/>
            <a:endParaRPr lang="zh-CN" altLang="zh-CN" smtClean="0">
              <a:latin typeface="Times New Roman" pitchFamily="18" charset="0"/>
            </a:endParaRPr>
          </a:p>
        </p:txBody>
      </p:sp>
      <p:sp>
        <p:nvSpPr>
          <p:cNvPr id="73733" name="Rectangle 3"/>
          <p:cNvSpPr>
            <a:spLocks noGrp="1" noChangeArrowheads="1"/>
          </p:cNvSpPr>
          <p:nvPr>
            <p:ph type="title"/>
          </p:nvPr>
        </p:nvSpPr>
        <p:spPr>
          <a:xfrm>
            <a:off x="1274763" y="533400"/>
            <a:ext cx="7793037" cy="609600"/>
          </a:xfrm>
        </p:spPr>
        <p:txBody>
          <a:bodyPr/>
          <a:lstStyle/>
          <a:p>
            <a:pPr eaLnBrk="1" hangingPunct="1"/>
            <a:endParaRPr lang="zh-CN" altLang="zh-CN" sz="3600" smtClean="0"/>
          </a:p>
        </p:txBody>
      </p:sp>
      <p:sp>
        <p:nvSpPr>
          <p:cNvPr id="73734" name="Rectangle 323"/>
          <p:cNvSpPr>
            <a:spLocks noChangeArrowheads="1"/>
          </p:cNvSpPr>
          <p:nvPr/>
        </p:nvSpPr>
        <p:spPr bwMode="auto">
          <a:xfrm>
            <a:off x="0" y="0"/>
            <a:ext cx="9372600" cy="70866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73735" name="Rectangle 481"/>
          <p:cNvSpPr>
            <a:spLocks noChangeArrowheads="1"/>
          </p:cNvSpPr>
          <p:nvPr/>
        </p:nvSpPr>
        <p:spPr bwMode="auto">
          <a:xfrm>
            <a:off x="657225" y="62865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a:p>
        </p:txBody>
      </p:sp>
      <p:sp>
        <p:nvSpPr>
          <p:cNvPr id="73736" name="Text Box 325"/>
          <p:cNvSpPr txBox="1">
            <a:spLocks noChangeArrowheads="1"/>
          </p:cNvSpPr>
          <p:nvPr/>
        </p:nvSpPr>
        <p:spPr bwMode="auto">
          <a:xfrm>
            <a:off x="6096000" y="1676400"/>
            <a:ext cx="3048000" cy="1320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t>典型的超前进位二进制并行加法器</a:t>
            </a:r>
            <a:r>
              <a:rPr lang="en-US" altLang="zh-CN" sz="2000" b="1"/>
              <a:t>74LS283</a:t>
            </a:r>
            <a:r>
              <a:rPr lang="zh-CN" altLang="en-US" sz="2000" b="1"/>
              <a:t>的逻辑图与引脚图</a:t>
            </a:r>
          </a:p>
          <a:p>
            <a:pPr eaLnBrk="1" hangingPunct="1"/>
            <a:r>
              <a:rPr lang="en-US" altLang="zh-CN" sz="2000" b="1"/>
              <a:t>(a) </a:t>
            </a:r>
            <a:r>
              <a:rPr lang="zh-CN" altLang="en-US" sz="2000" b="1"/>
              <a:t>逻辑图； </a:t>
            </a:r>
            <a:r>
              <a:rPr lang="en-US" altLang="zh-CN" sz="2000" b="1"/>
              <a:t>(b) </a:t>
            </a:r>
            <a:r>
              <a:rPr lang="zh-CN" altLang="en-US" sz="2000" b="1"/>
              <a:t>引脚图 </a:t>
            </a:r>
          </a:p>
        </p:txBody>
      </p:sp>
      <p:graphicFrame>
        <p:nvGraphicFramePr>
          <p:cNvPr id="73737" name="Object 638"/>
          <p:cNvGraphicFramePr>
            <a:graphicFrameLocks noChangeAspect="1"/>
          </p:cNvGraphicFramePr>
          <p:nvPr/>
        </p:nvGraphicFramePr>
        <p:xfrm>
          <a:off x="914400" y="508000"/>
          <a:ext cx="7800975" cy="6350000"/>
        </p:xfrm>
        <a:graphic>
          <a:graphicData uri="http://schemas.openxmlformats.org/presentationml/2006/ole">
            <mc:AlternateContent xmlns:mc="http://schemas.openxmlformats.org/markup-compatibility/2006">
              <mc:Choice xmlns:v="urn:schemas-microsoft-com:vml" Requires="v">
                <p:oleObj spid="_x0000_s73742" name="VISIO" r:id="rId4" imgW="5105400" imgH="4732020" progId="">
                  <p:embed/>
                </p:oleObj>
              </mc:Choice>
              <mc:Fallback>
                <p:oleObj name="VISIO" r:id="rId4" imgW="5105400" imgH="4732020" progId="">
                  <p:embed/>
                  <p:pic>
                    <p:nvPicPr>
                      <p:cNvPr id="0" name="Object 6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08000"/>
                        <a:ext cx="7800975" cy="63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日期占位符 3"/>
          <p:cNvSpPr>
            <a:spLocks noGrp="1"/>
          </p:cNvSpPr>
          <p:nvPr>
            <p:ph type="dt" sz="quarter" idx="10"/>
          </p:nvPr>
        </p:nvSpPr>
        <p:spPr/>
        <p:txBody>
          <a:bodyPr/>
          <a:lstStyle/>
          <a:p>
            <a:pPr>
              <a:defRPr/>
            </a:pPr>
            <a:fld id="{E4234F9D-D1AC-4123-B6F3-11A410DAEDCA}" type="datetime1">
              <a:rPr lang="zh-CN" altLang="en-US"/>
              <a:pPr>
                <a:defRPr/>
              </a:pPr>
              <a:t>2020/10/10</a:t>
            </a:fld>
            <a:endParaRPr lang="en-US" altLang="zh-CN"/>
          </a:p>
        </p:txBody>
      </p:sp>
      <p:sp>
        <p:nvSpPr>
          <p:cNvPr id="77" name="灯片编号占位符 5"/>
          <p:cNvSpPr>
            <a:spLocks noGrp="1"/>
          </p:cNvSpPr>
          <p:nvPr>
            <p:ph type="sldNum" sz="quarter" idx="12"/>
          </p:nvPr>
        </p:nvSpPr>
        <p:spPr/>
        <p:txBody>
          <a:bodyPr/>
          <a:lstStyle/>
          <a:p>
            <a:pPr>
              <a:defRPr/>
            </a:pPr>
            <a:fld id="{4D795CDA-FA36-4CAF-AD50-861ED681818B}" type="slidenum">
              <a:rPr lang="en-US" altLang="zh-CN"/>
              <a:pPr>
                <a:defRPr/>
              </a:pPr>
              <a:t>75</a:t>
            </a:fld>
            <a:endParaRPr lang="en-US" altLang="zh-CN"/>
          </a:p>
        </p:txBody>
      </p:sp>
      <p:sp>
        <p:nvSpPr>
          <p:cNvPr id="74756" name="Rectangle 2"/>
          <p:cNvSpPr>
            <a:spLocks noGrp="1" noChangeArrowheads="1"/>
          </p:cNvSpPr>
          <p:nvPr>
            <p:ph type="title"/>
          </p:nvPr>
        </p:nvSpPr>
        <p:spPr/>
        <p:txBody>
          <a:bodyPr/>
          <a:lstStyle/>
          <a:p>
            <a:pPr eaLnBrk="1" hangingPunct="1"/>
            <a:r>
              <a:rPr lang="zh-CN" altLang="en-US" b="1" smtClean="0"/>
              <a:t>全加器的应用</a:t>
            </a:r>
          </a:p>
        </p:txBody>
      </p:sp>
      <p:sp>
        <p:nvSpPr>
          <p:cNvPr id="74757" name="Rectangle 3"/>
          <p:cNvSpPr>
            <a:spLocks noGrp="1" noChangeArrowheads="1"/>
          </p:cNvSpPr>
          <p:nvPr>
            <p:ph type="body" idx="1"/>
          </p:nvPr>
        </p:nvSpPr>
        <p:spPr/>
        <p:txBody>
          <a:bodyPr/>
          <a:lstStyle/>
          <a:p>
            <a:pPr eaLnBrk="1" hangingPunct="1"/>
            <a:r>
              <a:rPr lang="zh-CN" altLang="en-US" b="1" smtClean="0"/>
              <a:t>试用全加器构成二进制减法器。</a:t>
            </a:r>
          </a:p>
          <a:p>
            <a:pPr lvl="1" eaLnBrk="1" hangingPunct="1"/>
            <a:r>
              <a:rPr lang="zh-CN" altLang="en-US" b="1" smtClean="0"/>
              <a:t>解：利用“补码”的概念，即可将减法用加法来实现，下图即为全加器完成减法功能的电路。 </a:t>
            </a:r>
          </a:p>
        </p:txBody>
      </p:sp>
      <p:grpSp>
        <p:nvGrpSpPr>
          <p:cNvPr id="74758" name="Group 76"/>
          <p:cNvGrpSpPr>
            <a:grpSpLocks/>
          </p:cNvGrpSpPr>
          <p:nvPr/>
        </p:nvGrpSpPr>
        <p:grpSpPr bwMode="auto">
          <a:xfrm>
            <a:off x="1909763" y="3030538"/>
            <a:ext cx="5862637" cy="3368675"/>
            <a:chOff x="932" y="1909"/>
            <a:chExt cx="3693" cy="2122"/>
          </a:xfrm>
        </p:grpSpPr>
        <p:sp>
          <p:nvSpPr>
            <p:cNvPr id="74759" name="Rectangle 5"/>
            <p:cNvSpPr>
              <a:spLocks noChangeArrowheads="1"/>
            </p:cNvSpPr>
            <p:nvPr/>
          </p:nvSpPr>
          <p:spPr bwMode="auto">
            <a:xfrm>
              <a:off x="1299" y="2836"/>
              <a:ext cx="2788" cy="74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60" name="Rectangle 6"/>
            <p:cNvSpPr>
              <a:spLocks noChangeArrowheads="1"/>
            </p:cNvSpPr>
            <p:nvPr/>
          </p:nvSpPr>
          <p:spPr bwMode="auto">
            <a:xfrm>
              <a:off x="2473" y="3092"/>
              <a:ext cx="5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Times"/>
                </a:rPr>
                <a:t>74283</a:t>
              </a:r>
              <a:endParaRPr lang="en-US" altLang="zh-CN"/>
            </a:p>
          </p:txBody>
        </p:sp>
        <p:sp>
          <p:nvSpPr>
            <p:cNvPr id="74761" name="Line 7"/>
            <p:cNvSpPr>
              <a:spLocks noChangeShapeType="1"/>
            </p:cNvSpPr>
            <p:nvPr/>
          </p:nvSpPr>
          <p:spPr bwMode="auto">
            <a:xfrm>
              <a:off x="2375" y="2543"/>
              <a:ext cx="1" cy="2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2" name="Rectangle 8"/>
            <p:cNvSpPr>
              <a:spLocks noChangeArrowheads="1"/>
            </p:cNvSpPr>
            <p:nvPr/>
          </p:nvSpPr>
          <p:spPr bwMode="auto">
            <a:xfrm>
              <a:off x="2192" y="2336"/>
              <a:ext cx="367" cy="207"/>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4763" name="Line 9"/>
            <p:cNvSpPr>
              <a:spLocks noChangeShapeType="1"/>
            </p:cNvSpPr>
            <p:nvPr/>
          </p:nvSpPr>
          <p:spPr bwMode="auto">
            <a:xfrm>
              <a:off x="2828" y="2543"/>
              <a:ext cx="1" cy="2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4" name="Rectangle 10"/>
            <p:cNvSpPr>
              <a:spLocks noChangeArrowheads="1"/>
            </p:cNvSpPr>
            <p:nvPr/>
          </p:nvSpPr>
          <p:spPr bwMode="auto">
            <a:xfrm>
              <a:off x="2644" y="2336"/>
              <a:ext cx="367" cy="207"/>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4765" name="Line 11"/>
            <p:cNvSpPr>
              <a:spLocks noChangeShapeType="1"/>
            </p:cNvSpPr>
            <p:nvPr/>
          </p:nvSpPr>
          <p:spPr bwMode="auto">
            <a:xfrm>
              <a:off x="3280" y="2543"/>
              <a:ext cx="1" cy="2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6" name="Rectangle 12"/>
            <p:cNvSpPr>
              <a:spLocks noChangeArrowheads="1"/>
            </p:cNvSpPr>
            <p:nvPr/>
          </p:nvSpPr>
          <p:spPr bwMode="auto">
            <a:xfrm>
              <a:off x="3097" y="2336"/>
              <a:ext cx="367" cy="207"/>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4767" name="Line 13"/>
            <p:cNvSpPr>
              <a:spLocks noChangeShapeType="1"/>
            </p:cNvSpPr>
            <p:nvPr/>
          </p:nvSpPr>
          <p:spPr bwMode="auto">
            <a:xfrm>
              <a:off x="3733" y="2543"/>
              <a:ext cx="1" cy="2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8" name="Rectangle 14"/>
            <p:cNvSpPr>
              <a:spLocks noChangeArrowheads="1"/>
            </p:cNvSpPr>
            <p:nvPr/>
          </p:nvSpPr>
          <p:spPr bwMode="auto">
            <a:xfrm>
              <a:off x="3549" y="2336"/>
              <a:ext cx="355" cy="207"/>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4769" name="Line 15"/>
            <p:cNvSpPr>
              <a:spLocks noChangeShapeType="1"/>
            </p:cNvSpPr>
            <p:nvPr/>
          </p:nvSpPr>
          <p:spPr bwMode="auto">
            <a:xfrm>
              <a:off x="2375" y="2092"/>
              <a:ext cx="1" cy="2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0" name="Line 16"/>
            <p:cNvSpPr>
              <a:spLocks noChangeShapeType="1"/>
            </p:cNvSpPr>
            <p:nvPr/>
          </p:nvSpPr>
          <p:spPr bwMode="auto">
            <a:xfrm>
              <a:off x="2828" y="2092"/>
              <a:ext cx="1" cy="2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1" name="Line 17"/>
            <p:cNvSpPr>
              <a:spLocks noChangeShapeType="1"/>
            </p:cNvSpPr>
            <p:nvPr/>
          </p:nvSpPr>
          <p:spPr bwMode="auto">
            <a:xfrm>
              <a:off x="3280" y="2092"/>
              <a:ext cx="1" cy="2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2" name="Line 18"/>
            <p:cNvSpPr>
              <a:spLocks noChangeShapeType="1"/>
            </p:cNvSpPr>
            <p:nvPr/>
          </p:nvSpPr>
          <p:spPr bwMode="auto">
            <a:xfrm>
              <a:off x="3733" y="2092"/>
              <a:ext cx="1" cy="2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3" name="Rectangle 19"/>
            <p:cNvSpPr>
              <a:spLocks noChangeArrowheads="1"/>
            </p:cNvSpPr>
            <p:nvPr/>
          </p:nvSpPr>
          <p:spPr bwMode="auto">
            <a:xfrm>
              <a:off x="2290" y="190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4774" name="Rectangle 20"/>
            <p:cNvSpPr>
              <a:spLocks noChangeArrowheads="1"/>
            </p:cNvSpPr>
            <p:nvPr/>
          </p:nvSpPr>
          <p:spPr bwMode="auto">
            <a:xfrm>
              <a:off x="2388" y="199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3</a:t>
              </a:r>
              <a:endParaRPr lang="en-US" altLang="zh-CN"/>
            </a:p>
          </p:txBody>
        </p:sp>
        <p:sp>
          <p:nvSpPr>
            <p:cNvPr id="74775" name="Rectangle 21"/>
            <p:cNvSpPr>
              <a:spLocks noChangeArrowheads="1"/>
            </p:cNvSpPr>
            <p:nvPr/>
          </p:nvSpPr>
          <p:spPr bwMode="auto">
            <a:xfrm>
              <a:off x="2742" y="190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4776" name="Rectangle 22"/>
            <p:cNvSpPr>
              <a:spLocks noChangeArrowheads="1"/>
            </p:cNvSpPr>
            <p:nvPr/>
          </p:nvSpPr>
          <p:spPr bwMode="auto">
            <a:xfrm>
              <a:off x="2840" y="199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74777" name="Rectangle 23"/>
            <p:cNvSpPr>
              <a:spLocks noChangeArrowheads="1"/>
            </p:cNvSpPr>
            <p:nvPr/>
          </p:nvSpPr>
          <p:spPr bwMode="auto">
            <a:xfrm>
              <a:off x="3195" y="190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4778" name="Rectangle 24"/>
            <p:cNvSpPr>
              <a:spLocks noChangeArrowheads="1"/>
            </p:cNvSpPr>
            <p:nvPr/>
          </p:nvSpPr>
          <p:spPr bwMode="auto">
            <a:xfrm>
              <a:off x="3292" y="199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4779" name="Rectangle 25"/>
            <p:cNvSpPr>
              <a:spLocks noChangeArrowheads="1"/>
            </p:cNvSpPr>
            <p:nvPr/>
          </p:nvSpPr>
          <p:spPr bwMode="auto">
            <a:xfrm>
              <a:off x="3647" y="190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4780" name="Rectangle 26"/>
            <p:cNvSpPr>
              <a:spLocks noChangeArrowheads="1"/>
            </p:cNvSpPr>
            <p:nvPr/>
          </p:nvSpPr>
          <p:spPr bwMode="auto">
            <a:xfrm>
              <a:off x="3745" y="199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4781" name="Line 27"/>
            <p:cNvSpPr>
              <a:spLocks noChangeShapeType="1"/>
            </p:cNvSpPr>
            <p:nvPr/>
          </p:nvSpPr>
          <p:spPr bwMode="auto">
            <a:xfrm>
              <a:off x="1837" y="3580"/>
              <a:ext cx="1" cy="2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2" name="Line 28"/>
            <p:cNvSpPr>
              <a:spLocks noChangeShapeType="1"/>
            </p:cNvSpPr>
            <p:nvPr/>
          </p:nvSpPr>
          <p:spPr bwMode="auto">
            <a:xfrm>
              <a:off x="2461" y="3580"/>
              <a:ext cx="1" cy="2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3" name="Line 29"/>
            <p:cNvSpPr>
              <a:spLocks noChangeShapeType="1"/>
            </p:cNvSpPr>
            <p:nvPr/>
          </p:nvSpPr>
          <p:spPr bwMode="auto">
            <a:xfrm>
              <a:off x="3097" y="3580"/>
              <a:ext cx="1" cy="2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4" name="Line 30"/>
            <p:cNvSpPr>
              <a:spLocks noChangeShapeType="1"/>
            </p:cNvSpPr>
            <p:nvPr/>
          </p:nvSpPr>
          <p:spPr bwMode="auto">
            <a:xfrm>
              <a:off x="3635" y="3580"/>
              <a:ext cx="1" cy="2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5" name="Line 31"/>
            <p:cNvSpPr>
              <a:spLocks noChangeShapeType="1"/>
            </p:cNvSpPr>
            <p:nvPr/>
          </p:nvSpPr>
          <p:spPr bwMode="auto">
            <a:xfrm flipH="1">
              <a:off x="932" y="3214"/>
              <a:ext cx="36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6" name="Freeform 32"/>
            <p:cNvSpPr>
              <a:spLocks/>
            </p:cNvSpPr>
            <p:nvPr/>
          </p:nvSpPr>
          <p:spPr bwMode="auto">
            <a:xfrm>
              <a:off x="932" y="3189"/>
              <a:ext cx="123" cy="37"/>
            </a:xfrm>
            <a:custGeom>
              <a:avLst/>
              <a:gdLst>
                <a:gd name="T0" fmla="*/ 123 w 123"/>
                <a:gd name="T1" fmla="*/ 37 h 37"/>
                <a:gd name="T2" fmla="*/ 98 w 123"/>
                <a:gd name="T3" fmla="*/ 25 h 37"/>
                <a:gd name="T4" fmla="*/ 123 w 123"/>
                <a:gd name="T5" fmla="*/ 0 h 37"/>
                <a:gd name="T6" fmla="*/ 0 w 123"/>
                <a:gd name="T7" fmla="*/ 25 h 37"/>
                <a:gd name="T8" fmla="*/ 123 w 123"/>
                <a:gd name="T9" fmla="*/ 37 h 37"/>
                <a:gd name="T10" fmla="*/ 0 60000 65536"/>
                <a:gd name="T11" fmla="*/ 0 60000 65536"/>
                <a:gd name="T12" fmla="*/ 0 60000 65536"/>
                <a:gd name="T13" fmla="*/ 0 60000 65536"/>
                <a:gd name="T14" fmla="*/ 0 60000 65536"/>
                <a:gd name="T15" fmla="*/ 0 w 123"/>
                <a:gd name="T16" fmla="*/ 0 h 37"/>
                <a:gd name="T17" fmla="*/ 123 w 123"/>
                <a:gd name="T18" fmla="*/ 37 h 37"/>
              </a:gdLst>
              <a:ahLst/>
              <a:cxnLst>
                <a:cxn ang="T10">
                  <a:pos x="T0" y="T1"/>
                </a:cxn>
                <a:cxn ang="T11">
                  <a:pos x="T2" y="T3"/>
                </a:cxn>
                <a:cxn ang="T12">
                  <a:pos x="T4" y="T5"/>
                </a:cxn>
                <a:cxn ang="T13">
                  <a:pos x="T6" y="T7"/>
                </a:cxn>
                <a:cxn ang="T14">
                  <a:pos x="T8" y="T9"/>
                </a:cxn>
              </a:cxnLst>
              <a:rect l="T15" t="T16" r="T17" b="T18"/>
              <a:pathLst>
                <a:path w="123" h="37">
                  <a:moveTo>
                    <a:pt x="123" y="37"/>
                  </a:moveTo>
                  <a:lnTo>
                    <a:pt x="98" y="25"/>
                  </a:lnTo>
                  <a:lnTo>
                    <a:pt x="123" y="0"/>
                  </a:lnTo>
                  <a:lnTo>
                    <a:pt x="0" y="25"/>
                  </a:lnTo>
                  <a:lnTo>
                    <a:pt x="123" y="37"/>
                  </a:lnTo>
                  <a:close/>
                </a:path>
              </a:pathLst>
            </a:custGeom>
            <a:solidFill>
              <a:srgbClr val="000000"/>
            </a:solidFill>
            <a:ln w="19050">
              <a:solidFill>
                <a:srgbClr val="000000"/>
              </a:solidFill>
              <a:round/>
              <a:headEnd/>
              <a:tailEnd/>
            </a:ln>
          </p:spPr>
          <p:txBody>
            <a:bodyPr/>
            <a:lstStyle/>
            <a:p>
              <a:endParaRPr lang="zh-CN" altLang="en-US"/>
            </a:p>
          </p:txBody>
        </p:sp>
        <p:sp>
          <p:nvSpPr>
            <p:cNvPr id="74787" name="Rectangle 33"/>
            <p:cNvSpPr>
              <a:spLocks noChangeArrowheads="1"/>
            </p:cNvSpPr>
            <p:nvPr/>
          </p:nvSpPr>
          <p:spPr bwMode="auto">
            <a:xfrm>
              <a:off x="1030" y="3239"/>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C</a:t>
              </a:r>
              <a:endParaRPr lang="en-US" altLang="zh-CN"/>
            </a:p>
          </p:txBody>
        </p:sp>
        <p:sp>
          <p:nvSpPr>
            <p:cNvPr id="74788" name="Rectangle 34"/>
            <p:cNvSpPr>
              <a:spLocks noChangeArrowheads="1"/>
            </p:cNvSpPr>
            <p:nvPr/>
          </p:nvSpPr>
          <p:spPr bwMode="auto">
            <a:xfrm>
              <a:off x="1140" y="331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4</a:t>
              </a:r>
              <a:endParaRPr lang="en-US" altLang="zh-CN"/>
            </a:p>
          </p:txBody>
        </p:sp>
        <p:sp>
          <p:nvSpPr>
            <p:cNvPr id="74789" name="Rectangle 35"/>
            <p:cNvSpPr>
              <a:spLocks noChangeArrowheads="1"/>
            </p:cNvSpPr>
            <p:nvPr/>
          </p:nvSpPr>
          <p:spPr bwMode="auto">
            <a:xfrm>
              <a:off x="1764" y="381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S</a:t>
              </a:r>
              <a:endParaRPr lang="en-US" altLang="zh-CN"/>
            </a:p>
          </p:txBody>
        </p:sp>
        <p:sp>
          <p:nvSpPr>
            <p:cNvPr id="74790" name="Rectangle 36"/>
            <p:cNvSpPr>
              <a:spLocks noChangeArrowheads="1"/>
            </p:cNvSpPr>
            <p:nvPr/>
          </p:nvSpPr>
          <p:spPr bwMode="auto">
            <a:xfrm>
              <a:off x="1849" y="389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3</a:t>
              </a:r>
              <a:endParaRPr lang="en-US" altLang="zh-CN"/>
            </a:p>
          </p:txBody>
        </p:sp>
        <p:sp>
          <p:nvSpPr>
            <p:cNvPr id="74791" name="Rectangle 37"/>
            <p:cNvSpPr>
              <a:spLocks noChangeArrowheads="1"/>
            </p:cNvSpPr>
            <p:nvPr/>
          </p:nvSpPr>
          <p:spPr bwMode="auto">
            <a:xfrm>
              <a:off x="2388" y="381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S</a:t>
              </a:r>
              <a:endParaRPr lang="en-US" altLang="zh-CN"/>
            </a:p>
          </p:txBody>
        </p:sp>
        <p:sp>
          <p:nvSpPr>
            <p:cNvPr id="74792" name="Rectangle 38"/>
            <p:cNvSpPr>
              <a:spLocks noChangeArrowheads="1"/>
            </p:cNvSpPr>
            <p:nvPr/>
          </p:nvSpPr>
          <p:spPr bwMode="auto">
            <a:xfrm>
              <a:off x="2473" y="389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74793" name="Rectangle 39"/>
            <p:cNvSpPr>
              <a:spLocks noChangeArrowheads="1"/>
            </p:cNvSpPr>
            <p:nvPr/>
          </p:nvSpPr>
          <p:spPr bwMode="auto">
            <a:xfrm>
              <a:off x="3023" y="381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S</a:t>
              </a:r>
              <a:endParaRPr lang="en-US" altLang="zh-CN"/>
            </a:p>
          </p:txBody>
        </p:sp>
        <p:sp>
          <p:nvSpPr>
            <p:cNvPr id="74794" name="Rectangle 40"/>
            <p:cNvSpPr>
              <a:spLocks noChangeArrowheads="1"/>
            </p:cNvSpPr>
            <p:nvPr/>
          </p:nvSpPr>
          <p:spPr bwMode="auto">
            <a:xfrm>
              <a:off x="3109" y="389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4795" name="Rectangle 41"/>
            <p:cNvSpPr>
              <a:spLocks noChangeArrowheads="1"/>
            </p:cNvSpPr>
            <p:nvPr/>
          </p:nvSpPr>
          <p:spPr bwMode="auto">
            <a:xfrm>
              <a:off x="3561" y="3812"/>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S</a:t>
              </a:r>
              <a:endParaRPr lang="en-US" altLang="zh-CN"/>
            </a:p>
          </p:txBody>
        </p:sp>
        <p:sp>
          <p:nvSpPr>
            <p:cNvPr id="74796" name="Rectangle 42"/>
            <p:cNvSpPr>
              <a:spLocks noChangeArrowheads="1"/>
            </p:cNvSpPr>
            <p:nvPr/>
          </p:nvSpPr>
          <p:spPr bwMode="auto">
            <a:xfrm>
              <a:off x="3647" y="389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4797" name="Line 43"/>
            <p:cNvSpPr>
              <a:spLocks noChangeShapeType="1"/>
            </p:cNvSpPr>
            <p:nvPr/>
          </p:nvSpPr>
          <p:spPr bwMode="auto">
            <a:xfrm flipH="1">
              <a:off x="4087" y="3214"/>
              <a:ext cx="53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8" name="Rectangle 44"/>
            <p:cNvSpPr>
              <a:spLocks noChangeArrowheads="1"/>
            </p:cNvSpPr>
            <p:nvPr/>
          </p:nvSpPr>
          <p:spPr bwMode="auto">
            <a:xfrm>
              <a:off x="4209" y="3239"/>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C</a:t>
              </a:r>
              <a:endParaRPr lang="en-US" altLang="zh-CN"/>
            </a:p>
          </p:txBody>
        </p:sp>
        <p:sp>
          <p:nvSpPr>
            <p:cNvPr id="74799" name="Rectangle 45"/>
            <p:cNvSpPr>
              <a:spLocks noChangeArrowheads="1"/>
            </p:cNvSpPr>
            <p:nvPr/>
          </p:nvSpPr>
          <p:spPr bwMode="auto">
            <a:xfrm>
              <a:off x="4319" y="3335"/>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i="1">
                  <a:solidFill>
                    <a:srgbClr val="000000"/>
                  </a:solidFill>
                  <a:latin typeface="Times"/>
                </a:rPr>
                <a:t>i</a:t>
              </a:r>
              <a:endParaRPr lang="en-US" altLang="zh-CN"/>
            </a:p>
          </p:txBody>
        </p:sp>
        <p:sp>
          <p:nvSpPr>
            <p:cNvPr id="74800" name="Rectangle 46"/>
            <p:cNvSpPr>
              <a:spLocks noChangeArrowheads="1"/>
            </p:cNvSpPr>
            <p:nvPr/>
          </p:nvSpPr>
          <p:spPr bwMode="auto">
            <a:xfrm>
              <a:off x="4356" y="3311"/>
              <a:ext cx="1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400">
                  <a:solidFill>
                    <a:srgbClr val="000000"/>
                  </a:solidFill>
                  <a:latin typeface="Times"/>
                </a:rPr>
                <a:t>－</a:t>
              </a:r>
              <a:r>
                <a:rPr lang="en-US" altLang="zh-CN" sz="1400">
                  <a:solidFill>
                    <a:srgbClr val="000000"/>
                  </a:solidFill>
                  <a:latin typeface="Times"/>
                </a:rPr>
                <a:t>1</a:t>
              </a:r>
              <a:endParaRPr lang="en-US" altLang="zh-CN"/>
            </a:p>
          </p:txBody>
        </p:sp>
        <p:sp>
          <p:nvSpPr>
            <p:cNvPr id="74801" name="Rectangle 47"/>
            <p:cNvSpPr>
              <a:spLocks noChangeArrowheads="1"/>
            </p:cNvSpPr>
            <p:nvPr/>
          </p:nvSpPr>
          <p:spPr bwMode="auto">
            <a:xfrm>
              <a:off x="4209" y="3007"/>
              <a:ext cx="22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74802" name="Freeform 48"/>
            <p:cNvSpPr>
              <a:spLocks/>
            </p:cNvSpPr>
            <p:nvPr/>
          </p:nvSpPr>
          <p:spPr bwMode="auto">
            <a:xfrm>
              <a:off x="1409" y="2689"/>
              <a:ext cx="49" cy="159"/>
            </a:xfrm>
            <a:custGeom>
              <a:avLst/>
              <a:gdLst>
                <a:gd name="T0" fmla="*/ 49 w 49"/>
                <a:gd name="T1" fmla="*/ 0 h 159"/>
                <a:gd name="T2" fmla="*/ 25 w 49"/>
                <a:gd name="T3" fmla="*/ 37 h 159"/>
                <a:gd name="T4" fmla="*/ 0 w 49"/>
                <a:gd name="T5" fmla="*/ 0 h 159"/>
                <a:gd name="T6" fmla="*/ 25 w 49"/>
                <a:gd name="T7" fmla="*/ 159 h 159"/>
                <a:gd name="T8" fmla="*/ 49 w 49"/>
                <a:gd name="T9" fmla="*/ 0 h 159"/>
                <a:gd name="T10" fmla="*/ 0 60000 65536"/>
                <a:gd name="T11" fmla="*/ 0 60000 65536"/>
                <a:gd name="T12" fmla="*/ 0 60000 65536"/>
                <a:gd name="T13" fmla="*/ 0 60000 65536"/>
                <a:gd name="T14" fmla="*/ 0 60000 65536"/>
                <a:gd name="T15" fmla="*/ 0 w 49"/>
                <a:gd name="T16" fmla="*/ 0 h 159"/>
                <a:gd name="T17" fmla="*/ 49 w 49"/>
                <a:gd name="T18" fmla="*/ 159 h 159"/>
              </a:gdLst>
              <a:ahLst/>
              <a:cxnLst>
                <a:cxn ang="T10">
                  <a:pos x="T0" y="T1"/>
                </a:cxn>
                <a:cxn ang="T11">
                  <a:pos x="T2" y="T3"/>
                </a:cxn>
                <a:cxn ang="T12">
                  <a:pos x="T4" y="T5"/>
                </a:cxn>
                <a:cxn ang="T13">
                  <a:pos x="T6" y="T7"/>
                </a:cxn>
                <a:cxn ang="T14">
                  <a:pos x="T8" y="T9"/>
                </a:cxn>
              </a:cxnLst>
              <a:rect l="T15" t="T16" r="T17" b="T18"/>
              <a:pathLst>
                <a:path w="49" h="159">
                  <a:moveTo>
                    <a:pt x="49" y="0"/>
                  </a:moveTo>
                  <a:lnTo>
                    <a:pt x="25" y="37"/>
                  </a:lnTo>
                  <a:lnTo>
                    <a:pt x="0" y="0"/>
                  </a:lnTo>
                  <a:lnTo>
                    <a:pt x="25" y="159"/>
                  </a:lnTo>
                  <a:lnTo>
                    <a:pt x="49" y="0"/>
                  </a:lnTo>
                  <a:close/>
                </a:path>
              </a:pathLst>
            </a:custGeom>
            <a:solidFill>
              <a:srgbClr val="000000"/>
            </a:solidFill>
            <a:ln w="19050">
              <a:solidFill>
                <a:srgbClr val="000000"/>
              </a:solidFill>
              <a:round/>
              <a:headEnd/>
              <a:tailEnd/>
            </a:ln>
          </p:spPr>
          <p:txBody>
            <a:bodyPr/>
            <a:lstStyle/>
            <a:p>
              <a:endParaRPr lang="zh-CN" altLang="en-US"/>
            </a:p>
          </p:txBody>
        </p:sp>
        <p:sp>
          <p:nvSpPr>
            <p:cNvPr id="74803" name="Freeform 49"/>
            <p:cNvSpPr>
              <a:spLocks/>
            </p:cNvSpPr>
            <p:nvPr/>
          </p:nvSpPr>
          <p:spPr bwMode="auto">
            <a:xfrm>
              <a:off x="2351" y="2555"/>
              <a:ext cx="61" cy="61"/>
            </a:xfrm>
            <a:custGeom>
              <a:avLst/>
              <a:gdLst>
                <a:gd name="T0" fmla="*/ 0 w 61"/>
                <a:gd name="T1" fmla="*/ 24 h 61"/>
                <a:gd name="T2" fmla="*/ 12 w 61"/>
                <a:gd name="T3" fmla="*/ 0 h 61"/>
                <a:gd name="T4" fmla="*/ 37 w 61"/>
                <a:gd name="T5" fmla="*/ 0 h 61"/>
                <a:gd name="T6" fmla="*/ 61 w 61"/>
                <a:gd name="T7" fmla="*/ 24 h 61"/>
                <a:gd name="T8" fmla="*/ 37 w 61"/>
                <a:gd name="T9" fmla="*/ 61 h 61"/>
                <a:gd name="T10" fmla="*/ 12 w 61"/>
                <a:gd name="T11" fmla="*/ 61 h 61"/>
                <a:gd name="T12" fmla="*/ 0 w 61"/>
                <a:gd name="T13" fmla="*/ 24 h 61"/>
                <a:gd name="T14" fmla="*/ 0 60000 65536"/>
                <a:gd name="T15" fmla="*/ 0 60000 65536"/>
                <a:gd name="T16" fmla="*/ 0 60000 65536"/>
                <a:gd name="T17" fmla="*/ 0 60000 65536"/>
                <a:gd name="T18" fmla="*/ 0 60000 65536"/>
                <a:gd name="T19" fmla="*/ 0 60000 65536"/>
                <a:gd name="T20" fmla="*/ 0 60000 65536"/>
                <a:gd name="T21" fmla="*/ 0 w 61"/>
                <a:gd name="T22" fmla="*/ 0 h 61"/>
                <a:gd name="T23" fmla="*/ 61 w 6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61">
                  <a:moveTo>
                    <a:pt x="0" y="24"/>
                  </a:moveTo>
                  <a:lnTo>
                    <a:pt x="12" y="0"/>
                  </a:lnTo>
                  <a:lnTo>
                    <a:pt x="37" y="0"/>
                  </a:lnTo>
                  <a:lnTo>
                    <a:pt x="61" y="24"/>
                  </a:lnTo>
                  <a:lnTo>
                    <a:pt x="37" y="61"/>
                  </a:lnTo>
                  <a:lnTo>
                    <a:pt x="12" y="61"/>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74804" name="Freeform 50"/>
            <p:cNvSpPr>
              <a:spLocks/>
            </p:cNvSpPr>
            <p:nvPr/>
          </p:nvSpPr>
          <p:spPr bwMode="auto">
            <a:xfrm>
              <a:off x="1617" y="2689"/>
              <a:ext cx="61" cy="159"/>
            </a:xfrm>
            <a:custGeom>
              <a:avLst/>
              <a:gdLst>
                <a:gd name="T0" fmla="*/ 61 w 61"/>
                <a:gd name="T1" fmla="*/ 0 h 159"/>
                <a:gd name="T2" fmla="*/ 25 w 61"/>
                <a:gd name="T3" fmla="*/ 37 h 159"/>
                <a:gd name="T4" fmla="*/ 0 w 61"/>
                <a:gd name="T5" fmla="*/ 0 h 159"/>
                <a:gd name="T6" fmla="*/ 25 w 61"/>
                <a:gd name="T7" fmla="*/ 159 h 159"/>
                <a:gd name="T8" fmla="*/ 61 w 61"/>
                <a:gd name="T9" fmla="*/ 0 h 159"/>
                <a:gd name="T10" fmla="*/ 0 60000 65536"/>
                <a:gd name="T11" fmla="*/ 0 60000 65536"/>
                <a:gd name="T12" fmla="*/ 0 60000 65536"/>
                <a:gd name="T13" fmla="*/ 0 60000 65536"/>
                <a:gd name="T14" fmla="*/ 0 60000 65536"/>
                <a:gd name="T15" fmla="*/ 0 w 61"/>
                <a:gd name="T16" fmla="*/ 0 h 159"/>
                <a:gd name="T17" fmla="*/ 61 w 61"/>
                <a:gd name="T18" fmla="*/ 159 h 159"/>
              </a:gdLst>
              <a:ahLst/>
              <a:cxnLst>
                <a:cxn ang="T10">
                  <a:pos x="T0" y="T1"/>
                </a:cxn>
                <a:cxn ang="T11">
                  <a:pos x="T2" y="T3"/>
                </a:cxn>
                <a:cxn ang="T12">
                  <a:pos x="T4" y="T5"/>
                </a:cxn>
                <a:cxn ang="T13">
                  <a:pos x="T6" y="T7"/>
                </a:cxn>
                <a:cxn ang="T14">
                  <a:pos x="T8" y="T9"/>
                </a:cxn>
              </a:cxnLst>
              <a:rect l="T15" t="T16" r="T17" b="T18"/>
              <a:pathLst>
                <a:path w="61" h="159">
                  <a:moveTo>
                    <a:pt x="61" y="0"/>
                  </a:moveTo>
                  <a:lnTo>
                    <a:pt x="25" y="37"/>
                  </a:lnTo>
                  <a:lnTo>
                    <a:pt x="0" y="0"/>
                  </a:lnTo>
                  <a:lnTo>
                    <a:pt x="25" y="159"/>
                  </a:lnTo>
                  <a:lnTo>
                    <a:pt x="61" y="0"/>
                  </a:lnTo>
                  <a:close/>
                </a:path>
              </a:pathLst>
            </a:custGeom>
            <a:solidFill>
              <a:srgbClr val="000000"/>
            </a:solidFill>
            <a:ln w="19050">
              <a:solidFill>
                <a:srgbClr val="000000"/>
              </a:solidFill>
              <a:round/>
              <a:headEnd/>
              <a:tailEnd/>
            </a:ln>
          </p:spPr>
          <p:txBody>
            <a:bodyPr/>
            <a:lstStyle/>
            <a:p>
              <a:endParaRPr lang="zh-CN" altLang="en-US"/>
            </a:p>
          </p:txBody>
        </p:sp>
        <p:sp>
          <p:nvSpPr>
            <p:cNvPr id="74805" name="Freeform 51"/>
            <p:cNvSpPr>
              <a:spLocks/>
            </p:cNvSpPr>
            <p:nvPr/>
          </p:nvSpPr>
          <p:spPr bwMode="auto">
            <a:xfrm>
              <a:off x="1862" y="2689"/>
              <a:ext cx="49" cy="159"/>
            </a:xfrm>
            <a:custGeom>
              <a:avLst/>
              <a:gdLst>
                <a:gd name="T0" fmla="*/ 49 w 49"/>
                <a:gd name="T1" fmla="*/ 0 h 159"/>
                <a:gd name="T2" fmla="*/ 24 w 49"/>
                <a:gd name="T3" fmla="*/ 37 h 159"/>
                <a:gd name="T4" fmla="*/ 0 w 49"/>
                <a:gd name="T5" fmla="*/ 0 h 159"/>
                <a:gd name="T6" fmla="*/ 24 w 49"/>
                <a:gd name="T7" fmla="*/ 159 h 159"/>
                <a:gd name="T8" fmla="*/ 49 w 49"/>
                <a:gd name="T9" fmla="*/ 0 h 159"/>
                <a:gd name="T10" fmla="*/ 0 60000 65536"/>
                <a:gd name="T11" fmla="*/ 0 60000 65536"/>
                <a:gd name="T12" fmla="*/ 0 60000 65536"/>
                <a:gd name="T13" fmla="*/ 0 60000 65536"/>
                <a:gd name="T14" fmla="*/ 0 60000 65536"/>
                <a:gd name="T15" fmla="*/ 0 w 49"/>
                <a:gd name="T16" fmla="*/ 0 h 159"/>
                <a:gd name="T17" fmla="*/ 49 w 49"/>
                <a:gd name="T18" fmla="*/ 159 h 159"/>
              </a:gdLst>
              <a:ahLst/>
              <a:cxnLst>
                <a:cxn ang="T10">
                  <a:pos x="T0" y="T1"/>
                </a:cxn>
                <a:cxn ang="T11">
                  <a:pos x="T2" y="T3"/>
                </a:cxn>
                <a:cxn ang="T12">
                  <a:pos x="T4" y="T5"/>
                </a:cxn>
                <a:cxn ang="T13">
                  <a:pos x="T6" y="T7"/>
                </a:cxn>
                <a:cxn ang="T14">
                  <a:pos x="T8" y="T9"/>
                </a:cxn>
              </a:cxnLst>
              <a:rect l="T15" t="T16" r="T17" b="T18"/>
              <a:pathLst>
                <a:path w="49" h="159">
                  <a:moveTo>
                    <a:pt x="49" y="0"/>
                  </a:moveTo>
                  <a:lnTo>
                    <a:pt x="24" y="37"/>
                  </a:lnTo>
                  <a:lnTo>
                    <a:pt x="0" y="0"/>
                  </a:lnTo>
                  <a:lnTo>
                    <a:pt x="24" y="159"/>
                  </a:lnTo>
                  <a:lnTo>
                    <a:pt x="49" y="0"/>
                  </a:lnTo>
                  <a:close/>
                </a:path>
              </a:pathLst>
            </a:custGeom>
            <a:solidFill>
              <a:srgbClr val="000000"/>
            </a:solidFill>
            <a:ln w="19050">
              <a:solidFill>
                <a:srgbClr val="000000"/>
              </a:solidFill>
              <a:round/>
              <a:headEnd/>
              <a:tailEnd/>
            </a:ln>
          </p:spPr>
          <p:txBody>
            <a:bodyPr/>
            <a:lstStyle/>
            <a:p>
              <a:endParaRPr lang="zh-CN" altLang="en-US"/>
            </a:p>
          </p:txBody>
        </p:sp>
        <p:sp>
          <p:nvSpPr>
            <p:cNvPr id="74806" name="Freeform 52"/>
            <p:cNvSpPr>
              <a:spLocks/>
            </p:cNvSpPr>
            <p:nvPr/>
          </p:nvSpPr>
          <p:spPr bwMode="auto">
            <a:xfrm>
              <a:off x="2094" y="2689"/>
              <a:ext cx="49" cy="159"/>
            </a:xfrm>
            <a:custGeom>
              <a:avLst/>
              <a:gdLst>
                <a:gd name="T0" fmla="*/ 49 w 49"/>
                <a:gd name="T1" fmla="*/ 0 h 159"/>
                <a:gd name="T2" fmla="*/ 25 w 49"/>
                <a:gd name="T3" fmla="*/ 37 h 159"/>
                <a:gd name="T4" fmla="*/ 0 w 49"/>
                <a:gd name="T5" fmla="*/ 0 h 159"/>
                <a:gd name="T6" fmla="*/ 25 w 49"/>
                <a:gd name="T7" fmla="*/ 159 h 159"/>
                <a:gd name="T8" fmla="*/ 49 w 49"/>
                <a:gd name="T9" fmla="*/ 0 h 159"/>
                <a:gd name="T10" fmla="*/ 0 60000 65536"/>
                <a:gd name="T11" fmla="*/ 0 60000 65536"/>
                <a:gd name="T12" fmla="*/ 0 60000 65536"/>
                <a:gd name="T13" fmla="*/ 0 60000 65536"/>
                <a:gd name="T14" fmla="*/ 0 60000 65536"/>
                <a:gd name="T15" fmla="*/ 0 w 49"/>
                <a:gd name="T16" fmla="*/ 0 h 159"/>
                <a:gd name="T17" fmla="*/ 49 w 49"/>
                <a:gd name="T18" fmla="*/ 159 h 159"/>
              </a:gdLst>
              <a:ahLst/>
              <a:cxnLst>
                <a:cxn ang="T10">
                  <a:pos x="T0" y="T1"/>
                </a:cxn>
                <a:cxn ang="T11">
                  <a:pos x="T2" y="T3"/>
                </a:cxn>
                <a:cxn ang="T12">
                  <a:pos x="T4" y="T5"/>
                </a:cxn>
                <a:cxn ang="T13">
                  <a:pos x="T6" y="T7"/>
                </a:cxn>
                <a:cxn ang="T14">
                  <a:pos x="T8" y="T9"/>
                </a:cxn>
              </a:cxnLst>
              <a:rect l="T15" t="T16" r="T17" b="T18"/>
              <a:pathLst>
                <a:path w="49" h="159">
                  <a:moveTo>
                    <a:pt x="49" y="0"/>
                  </a:moveTo>
                  <a:lnTo>
                    <a:pt x="25" y="37"/>
                  </a:lnTo>
                  <a:lnTo>
                    <a:pt x="0" y="0"/>
                  </a:lnTo>
                  <a:lnTo>
                    <a:pt x="25" y="159"/>
                  </a:lnTo>
                  <a:lnTo>
                    <a:pt x="49" y="0"/>
                  </a:lnTo>
                  <a:close/>
                </a:path>
              </a:pathLst>
            </a:custGeom>
            <a:solidFill>
              <a:srgbClr val="000000"/>
            </a:solidFill>
            <a:ln w="19050">
              <a:solidFill>
                <a:srgbClr val="000000"/>
              </a:solidFill>
              <a:round/>
              <a:headEnd/>
              <a:tailEnd/>
            </a:ln>
          </p:spPr>
          <p:txBody>
            <a:bodyPr/>
            <a:lstStyle/>
            <a:p>
              <a:endParaRPr lang="zh-CN" altLang="en-US"/>
            </a:p>
          </p:txBody>
        </p:sp>
        <p:sp>
          <p:nvSpPr>
            <p:cNvPr id="74807" name="Line 53"/>
            <p:cNvSpPr>
              <a:spLocks noChangeShapeType="1"/>
            </p:cNvSpPr>
            <p:nvPr/>
          </p:nvSpPr>
          <p:spPr bwMode="auto">
            <a:xfrm>
              <a:off x="1434" y="2616"/>
              <a:ext cx="1" cy="2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8" name="Line 54"/>
            <p:cNvSpPr>
              <a:spLocks noChangeShapeType="1"/>
            </p:cNvSpPr>
            <p:nvPr/>
          </p:nvSpPr>
          <p:spPr bwMode="auto">
            <a:xfrm>
              <a:off x="1642" y="2616"/>
              <a:ext cx="1" cy="2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9" name="Line 55"/>
            <p:cNvSpPr>
              <a:spLocks noChangeShapeType="1"/>
            </p:cNvSpPr>
            <p:nvPr/>
          </p:nvSpPr>
          <p:spPr bwMode="auto">
            <a:xfrm>
              <a:off x="1886" y="2616"/>
              <a:ext cx="1" cy="2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10" name="Line 56"/>
            <p:cNvSpPr>
              <a:spLocks noChangeShapeType="1"/>
            </p:cNvSpPr>
            <p:nvPr/>
          </p:nvSpPr>
          <p:spPr bwMode="auto">
            <a:xfrm>
              <a:off x="2119" y="2616"/>
              <a:ext cx="1" cy="2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11" name="Freeform 57"/>
            <p:cNvSpPr>
              <a:spLocks/>
            </p:cNvSpPr>
            <p:nvPr/>
          </p:nvSpPr>
          <p:spPr bwMode="auto">
            <a:xfrm>
              <a:off x="2803" y="2555"/>
              <a:ext cx="49" cy="61"/>
            </a:xfrm>
            <a:custGeom>
              <a:avLst/>
              <a:gdLst>
                <a:gd name="T0" fmla="*/ 0 w 49"/>
                <a:gd name="T1" fmla="*/ 24 h 61"/>
                <a:gd name="T2" fmla="*/ 12 w 49"/>
                <a:gd name="T3" fmla="*/ 0 h 61"/>
                <a:gd name="T4" fmla="*/ 37 w 49"/>
                <a:gd name="T5" fmla="*/ 0 h 61"/>
                <a:gd name="T6" fmla="*/ 49 w 49"/>
                <a:gd name="T7" fmla="*/ 24 h 61"/>
                <a:gd name="T8" fmla="*/ 37 w 49"/>
                <a:gd name="T9" fmla="*/ 61 h 61"/>
                <a:gd name="T10" fmla="*/ 12 w 49"/>
                <a:gd name="T11" fmla="*/ 61 h 61"/>
                <a:gd name="T12" fmla="*/ 0 w 49"/>
                <a:gd name="T13" fmla="*/ 24 h 61"/>
                <a:gd name="T14" fmla="*/ 0 60000 65536"/>
                <a:gd name="T15" fmla="*/ 0 60000 65536"/>
                <a:gd name="T16" fmla="*/ 0 60000 65536"/>
                <a:gd name="T17" fmla="*/ 0 60000 65536"/>
                <a:gd name="T18" fmla="*/ 0 60000 65536"/>
                <a:gd name="T19" fmla="*/ 0 60000 65536"/>
                <a:gd name="T20" fmla="*/ 0 60000 65536"/>
                <a:gd name="T21" fmla="*/ 0 w 49"/>
                <a:gd name="T22" fmla="*/ 0 h 61"/>
                <a:gd name="T23" fmla="*/ 49 w 49"/>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61">
                  <a:moveTo>
                    <a:pt x="0" y="24"/>
                  </a:moveTo>
                  <a:lnTo>
                    <a:pt x="12" y="0"/>
                  </a:lnTo>
                  <a:lnTo>
                    <a:pt x="37" y="0"/>
                  </a:lnTo>
                  <a:lnTo>
                    <a:pt x="49" y="24"/>
                  </a:lnTo>
                  <a:lnTo>
                    <a:pt x="37" y="61"/>
                  </a:lnTo>
                  <a:lnTo>
                    <a:pt x="12" y="61"/>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74812" name="Freeform 58"/>
            <p:cNvSpPr>
              <a:spLocks/>
            </p:cNvSpPr>
            <p:nvPr/>
          </p:nvSpPr>
          <p:spPr bwMode="auto">
            <a:xfrm>
              <a:off x="3256" y="2555"/>
              <a:ext cx="49" cy="61"/>
            </a:xfrm>
            <a:custGeom>
              <a:avLst/>
              <a:gdLst>
                <a:gd name="T0" fmla="*/ 0 w 49"/>
                <a:gd name="T1" fmla="*/ 24 h 61"/>
                <a:gd name="T2" fmla="*/ 12 w 49"/>
                <a:gd name="T3" fmla="*/ 0 h 61"/>
                <a:gd name="T4" fmla="*/ 36 w 49"/>
                <a:gd name="T5" fmla="*/ 0 h 61"/>
                <a:gd name="T6" fmla="*/ 49 w 49"/>
                <a:gd name="T7" fmla="*/ 24 h 61"/>
                <a:gd name="T8" fmla="*/ 36 w 49"/>
                <a:gd name="T9" fmla="*/ 61 h 61"/>
                <a:gd name="T10" fmla="*/ 12 w 49"/>
                <a:gd name="T11" fmla="*/ 61 h 61"/>
                <a:gd name="T12" fmla="*/ 0 w 49"/>
                <a:gd name="T13" fmla="*/ 24 h 61"/>
                <a:gd name="T14" fmla="*/ 0 60000 65536"/>
                <a:gd name="T15" fmla="*/ 0 60000 65536"/>
                <a:gd name="T16" fmla="*/ 0 60000 65536"/>
                <a:gd name="T17" fmla="*/ 0 60000 65536"/>
                <a:gd name="T18" fmla="*/ 0 60000 65536"/>
                <a:gd name="T19" fmla="*/ 0 60000 65536"/>
                <a:gd name="T20" fmla="*/ 0 60000 65536"/>
                <a:gd name="T21" fmla="*/ 0 w 49"/>
                <a:gd name="T22" fmla="*/ 0 h 61"/>
                <a:gd name="T23" fmla="*/ 49 w 49"/>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61">
                  <a:moveTo>
                    <a:pt x="0" y="24"/>
                  </a:moveTo>
                  <a:lnTo>
                    <a:pt x="12" y="0"/>
                  </a:lnTo>
                  <a:lnTo>
                    <a:pt x="36" y="0"/>
                  </a:lnTo>
                  <a:lnTo>
                    <a:pt x="49" y="24"/>
                  </a:lnTo>
                  <a:lnTo>
                    <a:pt x="36" y="61"/>
                  </a:lnTo>
                  <a:lnTo>
                    <a:pt x="12" y="61"/>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74813" name="Freeform 59"/>
            <p:cNvSpPr>
              <a:spLocks/>
            </p:cNvSpPr>
            <p:nvPr/>
          </p:nvSpPr>
          <p:spPr bwMode="auto">
            <a:xfrm>
              <a:off x="3708" y="2555"/>
              <a:ext cx="61" cy="61"/>
            </a:xfrm>
            <a:custGeom>
              <a:avLst/>
              <a:gdLst>
                <a:gd name="T0" fmla="*/ 0 w 61"/>
                <a:gd name="T1" fmla="*/ 24 h 61"/>
                <a:gd name="T2" fmla="*/ 12 w 61"/>
                <a:gd name="T3" fmla="*/ 0 h 61"/>
                <a:gd name="T4" fmla="*/ 37 w 61"/>
                <a:gd name="T5" fmla="*/ 0 h 61"/>
                <a:gd name="T6" fmla="*/ 61 w 61"/>
                <a:gd name="T7" fmla="*/ 24 h 61"/>
                <a:gd name="T8" fmla="*/ 37 w 61"/>
                <a:gd name="T9" fmla="*/ 61 h 61"/>
                <a:gd name="T10" fmla="*/ 12 w 61"/>
                <a:gd name="T11" fmla="*/ 61 h 61"/>
                <a:gd name="T12" fmla="*/ 0 w 61"/>
                <a:gd name="T13" fmla="*/ 24 h 61"/>
                <a:gd name="T14" fmla="*/ 0 60000 65536"/>
                <a:gd name="T15" fmla="*/ 0 60000 65536"/>
                <a:gd name="T16" fmla="*/ 0 60000 65536"/>
                <a:gd name="T17" fmla="*/ 0 60000 65536"/>
                <a:gd name="T18" fmla="*/ 0 60000 65536"/>
                <a:gd name="T19" fmla="*/ 0 60000 65536"/>
                <a:gd name="T20" fmla="*/ 0 60000 65536"/>
                <a:gd name="T21" fmla="*/ 0 w 61"/>
                <a:gd name="T22" fmla="*/ 0 h 61"/>
                <a:gd name="T23" fmla="*/ 61 w 6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61">
                  <a:moveTo>
                    <a:pt x="0" y="24"/>
                  </a:moveTo>
                  <a:lnTo>
                    <a:pt x="12" y="0"/>
                  </a:lnTo>
                  <a:lnTo>
                    <a:pt x="37" y="0"/>
                  </a:lnTo>
                  <a:lnTo>
                    <a:pt x="61" y="24"/>
                  </a:lnTo>
                  <a:lnTo>
                    <a:pt x="37" y="61"/>
                  </a:lnTo>
                  <a:lnTo>
                    <a:pt x="12" y="61"/>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74814" name="Freeform 60"/>
            <p:cNvSpPr>
              <a:spLocks/>
            </p:cNvSpPr>
            <p:nvPr/>
          </p:nvSpPr>
          <p:spPr bwMode="auto">
            <a:xfrm>
              <a:off x="1813" y="3689"/>
              <a:ext cx="49" cy="147"/>
            </a:xfrm>
            <a:custGeom>
              <a:avLst/>
              <a:gdLst>
                <a:gd name="T0" fmla="*/ 49 w 49"/>
                <a:gd name="T1" fmla="*/ 0 h 147"/>
                <a:gd name="T2" fmla="*/ 24 w 49"/>
                <a:gd name="T3" fmla="*/ 25 h 147"/>
                <a:gd name="T4" fmla="*/ 0 w 49"/>
                <a:gd name="T5" fmla="*/ 0 h 147"/>
                <a:gd name="T6" fmla="*/ 24 w 49"/>
                <a:gd name="T7" fmla="*/ 147 h 147"/>
                <a:gd name="T8" fmla="*/ 49 w 49"/>
                <a:gd name="T9" fmla="*/ 0 h 147"/>
                <a:gd name="T10" fmla="*/ 0 60000 65536"/>
                <a:gd name="T11" fmla="*/ 0 60000 65536"/>
                <a:gd name="T12" fmla="*/ 0 60000 65536"/>
                <a:gd name="T13" fmla="*/ 0 60000 65536"/>
                <a:gd name="T14" fmla="*/ 0 60000 65536"/>
                <a:gd name="T15" fmla="*/ 0 w 49"/>
                <a:gd name="T16" fmla="*/ 0 h 147"/>
                <a:gd name="T17" fmla="*/ 49 w 49"/>
                <a:gd name="T18" fmla="*/ 147 h 147"/>
              </a:gdLst>
              <a:ahLst/>
              <a:cxnLst>
                <a:cxn ang="T10">
                  <a:pos x="T0" y="T1"/>
                </a:cxn>
                <a:cxn ang="T11">
                  <a:pos x="T2" y="T3"/>
                </a:cxn>
                <a:cxn ang="T12">
                  <a:pos x="T4" y="T5"/>
                </a:cxn>
                <a:cxn ang="T13">
                  <a:pos x="T6" y="T7"/>
                </a:cxn>
                <a:cxn ang="T14">
                  <a:pos x="T8" y="T9"/>
                </a:cxn>
              </a:cxnLst>
              <a:rect l="T15" t="T16" r="T17" b="T18"/>
              <a:pathLst>
                <a:path w="49" h="147">
                  <a:moveTo>
                    <a:pt x="49" y="0"/>
                  </a:moveTo>
                  <a:lnTo>
                    <a:pt x="24" y="25"/>
                  </a:lnTo>
                  <a:lnTo>
                    <a:pt x="0" y="0"/>
                  </a:lnTo>
                  <a:lnTo>
                    <a:pt x="24" y="147"/>
                  </a:lnTo>
                  <a:lnTo>
                    <a:pt x="49" y="0"/>
                  </a:lnTo>
                  <a:close/>
                </a:path>
              </a:pathLst>
            </a:custGeom>
            <a:solidFill>
              <a:srgbClr val="000000"/>
            </a:solidFill>
            <a:ln w="19050">
              <a:solidFill>
                <a:srgbClr val="000000"/>
              </a:solidFill>
              <a:round/>
              <a:headEnd/>
              <a:tailEnd/>
            </a:ln>
          </p:spPr>
          <p:txBody>
            <a:bodyPr/>
            <a:lstStyle/>
            <a:p>
              <a:endParaRPr lang="zh-CN" altLang="en-US"/>
            </a:p>
          </p:txBody>
        </p:sp>
        <p:sp>
          <p:nvSpPr>
            <p:cNvPr id="74815" name="Freeform 61"/>
            <p:cNvSpPr>
              <a:spLocks/>
            </p:cNvSpPr>
            <p:nvPr/>
          </p:nvSpPr>
          <p:spPr bwMode="auto">
            <a:xfrm>
              <a:off x="3610" y="3689"/>
              <a:ext cx="61" cy="147"/>
            </a:xfrm>
            <a:custGeom>
              <a:avLst/>
              <a:gdLst>
                <a:gd name="T0" fmla="*/ 61 w 61"/>
                <a:gd name="T1" fmla="*/ 0 h 147"/>
                <a:gd name="T2" fmla="*/ 25 w 61"/>
                <a:gd name="T3" fmla="*/ 25 h 147"/>
                <a:gd name="T4" fmla="*/ 0 w 61"/>
                <a:gd name="T5" fmla="*/ 0 h 147"/>
                <a:gd name="T6" fmla="*/ 25 w 61"/>
                <a:gd name="T7" fmla="*/ 147 h 147"/>
                <a:gd name="T8" fmla="*/ 61 w 61"/>
                <a:gd name="T9" fmla="*/ 0 h 147"/>
                <a:gd name="T10" fmla="*/ 0 60000 65536"/>
                <a:gd name="T11" fmla="*/ 0 60000 65536"/>
                <a:gd name="T12" fmla="*/ 0 60000 65536"/>
                <a:gd name="T13" fmla="*/ 0 60000 65536"/>
                <a:gd name="T14" fmla="*/ 0 60000 65536"/>
                <a:gd name="T15" fmla="*/ 0 w 61"/>
                <a:gd name="T16" fmla="*/ 0 h 147"/>
                <a:gd name="T17" fmla="*/ 61 w 61"/>
                <a:gd name="T18" fmla="*/ 147 h 147"/>
              </a:gdLst>
              <a:ahLst/>
              <a:cxnLst>
                <a:cxn ang="T10">
                  <a:pos x="T0" y="T1"/>
                </a:cxn>
                <a:cxn ang="T11">
                  <a:pos x="T2" y="T3"/>
                </a:cxn>
                <a:cxn ang="T12">
                  <a:pos x="T4" y="T5"/>
                </a:cxn>
                <a:cxn ang="T13">
                  <a:pos x="T6" y="T7"/>
                </a:cxn>
                <a:cxn ang="T14">
                  <a:pos x="T8" y="T9"/>
                </a:cxn>
              </a:cxnLst>
              <a:rect l="T15" t="T16" r="T17" b="T18"/>
              <a:pathLst>
                <a:path w="61" h="147">
                  <a:moveTo>
                    <a:pt x="61" y="0"/>
                  </a:moveTo>
                  <a:lnTo>
                    <a:pt x="25" y="25"/>
                  </a:lnTo>
                  <a:lnTo>
                    <a:pt x="0" y="0"/>
                  </a:lnTo>
                  <a:lnTo>
                    <a:pt x="25" y="147"/>
                  </a:lnTo>
                  <a:lnTo>
                    <a:pt x="61" y="0"/>
                  </a:lnTo>
                  <a:close/>
                </a:path>
              </a:pathLst>
            </a:custGeom>
            <a:solidFill>
              <a:srgbClr val="000000"/>
            </a:solidFill>
            <a:ln w="19050">
              <a:solidFill>
                <a:srgbClr val="000000"/>
              </a:solidFill>
              <a:round/>
              <a:headEnd/>
              <a:tailEnd/>
            </a:ln>
          </p:spPr>
          <p:txBody>
            <a:bodyPr/>
            <a:lstStyle/>
            <a:p>
              <a:endParaRPr lang="zh-CN" altLang="en-US"/>
            </a:p>
          </p:txBody>
        </p:sp>
        <p:sp>
          <p:nvSpPr>
            <p:cNvPr id="74816" name="Freeform 62"/>
            <p:cNvSpPr>
              <a:spLocks/>
            </p:cNvSpPr>
            <p:nvPr/>
          </p:nvSpPr>
          <p:spPr bwMode="auto">
            <a:xfrm>
              <a:off x="3072" y="3689"/>
              <a:ext cx="49" cy="147"/>
            </a:xfrm>
            <a:custGeom>
              <a:avLst/>
              <a:gdLst>
                <a:gd name="T0" fmla="*/ 49 w 49"/>
                <a:gd name="T1" fmla="*/ 0 h 147"/>
                <a:gd name="T2" fmla="*/ 25 w 49"/>
                <a:gd name="T3" fmla="*/ 25 h 147"/>
                <a:gd name="T4" fmla="*/ 0 w 49"/>
                <a:gd name="T5" fmla="*/ 0 h 147"/>
                <a:gd name="T6" fmla="*/ 25 w 49"/>
                <a:gd name="T7" fmla="*/ 147 h 147"/>
                <a:gd name="T8" fmla="*/ 49 w 49"/>
                <a:gd name="T9" fmla="*/ 0 h 147"/>
                <a:gd name="T10" fmla="*/ 0 60000 65536"/>
                <a:gd name="T11" fmla="*/ 0 60000 65536"/>
                <a:gd name="T12" fmla="*/ 0 60000 65536"/>
                <a:gd name="T13" fmla="*/ 0 60000 65536"/>
                <a:gd name="T14" fmla="*/ 0 60000 65536"/>
                <a:gd name="T15" fmla="*/ 0 w 49"/>
                <a:gd name="T16" fmla="*/ 0 h 147"/>
                <a:gd name="T17" fmla="*/ 49 w 49"/>
                <a:gd name="T18" fmla="*/ 147 h 147"/>
              </a:gdLst>
              <a:ahLst/>
              <a:cxnLst>
                <a:cxn ang="T10">
                  <a:pos x="T0" y="T1"/>
                </a:cxn>
                <a:cxn ang="T11">
                  <a:pos x="T2" y="T3"/>
                </a:cxn>
                <a:cxn ang="T12">
                  <a:pos x="T4" y="T5"/>
                </a:cxn>
                <a:cxn ang="T13">
                  <a:pos x="T6" y="T7"/>
                </a:cxn>
                <a:cxn ang="T14">
                  <a:pos x="T8" y="T9"/>
                </a:cxn>
              </a:cxnLst>
              <a:rect l="T15" t="T16" r="T17" b="T18"/>
              <a:pathLst>
                <a:path w="49" h="147">
                  <a:moveTo>
                    <a:pt x="49" y="0"/>
                  </a:moveTo>
                  <a:lnTo>
                    <a:pt x="25" y="25"/>
                  </a:lnTo>
                  <a:lnTo>
                    <a:pt x="0" y="0"/>
                  </a:lnTo>
                  <a:lnTo>
                    <a:pt x="25" y="147"/>
                  </a:lnTo>
                  <a:lnTo>
                    <a:pt x="49" y="0"/>
                  </a:lnTo>
                  <a:close/>
                </a:path>
              </a:pathLst>
            </a:custGeom>
            <a:solidFill>
              <a:srgbClr val="000000"/>
            </a:solidFill>
            <a:ln w="19050">
              <a:solidFill>
                <a:srgbClr val="000000"/>
              </a:solidFill>
              <a:round/>
              <a:headEnd/>
              <a:tailEnd/>
            </a:ln>
          </p:spPr>
          <p:txBody>
            <a:bodyPr/>
            <a:lstStyle/>
            <a:p>
              <a:endParaRPr lang="zh-CN" altLang="en-US"/>
            </a:p>
          </p:txBody>
        </p:sp>
        <p:sp>
          <p:nvSpPr>
            <p:cNvPr id="74817" name="Freeform 63"/>
            <p:cNvSpPr>
              <a:spLocks/>
            </p:cNvSpPr>
            <p:nvPr/>
          </p:nvSpPr>
          <p:spPr bwMode="auto">
            <a:xfrm>
              <a:off x="2436" y="3689"/>
              <a:ext cx="62" cy="147"/>
            </a:xfrm>
            <a:custGeom>
              <a:avLst/>
              <a:gdLst>
                <a:gd name="T0" fmla="*/ 62 w 62"/>
                <a:gd name="T1" fmla="*/ 0 h 147"/>
                <a:gd name="T2" fmla="*/ 25 w 62"/>
                <a:gd name="T3" fmla="*/ 25 h 147"/>
                <a:gd name="T4" fmla="*/ 0 w 62"/>
                <a:gd name="T5" fmla="*/ 0 h 147"/>
                <a:gd name="T6" fmla="*/ 25 w 62"/>
                <a:gd name="T7" fmla="*/ 147 h 147"/>
                <a:gd name="T8" fmla="*/ 62 w 62"/>
                <a:gd name="T9" fmla="*/ 0 h 147"/>
                <a:gd name="T10" fmla="*/ 0 60000 65536"/>
                <a:gd name="T11" fmla="*/ 0 60000 65536"/>
                <a:gd name="T12" fmla="*/ 0 60000 65536"/>
                <a:gd name="T13" fmla="*/ 0 60000 65536"/>
                <a:gd name="T14" fmla="*/ 0 60000 65536"/>
                <a:gd name="T15" fmla="*/ 0 w 62"/>
                <a:gd name="T16" fmla="*/ 0 h 147"/>
                <a:gd name="T17" fmla="*/ 62 w 62"/>
                <a:gd name="T18" fmla="*/ 147 h 147"/>
              </a:gdLst>
              <a:ahLst/>
              <a:cxnLst>
                <a:cxn ang="T10">
                  <a:pos x="T0" y="T1"/>
                </a:cxn>
                <a:cxn ang="T11">
                  <a:pos x="T2" y="T3"/>
                </a:cxn>
                <a:cxn ang="T12">
                  <a:pos x="T4" y="T5"/>
                </a:cxn>
                <a:cxn ang="T13">
                  <a:pos x="T6" y="T7"/>
                </a:cxn>
                <a:cxn ang="T14">
                  <a:pos x="T8" y="T9"/>
                </a:cxn>
              </a:cxnLst>
              <a:rect l="T15" t="T16" r="T17" b="T18"/>
              <a:pathLst>
                <a:path w="62" h="147">
                  <a:moveTo>
                    <a:pt x="62" y="0"/>
                  </a:moveTo>
                  <a:lnTo>
                    <a:pt x="25" y="25"/>
                  </a:lnTo>
                  <a:lnTo>
                    <a:pt x="0" y="0"/>
                  </a:lnTo>
                  <a:lnTo>
                    <a:pt x="25" y="147"/>
                  </a:lnTo>
                  <a:lnTo>
                    <a:pt x="62" y="0"/>
                  </a:lnTo>
                  <a:close/>
                </a:path>
              </a:pathLst>
            </a:custGeom>
            <a:solidFill>
              <a:srgbClr val="000000"/>
            </a:solidFill>
            <a:ln w="19050">
              <a:solidFill>
                <a:srgbClr val="000000"/>
              </a:solidFill>
              <a:round/>
              <a:headEnd/>
              <a:tailEnd/>
            </a:ln>
          </p:spPr>
          <p:txBody>
            <a:bodyPr/>
            <a:lstStyle/>
            <a:p>
              <a:endParaRPr lang="zh-CN" altLang="en-US"/>
            </a:p>
          </p:txBody>
        </p:sp>
        <p:sp>
          <p:nvSpPr>
            <p:cNvPr id="74818" name="Rectangle 64"/>
            <p:cNvSpPr>
              <a:spLocks noChangeArrowheads="1"/>
            </p:cNvSpPr>
            <p:nvPr/>
          </p:nvSpPr>
          <p:spPr bwMode="auto">
            <a:xfrm>
              <a:off x="1348" y="2836"/>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4819" name="Rectangle 65"/>
            <p:cNvSpPr>
              <a:spLocks noChangeArrowheads="1"/>
            </p:cNvSpPr>
            <p:nvPr/>
          </p:nvSpPr>
          <p:spPr bwMode="auto">
            <a:xfrm>
              <a:off x="1446" y="292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3</a:t>
              </a:r>
              <a:endParaRPr lang="en-US" altLang="zh-CN"/>
            </a:p>
          </p:txBody>
        </p:sp>
        <p:sp>
          <p:nvSpPr>
            <p:cNvPr id="74820" name="Rectangle 66"/>
            <p:cNvSpPr>
              <a:spLocks noChangeArrowheads="1"/>
            </p:cNvSpPr>
            <p:nvPr/>
          </p:nvSpPr>
          <p:spPr bwMode="auto">
            <a:xfrm>
              <a:off x="1568" y="2836"/>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4821" name="Rectangle 67"/>
            <p:cNvSpPr>
              <a:spLocks noChangeArrowheads="1"/>
            </p:cNvSpPr>
            <p:nvPr/>
          </p:nvSpPr>
          <p:spPr bwMode="auto">
            <a:xfrm>
              <a:off x="1666" y="292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74822" name="Rectangle 68"/>
            <p:cNvSpPr>
              <a:spLocks noChangeArrowheads="1"/>
            </p:cNvSpPr>
            <p:nvPr/>
          </p:nvSpPr>
          <p:spPr bwMode="auto">
            <a:xfrm>
              <a:off x="1813" y="2836"/>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4823" name="Rectangle 69"/>
            <p:cNvSpPr>
              <a:spLocks noChangeArrowheads="1"/>
            </p:cNvSpPr>
            <p:nvPr/>
          </p:nvSpPr>
          <p:spPr bwMode="auto">
            <a:xfrm>
              <a:off x="1911" y="292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4824" name="Rectangle 70"/>
            <p:cNvSpPr>
              <a:spLocks noChangeArrowheads="1"/>
            </p:cNvSpPr>
            <p:nvPr/>
          </p:nvSpPr>
          <p:spPr bwMode="auto">
            <a:xfrm>
              <a:off x="2033" y="2836"/>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4825" name="Rectangle 71"/>
            <p:cNvSpPr>
              <a:spLocks noChangeArrowheads="1"/>
            </p:cNvSpPr>
            <p:nvPr/>
          </p:nvSpPr>
          <p:spPr bwMode="auto">
            <a:xfrm>
              <a:off x="2131" y="292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4826" name="Rectangle 72"/>
            <p:cNvSpPr>
              <a:spLocks noChangeArrowheads="1"/>
            </p:cNvSpPr>
            <p:nvPr/>
          </p:nvSpPr>
          <p:spPr bwMode="auto">
            <a:xfrm rot="-5400000">
              <a:off x="2247" y="234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74827" name="Rectangle 73"/>
            <p:cNvSpPr>
              <a:spLocks noChangeArrowheads="1"/>
            </p:cNvSpPr>
            <p:nvPr/>
          </p:nvSpPr>
          <p:spPr bwMode="auto">
            <a:xfrm rot="-5400000">
              <a:off x="2687" y="234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74828" name="Rectangle 74"/>
            <p:cNvSpPr>
              <a:spLocks noChangeArrowheads="1"/>
            </p:cNvSpPr>
            <p:nvPr/>
          </p:nvSpPr>
          <p:spPr bwMode="auto">
            <a:xfrm rot="-5400000">
              <a:off x="3139" y="234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74829" name="Rectangle 75"/>
            <p:cNvSpPr>
              <a:spLocks noChangeArrowheads="1"/>
            </p:cNvSpPr>
            <p:nvPr/>
          </p:nvSpPr>
          <p:spPr bwMode="auto">
            <a:xfrm rot="-5400000">
              <a:off x="3604" y="234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grpSp>
    </p:spTree>
  </p:cSld>
  <p:clrMapOvr>
    <a:masterClrMapping/>
  </p:clrMapOvr>
  <p:transition>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D15C0780-5E41-4333-8880-D66B5761FC3B}" type="datetime1">
              <a:rPr lang="zh-CN" altLang="en-US"/>
              <a:pPr>
                <a:defRPr/>
              </a:pPr>
              <a:t>2020/10/10</a:t>
            </a:fld>
            <a:endParaRPr lang="en-US" altLang="zh-CN"/>
          </a:p>
        </p:txBody>
      </p:sp>
      <p:sp>
        <p:nvSpPr>
          <p:cNvPr id="8" name="灯片编号占位符 5"/>
          <p:cNvSpPr>
            <a:spLocks noGrp="1"/>
          </p:cNvSpPr>
          <p:nvPr>
            <p:ph type="sldNum" sz="quarter" idx="12"/>
          </p:nvPr>
        </p:nvSpPr>
        <p:spPr/>
        <p:txBody>
          <a:bodyPr/>
          <a:lstStyle/>
          <a:p>
            <a:pPr>
              <a:defRPr/>
            </a:pPr>
            <a:fld id="{D5584E44-3F78-46A9-9972-FBA7ABCF0D26}" type="slidenum">
              <a:rPr lang="en-US" altLang="zh-CN"/>
              <a:pPr>
                <a:defRPr/>
              </a:pPr>
              <a:t>76</a:t>
            </a:fld>
            <a:endParaRPr lang="en-US" altLang="zh-CN"/>
          </a:p>
        </p:txBody>
      </p:sp>
      <p:sp>
        <p:nvSpPr>
          <p:cNvPr id="75780" name="Rectangle 2"/>
          <p:cNvSpPr>
            <a:spLocks noGrp="1" noChangeArrowheads="1"/>
          </p:cNvSpPr>
          <p:nvPr>
            <p:ph type="title"/>
          </p:nvPr>
        </p:nvSpPr>
        <p:spPr/>
        <p:txBody>
          <a:bodyPr/>
          <a:lstStyle/>
          <a:p>
            <a:pPr eaLnBrk="1" hangingPunct="1"/>
            <a:r>
              <a:rPr lang="zh-CN" altLang="en-US" b="1" smtClean="0"/>
              <a:t>全加器的应用</a:t>
            </a:r>
          </a:p>
        </p:txBody>
      </p:sp>
      <p:sp>
        <p:nvSpPr>
          <p:cNvPr id="75781" name="Rectangle 3"/>
          <p:cNvSpPr>
            <a:spLocks noGrp="1" noChangeArrowheads="1"/>
          </p:cNvSpPr>
          <p:nvPr>
            <p:ph type="body" idx="1"/>
          </p:nvPr>
        </p:nvSpPr>
        <p:spPr/>
        <p:txBody>
          <a:bodyPr/>
          <a:lstStyle/>
          <a:p>
            <a:pPr eaLnBrk="1" hangingPunct="1"/>
            <a:r>
              <a:rPr lang="zh-CN" altLang="en-US" b="1" smtClean="0"/>
              <a:t>试用全加器完成二进制的乘法功能。</a:t>
            </a:r>
          </a:p>
          <a:p>
            <a:pPr lvl="1" eaLnBrk="1" hangingPunct="1"/>
            <a:r>
              <a:rPr lang="zh-CN" altLang="en-US" b="1" smtClean="0"/>
              <a:t>解：以两个两位二进制数相乘为例。乘法算式如下： </a:t>
            </a:r>
          </a:p>
        </p:txBody>
      </p:sp>
      <p:grpSp>
        <p:nvGrpSpPr>
          <p:cNvPr id="75782" name="Group 77"/>
          <p:cNvGrpSpPr>
            <a:grpSpLocks/>
          </p:cNvGrpSpPr>
          <p:nvPr/>
        </p:nvGrpSpPr>
        <p:grpSpPr bwMode="auto">
          <a:xfrm>
            <a:off x="2286000" y="2498725"/>
            <a:ext cx="4370388" cy="4283075"/>
            <a:chOff x="1440" y="1574"/>
            <a:chExt cx="2753" cy="2698"/>
          </a:xfrm>
        </p:grpSpPr>
        <p:pic>
          <p:nvPicPr>
            <p:cNvPr id="75783" name="Picture 75" descr="C:\WINDOWS\Desktop\未标题-1 拷贝.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1574"/>
              <a:ext cx="2753" cy="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4" name="Text Box 76"/>
            <p:cNvSpPr txBox="1">
              <a:spLocks noChangeArrowheads="1"/>
            </p:cNvSpPr>
            <p:nvPr/>
          </p:nvSpPr>
          <p:spPr bwMode="auto">
            <a:xfrm>
              <a:off x="2130" y="4060"/>
              <a:ext cx="682" cy="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600" b="1"/>
                <a:t>下图：</a:t>
              </a:r>
            </a:p>
          </p:txBody>
        </p:sp>
      </p:gr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日期占位符 3"/>
          <p:cNvSpPr>
            <a:spLocks noGrp="1"/>
          </p:cNvSpPr>
          <p:nvPr>
            <p:ph type="dt" sz="quarter" idx="10"/>
          </p:nvPr>
        </p:nvSpPr>
        <p:spPr/>
        <p:txBody>
          <a:bodyPr/>
          <a:lstStyle/>
          <a:p>
            <a:pPr>
              <a:defRPr/>
            </a:pPr>
            <a:fld id="{D0CCFE16-DD2B-48CA-A7FC-A80E44B5AB6C}" type="datetime1">
              <a:rPr lang="zh-CN" altLang="en-US"/>
              <a:pPr>
                <a:defRPr/>
              </a:pPr>
              <a:t>2020/10/10</a:t>
            </a:fld>
            <a:endParaRPr lang="en-US" altLang="zh-CN"/>
          </a:p>
        </p:txBody>
      </p:sp>
      <p:sp>
        <p:nvSpPr>
          <p:cNvPr id="81" name="灯片编号占位符 5"/>
          <p:cNvSpPr>
            <a:spLocks noGrp="1"/>
          </p:cNvSpPr>
          <p:nvPr>
            <p:ph type="sldNum" sz="quarter" idx="12"/>
          </p:nvPr>
        </p:nvSpPr>
        <p:spPr/>
        <p:txBody>
          <a:bodyPr/>
          <a:lstStyle/>
          <a:p>
            <a:pPr>
              <a:defRPr/>
            </a:pPr>
            <a:fld id="{1C251689-535B-4B6E-8156-602630D62F71}" type="slidenum">
              <a:rPr lang="en-US" altLang="zh-CN"/>
              <a:pPr>
                <a:defRPr/>
              </a:pPr>
              <a:t>77</a:t>
            </a:fld>
            <a:endParaRPr lang="en-US" altLang="zh-CN"/>
          </a:p>
        </p:txBody>
      </p:sp>
      <p:sp>
        <p:nvSpPr>
          <p:cNvPr id="76804" name="Rectangle 2"/>
          <p:cNvSpPr>
            <a:spLocks noGrp="1" noChangeArrowheads="1"/>
          </p:cNvSpPr>
          <p:nvPr>
            <p:ph type="title"/>
          </p:nvPr>
        </p:nvSpPr>
        <p:spPr/>
        <p:txBody>
          <a:bodyPr/>
          <a:lstStyle/>
          <a:p>
            <a:pPr eaLnBrk="1" hangingPunct="1"/>
            <a:r>
              <a:rPr lang="zh-CN" altLang="en-US" b="1" smtClean="0"/>
              <a:t>全加器的应用</a:t>
            </a:r>
          </a:p>
        </p:txBody>
      </p:sp>
      <p:grpSp>
        <p:nvGrpSpPr>
          <p:cNvPr id="76805" name="Group 89"/>
          <p:cNvGrpSpPr>
            <a:grpSpLocks/>
          </p:cNvGrpSpPr>
          <p:nvPr/>
        </p:nvGrpSpPr>
        <p:grpSpPr bwMode="auto">
          <a:xfrm>
            <a:off x="2119313" y="1571625"/>
            <a:ext cx="4887912" cy="4903788"/>
            <a:chOff x="1335" y="990"/>
            <a:chExt cx="3079" cy="3089"/>
          </a:xfrm>
        </p:grpSpPr>
        <p:sp>
          <p:nvSpPr>
            <p:cNvPr id="76806" name="Rectangle 8"/>
            <p:cNvSpPr>
              <a:spLocks noChangeArrowheads="1"/>
            </p:cNvSpPr>
            <p:nvPr/>
          </p:nvSpPr>
          <p:spPr bwMode="auto">
            <a:xfrm>
              <a:off x="2292" y="991"/>
              <a:ext cx="233" cy="381"/>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6807" name="Line 9"/>
            <p:cNvSpPr>
              <a:spLocks noChangeShapeType="1"/>
            </p:cNvSpPr>
            <p:nvPr/>
          </p:nvSpPr>
          <p:spPr bwMode="auto">
            <a:xfrm>
              <a:off x="2525" y="1188"/>
              <a:ext cx="1644"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8" name="Line 10"/>
            <p:cNvSpPr>
              <a:spLocks noChangeShapeType="1"/>
            </p:cNvSpPr>
            <p:nvPr/>
          </p:nvSpPr>
          <p:spPr bwMode="auto">
            <a:xfrm>
              <a:off x="1531" y="1089"/>
              <a:ext cx="76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9" name="Line 11"/>
            <p:cNvSpPr>
              <a:spLocks noChangeShapeType="1"/>
            </p:cNvSpPr>
            <p:nvPr/>
          </p:nvSpPr>
          <p:spPr bwMode="auto">
            <a:xfrm>
              <a:off x="1531" y="1274"/>
              <a:ext cx="76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0" name="Rectangle 12"/>
            <p:cNvSpPr>
              <a:spLocks noChangeArrowheads="1"/>
            </p:cNvSpPr>
            <p:nvPr/>
          </p:nvSpPr>
          <p:spPr bwMode="auto">
            <a:xfrm>
              <a:off x="2292" y="1557"/>
              <a:ext cx="233" cy="381"/>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6811" name="Line 13"/>
            <p:cNvSpPr>
              <a:spLocks noChangeShapeType="1"/>
            </p:cNvSpPr>
            <p:nvPr/>
          </p:nvSpPr>
          <p:spPr bwMode="auto">
            <a:xfrm>
              <a:off x="1531" y="1655"/>
              <a:ext cx="76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2" name="Freeform 14"/>
            <p:cNvSpPr>
              <a:spLocks/>
            </p:cNvSpPr>
            <p:nvPr/>
          </p:nvSpPr>
          <p:spPr bwMode="auto">
            <a:xfrm>
              <a:off x="2096" y="1274"/>
              <a:ext cx="196" cy="578"/>
            </a:xfrm>
            <a:custGeom>
              <a:avLst/>
              <a:gdLst>
                <a:gd name="T0" fmla="*/ 0 w 196"/>
                <a:gd name="T1" fmla="*/ 0 h 578"/>
                <a:gd name="T2" fmla="*/ 0 w 196"/>
                <a:gd name="T3" fmla="*/ 578 h 578"/>
                <a:gd name="T4" fmla="*/ 196 w 196"/>
                <a:gd name="T5" fmla="*/ 578 h 578"/>
                <a:gd name="T6" fmla="*/ 0 60000 65536"/>
                <a:gd name="T7" fmla="*/ 0 60000 65536"/>
                <a:gd name="T8" fmla="*/ 0 60000 65536"/>
                <a:gd name="T9" fmla="*/ 0 w 196"/>
                <a:gd name="T10" fmla="*/ 0 h 578"/>
                <a:gd name="T11" fmla="*/ 196 w 196"/>
                <a:gd name="T12" fmla="*/ 578 h 578"/>
              </a:gdLst>
              <a:ahLst/>
              <a:cxnLst>
                <a:cxn ang="T6">
                  <a:pos x="T0" y="T1"/>
                </a:cxn>
                <a:cxn ang="T7">
                  <a:pos x="T2" y="T3"/>
                </a:cxn>
                <a:cxn ang="T8">
                  <a:pos x="T4" y="T5"/>
                </a:cxn>
              </a:cxnLst>
              <a:rect l="T9" t="T10" r="T11" b="T12"/>
              <a:pathLst>
                <a:path w="196" h="578">
                  <a:moveTo>
                    <a:pt x="0" y="0"/>
                  </a:moveTo>
                  <a:lnTo>
                    <a:pt x="0" y="578"/>
                  </a:lnTo>
                  <a:lnTo>
                    <a:pt x="196" y="578"/>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3" name="Rectangle 15"/>
            <p:cNvSpPr>
              <a:spLocks noChangeArrowheads="1"/>
            </p:cNvSpPr>
            <p:nvPr/>
          </p:nvSpPr>
          <p:spPr bwMode="auto">
            <a:xfrm>
              <a:off x="2292" y="2135"/>
              <a:ext cx="233" cy="3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6814" name="Freeform 16"/>
            <p:cNvSpPr>
              <a:spLocks/>
            </p:cNvSpPr>
            <p:nvPr/>
          </p:nvSpPr>
          <p:spPr bwMode="auto">
            <a:xfrm>
              <a:off x="1912" y="1089"/>
              <a:ext cx="380" cy="1132"/>
            </a:xfrm>
            <a:custGeom>
              <a:avLst/>
              <a:gdLst>
                <a:gd name="T0" fmla="*/ 0 w 380"/>
                <a:gd name="T1" fmla="*/ 0 h 1132"/>
                <a:gd name="T2" fmla="*/ 0 w 380"/>
                <a:gd name="T3" fmla="*/ 1132 h 1132"/>
                <a:gd name="T4" fmla="*/ 380 w 380"/>
                <a:gd name="T5" fmla="*/ 1132 h 1132"/>
                <a:gd name="T6" fmla="*/ 0 60000 65536"/>
                <a:gd name="T7" fmla="*/ 0 60000 65536"/>
                <a:gd name="T8" fmla="*/ 0 60000 65536"/>
                <a:gd name="T9" fmla="*/ 0 w 380"/>
                <a:gd name="T10" fmla="*/ 0 h 1132"/>
                <a:gd name="T11" fmla="*/ 380 w 380"/>
                <a:gd name="T12" fmla="*/ 1132 h 1132"/>
              </a:gdLst>
              <a:ahLst/>
              <a:cxnLst>
                <a:cxn ang="T6">
                  <a:pos x="T0" y="T1"/>
                </a:cxn>
                <a:cxn ang="T7">
                  <a:pos x="T2" y="T3"/>
                </a:cxn>
                <a:cxn ang="T8">
                  <a:pos x="T4" y="T5"/>
                </a:cxn>
              </a:cxnLst>
              <a:rect l="T9" t="T10" r="T11" b="T12"/>
              <a:pathLst>
                <a:path w="380" h="1132">
                  <a:moveTo>
                    <a:pt x="0" y="0"/>
                  </a:moveTo>
                  <a:lnTo>
                    <a:pt x="0" y="1132"/>
                  </a:lnTo>
                  <a:lnTo>
                    <a:pt x="380" y="113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5" name="Line 17"/>
            <p:cNvSpPr>
              <a:spLocks noChangeShapeType="1"/>
            </p:cNvSpPr>
            <p:nvPr/>
          </p:nvSpPr>
          <p:spPr bwMode="auto">
            <a:xfrm>
              <a:off x="1531" y="2418"/>
              <a:ext cx="76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6" name="Rectangle 18"/>
            <p:cNvSpPr>
              <a:spLocks noChangeArrowheads="1"/>
            </p:cNvSpPr>
            <p:nvPr/>
          </p:nvSpPr>
          <p:spPr bwMode="auto">
            <a:xfrm>
              <a:off x="2942" y="1557"/>
              <a:ext cx="479" cy="94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7" name="Rectangle 19"/>
            <p:cNvSpPr>
              <a:spLocks noChangeArrowheads="1"/>
            </p:cNvSpPr>
            <p:nvPr/>
          </p:nvSpPr>
          <p:spPr bwMode="auto">
            <a:xfrm>
              <a:off x="3102" y="1913"/>
              <a:ext cx="24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Times"/>
                </a:rPr>
                <a:t>∑</a:t>
              </a:r>
              <a:endParaRPr lang="en-US" altLang="zh-CN"/>
            </a:p>
          </p:txBody>
        </p:sp>
        <p:sp>
          <p:nvSpPr>
            <p:cNvPr id="76818" name="Line 20"/>
            <p:cNvSpPr>
              <a:spLocks noChangeShapeType="1"/>
            </p:cNvSpPr>
            <p:nvPr/>
          </p:nvSpPr>
          <p:spPr bwMode="auto">
            <a:xfrm>
              <a:off x="2525" y="1753"/>
              <a:ext cx="41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9" name="Line 21"/>
            <p:cNvSpPr>
              <a:spLocks noChangeShapeType="1"/>
            </p:cNvSpPr>
            <p:nvPr/>
          </p:nvSpPr>
          <p:spPr bwMode="auto">
            <a:xfrm>
              <a:off x="2525" y="2319"/>
              <a:ext cx="41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0" name="Rectangle 22"/>
            <p:cNvSpPr>
              <a:spLocks noChangeArrowheads="1"/>
            </p:cNvSpPr>
            <p:nvPr/>
          </p:nvSpPr>
          <p:spPr bwMode="auto">
            <a:xfrm>
              <a:off x="2991" y="1655"/>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6821" name="Rectangle 23"/>
            <p:cNvSpPr>
              <a:spLocks noChangeArrowheads="1"/>
            </p:cNvSpPr>
            <p:nvPr/>
          </p:nvSpPr>
          <p:spPr bwMode="auto">
            <a:xfrm>
              <a:off x="2991" y="2221"/>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6822" name="Line 24"/>
            <p:cNvSpPr>
              <a:spLocks noChangeShapeType="1"/>
            </p:cNvSpPr>
            <p:nvPr/>
          </p:nvSpPr>
          <p:spPr bwMode="auto">
            <a:xfrm flipV="1">
              <a:off x="3188" y="1372"/>
              <a:ext cx="1" cy="18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3" name="Line 25"/>
            <p:cNvSpPr>
              <a:spLocks noChangeShapeType="1"/>
            </p:cNvSpPr>
            <p:nvPr/>
          </p:nvSpPr>
          <p:spPr bwMode="auto">
            <a:xfrm>
              <a:off x="3114" y="1372"/>
              <a:ext cx="13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4" name="Line 26"/>
            <p:cNvSpPr>
              <a:spLocks noChangeShapeType="1"/>
            </p:cNvSpPr>
            <p:nvPr/>
          </p:nvSpPr>
          <p:spPr bwMode="auto">
            <a:xfrm flipV="1">
              <a:off x="3188" y="2504"/>
              <a:ext cx="1" cy="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5" name="Rectangle 27"/>
            <p:cNvSpPr>
              <a:spLocks noChangeArrowheads="1"/>
            </p:cNvSpPr>
            <p:nvPr/>
          </p:nvSpPr>
          <p:spPr bwMode="auto">
            <a:xfrm>
              <a:off x="2942" y="2885"/>
              <a:ext cx="479" cy="849"/>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26" name="Rectangle 28"/>
            <p:cNvSpPr>
              <a:spLocks noChangeArrowheads="1"/>
            </p:cNvSpPr>
            <p:nvPr/>
          </p:nvSpPr>
          <p:spPr bwMode="auto">
            <a:xfrm>
              <a:off x="3102" y="3168"/>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Times"/>
                </a:rPr>
                <a:t>∑</a:t>
              </a:r>
              <a:endParaRPr lang="en-US" altLang="zh-CN"/>
            </a:p>
          </p:txBody>
        </p:sp>
        <p:sp>
          <p:nvSpPr>
            <p:cNvPr id="76827" name="Rectangle 29"/>
            <p:cNvSpPr>
              <a:spLocks noChangeArrowheads="1"/>
            </p:cNvSpPr>
            <p:nvPr/>
          </p:nvSpPr>
          <p:spPr bwMode="auto">
            <a:xfrm>
              <a:off x="2292" y="2885"/>
              <a:ext cx="233" cy="382"/>
            </a:xfrm>
            <a:prstGeom prst="rect">
              <a:avLst/>
            </a:prstGeom>
            <a:solidFill>
              <a:srgbClr val="FFFFFF"/>
            </a:solidFill>
            <a:ln w="19050">
              <a:solidFill>
                <a:srgbClr val="000000"/>
              </a:solidFill>
              <a:miter lim="800000"/>
              <a:headEnd/>
              <a:tailEnd/>
            </a:ln>
          </p:spPr>
          <p:txBody>
            <a:bodyPr/>
            <a:lstStyle/>
            <a:p>
              <a:endParaRPr lang="zh-CN" altLang="en-US"/>
            </a:p>
          </p:txBody>
        </p:sp>
        <p:sp>
          <p:nvSpPr>
            <p:cNvPr id="76828" name="Line 30"/>
            <p:cNvSpPr>
              <a:spLocks noChangeShapeType="1"/>
            </p:cNvSpPr>
            <p:nvPr/>
          </p:nvSpPr>
          <p:spPr bwMode="auto">
            <a:xfrm>
              <a:off x="2525" y="3070"/>
              <a:ext cx="41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9" name="Rectangle 31"/>
            <p:cNvSpPr>
              <a:spLocks noChangeArrowheads="1"/>
            </p:cNvSpPr>
            <p:nvPr/>
          </p:nvSpPr>
          <p:spPr bwMode="auto">
            <a:xfrm>
              <a:off x="2991" y="2971"/>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6830" name="Rectangle 32"/>
            <p:cNvSpPr>
              <a:spLocks noChangeArrowheads="1"/>
            </p:cNvSpPr>
            <p:nvPr/>
          </p:nvSpPr>
          <p:spPr bwMode="auto">
            <a:xfrm>
              <a:off x="2991" y="3353"/>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6831" name="Freeform 33"/>
            <p:cNvSpPr>
              <a:spLocks/>
            </p:cNvSpPr>
            <p:nvPr/>
          </p:nvSpPr>
          <p:spPr bwMode="auto">
            <a:xfrm>
              <a:off x="2660" y="3451"/>
              <a:ext cx="282" cy="185"/>
            </a:xfrm>
            <a:custGeom>
              <a:avLst/>
              <a:gdLst>
                <a:gd name="T0" fmla="*/ 282 w 282"/>
                <a:gd name="T1" fmla="*/ 0 h 185"/>
                <a:gd name="T2" fmla="*/ 0 w 282"/>
                <a:gd name="T3" fmla="*/ 0 h 185"/>
                <a:gd name="T4" fmla="*/ 0 w 282"/>
                <a:gd name="T5" fmla="*/ 185 h 185"/>
                <a:gd name="T6" fmla="*/ 0 60000 65536"/>
                <a:gd name="T7" fmla="*/ 0 60000 65536"/>
                <a:gd name="T8" fmla="*/ 0 60000 65536"/>
                <a:gd name="T9" fmla="*/ 0 w 282"/>
                <a:gd name="T10" fmla="*/ 0 h 185"/>
                <a:gd name="T11" fmla="*/ 282 w 282"/>
                <a:gd name="T12" fmla="*/ 185 h 185"/>
              </a:gdLst>
              <a:ahLst/>
              <a:cxnLst>
                <a:cxn ang="T6">
                  <a:pos x="T0" y="T1"/>
                </a:cxn>
                <a:cxn ang="T7">
                  <a:pos x="T2" y="T3"/>
                </a:cxn>
                <a:cxn ang="T8">
                  <a:pos x="T4" y="T5"/>
                </a:cxn>
              </a:cxnLst>
              <a:rect l="T9" t="T10" r="T11" b="T12"/>
              <a:pathLst>
                <a:path w="282" h="185">
                  <a:moveTo>
                    <a:pt x="282" y="0"/>
                  </a:moveTo>
                  <a:lnTo>
                    <a:pt x="0" y="0"/>
                  </a:lnTo>
                  <a:lnTo>
                    <a:pt x="0" y="185"/>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2" name="Line 34"/>
            <p:cNvSpPr>
              <a:spLocks noChangeShapeType="1"/>
            </p:cNvSpPr>
            <p:nvPr/>
          </p:nvSpPr>
          <p:spPr bwMode="auto">
            <a:xfrm>
              <a:off x="2599" y="3636"/>
              <a:ext cx="13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3" name="Freeform 35"/>
            <p:cNvSpPr>
              <a:spLocks/>
            </p:cNvSpPr>
            <p:nvPr/>
          </p:nvSpPr>
          <p:spPr bwMode="auto">
            <a:xfrm>
              <a:off x="2096" y="2418"/>
              <a:ext cx="196" cy="566"/>
            </a:xfrm>
            <a:custGeom>
              <a:avLst/>
              <a:gdLst>
                <a:gd name="T0" fmla="*/ 0 w 196"/>
                <a:gd name="T1" fmla="*/ 0 h 566"/>
                <a:gd name="T2" fmla="*/ 0 w 196"/>
                <a:gd name="T3" fmla="*/ 566 h 566"/>
                <a:gd name="T4" fmla="*/ 196 w 196"/>
                <a:gd name="T5" fmla="*/ 566 h 566"/>
                <a:gd name="T6" fmla="*/ 0 60000 65536"/>
                <a:gd name="T7" fmla="*/ 0 60000 65536"/>
                <a:gd name="T8" fmla="*/ 0 60000 65536"/>
                <a:gd name="T9" fmla="*/ 0 w 196"/>
                <a:gd name="T10" fmla="*/ 0 h 566"/>
                <a:gd name="T11" fmla="*/ 196 w 196"/>
                <a:gd name="T12" fmla="*/ 566 h 566"/>
              </a:gdLst>
              <a:ahLst/>
              <a:cxnLst>
                <a:cxn ang="T6">
                  <a:pos x="T0" y="T1"/>
                </a:cxn>
                <a:cxn ang="T7">
                  <a:pos x="T2" y="T3"/>
                </a:cxn>
                <a:cxn ang="T8">
                  <a:pos x="T4" y="T5"/>
                </a:cxn>
              </a:cxnLst>
              <a:rect l="T9" t="T10" r="T11" b="T12"/>
              <a:pathLst>
                <a:path w="196" h="566">
                  <a:moveTo>
                    <a:pt x="0" y="0"/>
                  </a:moveTo>
                  <a:lnTo>
                    <a:pt x="0" y="566"/>
                  </a:lnTo>
                  <a:lnTo>
                    <a:pt x="196" y="56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4" name="Freeform 36"/>
            <p:cNvSpPr>
              <a:spLocks/>
            </p:cNvSpPr>
            <p:nvPr/>
          </p:nvSpPr>
          <p:spPr bwMode="auto">
            <a:xfrm>
              <a:off x="2071" y="1261"/>
              <a:ext cx="49" cy="37"/>
            </a:xfrm>
            <a:custGeom>
              <a:avLst/>
              <a:gdLst>
                <a:gd name="T0" fmla="*/ 0 w 49"/>
                <a:gd name="T1" fmla="*/ 13 h 37"/>
                <a:gd name="T2" fmla="*/ 12 w 49"/>
                <a:gd name="T3" fmla="*/ 0 h 37"/>
                <a:gd name="T4" fmla="*/ 37 w 49"/>
                <a:gd name="T5" fmla="*/ 0 h 37"/>
                <a:gd name="T6" fmla="*/ 49 w 49"/>
                <a:gd name="T7" fmla="*/ 13 h 37"/>
                <a:gd name="T8" fmla="*/ 37 w 49"/>
                <a:gd name="T9" fmla="*/ 37 h 37"/>
                <a:gd name="T10" fmla="*/ 12 w 49"/>
                <a:gd name="T11" fmla="*/ 37 h 37"/>
                <a:gd name="T12" fmla="*/ 0 w 49"/>
                <a:gd name="T13" fmla="*/ 13 h 37"/>
                <a:gd name="T14" fmla="*/ 0 60000 65536"/>
                <a:gd name="T15" fmla="*/ 0 60000 65536"/>
                <a:gd name="T16" fmla="*/ 0 60000 65536"/>
                <a:gd name="T17" fmla="*/ 0 60000 65536"/>
                <a:gd name="T18" fmla="*/ 0 60000 65536"/>
                <a:gd name="T19" fmla="*/ 0 60000 65536"/>
                <a:gd name="T20" fmla="*/ 0 60000 65536"/>
                <a:gd name="T21" fmla="*/ 0 w 49"/>
                <a:gd name="T22" fmla="*/ 0 h 37"/>
                <a:gd name="T23" fmla="*/ 49 w 4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7">
                  <a:moveTo>
                    <a:pt x="0" y="13"/>
                  </a:moveTo>
                  <a:lnTo>
                    <a:pt x="12" y="0"/>
                  </a:lnTo>
                  <a:lnTo>
                    <a:pt x="37" y="0"/>
                  </a:lnTo>
                  <a:lnTo>
                    <a:pt x="49" y="13"/>
                  </a:lnTo>
                  <a:lnTo>
                    <a:pt x="37" y="37"/>
                  </a:lnTo>
                  <a:lnTo>
                    <a:pt x="12" y="37"/>
                  </a:lnTo>
                  <a:lnTo>
                    <a:pt x="0" y="13"/>
                  </a:lnTo>
                  <a:close/>
                </a:path>
              </a:pathLst>
            </a:custGeom>
            <a:solidFill>
              <a:srgbClr val="000000"/>
            </a:solidFill>
            <a:ln w="19050">
              <a:solidFill>
                <a:srgbClr val="000000"/>
              </a:solidFill>
              <a:round/>
              <a:headEnd/>
              <a:tailEnd/>
            </a:ln>
          </p:spPr>
          <p:txBody>
            <a:bodyPr/>
            <a:lstStyle/>
            <a:p>
              <a:endParaRPr lang="zh-CN" altLang="en-US"/>
            </a:p>
          </p:txBody>
        </p:sp>
        <p:sp>
          <p:nvSpPr>
            <p:cNvPr id="76835" name="Freeform 37"/>
            <p:cNvSpPr>
              <a:spLocks/>
            </p:cNvSpPr>
            <p:nvPr/>
          </p:nvSpPr>
          <p:spPr bwMode="auto">
            <a:xfrm>
              <a:off x="1728" y="1655"/>
              <a:ext cx="564" cy="1513"/>
            </a:xfrm>
            <a:custGeom>
              <a:avLst/>
              <a:gdLst>
                <a:gd name="T0" fmla="*/ 0 w 564"/>
                <a:gd name="T1" fmla="*/ 0 h 1513"/>
                <a:gd name="T2" fmla="*/ 0 w 564"/>
                <a:gd name="T3" fmla="*/ 1513 h 1513"/>
                <a:gd name="T4" fmla="*/ 564 w 564"/>
                <a:gd name="T5" fmla="*/ 1513 h 1513"/>
                <a:gd name="T6" fmla="*/ 0 60000 65536"/>
                <a:gd name="T7" fmla="*/ 0 60000 65536"/>
                <a:gd name="T8" fmla="*/ 0 60000 65536"/>
                <a:gd name="T9" fmla="*/ 0 w 564"/>
                <a:gd name="T10" fmla="*/ 0 h 1513"/>
                <a:gd name="T11" fmla="*/ 564 w 564"/>
                <a:gd name="T12" fmla="*/ 1513 h 1513"/>
              </a:gdLst>
              <a:ahLst/>
              <a:cxnLst>
                <a:cxn ang="T6">
                  <a:pos x="T0" y="T1"/>
                </a:cxn>
                <a:cxn ang="T7">
                  <a:pos x="T2" y="T3"/>
                </a:cxn>
                <a:cxn ang="T8">
                  <a:pos x="T4" y="T5"/>
                </a:cxn>
              </a:cxnLst>
              <a:rect l="T9" t="T10" r="T11" b="T12"/>
              <a:pathLst>
                <a:path w="564" h="1513">
                  <a:moveTo>
                    <a:pt x="0" y="0"/>
                  </a:moveTo>
                  <a:lnTo>
                    <a:pt x="0" y="1513"/>
                  </a:lnTo>
                  <a:lnTo>
                    <a:pt x="564" y="151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36" name="Rectangle 38"/>
            <p:cNvSpPr>
              <a:spLocks noChangeArrowheads="1"/>
            </p:cNvSpPr>
            <p:nvPr/>
          </p:nvSpPr>
          <p:spPr bwMode="auto">
            <a:xfrm>
              <a:off x="1335" y="990"/>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6837" name="Rectangle 39"/>
            <p:cNvSpPr>
              <a:spLocks noChangeArrowheads="1"/>
            </p:cNvSpPr>
            <p:nvPr/>
          </p:nvSpPr>
          <p:spPr bwMode="auto">
            <a:xfrm>
              <a:off x="1433" y="1077"/>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6838" name="Rectangle 40"/>
            <p:cNvSpPr>
              <a:spLocks noChangeArrowheads="1"/>
            </p:cNvSpPr>
            <p:nvPr/>
          </p:nvSpPr>
          <p:spPr bwMode="auto">
            <a:xfrm>
              <a:off x="1335" y="1175"/>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6839" name="Rectangle 41"/>
            <p:cNvSpPr>
              <a:spLocks noChangeArrowheads="1"/>
            </p:cNvSpPr>
            <p:nvPr/>
          </p:nvSpPr>
          <p:spPr bwMode="auto">
            <a:xfrm>
              <a:off x="1433" y="1261"/>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6840" name="Rectangle 42"/>
            <p:cNvSpPr>
              <a:spLocks noChangeArrowheads="1"/>
            </p:cNvSpPr>
            <p:nvPr/>
          </p:nvSpPr>
          <p:spPr bwMode="auto">
            <a:xfrm>
              <a:off x="1335" y="2319"/>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B</a:t>
              </a:r>
              <a:endParaRPr lang="en-US" altLang="zh-CN"/>
            </a:p>
          </p:txBody>
        </p:sp>
        <p:sp>
          <p:nvSpPr>
            <p:cNvPr id="76841" name="Rectangle 43"/>
            <p:cNvSpPr>
              <a:spLocks noChangeArrowheads="1"/>
            </p:cNvSpPr>
            <p:nvPr/>
          </p:nvSpPr>
          <p:spPr bwMode="auto">
            <a:xfrm>
              <a:off x="1433" y="2393"/>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6842" name="Rectangle 44"/>
            <p:cNvSpPr>
              <a:spLocks noChangeArrowheads="1"/>
            </p:cNvSpPr>
            <p:nvPr/>
          </p:nvSpPr>
          <p:spPr bwMode="auto">
            <a:xfrm>
              <a:off x="1335" y="1556"/>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A</a:t>
              </a:r>
              <a:endParaRPr lang="en-US" altLang="zh-CN"/>
            </a:p>
          </p:txBody>
        </p:sp>
        <p:sp>
          <p:nvSpPr>
            <p:cNvPr id="76843" name="Rectangle 45"/>
            <p:cNvSpPr>
              <a:spLocks noChangeArrowheads="1"/>
            </p:cNvSpPr>
            <p:nvPr/>
          </p:nvSpPr>
          <p:spPr bwMode="auto">
            <a:xfrm>
              <a:off x="1433" y="1643"/>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6844" name="Freeform 46"/>
            <p:cNvSpPr>
              <a:spLocks/>
            </p:cNvSpPr>
            <p:nvPr/>
          </p:nvSpPr>
          <p:spPr bwMode="auto">
            <a:xfrm>
              <a:off x="3188" y="3734"/>
              <a:ext cx="994" cy="222"/>
            </a:xfrm>
            <a:custGeom>
              <a:avLst/>
              <a:gdLst>
                <a:gd name="T0" fmla="*/ 0 w 994"/>
                <a:gd name="T1" fmla="*/ 0 h 222"/>
                <a:gd name="T2" fmla="*/ 0 w 994"/>
                <a:gd name="T3" fmla="*/ 222 h 222"/>
                <a:gd name="T4" fmla="*/ 994 w 994"/>
                <a:gd name="T5" fmla="*/ 222 h 222"/>
                <a:gd name="T6" fmla="*/ 0 60000 65536"/>
                <a:gd name="T7" fmla="*/ 0 60000 65536"/>
                <a:gd name="T8" fmla="*/ 0 60000 65536"/>
                <a:gd name="T9" fmla="*/ 0 w 994"/>
                <a:gd name="T10" fmla="*/ 0 h 222"/>
                <a:gd name="T11" fmla="*/ 994 w 994"/>
                <a:gd name="T12" fmla="*/ 222 h 222"/>
              </a:gdLst>
              <a:ahLst/>
              <a:cxnLst>
                <a:cxn ang="T6">
                  <a:pos x="T0" y="T1"/>
                </a:cxn>
                <a:cxn ang="T7">
                  <a:pos x="T2" y="T3"/>
                </a:cxn>
                <a:cxn ang="T8">
                  <a:pos x="T4" y="T5"/>
                </a:cxn>
              </a:cxnLst>
              <a:rect l="T9" t="T10" r="T11" b="T12"/>
              <a:pathLst>
                <a:path w="994" h="222">
                  <a:moveTo>
                    <a:pt x="0" y="0"/>
                  </a:moveTo>
                  <a:lnTo>
                    <a:pt x="0" y="222"/>
                  </a:lnTo>
                  <a:lnTo>
                    <a:pt x="994" y="22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5" name="Line 47"/>
            <p:cNvSpPr>
              <a:spLocks noChangeShapeType="1"/>
            </p:cNvSpPr>
            <p:nvPr/>
          </p:nvSpPr>
          <p:spPr bwMode="auto">
            <a:xfrm flipH="1">
              <a:off x="3421" y="3316"/>
              <a:ext cx="74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6" name="Line 48"/>
            <p:cNvSpPr>
              <a:spLocks noChangeShapeType="1"/>
            </p:cNvSpPr>
            <p:nvPr/>
          </p:nvSpPr>
          <p:spPr bwMode="auto">
            <a:xfrm flipH="1">
              <a:off x="3421" y="2036"/>
              <a:ext cx="74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7" name="Rectangle 49"/>
            <p:cNvSpPr>
              <a:spLocks noChangeArrowheads="1"/>
            </p:cNvSpPr>
            <p:nvPr/>
          </p:nvSpPr>
          <p:spPr bwMode="auto">
            <a:xfrm>
              <a:off x="4206" y="1089"/>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P</a:t>
              </a:r>
              <a:endParaRPr lang="en-US" altLang="zh-CN"/>
            </a:p>
          </p:txBody>
        </p:sp>
        <p:sp>
          <p:nvSpPr>
            <p:cNvPr id="76848" name="Rectangle 50"/>
            <p:cNvSpPr>
              <a:spLocks noChangeArrowheads="1"/>
            </p:cNvSpPr>
            <p:nvPr/>
          </p:nvSpPr>
          <p:spPr bwMode="auto">
            <a:xfrm>
              <a:off x="4304" y="1163"/>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76849" name="Rectangle 51"/>
            <p:cNvSpPr>
              <a:spLocks noChangeArrowheads="1"/>
            </p:cNvSpPr>
            <p:nvPr/>
          </p:nvSpPr>
          <p:spPr bwMode="auto">
            <a:xfrm>
              <a:off x="4206" y="1938"/>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P</a:t>
              </a:r>
              <a:endParaRPr lang="en-US" altLang="zh-CN"/>
            </a:p>
          </p:txBody>
        </p:sp>
        <p:sp>
          <p:nvSpPr>
            <p:cNvPr id="76850" name="Rectangle 52"/>
            <p:cNvSpPr>
              <a:spLocks noChangeArrowheads="1"/>
            </p:cNvSpPr>
            <p:nvPr/>
          </p:nvSpPr>
          <p:spPr bwMode="auto">
            <a:xfrm>
              <a:off x="4304" y="2012"/>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6851" name="Rectangle 53"/>
            <p:cNvSpPr>
              <a:spLocks noChangeArrowheads="1"/>
            </p:cNvSpPr>
            <p:nvPr/>
          </p:nvSpPr>
          <p:spPr bwMode="auto">
            <a:xfrm>
              <a:off x="4206" y="3217"/>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P</a:t>
              </a:r>
              <a:endParaRPr lang="en-US" altLang="zh-CN"/>
            </a:p>
          </p:txBody>
        </p:sp>
        <p:sp>
          <p:nvSpPr>
            <p:cNvPr id="76852" name="Rectangle 54"/>
            <p:cNvSpPr>
              <a:spLocks noChangeArrowheads="1"/>
            </p:cNvSpPr>
            <p:nvPr/>
          </p:nvSpPr>
          <p:spPr bwMode="auto">
            <a:xfrm>
              <a:off x="4304" y="3291"/>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76853" name="Rectangle 55"/>
            <p:cNvSpPr>
              <a:spLocks noChangeArrowheads="1"/>
            </p:cNvSpPr>
            <p:nvPr/>
          </p:nvSpPr>
          <p:spPr bwMode="auto">
            <a:xfrm>
              <a:off x="4206" y="3820"/>
              <a:ext cx="1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P</a:t>
              </a:r>
              <a:endParaRPr lang="en-US" altLang="zh-CN"/>
            </a:p>
          </p:txBody>
        </p:sp>
        <p:sp>
          <p:nvSpPr>
            <p:cNvPr id="76854" name="Rectangle 56"/>
            <p:cNvSpPr>
              <a:spLocks noChangeArrowheads="1"/>
            </p:cNvSpPr>
            <p:nvPr/>
          </p:nvSpPr>
          <p:spPr bwMode="auto">
            <a:xfrm>
              <a:off x="4304" y="3907"/>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3</a:t>
              </a:r>
              <a:endParaRPr lang="en-US" altLang="zh-CN"/>
            </a:p>
          </p:txBody>
        </p:sp>
        <p:sp>
          <p:nvSpPr>
            <p:cNvPr id="76855" name="Rectangle 57"/>
            <p:cNvSpPr>
              <a:spLocks noChangeArrowheads="1"/>
            </p:cNvSpPr>
            <p:nvPr/>
          </p:nvSpPr>
          <p:spPr bwMode="auto">
            <a:xfrm>
              <a:off x="3237" y="3722"/>
              <a:ext cx="17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C</a:t>
              </a:r>
              <a:endParaRPr lang="en-US" altLang="zh-CN"/>
            </a:p>
          </p:txBody>
        </p:sp>
        <p:sp>
          <p:nvSpPr>
            <p:cNvPr id="76856" name="Rectangle 58"/>
            <p:cNvSpPr>
              <a:spLocks noChangeArrowheads="1"/>
            </p:cNvSpPr>
            <p:nvPr/>
          </p:nvSpPr>
          <p:spPr bwMode="auto">
            <a:xfrm>
              <a:off x="3347" y="3808"/>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76857" name="Rectangle 59"/>
            <p:cNvSpPr>
              <a:spLocks noChangeArrowheads="1"/>
            </p:cNvSpPr>
            <p:nvPr/>
          </p:nvSpPr>
          <p:spPr bwMode="auto">
            <a:xfrm>
              <a:off x="3225" y="2504"/>
              <a:ext cx="17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a:rPr>
                <a:t>C</a:t>
              </a:r>
              <a:endParaRPr lang="en-US" altLang="zh-CN"/>
            </a:p>
          </p:txBody>
        </p:sp>
        <p:sp>
          <p:nvSpPr>
            <p:cNvPr id="76858" name="Rectangle 60"/>
            <p:cNvSpPr>
              <a:spLocks noChangeArrowheads="1"/>
            </p:cNvSpPr>
            <p:nvPr/>
          </p:nvSpPr>
          <p:spPr bwMode="auto">
            <a:xfrm>
              <a:off x="3335" y="2578"/>
              <a:ext cx="1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76859" name="Rectangle 64"/>
            <p:cNvSpPr>
              <a:spLocks noChangeArrowheads="1"/>
            </p:cNvSpPr>
            <p:nvPr/>
          </p:nvSpPr>
          <p:spPr bwMode="auto">
            <a:xfrm>
              <a:off x="3120" y="153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CI</a:t>
              </a:r>
              <a:endParaRPr lang="en-US" altLang="zh-CN"/>
            </a:p>
          </p:txBody>
        </p:sp>
        <p:sp>
          <p:nvSpPr>
            <p:cNvPr id="76860" name="Rectangle 67"/>
            <p:cNvSpPr>
              <a:spLocks noChangeArrowheads="1"/>
            </p:cNvSpPr>
            <p:nvPr/>
          </p:nvSpPr>
          <p:spPr bwMode="auto">
            <a:xfrm>
              <a:off x="2353" y="990"/>
              <a:ext cx="22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宋体" pitchFamily="2" charset="-122"/>
                </a:rPr>
                <a:t>&amp;</a:t>
              </a:r>
              <a:endParaRPr lang="en-US" altLang="zh-CN"/>
            </a:p>
          </p:txBody>
        </p:sp>
        <p:sp>
          <p:nvSpPr>
            <p:cNvPr id="76861" name="Rectangle 68"/>
            <p:cNvSpPr>
              <a:spLocks noChangeArrowheads="1"/>
            </p:cNvSpPr>
            <p:nvPr/>
          </p:nvSpPr>
          <p:spPr bwMode="auto">
            <a:xfrm>
              <a:off x="2353" y="1568"/>
              <a:ext cx="22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宋体" pitchFamily="2" charset="-122"/>
                </a:rPr>
                <a:t>&amp;</a:t>
              </a:r>
              <a:endParaRPr lang="en-US" altLang="zh-CN"/>
            </a:p>
          </p:txBody>
        </p:sp>
        <p:sp>
          <p:nvSpPr>
            <p:cNvPr id="76862" name="Rectangle 69"/>
            <p:cNvSpPr>
              <a:spLocks noChangeArrowheads="1"/>
            </p:cNvSpPr>
            <p:nvPr/>
          </p:nvSpPr>
          <p:spPr bwMode="auto">
            <a:xfrm>
              <a:off x="2353" y="2122"/>
              <a:ext cx="22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宋体" pitchFamily="2" charset="-122"/>
                </a:rPr>
                <a:t>&amp;</a:t>
              </a:r>
              <a:endParaRPr lang="en-US" altLang="zh-CN"/>
            </a:p>
          </p:txBody>
        </p:sp>
        <p:sp>
          <p:nvSpPr>
            <p:cNvPr id="76863" name="Rectangle 70"/>
            <p:cNvSpPr>
              <a:spLocks noChangeArrowheads="1"/>
            </p:cNvSpPr>
            <p:nvPr/>
          </p:nvSpPr>
          <p:spPr bwMode="auto">
            <a:xfrm>
              <a:off x="2353" y="2873"/>
              <a:ext cx="22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宋体" pitchFamily="2" charset="-122"/>
                </a:rPr>
                <a:t>&amp;</a:t>
              </a:r>
              <a:endParaRPr lang="en-US" altLang="zh-CN"/>
            </a:p>
          </p:txBody>
        </p:sp>
        <p:sp>
          <p:nvSpPr>
            <p:cNvPr id="76864" name="Freeform 71"/>
            <p:cNvSpPr>
              <a:spLocks/>
            </p:cNvSpPr>
            <p:nvPr/>
          </p:nvSpPr>
          <p:spPr bwMode="auto">
            <a:xfrm>
              <a:off x="2059" y="2393"/>
              <a:ext cx="61" cy="49"/>
            </a:xfrm>
            <a:custGeom>
              <a:avLst/>
              <a:gdLst>
                <a:gd name="T0" fmla="*/ 0 w 61"/>
                <a:gd name="T1" fmla="*/ 25 h 49"/>
                <a:gd name="T2" fmla="*/ 24 w 61"/>
                <a:gd name="T3" fmla="*/ 0 h 49"/>
                <a:gd name="T4" fmla="*/ 49 w 61"/>
                <a:gd name="T5" fmla="*/ 0 h 49"/>
                <a:gd name="T6" fmla="*/ 61 w 61"/>
                <a:gd name="T7" fmla="*/ 25 h 49"/>
                <a:gd name="T8" fmla="*/ 49 w 61"/>
                <a:gd name="T9" fmla="*/ 49 h 49"/>
                <a:gd name="T10" fmla="*/ 24 w 61"/>
                <a:gd name="T11" fmla="*/ 49 h 49"/>
                <a:gd name="T12" fmla="*/ 0 w 61"/>
                <a:gd name="T13" fmla="*/ 25 h 49"/>
                <a:gd name="T14" fmla="*/ 0 60000 65536"/>
                <a:gd name="T15" fmla="*/ 0 60000 65536"/>
                <a:gd name="T16" fmla="*/ 0 60000 65536"/>
                <a:gd name="T17" fmla="*/ 0 60000 65536"/>
                <a:gd name="T18" fmla="*/ 0 60000 65536"/>
                <a:gd name="T19" fmla="*/ 0 60000 65536"/>
                <a:gd name="T20" fmla="*/ 0 60000 65536"/>
                <a:gd name="T21" fmla="*/ 0 w 61"/>
                <a:gd name="T22" fmla="*/ 0 h 49"/>
                <a:gd name="T23" fmla="*/ 61 w 61"/>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9">
                  <a:moveTo>
                    <a:pt x="0" y="25"/>
                  </a:moveTo>
                  <a:lnTo>
                    <a:pt x="24" y="0"/>
                  </a:lnTo>
                  <a:lnTo>
                    <a:pt x="49" y="0"/>
                  </a:lnTo>
                  <a:lnTo>
                    <a:pt x="61" y="25"/>
                  </a:lnTo>
                  <a:lnTo>
                    <a:pt x="49" y="49"/>
                  </a:lnTo>
                  <a:lnTo>
                    <a:pt x="24" y="49"/>
                  </a:lnTo>
                  <a:lnTo>
                    <a:pt x="0" y="25"/>
                  </a:lnTo>
                  <a:close/>
                </a:path>
              </a:pathLst>
            </a:custGeom>
            <a:solidFill>
              <a:srgbClr val="000000"/>
            </a:solidFill>
            <a:ln w="19050">
              <a:solidFill>
                <a:srgbClr val="000000"/>
              </a:solidFill>
              <a:round/>
              <a:headEnd/>
              <a:tailEnd/>
            </a:ln>
          </p:spPr>
          <p:txBody>
            <a:bodyPr/>
            <a:lstStyle/>
            <a:p>
              <a:endParaRPr lang="zh-CN" altLang="en-US"/>
            </a:p>
          </p:txBody>
        </p:sp>
        <p:sp>
          <p:nvSpPr>
            <p:cNvPr id="76865" name="Freeform 72"/>
            <p:cNvSpPr>
              <a:spLocks/>
            </p:cNvSpPr>
            <p:nvPr/>
          </p:nvSpPr>
          <p:spPr bwMode="auto">
            <a:xfrm>
              <a:off x="2795" y="3045"/>
              <a:ext cx="160" cy="62"/>
            </a:xfrm>
            <a:custGeom>
              <a:avLst/>
              <a:gdLst>
                <a:gd name="T0" fmla="*/ 0 w 160"/>
                <a:gd name="T1" fmla="*/ 0 h 62"/>
                <a:gd name="T2" fmla="*/ 37 w 160"/>
                <a:gd name="T3" fmla="*/ 25 h 62"/>
                <a:gd name="T4" fmla="*/ 0 w 160"/>
                <a:gd name="T5" fmla="*/ 62 h 62"/>
                <a:gd name="T6" fmla="*/ 160 w 160"/>
                <a:gd name="T7" fmla="*/ 25 h 62"/>
                <a:gd name="T8" fmla="*/ 0 w 160"/>
                <a:gd name="T9" fmla="*/ 0 h 62"/>
                <a:gd name="T10" fmla="*/ 0 60000 65536"/>
                <a:gd name="T11" fmla="*/ 0 60000 65536"/>
                <a:gd name="T12" fmla="*/ 0 60000 65536"/>
                <a:gd name="T13" fmla="*/ 0 60000 65536"/>
                <a:gd name="T14" fmla="*/ 0 60000 65536"/>
                <a:gd name="T15" fmla="*/ 0 w 160"/>
                <a:gd name="T16" fmla="*/ 0 h 62"/>
                <a:gd name="T17" fmla="*/ 160 w 160"/>
                <a:gd name="T18" fmla="*/ 62 h 62"/>
              </a:gdLst>
              <a:ahLst/>
              <a:cxnLst>
                <a:cxn ang="T10">
                  <a:pos x="T0" y="T1"/>
                </a:cxn>
                <a:cxn ang="T11">
                  <a:pos x="T2" y="T3"/>
                </a:cxn>
                <a:cxn ang="T12">
                  <a:pos x="T4" y="T5"/>
                </a:cxn>
                <a:cxn ang="T13">
                  <a:pos x="T6" y="T7"/>
                </a:cxn>
                <a:cxn ang="T14">
                  <a:pos x="T8" y="T9"/>
                </a:cxn>
              </a:cxnLst>
              <a:rect l="T15" t="T16" r="T17" b="T18"/>
              <a:pathLst>
                <a:path w="160" h="62">
                  <a:moveTo>
                    <a:pt x="0" y="0"/>
                  </a:moveTo>
                  <a:lnTo>
                    <a:pt x="37" y="25"/>
                  </a:lnTo>
                  <a:lnTo>
                    <a:pt x="0" y="62"/>
                  </a:lnTo>
                  <a:lnTo>
                    <a:pt x="160" y="25"/>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66" name="Freeform 73"/>
            <p:cNvSpPr>
              <a:spLocks/>
            </p:cNvSpPr>
            <p:nvPr/>
          </p:nvSpPr>
          <p:spPr bwMode="auto">
            <a:xfrm>
              <a:off x="1691" y="1630"/>
              <a:ext cx="49" cy="50"/>
            </a:xfrm>
            <a:custGeom>
              <a:avLst/>
              <a:gdLst>
                <a:gd name="T0" fmla="*/ 0 w 49"/>
                <a:gd name="T1" fmla="*/ 25 h 50"/>
                <a:gd name="T2" fmla="*/ 12 w 49"/>
                <a:gd name="T3" fmla="*/ 0 h 50"/>
                <a:gd name="T4" fmla="*/ 37 w 49"/>
                <a:gd name="T5" fmla="*/ 0 h 50"/>
                <a:gd name="T6" fmla="*/ 49 w 49"/>
                <a:gd name="T7" fmla="*/ 25 h 50"/>
                <a:gd name="T8" fmla="*/ 37 w 49"/>
                <a:gd name="T9" fmla="*/ 50 h 50"/>
                <a:gd name="T10" fmla="*/ 12 w 49"/>
                <a:gd name="T11" fmla="*/ 50 h 50"/>
                <a:gd name="T12" fmla="*/ 0 w 49"/>
                <a:gd name="T13" fmla="*/ 25 h 50"/>
                <a:gd name="T14" fmla="*/ 0 60000 65536"/>
                <a:gd name="T15" fmla="*/ 0 60000 65536"/>
                <a:gd name="T16" fmla="*/ 0 60000 65536"/>
                <a:gd name="T17" fmla="*/ 0 60000 65536"/>
                <a:gd name="T18" fmla="*/ 0 60000 65536"/>
                <a:gd name="T19" fmla="*/ 0 60000 65536"/>
                <a:gd name="T20" fmla="*/ 0 60000 65536"/>
                <a:gd name="T21" fmla="*/ 0 w 49"/>
                <a:gd name="T22" fmla="*/ 0 h 50"/>
                <a:gd name="T23" fmla="*/ 49 w 49"/>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50">
                  <a:moveTo>
                    <a:pt x="0" y="25"/>
                  </a:moveTo>
                  <a:lnTo>
                    <a:pt x="12" y="0"/>
                  </a:lnTo>
                  <a:lnTo>
                    <a:pt x="37" y="0"/>
                  </a:lnTo>
                  <a:lnTo>
                    <a:pt x="49" y="25"/>
                  </a:lnTo>
                  <a:lnTo>
                    <a:pt x="37" y="50"/>
                  </a:lnTo>
                  <a:lnTo>
                    <a:pt x="12" y="50"/>
                  </a:lnTo>
                  <a:lnTo>
                    <a:pt x="0" y="25"/>
                  </a:lnTo>
                  <a:close/>
                </a:path>
              </a:pathLst>
            </a:custGeom>
            <a:solidFill>
              <a:srgbClr val="000000"/>
            </a:solidFill>
            <a:ln w="19050">
              <a:solidFill>
                <a:srgbClr val="000000"/>
              </a:solidFill>
              <a:round/>
              <a:headEnd/>
              <a:tailEnd/>
            </a:ln>
          </p:spPr>
          <p:txBody>
            <a:bodyPr/>
            <a:lstStyle/>
            <a:p>
              <a:endParaRPr lang="zh-CN" altLang="en-US"/>
            </a:p>
          </p:txBody>
        </p:sp>
        <p:sp>
          <p:nvSpPr>
            <p:cNvPr id="76867" name="Freeform 74"/>
            <p:cNvSpPr>
              <a:spLocks/>
            </p:cNvSpPr>
            <p:nvPr/>
          </p:nvSpPr>
          <p:spPr bwMode="auto">
            <a:xfrm>
              <a:off x="2059" y="1249"/>
              <a:ext cx="61" cy="62"/>
            </a:xfrm>
            <a:custGeom>
              <a:avLst/>
              <a:gdLst>
                <a:gd name="T0" fmla="*/ 0 w 61"/>
                <a:gd name="T1" fmla="*/ 25 h 62"/>
                <a:gd name="T2" fmla="*/ 24 w 61"/>
                <a:gd name="T3" fmla="*/ 0 h 62"/>
                <a:gd name="T4" fmla="*/ 49 w 61"/>
                <a:gd name="T5" fmla="*/ 0 h 62"/>
                <a:gd name="T6" fmla="*/ 61 w 61"/>
                <a:gd name="T7" fmla="*/ 25 h 62"/>
                <a:gd name="T8" fmla="*/ 49 w 61"/>
                <a:gd name="T9" fmla="*/ 62 h 62"/>
                <a:gd name="T10" fmla="*/ 24 w 61"/>
                <a:gd name="T11" fmla="*/ 62 h 62"/>
                <a:gd name="T12" fmla="*/ 0 w 61"/>
                <a:gd name="T13" fmla="*/ 25 h 62"/>
                <a:gd name="T14" fmla="*/ 0 60000 65536"/>
                <a:gd name="T15" fmla="*/ 0 60000 65536"/>
                <a:gd name="T16" fmla="*/ 0 60000 65536"/>
                <a:gd name="T17" fmla="*/ 0 60000 65536"/>
                <a:gd name="T18" fmla="*/ 0 60000 65536"/>
                <a:gd name="T19" fmla="*/ 0 60000 65536"/>
                <a:gd name="T20" fmla="*/ 0 60000 65536"/>
                <a:gd name="T21" fmla="*/ 0 w 61"/>
                <a:gd name="T22" fmla="*/ 0 h 62"/>
                <a:gd name="T23" fmla="*/ 61 w 61"/>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62">
                  <a:moveTo>
                    <a:pt x="0" y="25"/>
                  </a:moveTo>
                  <a:lnTo>
                    <a:pt x="24" y="0"/>
                  </a:lnTo>
                  <a:lnTo>
                    <a:pt x="49" y="0"/>
                  </a:lnTo>
                  <a:lnTo>
                    <a:pt x="61" y="25"/>
                  </a:lnTo>
                  <a:lnTo>
                    <a:pt x="49" y="62"/>
                  </a:lnTo>
                  <a:lnTo>
                    <a:pt x="24" y="62"/>
                  </a:lnTo>
                  <a:lnTo>
                    <a:pt x="0" y="25"/>
                  </a:lnTo>
                  <a:close/>
                </a:path>
              </a:pathLst>
            </a:custGeom>
            <a:solidFill>
              <a:srgbClr val="000000"/>
            </a:solidFill>
            <a:ln w="19050">
              <a:solidFill>
                <a:srgbClr val="000000"/>
              </a:solidFill>
              <a:round/>
              <a:headEnd/>
              <a:tailEnd/>
            </a:ln>
          </p:spPr>
          <p:txBody>
            <a:bodyPr/>
            <a:lstStyle/>
            <a:p>
              <a:endParaRPr lang="zh-CN" altLang="en-US"/>
            </a:p>
          </p:txBody>
        </p:sp>
        <p:sp>
          <p:nvSpPr>
            <p:cNvPr id="76868" name="Freeform 75"/>
            <p:cNvSpPr>
              <a:spLocks/>
            </p:cNvSpPr>
            <p:nvPr/>
          </p:nvSpPr>
          <p:spPr bwMode="auto">
            <a:xfrm>
              <a:off x="1875" y="1064"/>
              <a:ext cx="61" cy="50"/>
            </a:xfrm>
            <a:custGeom>
              <a:avLst/>
              <a:gdLst>
                <a:gd name="T0" fmla="*/ 0 w 61"/>
                <a:gd name="T1" fmla="*/ 25 h 50"/>
                <a:gd name="T2" fmla="*/ 12 w 61"/>
                <a:gd name="T3" fmla="*/ 0 h 50"/>
                <a:gd name="T4" fmla="*/ 37 w 61"/>
                <a:gd name="T5" fmla="*/ 0 h 50"/>
                <a:gd name="T6" fmla="*/ 61 w 61"/>
                <a:gd name="T7" fmla="*/ 25 h 50"/>
                <a:gd name="T8" fmla="*/ 37 w 61"/>
                <a:gd name="T9" fmla="*/ 50 h 50"/>
                <a:gd name="T10" fmla="*/ 12 w 61"/>
                <a:gd name="T11" fmla="*/ 50 h 50"/>
                <a:gd name="T12" fmla="*/ 0 w 61"/>
                <a:gd name="T13" fmla="*/ 25 h 50"/>
                <a:gd name="T14" fmla="*/ 0 60000 65536"/>
                <a:gd name="T15" fmla="*/ 0 60000 65536"/>
                <a:gd name="T16" fmla="*/ 0 60000 65536"/>
                <a:gd name="T17" fmla="*/ 0 60000 65536"/>
                <a:gd name="T18" fmla="*/ 0 60000 65536"/>
                <a:gd name="T19" fmla="*/ 0 60000 65536"/>
                <a:gd name="T20" fmla="*/ 0 60000 65536"/>
                <a:gd name="T21" fmla="*/ 0 w 61"/>
                <a:gd name="T22" fmla="*/ 0 h 50"/>
                <a:gd name="T23" fmla="*/ 61 w 6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50">
                  <a:moveTo>
                    <a:pt x="0" y="25"/>
                  </a:moveTo>
                  <a:lnTo>
                    <a:pt x="12" y="0"/>
                  </a:lnTo>
                  <a:lnTo>
                    <a:pt x="37" y="0"/>
                  </a:lnTo>
                  <a:lnTo>
                    <a:pt x="61" y="25"/>
                  </a:lnTo>
                  <a:lnTo>
                    <a:pt x="37" y="50"/>
                  </a:lnTo>
                  <a:lnTo>
                    <a:pt x="12" y="50"/>
                  </a:lnTo>
                  <a:lnTo>
                    <a:pt x="0" y="25"/>
                  </a:lnTo>
                  <a:close/>
                </a:path>
              </a:pathLst>
            </a:custGeom>
            <a:solidFill>
              <a:srgbClr val="000000"/>
            </a:solidFill>
            <a:ln w="19050">
              <a:solidFill>
                <a:srgbClr val="000000"/>
              </a:solidFill>
              <a:round/>
              <a:headEnd/>
              <a:tailEnd/>
            </a:ln>
          </p:spPr>
          <p:txBody>
            <a:bodyPr/>
            <a:lstStyle/>
            <a:p>
              <a:endParaRPr lang="zh-CN" altLang="en-US"/>
            </a:p>
          </p:txBody>
        </p:sp>
        <p:sp>
          <p:nvSpPr>
            <p:cNvPr id="76869" name="Freeform 76"/>
            <p:cNvSpPr>
              <a:spLocks/>
            </p:cNvSpPr>
            <p:nvPr/>
          </p:nvSpPr>
          <p:spPr bwMode="auto">
            <a:xfrm>
              <a:off x="2795" y="2295"/>
              <a:ext cx="160" cy="49"/>
            </a:xfrm>
            <a:custGeom>
              <a:avLst/>
              <a:gdLst>
                <a:gd name="T0" fmla="*/ 0 w 160"/>
                <a:gd name="T1" fmla="*/ 0 h 49"/>
                <a:gd name="T2" fmla="*/ 37 w 160"/>
                <a:gd name="T3" fmla="*/ 24 h 49"/>
                <a:gd name="T4" fmla="*/ 0 w 160"/>
                <a:gd name="T5" fmla="*/ 49 h 49"/>
                <a:gd name="T6" fmla="*/ 160 w 160"/>
                <a:gd name="T7" fmla="*/ 24 h 49"/>
                <a:gd name="T8" fmla="*/ 0 w 160"/>
                <a:gd name="T9" fmla="*/ 0 h 49"/>
                <a:gd name="T10" fmla="*/ 0 60000 65536"/>
                <a:gd name="T11" fmla="*/ 0 60000 65536"/>
                <a:gd name="T12" fmla="*/ 0 60000 65536"/>
                <a:gd name="T13" fmla="*/ 0 60000 65536"/>
                <a:gd name="T14" fmla="*/ 0 60000 65536"/>
                <a:gd name="T15" fmla="*/ 0 w 160"/>
                <a:gd name="T16" fmla="*/ 0 h 49"/>
                <a:gd name="T17" fmla="*/ 160 w 160"/>
                <a:gd name="T18" fmla="*/ 49 h 49"/>
              </a:gdLst>
              <a:ahLst/>
              <a:cxnLst>
                <a:cxn ang="T10">
                  <a:pos x="T0" y="T1"/>
                </a:cxn>
                <a:cxn ang="T11">
                  <a:pos x="T2" y="T3"/>
                </a:cxn>
                <a:cxn ang="T12">
                  <a:pos x="T4" y="T5"/>
                </a:cxn>
                <a:cxn ang="T13">
                  <a:pos x="T6" y="T7"/>
                </a:cxn>
                <a:cxn ang="T14">
                  <a:pos x="T8" y="T9"/>
                </a:cxn>
              </a:cxnLst>
              <a:rect l="T15" t="T16" r="T17" b="T18"/>
              <a:pathLst>
                <a:path w="160" h="49">
                  <a:moveTo>
                    <a:pt x="0" y="0"/>
                  </a:moveTo>
                  <a:lnTo>
                    <a:pt x="37" y="24"/>
                  </a:lnTo>
                  <a:lnTo>
                    <a:pt x="0" y="49"/>
                  </a:lnTo>
                  <a:lnTo>
                    <a:pt x="160" y="24"/>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0" name="Freeform 77"/>
            <p:cNvSpPr>
              <a:spLocks/>
            </p:cNvSpPr>
            <p:nvPr/>
          </p:nvSpPr>
          <p:spPr bwMode="auto">
            <a:xfrm>
              <a:off x="2795" y="1717"/>
              <a:ext cx="160" cy="61"/>
            </a:xfrm>
            <a:custGeom>
              <a:avLst/>
              <a:gdLst>
                <a:gd name="T0" fmla="*/ 0 w 160"/>
                <a:gd name="T1" fmla="*/ 0 h 61"/>
                <a:gd name="T2" fmla="*/ 37 w 160"/>
                <a:gd name="T3" fmla="*/ 36 h 61"/>
                <a:gd name="T4" fmla="*/ 0 w 160"/>
                <a:gd name="T5" fmla="*/ 61 h 61"/>
                <a:gd name="T6" fmla="*/ 160 w 160"/>
                <a:gd name="T7" fmla="*/ 36 h 61"/>
                <a:gd name="T8" fmla="*/ 0 w 160"/>
                <a:gd name="T9" fmla="*/ 0 h 61"/>
                <a:gd name="T10" fmla="*/ 0 60000 65536"/>
                <a:gd name="T11" fmla="*/ 0 60000 65536"/>
                <a:gd name="T12" fmla="*/ 0 60000 65536"/>
                <a:gd name="T13" fmla="*/ 0 60000 65536"/>
                <a:gd name="T14" fmla="*/ 0 60000 65536"/>
                <a:gd name="T15" fmla="*/ 0 w 160"/>
                <a:gd name="T16" fmla="*/ 0 h 61"/>
                <a:gd name="T17" fmla="*/ 160 w 160"/>
                <a:gd name="T18" fmla="*/ 61 h 61"/>
              </a:gdLst>
              <a:ahLst/>
              <a:cxnLst>
                <a:cxn ang="T10">
                  <a:pos x="T0" y="T1"/>
                </a:cxn>
                <a:cxn ang="T11">
                  <a:pos x="T2" y="T3"/>
                </a:cxn>
                <a:cxn ang="T12">
                  <a:pos x="T4" y="T5"/>
                </a:cxn>
                <a:cxn ang="T13">
                  <a:pos x="T6" y="T7"/>
                </a:cxn>
                <a:cxn ang="T14">
                  <a:pos x="T8" y="T9"/>
                </a:cxn>
              </a:cxnLst>
              <a:rect l="T15" t="T16" r="T17" b="T18"/>
              <a:pathLst>
                <a:path w="160" h="61">
                  <a:moveTo>
                    <a:pt x="0" y="0"/>
                  </a:moveTo>
                  <a:lnTo>
                    <a:pt x="37" y="36"/>
                  </a:lnTo>
                  <a:lnTo>
                    <a:pt x="0" y="61"/>
                  </a:lnTo>
                  <a:lnTo>
                    <a:pt x="160" y="36"/>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1" name="Freeform 78"/>
            <p:cNvSpPr>
              <a:spLocks/>
            </p:cNvSpPr>
            <p:nvPr/>
          </p:nvSpPr>
          <p:spPr bwMode="auto">
            <a:xfrm>
              <a:off x="4034" y="1163"/>
              <a:ext cx="148" cy="49"/>
            </a:xfrm>
            <a:custGeom>
              <a:avLst/>
              <a:gdLst>
                <a:gd name="T0" fmla="*/ 0 w 148"/>
                <a:gd name="T1" fmla="*/ 0 h 49"/>
                <a:gd name="T2" fmla="*/ 25 w 148"/>
                <a:gd name="T3" fmla="*/ 25 h 49"/>
                <a:gd name="T4" fmla="*/ 0 w 148"/>
                <a:gd name="T5" fmla="*/ 49 h 49"/>
                <a:gd name="T6" fmla="*/ 148 w 148"/>
                <a:gd name="T7" fmla="*/ 25 h 49"/>
                <a:gd name="T8" fmla="*/ 0 w 148"/>
                <a:gd name="T9" fmla="*/ 0 h 49"/>
                <a:gd name="T10" fmla="*/ 0 60000 65536"/>
                <a:gd name="T11" fmla="*/ 0 60000 65536"/>
                <a:gd name="T12" fmla="*/ 0 60000 65536"/>
                <a:gd name="T13" fmla="*/ 0 60000 65536"/>
                <a:gd name="T14" fmla="*/ 0 60000 65536"/>
                <a:gd name="T15" fmla="*/ 0 w 148"/>
                <a:gd name="T16" fmla="*/ 0 h 49"/>
                <a:gd name="T17" fmla="*/ 148 w 148"/>
                <a:gd name="T18" fmla="*/ 49 h 49"/>
              </a:gdLst>
              <a:ahLst/>
              <a:cxnLst>
                <a:cxn ang="T10">
                  <a:pos x="T0" y="T1"/>
                </a:cxn>
                <a:cxn ang="T11">
                  <a:pos x="T2" y="T3"/>
                </a:cxn>
                <a:cxn ang="T12">
                  <a:pos x="T4" y="T5"/>
                </a:cxn>
                <a:cxn ang="T13">
                  <a:pos x="T6" y="T7"/>
                </a:cxn>
                <a:cxn ang="T14">
                  <a:pos x="T8" y="T9"/>
                </a:cxn>
              </a:cxnLst>
              <a:rect l="T15" t="T16" r="T17" b="T18"/>
              <a:pathLst>
                <a:path w="148" h="49">
                  <a:moveTo>
                    <a:pt x="0" y="0"/>
                  </a:moveTo>
                  <a:lnTo>
                    <a:pt x="25" y="25"/>
                  </a:lnTo>
                  <a:lnTo>
                    <a:pt x="0" y="49"/>
                  </a:lnTo>
                  <a:lnTo>
                    <a:pt x="148" y="25"/>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2" name="Freeform 79"/>
            <p:cNvSpPr>
              <a:spLocks/>
            </p:cNvSpPr>
            <p:nvPr/>
          </p:nvSpPr>
          <p:spPr bwMode="auto">
            <a:xfrm>
              <a:off x="4034" y="2012"/>
              <a:ext cx="148" cy="49"/>
            </a:xfrm>
            <a:custGeom>
              <a:avLst/>
              <a:gdLst>
                <a:gd name="T0" fmla="*/ 0 w 148"/>
                <a:gd name="T1" fmla="*/ 0 h 49"/>
                <a:gd name="T2" fmla="*/ 25 w 148"/>
                <a:gd name="T3" fmla="*/ 24 h 49"/>
                <a:gd name="T4" fmla="*/ 0 w 148"/>
                <a:gd name="T5" fmla="*/ 49 h 49"/>
                <a:gd name="T6" fmla="*/ 148 w 148"/>
                <a:gd name="T7" fmla="*/ 24 h 49"/>
                <a:gd name="T8" fmla="*/ 0 w 148"/>
                <a:gd name="T9" fmla="*/ 0 h 49"/>
                <a:gd name="T10" fmla="*/ 0 60000 65536"/>
                <a:gd name="T11" fmla="*/ 0 60000 65536"/>
                <a:gd name="T12" fmla="*/ 0 60000 65536"/>
                <a:gd name="T13" fmla="*/ 0 60000 65536"/>
                <a:gd name="T14" fmla="*/ 0 60000 65536"/>
                <a:gd name="T15" fmla="*/ 0 w 148"/>
                <a:gd name="T16" fmla="*/ 0 h 49"/>
                <a:gd name="T17" fmla="*/ 148 w 148"/>
                <a:gd name="T18" fmla="*/ 49 h 49"/>
              </a:gdLst>
              <a:ahLst/>
              <a:cxnLst>
                <a:cxn ang="T10">
                  <a:pos x="T0" y="T1"/>
                </a:cxn>
                <a:cxn ang="T11">
                  <a:pos x="T2" y="T3"/>
                </a:cxn>
                <a:cxn ang="T12">
                  <a:pos x="T4" y="T5"/>
                </a:cxn>
                <a:cxn ang="T13">
                  <a:pos x="T6" y="T7"/>
                </a:cxn>
                <a:cxn ang="T14">
                  <a:pos x="T8" y="T9"/>
                </a:cxn>
              </a:cxnLst>
              <a:rect l="T15" t="T16" r="T17" b="T18"/>
              <a:pathLst>
                <a:path w="148" h="49">
                  <a:moveTo>
                    <a:pt x="0" y="0"/>
                  </a:moveTo>
                  <a:lnTo>
                    <a:pt x="25" y="24"/>
                  </a:lnTo>
                  <a:lnTo>
                    <a:pt x="0" y="49"/>
                  </a:lnTo>
                  <a:lnTo>
                    <a:pt x="148" y="24"/>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3" name="Freeform 80"/>
            <p:cNvSpPr>
              <a:spLocks/>
            </p:cNvSpPr>
            <p:nvPr/>
          </p:nvSpPr>
          <p:spPr bwMode="auto">
            <a:xfrm>
              <a:off x="4034" y="3279"/>
              <a:ext cx="148" cy="62"/>
            </a:xfrm>
            <a:custGeom>
              <a:avLst/>
              <a:gdLst>
                <a:gd name="T0" fmla="*/ 0 w 148"/>
                <a:gd name="T1" fmla="*/ 0 h 62"/>
                <a:gd name="T2" fmla="*/ 25 w 148"/>
                <a:gd name="T3" fmla="*/ 37 h 62"/>
                <a:gd name="T4" fmla="*/ 0 w 148"/>
                <a:gd name="T5" fmla="*/ 62 h 62"/>
                <a:gd name="T6" fmla="*/ 148 w 148"/>
                <a:gd name="T7" fmla="*/ 37 h 62"/>
                <a:gd name="T8" fmla="*/ 0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0" y="0"/>
                  </a:moveTo>
                  <a:lnTo>
                    <a:pt x="25" y="37"/>
                  </a:lnTo>
                  <a:lnTo>
                    <a:pt x="0" y="62"/>
                  </a:lnTo>
                  <a:lnTo>
                    <a:pt x="148" y="37"/>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4" name="Freeform 81"/>
            <p:cNvSpPr>
              <a:spLocks/>
            </p:cNvSpPr>
            <p:nvPr/>
          </p:nvSpPr>
          <p:spPr bwMode="auto">
            <a:xfrm>
              <a:off x="4034" y="3931"/>
              <a:ext cx="148" cy="62"/>
            </a:xfrm>
            <a:custGeom>
              <a:avLst/>
              <a:gdLst>
                <a:gd name="T0" fmla="*/ 0 w 148"/>
                <a:gd name="T1" fmla="*/ 0 h 62"/>
                <a:gd name="T2" fmla="*/ 25 w 148"/>
                <a:gd name="T3" fmla="*/ 25 h 62"/>
                <a:gd name="T4" fmla="*/ 0 w 148"/>
                <a:gd name="T5" fmla="*/ 62 h 62"/>
                <a:gd name="T6" fmla="*/ 148 w 148"/>
                <a:gd name="T7" fmla="*/ 25 h 62"/>
                <a:gd name="T8" fmla="*/ 0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0" y="0"/>
                  </a:moveTo>
                  <a:lnTo>
                    <a:pt x="25" y="25"/>
                  </a:lnTo>
                  <a:lnTo>
                    <a:pt x="0" y="62"/>
                  </a:lnTo>
                  <a:lnTo>
                    <a:pt x="148" y="25"/>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5" name="Freeform 82"/>
            <p:cNvSpPr>
              <a:spLocks/>
            </p:cNvSpPr>
            <p:nvPr/>
          </p:nvSpPr>
          <p:spPr bwMode="auto">
            <a:xfrm>
              <a:off x="4047" y="1163"/>
              <a:ext cx="147" cy="49"/>
            </a:xfrm>
            <a:custGeom>
              <a:avLst/>
              <a:gdLst>
                <a:gd name="T0" fmla="*/ 0 w 147"/>
                <a:gd name="T1" fmla="*/ 0 h 49"/>
                <a:gd name="T2" fmla="*/ 24 w 147"/>
                <a:gd name="T3" fmla="*/ 25 h 49"/>
                <a:gd name="T4" fmla="*/ 0 w 147"/>
                <a:gd name="T5" fmla="*/ 49 h 49"/>
                <a:gd name="T6" fmla="*/ 147 w 147"/>
                <a:gd name="T7" fmla="*/ 25 h 49"/>
                <a:gd name="T8" fmla="*/ 0 w 147"/>
                <a:gd name="T9" fmla="*/ 0 h 49"/>
                <a:gd name="T10" fmla="*/ 0 60000 65536"/>
                <a:gd name="T11" fmla="*/ 0 60000 65536"/>
                <a:gd name="T12" fmla="*/ 0 60000 65536"/>
                <a:gd name="T13" fmla="*/ 0 60000 65536"/>
                <a:gd name="T14" fmla="*/ 0 60000 65536"/>
                <a:gd name="T15" fmla="*/ 0 w 147"/>
                <a:gd name="T16" fmla="*/ 0 h 49"/>
                <a:gd name="T17" fmla="*/ 147 w 147"/>
                <a:gd name="T18" fmla="*/ 49 h 49"/>
              </a:gdLst>
              <a:ahLst/>
              <a:cxnLst>
                <a:cxn ang="T10">
                  <a:pos x="T0" y="T1"/>
                </a:cxn>
                <a:cxn ang="T11">
                  <a:pos x="T2" y="T3"/>
                </a:cxn>
                <a:cxn ang="T12">
                  <a:pos x="T4" y="T5"/>
                </a:cxn>
                <a:cxn ang="T13">
                  <a:pos x="T6" y="T7"/>
                </a:cxn>
                <a:cxn ang="T14">
                  <a:pos x="T8" y="T9"/>
                </a:cxn>
              </a:cxnLst>
              <a:rect l="T15" t="T16" r="T17" b="T18"/>
              <a:pathLst>
                <a:path w="147" h="49">
                  <a:moveTo>
                    <a:pt x="0" y="0"/>
                  </a:moveTo>
                  <a:lnTo>
                    <a:pt x="24" y="25"/>
                  </a:lnTo>
                  <a:lnTo>
                    <a:pt x="0" y="49"/>
                  </a:lnTo>
                  <a:lnTo>
                    <a:pt x="147" y="25"/>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6" name="Freeform 83"/>
            <p:cNvSpPr>
              <a:spLocks/>
            </p:cNvSpPr>
            <p:nvPr/>
          </p:nvSpPr>
          <p:spPr bwMode="auto">
            <a:xfrm>
              <a:off x="4047" y="2012"/>
              <a:ext cx="147" cy="49"/>
            </a:xfrm>
            <a:custGeom>
              <a:avLst/>
              <a:gdLst>
                <a:gd name="T0" fmla="*/ 0 w 147"/>
                <a:gd name="T1" fmla="*/ 0 h 49"/>
                <a:gd name="T2" fmla="*/ 24 w 147"/>
                <a:gd name="T3" fmla="*/ 24 h 49"/>
                <a:gd name="T4" fmla="*/ 0 w 147"/>
                <a:gd name="T5" fmla="*/ 49 h 49"/>
                <a:gd name="T6" fmla="*/ 147 w 147"/>
                <a:gd name="T7" fmla="*/ 24 h 49"/>
                <a:gd name="T8" fmla="*/ 0 w 147"/>
                <a:gd name="T9" fmla="*/ 0 h 49"/>
                <a:gd name="T10" fmla="*/ 0 60000 65536"/>
                <a:gd name="T11" fmla="*/ 0 60000 65536"/>
                <a:gd name="T12" fmla="*/ 0 60000 65536"/>
                <a:gd name="T13" fmla="*/ 0 60000 65536"/>
                <a:gd name="T14" fmla="*/ 0 60000 65536"/>
                <a:gd name="T15" fmla="*/ 0 w 147"/>
                <a:gd name="T16" fmla="*/ 0 h 49"/>
                <a:gd name="T17" fmla="*/ 147 w 147"/>
                <a:gd name="T18" fmla="*/ 49 h 49"/>
              </a:gdLst>
              <a:ahLst/>
              <a:cxnLst>
                <a:cxn ang="T10">
                  <a:pos x="T0" y="T1"/>
                </a:cxn>
                <a:cxn ang="T11">
                  <a:pos x="T2" y="T3"/>
                </a:cxn>
                <a:cxn ang="T12">
                  <a:pos x="T4" y="T5"/>
                </a:cxn>
                <a:cxn ang="T13">
                  <a:pos x="T6" y="T7"/>
                </a:cxn>
                <a:cxn ang="T14">
                  <a:pos x="T8" y="T9"/>
                </a:cxn>
              </a:cxnLst>
              <a:rect l="T15" t="T16" r="T17" b="T18"/>
              <a:pathLst>
                <a:path w="147" h="49">
                  <a:moveTo>
                    <a:pt x="0" y="0"/>
                  </a:moveTo>
                  <a:lnTo>
                    <a:pt x="24" y="24"/>
                  </a:lnTo>
                  <a:lnTo>
                    <a:pt x="0" y="49"/>
                  </a:lnTo>
                  <a:lnTo>
                    <a:pt x="147" y="24"/>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7" name="Freeform 84"/>
            <p:cNvSpPr>
              <a:spLocks/>
            </p:cNvSpPr>
            <p:nvPr/>
          </p:nvSpPr>
          <p:spPr bwMode="auto">
            <a:xfrm>
              <a:off x="4047" y="3279"/>
              <a:ext cx="147" cy="62"/>
            </a:xfrm>
            <a:custGeom>
              <a:avLst/>
              <a:gdLst>
                <a:gd name="T0" fmla="*/ 0 w 147"/>
                <a:gd name="T1" fmla="*/ 0 h 62"/>
                <a:gd name="T2" fmla="*/ 24 w 147"/>
                <a:gd name="T3" fmla="*/ 37 h 62"/>
                <a:gd name="T4" fmla="*/ 0 w 147"/>
                <a:gd name="T5" fmla="*/ 62 h 62"/>
                <a:gd name="T6" fmla="*/ 147 w 147"/>
                <a:gd name="T7" fmla="*/ 37 h 62"/>
                <a:gd name="T8" fmla="*/ 0 w 147"/>
                <a:gd name="T9" fmla="*/ 0 h 62"/>
                <a:gd name="T10" fmla="*/ 0 60000 65536"/>
                <a:gd name="T11" fmla="*/ 0 60000 65536"/>
                <a:gd name="T12" fmla="*/ 0 60000 65536"/>
                <a:gd name="T13" fmla="*/ 0 60000 65536"/>
                <a:gd name="T14" fmla="*/ 0 60000 65536"/>
                <a:gd name="T15" fmla="*/ 0 w 147"/>
                <a:gd name="T16" fmla="*/ 0 h 62"/>
                <a:gd name="T17" fmla="*/ 147 w 147"/>
                <a:gd name="T18" fmla="*/ 62 h 62"/>
              </a:gdLst>
              <a:ahLst/>
              <a:cxnLst>
                <a:cxn ang="T10">
                  <a:pos x="T0" y="T1"/>
                </a:cxn>
                <a:cxn ang="T11">
                  <a:pos x="T2" y="T3"/>
                </a:cxn>
                <a:cxn ang="T12">
                  <a:pos x="T4" y="T5"/>
                </a:cxn>
                <a:cxn ang="T13">
                  <a:pos x="T6" y="T7"/>
                </a:cxn>
                <a:cxn ang="T14">
                  <a:pos x="T8" y="T9"/>
                </a:cxn>
              </a:cxnLst>
              <a:rect l="T15" t="T16" r="T17" b="T18"/>
              <a:pathLst>
                <a:path w="147" h="62">
                  <a:moveTo>
                    <a:pt x="0" y="0"/>
                  </a:moveTo>
                  <a:lnTo>
                    <a:pt x="24" y="37"/>
                  </a:lnTo>
                  <a:lnTo>
                    <a:pt x="0" y="62"/>
                  </a:lnTo>
                  <a:lnTo>
                    <a:pt x="147" y="37"/>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8" name="Freeform 85"/>
            <p:cNvSpPr>
              <a:spLocks/>
            </p:cNvSpPr>
            <p:nvPr/>
          </p:nvSpPr>
          <p:spPr bwMode="auto">
            <a:xfrm>
              <a:off x="4047" y="3931"/>
              <a:ext cx="147" cy="62"/>
            </a:xfrm>
            <a:custGeom>
              <a:avLst/>
              <a:gdLst>
                <a:gd name="T0" fmla="*/ 0 w 147"/>
                <a:gd name="T1" fmla="*/ 0 h 62"/>
                <a:gd name="T2" fmla="*/ 24 w 147"/>
                <a:gd name="T3" fmla="*/ 25 h 62"/>
                <a:gd name="T4" fmla="*/ 0 w 147"/>
                <a:gd name="T5" fmla="*/ 62 h 62"/>
                <a:gd name="T6" fmla="*/ 147 w 147"/>
                <a:gd name="T7" fmla="*/ 25 h 62"/>
                <a:gd name="T8" fmla="*/ 0 w 147"/>
                <a:gd name="T9" fmla="*/ 0 h 62"/>
                <a:gd name="T10" fmla="*/ 0 60000 65536"/>
                <a:gd name="T11" fmla="*/ 0 60000 65536"/>
                <a:gd name="T12" fmla="*/ 0 60000 65536"/>
                <a:gd name="T13" fmla="*/ 0 60000 65536"/>
                <a:gd name="T14" fmla="*/ 0 60000 65536"/>
                <a:gd name="T15" fmla="*/ 0 w 147"/>
                <a:gd name="T16" fmla="*/ 0 h 62"/>
                <a:gd name="T17" fmla="*/ 147 w 147"/>
                <a:gd name="T18" fmla="*/ 62 h 62"/>
              </a:gdLst>
              <a:ahLst/>
              <a:cxnLst>
                <a:cxn ang="T10">
                  <a:pos x="T0" y="T1"/>
                </a:cxn>
                <a:cxn ang="T11">
                  <a:pos x="T2" y="T3"/>
                </a:cxn>
                <a:cxn ang="T12">
                  <a:pos x="T4" y="T5"/>
                </a:cxn>
                <a:cxn ang="T13">
                  <a:pos x="T6" y="T7"/>
                </a:cxn>
                <a:cxn ang="T14">
                  <a:pos x="T8" y="T9"/>
                </a:cxn>
              </a:cxnLst>
              <a:rect l="T15" t="T16" r="T17" b="T18"/>
              <a:pathLst>
                <a:path w="147" h="62">
                  <a:moveTo>
                    <a:pt x="0" y="0"/>
                  </a:moveTo>
                  <a:lnTo>
                    <a:pt x="24" y="25"/>
                  </a:lnTo>
                  <a:lnTo>
                    <a:pt x="0" y="62"/>
                  </a:lnTo>
                  <a:lnTo>
                    <a:pt x="147" y="25"/>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76879" name="Rectangle 86"/>
            <p:cNvSpPr>
              <a:spLocks noChangeArrowheads="1"/>
            </p:cNvSpPr>
            <p:nvPr/>
          </p:nvSpPr>
          <p:spPr bwMode="auto">
            <a:xfrm>
              <a:off x="3120" y="288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CI</a:t>
              </a:r>
              <a:endParaRPr lang="en-US" altLang="zh-CN"/>
            </a:p>
          </p:txBody>
        </p:sp>
        <p:sp>
          <p:nvSpPr>
            <p:cNvPr id="76880" name="Rectangle 87"/>
            <p:cNvSpPr>
              <a:spLocks noChangeArrowheads="1"/>
            </p:cNvSpPr>
            <p:nvPr/>
          </p:nvSpPr>
          <p:spPr bwMode="auto">
            <a:xfrm>
              <a:off x="3089" y="2343"/>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CO</a:t>
              </a:r>
              <a:endParaRPr lang="en-US" altLang="zh-CN"/>
            </a:p>
          </p:txBody>
        </p:sp>
        <p:sp>
          <p:nvSpPr>
            <p:cNvPr id="76881" name="Rectangle 88"/>
            <p:cNvSpPr>
              <a:spLocks noChangeArrowheads="1"/>
            </p:cNvSpPr>
            <p:nvPr/>
          </p:nvSpPr>
          <p:spPr bwMode="auto">
            <a:xfrm>
              <a:off x="3089" y="3561"/>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CO</a:t>
              </a:r>
              <a:endParaRPr lang="en-US" altLang="zh-CN"/>
            </a:p>
          </p:txBody>
        </p:sp>
      </p:gr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0B02589-7962-4966-9764-C443BFFFF0A7}"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10CAB313-8E68-4E9C-9B01-92ED6B5A775A}" type="slidenum">
              <a:rPr lang="en-US" altLang="zh-CN"/>
              <a:pPr>
                <a:defRPr/>
              </a:pPr>
              <a:t>78</a:t>
            </a:fld>
            <a:endParaRPr lang="en-US" altLang="zh-CN"/>
          </a:p>
        </p:txBody>
      </p:sp>
      <p:sp>
        <p:nvSpPr>
          <p:cNvPr id="77828" name="Rectangle 2"/>
          <p:cNvSpPr>
            <a:spLocks noGrp="1" noChangeArrowheads="1"/>
          </p:cNvSpPr>
          <p:nvPr>
            <p:ph type="title"/>
          </p:nvPr>
        </p:nvSpPr>
        <p:spPr/>
        <p:txBody>
          <a:bodyPr/>
          <a:lstStyle/>
          <a:p>
            <a:pPr eaLnBrk="1" hangingPunct="1"/>
            <a:r>
              <a:rPr lang="zh-CN" altLang="en-US" b="1" smtClean="0"/>
              <a:t>全加器的应用</a:t>
            </a:r>
          </a:p>
        </p:txBody>
      </p:sp>
      <p:sp>
        <p:nvSpPr>
          <p:cNvPr id="77829" name="Rectangle 3"/>
          <p:cNvSpPr>
            <a:spLocks noGrp="1" noChangeArrowheads="1"/>
          </p:cNvSpPr>
          <p:nvPr>
            <p:ph type="body" idx="1"/>
          </p:nvPr>
        </p:nvSpPr>
        <p:spPr/>
        <p:txBody>
          <a:bodyPr/>
          <a:lstStyle/>
          <a:p>
            <a:pPr eaLnBrk="1" hangingPunct="1"/>
            <a:r>
              <a:rPr lang="zh-CN" altLang="en-US" b="1" smtClean="0">
                <a:latin typeface="Times New Roman" pitchFamily="18" charset="0"/>
              </a:rPr>
              <a:t>试用四位全加器构成一位</a:t>
            </a:r>
            <a:r>
              <a:rPr lang="en-US" altLang="zh-CN" b="1" smtClean="0">
                <a:latin typeface="Times New Roman" pitchFamily="18" charset="0"/>
              </a:rPr>
              <a:t>8421BCD</a:t>
            </a:r>
            <a:r>
              <a:rPr lang="zh-CN" altLang="en-US" b="1" smtClean="0">
                <a:latin typeface="Times New Roman" pitchFamily="18" charset="0"/>
              </a:rPr>
              <a:t>码的十进制加法电路。</a:t>
            </a:r>
          </a:p>
          <a:p>
            <a:pPr lvl="1" eaLnBrk="1" hangingPunct="1"/>
            <a:r>
              <a:rPr lang="zh-CN" altLang="en-US" b="1" smtClean="0">
                <a:latin typeface="Times New Roman" pitchFamily="18" charset="0"/>
              </a:rPr>
              <a:t>解：两个 </a:t>
            </a:r>
            <a:r>
              <a:rPr lang="en-US" altLang="zh-CN" b="1" smtClean="0">
                <a:latin typeface="Times New Roman" pitchFamily="18" charset="0"/>
              </a:rPr>
              <a:t>8421 </a:t>
            </a:r>
            <a:r>
              <a:rPr lang="zh-CN" altLang="en-US" b="1" smtClean="0">
                <a:latin typeface="Times New Roman" pitchFamily="18" charset="0"/>
              </a:rPr>
              <a:t>码相加，其和仍应为</a:t>
            </a:r>
            <a:r>
              <a:rPr lang="en-US" altLang="zh-CN" b="1" smtClean="0">
                <a:latin typeface="Times New Roman" pitchFamily="18" charset="0"/>
              </a:rPr>
              <a:t>8421 </a:t>
            </a:r>
            <a:r>
              <a:rPr lang="zh-CN" altLang="en-US" b="1" smtClean="0">
                <a:latin typeface="Times New Roman" pitchFamily="18" charset="0"/>
              </a:rPr>
              <a:t>码，如不是 </a:t>
            </a:r>
            <a:r>
              <a:rPr lang="en-US" altLang="zh-CN" b="1" smtClean="0">
                <a:latin typeface="Times New Roman" pitchFamily="18" charset="0"/>
              </a:rPr>
              <a:t>8421 </a:t>
            </a:r>
            <a:r>
              <a:rPr lang="zh-CN" altLang="en-US" b="1" smtClean="0">
                <a:latin typeface="Times New Roman" pitchFamily="18" charset="0"/>
              </a:rPr>
              <a:t>码则结果错误。</a:t>
            </a:r>
            <a:endParaRPr lang="en-US" altLang="zh-CN" b="1" smtClean="0">
              <a:latin typeface="Times New Roman" pitchFamily="18" charset="0"/>
            </a:endParaRPr>
          </a:p>
          <a:p>
            <a:pPr lvl="1" eaLnBrk="1" hangingPunct="1"/>
            <a:r>
              <a:rPr lang="zh-CN" altLang="en-US" b="1" smtClean="0"/>
              <a:t>当和小于等于</a:t>
            </a:r>
            <a:r>
              <a:rPr lang="en-US" altLang="zh-CN" b="1" smtClean="0"/>
              <a:t>9</a:t>
            </a:r>
            <a:r>
              <a:rPr lang="zh-CN" altLang="en-US" b="1" smtClean="0"/>
              <a:t>时不需要修正，</a:t>
            </a:r>
            <a:endParaRPr lang="en-US" altLang="zh-CN" b="1" smtClean="0"/>
          </a:p>
          <a:p>
            <a:pPr lvl="1" eaLnBrk="1" hangingPunct="1">
              <a:buFont typeface="Wingdings" pitchFamily="2" charset="2"/>
              <a:buNone/>
            </a:pPr>
            <a:r>
              <a:rPr lang="en-US" altLang="zh-CN" b="1" smtClean="0"/>
              <a:t>   </a:t>
            </a:r>
            <a:r>
              <a:rPr lang="zh-CN" altLang="en-US" b="1" smtClean="0"/>
              <a:t>当和大于</a:t>
            </a:r>
            <a:r>
              <a:rPr lang="en-US" altLang="zh-CN" b="1" smtClean="0"/>
              <a:t>9</a:t>
            </a:r>
            <a:r>
              <a:rPr lang="zh-CN" altLang="en-US" b="1" smtClean="0"/>
              <a:t>时需要加</a:t>
            </a:r>
            <a:r>
              <a:rPr lang="en-US" altLang="zh-CN" b="1" smtClean="0"/>
              <a:t>6(0110)</a:t>
            </a:r>
            <a:r>
              <a:rPr lang="zh-CN" altLang="en-US" b="1" smtClean="0"/>
              <a:t>修正</a:t>
            </a:r>
            <a:r>
              <a:rPr lang="en-US" altLang="zh-CN" b="1" smtClean="0"/>
              <a:t>.</a:t>
            </a:r>
            <a:endParaRPr lang="zh-CN" altLang="en-US" b="1" smtClean="0"/>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7182F2A5-0113-41C6-BB2C-A6697F0735C1}"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96459FE2-8398-422B-8FDE-8E64A6915AE9}" type="slidenum">
              <a:rPr lang="en-US" altLang="zh-CN"/>
              <a:pPr>
                <a:defRPr/>
              </a:pPr>
              <a:t>79</a:t>
            </a:fld>
            <a:endParaRPr lang="en-US" altLang="zh-CN"/>
          </a:p>
        </p:txBody>
      </p:sp>
      <p:sp>
        <p:nvSpPr>
          <p:cNvPr id="78852" name="Rectangle 2"/>
          <p:cNvSpPr>
            <a:spLocks noGrp="1" noChangeArrowheads="1"/>
          </p:cNvSpPr>
          <p:nvPr>
            <p:ph type="title"/>
          </p:nvPr>
        </p:nvSpPr>
        <p:spPr/>
        <p:txBody>
          <a:bodyPr/>
          <a:lstStyle/>
          <a:p>
            <a:pPr eaLnBrk="1" hangingPunct="1"/>
            <a:r>
              <a:rPr lang="zh-CN" altLang="en-US" b="1" smtClean="0"/>
              <a:t>全加器的应用</a:t>
            </a:r>
          </a:p>
        </p:txBody>
      </p:sp>
      <p:sp>
        <p:nvSpPr>
          <p:cNvPr id="78853" name="Rectangle 3"/>
          <p:cNvSpPr>
            <a:spLocks noGrp="1" noChangeArrowheads="1"/>
          </p:cNvSpPr>
          <p:nvPr>
            <p:ph type="body" idx="1"/>
          </p:nvPr>
        </p:nvSpPr>
        <p:spPr>
          <a:xfrm>
            <a:off x="457200" y="1085850"/>
            <a:ext cx="8382000" cy="1200150"/>
          </a:xfrm>
        </p:spPr>
        <p:txBody>
          <a:bodyPr/>
          <a:lstStyle/>
          <a:p>
            <a:pPr lvl="1" eaLnBrk="1" hangingPunct="1"/>
            <a:r>
              <a:rPr lang="zh-CN" altLang="en-US" b="1" smtClean="0">
                <a:latin typeface="Times New Roman" pitchFamily="18" charset="0"/>
              </a:rPr>
              <a:t>十进制数</a:t>
            </a:r>
            <a:r>
              <a:rPr lang="en-US" altLang="zh-CN" b="1" smtClean="0">
                <a:latin typeface="Times New Roman" pitchFamily="18" charset="0"/>
              </a:rPr>
              <a:t>0~19</a:t>
            </a:r>
            <a:r>
              <a:rPr lang="zh-CN" altLang="en-US" b="1" smtClean="0">
                <a:latin typeface="Times New Roman" pitchFamily="18" charset="0"/>
              </a:rPr>
              <a:t>与相应的二进制数及</a:t>
            </a:r>
            <a:r>
              <a:rPr lang="en-US" altLang="zh-CN" b="1" smtClean="0">
                <a:latin typeface="Times New Roman" pitchFamily="18" charset="0"/>
              </a:rPr>
              <a:t>8421BCD</a:t>
            </a:r>
            <a:r>
              <a:rPr lang="zh-CN" altLang="en-US" b="1" smtClean="0">
                <a:latin typeface="Times New Roman" pitchFamily="18" charset="0"/>
              </a:rPr>
              <a:t>码 </a:t>
            </a:r>
          </a:p>
        </p:txBody>
      </p:sp>
      <p:pic>
        <p:nvPicPr>
          <p:cNvPr id="7885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1571625"/>
            <a:ext cx="5057775"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8855" name="Object 5"/>
          <p:cNvGraphicFramePr>
            <a:graphicFrameLocks noChangeAspect="1"/>
          </p:cNvGraphicFramePr>
          <p:nvPr/>
        </p:nvGraphicFramePr>
        <p:xfrm>
          <a:off x="5491163" y="4414838"/>
          <a:ext cx="3581400" cy="585787"/>
        </p:xfrm>
        <a:graphic>
          <a:graphicData uri="http://schemas.openxmlformats.org/presentationml/2006/ole">
            <mc:AlternateContent xmlns:mc="http://schemas.openxmlformats.org/markup-compatibility/2006">
              <mc:Choice xmlns:v="urn:schemas-microsoft-com:vml" Requires="v">
                <p:oleObj spid="_x0000_s78861" name="公式" r:id="rId5" imgW="1397000" imgH="228600" progId="Equation.3">
                  <p:embed/>
                </p:oleObj>
              </mc:Choice>
              <mc:Fallback>
                <p:oleObj name="公式" r:id="rId5" imgW="13970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1163" y="4414838"/>
                        <a:ext cx="3581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6" name="矩形 8"/>
          <p:cNvSpPr>
            <a:spLocks noChangeArrowheads="1"/>
          </p:cNvSpPr>
          <p:nvPr/>
        </p:nvSpPr>
        <p:spPr bwMode="auto">
          <a:xfrm>
            <a:off x="5643563" y="2073275"/>
            <a:ext cx="34290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t>当和大于</a:t>
            </a:r>
            <a:r>
              <a:rPr lang="en-US" altLang="zh-CN" b="1"/>
              <a:t>9</a:t>
            </a:r>
            <a:r>
              <a:rPr lang="zh-CN" altLang="en-US" b="1"/>
              <a:t>时，</a:t>
            </a:r>
            <a:r>
              <a:rPr lang="en-US" altLang="zh-CN" b="1" i="1"/>
              <a:t>D</a:t>
            </a:r>
            <a:r>
              <a:rPr lang="en-US" altLang="zh-CN" b="1" baseline="-25000"/>
              <a:t>10</a:t>
            </a:r>
            <a:r>
              <a:rPr lang="en-US" altLang="zh-CN" b="1"/>
              <a:t>=1</a:t>
            </a:r>
            <a:r>
              <a:rPr lang="zh-CN" altLang="en-US" b="1"/>
              <a:t>，因此可以用</a:t>
            </a:r>
            <a:r>
              <a:rPr lang="en-US" altLang="zh-CN" b="1" i="1"/>
              <a:t>D</a:t>
            </a:r>
            <a:r>
              <a:rPr lang="en-US" altLang="zh-CN" b="1" baseline="-25000"/>
              <a:t>10</a:t>
            </a:r>
            <a:r>
              <a:rPr lang="zh-CN" altLang="en-US" b="1"/>
              <a:t>来控制是否需要修正</a:t>
            </a:r>
            <a:r>
              <a:rPr lang="en-US" altLang="zh-CN" b="1"/>
              <a:t>:</a:t>
            </a:r>
          </a:p>
          <a:p>
            <a:r>
              <a:rPr lang="en-US" altLang="zh-CN" b="1" i="1"/>
              <a:t>     D</a:t>
            </a:r>
            <a:r>
              <a:rPr lang="en-US" altLang="zh-CN" b="1" baseline="-25000"/>
              <a:t>10</a:t>
            </a:r>
            <a:r>
              <a:rPr lang="en-US" altLang="zh-CN" b="1"/>
              <a:t>=1</a:t>
            </a:r>
            <a:r>
              <a:rPr lang="zh-CN" altLang="en-US" b="1"/>
              <a:t>时，和加</a:t>
            </a:r>
            <a:r>
              <a:rPr lang="en-US" altLang="zh-CN" b="1"/>
              <a:t>6</a:t>
            </a:r>
            <a:r>
              <a:rPr lang="zh-CN" altLang="en-US" b="1"/>
              <a:t>，</a:t>
            </a:r>
            <a:endParaRPr lang="en-US" altLang="zh-CN" b="1"/>
          </a:p>
          <a:p>
            <a:r>
              <a:rPr lang="en-US" altLang="zh-CN" b="1"/>
              <a:t>   </a:t>
            </a:r>
            <a:r>
              <a:rPr lang="zh-CN" altLang="en-US" b="1"/>
              <a:t>  </a:t>
            </a:r>
            <a:r>
              <a:rPr lang="en-US" altLang="zh-CN" b="1" i="1"/>
              <a:t>D</a:t>
            </a:r>
            <a:r>
              <a:rPr lang="en-US" altLang="zh-CN" b="1" baseline="-25000"/>
              <a:t>10</a:t>
            </a:r>
            <a:r>
              <a:rPr lang="en-US" altLang="zh-CN" b="1"/>
              <a:t>=0</a:t>
            </a:r>
            <a:r>
              <a:rPr lang="zh-CN" altLang="en-US" b="1"/>
              <a:t>时    则不加 </a:t>
            </a:r>
            <a:endParaRPr lang="zh-CN" altLang="en-US"/>
          </a:p>
        </p:txBody>
      </p:sp>
    </p:spTree>
  </p:cSld>
  <p:clrMapOvr>
    <a:masterClrMapping/>
  </p:clrMapOvr>
  <p:transition>
    <p:rand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DD9A089-1243-4A9F-9F35-0D2D7ED87DC0}"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1EF3E277-08F7-4BCD-9AF7-030851B3E857}" type="slidenum">
              <a:rPr lang="en-US" altLang="zh-CN"/>
              <a:pPr>
                <a:defRPr/>
              </a:pPr>
              <a:t>80</a:t>
            </a:fld>
            <a:endParaRPr lang="en-US" altLang="zh-CN"/>
          </a:p>
        </p:txBody>
      </p:sp>
      <p:sp>
        <p:nvSpPr>
          <p:cNvPr id="79876" name="Rectangle 2"/>
          <p:cNvSpPr>
            <a:spLocks noGrp="1" noChangeArrowheads="1"/>
          </p:cNvSpPr>
          <p:nvPr>
            <p:ph type="title"/>
          </p:nvPr>
        </p:nvSpPr>
        <p:spPr/>
        <p:txBody>
          <a:bodyPr/>
          <a:lstStyle/>
          <a:p>
            <a:pPr eaLnBrk="1" hangingPunct="1"/>
            <a:r>
              <a:rPr lang="zh-CN" altLang="en-US" smtClean="0"/>
              <a:t>全加器的应用</a:t>
            </a:r>
          </a:p>
        </p:txBody>
      </p:sp>
      <p:sp>
        <p:nvSpPr>
          <p:cNvPr id="79877" name="Rectangle 3"/>
          <p:cNvSpPr>
            <a:spLocks noGrp="1" noChangeArrowheads="1"/>
          </p:cNvSpPr>
          <p:nvPr>
            <p:ph type="body" idx="1"/>
          </p:nvPr>
        </p:nvSpPr>
        <p:spPr/>
        <p:txBody>
          <a:bodyPr/>
          <a:lstStyle/>
          <a:p>
            <a:pPr eaLnBrk="1" hangingPunct="1"/>
            <a:endParaRPr lang="zh-CN" altLang="zh-CN" smtClean="0"/>
          </a:p>
        </p:txBody>
      </p:sp>
      <p:graphicFrame>
        <p:nvGraphicFramePr>
          <p:cNvPr id="79878" name="Object 5"/>
          <p:cNvGraphicFramePr>
            <a:graphicFrameLocks noChangeAspect="1"/>
          </p:cNvGraphicFramePr>
          <p:nvPr/>
        </p:nvGraphicFramePr>
        <p:xfrm>
          <a:off x="-152400" y="1744663"/>
          <a:ext cx="9448800" cy="4351337"/>
        </p:xfrm>
        <a:graphic>
          <a:graphicData uri="http://schemas.openxmlformats.org/presentationml/2006/ole">
            <mc:AlternateContent xmlns:mc="http://schemas.openxmlformats.org/markup-compatibility/2006">
              <mc:Choice xmlns:v="urn:schemas-microsoft-com:vml" Requires="v">
                <p:oleObj spid="_x0000_s79883" name="VISIO" r:id="rId4" imgW="4191000" imgH="1927860" progId="">
                  <p:embed/>
                </p:oleObj>
              </mc:Choice>
              <mc:Fallback>
                <p:oleObj name="VISIO" r:id="rId4" imgW="4191000" imgH="19278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744663"/>
                        <a:ext cx="9448800" cy="435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BEA445D-BA73-45EE-91B4-ABC59201A452}"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B96F6372-5AD9-4D2B-B25F-9BF92CA96A89}" type="slidenum">
              <a:rPr lang="en-US" altLang="zh-CN"/>
              <a:pPr>
                <a:defRPr/>
              </a:pPr>
              <a:t>81</a:t>
            </a:fld>
            <a:endParaRPr lang="en-US" altLang="zh-CN"/>
          </a:p>
        </p:txBody>
      </p:sp>
      <p:sp>
        <p:nvSpPr>
          <p:cNvPr id="80900" name="Rectangle 2"/>
          <p:cNvSpPr>
            <a:spLocks noGrp="1" noChangeArrowheads="1"/>
          </p:cNvSpPr>
          <p:nvPr>
            <p:ph type="title"/>
          </p:nvPr>
        </p:nvSpPr>
        <p:spPr/>
        <p:txBody>
          <a:bodyPr/>
          <a:lstStyle/>
          <a:p>
            <a:pPr eaLnBrk="1" hangingPunct="1"/>
            <a:r>
              <a:rPr lang="zh-CN" altLang="en-US" b="1" smtClean="0"/>
              <a:t>全加器的应用</a:t>
            </a:r>
          </a:p>
        </p:txBody>
      </p:sp>
      <p:sp>
        <p:nvSpPr>
          <p:cNvPr id="80901" name="Rectangle 3"/>
          <p:cNvSpPr>
            <a:spLocks noGrp="1" noChangeArrowheads="1"/>
          </p:cNvSpPr>
          <p:nvPr>
            <p:ph type="body" idx="1"/>
          </p:nvPr>
        </p:nvSpPr>
        <p:spPr/>
        <p:txBody>
          <a:bodyPr/>
          <a:lstStyle/>
          <a:p>
            <a:pPr eaLnBrk="1" hangingPunct="1"/>
            <a:r>
              <a:rPr lang="zh-CN" altLang="en-US" b="1" smtClean="0"/>
              <a:t>试采用四位全加器完成 </a:t>
            </a:r>
            <a:r>
              <a:rPr lang="en-US" altLang="zh-CN" b="1" smtClean="0"/>
              <a:t>8421BCD</a:t>
            </a:r>
            <a:r>
              <a:rPr lang="zh-CN" altLang="en-US" b="1" smtClean="0"/>
              <a:t>码到余 </a:t>
            </a:r>
            <a:r>
              <a:rPr lang="en-US" altLang="zh-CN" b="1" smtClean="0"/>
              <a:t>3 </a:t>
            </a:r>
            <a:r>
              <a:rPr lang="zh-CN" altLang="en-US" b="1" smtClean="0"/>
              <a:t>代码的转换。</a:t>
            </a:r>
          </a:p>
          <a:p>
            <a:pPr lvl="1" eaLnBrk="1" hangingPunct="1"/>
            <a:r>
              <a:rPr lang="zh-CN" altLang="en-US" b="1" smtClean="0"/>
              <a:t>解：由于 </a:t>
            </a:r>
            <a:r>
              <a:rPr lang="en-US" altLang="zh-CN" b="1" smtClean="0"/>
              <a:t>8421BCD</a:t>
            </a:r>
            <a:r>
              <a:rPr lang="zh-CN" altLang="en-US" b="1" smtClean="0"/>
              <a:t>码加 </a:t>
            </a:r>
            <a:r>
              <a:rPr lang="en-US" altLang="zh-CN" b="1" smtClean="0"/>
              <a:t>0011 </a:t>
            </a:r>
            <a:r>
              <a:rPr lang="zh-CN" altLang="en-US" b="1" smtClean="0"/>
              <a:t>即为余 </a:t>
            </a:r>
            <a:r>
              <a:rPr lang="en-US" altLang="zh-CN" b="1" smtClean="0"/>
              <a:t>3 </a:t>
            </a:r>
            <a:r>
              <a:rPr lang="zh-CN" altLang="en-US" b="1" smtClean="0"/>
              <a:t>代码，所以其转换电路就是一个加法电路。</a:t>
            </a:r>
          </a:p>
        </p:txBody>
      </p:sp>
      <p:pic>
        <p:nvPicPr>
          <p:cNvPr id="8090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225" y="3471863"/>
            <a:ext cx="401955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15AA081-FB4B-4B04-A7A4-386F2046A94E}"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448BD4DF-5D15-4B2C-94EF-11D192CB4F18}" type="slidenum">
              <a:rPr lang="en-US" altLang="zh-CN"/>
              <a:pPr>
                <a:defRPr/>
              </a:pPr>
              <a:t>82</a:t>
            </a:fld>
            <a:endParaRPr lang="en-US" altLang="zh-CN"/>
          </a:p>
        </p:txBody>
      </p:sp>
      <p:sp>
        <p:nvSpPr>
          <p:cNvPr id="81924" name="Rectangle 2"/>
          <p:cNvSpPr>
            <a:spLocks noGrp="1" noChangeArrowheads="1"/>
          </p:cNvSpPr>
          <p:nvPr>
            <p:ph type="title"/>
          </p:nvPr>
        </p:nvSpPr>
        <p:spPr/>
        <p:txBody>
          <a:bodyPr/>
          <a:lstStyle/>
          <a:p>
            <a:pPr eaLnBrk="1" hangingPunct="1"/>
            <a:r>
              <a:rPr lang="zh-CN" altLang="en-US" b="1" smtClean="0"/>
              <a:t>全加器的应用</a:t>
            </a:r>
          </a:p>
        </p:txBody>
      </p:sp>
      <p:sp>
        <p:nvSpPr>
          <p:cNvPr id="81925" name="Rectangle 3"/>
          <p:cNvSpPr>
            <a:spLocks noGrp="1" noChangeArrowheads="1"/>
          </p:cNvSpPr>
          <p:nvPr>
            <p:ph type="body" idx="1"/>
          </p:nvPr>
        </p:nvSpPr>
        <p:spPr/>
        <p:txBody>
          <a:bodyPr/>
          <a:lstStyle/>
          <a:p>
            <a:pPr eaLnBrk="1" hangingPunct="1"/>
            <a:r>
              <a:rPr lang="zh-CN" altLang="en-US" b="1" smtClean="0"/>
              <a:t>试采用四位加法器完成余</a:t>
            </a:r>
            <a:r>
              <a:rPr lang="en-US" altLang="zh-CN" b="1" smtClean="0"/>
              <a:t>3</a:t>
            </a:r>
            <a:r>
              <a:rPr lang="zh-CN" altLang="en-US" b="1" smtClean="0"/>
              <a:t>码到</a:t>
            </a:r>
            <a:r>
              <a:rPr lang="en-US" altLang="zh-CN" b="1" smtClean="0"/>
              <a:t>8421 BCD</a:t>
            </a:r>
            <a:r>
              <a:rPr lang="zh-CN" altLang="en-US" b="1" smtClean="0"/>
              <a:t>码的转换</a:t>
            </a:r>
          </a:p>
          <a:p>
            <a:pPr lvl="1" eaLnBrk="1" hangingPunct="1"/>
            <a:r>
              <a:rPr lang="zh-CN" altLang="en-US" b="1" smtClean="0"/>
              <a:t>解：因为对于同样一个十进制数，余</a:t>
            </a:r>
            <a:r>
              <a:rPr lang="en-US" altLang="zh-CN" b="1" smtClean="0"/>
              <a:t>3</a:t>
            </a:r>
            <a:r>
              <a:rPr lang="zh-CN" altLang="en-US" b="1" smtClean="0"/>
              <a:t>码比相应的</a:t>
            </a:r>
            <a:r>
              <a:rPr lang="en-US" altLang="zh-CN" b="1" smtClean="0"/>
              <a:t>8421BCD</a:t>
            </a:r>
            <a:r>
              <a:rPr lang="zh-CN" altLang="en-US" b="1" smtClean="0"/>
              <a:t>码多</a:t>
            </a:r>
            <a:r>
              <a:rPr lang="en-US" altLang="zh-CN" b="1" smtClean="0"/>
              <a:t>3</a:t>
            </a:r>
            <a:r>
              <a:rPr lang="zh-CN" altLang="en-US" b="1" smtClean="0"/>
              <a:t>，因此要实现余</a:t>
            </a:r>
            <a:r>
              <a:rPr lang="en-US" altLang="zh-CN" b="1" smtClean="0"/>
              <a:t>3</a:t>
            </a:r>
            <a:r>
              <a:rPr lang="zh-CN" altLang="en-US" b="1" smtClean="0"/>
              <a:t>码到</a:t>
            </a:r>
            <a:r>
              <a:rPr lang="en-US" altLang="zh-CN" b="1" smtClean="0"/>
              <a:t>8421 BCD</a:t>
            </a:r>
            <a:r>
              <a:rPr lang="zh-CN" altLang="en-US" b="1" smtClean="0"/>
              <a:t>码的转换，只需从余</a:t>
            </a:r>
            <a:r>
              <a:rPr lang="en-US" altLang="zh-CN" b="1" smtClean="0"/>
              <a:t>3</a:t>
            </a:r>
            <a:r>
              <a:rPr lang="zh-CN" altLang="en-US" b="1" smtClean="0"/>
              <a:t>码减去</a:t>
            </a:r>
            <a:r>
              <a:rPr lang="en-US" altLang="zh-CN" b="1" smtClean="0"/>
              <a:t>(0011)</a:t>
            </a:r>
            <a:r>
              <a:rPr lang="zh-CN" altLang="en-US" b="1" smtClean="0"/>
              <a:t>即可。由于</a:t>
            </a:r>
            <a:r>
              <a:rPr lang="en-US" altLang="zh-CN" b="1" smtClean="0"/>
              <a:t>0011</a:t>
            </a:r>
            <a:r>
              <a:rPr lang="zh-CN" altLang="en-US" b="1" smtClean="0"/>
              <a:t>各位变反后成为</a:t>
            </a:r>
            <a:r>
              <a:rPr lang="en-US" altLang="zh-CN" b="1" smtClean="0"/>
              <a:t>1100</a:t>
            </a:r>
            <a:r>
              <a:rPr lang="zh-CN" altLang="en-US" b="1" smtClean="0"/>
              <a:t>，再加</a:t>
            </a:r>
            <a:r>
              <a:rPr lang="en-US" altLang="zh-CN" b="1" smtClean="0"/>
              <a:t>1</a:t>
            </a:r>
            <a:r>
              <a:rPr lang="zh-CN" altLang="en-US" b="1" smtClean="0"/>
              <a:t>，即为</a:t>
            </a:r>
            <a:r>
              <a:rPr lang="en-US" altLang="zh-CN" b="1" smtClean="0"/>
              <a:t>1101</a:t>
            </a:r>
            <a:r>
              <a:rPr lang="zh-CN" altLang="en-US" b="1" smtClean="0"/>
              <a:t>，因此，减</a:t>
            </a:r>
            <a:r>
              <a:rPr lang="en-US" altLang="zh-CN" b="1" smtClean="0"/>
              <a:t>(0011)</a:t>
            </a:r>
            <a:r>
              <a:rPr lang="zh-CN" altLang="en-US" b="1" smtClean="0"/>
              <a:t>同加</a:t>
            </a:r>
            <a:r>
              <a:rPr lang="en-US" altLang="zh-CN" b="1" smtClean="0"/>
              <a:t>(1101)</a:t>
            </a:r>
            <a:r>
              <a:rPr lang="zh-CN" altLang="en-US" b="1" smtClean="0"/>
              <a:t>等效。所以，在四位加法器的</a:t>
            </a:r>
            <a:r>
              <a:rPr lang="en-US" altLang="zh-CN" b="1" smtClean="0"/>
              <a:t>A3~A0</a:t>
            </a:r>
            <a:r>
              <a:rPr lang="zh-CN" altLang="en-US" b="1" smtClean="0"/>
              <a:t>接上余</a:t>
            </a:r>
            <a:r>
              <a:rPr lang="en-US" altLang="zh-CN" b="1" smtClean="0"/>
              <a:t>3</a:t>
            </a:r>
            <a:r>
              <a:rPr lang="zh-CN" altLang="en-US" b="1" smtClean="0"/>
              <a:t>码的四位代码，</a:t>
            </a:r>
            <a:r>
              <a:rPr lang="en-US" altLang="zh-CN" b="1" smtClean="0"/>
              <a:t>B3</a:t>
            </a:r>
            <a:r>
              <a:rPr lang="zh-CN" altLang="en-US" b="1" smtClean="0"/>
              <a:t>、</a:t>
            </a:r>
            <a:r>
              <a:rPr lang="en-US" altLang="zh-CN" b="1" smtClean="0"/>
              <a:t>B2</a:t>
            </a:r>
            <a:r>
              <a:rPr lang="zh-CN" altLang="en-US" b="1" smtClean="0"/>
              <a:t>、</a:t>
            </a:r>
            <a:r>
              <a:rPr lang="en-US" altLang="zh-CN" b="1" smtClean="0"/>
              <a:t>B1</a:t>
            </a:r>
            <a:r>
              <a:rPr lang="zh-CN" altLang="en-US" b="1" smtClean="0"/>
              <a:t>、</a:t>
            </a:r>
            <a:r>
              <a:rPr lang="en-US" altLang="zh-CN" b="1" smtClean="0"/>
              <a:t>B0</a:t>
            </a:r>
            <a:r>
              <a:rPr lang="zh-CN" altLang="en-US" b="1" smtClean="0"/>
              <a:t>上接固定代码</a:t>
            </a:r>
            <a:r>
              <a:rPr lang="en-US" altLang="zh-CN" b="1" smtClean="0"/>
              <a:t>1101</a:t>
            </a:r>
            <a:r>
              <a:rPr lang="zh-CN" altLang="en-US" b="1" smtClean="0"/>
              <a:t>，就能实现转换。</a:t>
            </a:r>
          </a:p>
        </p:txBody>
      </p:sp>
    </p:spTree>
  </p:cSld>
  <p:clrMapOvr>
    <a:masterClrMapping/>
  </p:clrMapOvr>
  <p:transition>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C7B94AF-FEB2-4C14-87DE-E7788C24A3B2}"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0AEFE5D3-7A00-4968-8D22-79879F6B225E}" type="slidenum">
              <a:rPr lang="en-US" altLang="zh-CN"/>
              <a:pPr>
                <a:defRPr/>
              </a:pPr>
              <a:t>83</a:t>
            </a:fld>
            <a:endParaRPr lang="en-US" altLang="zh-CN"/>
          </a:p>
        </p:txBody>
      </p:sp>
      <p:sp>
        <p:nvSpPr>
          <p:cNvPr id="82948" name="Rectangle 2"/>
          <p:cNvSpPr>
            <a:spLocks noGrp="1" noChangeArrowheads="1"/>
          </p:cNvSpPr>
          <p:nvPr>
            <p:ph type="title"/>
          </p:nvPr>
        </p:nvSpPr>
        <p:spPr/>
        <p:txBody>
          <a:bodyPr/>
          <a:lstStyle/>
          <a:p>
            <a:pPr eaLnBrk="1" hangingPunct="1"/>
            <a:r>
              <a:rPr lang="zh-CN" altLang="en-US" smtClean="0"/>
              <a:t>全加器的应用</a:t>
            </a:r>
          </a:p>
        </p:txBody>
      </p:sp>
      <p:sp>
        <p:nvSpPr>
          <p:cNvPr id="82949" name="Rectangle 3"/>
          <p:cNvSpPr>
            <a:spLocks noGrp="1" noChangeArrowheads="1"/>
          </p:cNvSpPr>
          <p:nvPr>
            <p:ph type="body" idx="1"/>
          </p:nvPr>
        </p:nvSpPr>
        <p:spPr/>
        <p:txBody>
          <a:bodyPr/>
          <a:lstStyle/>
          <a:p>
            <a:pPr eaLnBrk="1" hangingPunct="1"/>
            <a:endParaRPr lang="zh-CN" altLang="zh-CN" smtClean="0"/>
          </a:p>
        </p:txBody>
      </p:sp>
      <p:graphicFrame>
        <p:nvGraphicFramePr>
          <p:cNvPr id="82950" name="Object 4"/>
          <p:cNvGraphicFramePr>
            <a:graphicFrameLocks noChangeAspect="1"/>
          </p:cNvGraphicFramePr>
          <p:nvPr/>
        </p:nvGraphicFramePr>
        <p:xfrm>
          <a:off x="1524000" y="403225"/>
          <a:ext cx="6019800" cy="5540375"/>
        </p:xfrm>
        <a:graphic>
          <a:graphicData uri="http://schemas.openxmlformats.org/presentationml/2006/ole">
            <mc:AlternateContent xmlns:mc="http://schemas.openxmlformats.org/markup-compatibility/2006">
              <mc:Choice xmlns:v="urn:schemas-microsoft-com:vml" Requires="v">
                <p:oleObj spid="_x0000_s82955" name="VISIO" r:id="rId4" imgW="1813560" imgH="1668780" progId="">
                  <p:embed/>
                </p:oleObj>
              </mc:Choice>
              <mc:Fallback>
                <p:oleObj name="VISIO" r:id="rId4" imgW="1813560" imgH="166878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03225"/>
                        <a:ext cx="6019800" cy="554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550092B4-800E-4996-91FC-96678E566264}"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ADA0EEB7-1088-49E6-94C3-96DAFAEFF561}" type="slidenum">
              <a:rPr lang="en-US" altLang="zh-CN"/>
              <a:pPr>
                <a:defRPr/>
              </a:pPr>
              <a:t>84</a:t>
            </a:fld>
            <a:endParaRPr lang="en-US" altLang="zh-CN"/>
          </a:p>
        </p:txBody>
      </p:sp>
      <p:sp>
        <p:nvSpPr>
          <p:cNvPr id="83972" name="Rectangle 2"/>
          <p:cNvSpPr>
            <a:spLocks noGrp="1" noChangeArrowheads="1"/>
          </p:cNvSpPr>
          <p:nvPr>
            <p:ph type="title"/>
          </p:nvPr>
        </p:nvSpPr>
        <p:spPr/>
        <p:txBody>
          <a:bodyPr/>
          <a:lstStyle/>
          <a:p>
            <a:pPr eaLnBrk="1" hangingPunct="1"/>
            <a:r>
              <a:rPr lang="zh-CN" altLang="en-US" b="1" smtClean="0"/>
              <a:t>数值比较器</a:t>
            </a:r>
          </a:p>
        </p:txBody>
      </p:sp>
      <p:sp>
        <p:nvSpPr>
          <p:cNvPr id="83973" name="Rectangle 3"/>
          <p:cNvSpPr>
            <a:spLocks noGrp="1" noChangeArrowheads="1"/>
          </p:cNvSpPr>
          <p:nvPr>
            <p:ph type="body" idx="1"/>
          </p:nvPr>
        </p:nvSpPr>
        <p:spPr/>
        <p:txBody>
          <a:bodyPr/>
          <a:lstStyle/>
          <a:p>
            <a:pPr eaLnBrk="1" hangingPunct="1"/>
            <a:r>
              <a:rPr lang="zh-CN" altLang="en-US" b="1" smtClean="0"/>
              <a:t>用来比较两个二进制数大小的逻辑电路</a:t>
            </a:r>
            <a:r>
              <a:rPr lang="en-US" altLang="zh-CN" b="1" smtClean="0"/>
              <a:t>,</a:t>
            </a:r>
            <a:r>
              <a:rPr lang="zh-CN" altLang="en-US" b="1" smtClean="0"/>
              <a:t>称为比较器。</a:t>
            </a:r>
          </a:p>
        </p:txBody>
      </p:sp>
      <p:pic>
        <p:nvPicPr>
          <p:cNvPr id="8397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8" y="2843213"/>
            <a:ext cx="385762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5DAF6EB-F81A-4E45-8E4D-7C49D9B6FB91}"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2736D2F0-D653-4EDA-8534-ADEAC4FD1121}" type="slidenum">
              <a:rPr lang="en-US" altLang="zh-CN"/>
              <a:pPr>
                <a:defRPr/>
              </a:pPr>
              <a:t>85</a:t>
            </a:fld>
            <a:endParaRPr lang="en-US" altLang="zh-CN"/>
          </a:p>
        </p:txBody>
      </p:sp>
      <p:sp>
        <p:nvSpPr>
          <p:cNvPr id="84996" name="Rectangle 2"/>
          <p:cNvSpPr>
            <a:spLocks noGrp="1" noChangeArrowheads="1"/>
          </p:cNvSpPr>
          <p:nvPr>
            <p:ph type="title"/>
          </p:nvPr>
        </p:nvSpPr>
        <p:spPr/>
        <p:txBody>
          <a:bodyPr/>
          <a:lstStyle/>
          <a:p>
            <a:pPr eaLnBrk="1" hangingPunct="1"/>
            <a:r>
              <a:rPr lang="zh-CN" altLang="en-US" smtClean="0"/>
              <a:t>四位数值比较器</a:t>
            </a:r>
            <a:r>
              <a:rPr lang="en-US" altLang="zh-CN" smtClean="0"/>
              <a:t>74LS85</a:t>
            </a:r>
            <a:r>
              <a:rPr lang="zh-CN" altLang="en-US" smtClean="0"/>
              <a:t>逻辑图</a:t>
            </a:r>
          </a:p>
        </p:txBody>
      </p:sp>
      <p:sp>
        <p:nvSpPr>
          <p:cNvPr id="84997" name="Rectangle 3"/>
          <p:cNvSpPr>
            <a:spLocks noGrp="1" noChangeArrowheads="1"/>
          </p:cNvSpPr>
          <p:nvPr>
            <p:ph type="body" idx="1"/>
          </p:nvPr>
        </p:nvSpPr>
        <p:spPr/>
        <p:txBody>
          <a:bodyPr/>
          <a:lstStyle/>
          <a:p>
            <a:pPr eaLnBrk="1" hangingPunct="1"/>
            <a:endParaRPr kumimoji="1" lang="zh-CN" altLang="zh-CN" sz="2400" smtClean="0">
              <a:latin typeface="Times New Roman" pitchFamily="18" charset="0"/>
            </a:endParaRPr>
          </a:p>
        </p:txBody>
      </p:sp>
      <p:graphicFrame>
        <p:nvGraphicFramePr>
          <p:cNvPr id="84998" name="Object 6"/>
          <p:cNvGraphicFramePr>
            <a:graphicFrameLocks noChangeAspect="1"/>
          </p:cNvGraphicFramePr>
          <p:nvPr/>
        </p:nvGraphicFramePr>
        <p:xfrm>
          <a:off x="152400" y="1524000"/>
          <a:ext cx="8915400" cy="4457700"/>
        </p:xfrm>
        <a:graphic>
          <a:graphicData uri="http://schemas.openxmlformats.org/presentationml/2006/ole">
            <mc:AlternateContent xmlns:mc="http://schemas.openxmlformats.org/markup-compatibility/2006">
              <mc:Choice xmlns:v="urn:schemas-microsoft-com:vml" Requires="v">
                <p:oleObj spid="_x0000_s85003" name="VISIO" r:id="rId4" imgW="6469380" imgH="3238500" progId="">
                  <p:embed/>
                </p:oleObj>
              </mc:Choice>
              <mc:Fallback>
                <p:oleObj name="VISIO" r:id="rId4" imgW="6469380" imgH="3238500"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524000"/>
                        <a:ext cx="8915400"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B004B4C9-A8BB-4044-81B4-A86EC8D91E11}"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CFEF8C13-DBED-4E78-BAC6-86F34EC138E6}" type="slidenum">
              <a:rPr lang="en-US" altLang="zh-CN"/>
              <a:pPr>
                <a:defRPr/>
              </a:pPr>
              <a:t>86</a:t>
            </a:fld>
            <a:endParaRPr lang="en-US" altLang="zh-CN"/>
          </a:p>
        </p:txBody>
      </p:sp>
      <p:sp>
        <p:nvSpPr>
          <p:cNvPr id="86020" name="Rectangle 2"/>
          <p:cNvSpPr>
            <a:spLocks noGrp="1" noChangeArrowheads="1"/>
          </p:cNvSpPr>
          <p:nvPr>
            <p:ph type="title"/>
          </p:nvPr>
        </p:nvSpPr>
        <p:spPr/>
        <p:txBody>
          <a:bodyPr/>
          <a:lstStyle/>
          <a:p>
            <a:pPr eaLnBrk="1" hangingPunct="1"/>
            <a:r>
              <a:rPr lang="en-US" altLang="zh-CN" smtClean="0"/>
              <a:t>7485</a:t>
            </a:r>
            <a:r>
              <a:rPr lang="zh-CN" altLang="en-US" smtClean="0"/>
              <a:t>数值比较器功能表</a:t>
            </a:r>
            <a:r>
              <a:rPr kumimoji="1" lang="zh-CN" altLang="en-US" sz="2400" smtClean="0">
                <a:solidFill>
                  <a:schemeClr val="tx1"/>
                </a:solidFill>
                <a:latin typeface="Times New Roman" pitchFamily="18" charset="0"/>
              </a:rPr>
              <a:t> </a:t>
            </a:r>
          </a:p>
        </p:txBody>
      </p:sp>
      <p:sp>
        <p:nvSpPr>
          <p:cNvPr id="86021" name="Rectangle 3"/>
          <p:cNvSpPr>
            <a:spLocks noGrp="1" noChangeArrowheads="1"/>
          </p:cNvSpPr>
          <p:nvPr>
            <p:ph type="body" idx="1"/>
          </p:nvPr>
        </p:nvSpPr>
        <p:spPr/>
        <p:txBody>
          <a:bodyPr/>
          <a:lstStyle/>
          <a:p>
            <a:pPr eaLnBrk="1" hangingPunct="1"/>
            <a:endParaRPr lang="zh-CN" altLang="zh-CN" smtClean="0"/>
          </a:p>
        </p:txBody>
      </p:sp>
      <p:pic>
        <p:nvPicPr>
          <p:cNvPr id="86022" name="Picture 4" descr="C:\WINDOWS\Desktop\未标题-1 拷贝.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90600"/>
            <a:ext cx="86106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4AB68314-B2C2-4DC2-A938-F0379FBD65FB}"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E57D7A43-2E61-42DB-A037-6B66E0C56FEB}" type="slidenum">
              <a:rPr lang="en-US" altLang="zh-CN"/>
              <a:pPr>
                <a:defRPr/>
              </a:pPr>
              <a:t>87</a:t>
            </a:fld>
            <a:endParaRPr lang="en-US" altLang="zh-CN"/>
          </a:p>
        </p:txBody>
      </p:sp>
      <p:sp>
        <p:nvSpPr>
          <p:cNvPr id="87044" name="Rectangle 2"/>
          <p:cNvSpPr>
            <a:spLocks noGrp="1" noChangeArrowheads="1"/>
          </p:cNvSpPr>
          <p:nvPr>
            <p:ph type="title"/>
          </p:nvPr>
        </p:nvSpPr>
        <p:spPr/>
        <p:txBody>
          <a:bodyPr/>
          <a:lstStyle/>
          <a:p>
            <a:pPr eaLnBrk="1" hangingPunct="1"/>
            <a:r>
              <a:rPr lang="zh-CN" altLang="en-US" smtClean="0"/>
              <a:t>数值比较器</a:t>
            </a:r>
          </a:p>
        </p:txBody>
      </p:sp>
      <p:sp>
        <p:nvSpPr>
          <p:cNvPr id="87045" name="Rectangle 3"/>
          <p:cNvSpPr>
            <a:spLocks noGrp="1" noChangeArrowheads="1"/>
          </p:cNvSpPr>
          <p:nvPr>
            <p:ph type="body" idx="1"/>
          </p:nvPr>
        </p:nvSpPr>
        <p:spPr/>
        <p:txBody>
          <a:bodyPr/>
          <a:lstStyle/>
          <a:p>
            <a:pPr eaLnBrk="1" hangingPunct="1"/>
            <a:r>
              <a:rPr lang="zh-CN" altLang="en-US" smtClean="0"/>
              <a:t>比较器的扩展与应用</a:t>
            </a:r>
          </a:p>
          <a:p>
            <a:pPr lvl="1" eaLnBrk="1" hangingPunct="1"/>
            <a:r>
              <a:rPr lang="zh-CN" altLang="en-US" smtClean="0"/>
              <a:t>例：用</a:t>
            </a:r>
            <a:r>
              <a:rPr lang="en-US" altLang="zh-CN" smtClean="0"/>
              <a:t>7485</a:t>
            </a:r>
            <a:r>
              <a:rPr lang="zh-CN" altLang="en-US" smtClean="0"/>
              <a:t>构成</a:t>
            </a:r>
            <a:r>
              <a:rPr lang="en-US" altLang="zh-CN" smtClean="0"/>
              <a:t>7</a:t>
            </a:r>
            <a:r>
              <a:rPr lang="zh-CN" altLang="en-US" smtClean="0"/>
              <a:t>位二进制数并行比较器。</a:t>
            </a:r>
          </a:p>
        </p:txBody>
      </p:sp>
      <p:graphicFrame>
        <p:nvGraphicFramePr>
          <p:cNvPr id="87046" name="Object 5"/>
          <p:cNvGraphicFramePr>
            <a:graphicFrameLocks noChangeAspect="1"/>
          </p:cNvGraphicFramePr>
          <p:nvPr/>
        </p:nvGraphicFramePr>
        <p:xfrm>
          <a:off x="1828800" y="2479675"/>
          <a:ext cx="6019800" cy="3827463"/>
        </p:xfrm>
        <a:graphic>
          <a:graphicData uri="http://schemas.openxmlformats.org/presentationml/2006/ole">
            <mc:AlternateContent xmlns:mc="http://schemas.openxmlformats.org/markup-compatibility/2006">
              <mc:Choice xmlns:v="urn:schemas-microsoft-com:vml" Requires="v">
                <p:oleObj spid="_x0000_s87051" name="VISIO" r:id="rId4" imgW="2819400" imgH="1790700" progId="">
                  <p:embed/>
                </p:oleObj>
              </mc:Choice>
              <mc:Fallback>
                <p:oleObj name="VISIO" r:id="rId4" imgW="2819400" imgH="179070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479675"/>
                        <a:ext cx="6019800" cy="3827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465FBE3-03E1-4125-B6B0-31F1E324C2B3}"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B43BA1D8-F22E-4524-AB32-E617881B4462}" type="slidenum">
              <a:rPr lang="en-US" altLang="zh-CN"/>
              <a:pPr>
                <a:defRPr/>
              </a:pPr>
              <a:t>88</a:t>
            </a:fld>
            <a:endParaRPr lang="en-US" altLang="zh-CN"/>
          </a:p>
        </p:txBody>
      </p:sp>
      <p:sp>
        <p:nvSpPr>
          <p:cNvPr id="88068" name="Rectangle 2"/>
          <p:cNvSpPr>
            <a:spLocks noGrp="1" noChangeArrowheads="1"/>
          </p:cNvSpPr>
          <p:nvPr>
            <p:ph type="title"/>
          </p:nvPr>
        </p:nvSpPr>
        <p:spPr/>
        <p:txBody>
          <a:bodyPr/>
          <a:lstStyle/>
          <a:p>
            <a:pPr eaLnBrk="1" hangingPunct="1"/>
            <a:r>
              <a:rPr lang="zh-CN" altLang="en-US" b="1" smtClean="0"/>
              <a:t>译码器</a:t>
            </a:r>
          </a:p>
        </p:txBody>
      </p:sp>
      <p:sp>
        <p:nvSpPr>
          <p:cNvPr id="88069" name="Rectangle 3"/>
          <p:cNvSpPr>
            <a:spLocks noGrp="1" noChangeArrowheads="1"/>
          </p:cNvSpPr>
          <p:nvPr>
            <p:ph type="body" idx="1"/>
          </p:nvPr>
        </p:nvSpPr>
        <p:spPr/>
        <p:txBody>
          <a:bodyPr/>
          <a:lstStyle/>
          <a:p>
            <a:pPr eaLnBrk="1" hangingPunct="1"/>
            <a:r>
              <a:rPr lang="zh-CN" altLang="en-US" b="1" smtClean="0"/>
              <a:t>译码器是一种多输出组合逻辑电路，它能将</a:t>
            </a:r>
            <a:r>
              <a:rPr lang="en-US" altLang="zh-CN" b="1" i="1" smtClean="0">
                <a:latin typeface="Times New Roman" pitchFamily="18" charset="0"/>
              </a:rPr>
              <a:t>n</a:t>
            </a:r>
            <a:r>
              <a:rPr lang="zh-CN" altLang="en-US" b="1" smtClean="0"/>
              <a:t>个输入变量变换成</a:t>
            </a:r>
            <a:r>
              <a:rPr lang="en-US" altLang="zh-CN" b="1" i="1" smtClean="0">
                <a:latin typeface="Times New Roman" pitchFamily="18" charset="0"/>
              </a:rPr>
              <a:t>2</a:t>
            </a:r>
            <a:r>
              <a:rPr lang="en-US" altLang="zh-CN" b="1" i="1" baseline="30000" smtClean="0">
                <a:latin typeface="Times New Roman" pitchFamily="18" charset="0"/>
              </a:rPr>
              <a:t>n</a:t>
            </a:r>
            <a:r>
              <a:rPr lang="zh-CN" altLang="en-US" b="1" smtClean="0"/>
              <a:t>个输出函数，并且每个输出函数对应于</a:t>
            </a:r>
            <a:r>
              <a:rPr lang="en-US" altLang="zh-CN" b="1" i="1" smtClean="0">
                <a:latin typeface="Times New Roman" pitchFamily="18" charset="0"/>
              </a:rPr>
              <a:t>n</a:t>
            </a:r>
            <a:r>
              <a:rPr lang="zh-CN" altLang="en-US" b="1" smtClean="0"/>
              <a:t>个输入变量的一个最小项。</a:t>
            </a:r>
          </a:p>
          <a:p>
            <a:pPr eaLnBrk="1" hangingPunct="1"/>
            <a:r>
              <a:rPr lang="zh-CN" altLang="en-US" b="1" smtClean="0"/>
              <a:t>常用的有</a:t>
            </a:r>
            <a:r>
              <a:rPr lang="en-US" altLang="zh-CN" b="1" smtClean="0"/>
              <a:t>2-4</a:t>
            </a:r>
            <a:r>
              <a:rPr lang="zh-CN" altLang="en-US" b="1" smtClean="0"/>
              <a:t>译码器、</a:t>
            </a:r>
            <a:r>
              <a:rPr lang="en-US" altLang="zh-CN" b="1" smtClean="0"/>
              <a:t>3-8</a:t>
            </a:r>
            <a:r>
              <a:rPr lang="zh-CN" altLang="en-US" b="1" smtClean="0"/>
              <a:t>译码器、</a:t>
            </a:r>
            <a:r>
              <a:rPr lang="en-US" altLang="zh-CN" b="1" smtClean="0"/>
              <a:t>4-16</a:t>
            </a:r>
            <a:r>
              <a:rPr lang="zh-CN" altLang="en-US" b="1" smtClean="0"/>
              <a:t>译码器等。</a:t>
            </a:r>
          </a:p>
        </p:txBody>
      </p:sp>
    </p:spTree>
  </p:cSld>
  <p:clrMapOvr>
    <a:masterClrMapping/>
  </p:clrMapOvr>
  <p:transition>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F69940A6-30C9-4AAC-93B7-3F1740B98A22}" type="slidenum">
              <a:rPr lang="en-US" altLang="zh-CN" smtClean="0"/>
              <a:pPr>
                <a:defRPr/>
              </a:pPr>
              <a:t>89</a:t>
            </a:fld>
            <a:endParaRPr lang="en-US" altLang="zh-CN"/>
          </a:p>
        </p:txBody>
      </p:sp>
      <p:graphicFrame>
        <p:nvGraphicFramePr>
          <p:cNvPr id="89092" name="Object 5"/>
          <p:cNvGraphicFramePr>
            <a:graphicFrameLocks noChangeAspect="1"/>
          </p:cNvGraphicFramePr>
          <p:nvPr/>
        </p:nvGraphicFramePr>
        <p:xfrm>
          <a:off x="0" y="1752600"/>
          <a:ext cx="9144000" cy="3378200"/>
        </p:xfrm>
        <a:graphic>
          <a:graphicData uri="http://schemas.openxmlformats.org/presentationml/2006/ole">
            <mc:AlternateContent xmlns:mc="http://schemas.openxmlformats.org/markup-compatibility/2006">
              <mc:Choice xmlns:v="urn:schemas-microsoft-com:vml" Requires="v">
                <p:oleObj spid="_x0000_s89098" name="VISIO" r:id="rId4" imgW="4229100" imgH="1562100" progId="">
                  <p:embed/>
                </p:oleObj>
              </mc:Choice>
              <mc:Fallback>
                <p:oleObj name="VISIO" r:id="rId4" imgW="4229100" imgH="156210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52600"/>
                        <a:ext cx="91440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3" name="Text Box 4"/>
          <p:cNvSpPr txBox="1">
            <a:spLocks noChangeArrowheads="1"/>
          </p:cNvSpPr>
          <p:nvPr/>
        </p:nvSpPr>
        <p:spPr bwMode="auto">
          <a:xfrm>
            <a:off x="1857375" y="568325"/>
            <a:ext cx="5548313"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600" b="1">
                <a:solidFill>
                  <a:srgbClr val="0000FF"/>
                </a:solidFill>
              </a:rPr>
              <a:t>2-4</a:t>
            </a:r>
            <a:r>
              <a:rPr lang="zh-CN" altLang="en-US" sz="3600" b="1">
                <a:solidFill>
                  <a:srgbClr val="0000FF"/>
                </a:solidFill>
              </a:rPr>
              <a:t>译码器逻辑电路及符号 </a:t>
            </a:r>
          </a:p>
        </p:txBody>
      </p:sp>
    </p:spTree>
  </p:cSld>
  <p:clrMapOvr>
    <a:masterClrMapping/>
  </p:clrMapOvr>
  <p:transition>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CC65824D-7BE2-44DE-B570-8BEBD8D648E8}" type="slidenum">
              <a:rPr lang="en-US" altLang="zh-CN" smtClean="0"/>
              <a:pPr>
                <a:defRPr/>
              </a:pPr>
              <a:t>90</a:t>
            </a:fld>
            <a:endParaRPr lang="en-US" altLang="zh-CN"/>
          </a:p>
        </p:txBody>
      </p:sp>
      <p:pic>
        <p:nvPicPr>
          <p:cNvPr id="90116" name="Picture 5" descr="C:\WINDOWS\Desktop\未标题-1 拷贝.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57175"/>
            <a:ext cx="76962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0117" name="Object 5"/>
          <p:cNvGraphicFramePr>
            <a:graphicFrameLocks noChangeAspect="1"/>
          </p:cNvGraphicFramePr>
          <p:nvPr/>
        </p:nvGraphicFramePr>
        <p:xfrm>
          <a:off x="841375" y="5226050"/>
          <a:ext cx="7373938" cy="631825"/>
        </p:xfrm>
        <a:graphic>
          <a:graphicData uri="http://schemas.openxmlformats.org/presentationml/2006/ole">
            <mc:AlternateContent xmlns:mc="http://schemas.openxmlformats.org/markup-compatibility/2006">
              <mc:Choice xmlns:v="urn:schemas-microsoft-com:vml" Requires="v">
                <p:oleObj spid="_x0000_s90127" name="公式" r:id="rId5" imgW="2667000" imgH="279400" progId="Equation.3">
                  <p:embed/>
                </p:oleObj>
              </mc:Choice>
              <mc:Fallback>
                <p:oleObj name="公式" r:id="rId5" imgW="2667000" imgH="279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75" y="5226050"/>
                        <a:ext cx="7373938"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18" name="Object 7"/>
          <p:cNvGraphicFramePr>
            <a:graphicFrameLocks noChangeAspect="1"/>
          </p:cNvGraphicFramePr>
          <p:nvPr/>
        </p:nvGraphicFramePr>
        <p:xfrm>
          <a:off x="2809875" y="5980113"/>
          <a:ext cx="3048000" cy="663575"/>
        </p:xfrm>
        <a:graphic>
          <a:graphicData uri="http://schemas.openxmlformats.org/presentationml/2006/ole">
            <mc:AlternateContent xmlns:mc="http://schemas.openxmlformats.org/markup-compatibility/2006">
              <mc:Choice xmlns:v="urn:schemas-microsoft-com:vml" Requires="v">
                <p:oleObj spid="_x0000_s90128" name="公式" r:id="rId7" imgW="1282700" imgH="279400" progId="Equation.3">
                  <p:embed/>
                </p:oleObj>
              </mc:Choice>
              <mc:Fallback>
                <p:oleObj name="公式" r:id="rId7" imgW="1282700" imgH="2794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09875" y="5980113"/>
                        <a:ext cx="30480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日期占位符 3"/>
          <p:cNvSpPr>
            <a:spLocks noGrp="1"/>
          </p:cNvSpPr>
          <p:nvPr>
            <p:ph type="dt" sz="quarter" idx="10"/>
          </p:nvPr>
        </p:nvSpPr>
        <p:spPr/>
        <p:txBody>
          <a:bodyPr/>
          <a:lstStyle/>
          <a:p>
            <a:pPr>
              <a:defRPr/>
            </a:pPr>
            <a:fld id="{6F0DD13F-FEB4-4F9C-9DAF-51584E2AFA28}" type="datetime1">
              <a:rPr lang="zh-CN" altLang="en-US"/>
              <a:pPr>
                <a:defRPr/>
              </a:pPr>
              <a:t>2020/10/10</a:t>
            </a:fld>
            <a:endParaRPr lang="en-US" altLang="zh-CN"/>
          </a:p>
        </p:txBody>
      </p:sp>
      <p:sp>
        <p:nvSpPr>
          <p:cNvPr id="175" name="灯片编号占位符 5"/>
          <p:cNvSpPr>
            <a:spLocks noGrp="1"/>
          </p:cNvSpPr>
          <p:nvPr>
            <p:ph type="sldNum" sz="quarter" idx="12"/>
          </p:nvPr>
        </p:nvSpPr>
        <p:spPr/>
        <p:txBody>
          <a:bodyPr/>
          <a:lstStyle/>
          <a:p>
            <a:pPr>
              <a:defRPr/>
            </a:pPr>
            <a:fld id="{B2BFF798-5FAB-4E9D-BA56-E6AFED825F75}" type="slidenum">
              <a:rPr lang="en-US" altLang="zh-CN"/>
              <a:pPr>
                <a:defRPr/>
              </a:pPr>
              <a:t>91</a:t>
            </a:fld>
            <a:endParaRPr lang="en-US" altLang="zh-CN"/>
          </a:p>
        </p:txBody>
      </p:sp>
      <p:sp>
        <p:nvSpPr>
          <p:cNvPr id="91140" name="Rectangle 2"/>
          <p:cNvSpPr>
            <a:spLocks noGrp="1" noChangeArrowheads="1"/>
          </p:cNvSpPr>
          <p:nvPr>
            <p:ph type="title"/>
          </p:nvPr>
        </p:nvSpPr>
        <p:spPr/>
        <p:txBody>
          <a:bodyPr/>
          <a:lstStyle/>
          <a:p>
            <a:pPr eaLnBrk="1" hangingPunct="1"/>
            <a:r>
              <a:rPr lang="zh-CN" altLang="en-US" b="1" smtClean="0"/>
              <a:t>译码器</a:t>
            </a:r>
          </a:p>
        </p:txBody>
      </p:sp>
      <p:sp>
        <p:nvSpPr>
          <p:cNvPr id="91141" name="Rectangle 3"/>
          <p:cNvSpPr>
            <a:spLocks noGrp="1" noChangeArrowheads="1"/>
          </p:cNvSpPr>
          <p:nvPr>
            <p:ph type="body" idx="1"/>
          </p:nvPr>
        </p:nvSpPr>
        <p:spPr/>
        <p:txBody>
          <a:bodyPr/>
          <a:lstStyle/>
          <a:p>
            <a:pPr eaLnBrk="1" hangingPunct="1"/>
            <a:r>
              <a:rPr lang="en-US" altLang="zh-CN" b="1" smtClean="0"/>
              <a:t>74138</a:t>
            </a:r>
            <a:r>
              <a:rPr lang="zh-CN" altLang="en-US" b="1" smtClean="0"/>
              <a:t>译码器引脚图和逻辑符号</a:t>
            </a:r>
          </a:p>
        </p:txBody>
      </p:sp>
      <p:grpSp>
        <p:nvGrpSpPr>
          <p:cNvPr id="91142" name="Group 178"/>
          <p:cNvGrpSpPr>
            <a:grpSpLocks/>
          </p:cNvGrpSpPr>
          <p:nvPr/>
        </p:nvGrpSpPr>
        <p:grpSpPr bwMode="auto">
          <a:xfrm>
            <a:off x="1219200" y="2271713"/>
            <a:ext cx="7199313" cy="3995737"/>
            <a:chOff x="768" y="1431"/>
            <a:chExt cx="4535" cy="2517"/>
          </a:xfrm>
        </p:grpSpPr>
        <p:sp>
          <p:nvSpPr>
            <p:cNvPr id="91143" name="Line 6"/>
            <p:cNvSpPr>
              <a:spLocks noChangeShapeType="1"/>
            </p:cNvSpPr>
            <p:nvPr/>
          </p:nvSpPr>
          <p:spPr bwMode="auto">
            <a:xfrm>
              <a:off x="3451" y="2912"/>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4" name="Line 7"/>
            <p:cNvSpPr>
              <a:spLocks noChangeShapeType="1"/>
            </p:cNvSpPr>
            <p:nvPr/>
          </p:nvSpPr>
          <p:spPr bwMode="auto">
            <a:xfrm>
              <a:off x="3451" y="3141"/>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5" name="Line 8"/>
            <p:cNvSpPr>
              <a:spLocks noChangeShapeType="1"/>
            </p:cNvSpPr>
            <p:nvPr/>
          </p:nvSpPr>
          <p:spPr bwMode="auto">
            <a:xfrm>
              <a:off x="3451" y="3370"/>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6" name="Line 9"/>
            <p:cNvSpPr>
              <a:spLocks noChangeShapeType="1"/>
            </p:cNvSpPr>
            <p:nvPr/>
          </p:nvSpPr>
          <p:spPr bwMode="auto">
            <a:xfrm>
              <a:off x="3451" y="1780"/>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7" name="Line 10"/>
            <p:cNvSpPr>
              <a:spLocks noChangeShapeType="1"/>
            </p:cNvSpPr>
            <p:nvPr/>
          </p:nvSpPr>
          <p:spPr bwMode="auto">
            <a:xfrm>
              <a:off x="3451" y="2009"/>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8" name="Line 11"/>
            <p:cNvSpPr>
              <a:spLocks noChangeShapeType="1"/>
            </p:cNvSpPr>
            <p:nvPr/>
          </p:nvSpPr>
          <p:spPr bwMode="auto">
            <a:xfrm>
              <a:off x="3451" y="2226"/>
              <a:ext cx="158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9" name="Rectangle 12"/>
            <p:cNvSpPr>
              <a:spLocks noChangeArrowheads="1"/>
            </p:cNvSpPr>
            <p:nvPr/>
          </p:nvSpPr>
          <p:spPr bwMode="auto">
            <a:xfrm>
              <a:off x="1117" y="1696"/>
              <a:ext cx="60"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0" name="Rectangle 13"/>
            <p:cNvSpPr>
              <a:spLocks noChangeArrowheads="1"/>
            </p:cNvSpPr>
            <p:nvPr/>
          </p:nvSpPr>
          <p:spPr bwMode="auto">
            <a:xfrm>
              <a:off x="1117" y="1913"/>
              <a:ext cx="60" cy="180"/>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1" name="Rectangle 14"/>
            <p:cNvSpPr>
              <a:spLocks noChangeArrowheads="1"/>
            </p:cNvSpPr>
            <p:nvPr/>
          </p:nvSpPr>
          <p:spPr bwMode="auto">
            <a:xfrm>
              <a:off x="1117" y="2142"/>
              <a:ext cx="60" cy="180"/>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2" name="Rectangle 15"/>
            <p:cNvSpPr>
              <a:spLocks noChangeArrowheads="1"/>
            </p:cNvSpPr>
            <p:nvPr/>
          </p:nvSpPr>
          <p:spPr bwMode="auto">
            <a:xfrm>
              <a:off x="1117" y="2370"/>
              <a:ext cx="60"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3" name="Rectangle 16"/>
            <p:cNvSpPr>
              <a:spLocks noChangeArrowheads="1"/>
            </p:cNvSpPr>
            <p:nvPr/>
          </p:nvSpPr>
          <p:spPr bwMode="auto">
            <a:xfrm>
              <a:off x="1117" y="2599"/>
              <a:ext cx="60"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4" name="Rectangle 17"/>
            <p:cNvSpPr>
              <a:spLocks noChangeArrowheads="1"/>
            </p:cNvSpPr>
            <p:nvPr/>
          </p:nvSpPr>
          <p:spPr bwMode="auto">
            <a:xfrm>
              <a:off x="1117" y="2828"/>
              <a:ext cx="60"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5" name="Rectangle 18"/>
            <p:cNvSpPr>
              <a:spLocks noChangeArrowheads="1"/>
            </p:cNvSpPr>
            <p:nvPr/>
          </p:nvSpPr>
          <p:spPr bwMode="auto">
            <a:xfrm>
              <a:off x="1117" y="3057"/>
              <a:ext cx="60" cy="168"/>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6" name="Rectangle 19"/>
            <p:cNvSpPr>
              <a:spLocks noChangeArrowheads="1"/>
            </p:cNvSpPr>
            <p:nvPr/>
          </p:nvSpPr>
          <p:spPr bwMode="auto">
            <a:xfrm>
              <a:off x="1117" y="3286"/>
              <a:ext cx="60" cy="168"/>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7" name="Rectangle 20"/>
            <p:cNvSpPr>
              <a:spLocks noChangeArrowheads="1"/>
            </p:cNvSpPr>
            <p:nvPr/>
          </p:nvSpPr>
          <p:spPr bwMode="auto">
            <a:xfrm>
              <a:off x="2092" y="1696"/>
              <a:ext cx="48"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8" name="Rectangle 21"/>
            <p:cNvSpPr>
              <a:spLocks noChangeArrowheads="1"/>
            </p:cNvSpPr>
            <p:nvPr/>
          </p:nvSpPr>
          <p:spPr bwMode="auto">
            <a:xfrm>
              <a:off x="2092" y="1913"/>
              <a:ext cx="48" cy="180"/>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59" name="Rectangle 22"/>
            <p:cNvSpPr>
              <a:spLocks noChangeArrowheads="1"/>
            </p:cNvSpPr>
            <p:nvPr/>
          </p:nvSpPr>
          <p:spPr bwMode="auto">
            <a:xfrm>
              <a:off x="2092" y="2142"/>
              <a:ext cx="48" cy="180"/>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0" name="Rectangle 23"/>
            <p:cNvSpPr>
              <a:spLocks noChangeArrowheads="1"/>
            </p:cNvSpPr>
            <p:nvPr/>
          </p:nvSpPr>
          <p:spPr bwMode="auto">
            <a:xfrm>
              <a:off x="2092" y="2370"/>
              <a:ext cx="48"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1" name="Rectangle 24"/>
            <p:cNvSpPr>
              <a:spLocks noChangeArrowheads="1"/>
            </p:cNvSpPr>
            <p:nvPr/>
          </p:nvSpPr>
          <p:spPr bwMode="auto">
            <a:xfrm>
              <a:off x="2092" y="2599"/>
              <a:ext cx="48"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2" name="Rectangle 25"/>
            <p:cNvSpPr>
              <a:spLocks noChangeArrowheads="1"/>
            </p:cNvSpPr>
            <p:nvPr/>
          </p:nvSpPr>
          <p:spPr bwMode="auto">
            <a:xfrm>
              <a:off x="2092" y="2828"/>
              <a:ext cx="48" cy="169"/>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3" name="Rectangle 26"/>
            <p:cNvSpPr>
              <a:spLocks noChangeArrowheads="1"/>
            </p:cNvSpPr>
            <p:nvPr/>
          </p:nvSpPr>
          <p:spPr bwMode="auto">
            <a:xfrm>
              <a:off x="2092" y="3057"/>
              <a:ext cx="48" cy="168"/>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4" name="Rectangle 27"/>
            <p:cNvSpPr>
              <a:spLocks noChangeArrowheads="1"/>
            </p:cNvSpPr>
            <p:nvPr/>
          </p:nvSpPr>
          <p:spPr bwMode="auto">
            <a:xfrm>
              <a:off x="2092" y="3286"/>
              <a:ext cx="48" cy="168"/>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65" name="Rectangle 28"/>
            <p:cNvSpPr>
              <a:spLocks noChangeArrowheads="1"/>
            </p:cNvSpPr>
            <p:nvPr/>
          </p:nvSpPr>
          <p:spPr bwMode="auto">
            <a:xfrm>
              <a:off x="2200" y="1684"/>
              <a:ext cx="15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V</a:t>
              </a:r>
              <a:endParaRPr lang="en-US" altLang="zh-CN"/>
            </a:p>
          </p:txBody>
        </p:sp>
        <p:sp>
          <p:nvSpPr>
            <p:cNvPr id="91166" name="Rectangle 29"/>
            <p:cNvSpPr>
              <a:spLocks noChangeArrowheads="1"/>
            </p:cNvSpPr>
            <p:nvPr/>
          </p:nvSpPr>
          <p:spPr bwMode="auto">
            <a:xfrm>
              <a:off x="2296" y="1757"/>
              <a:ext cx="19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CC</a:t>
              </a:r>
              <a:endParaRPr lang="en-US" altLang="zh-CN"/>
            </a:p>
          </p:txBody>
        </p:sp>
        <p:sp>
          <p:nvSpPr>
            <p:cNvPr id="91167" name="Rectangle 30"/>
            <p:cNvSpPr>
              <a:spLocks noChangeArrowheads="1"/>
            </p:cNvSpPr>
            <p:nvPr/>
          </p:nvSpPr>
          <p:spPr bwMode="auto">
            <a:xfrm>
              <a:off x="768" y="3273"/>
              <a:ext cx="37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GND</a:t>
              </a:r>
              <a:endParaRPr lang="en-US" altLang="zh-CN"/>
            </a:p>
          </p:txBody>
        </p:sp>
        <p:grpSp>
          <p:nvGrpSpPr>
            <p:cNvPr id="91168" name="Group 34"/>
            <p:cNvGrpSpPr>
              <a:grpSpLocks/>
            </p:cNvGrpSpPr>
            <p:nvPr/>
          </p:nvGrpSpPr>
          <p:grpSpPr bwMode="auto">
            <a:xfrm>
              <a:off x="2178" y="1927"/>
              <a:ext cx="226" cy="217"/>
              <a:chOff x="2178" y="1927"/>
              <a:chExt cx="226" cy="217"/>
            </a:xfrm>
          </p:grpSpPr>
          <p:sp>
            <p:nvSpPr>
              <p:cNvPr id="91309" name="Line 31"/>
              <p:cNvSpPr>
                <a:spLocks noChangeShapeType="1"/>
              </p:cNvSpPr>
              <p:nvPr/>
            </p:nvSpPr>
            <p:spPr bwMode="auto">
              <a:xfrm>
                <a:off x="2181" y="1927"/>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310" name="Rectangle 32"/>
              <p:cNvSpPr>
                <a:spLocks noChangeArrowheads="1"/>
              </p:cNvSpPr>
              <p:nvPr/>
            </p:nvSpPr>
            <p:spPr bwMode="auto">
              <a:xfrm>
                <a:off x="2305" y="1994"/>
                <a:ext cx="99"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91311" name="Rectangle 33"/>
              <p:cNvSpPr>
                <a:spLocks noChangeArrowheads="1"/>
              </p:cNvSpPr>
              <p:nvPr/>
            </p:nvSpPr>
            <p:spPr bwMode="auto">
              <a:xfrm>
                <a:off x="2178" y="1932"/>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1169" name="Rectangle 35"/>
            <p:cNvSpPr>
              <a:spLocks noChangeArrowheads="1"/>
            </p:cNvSpPr>
            <p:nvPr/>
          </p:nvSpPr>
          <p:spPr bwMode="auto">
            <a:xfrm>
              <a:off x="1177" y="1552"/>
              <a:ext cx="915" cy="2047"/>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170" name="Rectangle 36"/>
            <p:cNvSpPr>
              <a:spLocks noChangeArrowheads="1"/>
            </p:cNvSpPr>
            <p:nvPr/>
          </p:nvSpPr>
          <p:spPr bwMode="auto">
            <a:xfrm>
              <a:off x="1262" y="1684"/>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91171" name="Rectangle 37"/>
            <p:cNvSpPr>
              <a:spLocks noChangeArrowheads="1"/>
            </p:cNvSpPr>
            <p:nvPr/>
          </p:nvSpPr>
          <p:spPr bwMode="auto">
            <a:xfrm>
              <a:off x="1262" y="1912"/>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2</a:t>
              </a:r>
              <a:endParaRPr lang="en-US" altLang="zh-CN"/>
            </a:p>
          </p:txBody>
        </p:sp>
        <p:sp>
          <p:nvSpPr>
            <p:cNvPr id="91172" name="Rectangle 38"/>
            <p:cNvSpPr>
              <a:spLocks noChangeArrowheads="1"/>
            </p:cNvSpPr>
            <p:nvPr/>
          </p:nvSpPr>
          <p:spPr bwMode="auto">
            <a:xfrm>
              <a:off x="1262" y="2129"/>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3</a:t>
              </a:r>
              <a:endParaRPr lang="en-US" altLang="zh-CN"/>
            </a:p>
          </p:txBody>
        </p:sp>
        <p:sp>
          <p:nvSpPr>
            <p:cNvPr id="91173" name="Rectangle 39"/>
            <p:cNvSpPr>
              <a:spLocks noChangeArrowheads="1"/>
            </p:cNvSpPr>
            <p:nvPr/>
          </p:nvSpPr>
          <p:spPr bwMode="auto">
            <a:xfrm>
              <a:off x="1262" y="2358"/>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4</a:t>
              </a:r>
              <a:endParaRPr lang="en-US" altLang="zh-CN"/>
            </a:p>
          </p:txBody>
        </p:sp>
        <p:sp>
          <p:nvSpPr>
            <p:cNvPr id="91174" name="Rectangle 40"/>
            <p:cNvSpPr>
              <a:spLocks noChangeArrowheads="1"/>
            </p:cNvSpPr>
            <p:nvPr/>
          </p:nvSpPr>
          <p:spPr bwMode="auto">
            <a:xfrm>
              <a:off x="1262" y="2587"/>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5</a:t>
              </a:r>
              <a:endParaRPr lang="en-US" altLang="zh-CN"/>
            </a:p>
          </p:txBody>
        </p:sp>
        <p:sp>
          <p:nvSpPr>
            <p:cNvPr id="91175" name="Rectangle 41"/>
            <p:cNvSpPr>
              <a:spLocks noChangeArrowheads="1"/>
            </p:cNvSpPr>
            <p:nvPr/>
          </p:nvSpPr>
          <p:spPr bwMode="auto">
            <a:xfrm>
              <a:off x="1262" y="2815"/>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6</a:t>
              </a:r>
              <a:endParaRPr lang="en-US" altLang="zh-CN"/>
            </a:p>
          </p:txBody>
        </p:sp>
        <p:sp>
          <p:nvSpPr>
            <p:cNvPr id="91176" name="Rectangle 42"/>
            <p:cNvSpPr>
              <a:spLocks noChangeArrowheads="1"/>
            </p:cNvSpPr>
            <p:nvPr/>
          </p:nvSpPr>
          <p:spPr bwMode="auto">
            <a:xfrm>
              <a:off x="1262" y="3044"/>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7</a:t>
              </a:r>
              <a:endParaRPr lang="en-US" altLang="zh-CN"/>
            </a:p>
          </p:txBody>
        </p:sp>
        <p:sp>
          <p:nvSpPr>
            <p:cNvPr id="91177" name="Rectangle 43"/>
            <p:cNvSpPr>
              <a:spLocks noChangeArrowheads="1"/>
            </p:cNvSpPr>
            <p:nvPr/>
          </p:nvSpPr>
          <p:spPr bwMode="auto">
            <a:xfrm>
              <a:off x="1262" y="3273"/>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8</a:t>
              </a:r>
              <a:endParaRPr lang="en-US" altLang="zh-CN"/>
            </a:p>
          </p:txBody>
        </p:sp>
        <p:sp>
          <p:nvSpPr>
            <p:cNvPr id="91178" name="Rectangle 44"/>
            <p:cNvSpPr>
              <a:spLocks noChangeArrowheads="1"/>
            </p:cNvSpPr>
            <p:nvPr/>
          </p:nvSpPr>
          <p:spPr bwMode="auto">
            <a:xfrm>
              <a:off x="1899" y="1684"/>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16</a:t>
              </a:r>
              <a:endParaRPr lang="en-US" altLang="zh-CN"/>
            </a:p>
          </p:txBody>
        </p:sp>
        <p:sp>
          <p:nvSpPr>
            <p:cNvPr id="91179" name="Rectangle 45"/>
            <p:cNvSpPr>
              <a:spLocks noChangeArrowheads="1"/>
            </p:cNvSpPr>
            <p:nvPr/>
          </p:nvSpPr>
          <p:spPr bwMode="auto">
            <a:xfrm>
              <a:off x="1899" y="1912"/>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15</a:t>
              </a:r>
              <a:endParaRPr lang="en-US" altLang="zh-CN"/>
            </a:p>
          </p:txBody>
        </p:sp>
        <p:sp>
          <p:nvSpPr>
            <p:cNvPr id="91180" name="Rectangle 46"/>
            <p:cNvSpPr>
              <a:spLocks noChangeArrowheads="1"/>
            </p:cNvSpPr>
            <p:nvPr/>
          </p:nvSpPr>
          <p:spPr bwMode="auto">
            <a:xfrm>
              <a:off x="1899" y="2129"/>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14</a:t>
              </a:r>
              <a:endParaRPr lang="en-US" altLang="zh-CN"/>
            </a:p>
          </p:txBody>
        </p:sp>
        <p:sp>
          <p:nvSpPr>
            <p:cNvPr id="91181" name="Rectangle 47"/>
            <p:cNvSpPr>
              <a:spLocks noChangeArrowheads="1"/>
            </p:cNvSpPr>
            <p:nvPr/>
          </p:nvSpPr>
          <p:spPr bwMode="auto">
            <a:xfrm>
              <a:off x="1899" y="2358"/>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13</a:t>
              </a:r>
              <a:endParaRPr lang="en-US" altLang="zh-CN"/>
            </a:p>
          </p:txBody>
        </p:sp>
        <p:sp>
          <p:nvSpPr>
            <p:cNvPr id="91182" name="Rectangle 48"/>
            <p:cNvSpPr>
              <a:spLocks noChangeArrowheads="1"/>
            </p:cNvSpPr>
            <p:nvPr/>
          </p:nvSpPr>
          <p:spPr bwMode="auto">
            <a:xfrm>
              <a:off x="1899" y="2587"/>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12</a:t>
              </a:r>
              <a:endParaRPr lang="en-US" altLang="zh-CN"/>
            </a:p>
          </p:txBody>
        </p:sp>
        <p:sp>
          <p:nvSpPr>
            <p:cNvPr id="91183" name="Rectangle 49"/>
            <p:cNvSpPr>
              <a:spLocks noChangeArrowheads="1"/>
            </p:cNvSpPr>
            <p:nvPr/>
          </p:nvSpPr>
          <p:spPr bwMode="auto">
            <a:xfrm>
              <a:off x="1899" y="2815"/>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11</a:t>
              </a:r>
              <a:endParaRPr lang="en-US" altLang="zh-CN"/>
            </a:p>
          </p:txBody>
        </p:sp>
        <p:sp>
          <p:nvSpPr>
            <p:cNvPr id="91184" name="Rectangle 50"/>
            <p:cNvSpPr>
              <a:spLocks noChangeArrowheads="1"/>
            </p:cNvSpPr>
            <p:nvPr/>
          </p:nvSpPr>
          <p:spPr bwMode="auto">
            <a:xfrm>
              <a:off x="1899" y="3044"/>
              <a:ext cx="20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10</a:t>
              </a:r>
              <a:endParaRPr lang="en-US" altLang="zh-CN"/>
            </a:p>
          </p:txBody>
        </p:sp>
        <p:sp>
          <p:nvSpPr>
            <p:cNvPr id="91185" name="Rectangle 51"/>
            <p:cNvSpPr>
              <a:spLocks noChangeArrowheads="1"/>
            </p:cNvSpPr>
            <p:nvPr/>
          </p:nvSpPr>
          <p:spPr bwMode="auto">
            <a:xfrm>
              <a:off x="1935" y="3273"/>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9</a:t>
              </a:r>
              <a:endParaRPr lang="en-US" altLang="zh-CN"/>
            </a:p>
          </p:txBody>
        </p:sp>
        <p:sp>
          <p:nvSpPr>
            <p:cNvPr id="91186" name="Rectangle 52"/>
            <p:cNvSpPr>
              <a:spLocks noChangeArrowheads="1"/>
            </p:cNvSpPr>
            <p:nvPr/>
          </p:nvSpPr>
          <p:spPr bwMode="auto">
            <a:xfrm>
              <a:off x="1550" y="3731"/>
              <a:ext cx="108"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t>
              </a:r>
              <a:endParaRPr lang="en-US" altLang="zh-CN"/>
            </a:p>
          </p:txBody>
        </p:sp>
        <p:sp>
          <p:nvSpPr>
            <p:cNvPr id="91187" name="Rectangle 53"/>
            <p:cNvSpPr>
              <a:spLocks noChangeArrowheads="1"/>
            </p:cNvSpPr>
            <p:nvPr/>
          </p:nvSpPr>
          <p:spPr bwMode="auto">
            <a:xfrm>
              <a:off x="1598" y="3731"/>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188" name="Rectangle 54"/>
            <p:cNvSpPr>
              <a:spLocks noChangeArrowheads="1"/>
            </p:cNvSpPr>
            <p:nvPr/>
          </p:nvSpPr>
          <p:spPr bwMode="auto">
            <a:xfrm>
              <a:off x="1671" y="3731"/>
              <a:ext cx="108"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t>
              </a:r>
              <a:endParaRPr lang="en-US" altLang="zh-CN"/>
            </a:p>
          </p:txBody>
        </p:sp>
        <p:grpSp>
          <p:nvGrpSpPr>
            <p:cNvPr id="91189" name="Group 58"/>
            <p:cNvGrpSpPr>
              <a:grpSpLocks/>
            </p:cNvGrpSpPr>
            <p:nvPr/>
          </p:nvGrpSpPr>
          <p:grpSpPr bwMode="auto">
            <a:xfrm>
              <a:off x="2177" y="2156"/>
              <a:ext cx="213" cy="217"/>
              <a:chOff x="2177" y="2156"/>
              <a:chExt cx="213" cy="217"/>
            </a:xfrm>
          </p:grpSpPr>
          <p:sp>
            <p:nvSpPr>
              <p:cNvPr id="91306" name="Line 55"/>
              <p:cNvSpPr>
                <a:spLocks noChangeShapeType="1"/>
              </p:cNvSpPr>
              <p:nvPr/>
            </p:nvSpPr>
            <p:spPr bwMode="auto">
              <a:xfrm>
                <a:off x="2180" y="2156"/>
                <a:ext cx="11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307" name="Rectangle 56"/>
              <p:cNvSpPr>
                <a:spLocks noChangeArrowheads="1"/>
              </p:cNvSpPr>
              <p:nvPr/>
            </p:nvSpPr>
            <p:spPr bwMode="auto">
              <a:xfrm>
                <a:off x="2293" y="2223"/>
                <a:ext cx="9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91308" name="Rectangle 57"/>
              <p:cNvSpPr>
                <a:spLocks noChangeArrowheads="1"/>
              </p:cNvSpPr>
              <p:nvPr/>
            </p:nvSpPr>
            <p:spPr bwMode="auto">
              <a:xfrm>
                <a:off x="2177" y="2161"/>
                <a:ext cx="1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190" name="Group 62"/>
            <p:cNvGrpSpPr>
              <a:grpSpLocks/>
            </p:cNvGrpSpPr>
            <p:nvPr/>
          </p:nvGrpSpPr>
          <p:grpSpPr bwMode="auto">
            <a:xfrm>
              <a:off x="2178" y="2394"/>
              <a:ext cx="223" cy="207"/>
              <a:chOff x="2178" y="2394"/>
              <a:chExt cx="223" cy="207"/>
            </a:xfrm>
          </p:grpSpPr>
          <p:sp>
            <p:nvSpPr>
              <p:cNvPr id="91303" name="Line 59"/>
              <p:cNvSpPr>
                <a:spLocks noChangeShapeType="1"/>
              </p:cNvSpPr>
              <p:nvPr/>
            </p:nvSpPr>
            <p:spPr bwMode="auto">
              <a:xfrm>
                <a:off x="2181" y="2394"/>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304" name="Rectangle 60"/>
              <p:cNvSpPr>
                <a:spLocks noChangeArrowheads="1"/>
              </p:cNvSpPr>
              <p:nvPr/>
            </p:nvSpPr>
            <p:spPr bwMode="auto">
              <a:xfrm>
                <a:off x="2306" y="2458"/>
                <a:ext cx="9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91305" name="Rectangle 61"/>
              <p:cNvSpPr>
                <a:spLocks noChangeArrowheads="1"/>
              </p:cNvSpPr>
              <p:nvPr/>
            </p:nvSpPr>
            <p:spPr bwMode="auto">
              <a:xfrm>
                <a:off x="2178" y="2400"/>
                <a:ext cx="188"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rPr>
                  <a:t>Y</a:t>
                </a:r>
                <a:endParaRPr lang="en-US" altLang="zh-CN"/>
              </a:p>
            </p:txBody>
          </p:sp>
        </p:grpSp>
        <p:grpSp>
          <p:nvGrpSpPr>
            <p:cNvPr id="91191" name="Group 66"/>
            <p:cNvGrpSpPr>
              <a:grpSpLocks/>
            </p:cNvGrpSpPr>
            <p:nvPr/>
          </p:nvGrpSpPr>
          <p:grpSpPr bwMode="auto">
            <a:xfrm>
              <a:off x="2178" y="2604"/>
              <a:ext cx="219" cy="228"/>
              <a:chOff x="2178" y="2604"/>
              <a:chExt cx="219" cy="228"/>
            </a:xfrm>
          </p:grpSpPr>
          <p:sp>
            <p:nvSpPr>
              <p:cNvPr id="91300" name="Line 63"/>
              <p:cNvSpPr>
                <a:spLocks noChangeShapeType="1"/>
              </p:cNvSpPr>
              <p:nvPr/>
            </p:nvSpPr>
            <p:spPr bwMode="auto">
              <a:xfrm>
                <a:off x="2181" y="2604"/>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301" name="Rectangle 64"/>
              <p:cNvSpPr>
                <a:spLocks noChangeArrowheads="1"/>
              </p:cNvSpPr>
              <p:nvPr/>
            </p:nvSpPr>
            <p:spPr bwMode="auto">
              <a:xfrm>
                <a:off x="2303" y="2674"/>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1302" name="Rectangle 65"/>
              <p:cNvSpPr>
                <a:spLocks noChangeArrowheads="1"/>
              </p:cNvSpPr>
              <p:nvPr/>
            </p:nvSpPr>
            <p:spPr bwMode="auto">
              <a:xfrm>
                <a:off x="2178" y="2610"/>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192" name="Group 70"/>
            <p:cNvGrpSpPr>
              <a:grpSpLocks/>
            </p:cNvGrpSpPr>
            <p:nvPr/>
          </p:nvGrpSpPr>
          <p:grpSpPr bwMode="auto">
            <a:xfrm>
              <a:off x="2178" y="2833"/>
              <a:ext cx="222" cy="227"/>
              <a:chOff x="2178" y="2833"/>
              <a:chExt cx="222" cy="227"/>
            </a:xfrm>
          </p:grpSpPr>
          <p:sp>
            <p:nvSpPr>
              <p:cNvPr id="91297" name="Line 67"/>
              <p:cNvSpPr>
                <a:spLocks noChangeShapeType="1"/>
              </p:cNvSpPr>
              <p:nvPr/>
            </p:nvSpPr>
            <p:spPr bwMode="auto">
              <a:xfrm>
                <a:off x="2181" y="2833"/>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98" name="Rectangle 68"/>
              <p:cNvSpPr>
                <a:spLocks noChangeArrowheads="1"/>
              </p:cNvSpPr>
              <p:nvPr/>
            </p:nvSpPr>
            <p:spPr bwMode="auto">
              <a:xfrm>
                <a:off x="2306" y="2903"/>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4</a:t>
                </a:r>
                <a:endParaRPr lang="en-US" altLang="zh-CN"/>
              </a:p>
            </p:txBody>
          </p:sp>
          <p:sp>
            <p:nvSpPr>
              <p:cNvPr id="91299" name="Rectangle 69"/>
              <p:cNvSpPr>
                <a:spLocks noChangeArrowheads="1"/>
              </p:cNvSpPr>
              <p:nvPr/>
            </p:nvSpPr>
            <p:spPr bwMode="auto">
              <a:xfrm>
                <a:off x="2178" y="2838"/>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193" name="Group 74"/>
            <p:cNvGrpSpPr>
              <a:grpSpLocks/>
            </p:cNvGrpSpPr>
            <p:nvPr/>
          </p:nvGrpSpPr>
          <p:grpSpPr bwMode="auto">
            <a:xfrm>
              <a:off x="2178" y="3062"/>
              <a:ext cx="219" cy="228"/>
              <a:chOff x="2178" y="3062"/>
              <a:chExt cx="219" cy="228"/>
            </a:xfrm>
          </p:grpSpPr>
          <p:sp>
            <p:nvSpPr>
              <p:cNvPr id="91294" name="Line 71"/>
              <p:cNvSpPr>
                <a:spLocks noChangeShapeType="1"/>
              </p:cNvSpPr>
              <p:nvPr/>
            </p:nvSpPr>
            <p:spPr bwMode="auto">
              <a:xfrm>
                <a:off x="2181" y="3062"/>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95" name="Rectangle 72"/>
              <p:cNvSpPr>
                <a:spLocks noChangeArrowheads="1"/>
              </p:cNvSpPr>
              <p:nvPr/>
            </p:nvSpPr>
            <p:spPr bwMode="auto">
              <a:xfrm>
                <a:off x="2303" y="3132"/>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5</a:t>
                </a:r>
                <a:endParaRPr lang="en-US" altLang="zh-CN"/>
              </a:p>
            </p:txBody>
          </p:sp>
          <p:sp>
            <p:nvSpPr>
              <p:cNvPr id="91296" name="Rectangle 73"/>
              <p:cNvSpPr>
                <a:spLocks noChangeArrowheads="1"/>
              </p:cNvSpPr>
              <p:nvPr/>
            </p:nvSpPr>
            <p:spPr bwMode="auto">
              <a:xfrm>
                <a:off x="2178" y="3068"/>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194" name="Group 78"/>
            <p:cNvGrpSpPr>
              <a:grpSpLocks/>
            </p:cNvGrpSpPr>
            <p:nvPr/>
          </p:nvGrpSpPr>
          <p:grpSpPr bwMode="auto">
            <a:xfrm>
              <a:off x="2178" y="3303"/>
              <a:ext cx="221" cy="227"/>
              <a:chOff x="2178" y="3303"/>
              <a:chExt cx="221" cy="227"/>
            </a:xfrm>
          </p:grpSpPr>
          <p:sp>
            <p:nvSpPr>
              <p:cNvPr id="91291" name="Line 75"/>
              <p:cNvSpPr>
                <a:spLocks noChangeShapeType="1"/>
              </p:cNvSpPr>
              <p:nvPr/>
            </p:nvSpPr>
            <p:spPr bwMode="auto">
              <a:xfrm>
                <a:off x="2181" y="3303"/>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92" name="Rectangle 76"/>
              <p:cNvSpPr>
                <a:spLocks noChangeArrowheads="1"/>
              </p:cNvSpPr>
              <p:nvPr/>
            </p:nvSpPr>
            <p:spPr bwMode="auto">
              <a:xfrm>
                <a:off x="2305" y="3373"/>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6</a:t>
                </a:r>
                <a:endParaRPr lang="en-US" altLang="zh-CN"/>
              </a:p>
            </p:txBody>
          </p:sp>
          <p:sp>
            <p:nvSpPr>
              <p:cNvPr id="91293" name="Rectangle 77"/>
              <p:cNvSpPr>
                <a:spLocks noChangeArrowheads="1"/>
              </p:cNvSpPr>
              <p:nvPr/>
            </p:nvSpPr>
            <p:spPr bwMode="auto">
              <a:xfrm>
                <a:off x="2178" y="3308"/>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195" name="Group 82"/>
            <p:cNvGrpSpPr>
              <a:grpSpLocks/>
            </p:cNvGrpSpPr>
            <p:nvPr/>
          </p:nvGrpSpPr>
          <p:grpSpPr bwMode="auto">
            <a:xfrm>
              <a:off x="901" y="3062"/>
              <a:ext cx="210" cy="228"/>
              <a:chOff x="901" y="3062"/>
              <a:chExt cx="210" cy="228"/>
            </a:xfrm>
          </p:grpSpPr>
          <p:sp>
            <p:nvSpPr>
              <p:cNvPr id="91288" name="Line 79"/>
              <p:cNvSpPr>
                <a:spLocks noChangeShapeType="1"/>
              </p:cNvSpPr>
              <p:nvPr/>
            </p:nvSpPr>
            <p:spPr bwMode="auto">
              <a:xfrm>
                <a:off x="903" y="3062"/>
                <a:ext cx="107"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89" name="Rectangle 80"/>
              <p:cNvSpPr>
                <a:spLocks noChangeArrowheads="1"/>
              </p:cNvSpPr>
              <p:nvPr/>
            </p:nvSpPr>
            <p:spPr bwMode="auto">
              <a:xfrm>
                <a:off x="1022" y="3132"/>
                <a:ext cx="89"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7</a:t>
                </a:r>
                <a:endParaRPr lang="en-US" altLang="zh-CN"/>
              </a:p>
            </p:txBody>
          </p:sp>
          <p:sp>
            <p:nvSpPr>
              <p:cNvPr id="91290" name="Rectangle 81"/>
              <p:cNvSpPr>
                <a:spLocks noChangeArrowheads="1"/>
              </p:cNvSpPr>
              <p:nvPr/>
            </p:nvSpPr>
            <p:spPr bwMode="auto">
              <a:xfrm>
                <a:off x="901" y="3068"/>
                <a:ext cx="18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1196" name="Rectangle 83"/>
            <p:cNvSpPr>
              <a:spLocks noChangeArrowheads="1"/>
            </p:cNvSpPr>
            <p:nvPr/>
          </p:nvSpPr>
          <p:spPr bwMode="auto">
            <a:xfrm>
              <a:off x="937" y="2815"/>
              <a:ext cx="14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S</a:t>
              </a:r>
              <a:endParaRPr lang="en-US" altLang="zh-CN"/>
            </a:p>
          </p:txBody>
        </p:sp>
        <p:sp>
          <p:nvSpPr>
            <p:cNvPr id="91197" name="Rectangle 84"/>
            <p:cNvSpPr>
              <a:spLocks noChangeArrowheads="1"/>
            </p:cNvSpPr>
            <p:nvPr/>
          </p:nvSpPr>
          <p:spPr bwMode="auto">
            <a:xfrm>
              <a:off x="1021" y="2901"/>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grpSp>
          <p:nvGrpSpPr>
            <p:cNvPr id="91198" name="Group 88"/>
            <p:cNvGrpSpPr>
              <a:grpSpLocks/>
            </p:cNvGrpSpPr>
            <p:nvPr/>
          </p:nvGrpSpPr>
          <p:grpSpPr bwMode="auto">
            <a:xfrm>
              <a:off x="930" y="2604"/>
              <a:ext cx="180" cy="228"/>
              <a:chOff x="930" y="2604"/>
              <a:chExt cx="180" cy="228"/>
            </a:xfrm>
          </p:grpSpPr>
          <p:sp>
            <p:nvSpPr>
              <p:cNvPr id="91285" name="Line 85"/>
              <p:cNvSpPr>
                <a:spLocks noChangeShapeType="1"/>
              </p:cNvSpPr>
              <p:nvPr/>
            </p:nvSpPr>
            <p:spPr bwMode="auto">
              <a:xfrm>
                <a:off x="940" y="2604"/>
                <a:ext cx="67"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86" name="Rectangle 86"/>
              <p:cNvSpPr>
                <a:spLocks noChangeArrowheads="1"/>
              </p:cNvSpPr>
              <p:nvPr/>
            </p:nvSpPr>
            <p:spPr bwMode="auto">
              <a:xfrm>
                <a:off x="1020" y="2677"/>
                <a:ext cx="90"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2</a:t>
                </a:r>
                <a:endParaRPr lang="en-US" altLang="zh-CN"/>
              </a:p>
            </p:txBody>
          </p:sp>
          <p:sp>
            <p:nvSpPr>
              <p:cNvPr id="91287" name="Rectangle 87"/>
              <p:cNvSpPr>
                <a:spLocks noChangeArrowheads="1"/>
              </p:cNvSpPr>
              <p:nvPr/>
            </p:nvSpPr>
            <p:spPr bwMode="auto">
              <a:xfrm>
                <a:off x="930" y="2610"/>
                <a:ext cx="15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grpSp>
          <p:nvGrpSpPr>
            <p:cNvPr id="91199" name="Group 92"/>
            <p:cNvGrpSpPr>
              <a:grpSpLocks/>
            </p:cNvGrpSpPr>
            <p:nvPr/>
          </p:nvGrpSpPr>
          <p:grpSpPr bwMode="auto">
            <a:xfrm>
              <a:off x="954" y="2375"/>
              <a:ext cx="172" cy="228"/>
              <a:chOff x="954" y="2375"/>
              <a:chExt cx="172" cy="228"/>
            </a:xfrm>
          </p:grpSpPr>
          <p:sp>
            <p:nvSpPr>
              <p:cNvPr id="91282" name="Line 89"/>
              <p:cNvSpPr>
                <a:spLocks noChangeShapeType="1"/>
              </p:cNvSpPr>
              <p:nvPr/>
            </p:nvSpPr>
            <p:spPr bwMode="auto">
              <a:xfrm>
                <a:off x="963" y="2375"/>
                <a:ext cx="6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83" name="Rectangle 90"/>
              <p:cNvSpPr>
                <a:spLocks noChangeArrowheads="1"/>
              </p:cNvSpPr>
              <p:nvPr/>
            </p:nvSpPr>
            <p:spPr bwMode="auto">
              <a:xfrm>
                <a:off x="1038" y="2448"/>
                <a:ext cx="88"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1284" name="Rectangle 91"/>
              <p:cNvSpPr>
                <a:spLocks noChangeArrowheads="1"/>
              </p:cNvSpPr>
              <p:nvPr/>
            </p:nvSpPr>
            <p:spPr bwMode="auto">
              <a:xfrm>
                <a:off x="954" y="2381"/>
                <a:ext cx="15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sp>
          <p:nvSpPr>
            <p:cNvPr id="91200" name="Rectangle 93"/>
            <p:cNvSpPr>
              <a:spLocks noChangeArrowheads="1"/>
            </p:cNvSpPr>
            <p:nvPr/>
          </p:nvSpPr>
          <p:spPr bwMode="auto">
            <a:xfrm>
              <a:off x="913" y="1684"/>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01" name="Rectangle 94"/>
            <p:cNvSpPr>
              <a:spLocks noChangeArrowheads="1"/>
            </p:cNvSpPr>
            <p:nvPr/>
          </p:nvSpPr>
          <p:spPr bwMode="auto">
            <a:xfrm>
              <a:off x="1033" y="1757"/>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91202" name="Rectangle 95"/>
            <p:cNvSpPr>
              <a:spLocks noChangeArrowheads="1"/>
            </p:cNvSpPr>
            <p:nvPr/>
          </p:nvSpPr>
          <p:spPr bwMode="auto">
            <a:xfrm>
              <a:off x="913" y="1912"/>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03" name="Rectangle 96"/>
            <p:cNvSpPr>
              <a:spLocks noChangeArrowheads="1"/>
            </p:cNvSpPr>
            <p:nvPr/>
          </p:nvSpPr>
          <p:spPr bwMode="auto">
            <a:xfrm>
              <a:off x="1033" y="1986"/>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91204" name="Rectangle 97"/>
            <p:cNvSpPr>
              <a:spLocks noChangeArrowheads="1"/>
            </p:cNvSpPr>
            <p:nvPr/>
          </p:nvSpPr>
          <p:spPr bwMode="auto">
            <a:xfrm>
              <a:off x="913" y="2129"/>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05" name="Rectangle 98"/>
            <p:cNvSpPr>
              <a:spLocks noChangeArrowheads="1"/>
            </p:cNvSpPr>
            <p:nvPr/>
          </p:nvSpPr>
          <p:spPr bwMode="auto">
            <a:xfrm>
              <a:off x="1033" y="2214"/>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91206" name="Rectangle 99"/>
            <p:cNvSpPr>
              <a:spLocks noChangeArrowheads="1"/>
            </p:cNvSpPr>
            <p:nvPr/>
          </p:nvSpPr>
          <p:spPr bwMode="auto">
            <a:xfrm>
              <a:off x="3788" y="1431"/>
              <a:ext cx="914" cy="2168"/>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207" name="Rectangle 100"/>
            <p:cNvSpPr>
              <a:spLocks noChangeArrowheads="1"/>
            </p:cNvSpPr>
            <p:nvPr/>
          </p:nvSpPr>
          <p:spPr bwMode="auto">
            <a:xfrm>
              <a:off x="4064" y="1467"/>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74138</a:t>
              </a:r>
              <a:endParaRPr lang="en-US" altLang="zh-CN"/>
            </a:p>
          </p:txBody>
        </p:sp>
        <p:sp>
          <p:nvSpPr>
            <p:cNvPr id="91208" name="Rectangle 101"/>
            <p:cNvSpPr>
              <a:spLocks noChangeArrowheads="1"/>
            </p:cNvSpPr>
            <p:nvPr/>
          </p:nvSpPr>
          <p:spPr bwMode="auto">
            <a:xfrm>
              <a:off x="4558" y="1684"/>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0</a:t>
              </a:r>
              <a:endParaRPr lang="en-US" altLang="zh-CN"/>
            </a:p>
          </p:txBody>
        </p:sp>
        <p:sp>
          <p:nvSpPr>
            <p:cNvPr id="91209" name="Freeform 102"/>
            <p:cNvSpPr>
              <a:spLocks/>
            </p:cNvSpPr>
            <p:nvPr/>
          </p:nvSpPr>
          <p:spPr bwMode="auto">
            <a:xfrm>
              <a:off x="4702" y="1756"/>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10" name="Rectangle 103"/>
            <p:cNvSpPr>
              <a:spLocks noChangeArrowheads="1"/>
            </p:cNvSpPr>
            <p:nvPr/>
          </p:nvSpPr>
          <p:spPr bwMode="auto">
            <a:xfrm>
              <a:off x="4558" y="1912"/>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91211" name="Freeform 104"/>
            <p:cNvSpPr>
              <a:spLocks/>
            </p:cNvSpPr>
            <p:nvPr/>
          </p:nvSpPr>
          <p:spPr bwMode="auto">
            <a:xfrm>
              <a:off x="4702" y="1973"/>
              <a:ext cx="61" cy="60"/>
            </a:xfrm>
            <a:custGeom>
              <a:avLst/>
              <a:gdLst>
                <a:gd name="T0" fmla="*/ 0 w 61"/>
                <a:gd name="T1" fmla="*/ 36 h 60"/>
                <a:gd name="T2" fmla="*/ 12 w 61"/>
                <a:gd name="T3" fmla="*/ 0 h 60"/>
                <a:gd name="T4" fmla="*/ 49 w 61"/>
                <a:gd name="T5" fmla="*/ 0 h 60"/>
                <a:gd name="T6" fmla="*/ 61 w 61"/>
                <a:gd name="T7" fmla="*/ 36 h 60"/>
                <a:gd name="T8" fmla="*/ 49 w 61"/>
                <a:gd name="T9" fmla="*/ 60 h 60"/>
                <a:gd name="T10" fmla="*/ 12 w 61"/>
                <a:gd name="T11" fmla="*/ 60 h 60"/>
                <a:gd name="T12" fmla="*/ 0 w 61"/>
                <a:gd name="T13" fmla="*/ 36 h 60"/>
                <a:gd name="T14" fmla="*/ 0 60000 65536"/>
                <a:gd name="T15" fmla="*/ 0 60000 65536"/>
                <a:gd name="T16" fmla="*/ 0 60000 65536"/>
                <a:gd name="T17" fmla="*/ 0 60000 65536"/>
                <a:gd name="T18" fmla="*/ 0 60000 65536"/>
                <a:gd name="T19" fmla="*/ 0 60000 65536"/>
                <a:gd name="T20" fmla="*/ 0 60000 65536"/>
                <a:gd name="T21" fmla="*/ 0 w 61"/>
                <a:gd name="T22" fmla="*/ 0 h 60"/>
                <a:gd name="T23" fmla="*/ 61 w 61"/>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60">
                  <a:moveTo>
                    <a:pt x="0" y="36"/>
                  </a:moveTo>
                  <a:lnTo>
                    <a:pt x="12" y="0"/>
                  </a:lnTo>
                  <a:lnTo>
                    <a:pt x="49" y="0"/>
                  </a:lnTo>
                  <a:lnTo>
                    <a:pt x="61" y="36"/>
                  </a:lnTo>
                  <a:lnTo>
                    <a:pt x="49" y="60"/>
                  </a:lnTo>
                  <a:lnTo>
                    <a:pt x="12" y="60"/>
                  </a:lnTo>
                  <a:lnTo>
                    <a:pt x="0" y="36"/>
                  </a:lnTo>
                  <a:close/>
                </a:path>
              </a:pathLst>
            </a:custGeom>
            <a:solidFill>
              <a:srgbClr val="FFFFFF"/>
            </a:solidFill>
            <a:ln w="19050">
              <a:solidFill>
                <a:srgbClr val="000000"/>
              </a:solidFill>
              <a:round/>
              <a:headEnd/>
              <a:tailEnd/>
            </a:ln>
          </p:spPr>
          <p:txBody>
            <a:bodyPr/>
            <a:lstStyle/>
            <a:p>
              <a:endParaRPr lang="zh-CN" altLang="en-US"/>
            </a:p>
          </p:txBody>
        </p:sp>
        <p:sp>
          <p:nvSpPr>
            <p:cNvPr id="91212" name="Rectangle 105"/>
            <p:cNvSpPr>
              <a:spLocks noChangeArrowheads="1"/>
            </p:cNvSpPr>
            <p:nvPr/>
          </p:nvSpPr>
          <p:spPr bwMode="auto">
            <a:xfrm>
              <a:off x="4558" y="2129"/>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2</a:t>
              </a:r>
              <a:endParaRPr lang="en-US" altLang="zh-CN"/>
            </a:p>
          </p:txBody>
        </p:sp>
        <p:sp>
          <p:nvSpPr>
            <p:cNvPr id="91213" name="Freeform 106"/>
            <p:cNvSpPr>
              <a:spLocks/>
            </p:cNvSpPr>
            <p:nvPr/>
          </p:nvSpPr>
          <p:spPr bwMode="auto">
            <a:xfrm>
              <a:off x="4702" y="2202"/>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14" name="Rectangle 107"/>
            <p:cNvSpPr>
              <a:spLocks noChangeArrowheads="1"/>
            </p:cNvSpPr>
            <p:nvPr/>
          </p:nvSpPr>
          <p:spPr bwMode="auto">
            <a:xfrm>
              <a:off x="4558" y="2358"/>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3</a:t>
              </a:r>
              <a:endParaRPr lang="en-US" altLang="zh-CN"/>
            </a:p>
          </p:txBody>
        </p:sp>
        <p:sp>
          <p:nvSpPr>
            <p:cNvPr id="91215" name="Line 108"/>
            <p:cNvSpPr>
              <a:spLocks noChangeShapeType="1"/>
            </p:cNvSpPr>
            <p:nvPr/>
          </p:nvSpPr>
          <p:spPr bwMode="auto">
            <a:xfrm>
              <a:off x="4702" y="2455"/>
              <a:ext cx="33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16" name="Freeform 109"/>
            <p:cNvSpPr>
              <a:spLocks/>
            </p:cNvSpPr>
            <p:nvPr/>
          </p:nvSpPr>
          <p:spPr bwMode="auto">
            <a:xfrm>
              <a:off x="4702" y="2431"/>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17" name="Rectangle 110"/>
            <p:cNvSpPr>
              <a:spLocks noChangeArrowheads="1"/>
            </p:cNvSpPr>
            <p:nvPr/>
          </p:nvSpPr>
          <p:spPr bwMode="auto">
            <a:xfrm>
              <a:off x="4558" y="2587"/>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4</a:t>
              </a:r>
              <a:endParaRPr lang="en-US" altLang="zh-CN"/>
            </a:p>
          </p:txBody>
        </p:sp>
        <p:sp>
          <p:nvSpPr>
            <p:cNvPr id="91218" name="Line 111"/>
            <p:cNvSpPr>
              <a:spLocks noChangeShapeType="1"/>
            </p:cNvSpPr>
            <p:nvPr/>
          </p:nvSpPr>
          <p:spPr bwMode="auto">
            <a:xfrm>
              <a:off x="4702" y="2684"/>
              <a:ext cx="33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19" name="Freeform 112"/>
            <p:cNvSpPr>
              <a:spLocks/>
            </p:cNvSpPr>
            <p:nvPr/>
          </p:nvSpPr>
          <p:spPr bwMode="auto">
            <a:xfrm>
              <a:off x="4702" y="2659"/>
              <a:ext cx="61" cy="49"/>
            </a:xfrm>
            <a:custGeom>
              <a:avLst/>
              <a:gdLst>
                <a:gd name="T0" fmla="*/ 0 w 61"/>
                <a:gd name="T1" fmla="*/ 25 h 49"/>
                <a:gd name="T2" fmla="*/ 12 w 61"/>
                <a:gd name="T3" fmla="*/ 0 h 49"/>
                <a:gd name="T4" fmla="*/ 49 w 61"/>
                <a:gd name="T5" fmla="*/ 0 h 49"/>
                <a:gd name="T6" fmla="*/ 61 w 61"/>
                <a:gd name="T7" fmla="*/ 25 h 49"/>
                <a:gd name="T8" fmla="*/ 49 w 61"/>
                <a:gd name="T9" fmla="*/ 49 h 49"/>
                <a:gd name="T10" fmla="*/ 12 w 61"/>
                <a:gd name="T11" fmla="*/ 49 h 49"/>
                <a:gd name="T12" fmla="*/ 0 w 61"/>
                <a:gd name="T13" fmla="*/ 25 h 49"/>
                <a:gd name="T14" fmla="*/ 0 60000 65536"/>
                <a:gd name="T15" fmla="*/ 0 60000 65536"/>
                <a:gd name="T16" fmla="*/ 0 60000 65536"/>
                <a:gd name="T17" fmla="*/ 0 60000 65536"/>
                <a:gd name="T18" fmla="*/ 0 60000 65536"/>
                <a:gd name="T19" fmla="*/ 0 60000 65536"/>
                <a:gd name="T20" fmla="*/ 0 60000 65536"/>
                <a:gd name="T21" fmla="*/ 0 w 61"/>
                <a:gd name="T22" fmla="*/ 0 h 49"/>
                <a:gd name="T23" fmla="*/ 61 w 61"/>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9">
                  <a:moveTo>
                    <a:pt x="0" y="25"/>
                  </a:moveTo>
                  <a:lnTo>
                    <a:pt x="12" y="0"/>
                  </a:lnTo>
                  <a:lnTo>
                    <a:pt x="49" y="0"/>
                  </a:lnTo>
                  <a:lnTo>
                    <a:pt x="61" y="25"/>
                  </a:lnTo>
                  <a:lnTo>
                    <a:pt x="49" y="49"/>
                  </a:lnTo>
                  <a:lnTo>
                    <a:pt x="12" y="49"/>
                  </a:lnTo>
                  <a:lnTo>
                    <a:pt x="0" y="25"/>
                  </a:lnTo>
                  <a:close/>
                </a:path>
              </a:pathLst>
            </a:custGeom>
            <a:solidFill>
              <a:srgbClr val="FFFFFF"/>
            </a:solidFill>
            <a:ln w="19050">
              <a:solidFill>
                <a:srgbClr val="000000"/>
              </a:solidFill>
              <a:round/>
              <a:headEnd/>
              <a:tailEnd/>
            </a:ln>
          </p:spPr>
          <p:txBody>
            <a:bodyPr/>
            <a:lstStyle/>
            <a:p>
              <a:endParaRPr lang="zh-CN" altLang="en-US"/>
            </a:p>
          </p:txBody>
        </p:sp>
        <p:sp>
          <p:nvSpPr>
            <p:cNvPr id="91220" name="Rectangle 113"/>
            <p:cNvSpPr>
              <a:spLocks noChangeArrowheads="1"/>
            </p:cNvSpPr>
            <p:nvPr/>
          </p:nvSpPr>
          <p:spPr bwMode="auto">
            <a:xfrm>
              <a:off x="4558" y="2815"/>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5</a:t>
              </a:r>
              <a:endParaRPr lang="en-US" altLang="zh-CN"/>
            </a:p>
          </p:txBody>
        </p:sp>
        <p:sp>
          <p:nvSpPr>
            <p:cNvPr id="91221" name="Freeform 114"/>
            <p:cNvSpPr>
              <a:spLocks/>
            </p:cNvSpPr>
            <p:nvPr/>
          </p:nvSpPr>
          <p:spPr bwMode="auto">
            <a:xfrm>
              <a:off x="4702" y="2888"/>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22" name="Rectangle 115"/>
            <p:cNvSpPr>
              <a:spLocks noChangeArrowheads="1"/>
            </p:cNvSpPr>
            <p:nvPr/>
          </p:nvSpPr>
          <p:spPr bwMode="auto">
            <a:xfrm>
              <a:off x="4558" y="3044"/>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6</a:t>
              </a:r>
              <a:endParaRPr lang="en-US" altLang="zh-CN"/>
            </a:p>
          </p:txBody>
        </p:sp>
        <p:sp>
          <p:nvSpPr>
            <p:cNvPr id="91223" name="Freeform 116"/>
            <p:cNvSpPr>
              <a:spLocks/>
            </p:cNvSpPr>
            <p:nvPr/>
          </p:nvSpPr>
          <p:spPr bwMode="auto">
            <a:xfrm>
              <a:off x="4702" y="3117"/>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24" name="Rectangle 117"/>
            <p:cNvSpPr>
              <a:spLocks noChangeArrowheads="1"/>
            </p:cNvSpPr>
            <p:nvPr/>
          </p:nvSpPr>
          <p:spPr bwMode="auto">
            <a:xfrm>
              <a:off x="4558" y="3273"/>
              <a:ext cx="13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7</a:t>
              </a:r>
              <a:endParaRPr lang="en-US" altLang="zh-CN"/>
            </a:p>
          </p:txBody>
        </p:sp>
        <p:sp>
          <p:nvSpPr>
            <p:cNvPr id="91225" name="Freeform 118"/>
            <p:cNvSpPr>
              <a:spLocks/>
            </p:cNvSpPr>
            <p:nvPr/>
          </p:nvSpPr>
          <p:spPr bwMode="auto">
            <a:xfrm>
              <a:off x="4702" y="3346"/>
              <a:ext cx="61" cy="48"/>
            </a:xfrm>
            <a:custGeom>
              <a:avLst/>
              <a:gdLst>
                <a:gd name="T0" fmla="*/ 0 w 61"/>
                <a:gd name="T1" fmla="*/ 24 h 48"/>
                <a:gd name="T2" fmla="*/ 12 w 61"/>
                <a:gd name="T3" fmla="*/ 0 h 48"/>
                <a:gd name="T4" fmla="*/ 49 w 61"/>
                <a:gd name="T5" fmla="*/ 0 h 48"/>
                <a:gd name="T6" fmla="*/ 61 w 61"/>
                <a:gd name="T7" fmla="*/ 24 h 48"/>
                <a:gd name="T8" fmla="*/ 49 w 61"/>
                <a:gd name="T9" fmla="*/ 48 h 48"/>
                <a:gd name="T10" fmla="*/ 12 w 61"/>
                <a:gd name="T11" fmla="*/ 48 h 48"/>
                <a:gd name="T12" fmla="*/ 0 w 61"/>
                <a:gd name="T13" fmla="*/ 24 h 48"/>
                <a:gd name="T14" fmla="*/ 0 60000 65536"/>
                <a:gd name="T15" fmla="*/ 0 60000 65536"/>
                <a:gd name="T16" fmla="*/ 0 60000 65536"/>
                <a:gd name="T17" fmla="*/ 0 60000 65536"/>
                <a:gd name="T18" fmla="*/ 0 60000 65536"/>
                <a:gd name="T19" fmla="*/ 0 60000 65536"/>
                <a:gd name="T20" fmla="*/ 0 60000 65536"/>
                <a:gd name="T21" fmla="*/ 0 w 61"/>
                <a:gd name="T22" fmla="*/ 0 h 48"/>
                <a:gd name="T23" fmla="*/ 61 w 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 h="48">
                  <a:moveTo>
                    <a:pt x="0" y="24"/>
                  </a:moveTo>
                  <a:lnTo>
                    <a:pt x="12" y="0"/>
                  </a:lnTo>
                  <a:lnTo>
                    <a:pt x="49" y="0"/>
                  </a:lnTo>
                  <a:lnTo>
                    <a:pt x="61" y="24"/>
                  </a:lnTo>
                  <a:lnTo>
                    <a:pt x="49"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26" name="Rectangle 119"/>
            <p:cNvSpPr>
              <a:spLocks noChangeArrowheads="1"/>
            </p:cNvSpPr>
            <p:nvPr/>
          </p:nvSpPr>
          <p:spPr bwMode="auto">
            <a:xfrm>
              <a:off x="4161" y="3731"/>
              <a:ext cx="108"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t>
              </a:r>
              <a:endParaRPr lang="en-US" altLang="zh-CN"/>
            </a:p>
          </p:txBody>
        </p:sp>
        <p:sp>
          <p:nvSpPr>
            <p:cNvPr id="91227" name="Rectangle 120"/>
            <p:cNvSpPr>
              <a:spLocks noChangeArrowheads="1"/>
            </p:cNvSpPr>
            <p:nvPr/>
          </p:nvSpPr>
          <p:spPr bwMode="auto">
            <a:xfrm>
              <a:off x="4209" y="3731"/>
              <a:ext cx="14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b</a:t>
              </a:r>
              <a:endParaRPr lang="en-US" altLang="zh-CN"/>
            </a:p>
          </p:txBody>
        </p:sp>
        <p:sp>
          <p:nvSpPr>
            <p:cNvPr id="91228" name="Rectangle 121"/>
            <p:cNvSpPr>
              <a:spLocks noChangeArrowheads="1"/>
            </p:cNvSpPr>
            <p:nvPr/>
          </p:nvSpPr>
          <p:spPr bwMode="auto">
            <a:xfrm>
              <a:off x="4293" y="3731"/>
              <a:ext cx="108"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t>
              </a:r>
              <a:endParaRPr lang="en-US" altLang="zh-CN"/>
            </a:p>
          </p:txBody>
        </p:sp>
        <p:sp>
          <p:nvSpPr>
            <p:cNvPr id="91229" name="Rectangle 125"/>
            <p:cNvSpPr>
              <a:spLocks noChangeArrowheads="1"/>
            </p:cNvSpPr>
            <p:nvPr/>
          </p:nvSpPr>
          <p:spPr bwMode="auto">
            <a:xfrm>
              <a:off x="3247" y="1684"/>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30" name="Rectangle 126"/>
            <p:cNvSpPr>
              <a:spLocks noChangeArrowheads="1"/>
            </p:cNvSpPr>
            <p:nvPr/>
          </p:nvSpPr>
          <p:spPr bwMode="auto">
            <a:xfrm>
              <a:off x="3367" y="1757"/>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91231" name="Rectangle 127"/>
            <p:cNvSpPr>
              <a:spLocks noChangeArrowheads="1"/>
            </p:cNvSpPr>
            <p:nvPr/>
          </p:nvSpPr>
          <p:spPr bwMode="auto">
            <a:xfrm>
              <a:off x="3247" y="1912"/>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32" name="Rectangle 128"/>
            <p:cNvSpPr>
              <a:spLocks noChangeArrowheads="1"/>
            </p:cNvSpPr>
            <p:nvPr/>
          </p:nvSpPr>
          <p:spPr bwMode="auto">
            <a:xfrm>
              <a:off x="3367" y="1986"/>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91233" name="Rectangle 129"/>
            <p:cNvSpPr>
              <a:spLocks noChangeArrowheads="1"/>
            </p:cNvSpPr>
            <p:nvPr/>
          </p:nvSpPr>
          <p:spPr bwMode="auto">
            <a:xfrm>
              <a:off x="3247" y="2129"/>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1234" name="Rectangle 130"/>
            <p:cNvSpPr>
              <a:spLocks noChangeArrowheads="1"/>
            </p:cNvSpPr>
            <p:nvPr/>
          </p:nvSpPr>
          <p:spPr bwMode="auto">
            <a:xfrm>
              <a:off x="3367" y="2214"/>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grpSp>
          <p:nvGrpSpPr>
            <p:cNvPr id="91235" name="Group 134"/>
            <p:cNvGrpSpPr>
              <a:grpSpLocks/>
            </p:cNvGrpSpPr>
            <p:nvPr/>
          </p:nvGrpSpPr>
          <p:grpSpPr bwMode="auto">
            <a:xfrm>
              <a:off x="5077" y="1698"/>
              <a:ext cx="226" cy="218"/>
              <a:chOff x="5077" y="1698"/>
              <a:chExt cx="226" cy="218"/>
            </a:xfrm>
          </p:grpSpPr>
          <p:sp>
            <p:nvSpPr>
              <p:cNvPr id="91279" name="Line 131"/>
              <p:cNvSpPr>
                <a:spLocks noChangeShapeType="1"/>
              </p:cNvSpPr>
              <p:nvPr/>
            </p:nvSpPr>
            <p:spPr bwMode="auto">
              <a:xfrm>
                <a:off x="5080" y="1698"/>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80" name="Rectangle 132"/>
              <p:cNvSpPr>
                <a:spLocks noChangeArrowheads="1"/>
              </p:cNvSpPr>
              <p:nvPr/>
            </p:nvSpPr>
            <p:spPr bwMode="auto">
              <a:xfrm>
                <a:off x="5204" y="1766"/>
                <a:ext cx="99"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91281" name="Rectangle 133"/>
              <p:cNvSpPr>
                <a:spLocks noChangeArrowheads="1"/>
              </p:cNvSpPr>
              <p:nvPr/>
            </p:nvSpPr>
            <p:spPr bwMode="auto">
              <a:xfrm>
                <a:off x="5077" y="1704"/>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36" name="Group 138"/>
            <p:cNvGrpSpPr>
              <a:grpSpLocks/>
            </p:cNvGrpSpPr>
            <p:nvPr/>
          </p:nvGrpSpPr>
          <p:grpSpPr bwMode="auto">
            <a:xfrm>
              <a:off x="5077" y="1927"/>
              <a:ext cx="213" cy="217"/>
              <a:chOff x="5077" y="1927"/>
              <a:chExt cx="213" cy="217"/>
            </a:xfrm>
          </p:grpSpPr>
          <p:sp>
            <p:nvSpPr>
              <p:cNvPr id="91276" name="Line 135"/>
              <p:cNvSpPr>
                <a:spLocks noChangeShapeType="1"/>
              </p:cNvSpPr>
              <p:nvPr/>
            </p:nvSpPr>
            <p:spPr bwMode="auto">
              <a:xfrm>
                <a:off x="5080" y="1927"/>
                <a:ext cx="11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77" name="Rectangle 136"/>
              <p:cNvSpPr>
                <a:spLocks noChangeArrowheads="1"/>
              </p:cNvSpPr>
              <p:nvPr/>
            </p:nvSpPr>
            <p:spPr bwMode="auto">
              <a:xfrm>
                <a:off x="5193" y="1994"/>
                <a:ext cx="9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91278" name="Rectangle 137"/>
              <p:cNvSpPr>
                <a:spLocks noChangeArrowheads="1"/>
              </p:cNvSpPr>
              <p:nvPr/>
            </p:nvSpPr>
            <p:spPr bwMode="auto">
              <a:xfrm>
                <a:off x="5077" y="1932"/>
                <a:ext cx="1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37" name="Group 142"/>
            <p:cNvGrpSpPr>
              <a:grpSpLocks/>
            </p:cNvGrpSpPr>
            <p:nvPr/>
          </p:nvGrpSpPr>
          <p:grpSpPr bwMode="auto">
            <a:xfrm>
              <a:off x="5077" y="2154"/>
              <a:ext cx="224" cy="206"/>
              <a:chOff x="5077" y="2154"/>
              <a:chExt cx="224" cy="206"/>
            </a:xfrm>
          </p:grpSpPr>
          <p:sp>
            <p:nvSpPr>
              <p:cNvPr id="91273" name="Line 139"/>
              <p:cNvSpPr>
                <a:spLocks noChangeShapeType="1"/>
              </p:cNvSpPr>
              <p:nvPr/>
            </p:nvSpPr>
            <p:spPr bwMode="auto">
              <a:xfrm>
                <a:off x="5080" y="2154"/>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74" name="Rectangle 140"/>
              <p:cNvSpPr>
                <a:spLocks noChangeArrowheads="1"/>
              </p:cNvSpPr>
              <p:nvPr/>
            </p:nvSpPr>
            <p:spPr bwMode="auto">
              <a:xfrm>
                <a:off x="5206" y="2217"/>
                <a:ext cx="9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91275" name="Rectangle 141"/>
              <p:cNvSpPr>
                <a:spLocks noChangeArrowheads="1"/>
              </p:cNvSpPr>
              <p:nvPr/>
            </p:nvSpPr>
            <p:spPr bwMode="auto">
              <a:xfrm>
                <a:off x="5077" y="2159"/>
                <a:ext cx="188"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000000"/>
                    </a:solidFill>
                  </a:rPr>
                  <a:t>Y</a:t>
                </a:r>
                <a:endParaRPr lang="en-US" altLang="zh-CN"/>
              </a:p>
            </p:txBody>
          </p:sp>
        </p:grpSp>
        <p:grpSp>
          <p:nvGrpSpPr>
            <p:cNvPr id="91238" name="Group 146"/>
            <p:cNvGrpSpPr>
              <a:grpSpLocks/>
            </p:cNvGrpSpPr>
            <p:nvPr/>
          </p:nvGrpSpPr>
          <p:grpSpPr bwMode="auto">
            <a:xfrm>
              <a:off x="5077" y="2375"/>
              <a:ext cx="220" cy="228"/>
              <a:chOff x="5077" y="2375"/>
              <a:chExt cx="220" cy="228"/>
            </a:xfrm>
          </p:grpSpPr>
          <p:sp>
            <p:nvSpPr>
              <p:cNvPr id="91270" name="Line 143"/>
              <p:cNvSpPr>
                <a:spLocks noChangeShapeType="1"/>
              </p:cNvSpPr>
              <p:nvPr/>
            </p:nvSpPr>
            <p:spPr bwMode="auto">
              <a:xfrm>
                <a:off x="5080" y="2375"/>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71" name="Rectangle 144"/>
              <p:cNvSpPr>
                <a:spLocks noChangeArrowheads="1"/>
              </p:cNvSpPr>
              <p:nvPr/>
            </p:nvSpPr>
            <p:spPr bwMode="auto">
              <a:xfrm>
                <a:off x="5203" y="2446"/>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1272" name="Rectangle 145"/>
              <p:cNvSpPr>
                <a:spLocks noChangeArrowheads="1"/>
              </p:cNvSpPr>
              <p:nvPr/>
            </p:nvSpPr>
            <p:spPr bwMode="auto">
              <a:xfrm>
                <a:off x="5077" y="2381"/>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39" name="Group 150"/>
            <p:cNvGrpSpPr>
              <a:grpSpLocks/>
            </p:cNvGrpSpPr>
            <p:nvPr/>
          </p:nvGrpSpPr>
          <p:grpSpPr bwMode="auto">
            <a:xfrm>
              <a:off x="5077" y="2604"/>
              <a:ext cx="223" cy="228"/>
              <a:chOff x="5077" y="2604"/>
              <a:chExt cx="223" cy="228"/>
            </a:xfrm>
          </p:grpSpPr>
          <p:sp>
            <p:nvSpPr>
              <p:cNvPr id="91267" name="Line 147"/>
              <p:cNvSpPr>
                <a:spLocks noChangeShapeType="1"/>
              </p:cNvSpPr>
              <p:nvPr/>
            </p:nvSpPr>
            <p:spPr bwMode="auto">
              <a:xfrm>
                <a:off x="5080" y="2604"/>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68" name="Rectangle 148"/>
              <p:cNvSpPr>
                <a:spLocks noChangeArrowheads="1"/>
              </p:cNvSpPr>
              <p:nvPr/>
            </p:nvSpPr>
            <p:spPr bwMode="auto">
              <a:xfrm>
                <a:off x="5206" y="2674"/>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4</a:t>
                </a:r>
                <a:endParaRPr lang="en-US" altLang="zh-CN"/>
              </a:p>
            </p:txBody>
          </p:sp>
          <p:sp>
            <p:nvSpPr>
              <p:cNvPr id="91269" name="Rectangle 149"/>
              <p:cNvSpPr>
                <a:spLocks noChangeArrowheads="1"/>
              </p:cNvSpPr>
              <p:nvPr/>
            </p:nvSpPr>
            <p:spPr bwMode="auto">
              <a:xfrm>
                <a:off x="5077" y="2610"/>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40" name="Group 154"/>
            <p:cNvGrpSpPr>
              <a:grpSpLocks/>
            </p:cNvGrpSpPr>
            <p:nvPr/>
          </p:nvGrpSpPr>
          <p:grpSpPr bwMode="auto">
            <a:xfrm>
              <a:off x="5077" y="2833"/>
              <a:ext cx="220" cy="227"/>
              <a:chOff x="5077" y="2833"/>
              <a:chExt cx="220" cy="227"/>
            </a:xfrm>
          </p:grpSpPr>
          <p:sp>
            <p:nvSpPr>
              <p:cNvPr id="91264" name="Line 151"/>
              <p:cNvSpPr>
                <a:spLocks noChangeShapeType="1"/>
              </p:cNvSpPr>
              <p:nvPr/>
            </p:nvSpPr>
            <p:spPr bwMode="auto">
              <a:xfrm>
                <a:off x="5080" y="2833"/>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65" name="Rectangle 152"/>
              <p:cNvSpPr>
                <a:spLocks noChangeArrowheads="1"/>
              </p:cNvSpPr>
              <p:nvPr/>
            </p:nvSpPr>
            <p:spPr bwMode="auto">
              <a:xfrm>
                <a:off x="5203" y="2903"/>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5</a:t>
                </a:r>
                <a:endParaRPr lang="en-US" altLang="zh-CN"/>
              </a:p>
            </p:txBody>
          </p:sp>
          <p:sp>
            <p:nvSpPr>
              <p:cNvPr id="91266" name="Rectangle 153"/>
              <p:cNvSpPr>
                <a:spLocks noChangeArrowheads="1"/>
              </p:cNvSpPr>
              <p:nvPr/>
            </p:nvSpPr>
            <p:spPr bwMode="auto">
              <a:xfrm>
                <a:off x="5077" y="2838"/>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41" name="Group 158"/>
            <p:cNvGrpSpPr>
              <a:grpSpLocks/>
            </p:cNvGrpSpPr>
            <p:nvPr/>
          </p:nvGrpSpPr>
          <p:grpSpPr bwMode="auto">
            <a:xfrm>
              <a:off x="5077" y="3062"/>
              <a:ext cx="221" cy="228"/>
              <a:chOff x="5077" y="3062"/>
              <a:chExt cx="221" cy="228"/>
            </a:xfrm>
          </p:grpSpPr>
          <p:sp>
            <p:nvSpPr>
              <p:cNvPr id="91261" name="Line 155"/>
              <p:cNvSpPr>
                <a:spLocks noChangeShapeType="1"/>
              </p:cNvSpPr>
              <p:nvPr/>
            </p:nvSpPr>
            <p:spPr bwMode="auto">
              <a:xfrm>
                <a:off x="5080" y="3062"/>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62" name="Rectangle 156"/>
              <p:cNvSpPr>
                <a:spLocks noChangeArrowheads="1"/>
              </p:cNvSpPr>
              <p:nvPr/>
            </p:nvSpPr>
            <p:spPr bwMode="auto">
              <a:xfrm>
                <a:off x="5204" y="3132"/>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6</a:t>
                </a:r>
                <a:endParaRPr lang="en-US" altLang="zh-CN"/>
              </a:p>
            </p:txBody>
          </p:sp>
          <p:sp>
            <p:nvSpPr>
              <p:cNvPr id="91263" name="Rectangle 157"/>
              <p:cNvSpPr>
                <a:spLocks noChangeArrowheads="1"/>
              </p:cNvSpPr>
              <p:nvPr/>
            </p:nvSpPr>
            <p:spPr bwMode="auto">
              <a:xfrm>
                <a:off x="5077" y="3068"/>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1242" name="Group 162"/>
            <p:cNvGrpSpPr>
              <a:grpSpLocks/>
            </p:cNvGrpSpPr>
            <p:nvPr/>
          </p:nvGrpSpPr>
          <p:grpSpPr bwMode="auto">
            <a:xfrm>
              <a:off x="5077" y="3290"/>
              <a:ext cx="221" cy="228"/>
              <a:chOff x="5077" y="3290"/>
              <a:chExt cx="221" cy="228"/>
            </a:xfrm>
          </p:grpSpPr>
          <p:sp>
            <p:nvSpPr>
              <p:cNvPr id="91258" name="Line 159"/>
              <p:cNvSpPr>
                <a:spLocks noChangeShapeType="1"/>
              </p:cNvSpPr>
              <p:nvPr/>
            </p:nvSpPr>
            <p:spPr bwMode="auto">
              <a:xfrm>
                <a:off x="5080" y="3290"/>
                <a:ext cx="11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59" name="Rectangle 160"/>
              <p:cNvSpPr>
                <a:spLocks noChangeArrowheads="1"/>
              </p:cNvSpPr>
              <p:nvPr/>
            </p:nvSpPr>
            <p:spPr bwMode="auto">
              <a:xfrm>
                <a:off x="5204" y="3361"/>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7</a:t>
                </a:r>
                <a:endParaRPr lang="en-US" altLang="zh-CN"/>
              </a:p>
            </p:txBody>
          </p:sp>
          <p:sp>
            <p:nvSpPr>
              <p:cNvPr id="91260" name="Rectangle 161"/>
              <p:cNvSpPr>
                <a:spLocks noChangeArrowheads="1"/>
              </p:cNvSpPr>
              <p:nvPr/>
            </p:nvSpPr>
            <p:spPr bwMode="auto">
              <a:xfrm>
                <a:off x="5077" y="3296"/>
                <a:ext cx="18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1243" name="Rectangle 163"/>
            <p:cNvSpPr>
              <a:spLocks noChangeArrowheads="1"/>
            </p:cNvSpPr>
            <p:nvPr/>
          </p:nvSpPr>
          <p:spPr bwMode="auto">
            <a:xfrm>
              <a:off x="3788" y="2684"/>
              <a:ext cx="349" cy="915"/>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1244" name="Rectangle 164"/>
            <p:cNvSpPr>
              <a:spLocks noChangeArrowheads="1"/>
            </p:cNvSpPr>
            <p:nvPr/>
          </p:nvSpPr>
          <p:spPr bwMode="auto">
            <a:xfrm>
              <a:off x="3908" y="2719"/>
              <a:ext cx="1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&amp;</a:t>
              </a:r>
              <a:endParaRPr lang="en-US" altLang="zh-CN"/>
            </a:p>
          </p:txBody>
        </p:sp>
        <p:sp>
          <p:nvSpPr>
            <p:cNvPr id="91245" name="Rectangle 165"/>
            <p:cNvSpPr>
              <a:spLocks noChangeArrowheads="1"/>
            </p:cNvSpPr>
            <p:nvPr/>
          </p:nvSpPr>
          <p:spPr bwMode="auto">
            <a:xfrm>
              <a:off x="3271" y="2815"/>
              <a:ext cx="14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S</a:t>
              </a:r>
              <a:endParaRPr lang="en-US" altLang="zh-CN"/>
            </a:p>
          </p:txBody>
        </p:sp>
        <p:sp>
          <p:nvSpPr>
            <p:cNvPr id="91246" name="Rectangle 166"/>
            <p:cNvSpPr>
              <a:spLocks noChangeArrowheads="1"/>
            </p:cNvSpPr>
            <p:nvPr/>
          </p:nvSpPr>
          <p:spPr bwMode="auto">
            <a:xfrm>
              <a:off x="3355" y="2901"/>
              <a:ext cx="1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grpSp>
          <p:nvGrpSpPr>
            <p:cNvPr id="91247" name="Group 170"/>
            <p:cNvGrpSpPr>
              <a:grpSpLocks/>
            </p:cNvGrpSpPr>
            <p:nvPr/>
          </p:nvGrpSpPr>
          <p:grpSpPr bwMode="auto">
            <a:xfrm>
              <a:off x="3264" y="3062"/>
              <a:ext cx="180" cy="228"/>
              <a:chOff x="3264" y="3062"/>
              <a:chExt cx="180" cy="228"/>
            </a:xfrm>
          </p:grpSpPr>
          <p:sp>
            <p:nvSpPr>
              <p:cNvPr id="91255" name="Line 167"/>
              <p:cNvSpPr>
                <a:spLocks noChangeShapeType="1"/>
              </p:cNvSpPr>
              <p:nvPr/>
            </p:nvSpPr>
            <p:spPr bwMode="auto">
              <a:xfrm>
                <a:off x="3274" y="3062"/>
                <a:ext cx="6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56" name="Rectangle 168"/>
              <p:cNvSpPr>
                <a:spLocks noChangeArrowheads="1"/>
              </p:cNvSpPr>
              <p:nvPr/>
            </p:nvSpPr>
            <p:spPr bwMode="auto">
              <a:xfrm>
                <a:off x="3354" y="3135"/>
                <a:ext cx="90"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2</a:t>
                </a:r>
                <a:endParaRPr lang="en-US" altLang="zh-CN"/>
              </a:p>
            </p:txBody>
          </p:sp>
          <p:sp>
            <p:nvSpPr>
              <p:cNvPr id="91257" name="Rectangle 169"/>
              <p:cNvSpPr>
                <a:spLocks noChangeArrowheads="1"/>
              </p:cNvSpPr>
              <p:nvPr/>
            </p:nvSpPr>
            <p:spPr bwMode="auto">
              <a:xfrm>
                <a:off x="3264" y="3068"/>
                <a:ext cx="15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grpSp>
          <p:nvGrpSpPr>
            <p:cNvPr id="91248" name="Group 174"/>
            <p:cNvGrpSpPr>
              <a:grpSpLocks/>
            </p:cNvGrpSpPr>
            <p:nvPr/>
          </p:nvGrpSpPr>
          <p:grpSpPr bwMode="auto">
            <a:xfrm>
              <a:off x="3277" y="3290"/>
              <a:ext cx="184" cy="228"/>
              <a:chOff x="3277" y="3290"/>
              <a:chExt cx="184" cy="228"/>
            </a:xfrm>
          </p:grpSpPr>
          <p:sp>
            <p:nvSpPr>
              <p:cNvPr id="91252" name="Line 171"/>
              <p:cNvSpPr>
                <a:spLocks noChangeShapeType="1"/>
              </p:cNvSpPr>
              <p:nvPr/>
            </p:nvSpPr>
            <p:spPr bwMode="auto">
              <a:xfrm>
                <a:off x="3287" y="3290"/>
                <a:ext cx="6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53" name="Rectangle 172"/>
              <p:cNvSpPr>
                <a:spLocks noChangeArrowheads="1"/>
              </p:cNvSpPr>
              <p:nvPr/>
            </p:nvSpPr>
            <p:spPr bwMode="auto">
              <a:xfrm>
                <a:off x="3367" y="3363"/>
                <a:ext cx="9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1254" name="Rectangle 173"/>
              <p:cNvSpPr>
                <a:spLocks noChangeArrowheads="1"/>
              </p:cNvSpPr>
              <p:nvPr/>
            </p:nvSpPr>
            <p:spPr bwMode="auto">
              <a:xfrm>
                <a:off x="3277" y="3296"/>
                <a:ext cx="16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sp>
          <p:nvSpPr>
            <p:cNvPr id="91249" name="Freeform 175"/>
            <p:cNvSpPr>
              <a:spLocks/>
            </p:cNvSpPr>
            <p:nvPr/>
          </p:nvSpPr>
          <p:spPr bwMode="auto">
            <a:xfrm>
              <a:off x="3740" y="3117"/>
              <a:ext cx="48" cy="48"/>
            </a:xfrm>
            <a:custGeom>
              <a:avLst/>
              <a:gdLst>
                <a:gd name="T0" fmla="*/ 0 w 48"/>
                <a:gd name="T1" fmla="*/ 24 h 48"/>
                <a:gd name="T2" fmla="*/ 12 w 48"/>
                <a:gd name="T3" fmla="*/ 0 h 48"/>
                <a:gd name="T4" fmla="*/ 36 w 48"/>
                <a:gd name="T5" fmla="*/ 0 h 48"/>
                <a:gd name="T6" fmla="*/ 48 w 48"/>
                <a:gd name="T7" fmla="*/ 24 h 48"/>
                <a:gd name="T8" fmla="*/ 36 w 48"/>
                <a:gd name="T9" fmla="*/ 48 h 48"/>
                <a:gd name="T10" fmla="*/ 12 w 48"/>
                <a:gd name="T11" fmla="*/ 48 h 48"/>
                <a:gd name="T12" fmla="*/ 0 w 48"/>
                <a:gd name="T13" fmla="*/ 24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4"/>
                  </a:moveTo>
                  <a:lnTo>
                    <a:pt x="12" y="0"/>
                  </a:lnTo>
                  <a:lnTo>
                    <a:pt x="36" y="0"/>
                  </a:lnTo>
                  <a:lnTo>
                    <a:pt x="48" y="24"/>
                  </a:lnTo>
                  <a:lnTo>
                    <a:pt x="36"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50" name="Freeform 176"/>
            <p:cNvSpPr>
              <a:spLocks/>
            </p:cNvSpPr>
            <p:nvPr/>
          </p:nvSpPr>
          <p:spPr bwMode="auto">
            <a:xfrm>
              <a:off x="3740" y="3346"/>
              <a:ext cx="48" cy="48"/>
            </a:xfrm>
            <a:custGeom>
              <a:avLst/>
              <a:gdLst>
                <a:gd name="T0" fmla="*/ 0 w 48"/>
                <a:gd name="T1" fmla="*/ 24 h 48"/>
                <a:gd name="T2" fmla="*/ 12 w 48"/>
                <a:gd name="T3" fmla="*/ 0 h 48"/>
                <a:gd name="T4" fmla="*/ 36 w 48"/>
                <a:gd name="T5" fmla="*/ 0 h 48"/>
                <a:gd name="T6" fmla="*/ 48 w 48"/>
                <a:gd name="T7" fmla="*/ 24 h 48"/>
                <a:gd name="T8" fmla="*/ 36 w 48"/>
                <a:gd name="T9" fmla="*/ 48 h 48"/>
                <a:gd name="T10" fmla="*/ 12 w 48"/>
                <a:gd name="T11" fmla="*/ 48 h 48"/>
                <a:gd name="T12" fmla="*/ 0 w 48"/>
                <a:gd name="T13" fmla="*/ 24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4"/>
                  </a:moveTo>
                  <a:lnTo>
                    <a:pt x="12" y="0"/>
                  </a:lnTo>
                  <a:lnTo>
                    <a:pt x="36" y="0"/>
                  </a:lnTo>
                  <a:lnTo>
                    <a:pt x="48" y="24"/>
                  </a:lnTo>
                  <a:lnTo>
                    <a:pt x="36" y="48"/>
                  </a:lnTo>
                  <a:lnTo>
                    <a:pt x="12" y="48"/>
                  </a:lnTo>
                  <a:lnTo>
                    <a:pt x="0" y="24"/>
                  </a:lnTo>
                  <a:close/>
                </a:path>
              </a:pathLst>
            </a:custGeom>
            <a:solidFill>
              <a:srgbClr val="FFFFFF"/>
            </a:solidFill>
            <a:ln w="19050">
              <a:solidFill>
                <a:srgbClr val="000000"/>
              </a:solidFill>
              <a:round/>
              <a:headEnd/>
              <a:tailEnd/>
            </a:ln>
          </p:spPr>
          <p:txBody>
            <a:bodyPr/>
            <a:lstStyle/>
            <a:p>
              <a:endParaRPr lang="zh-CN" altLang="en-US"/>
            </a:p>
          </p:txBody>
        </p:sp>
        <p:sp>
          <p:nvSpPr>
            <p:cNvPr id="91251" name="Rectangle 177"/>
            <p:cNvSpPr>
              <a:spLocks noChangeArrowheads="1"/>
            </p:cNvSpPr>
            <p:nvPr/>
          </p:nvSpPr>
          <p:spPr bwMode="auto">
            <a:xfrm>
              <a:off x="4185" y="2815"/>
              <a:ext cx="25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EN</a:t>
              </a:r>
              <a:endParaRPr lang="en-US" altLang="zh-CN"/>
            </a:p>
          </p:txBody>
        </p:sp>
      </p:grpSp>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日期占位符 3"/>
          <p:cNvSpPr>
            <a:spLocks noGrp="1"/>
          </p:cNvSpPr>
          <p:nvPr>
            <p:ph type="dt" sz="quarter" idx="10"/>
          </p:nvPr>
        </p:nvSpPr>
        <p:spPr/>
        <p:txBody>
          <a:bodyPr/>
          <a:lstStyle/>
          <a:p>
            <a:pPr>
              <a:defRPr/>
            </a:pPr>
            <a:fld id="{022A4232-26C1-45D6-9A3E-9DE99E34AB89}" type="datetime1">
              <a:rPr lang="zh-CN" altLang="en-US"/>
              <a:pPr>
                <a:defRPr/>
              </a:pPr>
              <a:t>2020/10/10</a:t>
            </a:fld>
            <a:endParaRPr lang="en-US" altLang="zh-CN"/>
          </a:p>
        </p:txBody>
      </p:sp>
      <p:sp>
        <p:nvSpPr>
          <p:cNvPr id="145" name="灯片编号占位符 5"/>
          <p:cNvSpPr>
            <a:spLocks noGrp="1"/>
          </p:cNvSpPr>
          <p:nvPr>
            <p:ph type="sldNum" sz="quarter" idx="12"/>
          </p:nvPr>
        </p:nvSpPr>
        <p:spPr/>
        <p:txBody>
          <a:bodyPr/>
          <a:lstStyle/>
          <a:p>
            <a:pPr>
              <a:defRPr/>
            </a:pPr>
            <a:fld id="{ACD70074-31AF-457D-B426-6C6BE52CC7D8}" type="slidenum">
              <a:rPr lang="en-US" altLang="zh-CN"/>
              <a:pPr>
                <a:defRPr/>
              </a:pPr>
              <a:t>92</a:t>
            </a:fld>
            <a:endParaRPr lang="en-US" altLang="zh-CN"/>
          </a:p>
        </p:txBody>
      </p:sp>
      <p:sp>
        <p:nvSpPr>
          <p:cNvPr id="92164" name="Rectangle 2"/>
          <p:cNvSpPr>
            <a:spLocks noGrp="1" noChangeArrowheads="1"/>
          </p:cNvSpPr>
          <p:nvPr>
            <p:ph type="title"/>
          </p:nvPr>
        </p:nvSpPr>
        <p:spPr/>
        <p:txBody>
          <a:bodyPr/>
          <a:lstStyle/>
          <a:p>
            <a:pPr eaLnBrk="1" hangingPunct="1"/>
            <a:r>
              <a:rPr lang="zh-CN" altLang="en-US" smtClean="0"/>
              <a:t>译码器</a:t>
            </a:r>
          </a:p>
        </p:txBody>
      </p:sp>
      <p:sp>
        <p:nvSpPr>
          <p:cNvPr id="92165" name="Rectangle 3"/>
          <p:cNvSpPr>
            <a:spLocks noGrp="1" noChangeArrowheads="1"/>
          </p:cNvSpPr>
          <p:nvPr>
            <p:ph type="body" idx="1"/>
          </p:nvPr>
        </p:nvSpPr>
        <p:spPr/>
        <p:txBody>
          <a:bodyPr/>
          <a:lstStyle/>
          <a:p>
            <a:pPr eaLnBrk="1" hangingPunct="1"/>
            <a:r>
              <a:rPr lang="zh-CN" altLang="en-US" smtClean="0"/>
              <a:t>逻辑电路图</a:t>
            </a:r>
          </a:p>
        </p:txBody>
      </p:sp>
      <p:pic>
        <p:nvPicPr>
          <p:cNvPr id="92166" name="Picture 1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85750"/>
            <a:ext cx="5562600" cy="623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682D44B7-AFC2-43DC-877C-E7272DDB967A}"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0A3684C8-CA07-4DDA-A9DC-C630082D4B75}" type="slidenum">
              <a:rPr lang="en-US" altLang="zh-CN"/>
              <a:pPr>
                <a:defRPr/>
              </a:pPr>
              <a:t>93</a:t>
            </a:fld>
            <a:endParaRPr lang="en-US" altLang="zh-CN"/>
          </a:p>
        </p:txBody>
      </p:sp>
      <p:sp>
        <p:nvSpPr>
          <p:cNvPr id="93188" name="Rectangle 2"/>
          <p:cNvSpPr>
            <a:spLocks noGrp="1" noChangeArrowheads="1"/>
          </p:cNvSpPr>
          <p:nvPr>
            <p:ph type="title"/>
          </p:nvPr>
        </p:nvSpPr>
        <p:spPr/>
        <p:txBody>
          <a:bodyPr/>
          <a:lstStyle/>
          <a:p>
            <a:pPr eaLnBrk="1" hangingPunct="1"/>
            <a:r>
              <a:rPr lang="zh-CN" altLang="en-US" smtClean="0"/>
              <a:t>译码器</a:t>
            </a:r>
          </a:p>
        </p:txBody>
      </p:sp>
      <p:sp>
        <p:nvSpPr>
          <p:cNvPr id="93189" name="Rectangle 3"/>
          <p:cNvSpPr>
            <a:spLocks noGrp="1" noChangeArrowheads="1"/>
          </p:cNvSpPr>
          <p:nvPr>
            <p:ph type="body" idx="1"/>
          </p:nvPr>
        </p:nvSpPr>
        <p:spPr/>
        <p:txBody>
          <a:bodyPr/>
          <a:lstStyle/>
          <a:p>
            <a:pPr eaLnBrk="1" hangingPunct="1"/>
            <a:r>
              <a:rPr lang="en-US" altLang="zh-CN" smtClean="0"/>
              <a:t>74138</a:t>
            </a:r>
            <a:r>
              <a:rPr lang="zh-CN" altLang="en-US" smtClean="0"/>
              <a:t>译码器的真值表</a:t>
            </a:r>
          </a:p>
        </p:txBody>
      </p:sp>
      <p:pic>
        <p:nvPicPr>
          <p:cNvPr id="93190" name="Picture 146" descr="C:\WINDOWS\Desktop\lln\Img0006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1200"/>
            <a:ext cx="82931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E8356E3A-98EA-4545-8746-5C0C5EBF57D9}" type="datetime1">
              <a:rPr lang="zh-CN" altLang="en-US"/>
              <a:pPr>
                <a:defRPr/>
              </a:pPr>
              <a:t>2020/10/10</a:t>
            </a:fld>
            <a:endParaRPr lang="en-US" altLang="zh-CN"/>
          </a:p>
        </p:txBody>
      </p:sp>
      <p:sp>
        <p:nvSpPr>
          <p:cNvPr id="7" name="灯片编号占位符 5"/>
          <p:cNvSpPr>
            <a:spLocks noGrp="1"/>
          </p:cNvSpPr>
          <p:nvPr>
            <p:ph type="sldNum" sz="quarter" idx="12"/>
          </p:nvPr>
        </p:nvSpPr>
        <p:spPr/>
        <p:txBody>
          <a:bodyPr/>
          <a:lstStyle/>
          <a:p>
            <a:pPr>
              <a:defRPr/>
            </a:pPr>
            <a:fld id="{0D2CFF52-A73C-4AF9-829E-F4ECC44A3685}" type="slidenum">
              <a:rPr lang="en-US" altLang="zh-CN"/>
              <a:pPr>
                <a:defRPr/>
              </a:pPr>
              <a:t>94</a:t>
            </a:fld>
            <a:endParaRPr lang="en-US" altLang="zh-CN"/>
          </a:p>
        </p:txBody>
      </p:sp>
      <p:sp>
        <p:nvSpPr>
          <p:cNvPr id="94212" name="Rectangle 2"/>
          <p:cNvSpPr>
            <a:spLocks noGrp="1" noChangeArrowheads="1"/>
          </p:cNvSpPr>
          <p:nvPr>
            <p:ph type="title"/>
          </p:nvPr>
        </p:nvSpPr>
        <p:spPr/>
        <p:txBody>
          <a:bodyPr/>
          <a:lstStyle/>
          <a:p>
            <a:pPr eaLnBrk="1" hangingPunct="1"/>
            <a:r>
              <a:rPr lang="zh-CN" altLang="en-US" smtClean="0"/>
              <a:t>译码器</a:t>
            </a:r>
          </a:p>
        </p:txBody>
      </p:sp>
      <p:sp>
        <p:nvSpPr>
          <p:cNvPr id="94213" name="Rectangle 3"/>
          <p:cNvSpPr>
            <a:spLocks noGrp="1" noChangeArrowheads="1"/>
          </p:cNvSpPr>
          <p:nvPr>
            <p:ph type="body" idx="1"/>
          </p:nvPr>
        </p:nvSpPr>
        <p:spPr/>
        <p:txBody>
          <a:bodyPr/>
          <a:lstStyle/>
          <a:p>
            <a:pPr eaLnBrk="1" hangingPunct="1"/>
            <a:r>
              <a:rPr lang="zh-CN" altLang="en-US" smtClean="0"/>
              <a:t>当                  时</a:t>
            </a:r>
            <a:r>
              <a:rPr lang="en-US" altLang="zh-CN" smtClean="0"/>
              <a:t>,</a:t>
            </a:r>
            <a:r>
              <a:rPr lang="zh-CN" altLang="en-US" smtClean="0"/>
              <a:t>由</a:t>
            </a:r>
            <a:r>
              <a:rPr lang="en-US" altLang="zh-CN" smtClean="0"/>
              <a:t>74138</a:t>
            </a:r>
            <a:r>
              <a:rPr lang="zh-CN" altLang="en-US" smtClean="0"/>
              <a:t>译码器的真值表可以得到如下输出逻辑表达式</a:t>
            </a:r>
            <a:r>
              <a:rPr lang="en-US" altLang="zh-CN" smtClean="0"/>
              <a:t>:</a:t>
            </a:r>
          </a:p>
          <a:p>
            <a:pPr eaLnBrk="1" hangingPunct="1"/>
            <a:endParaRPr lang="en-US" altLang="zh-CN" smtClean="0"/>
          </a:p>
        </p:txBody>
      </p:sp>
      <p:graphicFrame>
        <p:nvGraphicFramePr>
          <p:cNvPr id="94214" name="Object 4"/>
          <p:cNvGraphicFramePr>
            <a:graphicFrameLocks noChangeAspect="1"/>
          </p:cNvGraphicFramePr>
          <p:nvPr/>
        </p:nvGraphicFramePr>
        <p:xfrm>
          <a:off x="2438400" y="2392363"/>
          <a:ext cx="4800600" cy="4251325"/>
        </p:xfrm>
        <a:graphic>
          <a:graphicData uri="http://schemas.openxmlformats.org/presentationml/2006/ole">
            <mc:AlternateContent xmlns:mc="http://schemas.openxmlformats.org/markup-compatibility/2006">
              <mc:Choice xmlns:v="urn:schemas-microsoft-com:vml" Requires="v">
                <p:oleObj spid="_x0000_s94224" name="Equation" r:id="rId4" imgW="2552700" imgH="2260600" progId="">
                  <p:embed/>
                </p:oleObj>
              </mc:Choice>
              <mc:Fallback>
                <p:oleObj name="Equation" r:id="rId4" imgW="2552700" imgH="22606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2392363"/>
                        <a:ext cx="4800600"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5" name="Object 5"/>
          <p:cNvGraphicFramePr>
            <a:graphicFrameLocks noChangeAspect="1"/>
          </p:cNvGraphicFramePr>
          <p:nvPr/>
        </p:nvGraphicFramePr>
        <p:xfrm>
          <a:off x="1295400" y="1358900"/>
          <a:ext cx="2209800" cy="622300"/>
        </p:xfrm>
        <a:graphic>
          <a:graphicData uri="http://schemas.openxmlformats.org/presentationml/2006/ole">
            <mc:AlternateContent xmlns:mc="http://schemas.openxmlformats.org/markup-compatibility/2006">
              <mc:Choice xmlns:v="urn:schemas-microsoft-com:vml" Requires="v">
                <p:oleObj spid="_x0000_s94225" name="Equation" r:id="rId6" imgW="901309" imgH="253890" progId="">
                  <p:embed/>
                </p:oleObj>
              </mc:Choice>
              <mc:Fallback>
                <p:oleObj name="Equation" r:id="rId6" imgW="901309" imgH="253890"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1358900"/>
                        <a:ext cx="2209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日期占位符 3"/>
          <p:cNvSpPr>
            <a:spLocks noGrp="1"/>
          </p:cNvSpPr>
          <p:nvPr>
            <p:ph type="dt" sz="quarter" idx="10"/>
          </p:nvPr>
        </p:nvSpPr>
        <p:spPr/>
        <p:txBody>
          <a:bodyPr/>
          <a:lstStyle/>
          <a:p>
            <a:pPr>
              <a:defRPr/>
            </a:pPr>
            <a:fld id="{96DF8753-4715-4A39-97D9-DFFED3C92441}" type="datetime1">
              <a:rPr lang="zh-CN" altLang="en-US"/>
              <a:pPr>
                <a:defRPr/>
              </a:pPr>
              <a:t>2020/10/10</a:t>
            </a:fld>
            <a:endParaRPr lang="en-US" altLang="zh-CN"/>
          </a:p>
        </p:txBody>
      </p:sp>
      <p:sp>
        <p:nvSpPr>
          <p:cNvPr id="120" name="灯片编号占位符 5"/>
          <p:cNvSpPr>
            <a:spLocks noGrp="1"/>
          </p:cNvSpPr>
          <p:nvPr>
            <p:ph type="sldNum" sz="quarter" idx="12"/>
          </p:nvPr>
        </p:nvSpPr>
        <p:spPr/>
        <p:txBody>
          <a:bodyPr/>
          <a:lstStyle/>
          <a:p>
            <a:pPr>
              <a:defRPr/>
            </a:pPr>
            <a:fld id="{25C7D313-2BB9-41C4-A640-4CCA180021E5}" type="slidenum">
              <a:rPr lang="en-US" altLang="zh-CN"/>
              <a:pPr>
                <a:defRPr/>
              </a:pPr>
              <a:t>95</a:t>
            </a:fld>
            <a:endParaRPr lang="en-US" altLang="zh-CN"/>
          </a:p>
        </p:txBody>
      </p:sp>
      <p:sp>
        <p:nvSpPr>
          <p:cNvPr id="95236" name="Rectangle 2"/>
          <p:cNvSpPr>
            <a:spLocks noGrp="1" noChangeArrowheads="1"/>
          </p:cNvSpPr>
          <p:nvPr>
            <p:ph type="title"/>
          </p:nvPr>
        </p:nvSpPr>
        <p:spPr/>
        <p:txBody>
          <a:bodyPr/>
          <a:lstStyle/>
          <a:p>
            <a:pPr eaLnBrk="1" hangingPunct="1"/>
            <a:r>
              <a:rPr lang="zh-CN" altLang="en-US" smtClean="0"/>
              <a:t>译码器的应用</a:t>
            </a:r>
          </a:p>
        </p:txBody>
      </p:sp>
      <p:sp>
        <p:nvSpPr>
          <p:cNvPr id="95237" name="Rectangle 3"/>
          <p:cNvSpPr>
            <a:spLocks noGrp="1" noChangeArrowheads="1"/>
          </p:cNvSpPr>
          <p:nvPr>
            <p:ph type="body" idx="1"/>
          </p:nvPr>
        </p:nvSpPr>
        <p:spPr/>
        <p:txBody>
          <a:bodyPr/>
          <a:lstStyle/>
          <a:p>
            <a:pPr eaLnBrk="1" hangingPunct="1"/>
            <a:r>
              <a:rPr lang="zh-CN" altLang="en-US" smtClean="0"/>
              <a:t>用</a:t>
            </a:r>
            <a:r>
              <a:rPr lang="en-US" altLang="zh-CN" smtClean="0"/>
              <a:t>74138</a:t>
            </a:r>
            <a:r>
              <a:rPr lang="zh-CN" altLang="en-US" smtClean="0"/>
              <a:t>实现逻辑函数                      </a:t>
            </a:r>
          </a:p>
        </p:txBody>
      </p:sp>
      <p:sp>
        <p:nvSpPr>
          <p:cNvPr id="95238" name="Line 7"/>
          <p:cNvSpPr>
            <a:spLocks noChangeShapeType="1"/>
          </p:cNvSpPr>
          <p:nvPr/>
        </p:nvSpPr>
        <p:spPr bwMode="auto">
          <a:xfrm>
            <a:off x="5456238" y="1466850"/>
            <a:ext cx="2603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39" name="Line 8"/>
          <p:cNvSpPr>
            <a:spLocks noChangeShapeType="1"/>
          </p:cNvSpPr>
          <p:nvPr/>
        </p:nvSpPr>
        <p:spPr bwMode="auto">
          <a:xfrm>
            <a:off x="5873750" y="1466850"/>
            <a:ext cx="2222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0" name="Rectangle 9"/>
          <p:cNvSpPr>
            <a:spLocks noChangeArrowheads="1"/>
          </p:cNvSpPr>
          <p:nvPr/>
        </p:nvSpPr>
        <p:spPr bwMode="auto">
          <a:xfrm>
            <a:off x="5016500" y="1447800"/>
            <a:ext cx="177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a:solidFill>
                  <a:srgbClr val="000000"/>
                </a:solidFill>
              </a:rPr>
              <a:t>F=A C+BC</a:t>
            </a:r>
            <a:endParaRPr lang="en-US" altLang="zh-CN"/>
          </a:p>
        </p:txBody>
      </p:sp>
      <p:grpSp>
        <p:nvGrpSpPr>
          <p:cNvPr id="95241" name="Group 125"/>
          <p:cNvGrpSpPr>
            <a:grpSpLocks/>
          </p:cNvGrpSpPr>
          <p:nvPr/>
        </p:nvGrpSpPr>
        <p:grpSpPr bwMode="auto">
          <a:xfrm>
            <a:off x="592138" y="2117725"/>
            <a:ext cx="8324850" cy="3157538"/>
            <a:chOff x="373" y="1334"/>
            <a:chExt cx="5244" cy="1989"/>
          </a:xfrm>
        </p:grpSpPr>
        <p:grpSp>
          <p:nvGrpSpPr>
            <p:cNvPr id="95245" name="Group 118"/>
            <p:cNvGrpSpPr>
              <a:grpSpLocks/>
            </p:cNvGrpSpPr>
            <p:nvPr/>
          </p:nvGrpSpPr>
          <p:grpSpPr bwMode="auto">
            <a:xfrm>
              <a:off x="373" y="1334"/>
              <a:ext cx="5244" cy="1989"/>
              <a:chOff x="373" y="1334"/>
              <a:chExt cx="5244" cy="1989"/>
            </a:xfrm>
          </p:grpSpPr>
          <p:sp>
            <p:nvSpPr>
              <p:cNvPr id="95252" name="Line 11"/>
              <p:cNvSpPr>
                <a:spLocks noChangeShapeType="1"/>
              </p:cNvSpPr>
              <p:nvPr/>
            </p:nvSpPr>
            <p:spPr bwMode="auto">
              <a:xfrm>
                <a:off x="506" y="2505"/>
                <a:ext cx="116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3" name="Line 12"/>
              <p:cNvSpPr>
                <a:spLocks noChangeShapeType="1"/>
              </p:cNvSpPr>
              <p:nvPr/>
            </p:nvSpPr>
            <p:spPr bwMode="auto">
              <a:xfrm>
                <a:off x="506" y="2686"/>
                <a:ext cx="116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4" name="Line 13"/>
              <p:cNvSpPr>
                <a:spLocks noChangeShapeType="1"/>
              </p:cNvSpPr>
              <p:nvPr/>
            </p:nvSpPr>
            <p:spPr bwMode="auto">
              <a:xfrm>
                <a:off x="506" y="2867"/>
                <a:ext cx="139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5" name="Line 14"/>
              <p:cNvSpPr>
                <a:spLocks noChangeShapeType="1"/>
              </p:cNvSpPr>
              <p:nvPr/>
            </p:nvSpPr>
            <p:spPr bwMode="auto">
              <a:xfrm>
                <a:off x="506" y="1610"/>
                <a:ext cx="139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6" name="Line 15"/>
              <p:cNvSpPr>
                <a:spLocks noChangeShapeType="1"/>
              </p:cNvSpPr>
              <p:nvPr/>
            </p:nvSpPr>
            <p:spPr bwMode="auto">
              <a:xfrm>
                <a:off x="506" y="1791"/>
                <a:ext cx="116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7" name="Line 16"/>
              <p:cNvSpPr>
                <a:spLocks noChangeShapeType="1"/>
              </p:cNvSpPr>
              <p:nvPr/>
            </p:nvSpPr>
            <p:spPr bwMode="auto">
              <a:xfrm>
                <a:off x="506" y="1962"/>
                <a:ext cx="161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8" name="Rectangle 17"/>
              <p:cNvSpPr>
                <a:spLocks noChangeArrowheads="1"/>
              </p:cNvSpPr>
              <p:nvPr/>
            </p:nvSpPr>
            <p:spPr bwMode="auto">
              <a:xfrm>
                <a:off x="782" y="1334"/>
                <a:ext cx="712" cy="1713"/>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259" name="Rectangle 18"/>
              <p:cNvSpPr>
                <a:spLocks noChangeArrowheads="1"/>
              </p:cNvSpPr>
              <p:nvPr/>
            </p:nvSpPr>
            <p:spPr bwMode="auto">
              <a:xfrm>
                <a:off x="960" y="1363"/>
                <a:ext cx="3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74138</a:t>
                </a:r>
                <a:endParaRPr lang="en-US" altLang="zh-CN"/>
              </a:p>
            </p:txBody>
          </p:sp>
          <p:sp>
            <p:nvSpPr>
              <p:cNvPr id="95260" name="Rectangle 19"/>
              <p:cNvSpPr>
                <a:spLocks noChangeArrowheads="1"/>
              </p:cNvSpPr>
              <p:nvPr/>
            </p:nvSpPr>
            <p:spPr bwMode="auto">
              <a:xfrm>
                <a:off x="1380" y="1534"/>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261" name="Freeform 20"/>
              <p:cNvSpPr>
                <a:spLocks/>
              </p:cNvSpPr>
              <p:nvPr/>
            </p:nvSpPr>
            <p:spPr bwMode="auto">
              <a:xfrm>
                <a:off x="1494" y="1591"/>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62" name="Rectangle 21"/>
              <p:cNvSpPr>
                <a:spLocks noChangeArrowheads="1"/>
              </p:cNvSpPr>
              <p:nvPr/>
            </p:nvSpPr>
            <p:spPr bwMode="auto">
              <a:xfrm>
                <a:off x="1380" y="1715"/>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1</a:t>
                </a:r>
                <a:endParaRPr lang="en-US" altLang="zh-CN"/>
              </a:p>
            </p:txBody>
          </p:sp>
          <p:sp>
            <p:nvSpPr>
              <p:cNvPr id="95263" name="Freeform 22"/>
              <p:cNvSpPr>
                <a:spLocks/>
              </p:cNvSpPr>
              <p:nvPr/>
            </p:nvSpPr>
            <p:spPr bwMode="auto">
              <a:xfrm>
                <a:off x="1494" y="1762"/>
                <a:ext cx="48" cy="48"/>
              </a:xfrm>
              <a:custGeom>
                <a:avLst/>
                <a:gdLst>
                  <a:gd name="T0" fmla="*/ 0 w 48"/>
                  <a:gd name="T1" fmla="*/ 29 h 48"/>
                  <a:gd name="T2" fmla="*/ 10 w 48"/>
                  <a:gd name="T3" fmla="*/ 0 h 48"/>
                  <a:gd name="T4" fmla="*/ 38 w 48"/>
                  <a:gd name="T5" fmla="*/ 0 h 48"/>
                  <a:gd name="T6" fmla="*/ 48 w 48"/>
                  <a:gd name="T7" fmla="*/ 29 h 48"/>
                  <a:gd name="T8" fmla="*/ 38 w 48"/>
                  <a:gd name="T9" fmla="*/ 48 h 48"/>
                  <a:gd name="T10" fmla="*/ 10 w 48"/>
                  <a:gd name="T11" fmla="*/ 48 h 48"/>
                  <a:gd name="T12" fmla="*/ 0 w 48"/>
                  <a:gd name="T13" fmla="*/ 29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9"/>
                    </a:moveTo>
                    <a:lnTo>
                      <a:pt x="10" y="0"/>
                    </a:lnTo>
                    <a:lnTo>
                      <a:pt x="38" y="0"/>
                    </a:lnTo>
                    <a:lnTo>
                      <a:pt x="48" y="29"/>
                    </a:lnTo>
                    <a:lnTo>
                      <a:pt x="38" y="48"/>
                    </a:lnTo>
                    <a:lnTo>
                      <a:pt x="10" y="48"/>
                    </a:lnTo>
                    <a:lnTo>
                      <a:pt x="0" y="29"/>
                    </a:lnTo>
                    <a:close/>
                  </a:path>
                </a:pathLst>
              </a:custGeom>
              <a:solidFill>
                <a:srgbClr val="FFFFFF"/>
              </a:solidFill>
              <a:ln w="14288">
                <a:solidFill>
                  <a:srgbClr val="000000"/>
                </a:solidFill>
                <a:round/>
                <a:headEnd/>
                <a:tailEnd/>
              </a:ln>
            </p:spPr>
            <p:txBody>
              <a:bodyPr/>
              <a:lstStyle/>
              <a:p>
                <a:endParaRPr lang="zh-CN" altLang="en-US"/>
              </a:p>
            </p:txBody>
          </p:sp>
          <p:sp>
            <p:nvSpPr>
              <p:cNvPr id="95264" name="Rectangle 23"/>
              <p:cNvSpPr>
                <a:spLocks noChangeArrowheads="1"/>
              </p:cNvSpPr>
              <p:nvPr/>
            </p:nvSpPr>
            <p:spPr bwMode="auto">
              <a:xfrm>
                <a:off x="1380" y="1886"/>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2</a:t>
                </a:r>
                <a:endParaRPr lang="en-US" altLang="zh-CN"/>
              </a:p>
            </p:txBody>
          </p:sp>
          <p:sp>
            <p:nvSpPr>
              <p:cNvPr id="95265" name="Freeform 24"/>
              <p:cNvSpPr>
                <a:spLocks/>
              </p:cNvSpPr>
              <p:nvPr/>
            </p:nvSpPr>
            <p:spPr bwMode="auto">
              <a:xfrm>
                <a:off x="1494" y="1943"/>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66" name="Rectangle 25"/>
              <p:cNvSpPr>
                <a:spLocks noChangeArrowheads="1"/>
              </p:cNvSpPr>
              <p:nvPr/>
            </p:nvSpPr>
            <p:spPr bwMode="auto">
              <a:xfrm>
                <a:off x="1380" y="2067"/>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3</a:t>
                </a:r>
                <a:endParaRPr lang="en-US" altLang="zh-CN"/>
              </a:p>
            </p:txBody>
          </p:sp>
          <p:sp>
            <p:nvSpPr>
              <p:cNvPr id="95267" name="Line 26"/>
              <p:cNvSpPr>
                <a:spLocks noChangeShapeType="1"/>
              </p:cNvSpPr>
              <p:nvPr/>
            </p:nvSpPr>
            <p:spPr bwMode="auto">
              <a:xfrm>
                <a:off x="1494" y="2143"/>
                <a:ext cx="266"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8" name="Freeform 27"/>
              <p:cNvSpPr>
                <a:spLocks/>
              </p:cNvSpPr>
              <p:nvPr/>
            </p:nvSpPr>
            <p:spPr bwMode="auto">
              <a:xfrm>
                <a:off x="1494" y="2124"/>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69" name="Rectangle 28"/>
              <p:cNvSpPr>
                <a:spLocks noChangeArrowheads="1"/>
              </p:cNvSpPr>
              <p:nvPr/>
            </p:nvSpPr>
            <p:spPr bwMode="auto">
              <a:xfrm>
                <a:off x="1380" y="2248"/>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4</a:t>
                </a:r>
                <a:endParaRPr lang="en-US" altLang="zh-CN"/>
              </a:p>
            </p:txBody>
          </p:sp>
          <p:sp>
            <p:nvSpPr>
              <p:cNvPr id="95270" name="Line 29"/>
              <p:cNvSpPr>
                <a:spLocks noChangeShapeType="1"/>
              </p:cNvSpPr>
              <p:nvPr/>
            </p:nvSpPr>
            <p:spPr bwMode="auto">
              <a:xfrm>
                <a:off x="1494" y="2324"/>
                <a:ext cx="18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1" name="Freeform 30"/>
              <p:cNvSpPr>
                <a:spLocks/>
              </p:cNvSpPr>
              <p:nvPr/>
            </p:nvSpPr>
            <p:spPr bwMode="auto">
              <a:xfrm>
                <a:off x="1494" y="2305"/>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72" name="Rectangle 31"/>
              <p:cNvSpPr>
                <a:spLocks noChangeArrowheads="1"/>
              </p:cNvSpPr>
              <p:nvPr/>
            </p:nvSpPr>
            <p:spPr bwMode="auto">
              <a:xfrm>
                <a:off x="1380" y="2429"/>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5</a:t>
                </a:r>
                <a:endParaRPr lang="en-US" altLang="zh-CN"/>
              </a:p>
            </p:txBody>
          </p:sp>
          <p:sp>
            <p:nvSpPr>
              <p:cNvPr id="95273" name="Freeform 32"/>
              <p:cNvSpPr>
                <a:spLocks/>
              </p:cNvSpPr>
              <p:nvPr/>
            </p:nvSpPr>
            <p:spPr bwMode="auto">
              <a:xfrm>
                <a:off x="1494" y="2486"/>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74" name="Rectangle 33"/>
              <p:cNvSpPr>
                <a:spLocks noChangeArrowheads="1"/>
              </p:cNvSpPr>
              <p:nvPr/>
            </p:nvSpPr>
            <p:spPr bwMode="auto">
              <a:xfrm>
                <a:off x="1380" y="2610"/>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6</a:t>
                </a:r>
                <a:endParaRPr lang="en-US" altLang="zh-CN"/>
              </a:p>
            </p:txBody>
          </p:sp>
          <p:sp>
            <p:nvSpPr>
              <p:cNvPr id="95275" name="Freeform 34"/>
              <p:cNvSpPr>
                <a:spLocks/>
              </p:cNvSpPr>
              <p:nvPr/>
            </p:nvSpPr>
            <p:spPr bwMode="auto">
              <a:xfrm>
                <a:off x="1494" y="2667"/>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76" name="Rectangle 35"/>
              <p:cNvSpPr>
                <a:spLocks noChangeArrowheads="1"/>
              </p:cNvSpPr>
              <p:nvPr/>
            </p:nvSpPr>
            <p:spPr bwMode="auto">
              <a:xfrm>
                <a:off x="1380" y="2791"/>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7</a:t>
                </a:r>
                <a:endParaRPr lang="en-US" altLang="zh-CN"/>
              </a:p>
            </p:txBody>
          </p:sp>
          <p:sp>
            <p:nvSpPr>
              <p:cNvPr id="95277" name="Freeform 36"/>
              <p:cNvSpPr>
                <a:spLocks/>
              </p:cNvSpPr>
              <p:nvPr/>
            </p:nvSpPr>
            <p:spPr bwMode="auto">
              <a:xfrm>
                <a:off x="1494" y="2848"/>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78" name="Rectangle 37"/>
              <p:cNvSpPr>
                <a:spLocks noChangeArrowheads="1"/>
              </p:cNvSpPr>
              <p:nvPr/>
            </p:nvSpPr>
            <p:spPr bwMode="auto">
              <a:xfrm>
                <a:off x="1067" y="3152"/>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t>
                </a:r>
                <a:endParaRPr lang="en-US" altLang="zh-CN"/>
              </a:p>
            </p:txBody>
          </p:sp>
          <p:sp>
            <p:nvSpPr>
              <p:cNvPr id="95279" name="Rectangle 38"/>
              <p:cNvSpPr>
                <a:spLocks noChangeArrowheads="1"/>
              </p:cNvSpPr>
              <p:nvPr/>
            </p:nvSpPr>
            <p:spPr bwMode="auto">
              <a:xfrm>
                <a:off x="1105" y="3152"/>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a:t>
                </a:r>
                <a:endParaRPr lang="en-US" altLang="zh-CN"/>
              </a:p>
            </p:txBody>
          </p:sp>
          <p:sp>
            <p:nvSpPr>
              <p:cNvPr id="95280" name="Rectangle 39"/>
              <p:cNvSpPr>
                <a:spLocks noChangeArrowheads="1"/>
              </p:cNvSpPr>
              <p:nvPr/>
            </p:nvSpPr>
            <p:spPr bwMode="auto">
              <a:xfrm>
                <a:off x="1162" y="3152"/>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t>
                </a:r>
                <a:endParaRPr lang="en-US" altLang="zh-CN"/>
              </a:p>
            </p:txBody>
          </p:sp>
          <p:sp>
            <p:nvSpPr>
              <p:cNvPr id="95281" name="Rectangle 43"/>
              <p:cNvSpPr>
                <a:spLocks noChangeArrowheads="1"/>
              </p:cNvSpPr>
              <p:nvPr/>
            </p:nvSpPr>
            <p:spPr bwMode="auto">
              <a:xfrm>
                <a:off x="383" y="1534"/>
                <a:ext cx="12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C</a:t>
                </a:r>
                <a:endParaRPr lang="en-US" altLang="zh-CN"/>
              </a:p>
            </p:txBody>
          </p:sp>
          <p:sp>
            <p:nvSpPr>
              <p:cNvPr id="95282" name="Rectangle 44"/>
              <p:cNvSpPr>
                <a:spLocks noChangeArrowheads="1"/>
              </p:cNvSpPr>
              <p:nvPr/>
            </p:nvSpPr>
            <p:spPr bwMode="auto">
              <a:xfrm>
                <a:off x="383" y="1715"/>
                <a:ext cx="12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B</a:t>
                </a:r>
                <a:endParaRPr lang="en-US" altLang="zh-CN"/>
              </a:p>
            </p:txBody>
          </p:sp>
          <p:sp>
            <p:nvSpPr>
              <p:cNvPr id="95283" name="Rectangle 45"/>
              <p:cNvSpPr>
                <a:spLocks noChangeArrowheads="1"/>
              </p:cNvSpPr>
              <p:nvPr/>
            </p:nvSpPr>
            <p:spPr bwMode="auto">
              <a:xfrm>
                <a:off x="373" y="1886"/>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a:t>
                </a:r>
                <a:endParaRPr lang="en-US" altLang="zh-CN"/>
              </a:p>
            </p:txBody>
          </p:sp>
          <p:sp>
            <p:nvSpPr>
              <p:cNvPr id="95284" name="Rectangle 46"/>
              <p:cNvSpPr>
                <a:spLocks noChangeArrowheads="1"/>
              </p:cNvSpPr>
              <p:nvPr/>
            </p:nvSpPr>
            <p:spPr bwMode="auto">
              <a:xfrm>
                <a:off x="782" y="2324"/>
                <a:ext cx="266" cy="723"/>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285" name="Rectangle 47"/>
              <p:cNvSpPr>
                <a:spLocks noChangeArrowheads="1"/>
              </p:cNvSpPr>
              <p:nvPr/>
            </p:nvSpPr>
            <p:spPr bwMode="auto">
              <a:xfrm>
                <a:off x="867" y="2353"/>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&amp;</a:t>
                </a:r>
                <a:endParaRPr lang="en-US" altLang="zh-CN"/>
              </a:p>
            </p:txBody>
          </p:sp>
          <p:sp>
            <p:nvSpPr>
              <p:cNvPr id="95286" name="Rectangle 48"/>
              <p:cNvSpPr>
                <a:spLocks noChangeArrowheads="1"/>
              </p:cNvSpPr>
              <p:nvPr/>
            </p:nvSpPr>
            <p:spPr bwMode="auto">
              <a:xfrm>
                <a:off x="392" y="2429"/>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1</a:t>
                </a:r>
                <a:endParaRPr lang="en-US" altLang="zh-CN"/>
              </a:p>
            </p:txBody>
          </p:sp>
          <p:sp>
            <p:nvSpPr>
              <p:cNvPr id="95287" name="Freeform 49"/>
              <p:cNvSpPr>
                <a:spLocks/>
              </p:cNvSpPr>
              <p:nvPr/>
            </p:nvSpPr>
            <p:spPr bwMode="auto">
              <a:xfrm>
                <a:off x="734" y="2667"/>
                <a:ext cx="48" cy="38"/>
              </a:xfrm>
              <a:custGeom>
                <a:avLst/>
                <a:gdLst>
                  <a:gd name="T0" fmla="*/ 0 w 48"/>
                  <a:gd name="T1" fmla="*/ 19 h 38"/>
                  <a:gd name="T2" fmla="*/ 10 w 48"/>
                  <a:gd name="T3" fmla="*/ 0 h 38"/>
                  <a:gd name="T4" fmla="*/ 29 w 48"/>
                  <a:gd name="T5" fmla="*/ 0 h 38"/>
                  <a:gd name="T6" fmla="*/ 48 w 48"/>
                  <a:gd name="T7" fmla="*/ 19 h 38"/>
                  <a:gd name="T8" fmla="*/ 29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29" y="0"/>
                    </a:lnTo>
                    <a:lnTo>
                      <a:pt x="48" y="19"/>
                    </a:lnTo>
                    <a:lnTo>
                      <a:pt x="29"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88" name="Freeform 50"/>
              <p:cNvSpPr>
                <a:spLocks/>
              </p:cNvSpPr>
              <p:nvPr/>
            </p:nvSpPr>
            <p:spPr bwMode="auto">
              <a:xfrm>
                <a:off x="734" y="2848"/>
                <a:ext cx="48" cy="38"/>
              </a:xfrm>
              <a:custGeom>
                <a:avLst/>
                <a:gdLst>
                  <a:gd name="T0" fmla="*/ 0 w 48"/>
                  <a:gd name="T1" fmla="*/ 19 h 38"/>
                  <a:gd name="T2" fmla="*/ 10 w 48"/>
                  <a:gd name="T3" fmla="*/ 0 h 38"/>
                  <a:gd name="T4" fmla="*/ 29 w 48"/>
                  <a:gd name="T5" fmla="*/ 0 h 38"/>
                  <a:gd name="T6" fmla="*/ 48 w 48"/>
                  <a:gd name="T7" fmla="*/ 19 h 38"/>
                  <a:gd name="T8" fmla="*/ 29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29" y="0"/>
                    </a:lnTo>
                    <a:lnTo>
                      <a:pt x="48" y="19"/>
                    </a:lnTo>
                    <a:lnTo>
                      <a:pt x="29"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289" name="Rectangle 51"/>
              <p:cNvSpPr>
                <a:spLocks noChangeArrowheads="1"/>
              </p:cNvSpPr>
              <p:nvPr/>
            </p:nvSpPr>
            <p:spPr bwMode="auto">
              <a:xfrm>
                <a:off x="392" y="2610"/>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290" name="Rectangle 52"/>
              <p:cNvSpPr>
                <a:spLocks noChangeArrowheads="1"/>
              </p:cNvSpPr>
              <p:nvPr/>
            </p:nvSpPr>
            <p:spPr bwMode="auto">
              <a:xfrm>
                <a:off x="392" y="2791"/>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291" name="Rectangle 53"/>
              <p:cNvSpPr>
                <a:spLocks noChangeArrowheads="1"/>
              </p:cNvSpPr>
              <p:nvPr/>
            </p:nvSpPr>
            <p:spPr bwMode="auto">
              <a:xfrm>
                <a:off x="1086" y="2429"/>
                <a:ext cx="199"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EN</a:t>
                </a:r>
                <a:endParaRPr lang="en-US" altLang="zh-CN"/>
              </a:p>
            </p:txBody>
          </p:sp>
          <p:sp>
            <p:nvSpPr>
              <p:cNvPr id="95292" name="Rectangle 54"/>
              <p:cNvSpPr>
                <a:spLocks noChangeArrowheads="1"/>
              </p:cNvSpPr>
              <p:nvPr/>
            </p:nvSpPr>
            <p:spPr bwMode="auto">
              <a:xfrm>
                <a:off x="2121" y="1829"/>
                <a:ext cx="276" cy="362"/>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293" name="Rectangle 55"/>
              <p:cNvSpPr>
                <a:spLocks noChangeArrowheads="1"/>
              </p:cNvSpPr>
              <p:nvPr/>
            </p:nvSpPr>
            <p:spPr bwMode="auto">
              <a:xfrm>
                <a:off x="2207" y="1858"/>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&amp;</a:t>
                </a:r>
                <a:endParaRPr lang="en-US" altLang="zh-CN"/>
              </a:p>
            </p:txBody>
          </p:sp>
          <p:sp>
            <p:nvSpPr>
              <p:cNvPr id="95294" name="Line 56"/>
              <p:cNvSpPr>
                <a:spLocks noChangeShapeType="1"/>
              </p:cNvSpPr>
              <p:nvPr/>
            </p:nvSpPr>
            <p:spPr bwMode="auto">
              <a:xfrm flipV="1">
                <a:off x="1760" y="2057"/>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95" name="Line 57"/>
              <p:cNvSpPr>
                <a:spLocks noChangeShapeType="1"/>
              </p:cNvSpPr>
              <p:nvPr/>
            </p:nvSpPr>
            <p:spPr bwMode="auto">
              <a:xfrm>
                <a:off x="1760" y="2057"/>
                <a:ext cx="36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96" name="Line 58"/>
              <p:cNvSpPr>
                <a:spLocks noChangeShapeType="1"/>
              </p:cNvSpPr>
              <p:nvPr/>
            </p:nvSpPr>
            <p:spPr bwMode="auto">
              <a:xfrm>
                <a:off x="1903" y="2143"/>
                <a:ext cx="21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97" name="Line 59"/>
              <p:cNvSpPr>
                <a:spLocks noChangeShapeType="1"/>
              </p:cNvSpPr>
              <p:nvPr/>
            </p:nvSpPr>
            <p:spPr bwMode="auto">
              <a:xfrm flipV="1">
                <a:off x="1903" y="2143"/>
                <a:ext cx="1" cy="72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98" name="Line 60"/>
              <p:cNvSpPr>
                <a:spLocks noChangeShapeType="1"/>
              </p:cNvSpPr>
              <p:nvPr/>
            </p:nvSpPr>
            <p:spPr bwMode="auto">
              <a:xfrm>
                <a:off x="1903" y="1877"/>
                <a:ext cx="21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99" name="Line 61"/>
              <p:cNvSpPr>
                <a:spLocks noChangeShapeType="1"/>
              </p:cNvSpPr>
              <p:nvPr/>
            </p:nvSpPr>
            <p:spPr bwMode="auto">
              <a:xfrm flipV="1">
                <a:off x="1903" y="1610"/>
                <a:ext cx="1" cy="26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0" name="Line 62"/>
              <p:cNvSpPr>
                <a:spLocks noChangeShapeType="1"/>
              </p:cNvSpPr>
              <p:nvPr/>
            </p:nvSpPr>
            <p:spPr bwMode="auto">
              <a:xfrm>
                <a:off x="2397" y="2010"/>
                <a:ext cx="266"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1" name="Freeform 63"/>
              <p:cNvSpPr>
                <a:spLocks/>
              </p:cNvSpPr>
              <p:nvPr/>
            </p:nvSpPr>
            <p:spPr bwMode="auto">
              <a:xfrm>
                <a:off x="2397" y="1991"/>
                <a:ext cx="38" cy="38"/>
              </a:xfrm>
              <a:custGeom>
                <a:avLst/>
                <a:gdLst>
                  <a:gd name="T0" fmla="*/ 0 w 38"/>
                  <a:gd name="T1" fmla="*/ 19 h 38"/>
                  <a:gd name="T2" fmla="*/ 9 w 38"/>
                  <a:gd name="T3" fmla="*/ 0 h 38"/>
                  <a:gd name="T4" fmla="*/ 28 w 38"/>
                  <a:gd name="T5" fmla="*/ 0 h 38"/>
                  <a:gd name="T6" fmla="*/ 38 w 38"/>
                  <a:gd name="T7" fmla="*/ 19 h 38"/>
                  <a:gd name="T8" fmla="*/ 28 w 38"/>
                  <a:gd name="T9" fmla="*/ 38 h 38"/>
                  <a:gd name="T10" fmla="*/ 9 w 38"/>
                  <a:gd name="T11" fmla="*/ 38 h 38"/>
                  <a:gd name="T12" fmla="*/ 0 w 38"/>
                  <a:gd name="T13" fmla="*/ 19 h 38"/>
                  <a:gd name="T14" fmla="*/ 0 60000 65536"/>
                  <a:gd name="T15" fmla="*/ 0 60000 65536"/>
                  <a:gd name="T16" fmla="*/ 0 60000 65536"/>
                  <a:gd name="T17" fmla="*/ 0 60000 65536"/>
                  <a:gd name="T18" fmla="*/ 0 60000 65536"/>
                  <a:gd name="T19" fmla="*/ 0 60000 65536"/>
                  <a:gd name="T20" fmla="*/ 0 60000 65536"/>
                  <a:gd name="T21" fmla="*/ 0 w 38"/>
                  <a:gd name="T22" fmla="*/ 0 h 38"/>
                  <a:gd name="T23" fmla="*/ 38 w 3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8">
                    <a:moveTo>
                      <a:pt x="0" y="19"/>
                    </a:moveTo>
                    <a:lnTo>
                      <a:pt x="9" y="0"/>
                    </a:lnTo>
                    <a:lnTo>
                      <a:pt x="28" y="0"/>
                    </a:lnTo>
                    <a:lnTo>
                      <a:pt x="38" y="19"/>
                    </a:lnTo>
                    <a:lnTo>
                      <a:pt x="28" y="38"/>
                    </a:lnTo>
                    <a:lnTo>
                      <a:pt x="9"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02" name="Rectangle 64"/>
              <p:cNvSpPr>
                <a:spLocks noChangeArrowheads="1"/>
              </p:cNvSpPr>
              <p:nvPr/>
            </p:nvSpPr>
            <p:spPr bwMode="auto">
              <a:xfrm>
                <a:off x="2720" y="1934"/>
                <a:ext cx="11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F</a:t>
                </a:r>
                <a:endParaRPr lang="en-US" altLang="zh-CN"/>
              </a:p>
            </p:txBody>
          </p:sp>
          <p:sp>
            <p:nvSpPr>
              <p:cNvPr id="95303" name="Line 65"/>
              <p:cNvSpPr>
                <a:spLocks noChangeShapeType="1"/>
              </p:cNvSpPr>
              <p:nvPr/>
            </p:nvSpPr>
            <p:spPr bwMode="auto">
              <a:xfrm>
                <a:off x="3289" y="2505"/>
                <a:ext cx="125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4" name="Line 66"/>
              <p:cNvSpPr>
                <a:spLocks noChangeShapeType="1"/>
              </p:cNvSpPr>
              <p:nvPr/>
            </p:nvSpPr>
            <p:spPr bwMode="auto">
              <a:xfrm>
                <a:off x="3289" y="2686"/>
                <a:ext cx="139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5" name="Line 67"/>
              <p:cNvSpPr>
                <a:spLocks noChangeShapeType="1"/>
              </p:cNvSpPr>
              <p:nvPr/>
            </p:nvSpPr>
            <p:spPr bwMode="auto">
              <a:xfrm>
                <a:off x="3289" y="2867"/>
                <a:ext cx="125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6" name="Line 68"/>
              <p:cNvSpPr>
                <a:spLocks noChangeShapeType="1"/>
              </p:cNvSpPr>
              <p:nvPr/>
            </p:nvSpPr>
            <p:spPr bwMode="auto">
              <a:xfrm>
                <a:off x="3289" y="1610"/>
                <a:ext cx="116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7" name="Line 69"/>
              <p:cNvSpPr>
                <a:spLocks noChangeShapeType="1"/>
              </p:cNvSpPr>
              <p:nvPr/>
            </p:nvSpPr>
            <p:spPr bwMode="auto">
              <a:xfrm>
                <a:off x="3289" y="1791"/>
                <a:ext cx="1254"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8" name="Line 70"/>
              <p:cNvSpPr>
                <a:spLocks noChangeShapeType="1"/>
              </p:cNvSpPr>
              <p:nvPr/>
            </p:nvSpPr>
            <p:spPr bwMode="auto">
              <a:xfrm>
                <a:off x="3289" y="1962"/>
                <a:ext cx="1169"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09" name="Rectangle 71"/>
              <p:cNvSpPr>
                <a:spLocks noChangeArrowheads="1"/>
              </p:cNvSpPr>
              <p:nvPr/>
            </p:nvSpPr>
            <p:spPr bwMode="auto">
              <a:xfrm>
                <a:off x="3555" y="1334"/>
                <a:ext cx="722" cy="1713"/>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310" name="Rectangle 72"/>
              <p:cNvSpPr>
                <a:spLocks noChangeArrowheads="1"/>
              </p:cNvSpPr>
              <p:nvPr/>
            </p:nvSpPr>
            <p:spPr bwMode="auto">
              <a:xfrm>
                <a:off x="3760" y="1363"/>
                <a:ext cx="3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74138</a:t>
                </a:r>
                <a:endParaRPr lang="en-US" altLang="zh-CN"/>
              </a:p>
            </p:txBody>
          </p:sp>
          <p:sp>
            <p:nvSpPr>
              <p:cNvPr id="95311" name="Rectangle 73"/>
              <p:cNvSpPr>
                <a:spLocks noChangeArrowheads="1"/>
              </p:cNvSpPr>
              <p:nvPr/>
            </p:nvSpPr>
            <p:spPr bwMode="auto">
              <a:xfrm>
                <a:off x="4163" y="1534"/>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312" name="Freeform 74"/>
              <p:cNvSpPr>
                <a:spLocks/>
              </p:cNvSpPr>
              <p:nvPr/>
            </p:nvSpPr>
            <p:spPr bwMode="auto">
              <a:xfrm>
                <a:off x="4277" y="1591"/>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13" name="Rectangle 75"/>
              <p:cNvSpPr>
                <a:spLocks noChangeArrowheads="1"/>
              </p:cNvSpPr>
              <p:nvPr/>
            </p:nvSpPr>
            <p:spPr bwMode="auto">
              <a:xfrm>
                <a:off x="4163" y="1715"/>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1</a:t>
                </a:r>
                <a:endParaRPr lang="en-US" altLang="zh-CN"/>
              </a:p>
            </p:txBody>
          </p:sp>
          <p:sp>
            <p:nvSpPr>
              <p:cNvPr id="95314" name="Freeform 76"/>
              <p:cNvSpPr>
                <a:spLocks/>
              </p:cNvSpPr>
              <p:nvPr/>
            </p:nvSpPr>
            <p:spPr bwMode="auto">
              <a:xfrm>
                <a:off x="4277" y="1762"/>
                <a:ext cx="48" cy="48"/>
              </a:xfrm>
              <a:custGeom>
                <a:avLst/>
                <a:gdLst>
                  <a:gd name="T0" fmla="*/ 0 w 48"/>
                  <a:gd name="T1" fmla="*/ 29 h 48"/>
                  <a:gd name="T2" fmla="*/ 10 w 48"/>
                  <a:gd name="T3" fmla="*/ 0 h 48"/>
                  <a:gd name="T4" fmla="*/ 38 w 48"/>
                  <a:gd name="T5" fmla="*/ 0 h 48"/>
                  <a:gd name="T6" fmla="*/ 48 w 48"/>
                  <a:gd name="T7" fmla="*/ 29 h 48"/>
                  <a:gd name="T8" fmla="*/ 38 w 48"/>
                  <a:gd name="T9" fmla="*/ 48 h 48"/>
                  <a:gd name="T10" fmla="*/ 10 w 48"/>
                  <a:gd name="T11" fmla="*/ 48 h 48"/>
                  <a:gd name="T12" fmla="*/ 0 w 48"/>
                  <a:gd name="T13" fmla="*/ 29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9"/>
                    </a:moveTo>
                    <a:lnTo>
                      <a:pt x="10" y="0"/>
                    </a:lnTo>
                    <a:lnTo>
                      <a:pt x="38" y="0"/>
                    </a:lnTo>
                    <a:lnTo>
                      <a:pt x="48" y="29"/>
                    </a:lnTo>
                    <a:lnTo>
                      <a:pt x="38" y="48"/>
                    </a:lnTo>
                    <a:lnTo>
                      <a:pt x="10" y="48"/>
                    </a:lnTo>
                    <a:lnTo>
                      <a:pt x="0" y="29"/>
                    </a:lnTo>
                    <a:close/>
                  </a:path>
                </a:pathLst>
              </a:custGeom>
              <a:solidFill>
                <a:srgbClr val="FFFFFF"/>
              </a:solidFill>
              <a:ln w="14288">
                <a:solidFill>
                  <a:srgbClr val="000000"/>
                </a:solidFill>
                <a:round/>
                <a:headEnd/>
                <a:tailEnd/>
              </a:ln>
            </p:spPr>
            <p:txBody>
              <a:bodyPr/>
              <a:lstStyle/>
              <a:p>
                <a:endParaRPr lang="zh-CN" altLang="en-US"/>
              </a:p>
            </p:txBody>
          </p:sp>
          <p:sp>
            <p:nvSpPr>
              <p:cNvPr id="95315" name="Rectangle 77"/>
              <p:cNvSpPr>
                <a:spLocks noChangeArrowheads="1"/>
              </p:cNvSpPr>
              <p:nvPr/>
            </p:nvSpPr>
            <p:spPr bwMode="auto">
              <a:xfrm>
                <a:off x="4163" y="1886"/>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2</a:t>
                </a:r>
                <a:endParaRPr lang="en-US" altLang="zh-CN"/>
              </a:p>
            </p:txBody>
          </p:sp>
          <p:sp>
            <p:nvSpPr>
              <p:cNvPr id="95316" name="Freeform 78"/>
              <p:cNvSpPr>
                <a:spLocks/>
              </p:cNvSpPr>
              <p:nvPr/>
            </p:nvSpPr>
            <p:spPr bwMode="auto">
              <a:xfrm>
                <a:off x="4277" y="1943"/>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17" name="Rectangle 79"/>
              <p:cNvSpPr>
                <a:spLocks noChangeArrowheads="1"/>
              </p:cNvSpPr>
              <p:nvPr/>
            </p:nvSpPr>
            <p:spPr bwMode="auto">
              <a:xfrm>
                <a:off x="4163" y="2067"/>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3</a:t>
                </a:r>
                <a:endParaRPr lang="en-US" altLang="zh-CN"/>
              </a:p>
            </p:txBody>
          </p:sp>
          <p:sp>
            <p:nvSpPr>
              <p:cNvPr id="95318" name="Line 80"/>
              <p:cNvSpPr>
                <a:spLocks noChangeShapeType="1"/>
              </p:cNvSpPr>
              <p:nvPr/>
            </p:nvSpPr>
            <p:spPr bwMode="auto">
              <a:xfrm>
                <a:off x="4277" y="2143"/>
                <a:ext cx="18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19" name="Freeform 81"/>
              <p:cNvSpPr>
                <a:spLocks/>
              </p:cNvSpPr>
              <p:nvPr/>
            </p:nvSpPr>
            <p:spPr bwMode="auto">
              <a:xfrm>
                <a:off x="4277" y="2124"/>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20" name="Rectangle 82"/>
              <p:cNvSpPr>
                <a:spLocks noChangeArrowheads="1"/>
              </p:cNvSpPr>
              <p:nvPr/>
            </p:nvSpPr>
            <p:spPr bwMode="auto">
              <a:xfrm>
                <a:off x="4163" y="2248"/>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4</a:t>
                </a:r>
                <a:endParaRPr lang="en-US" altLang="zh-CN"/>
              </a:p>
            </p:txBody>
          </p:sp>
          <p:sp>
            <p:nvSpPr>
              <p:cNvPr id="95321" name="Line 83"/>
              <p:cNvSpPr>
                <a:spLocks noChangeShapeType="1"/>
              </p:cNvSpPr>
              <p:nvPr/>
            </p:nvSpPr>
            <p:spPr bwMode="auto">
              <a:xfrm>
                <a:off x="4277" y="2324"/>
                <a:ext cx="62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22" name="Freeform 84"/>
              <p:cNvSpPr>
                <a:spLocks/>
              </p:cNvSpPr>
              <p:nvPr/>
            </p:nvSpPr>
            <p:spPr bwMode="auto">
              <a:xfrm>
                <a:off x="4277" y="2305"/>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23" name="Rectangle 85"/>
              <p:cNvSpPr>
                <a:spLocks noChangeArrowheads="1"/>
              </p:cNvSpPr>
              <p:nvPr/>
            </p:nvSpPr>
            <p:spPr bwMode="auto">
              <a:xfrm>
                <a:off x="4163" y="2429"/>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5</a:t>
                </a:r>
                <a:endParaRPr lang="en-US" altLang="zh-CN"/>
              </a:p>
            </p:txBody>
          </p:sp>
          <p:sp>
            <p:nvSpPr>
              <p:cNvPr id="95324" name="Freeform 86"/>
              <p:cNvSpPr>
                <a:spLocks/>
              </p:cNvSpPr>
              <p:nvPr/>
            </p:nvSpPr>
            <p:spPr bwMode="auto">
              <a:xfrm>
                <a:off x="4277" y="2486"/>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25" name="Rectangle 87"/>
              <p:cNvSpPr>
                <a:spLocks noChangeArrowheads="1"/>
              </p:cNvSpPr>
              <p:nvPr/>
            </p:nvSpPr>
            <p:spPr bwMode="auto">
              <a:xfrm>
                <a:off x="4163" y="2610"/>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6</a:t>
                </a:r>
                <a:endParaRPr lang="en-US" altLang="zh-CN"/>
              </a:p>
            </p:txBody>
          </p:sp>
          <p:sp>
            <p:nvSpPr>
              <p:cNvPr id="95326" name="Freeform 88"/>
              <p:cNvSpPr>
                <a:spLocks/>
              </p:cNvSpPr>
              <p:nvPr/>
            </p:nvSpPr>
            <p:spPr bwMode="auto">
              <a:xfrm>
                <a:off x="4277" y="2667"/>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27" name="Rectangle 89"/>
              <p:cNvSpPr>
                <a:spLocks noChangeArrowheads="1"/>
              </p:cNvSpPr>
              <p:nvPr/>
            </p:nvSpPr>
            <p:spPr bwMode="auto">
              <a:xfrm>
                <a:off x="4163" y="2791"/>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7</a:t>
                </a:r>
                <a:endParaRPr lang="en-US" altLang="zh-CN"/>
              </a:p>
            </p:txBody>
          </p:sp>
          <p:sp>
            <p:nvSpPr>
              <p:cNvPr id="95328" name="Freeform 90"/>
              <p:cNvSpPr>
                <a:spLocks/>
              </p:cNvSpPr>
              <p:nvPr/>
            </p:nvSpPr>
            <p:spPr bwMode="auto">
              <a:xfrm>
                <a:off x="4277" y="2848"/>
                <a:ext cx="48" cy="38"/>
              </a:xfrm>
              <a:custGeom>
                <a:avLst/>
                <a:gdLst>
                  <a:gd name="T0" fmla="*/ 0 w 48"/>
                  <a:gd name="T1" fmla="*/ 19 h 38"/>
                  <a:gd name="T2" fmla="*/ 10 w 48"/>
                  <a:gd name="T3" fmla="*/ 0 h 38"/>
                  <a:gd name="T4" fmla="*/ 38 w 48"/>
                  <a:gd name="T5" fmla="*/ 0 h 38"/>
                  <a:gd name="T6" fmla="*/ 48 w 48"/>
                  <a:gd name="T7" fmla="*/ 19 h 38"/>
                  <a:gd name="T8" fmla="*/ 38 w 48"/>
                  <a:gd name="T9" fmla="*/ 38 h 38"/>
                  <a:gd name="T10" fmla="*/ 10 w 48"/>
                  <a:gd name="T11" fmla="*/ 38 h 38"/>
                  <a:gd name="T12" fmla="*/ 0 w 48"/>
                  <a:gd name="T13" fmla="*/ 19 h 38"/>
                  <a:gd name="T14" fmla="*/ 0 60000 65536"/>
                  <a:gd name="T15" fmla="*/ 0 60000 65536"/>
                  <a:gd name="T16" fmla="*/ 0 60000 65536"/>
                  <a:gd name="T17" fmla="*/ 0 60000 65536"/>
                  <a:gd name="T18" fmla="*/ 0 60000 65536"/>
                  <a:gd name="T19" fmla="*/ 0 60000 65536"/>
                  <a:gd name="T20" fmla="*/ 0 60000 65536"/>
                  <a:gd name="T21" fmla="*/ 0 w 48"/>
                  <a:gd name="T22" fmla="*/ 0 h 38"/>
                  <a:gd name="T23" fmla="*/ 48 w 4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8">
                    <a:moveTo>
                      <a:pt x="0" y="19"/>
                    </a:moveTo>
                    <a:lnTo>
                      <a:pt x="10" y="0"/>
                    </a:lnTo>
                    <a:lnTo>
                      <a:pt x="38" y="0"/>
                    </a:lnTo>
                    <a:lnTo>
                      <a:pt x="48" y="19"/>
                    </a:lnTo>
                    <a:lnTo>
                      <a:pt x="38"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29" name="Rectangle 91"/>
              <p:cNvSpPr>
                <a:spLocks noChangeArrowheads="1"/>
              </p:cNvSpPr>
              <p:nvPr/>
            </p:nvSpPr>
            <p:spPr bwMode="auto">
              <a:xfrm>
                <a:off x="3850" y="3152"/>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t>
                </a:r>
                <a:endParaRPr lang="en-US" altLang="zh-CN"/>
              </a:p>
            </p:txBody>
          </p:sp>
          <p:sp>
            <p:nvSpPr>
              <p:cNvPr id="95330" name="Rectangle 92"/>
              <p:cNvSpPr>
                <a:spLocks noChangeArrowheads="1"/>
              </p:cNvSpPr>
              <p:nvPr/>
            </p:nvSpPr>
            <p:spPr bwMode="auto">
              <a:xfrm>
                <a:off x="3888" y="3152"/>
                <a:ext cx="11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b</a:t>
                </a:r>
                <a:endParaRPr lang="en-US" altLang="zh-CN"/>
              </a:p>
            </p:txBody>
          </p:sp>
          <p:sp>
            <p:nvSpPr>
              <p:cNvPr id="95331" name="Rectangle 93"/>
              <p:cNvSpPr>
                <a:spLocks noChangeArrowheads="1"/>
              </p:cNvSpPr>
              <p:nvPr/>
            </p:nvSpPr>
            <p:spPr bwMode="auto">
              <a:xfrm>
                <a:off x="3954" y="3152"/>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t>
                </a:r>
                <a:endParaRPr lang="en-US" altLang="zh-CN"/>
              </a:p>
            </p:txBody>
          </p:sp>
          <p:sp>
            <p:nvSpPr>
              <p:cNvPr id="95332" name="Rectangle 97"/>
              <p:cNvSpPr>
                <a:spLocks noChangeArrowheads="1"/>
              </p:cNvSpPr>
              <p:nvPr/>
            </p:nvSpPr>
            <p:spPr bwMode="auto">
              <a:xfrm>
                <a:off x="3166" y="1534"/>
                <a:ext cx="12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C</a:t>
                </a:r>
                <a:endParaRPr lang="en-US" altLang="zh-CN"/>
              </a:p>
            </p:txBody>
          </p:sp>
          <p:sp>
            <p:nvSpPr>
              <p:cNvPr id="95333" name="Rectangle 98"/>
              <p:cNvSpPr>
                <a:spLocks noChangeArrowheads="1"/>
              </p:cNvSpPr>
              <p:nvPr/>
            </p:nvSpPr>
            <p:spPr bwMode="auto">
              <a:xfrm>
                <a:off x="3166" y="1715"/>
                <a:ext cx="12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B</a:t>
                </a:r>
                <a:endParaRPr lang="en-US" altLang="zh-CN"/>
              </a:p>
            </p:txBody>
          </p:sp>
          <p:sp>
            <p:nvSpPr>
              <p:cNvPr id="95334" name="Rectangle 99"/>
              <p:cNvSpPr>
                <a:spLocks noChangeArrowheads="1"/>
              </p:cNvSpPr>
              <p:nvPr/>
            </p:nvSpPr>
            <p:spPr bwMode="auto">
              <a:xfrm>
                <a:off x="3156" y="1886"/>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a:t>
                </a:r>
                <a:endParaRPr lang="en-US" altLang="zh-CN"/>
              </a:p>
            </p:txBody>
          </p:sp>
          <p:sp>
            <p:nvSpPr>
              <p:cNvPr id="95335" name="Rectangle 100"/>
              <p:cNvSpPr>
                <a:spLocks noChangeArrowheads="1"/>
              </p:cNvSpPr>
              <p:nvPr/>
            </p:nvSpPr>
            <p:spPr bwMode="auto">
              <a:xfrm>
                <a:off x="3555" y="2324"/>
                <a:ext cx="276" cy="723"/>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336" name="Rectangle 101"/>
              <p:cNvSpPr>
                <a:spLocks noChangeArrowheads="1"/>
              </p:cNvSpPr>
              <p:nvPr/>
            </p:nvSpPr>
            <p:spPr bwMode="auto">
              <a:xfrm>
                <a:off x="3650" y="2353"/>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&amp;</a:t>
                </a:r>
                <a:endParaRPr lang="en-US" altLang="zh-CN"/>
              </a:p>
            </p:txBody>
          </p:sp>
          <p:sp>
            <p:nvSpPr>
              <p:cNvPr id="95337" name="Rectangle 102"/>
              <p:cNvSpPr>
                <a:spLocks noChangeArrowheads="1"/>
              </p:cNvSpPr>
              <p:nvPr/>
            </p:nvSpPr>
            <p:spPr bwMode="auto">
              <a:xfrm>
                <a:off x="3175" y="2429"/>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1</a:t>
                </a:r>
                <a:endParaRPr lang="en-US" altLang="zh-CN"/>
              </a:p>
            </p:txBody>
          </p:sp>
          <p:sp>
            <p:nvSpPr>
              <p:cNvPr id="95338" name="Freeform 103"/>
              <p:cNvSpPr>
                <a:spLocks/>
              </p:cNvSpPr>
              <p:nvPr/>
            </p:nvSpPr>
            <p:spPr bwMode="auto">
              <a:xfrm>
                <a:off x="3517" y="2667"/>
                <a:ext cx="38" cy="38"/>
              </a:xfrm>
              <a:custGeom>
                <a:avLst/>
                <a:gdLst>
                  <a:gd name="T0" fmla="*/ 0 w 38"/>
                  <a:gd name="T1" fmla="*/ 19 h 38"/>
                  <a:gd name="T2" fmla="*/ 10 w 38"/>
                  <a:gd name="T3" fmla="*/ 0 h 38"/>
                  <a:gd name="T4" fmla="*/ 29 w 38"/>
                  <a:gd name="T5" fmla="*/ 0 h 38"/>
                  <a:gd name="T6" fmla="*/ 38 w 38"/>
                  <a:gd name="T7" fmla="*/ 19 h 38"/>
                  <a:gd name="T8" fmla="*/ 29 w 38"/>
                  <a:gd name="T9" fmla="*/ 38 h 38"/>
                  <a:gd name="T10" fmla="*/ 10 w 38"/>
                  <a:gd name="T11" fmla="*/ 38 h 38"/>
                  <a:gd name="T12" fmla="*/ 0 w 38"/>
                  <a:gd name="T13" fmla="*/ 19 h 38"/>
                  <a:gd name="T14" fmla="*/ 0 60000 65536"/>
                  <a:gd name="T15" fmla="*/ 0 60000 65536"/>
                  <a:gd name="T16" fmla="*/ 0 60000 65536"/>
                  <a:gd name="T17" fmla="*/ 0 60000 65536"/>
                  <a:gd name="T18" fmla="*/ 0 60000 65536"/>
                  <a:gd name="T19" fmla="*/ 0 60000 65536"/>
                  <a:gd name="T20" fmla="*/ 0 60000 65536"/>
                  <a:gd name="T21" fmla="*/ 0 w 38"/>
                  <a:gd name="T22" fmla="*/ 0 h 38"/>
                  <a:gd name="T23" fmla="*/ 38 w 3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8">
                    <a:moveTo>
                      <a:pt x="0" y="19"/>
                    </a:moveTo>
                    <a:lnTo>
                      <a:pt x="10" y="0"/>
                    </a:lnTo>
                    <a:lnTo>
                      <a:pt x="29" y="0"/>
                    </a:lnTo>
                    <a:lnTo>
                      <a:pt x="38" y="19"/>
                    </a:lnTo>
                    <a:lnTo>
                      <a:pt x="29"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39" name="Freeform 104"/>
              <p:cNvSpPr>
                <a:spLocks/>
              </p:cNvSpPr>
              <p:nvPr/>
            </p:nvSpPr>
            <p:spPr bwMode="auto">
              <a:xfrm>
                <a:off x="3517" y="2848"/>
                <a:ext cx="38" cy="38"/>
              </a:xfrm>
              <a:custGeom>
                <a:avLst/>
                <a:gdLst>
                  <a:gd name="T0" fmla="*/ 0 w 38"/>
                  <a:gd name="T1" fmla="*/ 19 h 38"/>
                  <a:gd name="T2" fmla="*/ 10 w 38"/>
                  <a:gd name="T3" fmla="*/ 0 h 38"/>
                  <a:gd name="T4" fmla="*/ 29 w 38"/>
                  <a:gd name="T5" fmla="*/ 0 h 38"/>
                  <a:gd name="T6" fmla="*/ 38 w 38"/>
                  <a:gd name="T7" fmla="*/ 19 h 38"/>
                  <a:gd name="T8" fmla="*/ 29 w 38"/>
                  <a:gd name="T9" fmla="*/ 38 h 38"/>
                  <a:gd name="T10" fmla="*/ 10 w 38"/>
                  <a:gd name="T11" fmla="*/ 38 h 38"/>
                  <a:gd name="T12" fmla="*/ 0 w 38"/>
                  <a:gd name="T13" fmla="*/ 19 h 38"/>
                  <a:gd name="T14" fmla="*/ 0 60000 65536"/>
                  <a:gd name="T15" fmla="*/ 0 60000 65536"/>
                  <a:gd name="T16" fmla="*/ 0 60000 65536"/>
                  <a:gd name="T17" fmla="*/ 0 60000 65536"/>
                  <a:gd name="T18" fmla="*/ 0 60000 65536"/>
                  <a:gd name="T19" fmla="*/ 0 60000 65536"/>
                  <a:gd name="T20" fmla="*/ 0 60000 65536"/>
                  <a:gd name="T21" fmla="*/ 0 w 38"/>
                  <a:gd name="T22" fmla="*/ 0 h 38"/>
                  <a:gd name="T23" fmla="*/ 38 w 3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8">
                    <a:moveTo>
                      <a:pt x="0" y="19"/>
                    </a:moveTo>
                    <a:lnTo>
                      <a:pt x="10" y="0"/>
                    </a:lnTo>
                    <a:lnTo>
                      <a:pt x="29" y="0"/>
                    </a:lnTo>
                    <a:lnTo>
                      <a:pt x="38" y="19"/>
                    </a:lnTo>
                    <a:lnTo>
                      <a:pt x="29" y="38"/>
                    </a:lnTo>
                    <a:lnTo>
                      <a:pt x="10" y="38"/>
                    </a:lnTo>
                    <a:lnTo>
                      <a:pt x="0" y="19"/>
                    </a:lnTo>
                    <a:close/>
                  </a:path>
                </a:pathLst>
              </a:custGeom>
              <a:solidFill>
                <a:srgbClr val="FFFFFF"/>
              </a:solidFill>
              <a:ln w="14288">
                <a:solidFill>
                  <a:srgbClr val="000000"/>
                </a:solidFill>
                <a:round/>
                <a:headEnd/>
                <a:tailEnd/>
              </a:ln>
            </p:spPr>
            <p:txBody>
              <a:bodyPr/>
              <a:lstStyle/>
              <a:p>
                <a:endParaRPr lang="zh-CN" altLang="en-US"/>
              </a:p>
            </p:txBody>
          </p:sp>
          <p:sp>
            <p:nvSpPr>
              <p:cNvPr id="95340" name="Rectangle 105"/>
              <p:cNvSpPr>
                <a:spLocks noChangeArrowheads="1"/>
              </p:cNvSpPr>
              <p:nvPr/>
            </p:nvSpPr>
            <p:spPr bwMode="auto">
              <a:xfrm>
                <a:off x="3175" y="2610"/>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341" name="Rectangle 106"/>
              <p:cNvSpPr>
                <a:spLocks noChangeArrowheads="1"/>
              </p:cNvSpPr>
              <p:nvPr/>
            </p:nvSpPr>
            <p:spPr bwMode="auto">
              <a:xfrm>
                <a:off x="3175" y="2791"/>
                <a:ext cx="10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0</a:t>
                </a:r>
                <a:endParaRPr lang="en-US" altLang="zh-CN"/>
              </a:p>
            </p:txBody>
          </p:sp>
          <p:sp>
            <p:nvSpPr>
              <p:cNvPr id="95342" name="Rectangle 107"/>
              <p:cNvSpPr>
                <a:spLocks noChangeArrowheads="1"/>
              </p:cNvSpPr>
              <p:nvPr/>
            </p:nvSpPr>
            <p:spPr bwMode="auto">
              <a:xfrm>
                <a:off x="3869" y="2429"/>
                <a:ext cx="199"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EN</a:t>
                </a:r>
                <a:endParaRPr lang="en-US" altLang="zh-CN"/>
              </a:p>
            </p:txBody>
          </p:sp>
          <p:sp>
            <p:nvSpPr>
              <p:cNvPr id="95343" name="Rectangle 108"/>
              <p:cNvSpPr>
                <a:spLocks noChangeArrowheads="1"/>
              </p:cNvSpPr>
              <p:nvPr/>
            </p:nvSpPr>
            <p:spPr bwMode="auto">
              <a:xfrm>
                <a:off x="4904" y="2191"/>
                <a:ext cx="276" cy="361"/>
              </a:xfrm>
              <a:prstGeom prst="rect">
                <a:avLst/>
              </a:prstGeom>
              <a:solidFill>
                <a:srgbClr val="FFFFFF"/>
              </a:solidFill>
              <a:ln w="14288">
                <a:solidFill>
                  <a:srgbClr val="000000"/>
                </a:solidFill>
                <a:miter lim="800000"/>
                <a:headEnd/>
                <a:tailEnd/>
              </a:ln>
            </p:spPr>
            <p:txBody>
              <a:bodyPr/>
              <a:lstStyle/>
              <a:p>
                <a:endParaRPr lang="zh-CN" altLang="en-US"/>
              </a:p>
            </p:txBody>
          </p:sp>
          <p:sp>
            <p:nvSpPr>
              <p:cNvPr id="95344" name="Rectangle 109"/>
              <p:cNvSpPr>
                <a:spLocks noChangeArrowheads="1"/>
              </p:cNvSpPr>
              <p:nvPr/>
            </p:nvSpPr>
            <p:spPr bwMode="auto">
              <a:xfrm>
                <a:off x="4990" y="2210"/>
                <a:ext cx="14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&amp;</a:t>
                </a:r>
                <a:endParaRPr lang="en-US" altLang="zh-CN"/>
              </a:p>
            </p:txBody>
          </p:sp>
          <p:sp>
            <p:nvSpPr>
              <p:cNvPr id="95345" name="Line 110"/>
              <p:cNvSpPr>
                <a:spLocks noChangeShapeType="1"/>
              </p:cNvSpPr>
              <p:nvPr/>
            </p:nvSpPr>
            <p:spPr bwMode="auto">
              <a:xfrm flipV="1">
                <a:off x="4543" y="2419"/>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46" name="Line 111"/>
              <p:cNvSpPr>
                <a:spLocks noChangeShapeType="1"/>
              </p:cNvSpPr>
              <p:nvPr/>
            </p:nvSpPr>
            <p:spPr bwMode="auto">
              <a:xfrm>
                <a:off x="4543" y="2419"/>
                <a:ext cx="36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47" name="Line 112"/>
              <p:cNvSpPr>
                <a:spLocks noChangeShapeType="1"/>
              </p:cNvSpPr>
              <p:nvPr/>
            </p:nvSpPr>
            <p:spPr bwMode="auto">
              <a:xfrm>
                <a:off x="4686" y="2505"/>
                <a:ext cx="21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48" name="Line 113"/>
              <p:cNvSpPr>
                <a:spLocks noChangeShapeType="1"/>
              </p:cNvSpPr>
              <p:nvPr/>
            </p:nvSpPr>
            <p:spPr bwMode="auto">
              <a:xfrm flipV="1">
                <a:off x="4686" y="2505"/>
                <a:ext cx="1" cy="18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49" name="Line 114"/>
              <p:cNvSpPr>
                <a:spLocks noChangeShapeType="1"/>
              </p:cNvSpPr>
              <p:nvPr/>
            </p:nvSpPr>
            <p:spPr bwMode="auto">
              <a:xfrm>
                <a:off x="4543" y="2238"/>
                <a:ext cx="36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50" name="Line 115"/>
              <p:cNvSpPr>
                <a:spLocks noChangeShapeType="1"/>
              </p:cNvSpPr>
              <p:nvPr/>
            </p:nvSpPr>
            <p:spPr bwMode="auto">
              <a:xfrm flipV="1">
                <a:off x="4543" y="1791"/>
                <a:ext cx="1" cy="44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51" name="Line 116"/>
              <p:cNvSpPr>
                <a:spLocks noChangeShapeType="1"/>
              </p:cNvSpPr>
              <p:nvPr/>
            </p:nvSpPr>
            <p:spPr bwMode="auto">
              <a:xfrm>
                <a:off x="5180" y="2372"/>
                <a:ext cx="266"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352" name="Rectangle 117"/>
              <p:cNvSpPr>
                <a:spLocks noChangeArrowheads="1"/>
              </p:cNvSpPr>
              <p:nvPr/>
            </p:nvSpPr>
            <p:spPr bwMode="auto">
              <a:xfrm>
                <a:off x="5503" y="2296"/>
                <a:ext cx="11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latin typeface="Times"/>
                  </a:rPr>
                  <a:t>F</a:t>
                </a:r>
                <a:endParaRPr lang="en-US" altLang="zh-CN"/>
              </a:p>
            </p:txBody>
          </p:sp>
        </p:grpSp>
        <p:sp>
          <p:nvSpPr>
            <p:cNvPr id="95246" name="Text Box 119"/>
            <p:cNvSpPr txBox="1">
              <a:spLocks noChangeArrowheads="1"/>
            </p:cNvSpPr>
            <p:nvPr/>
          </p:nvSpPr>
          <p:spPr bwMode="auto">
            <a:xfrm>
              <a:off x="768" y="1881"/>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2</a:t>
              </a:r>
            </a:p>
          </p:txBody>
        </p:sp>
        <p:sp>
          <p:nvSpPr>
            <p:cNvPr id="95247" name="Text Box 120"/>
            <p:cNvSpPr txBox="1">
              <a:spLocks noChangeArrowheads="1"/>
            </p:cNvSpPr>
            <p:nvPr/>
          </p:nvSpPr>
          <p:spPr bwMode="auto">
            <a:xfrm>
              <a:off x="768" y="1641"/>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1</a:t>
              </a:r>
            </a:p>
          </p:txBody>
        </p:sp>
        <p:sp>
          <p:nvSpPr>
            <p:cNvPr id="95248" name="Text Box 121"/>
            <p:cNvSpPr txBox="1">
              <a:spLocks noChangeArrowheads="1"/>
            </p:cNvSpPr>
            <p:nvPr/>
          </p:nvSpPr>
          <p:spPr bwMode="auto">
            <a:xfrm>
              <a:off x="768" y="1449"/>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0</a:t>
              </a:r>
            </a:p>
          </p:txBody>
        </p:sp>
        <p:sp>
          <p:nvSpPr>
            <p:cNvPr id="95249" name="Text Box 122"/>
            <p:cNvSpPr txBox="1">
              <a:spLocks noChangeArrowheads="1"/>
            </p:cNvSpPr>
            <p:nvPr/>
          </p:nvSpPr>
          <p:spPr bwMode="auto">
            <a:xfrm>
              <a:off x="3540" y="1881"/>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2</a:t>
              </a:r>
            </a:p>
          </p:txBody>
        </p:sp>
        <p:sp>
          <p:nvSpPr>
            <p:cNvPr id="95250" name="Text Box 123"/>
            <p:cNvSpPr txBox="1">
              <a:spLocks noChangeArrowheads="1"/>
            </p:cNvSpPr>
            <p:nvPr/>
          </p:nvSpPr>
          <p:spPr bwMode="auto">
            <a:xfrm>
              <a:off x="3540" y="1641"/>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1</a:t>
              </a:r>
            </a:p>
          </p:txBody>
        </p:sp>
        <p:sp>
          <p:nvSpPr>
            <p:cNvPr id="95251" name="Text Box 124"/>
            <p:cNvSpPr txBox="1">
              <a:spLocks noChangeArrowheads="1"/>
            </p:cNvSpPr>
            <p:nvPr/>
          </p:nvSpPr>
          <p:spPr bwMode="auto">
            <a:xfrm>
              <a:off x="3540" y="1449"/>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i="1"/>
                <a:t>A</a:t>
              </a:r>
              <a:r>
                <a:rPr lang="en-US" altLang="zh-CN" sz="1800" i="1" baseline="-25000"/>
                <a:t>0</a:t>
              </a:r>
            </a:p>
          </p:txBody>
        </p:sp>
      </p:grpSp>
      <p:sp>
        <p:nvSpPr>
          <p:cNvPr id="95242" name="Text Box 126"/>
          <p:cNvSpPr txBox="1">
            <a:spLocks noChangeArrowheads="1"/>
          </p:cNvSpPr>
          <p:nvPr/>
        </p:nvSpPr>
        <p:spPr bwMode="auto">
          <a:xfrm>
            <a:off x="838200" y="5334000"/>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en-US" altLang="zh-CN"/>
              <a:t>     (a)</a:t>
            </a:r>
            <a:r>
              <a:rPr lang="zh-CN" altLang="en-US"/>
              <a:t>方案一                                         </a:t>
            </a:r>
            <a:r>
              <a:rPr lang="en-US" altLang="zh-CN"/>
              <a:t>(b)</a:t>
            </a:r>
            <a:r>
              <a:rPr lang="zh-CN" altLang="en-US"/>
              <a:t>方案二</a:t>
            </a:r>
          </a:p>
        </p:txBody>
      </p:sp>
      <p:graphicFrame>
        <p:nvGraphicFramePr>
          <p:cNvPr id="95243" name="Object 127"/>
          <p:cNvGraphicFramePr>
            <a:graphicFrameLocks noChangeAspect="1"/>
          </p:cNvGraphicFramePr>
          <p:nvPr/>
        </p:nvGraphicFramePr>
        <p:xfrm>
          <a:off x="1370013" y="5791200"/>
          <a:ext cx="2135187" cy="493713"/>
        </p:xfrm>
        <a:graphic>
          <a:graphicData uri="http://schemas.openxmlformats.org/presentationml/2006/ole">
            <mc:AlternateContent xmlns:mc="http://schemas.openxmlformats.org/markup-compatibility/2006">
              <mc:Choice xmlns:v="urn:schemas-microsoft-com:vml" Requires="v">
                <p:oleObj spid="_x0000_s95361" name="公式" r:id="rId4" imgW="1206500" imgH="279400" progId="Equation.3">
                  <p:embed/>
                </p:oleObj>
              </mc:Choice>
              <mc:Fallback>
                <p:oleObj name="公式" r:id="rId4" imgW="1206500" imgH="279400" progId="Equation.3">
                  <p:embed/>
                  <p:pic>
                    <p:nvPicPr>
                      <p:cNvPr id="0" name="Object 1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0013" y="5791200"/>
                        <a:ext cx="21351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44" name="Object 128"/>
          <p:cNvGraphicFramePr>
            <a:graphicFrameLocks noChangeAspect="1"/>
          </p:cNvGraphicFramePr>
          <p:nvPr/>
        </p:nvGraphicFramePr>
        <p:xfrm>
          <a:off x="5602288" y="5835650"/>
          <a:ext cx="2359025" cy="403225"/>
        </p:xfrm>
        <a:graphic>
          <a:graphicData uri="http://schemas.openxmlformats.org/presentationml/2006/ole">
            <mc:AlternateContent xmlns:mc="http://schemas.openxmlformats.org/markup-compatibility/2006">
              <mc:Choice xmlns:v="urn:schemas-microsoft-com:vml" Requires="v">
                <p:oleObj spid="_x0000_s95362" name="公式" r:id="rId6" imgW="1333500" imgH="228600" progId="Equation.3">
                  <p:embed/>
                </p:oleObj>
              </mc:Choice>
              <mc:Fallback>
                <p:oleObj name="公式" r:id="rId6" imgW="1333500" imgH="228600" progId="Equation.3">
                  <p:embed/>
                  <p:pic>
                    <p:nvPicPr>
                      <p:cNvPr id="0" name="Object 1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02288" y="5835650"/>
                        <a:ext cx="23590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日期占位符 3"/>
          <p:cNvSpPr>
            <a:spLocks noGrp="1"/>
          </p:cNvSpPr>
          <p:nvPr>
            <p:ph type="dt" sz="quarter" idx="10"/>
          </p:nvPr>
        </p:nvSpPr>
        <p:spPr/>
        <p:txBody>
          <a:bodyPr/>
          <a:lstStyle/>
          <a:p>
            <a:pPr>
              <a:defRPr/>
            </a:pPr>
            <a:fld id="{AC973824-74BF-4E4E-8D2C-0008F8242BDC}" type="datetime1">
              <a:rPr lang="zh-CN" altLang="en-US"/>
              <a:pPr>
                <a:defRPr/>
              </a:pPr>
              <a:t>2020/10/10</a:t>
            </a:fld>
            <a:endParaRPr lang="en-US" altLang="zh-CN"/>
          </a:p>
        </p:txBody>
      </p:sp>
      <p:sp>
        <p:nvSpPr>
          <p:cNvPr id="226" name="灯片编号占位符 5"/>
          <p:cNvSpPr>
            <a:spLocks noGrp="1"/>
          </p:cNvSpPr>
          <p:nvPr>
            <p:ph type="sldNum" sz="quarter" idx="12"/>
          </p:nvPr>
        </p:nvSpPr>
        <p:spPr/>
        <p:txBody>
          <a:bodyPr/>
          <a:lstStyle/>
          <a:p>
            <a:pPr>
              <a:defRPr/>
            </a:pPr>
            <a:fld id="{93174A2D-C81E-4F65-BA41-B0B1DD7A16EE}" type="slidenum">
              <a:rPr lang="en-US" altLang="zh-CN"/>
              <a:pPr>
                <a:defRPr/>
              </a:pPr>
              <a:t>96</a:t>
            </a:fld>
            <a:endParaRPr lang="en-US" altLang="zh-CN"/>
          </a:p>
        </p:txBody>
      </p:sp>
      <p:sp>
        <p:nvSpPr>
          <p:cNvPr id="96260" name="Rectangle 2"/>
          <p:cNvSpPr>
            <a:spLocks noGrp="1" noChangeArrowheads="1"/>
          </p:cNvSpPr>
          <p:nvPr>
            <p:ph type="title"/>
          </p:nvPr>
        </p:nvSpPr>
        <p:spPr/>
        <p:txBody>
          <a:bodyPr/>
          <a:lstStyle/>
          <a:p>
            <a:pPr eaLnBrk="1" hangingPunct="1"/>
            <a:r>
              <a:rPr lang="zh-CN" altLang="en-US" smtClean="0"/>
              <a:t>译码器</a:t>
            </a:r>
          </a:p>
        </p:txBody>
      </p:sp>
      <p:sp>
        <p:nvSpPr>
          <p:cNvPr id="96261" name="Rectangle 3"/>
          <p:cNvSpPr>
            <a:spLocks noGrp="1" noChangeArrowheads="1"/>
          </p:cNvSpPr>
          <p:nvPr>
            <p:ph type="body" idx="1"/>
          </p:nvPr>
        </p:nvSpPr>
        <p:spPr/>
        <p:txBody>
          <a:bodyPr/>
          <a:lstStyle/>
          <a:p>
            <a:pPr eaLnBrk="1" hangingPunct="1"/>
            <a:r>
              <a:rPr lang="zh-CN" altLang="en-US" smtClean="0"/>
              <a:t>两片</a:t>
            </a:r>
            <a:r>
              <a:rPr lang="en-US" altLang="zh-CN" smtClean="0"/>
              <a:t>74138</a:t>
            </a:r>
            <a:r>
              <a:rPr lang="zh-CN" altLang="en-US" smtClean="0"/>
              <a:t>译码器扩展为</a:t>
            </a:r>
            <a:r>
              <a:rPr lang="en-US" altLang="zh-CN" smtClean="0"/>
              <a:t>4</a:t>
            </a:r>
            <a:r>
              <a:rPr lang="zh-CN" altLang="en-US" smtClean="0"/>
              <a:t>线</a:t>
            </a:r>
            <a:r>
              <a:rPr lang="en-US" altLang="zh-CN" smtClean="0"/>
              <a:t>-16</a:t>
            </a:r>
            <a:r>
              <a:rPr lang="zh-CN" altLang="en-US" smtClean="0"/>
              <a:t>线译码器</a:t>
            </a:r>
          </a:p>
        </p:txBody>
      </p:sp>
      <p:grpSp>
        <p:nvGrpSpPr>
          <p:cNvPr id="96262" name="Group 394"/>
          <p:cNvGrpSpPr>
            <a:grpSpLocks/>
          </p:cNvGrpSpPr>
          <p:nvPr/>
        </p:nvGrpSpPr>
        <p:grpSpPr bwMode="auto">
          <a:xfrm>
            <a:off x="1219200" y="2160588"/>
            <a:ext cx="7010400" cy="4164012"/>
            <a:chOff x="768" y="1324"/>
            <a:chExt cx="4416" cy="2623"/>
          </a:xfrm>
        </p:grpSpPr>
        <p:sp>
          <p:nvSpPr>
            <p:cNvPr id="96263" name="Rectangle 174"/>
            <p:cNvSpPr>
              <a:spLocks noChangeArrowheads="1"/>
            </p:cNvSpPr>
            <p:nvPr/>
          </p:nvSpPr>
          <p:spPr bwMode="auto">
            <a:xfrm>
              <a:off x="768" y="1787"/>
              <a:ext cx="2034" cy="911"/>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6264" name="Rectangle 175"/>
            <p:cNvSpPr>
              <a:spLocks noChangeArrowheads="1"/>
            </p:cNvSpPr>
            <p:nvPr/>
          </p:nvSpPr>
          <p:spPr bwMode="auto">
            <a:xfrm>
              <a:off x="1534" y="2147"/>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74138</a:t>
              </a:r>
              <a:endParaRPr lang="en-US" altLang="zh-CN"/>
            </a:p>
          </p:txBody>
        </p:sp>
        <p:sp>
          <p:nvSpPr>
            <p:cNvPr id="96265" name="Rectangle 176"/>
            <p:cNvSpPr>
              <a:spLocks noChangeArrowheads="1"/>
            </p:cNvSpPr>
            <p:nvPr/>
          </p:nvSpPr>
          <p:spPr bwMode="auto">
            <a:xfrm>
              <a:off x="1953" y="2168"/>
              <a:ext cx="1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 </a:t>
              </a:r>
              <a:endParaRPr lang="en-US" altLang="zh-CN"/>
            </a:p>
          </p:txBody>
        </p:sp>
        <p:sp>
          <p:nvSpPr>
            <p:cNvPr id="96266" name="Rectangle 177"/>
            <p:cNvSpPr>
              <a:spLocks noChangeArrowheads="1"/>
            </p:cNvSpPr>
            <p:nvPr/>
          </p:nvSpPr>
          <p:spPr bwMode="auto">
            <a:xfrm>
              <a:off x="2035" y="214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2</a:t>
              </a:r>
              <a:endParaRPr lang="en-US" altLang="zh-CN"/>
            </a:p>
          </p:txBody>
        </p:sp>
        <p:sp>
          <p:nvSpPr>
            <p:cNvPr id="96267" name="Line 178"/>
            <p:cNvSpPr>
              <a:spLocks noChangeShapeType="1"/>
            </p:cNvSpPr>
            <p:nvPr/>
          </p:nvSpPr>
          <p:spPr bwMode="auto">
            <a:xfrm flipV="1">
              <a:off x="995" y="2698"/>
              <a:ext cx="1" cy="10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8" name="Line 179"/>
            <p:cNvSpPr>
              <a:spLocks noChangeShapeType="1"/>
            </p:cNvSpPr>
            <p:nvPr/>
          </p:nvSpPr>
          <p:spPr bwMode="auto">
            <a:xfrm flipV="1">
              <a:off x="1282" y="2698"/>
              <a:ext cx="1" cy="21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9" name="Line 180"/>
            <p:cNvSpPr>
              <a:spLocks noChangeShapeType="1"/>
            </p:cNvSpPr>
            <p:nvPr/>
          </p:nvSpPr>
          <p:spPr bwMode="auto">
            <a:xfrm flipV="1">
              <a:off x="1558" y="2698"/>
              <a:ext cx="1" cy="4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0" name="Line 181"/>
            <p:cNvSpPr>
              <a:spLocks noChangeShapeType="1"/>
            </p:cNvSpPr>
            <p:nvPr/>
          </p:nvSpPr>
          <p:spPr bwMode="auto">
            <a:xfrm flipV="1">
              <a:off x="2012" y="2698"/>
              <a:ext cx="1" cy="5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1" name="Line 182"/>
            <p:cNvSpPr>
              <a:spLocks noChangeShapeType="1"/>
            </p:cNvSpPr>
            <p:nvPr/>
          </p:nvSpPr>
          <p:spPr bwMode="auto">
            <a:xfrm flipV="1">
              <a:off x="2300" y="2698"/>
              <a:ext cx="1" cy="6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2" name="Line 183"/>
            <p:cNvSpPr>
              <a:spLocks noChangeShapeType="1"/>
            </p:cNvSpPr>
            <p:nvPr/>
          </p:nvSpPr>
          <p:spPr bwMode="auto">
            <a:xfrm flipV="1">
              <a:off x="2575" y="2698"/>
              <a:ext cx="1" cy="6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3" name="Line 184"/>
            <p:cNvSpPr>
              <a:spLocks noChangeShapeType="1"/>
            </p:cNvSpPr>
            <p:nvPr/>
          </p:nvSpPr>
          <p:spPr bwMode="auto">
            <a:xfrm>
              <a:off x="995"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4" name="Line 185"/>
            <p:cNvSpPr>
              <a:spLocks noChangeShapeType="1"/>
            </p:cNvSpPr>
            <p:nvPr/>
          </p:nvSpPr>
          <p:spPr bwMode="auto">
            <a:xfrm>
              <a:off x="1222"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5" name="Line 186"/>
            <p:cNvSpPr>
              <a:spLocks noChangeShapeType="1"/>
            </p:cNvSpPr>
            <p:nvPr/>
          </p:nvSpPr>
          <p:spPr bwMode="auto">
            <a:xfrm>
              <a:off x="1450"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6" name="Line 187"/>
            <p:cNvSpPr>
              <a:spLocks noChangeShapeType="1"/>
            </p:cNvSpPr>
            <p:nvPr/>
          </p:nvSpPr>
          <p:spPr bwMode="auto">
            <a:xfrm>
              <a:off x="1677"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7" name="Line 188"/>
            <p:cNvSpPr>
              <a:spLocks noChangeShapeType="1"/>
            </p:cNvSpPr>
            <p:nvPr/>
          </p:nvSpPr>
          <p:spPr bwMode="auto">
            <a:xfrm>
              <a:off x="1905"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8" name="Line 189"/>
            <p:cNvSpPr>
              <a:spLocks noChangeShapeType="1"/>
            </p:cNvSpPr>
            <p:nvPr/>
          </p:nvSpPr>
          <p:spPr bwMode="auto">
            <a:xfrm>
              <a:off x="2132"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9" name="Line 190"/>
            <p:cNvSpPr>
              <a:spLocks noChangeShapeType="1"/>
            </p:cNvSpPr>
            <p:nvPr/>
          </p:nvSpPr>
          <p:spPr bwMode="auto">
            <a:xfrm>
              <a:off x="2360"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0" name="Line 191"/>
            <p:cNvSpPr>
              <a:spLocks noChangeShapeType="1"/>
            </p:cNvSpPr>
            <p:nvPr/>
          </p:nvSpPr>
          <p:spPr bwMode="auto">
            <a:xfrm>
              <a:off x="2575"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281" name="Group 195"/>
            <p:cNvGrpSpPr>
              <a:grpSpLocks/>
            </p:cNvGrpSpPr>
            <p:nvPr/>
          </p:nvGrpSpPr>
          <p:grpSpPr bwMode="auto">
            <a:xfrm>
              <a:off x="2495" y="1840"/>
              <a:ext cx="154" cy="223"/>
              <a:chOff x="2495" y="1840"/>
              <a:chExt cx="154" cy="223"/>
            </a:xfrm>
          </p:grpSpPr>
          <p:sp>
            <p:nvSpPr>
              <p:cNvPr id="96480" name="Line 192"/>
              <p:cNvSpPr>
                <a:spLocks noChangeShapeType="1"/>
              </p:cNvSpPr>
              <p:nvPr/>
            </p:nvSpPr>
            <p:spPr bwMode="auto">
              <a:xfrm>
                <a:off x="2495"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81" name="Rectangle 193"/>
              <p:cNvSpPr>
                <a:spLocks noChangeArrowheads="1"/>
              </p:cNvSpPr>
              <p:nvPr/>
            </p:nvSpPr>
            <p:spPr bwMode="auto">
              <a:xfrm>
                <a:off x="2597"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0</a:t>
                </a:r>
                <a:endParaRPr lang="en-US" altLang="zh-CN"/>
              </a:p>
            </p:txBody>
          </p:sp>
          <p:sp>
            <p:nvSpPr>
              <p:cNvPr id="96482" name="Rectangle 194"/>
              <p:cNvSpPr>
                <a:spLocks noChangeArrowheads="1"/>
              </p:cNvSpPr>
              <p:nvPr/>
            </p:nvSpPr>
            <p:spPr bwMode="auto">
              <a:xfrm>
                <a:off x="2495"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2" name="Group 199"/>
            <p:cNvGrpSpPr>
              <a:grpSpLocks/>
            </p:cNvGrpSpPr>
            <p:nvPr/>
          </p:nvGrpSpPr>
          <p:grpSpPr bwMode="auto">
            <a:xfrm>
              <a:off x="2291" y="1839"/>
              <a:ext cx="139" cy="213"/>
              <a:chOff x="2291" y="1839"/>
              <a:chExt cx="139" cy="213"/>
            </a:xfrm>
          </p:grpSpPr>
          <p:sp>
            <p:nvSpPr>
              <p:cNvPr id="96477" name="Line 196"/>
              <p:cNvSpPr>
                <a:spLocks noChangeShapeType="1"/>
              </p:cNvSpPr>
              <p:nvPr/>
            </p:nvSpPr>
            <p:spPr bwMode="auto">
              <a:xfrm>
                <a:off x="2291" y="1839"/>
                <a:ext cx="11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8" name="Rectangle 197"/>
              <p:cNvSpPr>
                <a:spLocks noChangeArrowheads="1"/>
              </p:cNvSpPr>
              <p:nvPr/>
            </p:nvSpPr>
            <p:spPr bwMode="auto">
              <a:xfrm>
                <a:off x="2382"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96479" name="Rectangle 198"/>
              <p:cNvSpPr>
                <a:spLocks noChangeArrowheads="1"/>
              </p:cNvSpPr>
              <p:nvPr/>
            </p:nvSpPr>
            <p:spPr bwMode="auto">
              <a:xfrm>
                <a:off x="2291"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3" name="Group 203"/>
            <p:cNvGrpSpPr>
              <a:grpSpLocks/>
            </p:cNvGrpSpPr>
            <p:nvPr/>
          </p:nvGrpSpPr>
          <p:grpSpPr bwMode="auto">
            <a:xfrm>
              <a:off x="2052" y="1839"/>
              <a:ext cx="152" cy="213"/>
              <a:chOff x="2052" y="1839"/>
              <a:chExt cx="152" cy="213"/>
            </a:xfrm>
          </p:grpSpPr>
          <p:sp>
            <p:nvSpPr>
              <p:cNvPr id="96474" name="Line 200"/>
              <p:cNvSpPr>
                <a:spLocks noChangeShapeType="1"/>
              </p:cNvSpPr>
              <p:nvPr/>
            </p:nvSpPr>
            <p:spPr bwMode="auto">
              <a:xfrm>
                <a:off x="2052" y="1839"/>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5" name="Rectangle 201"/>
              <p:cNvSpPr>
                <a:spLocks noChangeArrowheads="1"/>
              </p:cNvSpPr>
              <p:nvPr/>
            </p:nvSpPr>
            <p:spPr bwMode="auto">
              <a:xfrm>
                <a:off x="2156"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96476" name="Rectangle 202"/>
              <p:cNvSpPr>
                <a:spLocks noChangeArrowheads="1"/>
              </p:cNvSpPr>
              <p:nvPr/>
            </p:nvSpPr>
            <p:spPr bwMode="auto">
              <a:xfrm>
                <a:off x="2052"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4" name="Group 207"/>
            <p:cNvGrpSpPr>
              <a:grpSpLocks/>
            </p:cNvGrpSpPr>
            <p:nvPr/>
          </p:nvGrpSpPr>
          <p:grpSpPr bwMode="auto">
            <a:xfrm>
              <a:off x="1825" y="1840"/>
              <a:ext cx="152" cy="223"/>
              <a:chOff x="1825" y="1840"/>
              <a:chExt cx="152" cy="223"/>
            </a:xfrm>
          </p:grpSpPr>
          <p:sp>
            <p:nvSpPr>
              <p:cNvPr id="96471" name="Line 204"/>
              <p:cNvSpPr>
                <a:spLocks noChangeShapeType="1"/>
              </p:cNvSpPr>
              <p:nvPr/>
            </p:nvSpPr>
            <p:spPr bwMode="auto">
              <a:xfrm>
                <a:off x="1825"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72" name="Rectangle 205"/>
              <p:cNvSpPr>
                <a:spLocks noChangeArrowheads="1"/>
              </p:cNvSpPr>
              <p:nvPr/>
            </p:nvSpPr>
            <p:spPr bwMode="auto">
              <a:xfrm>
                <a:off x="1925"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6473" name="Rectangle 206"/>
              <p:cNvSpPr>
                <a:spLocks noChangeArrowheads="1"/>
              </p:cNvSpPr>
              <p:nvPr/>
            </p:nvSpPr>
            <p:spPr bwMode="auto">
              <a:xfrm>
                <a:off x="1825"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5" name="Group 211"/>
            <p:cNvGrpSpPr>
              <a:grpSpLocks/>
            </p:cNvGrpSpPr>
            <p:nvPr/>
          </p:nvGrpSpPr>
          <p:grpSpPr bwMode="auto">
            <a:xfrm>
              <a:off x="1597" y="1839"/>
              <a:ext cx="152" cy="213"/>
              <a:chOff x="1597" y="1839"/>
              <a:chExt cx="152" cy="213"/>
            </a:xfrm>
          </p:grpSpPr>
          <p:sp>
            <p:nvSpPr>
              <p:cNvPr id="96468" name="Line 208"/>
              <p:cNvSpPr>
                <a:spLocks noChangeShapeType="1"/>
              </p:cNvSpPr>
              <p:nvPr/>
            </p:nvSpPr>
            <p:spPr bwMode="auto">
              <a:xfrm>
                <a:off x="1597" y="1839"/>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9" name="Rectangle 209"/>
              <p:cNvSpPr>
                <a:spLocks noChangeArrowheads="1"/>
              </p:cNvSpPr>
              <p:nvPr/>
            </p:nvSpPr>
            <p:spPr bwMode="auto">
              <a:xfrm>
                <a:off x="1701"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4</a:t>
                </a:r>
                <a:endParaRPr lang="en-US" altLang="zh-CN"/>
              </a:p>
            </p:txBody>
          </p:sp>
          <p:sp>
            <p:nvSpPr>
              <p:cNvPr id="96470" name="Rectangle 210"/>
              <p:cNvSpPr>
                <a:spLocks noChangeArrowheads="1"/>
              </p:cNvSpPr>
              <p:nvPr/>
            </p:nvSpPr>
            <p:spPr bwMode="auto">
              <a:xfrm>
                <a:off x="1597"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6" name="Group 215"/>
            <p:cNvGrpSpPr>
              <a:grpSpLocks/>
            </p:cNvGrpSpPr>
            <p:nvPr/>
          </p:nvGrpSpPr>
          <p:grpSpPr bwMode="auto">
            <a:xfrm>
              <a:off x="1370" y="1840"/>
              <a:ext cx="153" cy="223"/>
              <a:chOff x="1370" y="1840"/>
              <a:chExt cx="153" cy="223"/>
            </a:xfrm>
          </p:grpSpPr>
          <p:sp>
            <p:nvSpPr>
              <p:cNvPr id="96465" name="Line 212"/>
              <p:cNvSpPr>
                <a:spLocks noChangeShapeType="1"/>
              </p:cNvSpPr>
              <p:nvPr/>
            </p:nvSpPr>
            <p:spPr bwMode="auto">
              <a:xfrm>
                <a:off x="1370"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6" name="Rectangle 213"/>
              <p:cNvSpPr>
                <a:spLocks noChangeArrowheads="1"/>
              </p:cNvSpPr>
              <p:nvPr/>
            </p:nvSpPr>
            <p:spPr bwMode="auto">
              <a:xfrm>
                <a:off x="1471"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5</a:t>
                </a:r>
                <a:endParaRPr lang="en-US" altLang="zh-CN"/>
              </a:p>
            </p:txBody>
          </p:sp>
          <p:sp>
            <p:nvSpPr>
              <p:cNvPr id="96467" name="Rectangle 214"/>
              <p:cNvSpPr>
                <a:spLocks noChangeArrowheads="1"/>
              </p:cNvSpPr>
              <p:nvPr/>
            </p:nvSpPr>
            <p:spPr bwMode="auto">
              <a:xfrm>
                <a:off x="1370"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7" name="Group 219"/>
            <p:cNvGrpSpPr>
              <a:grpSpLocks/>
            </p:cNvGrpSpPr>
            <p:nvPr/>
          </p:nvGrpSpPr>
          <p:grpSpPr bwMode="auto">
            <a:xfrm>
              <a:off x="1155" y="1840"/>
              <a:ext cx="153" cy="223"/>
              <a:chOff x="1155" y="1840"/>
              <a:chExt cx="153" cy="223"/>
            </a:xfrm>
          </p:grpSpPr>
          <p:sp>
            <p:nvSpPr>
              <p:cNvPr id="96462" name="Line 216"/>
              <p:cNvSpPr>
                <a:spLocks noChangeShapeType="1"/>
              </p:cNvSpPr>
              <p:nvPr/>
            </p:nvSpPr>
            <p:spPr bwMode="auto">
              <a:xfrm>
                <a:off x="1155" y="1840"/>
                <a:ext cx="11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3" name="Rectangle 217"/>
              <p:cNvSpPr>
                <a:spLocks noChangeArrowheads="1"/>
              </p:cNvSpPr>
              <p:nvPr/>
            </p:nvSpPr>
            <p:spPr bwMode="auto">
              <a:xfrm>
                <a:off x="1256"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6</a:t>
                </a:r>
                <a:endParaRPr lang="en-US" altLang="zh-CN"/>
              </a:p>
            </p:txBody>
          </p:sp>
          <p:sp>
            <p:nvSpPr>
              <p:cNvPr id="96464" name="Rectangle 218"/>
              <p:cNvSpPr>
                <a:spLocks noChangeArrowheads="1"/>
              </p:cNvSpPr>
              <p:nvPr/>
            </p:nvSpPr>
            <p:spPr bwMode="auto">
              <a:xfrm>
                <a:off x="1155"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288" name="Group 223"/>
            <p:cNvGrpSpPr>
              <a:grpSpLocks/>
            </p:cNvGrpSpPr>
            <p:nvPr/>
          </p:nvGrpSpPr>
          <p:grpSpPr bwMode="auto">
            <a:xfrm>
              <a:off x="927" y="1840"/>
              <a:ext cx="154" cy="223"/>
              <a:chOff x="927" y="1840"/>
              <a:chExt cx="154" cy="223"/>
            </a:xfrm>
          </p:grpSpPr>
          <p:sp>
            <p:nvSpPr>
              <p:cNvPr id="96459" name="Line 220"/>
              <p:cNvSpPr>
                <a:spLocks noChangeShapeType="1"/>
              </p:cNvSpPr>
              <p:nvPr/>
            </p:nvSpPr>
            <p:spPr bwMode="auto">
              <a:xfrm>
                <a:off x="927"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60" name="Rectangle 221"/>
              <p:cNvSpPr>
                <a:spLocks noChangeArrowheads="1"/>
              </p:cNvSpPr>
              <p:nvPr/>
            </p:nvSpPr>
            <p:spPr bwMode="auto">
              <a:xfrm>
                <a:off x="1029"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7</a:t>
                </a:r>
                <a:endParaRPr lang="en-US" altLang="zh-CN"/>
              </a:p>
            </p:txBody>
          </p:sp>
          <p:sp>
            <p:nvSpPr>
              <p:cNvPr id="96461" name="Rectangle 222"/>
              <p:cNvSpPr>
                <a:spLocks noChangeArrowheads="1"/>
              </p:cNvSpPr>
              <p:nvPr/>
            </p:nvSpPr>
            <p:spPr bwMode="auto">
              <a:xfrm>
                <a:off x="927"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6289" name="Rectangle 224"/>
            <p:cNvSpPr>
              <a:spLocks noChangeArrowheads="1"/>
            </p:cNvSpPr>
            <p:nvPr/>
          </p:nvSpPr>
          <p:spPr bwMode="auto">
            <a:xfrm>
              <a:off x="1941"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290" name="Rectangle 225"/>
            <p:cNvSpPr>
              <a:spLocks noChangeArrowheads="1"/>
            </p:cNvSpPr>
            <p:nvPr/>
          </p:nvSpPr>
          <p:spPr bwMode="auto">
            <a:xfrm>
              <a:off x="2060"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96291" name="Rectangle 226"/>
            <p:cNvSpPr>
              <a:spLocks noChangeArrowheads="1"/>
            </p:cNvSpPr>
            <p:nvPr/>
          </p:nvSpPr>
          <p:spPr bwMode="auto">
            <a:xfrm>
              <a:off x="2216"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292" name="Rectangle 227"/>
            <p:cNvSpPr>
              <a:spLocks noChangeArrowheads="1"/>
            </p:cNvSpPr>
            <p:nvPr/>
          </p:nvSpPr>
          <p:spPr bwMode="auto">
            <a:xfrm>
              <a:off x="2336"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96293" name="Rectangle 228"/>
            <p:cNvSpPr>
              <a:spLocks noChangeArrowheads="1"/>
            </p:cNvSpPr>
            <p:nvPr/>
          </p:nvSpPr>
          <p:spPr bwMode="auto">
            <a:xfrm>
              <a:off x="2503"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294" name="Rectangle 229"/>
            <p:cNvSpPr>
              <a:spLocks noChangeArrowheads="1"/>
            </p:cNvSpPr>
            <p:nvPr/>
          </p:nvSpPr>
          <p:spPr bwMode="auto">
            <a:xfrm>
              <a:off x="2623"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96295" name="Rectangle 230"/>
            <p:cNvSpPr>
              <a:spLocks noChangeArrowheads="1"/>
            </p:cNvSpPr>
            <p:nvPr/>
          </p:nvSpPr>
          <p:spPr bwMode="auto">
            <a:xfrm>
              <a:off x="911" y="245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S</a:t>
              </a:r>
              <a:endParaRPr lang="en-US" altLang="zh-CN"/>
            </a:p>
          </p:txBody>
        </p:sp>
        <p:sp>
          <p:nvSpPr>
            <p:cNvPr id="96296" name="Rectangle 231"/>
            <p:cNvSpPr>
              <a:spLocks noChangeArrowheads="1"/>
            </p:cNvSpPr>
            <p:nvPr/>
          </p:nvSpPr>
          <p:spPr bwMode="auto">
            <a:xfrm>
              <a:off x="995" y="2530"/>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grpSp>
          <p:nvGrpSpPr>
            <p:cNvPr id="96297" name="Group 235"/>
            <p:cNvGrpSpPr>
              <a:grpSpLocks/>
            </p:cNvGrpSpPr>
            <p:nvPr/>
          </p:nvGrpSpPr>
          <p:grpSpPr bwMode="auto">
            <a:xfrm>
              <a:off x="1203" y="2462"/>
              <a:ext cx="134" cy="230"/>
              <a:chOff x="1203" y="2462"/>
              <a:chExt cx="134" cy="230"/>
            </a:xfrm>
          </p:grpSpPr>
          <p:sp>
            <p:nvSpPr>
              <p:cNvPr id="96456" name="Line 232"/>
              <p:cNvSpPr>
                <a:spLocks noChangeShapeType="1"/>
              </p:cNvSpPr>
              <p:nvPr/>
            </p:nvSpPr>
            <p:spPr bwMode="auto">
              <a:xfrm>
                <a:off x="1203" y="2462"/>
                <a:ext cx="8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7" name="Rectangle 233"/>
              <p:cNvSpPr>
                <a:spLocks noChangeArrowheads="1"/>
              </p:cNvSpPr>
              <p:nvPr/>
            </p:nvSpPr>
            <p:spPr bwMode="auto">
              <a:xfrm>
                <a:off x="1284" y="2566"/>
                <a:ext cx="53"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2</a:t>
                </a:r>
                <a:endParaRPr lang="en-US" altLang="zh-CN"/>
              </a:p>
            </p:txBody>
          </p:sp>
          <p:sp>
            <p:nvSpPr>
              <p:cNvPr id="96458" name="Rectangle 234"/>
              <p:cNvSpPr>
                <a:spLocks noChangeArrowheads="1"/>
              </p:cNvSpPr>
              <p:nvPr/>
            </p:nvSpPr>
            <p:spPr bwMode="auto">
              <a:xfrm>
                <a:off x="1204" y="2470"/>
                <a:ext cx="9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S</a:t>
                </a:r>
                <a:endParaRPr lang="en-US" altLang="zh-CN"/>
              </a:p>
            </p:txBody>
          </p:sp>
        </p:grpSp>
        <p:grpSp>
          <p:nvGrpSpPr>
            <p:cNvPr id="96298" name="Group 239"/>
            <p:cNvGrpSpPr>
              <a:grpSpLocks/>
            </p:cNvGrpSpPr>
            <p:nvPr/>
          </p:nvGrpSpPr>
          <p:grpSpPr bwMode="auto">
            <a:xfrm>
              <a:off x="1490" y="2460"/>
              <a:ext cx="132" cy="227"/>
              <a:chOff x="1490" y="2460"/>
              <a:chExt cx="132" cy="227"/>
            </a:xfrm>
          </p:grpSpPr>
          <p:sp>
            <p:nvSpPr>
              <p:cNvPr id="96453" name="Line 236"/>
              <p:cNvSpPr>
                <a:spLocks noChangeShapeType="1"/>
              </p:cNvSpPr>
              <p:nvPr/>
            </p:nvSpPr>
            <p:spPr bwMode="auto">
              <a:xfrm>
                <a:off x="1490" y="2460"/>
                <a:ext cx="9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4" name="Rectangle 237"/>
              <p:cNvSpPr>
                <a:spLocks noChangeArrowheads="1"/>
              </p:cNvSpPr>
              <p:nvPr/>
            </p:nvSpPr>
            <p:spPr bwMode="auto">
              <a:xfrm>
                <a:off x="1569" y="2561"/>
                <a:ext cx="53"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6455" name="Rectangle 238"/>
              <p:cNvSpPr>
                <a:spLocks noChangeArrowheads="1"/>
              </p:cNvSpPr>
              <p:nvPr/>
            </p:nvSpPr>
            <p:spPr bwMode="auto">
              <a:xfrm>
                <a:off x="1491" y="246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grpSp>
          <p:nvGrpSpPr>
            <p:cNvPr id="96299" name="Group 243"/>
            <p:cNvGrpSpPr>
              <a:grpSpLocks/>
            </p:cNvGrpSpPr>
            <p:nvPr/>
          </p:nvGrpSpPr>
          <p:grpSpPr bwMode="auto">
            <a:xfrm>
              <a:off x="2495" y="1324"/>
              <a:ext cx="151" cy="223"/>
              <a:chOff x="2495" y="1324"/>
              <a:chExt cx="151" cy="223"/>
            </a:xfrm>
          </p:grpSpPr>
          <p:sp>
            <p:nvSpPr>
              <p:cNvPr id="96450" name="Line 240"/>
              <p:cNvSpPr>
                <a:spLocks noChangeShapeType="1"/>
              </p:cNvSpPr>
              <p:nvPr/>
            </p:nvSpPr>
            <p:spPr bwMode="auto">
              <a:xfrm>
                <a:off x="2495"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51" name="Rectangle 241"/>
              <p:cNvSpPr>
                <a:spLocks noChangeArrowheads="1"/>
              </p:cNvSpPr>
              <p:nvPr/>
            </p:nvSpPr>
            <p:spPr bwMode="auto">
              <a:xfrm>
                <a:off x="2594"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8</a:t>
                </a:r>
                <a:endParaRPr lang="en-US" altLang="zh-CN"/>
              </a:p>
            </p:txBody>
          </p:sp>
          <p:sp>
            <p:nvSpPr>
              <p:cNvPr id="96452" name="Rectangle 242"/>
              <p:cNvSpPr>
                <a:spLocks noChangeArrowheads="1"/>
              </p:cNvSpPr>
              <p:nvPr/>
            </p:nvSpPr>
            <p:spPr bwMode="auto">
              <a:xfrm>
                <a:off x="2495"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00" name="Group 247"/>
            <p:cNvGrpSpPr>
              <a:grpSpLocks/>
            </p:cNvGrpSpPr>
            <p:nvPr/>
          </p:nvGrpSpPr>
          <p:grpSpPr bwMode="auto">
            <a:xfrm>
              <a:off x="2280" y="1324"/>
              <a:ext cx="152" cy="223"/>
              <a:chOff x="2280" y="1324"/>
              <a:chExt cx="152" cy="223"/>
            </a:xfrm>
          </p:grpSpPr>
          <p:sp>
            <p:nvSpPr>
              <p:cNvPr id="96447" name="Line 244"/>
              <p:cNvSpPr>
                <a:spLocks noChangeShapeType="1"/>
              </p:cNvSpPr>
              <p:nvPr/>
            </p:nvSpPr>
            <p:spPr bwMode="auto">
              <a:xfrm>
                <a:off x="2280"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8" name="Rectangle 245"/>
              <p:cNvSpPr>
                <a:spLocks noChangeArrowheads="1"/>
              </p:cNvSpPr>
              <p:nvPr/>
            </p:nvSpPr>
            <p:spPr bwMode="auto">
              <a:xfrm>
                <a:off x="2380"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9</a:t>
                </a:r>
                <a:endParaRPr lang="en-US" altLang="zh-CN"/>
              </a:p>
            </p:txBody>
          </p:sp>
          <p:sp>
            <p:nvSpPr>
              <p:cNvPr id="96449" name="Rectangle 246"/>
              <p:cNvSpPr>
                <a:spLocks noChangeArrowheads="1"/>
              </p:cNvSpPr>
              <p:nvPr/>
            </p:nvSpPr>
            <p:spPr bwMode="auto">
              <a:xfrm>
                <a:off x="2280"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01" name="Group 251"/>
            <p:cNvGrpSpPr>
              <a:grpSpLocks/>
            </p:cNvGrpSpPr>
            <p:nvPr/>
          </p:nvGrpSpPr>
          <p:grpSpPr bwMode="auto">
            <a:xfrm>
              <a:off x="2040" y="1324"/>
              <a:ext cx="195" cy="223"/>
              <a:chOff x="2040" y="1324"/>
              <a:chExt cx="195" cy="223"/>
            </a:xfrm>
          </p:grpSpPr>
          <p:sp>
            <p:nvSpPr>
              <p:cNvPr id="96444" name="Line 248"/>
              <p:cNvSpPr>
                <a:spLocks noChangeShapeType="1"/>
              </p:cNvSpPr>
              <p:nvPr/>
            </p:nvSpPr>
            <p:spPr bwMode="auto">
              <a:xfrm>
                <a:off x="2040" y="1324"/>
                <a:ext cx="11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5" name="Rectangle 249"/>
              <p:cNvSpPr>
                <a:spLocks noChangeArrowheads="1"/>
              </p:cNvSpPr>
              <p:nvPr/>
            </p:nvSpPr>
            <p:spPr bwMode="auto">
              <a:xfrm>
                <a:off x="2131" y="1422"/>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10</a:t>
                </a:r>
                <a:endParaRPr lang="en-US" altLang="zh-CN"/>
              </a:p>
            </p:txBody>
          </p:sp>
          <p:sp>
            <p:nvSpPr>
              <p:cNvPr id="96446" name="Rectangle 250"/>
              <p:cNvSpPr>
                <a:spLocks noChangeArrowheads="1"/>
              </p:cNvSpPr>
              <p:nvPr/>
            </p:nvSpPr>
            <p:spPr bwMode="auto">
              <a:xfrm>
                <a:off x="2040"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02" name="Group 255"/>
            <p:cNvGrpSpPr>
              <a:grpSpLocks/>
            </p:cNvGrpSpPr>
            <p:nvPr/>
          </p:nvGrpSpPr>
          <p:grpSpPr bwMode="auto">
            <a:xfrm>
              <a:off x="1814" y="1326"/>
              <a:ext cx="197" cy="226"/>
              <a:chOff x="1814" y="1326"/>
              <a:chExt cx="197" cy="226"/>
            </a:xfrm>
          </p:grpSpPr>
          <p:sp>
            <p:nvSpPr>
              <p:cNvPr id="96441" name="Line 252"/>
              <p:cNvSpPr>
                <a:spLocks noChangeShapeType="1"/>
              </p:cNvSpPr>
              <p:nvPr/>
            </p:nvSpPr>
            <p:spPr bwMode="auto">
              <a:xfrm>
                <a:off x="1814" y="132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42" name="Rectangle 253"/>
              <p:cNvSpPr>
                <a:spLocks noChangeArrowheads="1"/>
              </p:cNvSpPr>
              <p:nvPr/>
            </p:nvSpPr>
            <p:spPr bwMode="auto">
              <a:xfrm>
                <a:off x="1907" y="1427"/>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11</a:t>
                </a:r>
                <a:endParaRPr lang="en-US" altLang="zh-CN"/>
              </a:p>
            </p:txBody>
          </p:sp>
          <p:sp>
            <p:nvSpPr>
              <p:cNvPr id="96443" name="Rectangle 254"/>
              <p:cNvSpPr>
                <a:spLocks noChangeArrowheads="1"/>
              </p:cNvSpPr>
              <p:nvPr/>
            </p:nvSpPr>
            <p:spPr bwMode="auto">
              <a:xfrm>
                <a:off x="1814"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03" name="Group 259"/>
            <p:cNvGrpSpPr>
              <a:grpSpLocks/>
            </p:cNvGrpSpPr>
            <p:nvPr/>
          </p:nvGrpSpPr>
          <p:grpSpPr bwMode="auto">
            <a:xfrm>
              <a:off x="1574" y="1326"/>
              <a:ext cx="199" cy="226"/>
              <a:chOff x="1574" y="1326"/>
              <a:chExt cx="199" cy="226"/>
            </a:xfrm>
          </p:grpSpPr>
          <p:sp>
            <p:nvSpPr>
              <p:cNvPr id="96438" name="Line 256"/>
              <p:cNvSpPr>
                <a:spLocks noChangeShapeType="1"/>
              </p:cNvSpPr>
              <p:nvPr/>
            </p:nvSpPr>
            <p:spPr bwMode="auto">
              <a:xfrm>
                <a:off x="1574" y="1326"/>
                <a:ext cx="11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9" name="Rectangle 257"/>
              <p:cNvSpPr>
                <a:spLocks noChangeArrowheads="1"/>
              </p:cNvSpPr>
              <p:nvPr/>
            </p:nvSpPr>
            <p:spPr bwMode="auto">
              <a:xfrm>
                <a:off x="1669" y="1427"/>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12</a:t>
                </a:r>
                <a:endParaRPr lang="en-US" altLang="zh-CN"/>
              </a:p>
            </p:txBody>
          </p:sp>
          <p:sp>
            <p:nvSpPr>
              <p:cNvPr id="96440" name="Rectangle 258"/>
              <p:cNvSpPr>
                <a:spLocks noChangeArrowheads="1"/>
              </p:cNvSpPr>
              <p:nvPr/>
            </p:nvSpPr>
            <p:spPr bwMode="auto">
              <a:xfrm>
                <a:off x="1574"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04" name="Group 263"/>
            <p:cNvGrpSpPr>
              <a:grpSpLocks/>
            </p:cNvGrpSpPr>
            <p:nvPr/>
          </p:nvGrpSpPr>
          <p:grpSpPr bwMode="auto">
            <a:xfrm>
              <a:off x="1347" y="1324"/>
              <a:ext cx="199" cy="223"/>
              <a:chOff x="1347" y="1324"/>
              <a:chExt cx="199" cy="223"/>
            </a:xfrm>
          </p:grpSpPr>
          <p:sp>
            <p:nvSpPr>
              <p:cNvPr id="96435" name="Line 260"/>
              <p:cNvSpPr>
                <a:spLocks noChangeShapeType="1"/>
              </p:cNvSpPr>
              <p:nvPr/>
            </p:nvSpPr>
            <p:spPr bwMode="auto">
              <a:xfrm>
                <a:off x="1347" y="1324"/>
                <a:ext cx="11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6" name="Rectangle 261"/>
              <p:cNvSpPr>
                <a:spLocks noChangeArrowheads="1"/>
              </p:cNvSpPr>
              <p:nvPr/>
            </p:nvSpPr>
            <p:spPr bwMode="auto">
              <a:xfrm>
                <a:off x="1442" y="1422"/>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13</a:t>
                </a:r>
                <a:endParaRPr lang="en-US" altLang="zh-CN"/>
              </a:p>
            </p:txBody>
          </p:sp>
          <p:sp>
            <p:nvSpPr>
              <p:cNvPr id="96437" name="Rectangle 262"/>
              <p:cNvSpPr>
                <a:spLocks noChangeArrowheads="1"/>
              </p:cNvSpPr>
              <p:nvPr/>
            </p:nvSpPr>
            <p:spPr bwMode="auto">
              <a:xfrm>
                <a:off x="1347"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05" name="Group 267"/>
            <p:cNvGrpSpPr>
              <a:grpSpLocks/>
            </p:cNvGrpSpPr>
            <p:nvPr/>
          </p:nvGrpSpPr>
          <p:grpSpPr bwMode="auto">
            <a:xfrm>
              <a:off x="1120" y="1326"/>
              <a:ext cx="199" cy="226"/>
              <a:chOff x="1120" y="1326"/>
              <a:chExt cx="199" cy="226"/>
            </a:xfrm>
          </p:grpSpPr>
          <p:sp>
            <p:nvSpPr>
              <p:cNvPr id="96432" name="Line 264"/>
              <p:cNvSpPr>
                <a:spLocks noChangeShapeType="1"/>
              </p:cNvSpPr>
              <p:nvPr/>
            </p:nvSpPr>
            <p:spPr bwMode="auto">
              <a:xfrm>
                <a:off x="1120" y="1326"/>
                <a:ext cx="11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3" name="Rectangle 265"/>
              <p:cNvSpPr>
                <a:spLocks noChangeArrowheads="1"/>
              </p:cNvSpPr>
              <p:nvPr/>
            </p:nvSpPr>
            <p:spPr bwMode="auto">
              <a:xfrm>
                <a:off x="1215" y="1427"/>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14</a:t>
                </a:r>
                <a:endParaRPr lang="en-US" altLang="zh-CN"/>
              </a:p>
            </p:txBody>
          </p:sp>
          <p:sp>
            <p:nvSpPr>
              <p:cNvPr id="96434" name="Rectangle 266"/>
              <p:cNvSpPr>
                <a:spLocks noChangeArrowheads="1"/>
              </p:cNvSpPr>
              <p:nvPr/>
            </p:nvSpPr>
            <p:spPr bwMode="auto">
              <a:xfrm>
                <a:off x="1120"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06" name="Group 271"/>
            <p:cNvGrpSpPr>
              <a:grpSpLocks/>
            </p:cNvGrpSpPr>
            <p:nvPr/>
          </p:nvGrpSpPr>
          <p:grpSpPr bwMode="auto">
            <a:xfrm>
              <a:off x="902" y="1324"/>
              <a:ext cx="195" cy="223"/>
              <a:chOff x="902" y="1324"/>
              <a:chExt cx="195" cy="223"/>
            </a:xfrm>
          </p:grpSpPr>
          <p:sp>
            <p:nvSpPr>
              <p:cNvPr id="96429" name="Line 268"/>
              <p:cNvSpPr>
                <a:spLocks noChangeShapeType="1"/>
              </p:cNvSpPr>
              <p:nvPr/>
            </p:nvSpPr>
            <p:spPr bwMode="auto">
              <a:xfrm>
                <a:off x="902" y="1324"/>
                <a:ext cx="11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30" name="Rectangle 269"/>
              <p:cNvSpPr>
                <a:spLocks noChangeArrowheads="1"/>
              </p:cNvSpPr>
              <p:nvPr/>
            </p:nvSpPr>
            <p:spPr bwMode="auto">
              <a:xfrm>
                <a:off x="993" y="1422"/>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15</a:t>
                </a:r>
                <a:endParaRPr lang="en-US" altLang="zh-CN"/>
              </a:p>
            </p:txBody>
          </p:sp>
          <p:sp>
            <p:nvSpPr>
              <p:cNvPr id="96431" name="Rectangle 270"/>
              <p:cNvSpPr>
                <a:spLocks noChangeArrowheads="1"/>
              </p:cNvSpPr>
              <p:nvPr/>
            </p:nvSpPr>
            <p:spPr bwMode="auto">
              <a:xfrm>
                <a:off x="902"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6307" name="Rectangle 272"/>
            <p:cNvSpPr>
              <a:spLocks noChangeArrowheads="1"/>
            </p:cNvSpPr>
            <p:nvPr/>
          </p:nvSpPr>
          <p:spPr bwMode="auto">
            <a:xfrm>
              <a:off x="1246" y="293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0</a:t>
              </a:r>
              <a:endParaRPr lang="en-US" altLang="zh-CN"/>
            </a:p>
          </p:txBody>
        </p:sp>
        <p:sp>
          <p:nvSpPr>
            <p:cNvPr id="96308" name="Rectangle 273"/>
            <p:cNvSpPr>
              <a:spLocks noChangeArrowheads="1"/>
            </p:cNvSpPr>
            <p:nvPr/>
          </p:nvSpPr>
          <p:spPr bwMode="auto">
            <a:xfrm>
              <a:off x="3150" y="1787"/>
              <a:ext cx="2034" cy="911"/>
            </a:xfrm>
            <a:prstGeom prst="rect">
              <a:avLst/>
            </a:prstGeom>
            <a:solidFill>
              <a:srgbClr val="FFFFFF"/>
            </a:solidFill>
            <a:ln w="19050">
              <a:solidFill>
                <a:srgbClr val="000000"/>
              </a:solidFill>
              <a:miter lim="800000"/>
              <a:headEnd/>
              <a:tailEnd/>
            </a:ln>
          </p:spPr>
          <p:txBody>
            <a:bodyPr/>
            <a:lstStyle/>
            <a:p>
              <a:endParaRPr lang="zh-CN" altLang="en-US"/>
            </a:p>
          </p:txBody>
        </p:sp>
        <p:sp>
          <p:nvSpPr>
            <p:cNvPr id="96309" name="Rectangle 274"/>
            <p:cNvSpPr>
              <a:spLocks noChangeArrowheads="1"/>
            </p:cNvSpPr>
            <p:nvPr/>
          </p:nvSpPr>
          <p:spPr bwMode="auto">
            <a:xfrm>
              <a:off x="3904" y="2147"/>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74138</a:t>
              </a:r>
              <a:endParaRPr lang="en-US" altLang="zh-CN"/>
            </a:p>
          </p:txBody>
        </p:sp>
        <p:sp>
          <p:nvSpPr>
            <p:cNvPr id="96310" name="Rectangle 275"/>
            <p:cNvSpPr>
              <a:spLocks noChangeArrowheads="1"/>
            </p:cNvSpPr>
            <p:nvPr/>
          </p:nvSpPr>
          <p:spPr bwMode="auto">
            <a:xfrm>
              <a:off x="4375" y="215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宋体" pitchFamily="2" charset="-122"/>
                </a:rPr>
                <a:t>-</a:t>
              </a:r>
              <a:endParaRPr lang="en-US" altLang="zh-CN"/>
            </a:p>
          </p:txBody>
        </p:sp>
        <p:sp>
          <p:nvSpPr>
            <p:cNvPr id="96311" name="Rectangle 276"/>
            <p:cNvSpPr>
              <a:spLocks noChangeArrowheads="1"/>
            </p:cNvSpPr>
            <p:nvPr/>
          </p:nvSpPr>
          <p:spPr bwMode="auto">
            <a:xfrm>
              <a:off x="4465" y="214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sp>
          <p:nvSpPr>
            <p:cNvPr id="96312" name="Line 277"/>
            <p:cNvSpPr>
              <a:spLocks noChangeShapeType="1"/>
            </p:cNvSpPr>
            <p:nvPr/>
          </p:nvSpPr>
          <p:spPr bwMode="auto">
            <a:xfrm flipV="1">
              <a:off x="3377" y="2698"/>
              <a:ext cx="1" cy="21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3" name="Line 278"/>
            <p:cNvSpPr>
              <a:spLocks noChangeShapeType="1"/>
            </p:cNvSpPr>
            <p:nvPr/>
          </p:nvSpPr>
          <p:spPr bwMode="auto">
            <a:xfrm flipV="1">
              <a:off x="3652" y="2698"/>
              <a:ext cx="1" cy="50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4" name="Line 279"/>
            <p:cNvSpPr>
              <a:spLocks noChangeShapeType="1"/>
            </p:cNvSpPr>
            <p:nvPr/>
          </p:nvSpPr>
          <p:spPr bwMode="auto">
            <a:xfrm flipV="1">
              <a:off x="3940" y="2698"/>
              <a:ext cx="1" cy="10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5" name="Line 280"/>
            <p:cNvSpPr>
              <a:spLocks noChangeShapeType="1"/>
            </p:cNvSpPr>
            <p:nvPr/>
          </p:nvSpPr>
          <p:spPr bwMode="auto">
            <a:xfrm flipV="1">
              <a:off x="4394" y="2698"/>
              <a:ext cx="1" cy="5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6" name="Line 281"/>
            <p:cNvSpPr>
              <a:spLocks noChangeShapeType="1"/>
            </p:cNvSpPr>
            <p:nvPr/>
          </p:nvSpPr>
          <p:spPr bwMode="auto">
            <a:xfrm flipV="1">
              <a:off x="4670" y="2698"/>
              <a:ext cx="1" cy="6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7" name="Line 282"/>
            <p:cNvSpPr>
              <a:spLocks noChangeShapeType="1"/>
            </p:cNvSpPr>
            <p:nvPr/>
          </p:nvSpPr>
          <p:spPr bwMode="auto">
            <a:xfrm flipV="1">
              <a:off x="4957" y="2698"/>
              <a:ext cx="1" cy="6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8" name="Line 283"/>
            <p:cNvSpPr>
              <a:spLocks noChangeShapeType="1"/>
            </p:cNvSpPr>
            <p:nvPr/>
          </p:nvSpPr>
          <p:spPr bwMode="auto">
            <a:xfrm>
              <a:off x="3377"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9" name="Line 284"/>
            <p:cNvSpPr>
              <a:spLocks noChangeShapeType="1"/>
            </p:cNvSpPr>
            <p:nvPr/>
          </p:nvSpPr>
          <p:spPr bwMode="auto">
            <a:xfrm>
              <a:off x="3604"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0" name="Line 285"/>
            <p:cNvSpPr>
              <a:spLocks noChangeShapeType="1"/>
            </p:cNvSpPr>
            <p:nvPr/>
          </p:nvSpPr>
          <p:spPr bwMode="auto">
            <a:xfrm>
              <a:off x="3820"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1" name="Line 286"/>
            <p:cNvSpPr>
              <a:spLocks noChangeShapeType="1"/>
            </p:cNvSpPr>
            <p:nvPr/>
          </p:nvSpPr>
          <p:spPr bwMode="auto">
            <a:xfrm>
              <a:off x="4047"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2" name="Line 287"/>
            <p:cNvSpPr>
              <a:spLocks noChangeShapeType="1"/>
            </p:cNvSpPr>
            <p:nvPr/>
          </p:nvSpPr>
          <p:spPr bwMode="auto">
            <a:xfrm>
              <a:off x="4275"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3" name="Line 288"/>
            <p:cNvSpPr>
              <a:spLocks noChangeShapeType="1"/>
            </p:cNvSpPr>
            <p:nvPr/>
          </p:nvSpPr>
          <p:spPr bwMode="auto">
            <a:xfrm>
              <a:off x="4502"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4" name="Line 289"/>
            <p:cNvSpPr>
              <a:spLocks noChangeShapeType="1"/>
            </p:cNvSpPr>
            <p:nvPr/>
          </p:nvSpPr>
          <p:spPr bwMode="auto">
            <a:xfrm>
              <a:off x="4730"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5" name="Line 290"/>
            <p:cNvSpPr>
              <a:spLocks noChangeShapeType="1"/>
            </p:cNvSpPr>
            <p:nvPr/>
          </p:nvSpPr>
          <p:spPr bwMode="auto">
            <a:xfrm>
              <a:off x="4957" y="1560"/>
              <a:ext cx="1" cy="2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26" name="Group 294"/>
            <p:cNvGrpSpPr>
              <a:grpSpLocks/>
            </p:cNvGrpSpPr>
            <p:nvPr/>
          </p:nvGrpSpPr>
          <p:grpSpPr bwMode="auto">
            <a:xfrm>
              <a:off x="4877" y="1840"/>
              <a:ext cx="154" cy="223"/>
              <a:chOff x="4877" y="1840"/>
              <a:chExt cx="154" cy="223"/>
            </a:xfrm>
          </p:grpSpPr>
          <p:sp>
            <p:nvSpPr>
              <p:cNvPr id="96426" name="Line 291"/>
              <p:cNvSpPr>
                <a:spLocks noChangeShapeType="1"/>
              </p:cNvSpPr>
              <p:nvPr/>
            </p:nvSpPr>
            <p:spPr bwMode="auto">
              <a:xfrm>
                <a:off x="4877"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7" name="Rectangle 292"/>
              <p:cNvSpPr>
                <a:spLocks noChangeArrowheads="1"/>
              </p:cNvSpPr>
              <p:nvPr/>
            </p:nvSpPr>
            <p:spPr bwMode="auto">
              <a:xfrm>
                <a:off x="4979"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0</a:t>
                </a:r>
                <a:endParaRPr lang="en-US" altLang="zh-CN"/>
              </a:p>
            </p:txBody>
          </p:sp>
          <p:sp>
            <p:nvSpPr>
              <p:cNvPr id="96428" name="Rectangle 293"/>
              <p:cNvSpPr>
                <a:spLocks noChangeArrowheads="1"/>
              </p:cNvSpPr>
              <p:nvPr/>
            </p:nvSpPr>
            <p:spPr bwMode="auto">
              <a:xfrm>
                <a:off x="4877"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27" name="Group 298"/>
            <p:cNvGrpSpPr>
              <a:grpSpLocks/>
            </p:cNvGrpSpPr>
            <p:nvPr/>
          </p:nvGrpSpPr>
          <p:grpSpPr bwMode="auto">
            <a:xfrm>
              <a:off x="4661" y="1839"/>
              <a:ext cx="139" cy="213"/>
              <a:chOff x="4661" y="1839"/>
              <a:chExt cx="139" cy="213"/>
            </a:xfrm>
          </p:grpSpPr>
          <p:sp>
            <p:nvSpPr>
              <p:cNvPr id="96423" name="Line 295"/>
              <p:cNvSpPr>
                <a:spLocks noChangeShapeType="1"/>
              </p:cNvSpPr>
              <p:nvPr/>
            </p:nvSpPr>
            <p:spPr bwMode="auto">
              <a:xfrm>
                <a:off x="4661" y="1839"/>
                <a:ext cx="11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4" name="Rectangle 296"/>
              <p:cNvSpPr>
                <a:spLocks noChangeArrowheads="1"/>
              </p:cNvSpPr>
              <p:nvPr/>
            </p:nvSpPr>
            <p:spPr bwMode="auto">
              <a:xfrm>
                <a:off x="4752"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1</a:t>
                </a:r>
                <a:endParaRPr lang="en-US" altLang="zh-CN"/>
              </a:p>
            </p:txBody>
          </p:sp>
          <p:sp>
            <p:nvSpPr>
              <p:cNvPr id="96425" name="Rectangle 297"/>
              <p:cNvSpPr>
                <a:spLocks noChangeArrowheads="1"/>
              </p:cNvSpPr>
              <p:nvPr/>
            </p:nvSpPr>
            <p:spPr bwMode="auto">
              <a:xfrm>
                <a:off x="4661"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28" name="Group 302"/>
            <p:cNvGrpSpPr>
              <a:grpSpLocks/>
            </p:cNvGrpSpPr>
            <p:nvPr/>
          </p:nvGrpSpPr>
          <p:grpSpPr bwMode="auto">
            <a:xfrm>
              <a:off x="4423" y="1839"/>
              <a:ext cx="151" cy="213"/>
              <a:chOff x="4423" y="1839"/>
              <a:chExt cx="151" cy="213"/>
            </a:xfrm>
          </p:grpSpPr>
          <p:sp>
            <p:nvSpPr>
              <p:cNvPr id="96420" name="Line 299"/>
              <p:cNvSpPr>
                <a:spLocks noChangeShapeType="1"/>
              </p:cNvSpPr>
              <p:nvPr/>
            </p:nvSpPr>
            <p:spPr bwMode="auto">
              <a:xfrm>
                <a:off x="4423" y="1839"/>
                <a:ext cx="11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21" name="Rectangle 300"/>
              <p:cNvSpPr>
                <a:spLocks noChangeArrowheads="1"/>
              </p:cNvSpPr>
              <p:nvPr/>
            </p:nvSpPr>
            <p:spPr bwMode="auto">
              <a:xfrm>
                <a:off x="4526"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2</a:t>
                </a:r>
                <a:endParaRPr lang="en-US" altLang="zh-CN"/>
              </a:p>
            </p:txBody>
          </p:sp>
          <p:sp>
            <p:nvSpPr>
              <p:cNvPr id="96422" name="Rectangle 301"/>
              <p:cNvSpPr>
                <a:spLocks noChangeArrowheads="1"/>
              </p:cNvSpPr>
              <p:nvPr/>
            </p:nvSpPr>
            <p:spPr bwMode="auto">
              <a:xfrm>
                <a:off x="4423"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29" name="Group 306"/>
            <p:cNvGrpSpPr>
              <a:grpSpLocks/>
            </p:cNvGrpSpPr>
            <p:nvPr/>
          </p:nvGrpSpPr>
          <p:grpSpPr bwMode="auto">
            <a:xfrm>
              <a:off x="4195" y="1840"/>
              <a:ext cx="153" cy="223"/>
              <a:chOff x="4195" y="1840"/>
              <a:chExt cx="153" cy="223"/>
            </a:xfrm>
          </p:grpSpPr>
          <p:sp>
            <p:nvSpPr>
              <p:cNvPr id="96417" name="Line 303"/>
              <p:cNvSpPr>
                <a:spLocks noChangeShapeType="1"/>
              </p:cNvSpPr>
              <p:nvPr/>
            </p:nvSpPr>
            <p:spPr bwMode="auto">
              <a:xfrm>
                <a:off x="4195"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8" name="Rectangle 304"/>
              <p:cNvSpPr>
                <a:spLocks noChangeArrowheads="1"/>
              </p:cNvSpPr>
              <p:nvPr/>
            </p:nvSpPr>
            <p:spPr bwMode="auto">
              <a:xfrm>
                <a:off x="4296"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6419" name="Rectangle 305"/>
              <p:cNvSpPr>
                <a:spLocks noChangeArrowheads="1"/>
              </p:cNvSpPr>
              <p:nvPr/>
            </p:nvSpPr>
            <p:spPr bwMode="auto">
              <a:xfrm>
                <a:off x="4195"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30" name="Group 310"/>
            <p:cNvGrpSpPr>
              <a:grpSpLocks/>
            </p:cNvGrpSpPr>
            <p:nvPr/>
          </p:nvGrpSpPr>
          <p:grpSpPr bwMode="auto">
            <a:xfrm>
              <a:off x="3979" y="1839"/>
              <a:ext cx="152" cy="213"/>
              <a:chOff x="3979" y="1839"/>
              <a:chExt cx="152" cy="213"/>
            </a:xfrm>
          </p:grpSpPr>
          <p:sp>
            <p:nvSpPr>
              <p:cNvPr id="96414" name="Line 307"/>
              <p:cNvSpPr>
                <a:spLocks noChangeShapeType="1"/>
              </p:cNvSpPr>
              <p:nvPr/>
            </p:nvSpPr>
            <p:spPr bwMode="auto">
              <a:xfrm>
                <a:off x="3979" y="1839"/>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5" name="Rectangle 308"/>
              <p:cNvSpPr>
                <a:spLocks noChangeArrowheads="1"/>
              </p:cNvSpPr>
              <p:nvPr/>
            </p:nvSpPr>
            <p:spPr bwMode="auto">
              <a:xfrm>
                <a:off x="4083" y="193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4</a:t>
                </a:r>
                <a:endParaRPr lang="en-US" altLang="zh-CN"/>
              </a:p>
            </p:txBody>
          </p:sp>
          <p:sp>
            <p:nvSpPr>
              <p:cNvPr id="96416" name="Rectangle 309"/>
              <p:cNvSpPr>
                <a:spLocks noChangeArrowheads="1"/>
              </p:cNvSpPr>
              <p:nvPr/>
            </p:nvSpPr>
            <p:spPr bwMode="auto">
              <a:xfrm>
                <a:off x="3979"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31" name="Group 314"/>
            <p:cNvGrpSpPr>
              <a:grpSpLocks/>
            </p:cNvGrpSpPr>
            <p:nvPr/>
          </p:nvGrpSpPr>
          <p:grpSpPr bwMode="auto">
            <a:xfrm>
              <a:off x="3740" y="1840"/>
              <a:ext cx="152" cy="223"/>
              <a:chOff x="3740" y="1840"/>
              <a:chExt cx="152" cy="223"/>
            </a:xfrm>
          </p:grpSpPr>
          <p:sp>
            <p:nvSpPr>
              <p:cNvPr id="96411" name="Line 311"/>
              <p:cNvSpPr>
                <a:spLocks noChangeShapeType="1"/>
              </p:cNvSpPr>
              <p:nvPr/>
            </p:nvSpPr>
            <p:spPr bwMode="auto">
              <a:xfrm>
                <a:off x="3740"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12" name="Rectangle 312"/>
              <p:cNvSpPr>
                <a:spLocks noChangeArrowheads="1"/>
              </p:cNvSpPr>
              <p:nvPr/>
            </p:nvSpPr>
            <p:spPr bwMode="auto">
              <a:xfrm>
                <a:off x="3840"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5</a:t>
                </a:r>
                <a:endParaRPr lang="en-US" altLang="zh-CN"/>
              </a:p>
            </p:txBody>
          </p:sp>
          <p:sp>
            <p:nvSpPr>
              <p:cNvPr id="96413" name="Rectangle 313"/>
              <p:cNvSpPr>
                <a:spLocks noChangeArrowheads="1"/>
              </p:cNvSpPr>
              <p:nvPr/>
            </p:nvSpPr>
            <p:spPr bwMode="auto">
              <a:xfrm>
                <a:off x="3740"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32" name="Group 318"/>
            <p:cNvGrpSpPr>
              <a:grpSpLocks/>
            </p:cNvGrpSpPr>
            <p:nvPr/>
          </p:nvGrpSpPr>
          <p:grpSpPr bwMode="auto">
            <a:xfrm>
              <a:off x="3525" y="1840"/>
              <a:ext cx="154" cy="223"/>
              <a:chOff x="3525" y="1840"/>
              <a:chExt cx="154" cy="223"/>
            </a:xfrm>
          </p:grpSpPr>
          <p:sp>
            <p:nvSpPr>
              <p:cNvPr id="96408" name="Line 315"/>
              <p:cNvSpPr>
                <a:spLocks noChangeShapeType="1"/>
              </p:cNvSpPr>
              <p:nvPr/>
            </p:nvSpPr>
            <p:spPr bwMode="auto">
              <a:xfrm>
                <a:off x="3525"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9" name="Rectangle 316"/>
              <p:cNvSpPr>
                <a:spLocks noChangeArrowheads="1"/>
              </p:cNvSpPr>
              <p:nvPr/>
            </p:nvSpPr>
            <p:spPr bwMode="auto">
              <a:xfrm>
                <a:off x="3627"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6</a:t>
                </a:r>
                <a:endParaRPr lang="en-US" altLang="zh-CN"/>
              </a:p>
            </p:txBody>
          </p:sp>
          <p:sp>
            <p:nvSpPr>
              <p:cNvPr id="96410" name="Rectangle 317"/>
              <p:cNvSpPr>
                <a:spLocks noChangeArrowheads="1"/>
              </p:cNvSpPr>
              <p:nvPr/>
            </p:nvSpPr>
            <p:spPr bwMode="auto">
              <a:xfrm>
                <a:off x="3525"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33" name="Group 322"/>
            <p:cNvGrpSpPr>
              <a:grpSpLocks/>
            </p:cNvGrpSpPr>
            <p:nvPr/>
          </p:nvGrpSpPr>
          <p:grpSpPr bwMode="auto">
            <a:xfrm>
              <a:off x="3297" y="1840"/>
              <a:ext cx="154" cy="223"/>
              <a:chOff x="3297" y="1840"/>
              <a:chExt cx="154" cy="223"/>
            </a:xfrm>
          </p:grpSpPr>
          <p:sp>
            <p:nvSpPr>
              <p:cNvPr id="96405" name="Line 319"/>
              <p:cNvSpPr>
                <a:spLocks noChangeShapeType="1"/>
              </p:cNvSpPr>
              <p:nvPr/>
            </p:nvSpPr>
            <p:spPr bwMode="auto">
              <a:xfrm>
                <a:off x="3297" y="1840"/>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6" name="Rectangle 320"/>
              <p:cNvSpPr>
                <a:spLocks noChangeArrowheads="1"/>
              </p:cNvSpPr>
              <p:nvPr/>
            </p:nvSpPr>
            <p:spPr bwMode="auto">
              <a:xfrm>
                <a:off x="3399" y="193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7</a:t>
                </a:r>
                <a:endParaRPr lang="en-US" altLang="zh-CN"/>
              </a:p>
            </p:txBody>
          </p:sp>
          <p:sp>
            <p:nvSpPr>
              <p:cNvPr id="96407" name="Rectangle 321"/>
              <p:cNvSpPr>
                <a:spLocks noChangeArrowheads="1"/>
              </p:cNvSpPr>
              <p:nvPr/>
            </p:nvSpPr>
            <p:spPr bwMode="auto">
              <a:xfrm>
                <a:off x="3297" y="184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6334" name="Rectangle 323"/>
            <p:cNvSpPr>
              <a:spLocks noChangeArrowheads="1"/>
            </p:cNvSpPr>
            <p:nvPr/>
          </p:nvSpPr>
          <p:spPr bwMode="auto">
            <a:xfrm>
              <a:off x="4311"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35" name="Rectangle 324"/>
            <p:cNvSpPr>
              <a:spLocks noChangeArrowheads="1"/>
            </p:cNvSpPr>
            <p:nvPr/>
          </p:nvSpPr>
          <p:spPr bwMode="auto">
            <a:xfrm>
              <a:off x="4430"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96336" name="Rectangle 325"/>
            <p:cNvSpPr>
              <a:spLocks noChangeArrowheads="1"/>
            </p:cNvSpPr>
            <p:nvPr/>
          </p:nvSpPr>
          <p:spPr bwMode="auto">
            <a:xfrm>
              <a:off x="4598"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37" name="Rectangle 326"/>
            <p:cNvSpPr>
              <a:spLocks noChangeArrowheads="1"/>
            </p:cNvSpPr>
            <p:nvPr/>
          </p:nvSpPr>
          <p:spPr bwMode="auto">
            <a:xfrm>
              <a:off x="4718"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96338" name="Rectangle 327"/>
            <p:cNvSpPr>
              <a:spLocks noChangeArrowheads="1"/>
            </p:cNvSpPr>
            <p:nvPr/>
          </p:nvSpPr>
          <p:spPr bwMode="auto">
            <a:xfrm>
              <a:off x="4885" y="245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39" name="Rectangle 328"/>
            <p:cNvSpPr>
              <a:spLocks noChangeArrowheads="1"/>
            </p:cNvSpPr>
            <p:nvPr/>
          </p:nvSpPr>
          <p:spPr bwMode="auto">
            <a:xfrm>
              <a:off x="5005" y="253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96340" name="Rectangle 329"/>
            <p:cNvSpPr>
              <a:spLocks noChangeArrowheads="1"/>
            </p:cNvSpPr>
            <p:nvPr/>
          </p:nvSpPr>
          <p:spPr bwMode="auto">
            <a:xfrm>
              <a:off x="3293" y="245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S</a:t>
              </a:r>
              <a:endParaRPr lang="en-US" altLang="zh-CN"/>
            </a:p>
          </p:txBody>
        </p:sp>
        <p:sp>
          <p:nvSpPr>
            <p:cNvPr id="96341" name="Rectangle 330"/>
            <p:cNvSpPr>
              <a:spLocks noChangeArrowheads="1"/>
            </p:cNvSpPr>
            <p:nvPr/>
          </p:nvSpPr>
          <p:spPr bwMode="auto">
            <a:xfrm>
              <a:off x="3377" y="2530"/>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grpSp>
          <p:nvGrpSpPr>
            <p:cNvPr id="96342" name="Group 334"/>
            <p:cNvGrpSpPr>
              <a:grpSpLocks/>
            </p:cNvGrpSpPr>
            <p:nvPr/>
          </p:nvGrpSpPr>
          <p:grpSpPr bwMode="auto">
            <a:xfrm>
              <a:off x="3572" y="2462"/>
              <a:ext cx="134" cy="230"/>
              <a:chOff x="3572" y="2462"/>
              <a:chExt cx="134" cy="230"/>
            </a:xfrm>
          </p:grpSpPr>
          <p:sp>
            <p:nvSpPr>
              <p:cNvPr id="96402" name="Line 331"/>
              <p:cNvSpPr>
                <a:spLocks noChangeShapeType="1"/>
              </p:cNvSpPr>
              <p:nvPr/>
            </p:nvSpPr>
            <p:spPr bwMode="auto">
              <a:xfrm>
                <a:off x="3572" y="2462"/>
                <a:ext cx="9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3" name="Rectangle 332"/>
              <p:cNvSpPr>
                <a:spLocks noChangeArrowheads="1"/>
              </p:cNvSpPr>
              <p:nvPr/>
            </p:nvSpPr>
            <p:spPr bwMode="auto">
              <a:xfrm>
                <a:off x="3653" y="2566"/>
                <a:ext cx="53"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2</a:t>
                </a:r>
                <a:endParaRPr lang="en-US" altLang="zh-CN"/>
              </a:p>
            </p:txBody>
          </p:sp>
          <p:sp>
            <p:nvSpPr>
              <p:cNvPr id="96404" name="Rectangle 333"/>
              <p:cNvSpPr>
                <a:spLocks noChangeArrowheads="1"/>
              </p:cNvSpPr>
              <p:nvPr/>
            </p:nvSpPr>
            <p:spPr bwMode="auto">
              <a:xfrm>
                <a:off x="3574" y="2470"/>
                <a:ext cx="9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S</a:t>
                </a:r>
                <a:endParaRPr lang="en-US" altLang="zh-CN"/>
              </a:p>
            </p:txBody>
          </p:sp>
        </p:grpSp>
        <p:grpSp>
          <p:nvGrpSpPr>
            <p:cNvPr id="96343" name="Group 338"/>
            <p:cNvGrpSpPr>
              <a:grpSpLocks/>
            </p:cNvGrpSpPr>
            <p:nvPr/>
          </p:nvGrpSpPr>
          <p:grpSpPr bwMode="auto">
            <a:xfrm>
              <a:off x="3860" y="2460"/>
              <a:ext cx="132" cy="227"/>
              <a:chOff x="3860" y="2460"/>
              <a:chExt cx="132" cy="227"/>
            </a:xfrm>
          </p:grpSpPr>
          <p:sp>
            <p:nvSpPr>
              <p:cNvPr id="96399" name="Line 335"/>
              <p:cNvSpPr>
                <a:spLocks noChangeShapeType="1"/>
              </p:cNvSpPr>
              <p:nvPr/>
            </p:nvSpPr>
            <p:spPr bwMode="auto">
              <a:xfrm>
                <a:off x="3860" y="2460"/>
                <a:ext cx="9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400" name="Rectangle 336"/>
              <p:cNvSpPr>
                <a:spLocks noChangeArrowheads="1"/>
              </p:cNvSpPr>
              <p:nvPr/>
            </p:nvSpPr>
            <p:spPr bwMode="auto">
              <a:xfrm>
                <a:off x="3939" y="2561"/>
                <a:ext cx="53"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6401" name="Rectangle 337"/>
              <p:cNvSpPr>
                <a:spLocks noChangeArrowheads="1"/>
              </p:cNvSpPr>
              <p:nvPr/>
            </p:nvSpPr>
            <p:spPr bwMode="auto">
              <a:xfrm>
                <a:off x="3861" y="246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S</a:t>
                </a:r>
                <a:endParaRPr lang="en-US" altLang="zh-CN"/>
              </a:p>
            </p:txBody>
          </p:sp>
        </p:grpSp>
        <p:sp>
          <p:nvSpPr>
            <p:cNvPr id="96344" name="Rectangle 339"/>
            <p:cNvSpPr>
              <a:spLocks noChangeArrowheads="1"/>
            </p:cNvSpPr>
            <p:nvPr/>
          </p:nvSpPr>
          <p:spPr bwMode="auto">
            <a:xfrm>
              <a:off x="3341" y="293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1</a:t>
              </a:r>
              <a:endParaRPr lang="en-US" altLang="zh-CN"/>
            </a:p>
          </p:txBody>
        </p:sp>
        <p:grpSp>
          <p:nvGrpSpPr>
            <p:cNvPr id="96345" name="Group 343"/>
            <p:cNvGrpSpPr>
              <a:grpSpLocks/>
            </p:cNvGrpSpPr>
            <p:nvPr/>
          </p:nvGrpSpPr>
          <p:grpSpPr bwMode="auto">
            <a:xfrm>
              <a:off x="4877" y="1337"/>
              <a:ext cx="154" cy="223"/>
              <a:chOff x="4877" y="1337"/>
              <a:chExt cx="154" cy="223"/>
            </a:xfrm>
          </p:grpSpPr>
          <p:sp>
            <p:nvSpPr>
              <p:cNvPr id="96396" name="Line 340"/>
              <p:cNvSpPr>
                <a:spLocks noChangeShapeType="1"/>
              </p:cNvSpPr>
              <p:nvPr/>
            </p:nvSpPr>
            <p:spPr bwMode="auto">
              <a:xfrm>
                <a:off x="4877" y="133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7" name="Rectangle 341"/>
              <p:cNvSpPr>
                <a:spLocks noChangeArrowheads="1"/>
              </p:cNvSpPr>
              <p:nvPr/>
            </p:nvSpPr>
            <p:spPr bwMode="auto">
              <a:xfrm>
                <a:off x="4979" y="143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0</a:t>
                </a:r>
                <a:endParaRPr lang="en-US" altLang="zh-CN"/>
              </a:p>
            </p:txBody>
          </p:sp>
          <p:sp>
            <p:nvSpPr>
              <p:cNvPr id="96398" name="Rectangle 342"/>
              <p:cNvSpPr>
                <a:spLocks noChangeArrowheads="1"/>
              </p:cNvSpPr>
              <p:nvPr/>
            </p:nvSpPr>
            <p:spPr bwMode="auto">
              <a:xfrm>
                <a:off x="4877" y="1342"/>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46" name="Group 347"/>
            <p:cNvGrpSpPr>
              <a:grpSpLocks/>
            </p:cNvGrpSpPr>
            <p:nvPr/>
          </p:nvGrpSpPr>
          <p:grpSpPr bwMode="auto">
            <a:xfrm>
              <a:off x="4661" y="1326"/>
              <a:ext cx="143" cy="226"/>
              <a:chOff x="4661" y="1326"/>
              <a:chExt cx="143" cy="226"/>
            </a:xfrm>
          </p:grpSpPr>
          <p:sp>
            <p:nvSpPr>
              <p:cNvPr id="96393" name="Line 344"/>
              <p:cNvSpPr>
                <a:spLocks noChangeShapeType="1"/>
              </p:cNvSpPr>
              <p:nvPr/>
            </p:nvSpPr>
            <p:spPr bwMode="auto">
              <a:xfrm>
                <a:off x="4661" y="1326"/>
                <a:ext cx="11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4" name="Rectangle 345"/>
              <p:cNvSpPr>
                <a:spLocks noChangeArrowheads="1"/>
              </p:cNvSpPr>
              <p:nvPr/>
            </p:nvSpPr>
            <p:spPr bwMode="auto">
              <a:xfrm>
                <a:off x="4752" y="142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1</a:t>
                </a:r>
                <a:endParaRPr lang="en-US" altLang="zh-CN"/>
              </a:p>
            </p:txBody>
          </p:sp>
          <p:sp>
            <p:nvSpPr>
              <p:cNvPr id="96395" name="Rectangle 346"/>
              <p:cNvSpPr>
                <a:spLocks noChangeArrowheads="1"/>
              </p:cNvSpPr>
              <p:nvPr/>
            </p:nvSpPr>
            <p:spPr bwMode="auto">
              <a:xfrm>
                <a:off x="4661"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47" name="Group 351"/>
            <p:cNvGrpSpPr>
              <a:grpSpLocks/>
            </p:cNvGrpSpPr>
            <p:nvPr/>
          </p:nvGrpSpPr>
          <p:grpSpPr bwMode="auto">
            <a:xfrm>
              <a:off x="4423" y="1326"/>
              <a:ext cx="155" cy="226"/>
              <a:chOff x="4423" y="1326"/>
              <a:chExt cx="155" cy="226"/>
            </a:xfrm>
          </p:grpSpPr>
          <p:sp>
            <p:nvSpPr>
              <p:cNvPr id="96390" name="Line 348"/>
              <p:cNvSpPr>
                <a:spLocks noChangeShapeType="1"/>
              </p:cNvSpPr>
              <p:nvPr/>
            </p:nvSpPr>
            <p:spPr bwMode="auto">
              <a:xfrm>
                <a:off x="4423" y="1326"/>
                <a:ext cx="11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91" name="Rectangle 349"/>
              <p:cNvSpPr>
                <a:spLocks noChangeArrowheads="1"/>
              </p:cNvSpPr>
              <p:nvPr/>
            </p:nvSpPr>
            <p:spPr bwMode="auto">
              <a:xfrm>
                <a:off x="4526" y="142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2</a:t>
                </a:r>
                <a:endParaRPr lang="en-US" altLang="zh-CN"/>
              </a:p>
            </p:txBody>
          </p:sp>
          <p:sp>
            <p:nvSpPr>
              <p:cNvPr id="96392" name="Rectangle 350"/>
              <p:cNvSpPr>
                <a:spLocks noChangeArrowheads="1"/>
              </p:cNvSpPr>
              <p:nvPr/>
            </p:nvSpPr>
            <p:spPr bwMode="auto">
              <a:xfrm>
                <a:off x="4423"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48" name="Group 355"/>
            <p:cNvGrpSpPr>
              <a:grpSpLocks/>
            </p:cNvGrpSpPr>
            <p:nvPr/>
          </p:nvGrpSpPr>
          <p:grpSpPr bwMode="auto">
            <a:xfrm>
              <a:off x="4195" y="1324"/>
              <a:ext cx="153" cy="223"/>
              <a:chOff x="4195" y="1324"/>
              <a:chExt cx="153" cy="223"/>
            </a:xfrm>
          </p:grpSpPr>
          <p:sp>
            <p:nvSpPr>
              <p:cNvPr id="96387" name="Line 352"/>
              <p:cNvSpPr>
                <a:spLocks noChangeShapeType="1"/>
              </p:cNvSpPr>
              <p:nvPr/>
            </p:nvSpPr>
            <p:spPr bwMode="auto">
              <a:xfrm>
                <a:off x="4195"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8" name="Rectangle 353"/>
              <p:cNvSpPr>
                <a:spLocks noChangeArrowheads="1"/>
              </p:cNvSpPr>
              <p:nvPr/>
            </p:nvSpPr>
            <p:spPr bwMode="auto">
              <a:xfrm>
                <a:off x="4296"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3</a:t>
                </a:r>
                <a:endParaRPr lang="en-US" altLang="zh-CN"/>
              </a:p>
            </p:txBody>
          </p:sp>
          <p:sp>
            <p:nvSpPr>
              <p:cNvPr id="96389" name="Rectangle 354"/>
              <p:cNvSpPr>
                <a:spLocks noChangeArrowheads="1"/>
              </p:cNvSpPr>
              <p:nvPr/>
            </p:nvSpPr>
            <p:spPr bwMode="auto">
              <a:xfrm>
                <a:off x="4195"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49" name="Group 359"/>
            <p:cNvGrpSpPr>
              <a:grpSpLocks/>
            </p:cNvGrpSpPr>
            <p:nvPr/>
          </p:nvGrpSpPr>
          <p:grpSpPr bwMode="auto">
            <a:xfrm>
              <a:off x="3979" y="1326"/>
              <a:ext cx="156" cy="226"/>
              <a:chOff x="3979" y="1326"/>
              <a:chExt cx="156" cy="226"/>
            </a:xfrm>
          </p:grpSpPr>
          <p:sp>
            <p:nvSpPr>
              <p:cNvPr id="96384" name="Line 356"/>
              <p:cNvSpPr>
                <a:spLocks noChangeShapeType="1"/>
              </p:cNvSpPr>
              <p:nvPr/>
            </p:nvSpPr>
            <p:spPr bwMode="auto">
              <a:xfrm>
                <a:off x="3979" y="1326"/>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5" name="Rectangle 357"/>
              <p:cNvSpPr>
                <a:spLocks noChangeArrowheads="1"/>
              </p:cNvSpPr>
              <p:nvPr/>
            </p:nvSpPr>
            <p:spPr bwMode="auto">
              <a:xfrm>
                <a:off x="4083" y="142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4</a:t>
                </a:r>
                <a:endParaRPr lang="en-US" altLang="zh-CN"/>
              </a:p>
            </p:txBody>
          </p:sp>
          <p:sp>
            <p:nvSpPr>
              <p:cNvPr id="96386" name="Rectangle 358"/>
              <p:cNvSpPr>
                <a:spLocks noChangeArrowheads="1"/>
              </p:cNvSpPr>
              <p:nvPr/>
            </p:nvSpPr>
            <p:spPr bwMode="auto">
              <a:xfrm>
                <a:off x="3979" y="1331"/>
                <a:ext cx="12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Y</a:t>
                </a:r>
                <a:endParaRPr lang="en-US" altLang="zh-CN"/>
              </a:p>
            </p:txBody>
          </p:sp>
        </p:grpSp>
        <p:grpSp>
          <p:nvGrpSpPr>
            <p:cNvPr id="96350" name="Group 363"/>
            <p:cNvGrpSpPr>
              <a:grpSpLocks/>
            </p:cNvGrpSpPr>
            <p:nvPr/>
          </p:nvGrpSpPr>
          <p:grpSpPr bwMode="auto">
            <a:xfrm>
              <a:off x="3740" y="1324"/>
              <a:ext cx="152" cy="223"/>
              <a:chOff x="3740" y="1324"/>
              <a:chExt cx="152" cy="223"/>
            </a:xfrm>
          </p:grpSpPr>
          <p:sp>
            <p:nvSpPr>
              <p:cNvPr id="96381" name="Line 360"/>
              <p:cNvSpPr>
                <a:spLocks noChangeShapeType="1"/>
              </p:cNvSpPr>
              <p:nvPr/>
            </p:nvSpPr>
            <p:spPr bwMode="auto">
              <a:xfrm>
                <a:off x="3740"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82" name="Rectangle 361"/>
              <p:cNvSpPr>
                <a:spLocks noChangeArrowheads="1"/>
              </p:cNvSpPr>
              <p:nvPr/>
            </p:nvSpPr>
            <p:spPr bwMode="auto">
              <a:xfrm>
                <a:off x="3840"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5</a:t>
                </a:r>
                <a:endParaRPr lang="en-US" altLang="zh-CN"/>
              </a:p>
            </p:txBody>
          </p:sp>
          <p:sp>
            <p:nvSpPr>
              <p:cNvPr id="96383" name="Rectangle 362"/>
              <p:cNvSpPr>
                <a:spLocks noChangeArrowheads="1"/>
              </p:cNvSpPr>
              <p:nvPr/>
            </p:nvSpPr>
            <p:spPr bwMode="auto">
              <a:xfrm>
                <a:off x="3740"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51" name="Group 367"/>
            <p:cNvGrpSpPr>
              <a:grpSpLocks/>
            </p:cNvGrpSpPr>
            <p:nvPr/>
          </p:nvGrpSpPr>
          <p:grpSpPr bwMode="auto">
            <a:xfrm>
              <a:off x="3525" y="1324"/>
              <a:ext cx="154" cy="223"/>
              <a:chOff x="3525" y="1324"/>
              <a:chExt cx="154" cy="223"/>
            </a:xfrm>
          </p:grpSpPr>
          <p:sp>
            <p:nvSpPr>
              <p:cNvPr id="96378" name="Line 364"/>
              <p:cNvSpPr>
                <a:spLocks noChangeShapeType="1"/>
              </p:cNvSpPr>
              <p:nvPr/>
            </p:nvSpPr>
            <p:spPr bwMode="auto">
              <a:xfrm>
                <a:off x="3525"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9" name="Rectangle 365"/>
              <p:cNvSpPr>
                <a:spLocks noChangeArrowheads="1"/>
              </p:cNvSpPr>
              <p:nvPr/>
            </p:nvSpPr>
            <p:spPr bwMode="auto">
              <a:xfrm>
                <a:off x="3627"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6</a:t>
                </a:r>
                <a:endParaRPr lang="en-US" altLang="zh-CN"/>
              </a:p>
            </p:txBody>
          </p:sp>
          <p:sp>
            <p:nvSpPr>
              <p:cNvPr id="96380" name="Rectangle 366"/>
              <p:cNvSpPr>
                <a:spLocks noChangeArrowheads="1"/>
              </p:cNvSpPr>
              <p:nvPr/>
            </p:nvSpPr>
            <p:spPr bwMode="auto">
              <a:xfrm>
                <a:off x="3525"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grpSp>
          <p:nvGrpSpPr>
            <p:cNvPr id="96352" name="Group 371"/>
            <p:cNvGrpSpPr>
              <a:grpSpLocks/>
            </p:cNvGrpSpPr>
            <p:nvPr/>
          </p:nvGrpSpPr>
          <p:grpSpPr bwMode="auto">
            <a:xfrm>
              <a:off x="3297" y="1324"/>
              <a:ext cx="154" cy="223"/>
              <a:chOff x="3297" y="1324"/>
              <a:chExt cx="154" cy="223"/>
            </a:xfrm>
          </p:grpSpPr>
          <p:sp>
            <p:nvSpPr>
              <p:cNvPr id="96375" name="Line 368"/>
              <p:cNvSpPr>
                <a:spLocks noChangeShapeType="1"/>
              </p:cNvSpPr>
              <p:nvPr/>
            </p:nvSpPr>
            <p:spPr bwMode="auto">
              <a:xfrm>
                <a:off x="3297" y="132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76" name="Rectangle 369"/>
              <p:cNvSpPr>
                <a:spLocks noChangeArrowheads="1"/>
              </p:cNvSpPr>
              <p:nvPr/>
            </p:nvSpPr>
            <p:spPr bwMode="auto">
              <a:xfrm>
                <a:off x="3399" y="142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rPr>
                  <a:t>7</a:t>
                </a:r>
                <a:endParaRPr lang="en-US" altLang="zh-CN"/>
              </a:p>
            </p:txBody>
          </p:sp>
          <p:sp>
            <p:nvSpPr>
              <p:cNvPr id="96377" name="Rectangle 370"/>
              <p:cNvSpPr>
                <a:spLocks noChangeArrowheads="1"/>
              </p:cNvSpPr>
              <p:nvPr/>
            </p:nvSpPr>
            <p:spPr bwMode="auto">
              <a:xfrm>
                <a:off x="3297" y="13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Y</a:t>
                </a:r>
                <a:endParaRPr lang="en-US" altLang="zh-CN"/>
              </a:p>
            </p:txBody>
          </p:sp>
        </p:grpSp>
        <p:sp>
          <p:nvSpPr>
            <p:cNvPr id="96353" name="Line 372"/>
            <p:cNvSpPr>
              <a:spLocks noChangeShapeType="1"/>
            </p:cNvSpPr>
            <p:nvPr/>
          </p:nvSpPr>
          <p:spPr bwMode="auto">
            <a:xfrm>
              <a:off x="1558" y="3142"/>
              <a:ext cx="238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4" name="Freeform 373"/>
            <p:cNvSpPr>
              <a:spLocks/>
            </p:cNvSpPr>
            <p:nvPr/>
          </p:nvSpPr>
          <p:spPr bwMode="auto">
            <a:xfrm>
              <a:off x="3916" y="3118"/>
              <a:ext cx="48" cy="48"/>
            </a:xfrm>
            <a:custGeom>
              <a:avLst/>
              <a:gdLst>
                <a:gd name="T0" fmla="*/ 0 w 48"/>
                <a:gd name="T1" fmla="*/ 24 h 48"/>
                <a:gd name="T2" fmla="*/ 12 w 48"/>
                <a:gd name="T3" fmla="*/ 0 h 48"/>
                <a:gd name="T4" fmla="*/ 36 w 48"/>
                <a:gd name="T5" fmla="*/ 0 h 48"/>
                <a:gd name="T6" fmla="*/ 48 w 48"/>
                <a:gd name="T7" fmla="*/ 24 h 48"/>
                <a:gd name="T8" fmla="*/ 36 w 48"/>
                <a:gd name="T9" fmla="*/ 48 h 48"/>
                <a:gd name="T10" fmla="*/ 12 w 48"/>
                <a:gd name="T11" fmla="*/ 48 h 48"/>
                <a:gd name="T12" fmla="*/ 0 w 48"/>
                <a:gd name="T13" fmla="*/ 24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4"/>
                  </a:moveTo>
                  <a:lnTo>
                    <a:pt x="12" y="0"/>
                  </a:lnTo>
                  <a:lnTo>
                    <a:pt x="36" y="0"/>
                  </a:lnTo>
                  <a:lnTo>
                    <a:pt x="48" y="24"/>
                  </a:lnTo>
                  <a:lnTo>
                    <a:pt x="36" y="48"/>
                  </a:lnTo>
                  <a:lnTo>
                    <a:pt x="12" y="48"/>
                  </a:lnTo>
                  <a:lnTo>
                    <a:pt x="0" y="24"/>
                  </a:lnTo>
                  <a:close/>
                </a:path>
              </a:pathLst>
            </a:custGeom>
            <a:solidFill>
              <a:srgbClr val="000000"/>
            </a:solidFill>
            <a:ln w="19050">
              <a:solidFill>
                <a:srgbClr val="000000"/>
              </a:solidFill>
              <a:round/>
              <a:headEnd/>
              <a:tailEnd/>
            </a:ln>
          </p:spPr>
          <p:txBody>
            <a:bodyPr/>
            <a:lstStyle/>
            <a:p>
              <a:endParaRPr lang="zh-CN" altLang="en-US"/>
            </a:p>
          </p:txBody>
        </p:sp>
        <p:sp>
          <p:nvSpPr>
            <p:cNvPr id="96355" name="Line 374"/>
            <p:cNvSpPr>
              <a:spLocks noChangeShapeType="1"/>
            </p:cNvSpPr>
            <p:nvPr/>
          </p:nvSpPr>
          <p:spPr bwMode="auto">
            <a:xfrm>
              <a:off x="995" y="3202"/>
              <a:ext cx="265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6" name="Freeform 375"/>
            <p:cNvSpPr>
              <a:spLocks/>
            </p:cNvSpPr>
            <p:nvPr/>
          </p:nvSpPr>
          <p:spPr bwMode="auto">
            <a:xfrm>
              <a:off x="971" y="3178"/>
              <a:ext cx="60" cy="48"/>
            </a:xfrm>
            <a:custGeom>
              <a:avLst/>
              <a:gdLst>
                <a:gd name="T0" fmla="*/ 0 w 60"/>
                <a:gd name="T1" fmla="*/ 24 h 48"/>
                <a:gd name="T2" fmla="*/ 12 w 60"/>
                <a:gd name="T3" fmla="*/ 0 h 48"/>
                <a:gd name="T4" fmla="*/ 36 w 60"/>
                <a:gd name="T5" fmla="*/ 0 h 48"/>
                <a:gd name="T6" fmla="*/ 60 w 60"/>
                <a:gd name="T7" fmla="*/ 24 h 48"/>
                <a:gd name="T8" fmla="*/ 36 w 60"/>
                <a:gd name="T9" fmla="*/ 48 h 48"/>
                <a:gd name="T10" fmla="*/ 12 w 60"/>
                <a:gd name="T11" fmla="*/ 48 h 48"/>
                <a:gd name="T12" fmla="*/ 0 w 60"/>
                <a:gd name="T13" fmla="*/ 24 h 48"/>
                <a:gd name="T14" fmla="*/ 0 60000 65536"/>
                <a:gd name="T15" fmla="*/ 0 60000 65536"/>
                <a:gd name="T16" fmla="*/ 0 60000 65536"/>
                <a:gd name="T17" fmla="*/ 0 60000 65536"/>
                <a:gd name="T18" fmla="*/ 0 60000 65536"/>
                <a:gd name="T19" fmla="*/ 0 60000 65536"/>
                <a:gd name="T20" fmla="*/ 0 60000 65536"/>
                <a:gd name="T21" fmla="*/ 0 w 60"/>
                <a:gd name="T22" fmla="*/ 0 h 48"/>
                <a:gd name="T23" fmla="*/ 60 w 60"/>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8">
                  <a:moveTo>
                    <a:pt x="0" y="24"/>
                  </a:moveTo>
                  <a:lnTo>
                    <a:pt x="12" y="0"/>
                  </a:lnTo>
                  <a:lnTo>
                    <a:pt x="36" y="0"/>
                  </a:lnTo>
                  <a:lnTo>
                    <a:pt x="60" y="24"/>
                  </a:lnTo>
                  <a:lnTo>
                    <a:pt x="36" y="48"/>
                  </a:lnTo>
                  <a:lnTo>
                    <a:pt x="12" y="48"/>
                  </a:lnTo>
                  <a:lnTo>
                    <a:pt x="0" y="24"/>
                  </a:lnTo>
                  <a:close/>
                </a:path>
              </a:pathLst>
            </a:custGeom>
            <a:solidFill>
              <a:srgbClr val="000000"/>
            </a:solidFill>
            <a:ln w="19050">
              <a:solidFill>
                <a:srgbClr val="000000"/>
              </a:solidFill>
              <a:round/>
              <a:headEnd/>
              <a:tailEnd/>
            </a:ln>
          </p:spPr>
          <p:txBody>
            <a:bodyPr/>
            <a:lstStyle/>
            <a:p>
              <a:endParaRPr lang="zh-CN" altLang="en-US"/>
            </a:p>
          </p:txBody>
        </p:sp>
        <p:sp>
          <p:nvSpPr>
            <p:cNvPr id="96357" name="Line 376"/>
            <p:cNvSpPr>
              <a:spLocks noChangeShapeType="1"/>
            </p:cNvSpPr>
            <p:nvPr/>
          </p:nvSpPr>
          <p:spPr bwMode="auto">
            <a:xfrm>
              <a:off x="1282" y="3262"/>
              <a:ext cx="311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8" name="Line 377"/>
            <p:cNvSpPr>
              <a:spLocks noChangeShapeType="1"/>
            </p:cNvSpPr>
            <p:nvPr/>
          </p:nvSpPr>
          <p:spPr bwMode="auto">
            <a:xfrm flipV="1">
              <a:off x="1282" y="3262"/>
              <a:ext cx="1" cy="45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59" name="Line 378"/>
            <p:cNvSpPr>
              <a:spLocks noChangeShapeType="1"/>
            </p:cNvSpPr>
            <p:nvPr/>
          </p:nvSpPr>
          <p:spPr bwMode="auto">
            <a:xfrm flipV="1">
              <a:off x="1558" y="3322"/>
              <a:ext cx="1" cy="39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0" name="Line 379"/>
            <p:cNvSpPr>
              <a:spLocks noChangeShapeType="1"/>
            </p:cNvSpPr>
            <p:nvPr/>
          </p:nvSpPr>
          <p:spPr bwMode="auto">
            <a:xfrm>
              <a:off x="1558" y="3322"/>
              <a:ext cx="311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1" name="Freeform 380"/>
            <p:cNvSpPr>
              <a:spLocks/>
            </p:cNvSpPr>
            <p:nvPr/>
          </p:nvSpPr>
          <p:spPr bwMode="auto">
            <a:xfrm>
              <a:off x="1988" y="3238"/>
              <a:ext cx="60" cy="48"/>
            </a:xfrm>
            <a:custGeom>
              <a:avLst/>
              <a:gdLst>
                <a:gd name="T0" fmla="*/ 0 w 60"/>
                <a:gd name="T1" fmla="*/ 24 h 48"/>
                <a:gd name="T2" fmla="*/ 12 w 60"/>
                <a:gd name="T3" fmla="*/ 0 h 48"/>
                <a:gd name="T4" fmla="*/ 36 w 60"/>
                <a:gd name="T5" fmla="*/ 0 h 48"/>
                <a:gd name="T6" fmla="*/ 60 w 60"/>
                <a:gd name="T7" fmla="*/ 24 h 48"/>
                <a:gd name="T8" fmla="*/ 36 w 60"/>
                <a:gd name="T9" fmla="*/ 48 h 48"/>
                <a:gd name="T10" fmla="*/ 12 w 60"/>
                <a:gd name="T11" fmla="*/ 48 h 48"/>
                <a:gd name="T12" fmla="*/ 0 w 60"/>
                <a:gd name="T13" fmla="*/ 24 h 48"/>
                <a:gd name="T14" fmla="*/ 0 60000 65536"/>
                <a:gd name="T15" fmla="*/ 0 60000 65536"/>
                <a:gd name="T16" fmla="*/ 0 60000 65536"/>
                <a:gd name="T17" fmla="*/ 0 60000 65536"/>
                <a:gd name="T18" fmla="*/ 0 60000 65536"/>
                <a:gd name="T19" fmla="*/ 0 60000 65536"/>
                <a:gd name="T20" fmla="*/ 0 60000 65536"/>
                <a:gd name="T21" fmla="*/ 0 w 60"/>
                <a:gd name="T22" fmla="*/ 0 h 48"/>
                <a:gd name="T23" fmla="*/ 60 w 60"/>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8">
                  <a:moveTo>
                    <a:pt x="0" y="24"/>
                  </a:moveTo>
                  <a:lnTo>
                    <a:pt x="12" y="0"/>
                  </a:lnTo>
                  <a:lnTo>
                    <a:pt x="36" y="0"/>
                  </a:lnTo>
                  <a:lnTo>
                    <a:pt x="60" y="24"/>
                  </a:lnTo>
                  <a:lnTo>
                    <a:pt x="36" y="48"/>
                  </a:lnTo>
                  <a:lnTo>
                    <a:pt x="12" y="48"/>
                  </a:lnTo>
                  <a:lnTo>
                    <a:pt x="0" y="24"/>
                  </a:lnTo>
                  <a:close/>
                </a:path>
              </a:pathLst>
            </a:custGeom>
            <a:solidFill>
              <a:srgbClr val="000000"/>
            </a:solidFill>
            <a:ln w="19050">
              <a:solidFill>
                <a:srgbClr val="000000"/>
              </a:solidFill>
              <a:round/>
              <a:headEnd/>
              <a:tailEnd/>
            </a:ln>
          </p:spPr>
          <p:txBody>
            <a:bodyPr/>
            <a:lstStyle/>
            <a:p>
              <a:endParaRPr lang="zh-CN" altLang="en-US"/>
            </a:p>
          </p:txBody>
        </p:sp>
        <p:sp>
          <p:nvSpPr>
            <p:cNvPr id="96362" name="Freeform 381"/>
            <p:cNvSpPr>
              <a:spLocks/>
            </p:cNvSpPr>
            <p:nvPr/>
          </p:nvSpPr>
          <p:spPr bwMode="auto">
            <a:xfrm>
              <a:off x="2276" y="3298"/>
              <a:ext cx="48" cy="48"/>
            </a:xfrm>
            <a:custGeom>
              <a:avLst/>
              <a:gdLst>
                <a:gd name="T0" fmla="*/ 0 w 48"/>
                <a:gd name="T1" fmla="*/ 24 h 48"/>
                <a:gd name="T2" fmla="*/ 12 w 48"/>
                <a:gd name="T3" fmla="*/ 0 h 48"/>
                <a:gd name="T4" fmla="*/ 36 w 48"/>
                <a:gd name="T5" fmla="*/ 0 h 48"/>
                <a:gd name="T6" fmla="*/ 48 w 48"/>
                <a:gd name="T7" fmla="*/ 24 h 48"/>
                <a:gd name="T8" fmla="*/ 36 w 48"/>
                <a:gd name="T9" fmla="*/ 48 h 48"/>
                <a:gd name="T10" fmla="*/ 12 w 48"/>
                <a:gd name="T11" fmla="*/ 48 h 48"/>
                <a:gd name="T12" fmla="*/ 0 w 48"/>
                <a:gd name="T13" fmla="*/ 24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24"/>
                  </a:moveTo>
                  <a:lnTo>
                    <a:pt x="12" y="0"/>
                  </a:lnTo>
                  <a:lnTo>
                    <a:pt x="36" y="0"/>
                  </a:lnTo>
                  <a:lnTo>
                    <a:pt x="48" y="24"/>
                  </a:lnTo>
                  <a:lnTo>
                    <a:pt x="36" y="48"/>
                  </a:lnTo>
                  <a:lnTo>
                    <a:pt x="12" y="48"/>
                  </a:lnTo>
                  <a:lnTo>
                    <a:pt x="0" y="24"/>
                  </a:lnTo>
                  <a:close/>
                </a:path>
              </a:pathLst>
            </a:custGeom>
            <a:solidFill>
              <a:srgbClr val="000000"/>
            </a:solidFill>
            <a:ln w="19050">
              <a:solidFill>
                <a:srgbClr val="000000"/>
              </a:solidFill>
              <a:round/>
              <a:headEnd/>
              <a:tailEnd/>
            </a:ln>
          </p:spPr>
          <p:txBody>
            <a:bodyPr/>
            <a:lstStyle/>
            <a:p>
              <a:endParaRPr lang="zh-CN" altLang="en-US"/>
            </a:p>
          </p:txBody>
        </p:sp>
        <p:sp>
          <p:nvSpPr>
            <p:cNvPr id="96363" name="Line 382"/>
            <p:cNvSpPr>
              <a:spLocks noChangeShapeType="1"/>
            </p:cNvSpPr>
            <p:nvPr/>
          </p:nvSpPr>
          <p:spPr bwMode="auto">
            <a:xfrm flipV="1">
              <a:off x="1845" y="3370"/>
              <a:ext cx="1" cy="34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4" name="Line 383"/>
            <p:cNvSpPr>
              <a:spLocks noChangeShapeType="1"/>
            </p:cNvSpPr>
            <p:nvPr/>
          </p:nvSpPr>
          <p:spPr bwMode="auto">
            <a:xfrm>
              <a:off x="1845" y="3370"/>
              <a:ext cx="311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65" name="Freeform 384"/>
            <p:cNvSpPr>
              <a:spLocks/>
            </p:cNvSpPr>
            <p:nvPr/>
          </p:nvSpPr>
          <p:spPr bwMode="auto">
            <a:xfrm>
              <a:off x="2551" y="3346"/>
              <a:ext cx="60" cy="48"/>
            </a:xfrm>
            <a:custGeom>
              <a:avLst/>
              <a:gdLst>
                <a:gd name="T0" fmla="*/ 0 w 60"/>
                <a:gd name="T1" fmla="*/ 24 h 48"/>
                <a:gd name="T2" fmla="*/ 12 w 60"/>
                <a:gd name="T3" fmla="*/ 0 h 48"/>
                <a:gd name="T4" fmla="*/ 48 w 60"/>
                <a:gd name="T5" fmla="*/ 0 h 48"/>
                <a:gd name="T6" fmla="*/ 60 w 60"/>
                <a:gd name="T7" fmla="*/ 24 h 48"/>
                <a:gd name="T8" fmla="*/ 48 w 60"/>
                <a:gd name="T9" fmla="*/ 48 h 48"/>
                <a:gd name="T10" fmla="*/ 12 w 60"/>
                <a:gd name="T11" fmla="*/ 48 h 48"/>
                <a:gd name="T12" fmla="*/ 0 w 60"/>
                <a:gd name="T13" fmla="*/ 24 h 48"/>
                <a:gd name="T14" fmla="*/ 0 60000 65536"/>
                <a:gd name="T15" fmla="*/ 0 60000 65536"/>
                <a:gd name="T16" fmla="*/ 0 60000 65536"/>
                <a:gd name="T17" fmla="*/ 0 60000 65536"/>
                <a:gd name="T18" fmla="*/ 0 60000 65536"/>
                <a:gd name="T19" fmla="*/ 0 60000 65536"/>
                <a:gd name="T20" fmla="*/ 0 60000 65536"/>
                <a:gd name="T21" fmla="*/ 0 w 60"/>
                <a:gd name="T22" fmla="*/ 0 h 48"/>
                <a:gd name="T23" fmla="*/ 60 w 60"/>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8">
                  <a:moveTo>
                    <a:pt x="0" y="24"/>
                  </a:moveTo>
                  <a:lnTo>
                    <a:pt x="12" y="0"/>
                  </a:lnTo>
                  <a:lnTo>
                    <a:pt x="48" y="0"/>
                  </a:lnTo>
                  <a:lnTo>
                    <a:pt x="60" y="24"/>
                  </a:lnTo>
                  <a:lnTo>
                    <a:pt x="48" y="48"/>
                  </a:lnTo>
                  <a:lnTo>
                    <a:pt x="12" y="48"/>
                  </a:lnTo>
                  <a:lnTo>
                    <a:pt x="0" y="24"/>
                  </a:lnTo>
                  <a:close/>
                </a:path>
              </a:pathLst>
            </a:custGeom>
            <a:solidFill>
              <a:srgbClr val="000000"/>
            </a:solidFill>
            <a:ln w="19050">
              <a:solidFill>
                <a:srgbClr val="000000"/>
              </a:solidFill>
              <a:round/>
              <a:headEnd/>
              <a:tailEnd/>
            </a:ln>
          </p:spPr>
          <p:txBody>
            <a:bodyPr/>
            <a:lstStyle/>
            <a:p>
              <a:endParaRPr lang="zh-CN" altLang="en-US"/>
            </a:p>
          </p:txBody>
        </p:sp>
        <p:sp>
          <p:nvSpPr>
            <p:cNvPr id="96366" name="Rectangle 385"/>
            <p:cNvSpPr>
              <a:spLocks noChangeArrowheads="1"/>
            </p:cNvSpPr>
            <p:nvPr/>
          </p:nvSpPr>
          <p:spPr bwMode="auto">
            <a:xfrm>
              <a:off x="1186" y="37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67" name="Rectangle 386"/>
            <p:cNvSpPr>
              <a:spLocks noChangeArrowheads="1"/>
            </p:cNvSpPr>
            <p:nvPr/>
          </p:nvSpPr>
          <p:spPr bwMode="auto">
            <a:xfrm>
              <a:off x="1306" y="381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2</a:t>
              </a:r>
              <a:endParaRPr lang="en-US" altLang="zh-CN"/>
            </a:p>
          </p:txBody>
        </p:sp>
        <p:sp>
          <p:nvSpPr>
            <p:cNvPr id="96368" name="Rectangle 387"/>
            <p:cNvSpPr>
              <a:spLocks noChangeArrowheads="1"/>
            </p:cNvSpPr>
            <p:nvPr/>
          </p:nvSpPr>
          <p:spPr bwMode="auto">
            <a:xfrm>
              <a:off x="1474" y="37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69" name="Rectangle 388"/>
            <p:cNvSpPr>
              <a:spLocks noChangeArrowheads="1"/>
            </p:cNvSpPr>
            <p:nvPr/>
          </p:nvSpPr>
          <p:spPr bwMode="auto">
            <a:xfrm>
              <a:off x="1593" y="381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1</a:t>
              </a:r>
              <a:endParaRPr lang="en-US" altLang="zh-CN"/>
            </a:p>
          </p:txBody>
        </p:sp>
        <p:sp>
          <p:nvSpPr>
            <p:cNvPr id="96370" name="Rectangle 389"/>
            <p:cNvSpPr>
              <a:spLocks noChangeArrowheads="1"/>
            </p:cNvSpPr>
            <p:nvPr/>
          </p:nvSpPr>
          <p:spPr bwMode="auto">
            <a:xfrm>
              <a:off x="1761" y="37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71" name="Rectangle 390"/>
            <p:cNvSpPr>
              <a:spLocks noChangeArrowheads="1"/>
            </p:cNvSpPr>
            <p:nvPr/>
          </p:nvSpPr>
          <p:spPr bwMode="auto">
            <a:xfrm>
              <a:off x="1881" y="381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0</a:t>
              </a:r>
              <a:endParaRPr lang="en-US" altLang="zh-CN"/>
            </a:p>
          </p:txBody>
        </p:sp>
        <p:sp>
          <p:nvSpPr>
            <p:cNvPr id="96372" name="Rectangle 391"/>
            <p:cNvSpPr>
              <a:spLocks noChangeArrowheads="1"/>
            </p:cNvSpPr>
            <p:nvPr/>
          </p:nvSpPr>
          <p:spPr bwMode="auto">
            <a:xfrm>
              <a:off x="911" y="3729"/>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A</a:t>
              </a:r>
              <a:endParaRPr lang="en-US" altLang="zh-CN"/>
            </a:p>
          </p:txBody>
        </p:sp>
        <p:sp>
          <p:nvSpPr>
            <p:cNvPr id="96373" name="Rectangle 392"/>
            <p:cNvSpPr>
              <a:spLocks noChangeArrowheads="1"/>
            </p:cNvSpPr>
            <p:nvPr/>
          </p:nvSpPr>
          <p:spPr bwMode="auto">
            <a:xfrm>
              <a:off x="1031" y="381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Times"/>
                </a:rPr>
                <a:t>3</a:t>
              </a:r>
              <a:endParaRPr lang="en-US" altLang="zh-CN"/>
            </a:p>
          </p:txBody>
        </p:sp>
        <p:sp>
          <p:nvSpPr>
            <p:cNvPr id="96374" name="Rectangle 393"/>
            <p:cNvSpPr>
              <a:spLocks noChangeArrowheads="1"/>
            </p:cNvSpPr>
            <p:nvPr/>
          </p:nvSpPr>
          <p:spPr bwMode="auto">
            <a:xfrm>
              <a:off x="3904" y="372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000000"/>
                  </a:solidFill>
                  <a:latin typeface="Times"/>
                </a:rPr>
                <a:t>0</a:t>
              </a:r>
              <a:endParaRPr lang="en-US" altLang="zh-CN"/>
            </a:p>
          </p:txBody>
        </p:sp>
      </p:grpSp>
    </p:spTree>
  </p:cSld>
  <p:clrMapOvr>
    <a:masterClrMapping/>
  </p:clrMapOvr>
  <p:transition>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49293141-85D2-4E1A-9164-B4AF8EC893D8}"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C58BF37-DD11-464F-8CEE-AB86BCADD0AA}" type="slidenum">
              <a:rPr lang="en-US" altLang="zh-CN" smtClean="0"/>
              <a:pPr>
                <a:defRPr/>
              </a:pPr>
              <a:t>97</a:t>
            </a:fld>
            <a:endParaRPr lang="en-US" altLang="zh-CN"/>
          </a:p>
        </p:txBody>
      </p:sp>
      <p:graphicFrame>
        <p:nvGraphicFramePr>
          <p:cNvPr id="4" name="Group 88"/>
          <p:cNvGraphicFramePr>
            <a:graphicFrameLocks noGrp="1"/>
          </p:cNvGraphicFramePr>
          <p:nvPr/>
        </p:nvGraphicFramePr>
        <p:xfrm>
          <a:off x="857250" y="571500"/>
          <a:ext cx="7766050" cy="5678586"/>
        </p:xfrm>
        <a:graphic>
          <a:graphicData uri="http://schemas.openxmlformats.org/drawingml/2006/table">
            <a:tbl>
              <a:tblPr/>
              <a:tblGrid>
                <a:gridCol w="1643069"/>
                <a:gridCol w="6122981"/>
              </a:tblGrid>
              <a:tr h="493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A</a:t>
                      </a:r>
                      <a:r>
                        <a:rPr kumimoji="0" lang="en-US" altLang="zh-CN" sz="1600" b="0" i="0" u="none" strike="noStrike" cap="none" normalizeH="0" baseline="0" dirty="0" smtClean="0">
                          <a:ln>
                            <a:noFill/>
                          </a:ln>
                          <a:solidFill>
                            <a:schemeClr val="tx1"/>
                          </a:solidFill>
                          <a:effectLst/>
                          <a:latin typeface="Arial" pitchFamily="34" charset="0"/>
                          <a:ea typeface="宋体" pitchFamily="2" charset="-122"/>
                        </a:rPr>
                        <a:t>3</a:t>
                      </a: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A</a:t>
                      </a:r>
                      <a:r>
                        <a:rPr kumimoji="0" lang="en-US" altLang="zh-CN" sz="1600" b="0" i="0" u="none" strike="noStrike" cap="none" normalizeH="0" baseline="0" dirty="0" smtClean="0">
                          <a:ln>
                            <a:noFill/>
                          </a:ln>
                          <a:solidFill>
                            <a:schemeClr val="tx1"/>
                          </a:solidFill>
                          <a:effectLst/>
                          <a:latin typeface="Arial" pitchFamily="34" charset="0"/>
                          <a:ea typeface="宋体" pitchFamily="2" charset="-122"/>
                        </a:rPr>
                        <a:t>2</a:t>
                      </a: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A</a:t>
                      </a:r>
                      <a:r>
                        <a:rPr kumimoji="0" lang="en-US" altLang="zh-CN" sz="1600" b="0" i="0" u="none" strike="noStrike" cap="none" normalizeH="0" baseline="0" dirty="0" smtClean="0">
                          <a:ln>
                            <a:noFill/>
                          </a:ln>
                          <a:solidFill>
                            <a:schemeClr val="tx1"/>
                          </a:solidFill>
                          <a:effectLst/>
                          <a:latin typeface="Arial" pitchFamily="34" charset="0"/>
                          <a:ea typeface="宋体" pitchFamily="2" charset="-122"/>
                        </a:rPr>
                        <a:t>1</a:t>
                      </a: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A</a:t>
                      </a:r>
                      <a:r>
                        <a:rPr kumimoji="0" lang="en-US" altLang="zh-CN" sz="1600" b="0" i="0" u="none" strike="noStrike" cap="none" normalizeH="0" baseline="0" dirty="0" smtClean="0">
                          <a:ln>
                            <a:noFill/>
                          </a:ln>
                          <a:solidFill>
                            <a:schemeClr val="tx1"/>
                          </a:solidFill>
                          <a:effectLst/>
                          <a:latin typeface="Arial" pitchFamily="34" charset="0"/>
                          <a:ea typeface="宋体" pitchFamily="2" charset="-122"/>
                        </a:rPr>
                        <a:t>0</a:t>
                      </a:r>
                      <a:endParaRPr kumimoji="0" lang="en-US" altLang="zh-CN" sz="2400" b="0" i="0" u="none" strike="noStrike" cap="none" normalizeH="0" baseline="-25000" dirty="0" smtClean="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0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1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2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3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4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5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6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chemeClr val="tx1"/>
                          </a:solidFill>
                          <a:effectLst/>
                          <a:latin typeface="Arial" pitchFamily="34" charset="0"/>
                          <a:ea typeface="宋体" pitchFamily="2" charset="-122"/>
                        </a:rPr>
                        <a:t>7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8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9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10 </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11</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12</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13</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14</a:t>
                      </a:r>
                      <a:r>
                        <a:rPr kumimoji="0" lang="en-US" altLang="zh-CN" sz="2000" b="0" i="0" u="none" strike="noStrike" cap="none" normalizeH="0" baseline="0" dirty="0" smtClean="0">
                          <a:ln>
                            <a:noFill/>
                          </a:ln>
                          <a:solidFill>
                            <a:schemeClr val="tx1"/>
                          </a:solidFill>
                          <a:effectLst/>
                          <a:latin typeface="Arial" pitchFamily="34" charset="0"/>
                          <a:ea typeface="宋体" pitchFamily="2" charset="-122"/>
                        </a:rPr>
                        <a:t>Y</a:t>
                      </a:r>
                      <a:r>
                        <a:rPr kumimoji="0" lang="en-US" altLang="zh-CN" sz="2000" b="0" i="0" u="none" strike="noStrike" cap="none" normalizeH="0" baseline="-25000" dirty="0" smtClean="0">
                          <a:ln>
                            <a:noFill/>
                          </a:ln>
                          <a:solidFill>
                            <a:srgbClr val="FF3300"/>
                          </a:solidFill>
                          <a:effectLst/>
                          <a:latin typeface="Arial" pitchFamily="34" charset="0"/>
                          <a:ea typeface="宋体" pitchFamily="2" charset="-122"/>
                        </a:rPr>
                        <a:t>15</a:t>
                      </a:r>
                    </a:p>
                  </a:txBody>
                  <a:tcPr marL="0" marR="0"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78499">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0 0 0 0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0 0 0 1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0 0 1 0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0 0 1 1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0 1 0 0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0 1 0 1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0 1 1 0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0 1 1 1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85000"/>
                        </a:lnSpc>
                        <a:spcBef>
                          <a:spcPct val="2000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0  1  1  1  1  1  1  1  1  1  1  1  1  1  1  1       1  0  1  1  1  1  1  1  1  1  1  1  1  1  1  1        1  1  0  1  1  1  1  1  1  1  1  1  1  1  1  1        1  1  1  0  1  1  1  1  1  1  1  1  1  1  1  1        1  1  1  1  0  1  1  1  1  1  1  1  1  1  1  1        1  1  1  1  1  0  1  1  1  1  1  1  1  1  1  1        1  1  1  1  1  1  0  1  1  1  1  1  1  1  1  1         1   1  1   1  1   1  1   0   1  1   1  1   1   1  1  1        </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06340">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1 0 0 0  </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1 0 0 1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1 0 1 0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1 0 1 1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1 1 0 0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1 1 0 1</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1 1 1 0</a:t>
                      </a:r>
                    </a:p>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1 1 1 1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85000"/>
                        </a:lnSpc>
                        <a:spcBef>
                          <a:spcPct val="2000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Arial" pitchFamily="34" charset="0"/>
                          <a:ea typeface="宋体" pitchFamily="2" charset="-122"/>
                        </a:rPr>
                        <a:t>1  1  1  1  1  1  1  1  0  1  1  1  1  1  1  1        1  1  1  1  1  1  1  1  1  0  1  1  1  1  1  1        1  1  1  1  1  1  1  1  1  1  0  1  1  1  1  1        1  1  1  1  1  1  1  1  1  1  1  0  1  1  1  1        1  1  1  1  1  1  1  1  1  1  1  1  0  1  1  1        1  1  1  1  1  1  1  1  1  1  1  1  1  0  1  1        1  1  1  1  1  1  1  1  1  1  1  1  1  1  0  1         1   1  1   1   1  1   1  1   1  1   1   1  1   1  1  0</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5685A1C-C4EE-4AAC-879A-98D29443CA09}" type="datetime1">
              <a:rPr lang="zh-CN" altLang="en-US"/>
              <a:pPr>
                <a:defRPr/>
              </a:pPr>
              <a:t>2020/10/10</a:t>
            </a:fld>
            <a:endParaRPr lang="en-US" altLang="zh-CN"/>
          </a:p>
        </p:txBody>
      </p:sp>
      <p:sp>
        <p:nvSpPr>
          <p:cNvPr id="5" name="灯片编号占位符 5"/>
          <p:cNvSpPr>
            <a:spLocks noGrp="1"/>
          </p:cNvSpPr>
          <p:nvPr>
            <p:ph type="sldNum" sz="quarter" idx="12"/>
          </p:nvPr>
        </p:nvSpPr>
        <p:spPr/>
        <p:txBody>
          <a:bodyPr/>
          <a:lstStyle/>
          <a:p>
            <a:pPr>
              <a:defRPr/>
            </a:pPr>
            <a:fld id="{75380EE7-1B1E-4DF7-8765-93FB62ACDDAD}" type="slidenum">
              <a:rPr lang="en-US" altLang="zh-CN"/>
              <a:pPr>
                <a:defRPr/>
              </a:pPr>
              <a:t>98</a:t>
            </a:fld>
            <a:endParaRPr lang="en-US" altLang="zh-CN"/>
          </a:p>
        </p:txBody>
      </p:sp>
      <p:sp>
        <p:nvSpPr>
          <p:cNvPr id="98308" name="Rectangle 2"/>
          <p:cNvSpPr>
            <a:spLocks noGrp="1" noChangeArrowheads="1"/>
          </p:cNvSpPr>
          <p:nvPr>
            <p:ph type="title"/>
          </p:nvPr>
        </p:nvSpPr>
        <p:spPr/>
        <p:txBody>
          <a:bodyPr/>
          <a:lstStyle/>
          <a:p>
            <a:pPr eaLnBrk="1" hangingPunct="1"/>
            <a:r>
              <a:rPr lang="zh-CN" altLang="en-US" smtClean="0"/>
              <a:t>多路选择器（</a:t>
            </a:r>
            <a:r>
              <a:rPr lang="en-US" altLang="zh-CN" smtClean="0"/>
              <a:t>MUX</a:t>
            </a:r>
            <a:r>
              <a:rPr lang="zh-CN" altLang="en-US" smtClean="0"/>
              <a:t>）</a:t>
            </a:r>
          </a:p>
        </p:txBody>
      </p:sp>
      <p:sp>
        <p:nvSpPr>
          <p:cNvPr id="98309" name="Rectangle 3"/>
          <p:cNvSpPr>
            <a:spLocks noGrp="1" noChangeArrowheads="1"/>
          </p:cNvSpPr>
          <p:nvPr>
            <p:ph type="body" idx="1"/>
          </p:nvPr>
        </p:nvSpPr>
        <p:spPr/>
        <p:txBody>
          <a:bodyPr/>
          <a:lstStyle/>
          <a:p>
            <a:pPr eaLnBrk="1" hangingPunct="1"/>
            <a:r>
              <a:rPr lang="zh-CN" altLang="en-US" smtClean="0"/>
              <a:t>多路选择器又称数据选择器</a:t>
            </a:r>
            <a:r>
              <a:rPr lang="en-US" altLang="zh-CN" smtClean="0"/>
              <a:t>(Multiplexer, </a:t>
            </a:r>
            <a:r>
              <a:rPr lang="zh-CN" altLang="en-US" smtClean="0"/>
              <a:t>简称</a:t>
            </a:r>
            <a:r>
              <a:rPr lang="en-US" altLang="zh-CN" smtClean="0"/>
              <a:t>MUX)</a:t>
            </a:r>
            <a:r>
              <a:rPr lang="zh-CN" altLang="en-US" smtClean="0"/>
              <a:t>。它有</a:t>
            </a:r>
            <a:r>
              <a:rPr lang="en-US" altLang="zh-CN" i="1" smtClean="0">
                <a:latin typeface="Times New Roman" pitchFamily="18" charset="0"/>
              </a:rPr>
              <a:t>n</a:t>
            </a:r>
            <a:r>
              <a:rPr lang="zh-CN" altLang="en-US" smtClean="0"/>
              <a:t>位地址输入、</a:t>
            </a:r>
            <a:r>
              <a:rPr lang="en-US" altLang="zh-CN" i="1" smtClean="0">
                <a:latin typeface="Times New Roman" pitchFamily="18" charset="0"/>
              </a:rPr>
              <a:t>2</a:t>
            </a:r>
            <a:r>
              <a:rPr lang="en-US" altLang="zh-CN" i="1" baseline="30000" smtClean="0">
                <a:latin typeface="Times New Roman" pitchFamily="18" charset="0"/>
              </a:rPr>
              <a:t>n</a:t>
            </a:r>
            <a:r>
              <a:rPr lang="zh-CN" altLang="en-US" smtClean="0"/>
              <a:t>位数据输入、</a:t>
            </a:r>
            <a:r>
              <a:rPr lang="en-US" altLang="zh-CN" smtClean="0"/>
              <a:t>1</a:t>
            </a:r>
            <a:r>
              <a:rPr lang="zh-CN" altLang="en-US" smtClean="0"/>
              <a:t>位输出。每次在地址输入的控制下，从多路输入数据中选择一路输出，其功能类似于一个单刀多掷开关。</a:t>
            </a:r>
          </a:p>
        </p:txBody>
      </p:sp>
      <p:pic>
        <p:nvPicPr>
          <p:cNvPr id="9831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0" y="4143375"/>
            <a:ext cx="25146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B71C008-4793-4CD1-AC5A-D77393E10A3B}" type="datetime1">
              <a:rPr lang="zh-CN" altLang="en-US"/>
              <a:pPr>
                <a:defRPr/>
              </a:pPr>
              <a:t>2020/10/10</a:t>
            </a:fld>
            <a:endParaRPr lang="en-US" altLang="zh-CN"/>
          </a:p>
        </p:txBody>
      </p:sp>
      <p:sp>
        <p:nvSpPr>
          <p:cNvPr id="6" name="灯片编号占位符 5"/>
          <p:cNvSpPr>
            <a:spLocks noGrp="1"/>
          </p:cNvSpPr>
          <p:nvPr>
            <p:ph type="sldNum" sz="quarter" idx="12"/>
          </p:nvPr>
        </p:nvSpPr>
        <p:spPr/>
        <p:txBody>
          <a:bodyPr/>
          <a:lstStyle/>
          <a:p>
            <a:pPr>
              <a:defRPr/>
            </a:pPr>
            <a:fld id="{55934444-6161-4CCF-83D2-F3B9055A9B3D}" type="slidenum">
              <a:rPr lang="en-US" altLang="zh-CN"/>
              <a:pPr>
                <a:defRPr/>
              </a:pPr>
              <a:t>99</a:t>
            </a:fld>
            <a:endParaRPr lang="en-US" altLang="zh-CN"/>
          </a:p>
        </p:txBody>
      </p:sp>
      <p:sp>
        <p:nvSpPr>
          <p:cNvPr id="99332" name="Rectangle 2"/>
          <p:cNvSpPr>
            <a:spLocks noGrp="1" noChangeArrowheads="1"/>
          </p:cNvSpPr>
          <p:nvPr>
            <p:ph type="title"/>
          </p:nvPr>
        </p:nvSpPr>
        <p:spPr/>
        <p:txBody>
          <a:bodyPr/>
          <a:lstStyle/>
          <a:p>
            <a:pPr eaLnBrk="1" hangingPunct="1"/>
            <a:r>
              <a:rPr lang="zh-CN" altLang="en-US" smtClean="0"/>
              <a:t>多路选择器</a:t>
            </a:r>
          </a:p>
        </p:txBody>
      </p:sp>
      <p:sp>
        <p:nvSpPr>
          <p:cNvPr id="99333" name="Rectangle 3"/>
          <p:cNvSpPr>
            <a:spLocks noGrp="1" noChangeArrowheads="1"/>
          </p:cNvSpPr>
          <p:nvPr>
            <p:ph type="body" idx="1"/>
          </p:nvPr>
        </p:nvSpPr>
        <p:spPr/>
        <p:txBody>
          <a:bodyPr/>
          <a:lstStyle/>
          <a:p>
            <a:pPr eaLnBrk="1" hangingPunct="1"/>
            <a:r>
              <a:rPr lang="zh-CN" altLang="en-US" smtClean="0"/>
              <a:t>多路选择器逻辑图</a:t>
            </a:r>
          </a:p>
        </p:txBody>
      </p:sp>
      <p:graphicFrame>
        <p:nvGraphicFramePr>
          <p:cNvPr id="99334" name="Object 4"/>
          <p:cNvGraphicFramePr>
            <a:graphicFrameLocks noChangeAspect="1"/>
          </p:cNvGraphicFramePr>
          <p:nvPr/>
        </p:nvGraphicFramePr>
        <p:xfrm>
          <a:off x="685800" y="1981200"/>
          <a:ext cx="8077200" cy="4021138"/>
        </p:xfrm>
        <a:graphic>
          <a:graphicData uri="http://schemas.openxmlformats.org/presentationml/2006/ole">
            <mc:AlternateContent xmlns:mc="http://schemas.openxmlformats.org/markup-compatibility/2006">
              <mc:Choice xmlns:v="urn:schemas-microsoft-com:vml" Requires="v">
                <p:oleObj spid="_x0000_s99339" name="VISIO" r:id="rId4" imgW="4008120" imgH="1996440" progId="">
                  <p:embed/>
                </p:oleObj>
              </mc:Choice>
              <mc:Fallback>
                <p:oleObj name="VISIO" r:id="rId4" imgW="4008120" imgH="199644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981200"/>
                        <a:ext cx="8077200" cy="402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74A64CC0-C6A3-4941-AFBB-017FD9F19ACE}" type="datetime1">
              <a:rPr lang="zh-CN" altLang="en-US"/>
              <a:pPr>
                <a:defRPr/>
              </a:pPr>
              <a:t>2020/10/10</a:t>
            </a:fld>
            <a:endParaRPr lang="en-US" altLang="zh-CN"/>
          </a:p>
        </p:txBody>
      </p:sp>
      <p:sp>
        <p:nvSpPr>
          <p:cNvPr id="16" name="灯片编号占位符 5"/>
          <p:cNvSpPr>
            <a:spLocks noGrp="1"/>
          </p:cNvSpPr>
          <p:nvPr>
            <p:ph type="sldNum" sz="quarter" idx="12"/>
          </p:nvPr>
        </p:nvSpPr>
        <p:spPr/>
        <p:txBody>
          <a:bodyPr/>
          <a:lstStyle/>
          <a:p>
            <a:pPr>
              <a:defRPr/>
            </a:pPr>
            <a:fld id="{3F1EA0F5-F755-4212-A392-1EDC75DA74BB}" type="slidenum">
              <a:rPr lang="en-US" altLang="zh-CN"/>
              <a:pPr>
                <a:defRPr/>
              </a:pPr>
              <a:t>100</a:t>
            </a:fld>
            <a:endParaRPr lang="en-US" altLang="zh-CN"/>
          </a:p>
        </p:txBody>
      </p:sp>
      <p:sp>
        <p:nvSpPr>
          <p:cNvPr id="100356" name="Rectangle 2"/>
          <p:cNvSpPr>
            <a:spLocks noGrp="1" noChangeArrowheads="1"/>
          </p:cNvSpPr>
          <p:nvPr>
            <p:ph type="title"/>
          </p:nvPr>
        </p:nvSpPr>
        <p:spPr/>
        <p:txBody>
          <a:bodyPr/>
          <a:lstStyle/>
          <a:p>
            <a:pPr eaLnBrk="1" hangingPunct="1"/>
            <a:r>
              <a:rPr lang="zh-CN" altLang="en-US" smtClean="0"/>
              <a:t>多路选择器</a:t>
            </a:r>
          </a:p>
        </p:txBody>
      </p:sp>
      <p:sp>
        <p:nvSpPr>
          <p:cNvPr id="100357" name="Rectangle 3"/>
          <p:cNvSpPr>
            <a:spLocks noGrp="1" noChangeArrowheads="1"/>
          </p:cNvSpPr>
          <p:nvPr>
            <p:ph type="body" idx="1"/>
          </p:nvPr>
        </p:nvSpPr>
        <p:spPr/>
        <p:txBody>
          <a:bodyPr/>
          <a:lstStyle/>
          <a:p>
            <a:pPr eaLnBrk="1" hangingPunct="1"/>
            <a:r>
              <a:rPr lang="zh-CN" altLang="en-US" smtClean="0"/>
              <a:t>四选一多路选择器的真值表</a:t>
            </a:r>
          </a:p>
        </p:txBody>
      </p:sp>
      <p:graphicFrame>
        <p:nvGraphicFramePr>
          <p:cNvPr id="253970" name="Group 18"/>
          <p:cNvGraphicFramePr>
            <a:graphicFrameLocks noGrp="1"/>
          </p:cNvGraphicFramePr>
          <p:nvPr/>
        </p:nvGraphicFramePr>
        <p:xfrm>
          <a:off x="714375" y="2419350"/>
          <a:ext cx="3276600" cy="3148013"/>
        </p:xfrm>
        <a:graphic>
          <a:graphicData uri="http://schemas.openxmlformats.org/drawingml/2006/table">
            <a:tbl>
              <a:tblPr/>
              <a:tblGrid>
                <a:gridCol w="2057400"/>
                <a:gridCol w="1219200"/>
              </a:tblGrid>
              <a:tr h="81291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A</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1</a:t>
                      </a:r>
                      <a:r>
                        <a:rPr kumimoji="0" lang="en-US" altLang="zh-CN" sz="3200" b="0" i="0" u="none" strike="noStrike" cap="none" normalizeH="0" baseline="0" dirty="0" smtClean="0">
                          <a:ln>
                            <a:noFill/>
                          </a:ln>
                          <a:solidFill>
                            <a:schemeClr val="tx1"/>
                          </a:solidFill>
                          <a:effectLst/>
                          <a:latin typeface="Tahoma" pitchFamily="34" charset="0"/>
                          <a:ea typeface="宋体" pitchFamily="2" charset="-122"/>
                        </a:rPr>
                        <a:t>     </a:t>
                      </a: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A</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0</a:t>
                      </a:r>
                      <a:r>
                        <a:rPr kumimoji="0" lang="en-US" altLang="zh-CN" sz="3200" b="0" i="0" u="none" strike="noStrike" cap="none" normalizeH="0" baseline="0" dirty="0" smtClean="0">
                          <a:ln>
                            <a:noFill/>
                          </a:ln>
                          <a:solidFill>
                            <a:schemeClr val="tx1"/>
                          </a:solidFill>
                          <a:effectLst/>
                          <a:latin typeface="Tahoma" pitchFamily="34" charset="0"/>
                          <a:ea typeface="宋体" pitchFamily="2" charset="-122"/>
                        </a:rPr>
                        <a:t> </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smtClean="0">
                          <a:ln>
                            <a:noFill/>
                          </a:ln>
                          <a:solidFill>
                            <a:schemeClr val="tx1"/>
                          </a:solidFill>
                          <a:effectLst/>
                          <a:latin typeface="Tahoma" pitchFamily="34" charset="0"/>
                          <a:ea typeface="宋体" pitchFamily="2" charset="-122"/>
                        </a:rPr>
                        <a:t> Y </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3509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smtClean="0">
                          <a:ln>
                            <a:noFill/>
                          </a:ln>
                          <a:solidFill>
                            <a:schemeClr val="tx1"/>
                          </a:solidFill>
                          <a:effectLst/>
                          <a:latin typeface="Tahoma" pitchFamily="34" charset="0"/>
                          <a:ea typeface="宋体" pitchFamily="2" charset="-122"/>
                        </a:rPr>
                        <a:t>0      0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smtClean="0">
                          <a:ln>
                            <a:noFill/>
                          </a:ln>
                          <a:solidFill>
                            <a:schemeClr val="tx1"/>
                          </a:solidFill>
                          <a:effectLst/>
                          <a:latin typeface="Tahoma" pitchFamily="34" charset="0"/>
                          <a:ea typeface="宋体" pitchFamily="2" charset="-122"/>
                        </a:rPr>
                        <a:t>0      1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smtClean="0">
                          <a:ln>
                            <a:noFill/>
                          </a:ln>
                          <a:solidFill>
                            <a:schemeClr val="tx1"/>
                          </a:solidFill>
                          <a:effectLst/>
                          <a:latin typeface="Tahoma" pitchFamily="34" charset="0"/>
                          <a:ea typeface="宋体" pitchFamily="2" charset="-122"/>
                        </a:rPr>
                        <a:t>1      0</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smtClean="0">
                          <a:ln>
                            <a:noFill/>
                          </a:ln>
                          <a:solidFill>
                            <a:schemeClr val="tx1"/>
                          </a:solidFill>
                          <a:effectLst/>
                          <a:latin typeface="Tahoma" pitchFamily="34" charset="0"/>
                          <a:ea typeface="宋体" pitchFamily="2" charset="-122"/>
                        </a:rPr>
                        <a:t>1      1</a:t>
                      </a: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D</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0</a:t>
                      </a:r>
                      <a:endParaRPr kumimoji="0" lang="en-US" altLang="zh-CN" sz="3200" b="0" i="0" u="none" strike="noStrike" cap="none" normalizeH="0" baseline="-25000" dirty="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D</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1</a:t>
                      </a:r>
                      <a:endParaRPr kumimoji="0" lang="en-US" altLang="zh-CN" sz="3200" b="0" i="0" u="none" strike="noStrike" cap="none" normalizeH="0" baseline="-25000" dirty="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D</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2</a:t>
                      </a:r>
                      <a:endParaRPr kumimoji="0" lang="en-US" altLang="zh-CN" sz="3200" b="0" i="0" u="none" strike="noStrike" cap="none" normalizeH="0" baseline="-25000" dirty="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err="1" smtClean="0">
                          <a:ln>
                            <a:noFill/>
                          </a:ln>
                          <a:solidFill>
                            <a:schemeClr val="tx1"/>
                          </a:solidFill>
                          <a:effectLst/>
                          <a:latin typeface="Tahoma" pitchFamily="34" charset="0"/>
                          <a:ea typeface="宋体" pitchFamily="2" charset="-122"/>
                        </a:rPr>
                        <a:t>D</a:t>
                      </a:r>
                      <a:r>
                        <a:rPr kumimoji="0" lang="en-US" altLang="zh-CN" sz="3200" b="0" i="0" u="none" strike="noStrike" cap="none" normalizeH="0" baseline="-25000" dirty="0" err="1" smtClean="0">
                          <a:ln>
                            <a:noFill/>
                          </a:ln>
                          <a:solidFill>
                            <a:schemeClr val="tx1"/>
                          </a:solidFill>
                          <a:effectLst/>
                          <a:latin typeface="Tahoma" pitchFamily="34" charset="0"/>
                          <a:ea typeface="宋体" pitchFamily="2" charset="-122"/>
                        </a:rPr>
                        <a:t>3</a:t>
                      </a:r>
                      <a:endParaRPr kumimoji="0" lang="en-US" altLang="zh-CN" sz="3200" b="0" i="0" u="none" strike="noStrike" cap="none" normalizeH="0" baseline="-25000" dirty="0" smtClean="0">
                        <a:ln>
                          <a:noFill/>
                        </a:ln>
                        <a:solidFill>
                          <a:schemeClr val="tx1"/>
                        </a:solidFill>
                        <a:effectLst/>
                        <a:latin typeface="Tahoma" pitchFamily="34" charset="0"/>
                        <a:ea typeface="宋体"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0369" name="Object 5"/>
          <p:cNvGraphicFramePr>
            <a:graphicFrameLocks noChangeAspect="1"/>
          </p:cNvGraphicFramePr>
          <p:nvPr/>
        </p:nvGraphicFramePr>
        <p:xfrm>
          <a:off x="4000500" y="3286125"/>
          <a:ext cx="5057775" cy="1285875"/>
        </p:xfrm>
        <a:graphic>
          <a:graphicData uri="http://schemas.openxmlformats.org/presentationml/2006/ole">
            <mc:AlternateContent xmlns:mc="http://schemas.openxmlformats.org/markup-compatibility/2006">
              <mc:Choice xmlns:v="urn:schemas-microsoft-com:vml" Requires="v">
                <p:oleObj spid="_x0000_s100374" name="公式" r:id="rId4" imgW="2692400" imgH="685800" progId="Equation.3">
                  <p:embed/>
                </p:oleObj>
              </mc:Choice>
              <mc:Fallback>
                <p:oleObj name="公式" r:id="rId4" imgW="2692400" imgH="685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0500" y="3286125"/>
                        <a:ext cx="505777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日期占位符 3"/>
          <p:cNvSpPr>
            <a:spLocks noGrp="1"/>
          </p:cNvSpPr>
          <p:nvPr>
            <p:ph type="dt" sz="quarter" idx="10"/>
          </p:nvPr>
        </p:nvSpPr>
        <p:spPr/>
        <p:txBody>
          <a:bodyPr/>
          <a:lstStyle/>
          <a:p>
            <a:pPr>
              <a:defRPr/>
            </a:pPr>
            <a:fld id="{9D2DC2DF-E9A9-46E8-BCD7-6AF56CA00F97}" type="datetime1">
              <a:rPr lang="zh-CN" altLang="en-US"/>
              <a:pPr>
                <a:defRPr/>
              </a:pPr>
              <a:t>2020/10/10</a:t>
            </a:fld>
            <a:endParaRPr lang="en-US" altLang="zh-CN"/>
          </a:p>
        </p:txBody>
      </p:sp>
      <p:sp>
        <p:nvSpPr>
          <p:cNvPr id="255" name="灯片编号占位符 5"/>
          <p:cNvSpPr>
            <a:spLocks noGrp="1"/>
          </p:cNvSpPr>
          <p:nvPr>
            <p:ph type="sldNum" sz="quarter" idx="12"/>
          </p:nvPr>
        </p:nvSpPr>
        <p:spPr/>
        <p:txBody>
          <a:bodyPr/>
          <a:lstStyle/>
          <a:p>
            <a:pPr>
              <a:defRPr/>
            </a:pPr>
            <a:fld id="{CA62C5B1-4E67-4F94-BAF3-62D1F198CD02}" type="slidenum">
              <a:rPr lang="en-US" altLang="zh-CN"/>
              <a:pPr>
                <a:defRPr/>
              </a:pPr>
              <a:t>101</a:t>
            </a:fld>
            <a:endParaRPr lang="en-US" altLang="zh-CN"/>
          </a:p>
        </p:txBody>
      </p:sp>
      <p:sp>
        <p:nvSpPr>
          <p:cNvPr id="101380" name="Rectangle 2"/>
          <p:cNvSpPr>
            <a:spLocks noGrp="1" noChangeArrowheads="1"/>
          </p:cNvSpPr>
          <p:nvPr>
            <p:ph type="title"/>
          </p:nvPr>
        </p:nvSpPr>
        <p:spPr>
          <a:xfrm>
            <a:off x="1150938" y="71438"/>
            <a:ext cx="7793037" cy="609600"/>
          </a:xfrm>
        </p:spPr>
        <p:txBody>
          <a:bodyPr/>
          <a:lstStyle/>
          <a:p>
            <a:pPr eaLnBrk="1" hangingPunct="1"/>
            <a:r>
              <a:rPr lang="zh-CN" altLang="en-US" smtClean="0"/>
              <a:t>多路选择器的应用</a:t>
            </a:r>
          </a:p>
        </p:txBody>
      </p:sp>
      <p:pic>
        <p:nvPicPr>
          <p:cNvPr id="101381" name="Picture 2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14375"/>
            <a:ext cx="608647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Picture 2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2071688"/>
            <a:ext cx="59531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Picture 2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8" y="3500438"/>
            <a:ext cx="62674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4" name="Picture 2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643438"/>
            <a:ext cx="77152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3625" y="4214813"/>
            <a:ext cx="25908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D9D63EA-AFD1-4250-966F-B3CAE60B3A81}"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5F1CEB9B-9D83-43E1-B721-E2CA6C979E07}" type="slidenum">
              <a:rPr lang="en-US" altLang="zh-CN" smtClean="0"/>
              <a:pPr>
                <a:defRPr/>
              </a:pPr>
              <a:t>102</a:t>
            </a:fld>
            <a:endParaRPr lang="en-US" altLang="zh-CN"/>
          </a:p>
        </p:txBody>
      </p:sp>
      <p:sp>
        <p:nvSpPr>
          <p:cNvPr id="5" name="Rectangle 2"/>
          <p:cNvSpPr txBox="1">
            <a:spLocks noChangeArrowheads="1"/>
          </p:cNvSpPr>
          <p:nvPr/>
        </p:nvSpPr>
        <p:spPr>
          <a:xfrm>
            <a:off x="1150938" y="285750"/>
            <a:ext cx="7793037" cy="609600"/>
          </a:xfrm>
          <a:prstGeom prst="rect">
            <a:avLst/>
          </a:prstGeom>
        </p:spPr>
        <p:txBody>
          <a:bodyPr/>
          <a:lstStyle/>
          <a:p>
            <a:pPr>
              <a:defRPr/>
            </a:pPr>
            <a:r>
              <a:rPr kumimoji="0" lang="zh-CN" altLang="en-US" sz="4400" kern="0" dirty="0">
                <a:solidFill>
                  <a:schemeClr val="tx2"/>
                </a:solidFill>
                <a:latin typeface="+mj-lt"/>
                <a:ea typeface="+mj-ea"/>
                <a:cs typeface="+mj-cs"/>
              </a:rPr>
              <a:t>反多路选择器</a:t>
            </a:r>
            <a:r>
              <a:rPr lang="en-US" altLang="zh-CN" sz="4400" dirty="0"/>
              <a:t>(</a:t>
            </a:r>
            <a:r>
              <a:rPr lang="en-US" altLang="zh-CN" sz="4400" dirty="0">
                <a:solidFill>
                  <a:srgbClr val="FF0000"/>
                </a:solidFill>
              </a:rPr>
              <a:t>DEMUX</a:t>
            </a:r>
            <a:r>
              <a:rPr lang="en-US" altLang="zh-CN" sz="4400" dirty="0"/>
              <a:t>)</a:t>
            </a:r>
            <a:endParaRPr kumimoji="0" lang="zh-CN" altLang="en-US" sz="4400" kern="0" dirty="0">
              <a:solidFill>
                <a:schemeClr val="tx2"/>
              </a:solidFill>
              <a:latin typeface="+mj-lt"/>
              <a:ea typeface="+mj-ea"/>
              <a:cs typeface="+mj-cs"/>
            </a:endParaRPr>
          </a:p>
        </p:txBody>
      </p:sp>
      <p:sp>
        <p:nvSpPr>
          <p:cNvPr id="102405" name="矩形 6"/>
          <p:cNvSpPr>
            <a:spLocks noChangeArrowheads="1"/>
          </p:cNvSpPr>
          <p:nvPr/>
        </p:nvSpPr>
        <p:spPr bwMode="auto">
          <a:xfrm>
            <a:off x="571500" y="1357313"/>
            <a:ext cx="75723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t>又称：数据分配器</a:t>
            </a:r>
            <a:endParaRPr lang="en-US" altLang="zh-CN" sz="2800" b="1"/>
          </a:p>
          <a:p>
            <a:r>
              <a:rPr lang="en-US" altLang="zh-CN" sz="2800" b="1"/>
              <a:t>            </a:t>
            </a:r>
            <a:r>
              <a:rPr lang="zh-CN" altLang="en-US" sz="2800" b="1"/>
              <a:t>多路分配器</a:t>
            </a:r>
            <a:endParaRPr lang="en-US" altLang="zh-CN" sz="2800" b="1"/>
          </a:p>
          <a:p>
            <a:endParaRPr lang="en-US" altLang="zh-CN" b="1"/>
          </a:p>
          <a:p>
            <a:r>
              <a:rPr lang="zh-CN" altLang="en-US"/>
              <a:t>         其功能与数据选择器相反，它可以将一路输入数据按</a:t>
            </a:r>
            <a:r>
              <a:rPr lang="en-US" altLang="zh-CN" i="1"/>
              <a:t>n</a:t>
            </a:r>
            <a:r>
              <a:rPr lang="zh-CN" altLang="en-US"/>
              <a:t>位地址分送到</a:t>
            </a:r>
            <a:r>
              <a:rPr lang="en-US" altLang="zh-CN"/>
              <a:t>2</a:t>
            </a:r>
            <a:r>
              <a:rPr lang="en-US" altLang="zh-CN" i="1" baseline="30000"/>
              <a:t>n</a:t>
            </a:r>
            <a:r>
              <a:rPr lang="zh-CN" altLang="en-US"/>
              <a:t>个数据输出端上。</a:t>
            </a:r>
            <a:endParaRPr lang="en-US" altLang="zh-CN"/>
          </a:p>
          <a:p>
            <a:endParaRPr lang="zh-CN" altLang="en-US" b="1"/>
          </a:p>
        </p:txBody>
      </p:sp>
      <p:pic>
        <p:nvPicPr>
          <p:cNvPr id="102406"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438" y="3857625"/>
            <a:ext cx="28956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99E20A40-237F-438E-8315-83EE5B230E95}" type="slidenum">
              <a:rPr lang="en-US" altLang="zh-CN" smtClean="0"/>
              <a:pPr>
                <a:defRPr/>
              </a:pPr>
              <a:t>103</a:t>
            </a:fld>
            <a:endParaRPr lang="en-US" altLang="zh-CN"/>
          </a:p>
        </p:txBody>
      </p:sp>
      <p:sp>
        <p:nvSpPr>
          <p:cNvPr id="103428" name="Text Box 4"/>
          <p:cNvSpPr txBox="1">
            <a:spLocks noChangeArrowheads="1"/>
          </p:cNvSpPr>
          <p:nvPr/>
        </p:nvSpPr>
        <p:spPr bwMode="auto">
          <a:xfrm>
            <a:off x="1014413" y="428625"/>
            <a:ext cx="7772400"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50000"/>
              </a:lnSpc>
              <a:spcBef>
                <a:spcPct val="50000"/>
              </a:spcBef>
            </a:pPr>
            <a:r>
              <a:rPr lang="en-US" altLang="zh-CN"/>
              <a:t>  </a:t>
            </a:r>
            <a:r>
              <a:rPr lang="zh-CN" altLang="en-US"/>
              <a:t>例</a:t>
            </a:r>
            <a:r>
              <a:rPr lang="en-US" altLang="zh-CN"/>
              <a:t>.  1-4 DEMUX   </a:t>
            </a:r>
            <a:r>
              <a:rPr lang="zh-CN" altLang="en-US"/>
              <a:t>其中</a:t>
            </a:r>
            <a:r>
              <a:rPr lang="en-US" altLang="zh-CN" i="1"/>
              <a:t>D</a:t>
            </a:r>
            <a:r>
              <a:rPr lang="zh-CN" altLang="en-US"/>
              <a:t>为数据输入，</a:t>
            </a:r>
            <a:r>
              <a:rPr lang="en-US" altLang="zh-CN" i="1"/>
              <a:t>A</a:t>
            </a:r>
            <a:r>
              <a:rPr lang="en-US" altLang="zh-CN" baseline="-25000"/>
              <a:t>1</a:t>
            </a:r>
            <a:r>
              <a:rPr lang="zh-CN" altLang="en-US"/>
              <a:t>、</a:t>
            </a:r>
            <a:r>
              <a:rPr lang="en-US" altLang="zh-CN" i="1"/>
              <a:t>A</a:t>
            </a:r>
            <a:r>
              <a:rPr lang="en-US" altLang="zh-CN" baseline="-25000"/>
              <a:t>0</a:t>
            </a:r>
            <a:r>
              <a:rPr lang="zh-CN" altLang="en-US"/>
              <a:t>为地址输入，</a:t>
            </a:r>
            <a:r>
              <a:rPr lang="en-US" altLang="zh-CN" i="1"/>
              <a:t>Y</a:t>
            </a:r>
            <a:r>
              <a:rPr lang="en-US" altLang="zh-CN" baseline="-25000"/>
              <a:t>0</a:t>
            </a:r>
            <a:r>
              <a:rPr lang="en-US" altLang="zh-CN"/>
              <a:t>~</a:t>
            </a:r>
            <a:r>
              <a:rPr lang="en-US" altLang="zh-CN" i="1"/>
              <a:t>Y</a:t>
            </a:r>
            <a:r>
              <a:rPr lang="en-US" altLang="zh-CN" baseline="-25000"/>
              <a:t>3</a:t>
            </a:r>
            <a:r>
              <a:rPr lang="zh-CN" altLang="en-US"/>
              <a:t>为数据输出，</a:t>
            </a:r>
            <a:r>
              <a:rPr lang="en-US" altLang="zh-CN" i="1"/>
              <a:t>E</a:t>
            </a:r>
            <a:r>
              <a:rPr lang="zh-CN" altLang="en-US"/>
              <a:t>为使能端。 </a:t>
            </a:r>
          </a:p>
        </p:txBody>
      </p:sp>
      <p:graphicFrame>
        <p:nvGraphicFramePr>
          <p:cNvPr id="5" name="Group 33"/>
          <p:cNvGraphicFramePr>
            <a:graphicFrameLocks noGrp="1"/>
          </p:cNvGraphicFramePr>
          <p:nvPr/>
        </p:nvGraphicFramePr>
        <p:xfrm>
          <a:off x="2857500" y="2714625"/>
          <a:ext cx="6096000" cy="2255838"/>
        </p:xfrm>
        <a:graphic>
          <a:graphicData uri="http://schemas.openxmlformats.org/drawingml/2006/table">
            <a:tbl>
              <a:tblPr/>
              <a:tblGrid>
                <a:gridCol w="2743200"/>
                <a:gridCol w="3352800"/>
              </a:tblGrid>
              <a:tr h="39629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E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A</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1</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A</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0</a:t>
                      </a:r>
                      <a:endPar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1" u="none" strike="noStrike" cap="none" normalizeH="0" baseline="-25000" dirty="0" err="1" smtClean="0">
                          <a:ln>
                            <a:noFill/>
                          </a:ln>
                          <a:solidFill>
                            <a:schemeClr val="tx1"/>
                          </a:solidFill>
                          <a:effectLst/>
                          <a:latin typeface="Times New Roman" pitchFamily="18" charset="0"/>
                          <a:ea typeface="宋体" pitchFamily="2" charset="-122"/>
                        </a:rPr>
                        <a:t>0</a:t>
                      </a:r>
                      <a:r>
                        <a:rPr kumimoji="1" lang="en-US" altLang="zh-CN" sz="2000" b="1" i="1"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1</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2</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3</a:t>
                      </a:r>
                      <a:endPar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5954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         ×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0           0           0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0           0           1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0           1           0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0           1           1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 </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034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357438"/>
            <a:ext cx="2419350"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504729E9-8CB9-44D8-A1C9-7665312566FB}" type="slidenum">
              <a:rPr lang="en-US" altLang="zh-CN" smtClean="0"/>
              <a:pPr>
                <a:defRPr/>
              </a:pPr>
              <a:t>104</a:t>
            </a:fld>
            <a:endParaRPr lang="en-US" altLang="zh-CN"/>
          </a:p>
        </p:txBody>
      </p:sp>
      <p:sp>
        <p:nvSpPr>
          <p:cNvPr id="104452" name="Text Box 4"/>
          <p:cNvSpPr txBox="1">
            <a:spLocks noChangeArrowheads="1"/>
          </p:cNvSpPr>
          <p:nvPr/>
        </p:nvSpPr>
        <p:spPr bwMode="auto">
          <a:xfrm>
            <a:off x="533400" y="142875"/>
            <a:ext cx="8077200" cy="1089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35000"/>
              </a:lnSpc>
              <a:spcBef>
                <a:spcPct val="50000"/>
              </a:spcBef>
            </a:pPr>
            <a:r>
              <a:rPr lang="en-US" altLang="zh-CN">
                <a:solidFill>
                  <a:srgbClr val="0000FF"/>
                </a:solidFill>
              </a:rPr>
              <a:t>1</a:t>
            </a:r>
            <a:r>
              <a:rPr lang="en-US" altLang="zh-CN">
                <a:solidFill>
                  <a:srgbClr val="0000FF"/>
                </a:solidFill>
                <a:latin typeface="Courier New" pitchFamily="49" charset="0"/>
              </a:rPr>
              <a:t>—4</a:t>
            </a:r>
            <a:r>
              <a:rPr lang="en-US" altLang="zh-CN">
                <a:solidFill>
                  <a:srgbClr val="0000FF"/>
                </a:solidFill>
              </a:rPr>
              <a:t> DEMUX</a:t>
            </a:r>
            <a:r>
              <a:rPr lang="zh-CN" altLang="en-US">
                <a:solidFill>
                  <a:srgbClr val="0000FF"/>
                </a:solidFill>
              </a:rPr>
              <a:t>与</a:t>
            </a:r>
            <a:r>
              <a:rPr lang="en-US" altLang="zh-CN">
                <a:solidFill>
                  <a:srgbClr val="0000FF"/>
                </a:solidFill>
              </a:rPr>
              <a:t>2</a:t>
            </a:r>
            <a:r>
              <a:rPr lang="en-US" altLang="zh-CN">
                <a:solidFill>
                  <a:srgbClr val="0000FF"/>
                </a:solidFill>
                <a:latin typeface="Courier New" pitchFamily="49" charset="0"/>
              </a:rPr>
              <a:t>—4</a:t>
            </a:r>
            <a:r>
              <a:rPr lang="zh-CN" altLang="en-US">
                <a:solidFill>
                  <a:srgbClr val="0000FF"/>
                </a:solidFill>
              </a:rPr>
              <a:t>译码器功能相似</a:t>
            </a:r>
            <a:r>
              <a:rPr lang="zh-CN" altLang="en-US"/>
              <a:t>，如果将</a:t>
            </a:r>
            <a:r>
              <a:rPr lang="en-US" altLang="zh-CN"/>
              <a:t>2-4</a:t>
            </a:r>
            <a:r>
              <a:rPr lang="zh-CN" altLang="en-US"/>
              <a:t>译码器的使能端</a:t>
            </a:r>
            <a:r>
              <a:rPr lang="en-US" altLang="zh-CN">
                <a:solidFill>
                  <a:srgbClr val="FF0000"/>
                </a:solidFill>
              </a:rPr>
              <a:t>E</a:t>
            </a:r>
            <a:r>
              <a:rPr lang="zh-CN" altLang="en-US">
                <a:solidFill>
                  <a:srgbClr val="FF0000"/>
                </a:solidFill>
              </a:rPr>
              <a:t>用作数据输入端</a:t>
            </a:r>
            <a:r>
              <a:rPr lang="en-US" altLang="zh-CN">
                <a:solidFill>
                  <a:srgbClr val="FF0000"/>
                </a:solidFill>
              </a:rPr>
              <a:t>D </a:t>
            </a:r>
            <a:r>
              <a:rPr lang="en-US" altLang="zh-CN"/>
              <a:t>, </a:t>
            </a:r>
            <a:r>
              <a:rPr lang="zh-CN" altLang="en-US"/>
              <a:t>则</a:t>
            </a:r>
            <a:r>
              <a:rPr lang="en-US" altLang="zh-CN"/>
              <a:t>2-4</a:t>
            </a:r>
            <a:r>
              <a:rPr lang="zh-CN" altLang="en-US"/>
              <a:t>译码器的输出可写成 </a:t>
            </a:r>
          </a:p>
        </p:txBody>
      </p:sp>
      <p:graphicFrame>
        <p:nvGraphicFramePr>
          <p:cNvPr id="104453" name="Object 5"/>
          <p:cNvGraphicFramePr>
            <a:graphicFrameLocks noChangeAspect="1"/>
          </p:cNvGraphicFramePr>
          <p:nvPr/>
        </p:nvGraphicFramePr>
        <p:xfrm>
          <a:off x="2500313" y="1285875"/>
          <a:ext cx="3962400" cy="650875"/>
        </p:xfrm>
        <a:graphic>
          <a:graphicData uri="http://schemas.openxmlformats.org/presentationml/2006/ole">
            <mc:AlternateContent xmlns:mc="http://schemas.openxmlformats.org/markup-compatibility/2006">
              <mc:Choice xmlns:v="urn:schemas-microsoft-com:vml" Requires="v">
                <p:oleObj spid="_x0000_s104471" name="公式" r:id="rId4" imgW="1701800" imgH="279400" progId="Equation.3">
                  <p:embed/>
                </p:oleObj>
              </mc:Choice>
              <mc:Fallback>
                <p:oleObj name="公式" r:id="rId4" imgW="1701800" imgH="2794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313" y="1285875"/>
                        <a:ext cx="396240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4" name="Text Box 6"/>
          <p:cNvSpPr txBox="1">
            <a:spLocks noChangeArrowheads="1"/>
          </p:cNvSpPr>
          <p:nvPr/>
        </p:nvSpPr>
        <p:spPr bwMode="auto">
          <a:xfrm>
            <a:off x="609600" y="1928813"/>
            <a:ext cx="807720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40000"/>
              </a:lnSpc>
              <a:spcBef>
                <a:spcPct val="50000"/>
              </a:spcBef>
            </a:pPr>
            <a:r>
              <a:rPr lang="zh-CN" altLang="en-US"/>
              <a:t>随着译码器输入地址的改变，可使某个最小项</a:t>
            </a:r>
            <a:r>
              <a:rPr lang="en-US" altLang="zh-CN" i="1"/>
              <a:t>m</a:t>
            </a:r>
            <a:r>
              <a:rPr lang="en-US" altLang="zh-CN" i="1" baseline="-25000"/>
              <a:t>i</a:t>
            </a:r>
            <a:r>
              <a:rPr lang="zh-CN" altLang="en-US"/>
              <a:t>为</a:t>
            </a:r>
            <a:r>
              <a:rPr lang="en-US" altLang="zh-CN"/>
              <a:t>1</a:t>
            </a:r>
            <a:r>
              <a:rPr lang="zh-CN" altLang="en-US"/>
              <a:t>，则译码器相应的输出</a:t>
            </a:r>
            <a:r>
              <a:rPr lang="en-US" altLang="zh-CN" i="1"/>
              <a:t>Y</a:t>
            </a:r>
            <a:r>
              <a:rPr lang="en-US" altLang="zh-CN" i="1" baseline="-25000"/>
              <a:t>i</a:t>
            </a:r>
            <a:r>
              <a:rPr lang="en-US" altLang="zh-CN"/>
              <a:t>=</a:t>
            </a:r>
            <a:r>
              <a:rPr lang="en-US" altLang="zh-CN" i="1"/>
              <a:t>D</a:t>
            </a:r>
            <a:r>
              <a:rPr lang="zh-CN" altLang="en-US"/>
              <a:t>，因而只要改变译码器的地址输入</a:t>
            </a:r>
            <a:r>
              <a:rPr lang="en-US" altLang="zh-CN" i="1"/>
              <a:t>A</a:t>
            </a:r>
            <a:r>
              <a:rPr lang="zh-CN" altLang="en-US"/>
              <a:t>、 </a:t>
            </a:r>
            <a:r>
              <a:rPr lang="en-US" altLang="zh-CN" i="1"/>
              <a:t>B</a:t>
            </a:r>
            <a:r>
              <a:rPr lang="zh-CN" altLang="en-US"/>
              <a:t>，就可以将输入数据</a:t>
            </a:r>
            <a:r>
              <a:rPr lang="en-US" altLang="zh-CN" i="1"/>
              <a:t>D</a:t>
            </a:r>
            <a:r>
              <a:rPr lang="zh-CN" altLang="en-US"/>
              <a:t>分配到不同的通道上去。因此，凡是具有使能端的译码器，都可以用作数据分配器。</a:t>
            </a:r>
          </a:p>
        </p:txBody>
      </p:sp>
      <p:graphicFrame>
        <p:nvGraphicFramePr>
          <p:cNvPr id="7" name="Group 33"/>
          <p:cNvGraphicFramePr>
            <a:graphicFrameLocks noGrp="1"/>
          </p:cNvGraphicFramePr>
          <p:nvPr/>
        </p:nvGraphicFramePr>
        <p:xfrm>
          <a:off x="4429125" y="4173538"/>
          <a:ext cx="4714875" cy="2255837"/>
        </p:xfrm>
        <a:graphic>
          <a:graphicData uri="http://schemas.openxmlformats.org/drawingml/2006/table">
            <a:tbl>
              <a:tblPr/>
              <a:tblGrid>
                <a:gridCol w="2121694"/>
                <a:gridCol w="2593181"/>
              </a:tblGrid>
              <a:tr h="39629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E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A</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1</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A</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0</a:t>
                      </a:r>
                      <a:endPar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endParaRPr>
                    </a:p>
                  </a:txBody>
                  <a:tcPr marL="91439" marR="9143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1" u="none" strike="noStrike" cap="none" normalizeH="0" baseline="-25000" dirty="0" err="1" smtClean="0">
                          <a:ln>
                            <a:noFill/>
                          </a:ln>
                          <a:solidFill>
                            <a:schemeClr val="tx1"/>
                          </a:solidFill>
                          <a:effectLst/>
                          <a:latin typeface="Times New Roman" pitchFamily="18" charset="0"/>
                          <a:ea typeface="宋体" pitchFamily="2" charset="-122"/>
                        </a:rPr>
                        <a:t>0</a:t>
                      </a:r>
                      <a:r>
                        <a:rPr kumimoji="1" lang="en-US" altLang="zh-CN" sz="2000" b="1" i="1"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1</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2</a:t>
                      </a:r>
                      <a:r>
                        <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000" b="1" i="1"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000" b="1" i="0" u="none" strike="noStrike" cap="none" normalizeH="0" baseline="-25000" dirty="0" err="1" smtClean="0">
                          <a:ln>
                            <a:noFill/>
                          </a:ln>
                          <a:solidFill>
                            <a:schemeClr val="tx1"/>
                          </a:solidFill>
                          <a:effectLst/>
                          <a:latin typeface="Times New Roman" pitchFamily="18" charset="0"/>
                          <a:ea typeface="宋体" pitchFamily="2" charset="-122"/>
                        </a:rPr>
                        <a:t>3</a:t>
                      </a:r>
                      <a:endParaRPr kumimoji="1" lang="en-US" altLang="zh-CN" sz="2000" b="1" i="0" u="none" strike="noStrike" cap="none" normalizeH="0" baseline="-25000" dirty="0" smtClean="0">
                        <a:ln>
                          <a:noFill/>
                        </a:ln>
                        <a:solidFill>
                          <a:schemeClr val="tx1"/>
                        </a:solidFill>
                        <a:effectLst/>
                        <a:latin typeface="Times New Roman" pitchFamily="18" charset="0"/>
                        <a:ea typeface="宋体" pitchFamily="2" charset="-122"/>
                      </a:endParaRP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59541">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         ×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0           0           0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0           0           1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0           1           0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0           1           1</a:t>
                      </a:r>
                    </a:p>
                  </a:txBody>
                  <a:tcPr marL="91439" marR="9143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 </a:t>
                      </a: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      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rPr>
                        <a:t>1       1      1       </a:t>
                      </a:r>
                      <a:r>
                        <a:rPr kumimoji="1" lang="en-US" altLang="zh-CN" sz="2000" b="1" i="1" u="none" strike="noStrike" cap="none" normalizeH="0" baseline="0" dirty="0" smtClean="0">
                          <a:ln>
                            <a:noFill/>
                          </a:ln>
                          <a:solidFill>
                            <a:schemeClr val="tx1"/>
                          </a:solidFill>
                          <a:effectLst/>
                          <a:latin typeface="Times New Roman" pitchFamily="18" charset="0"/>
                          <a:ea typeface="宋体" pitchFamily="2" charset="-122"/>
                        </a:rPr>
                        <a:t>D</a:t>
                      </a:r>
                    </a:p>
                  </a:txBody>
                  <a:tcPr marL="91439" marR="9143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04466" name="Picture 5" descr="C:\WINDOWS\Desktop\未标题-1 拷贝.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000500"/>
            <a:ext cx="3952875"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D25BCDDE-18AD-4981-9A57-906D4A411E12}"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9D90403D-7772-45E7-888C-2309103C06A7}" type="slidenum">
              <a:rPr lang="en-US" altLang="zh-CN" smtClean="0"/>
              <a:pPr>
                <a:defRPr/>
              </a:pPr>
              <a:t>105</a:t>
            </a:fld>
            <a:endParaRPr lang="en-US" altLang="zh-CN"/>
          </a:p>
        </p:txBody>
      </p:sp>
      <p:graphicFrame>
        <p:nvGraphicFramePr>
          <p:cNvPr id="105476" name="Object 5"/>
          <p:cNvGraphicFramePr>
            <a:graphicFrameLocks noChangeAspect="1"/>
          </p:cNvGraphicFramePr>
          <p:nvPr/>
        </p:nvGraphicFramePr>
        <p:xfrm>
          <a:off x="357188" y="1571625"/>
          <a:ext cx="8382000" cy="4786313"/>
        </p:xfrm>
        <a:graphic>
          <a:graphicData uri="http://schemas.openxmlformats.org/presentationml/2006/ole">
            <mc:AlternateContent xmlns:mc="http://schemas.openxmlformats.org/markup-compatibility/2006">
              <mc:Choice xmlns:v="urn:schemas-microsoft-com:vml" Requires="v">
                <p:oleObj spid="_x0000_s105482" name="VISIO" r:id="rId4" imgW="2659380" imgH="1516380" progId="Visio.Drawing.4">
                  <p:embed/>
                </p:oleObj>
              </mc:Choice>
              <mc:Fallback>
                <p:oleObj name="VISIO" r:id="rId4" imgW="2659380" imgH="1516380" progId="Visio.Drawing.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88" y="1571625"/>
                        <a:ext cx="8382000" cy="478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477" name="Text Box 4"/>
          <p:cNvSpPr txBox="1">
            <a:spLocks noChangeArrowheads="1"/>
          </p:cNvSpPr>
          <p:nvPr/>
        </p:nvSpPr>
        <p:spPr bwMode="auto">
          <a:xfrm>
            <a:off x="1785938" y="500063"/>
            <a:ext cx="5197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0000FF"/>
                </a:solidFill>
              </a:rPr>
              <a:t>多通道数据分时传送</a:t>
            </a:r>
          </a:p>
        </p:txBody>
      </p:sp>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30BC4B46-42EB-4281-A33D-D21FDE430731}" type="slidenum">
              <a:rPr lang="en-US" altLang="zh-CN" smtClean="0"/>
              <a:pPr>
                <a:defRPr/>
              </a:pPr>
              <a:t>106</a:t>
            </a:fld>
            <a:endParaRPr lang="en-US" altLang="zh-CN"/>
          </a:p>
        </p:txBody>
      </p:sp>
      <p:sp>
        <p:nvSpPr>
          <p:cNvPr id="106500" name="Text Box 5"/>
          <p:cNvSpPr txBox="1">
            <a:spLocks noChangeArrowheads="1"/>
          </p:cNvSpPr>
          <p:nvPr/>
        </p:nvSpPr>
        <p:spPr bwMode="auto">
          <a:xfrm>
            <a:off x="609600" y="357188"/>
            <a:ext cx="7924800"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40000"/>
              </a:lnSpc>
              <a:spcBef>
                <a:spcPct val="50000"/>
              </a:spcBef>
            </a:pPr>
            <a:r>
              <a:rPr lang="en-US" altLang="zh-CN" b="1"/>
              <a:t>       </a:t>
            </a:r>
            <a:r>
              <a:rPr lang="en-US" altLang="zh-CN" sz="2800" b="1"/>
              <a:t> </a:t>
            </a:r>
            <a:r>
              <a:rPr lang="zh-CN" altLang="en-US" sz="2800" b="1"/>
              <a:t>编码器</a:t>
            </a:r>
            <a:endParaRPr lang="en-US" altLang="zh-CN" sz="2800" b="1"/>
          </a:p>
          <a:p>
            <a:pPr algn="just" eaLnBrk="1" hangingPunct="1">
              <a:lnSpc>
                <a:spcPct val="140000"/>
              </a:lnSpc>
              <a:spcBef>
                <a:spcPct val="50000"/>
              </a:spcBef>
            </a:pPr>
            <a:endParaRPr lang="zh-CN" altLang="en-US" sz="2800" b="1"/>
          </a:p>
          <a:p>
            <a:pPr algn="just" eaLnBrk="1" hangingPunct="1">
              <a:lnSpc>
                <a:spcPct val="140000"/>
              </a:lnSpc>
              <a:spcBef>
                <a:spcPct val="50000"/>
              </a:spcBef>
            </a:pPr>
            <a:r>
              <a:rPr lang="zh-CN" altLang="en-US" b="1"/>
              <a:t>       用文字、符号或数码表示特定对象的过程称为编码。在数字电路中用二进制代码表示有关的信号称为二进制编码。 实现编码操作的电路就是编码器。</a:t>
            </a:r>
            <a:endParaRPr lang="en-US" altLang="zh-CN" b="1"/>
          </a:p>
          <a:p>
            <a:pPr algn="just" eaLnBrk="1" hangingPunct="1">
              <a:lnSpc>
                <a:spcPct val="140000"/>
              </a:lnSpc>
              <a:spcBef>
                <a:spcPct val="50000"/>
              </a:spcBef>
            </a:pPr>
            <a:r>
              <a:rPr lang="en-US" altLang="zh-CN" b="1"/>
              <a:t>        </a:t>
            </a:r>
            <a:r>
              <a:rPr lang="zh-CN" altLang="en-US" b="1"/>
              <a:t>编码是译码的反过程，是给不同的输入信号分配一个二进制代码的过程</a:t>
            </a:r>
            <a:r>
              <a:rPr lang="en-US" altLang="zh-CN" b="1"/>
              <a:t>.</a:t>
            </a:r>
          </a:p>
          <a:p>
            <a:pPr algn="just" eaLnBrk="1" hangingPunct="1">
              <a:lnSpc>
                <a:spcPct val="140000"/>
              </a:lnSpc>
              <a:spcBef>
                <a:spcPct val="50000"/>
              </a:spcBef>
            </a:pPr>
            <a:r>
              <a:rPr lang="en-US" altLang="zh-CN" b="1"/>
              <a:t>        </a:t>
            </a:r>
            <a:r>
              <a:rPr lang="zh-CN" altLang="en-US" b="1"/>
              <a:t>按照被编码信号的不同特点和要求，有二进制编码器、二</a:t>
            </a:r>
            <a:r>
              <a:rPr lang="en-US" altLang="zh-CN" b="1"/>
              <a:t>—</a:t>
            </a:r>
            <a:r>
              <a:rPr lang="zh-CN" altLang="en-US" b="1"/>
              <a:t>十进制编码器、优先编码器之分。 </a:t>
            </a:r>
          </a:p>
        </p:txBody>
      </p:sp>
    </p:spTree>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01D4FE41-98F0-48BF-8DC9-2926E857140D}" type="slidenum">
              <a:rPr lang="en-US" altLang="zh-CN" smtClean="0"/>
              <a:pPr>
                <a:defRPr/>
              </a:pPr>
              <a:t>107</a:t>
            </a:fld>
            <a:endParaRPr lang="en-US" altLang="zh-CN"/>
          </a:p>
        </p:txBody>
      </p:sp>
      <p:sp>
        <p:nvSpPr>
          <p:cNvPr id="107524" name="Text Box 4"/>
          <p:cNvSpPr txBox="1">
            <a:spLocks noChangeArrowheads="1"/>
          </p:cNvSpPr>
          <p:nvPr/>
        </p:nvSpPr>
        <p:spPr bwMode="auto">
          <a:xfrm>
            <a:off x="457200" y="71438"/>
            <a:ext cx="8305800" cy="5318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35000"/>
              </a:lnSpc>
              <a:spcBef>
                <a:spcPct val="50000"/>
              </a:spcBef>
            </a:pPr>
            <a:r>
              <a:rPr lang="en-US" altLang="zh-CN" b="1"/>
              <a:t>       1. </a:t>
            </a:r>
            <a:r>
              <a:rPr lang="zh-CN" altLang="en-US" b="1"/>
              <a:t>二进制编码器</a:t>
            </a:r>
          </a:p>
          <a:p>
            <a:pPr algn="just" eaLnBrk="1" hangingPunct="1">
              <a:lnSpc>
                <a:spcPct val="135000"/>
              </a:lnSpc>
              <a:spcBef>
                <a:spcPct val="50000"/>
              </a:spcBef>
            </a:pPr>
            <a:r>
              <a:rPr lang="zh-CN" altLang="en-US" b="1"/>
              <a:t>       用</a:t>
            </a:r>
            <a:r>
              <a:rPr lang="en-US" altLang="zh-CN" b="1" i="1"/>
              <a:t>n</a:t>
            </a:r>
            <a:r>
              <a:rPr lang="zh-CN" altLang="en-US" b="1"/>
              <a:t>位二进制代码对</a:t>
            </a:r>
            <a:r>
              <a:rPr lang="en-US" altLang="zh-CN" b="1" i="1"/>
              <a:t>N</a:t>
            </a:r>
            <a:r>
              <a:rPr lang="en-US" altLang="zh-CN" b="1"/>
              <a:t>=2</a:t>
            </a:r>
            <a:r>
              <a:rPr lang="en-US" altLang="zh-CN" b="1" i="1" baseline="30000"/>
              <a:t>n</a:t>
            </a:r>
            <a:r>
              <a:rPr lang="zh-CN" altLang="en-US" b="1"/>
              <a:t>个信号进行编码的电路，叫做二进制编码器。</a:t>
            </a:r>
            <a:r>
              <a:rPr lang="en-US" altLang="zh-CN" b="1"/>
              <a:t>   </a:t>
            </a:r>
          </a:p>
          <a:p>
            <a:pPr algn="just" eaLnBrk="1" hangingPunct="1">
              <a:lnSpc>
                <a:spcPct val="135000"/>
              </a:lnSpc>
              <a:spcBef>
                <a:spcPct val="50000"/>
              </a:spcBef>
            </a:pPr>
            <a:endParaRPr lang="en-US" altLang="zh-CN" b="1"/>
          </a:p>
          <a:p>
            <a:pPr algn="just" eaLnBrk="1" hangingPunct="1">
              <a:lnSpc>
                <a:spcPct val="135000"/>
              </a:lnSpc>
              <a:spcBef>
                <a:spcPct val="50000"/>
              </a:spcBef>
            </a:pPr>
            <a:r>
              <a:rPr lang="en-US" altLang="zh-CN" b="1"/>
              <a:t>      </a:t>
            </a:r>
            <a:r>
              <a:rPr lang="zh-CN" altLang="en-US" b="1"/>
              <a:t>例如</a:t>
            </a:r>
            <a:r>
              <a:rPr lang="en-US" altLang="zh-CN" b="1" i="1"/>
              <a:t>n</a:t>
            </a:r>
            <a:r>
              <a:rPr lang="en-US" altLang="zh-CN" b="1"/>
              <a:t>=3</a:t>
            </a:r>
            <a:r>
              <a:rPr lang="zh-CN" altLang="en-US" b="1"/>
              <a:t>，可以对</a:t>
            </a:r>
            <a:r>
              <a:rPr lang="en-US" altLang="zh-CN" b="1"/>
              <a:t>8</a:t>
            </a:r>
            <a:r>
              <a:rPr lang="zh-CN" altLang="en-US" b="1"/>
              <a:t>个一般信号进行编码。这种编码器有一个特点：任何时刻只允许输入一个有效信号，不允许同时出现两个或两个以上的有效信号，因而其输入是一组有约束</a:t>
            </a:r>
            <a:r>
              <a:rPr lang="en-US" altLang="zh-CN" b="1"/>
              <a:t>(</a:t>
            </a:r>
            <a:r>
              <a:rPr lang="zh-CN" altLang="en-US" b="1"/>
              <a:t>互相排斥</a:t>
            </a:r>
            <a:r>
              <a:rPr lang="en-US" altLang="zh-CN" b="1"/>
              <a:t>)</a:t>
            </a:r>
            <a:r>
              <a:rPr lang="zh-CN" altLang="en-US" b="1"/>
              <a:t>的变量。 </a:t>
            </a:r>
          </a:p>
          <a:p>
            <a:pPr algn="just" eaLnBrk="1" hangingPunct="1">
              <a:lnSpc>
                <a:spcPct val="135000"/>
              </a:lnSpc>
              <a:spcBef>
                <a:spcPct val="50000"/>
              </a:spcBef>
            </a:pPr>
            <a:r>
              <a:rPr lang="zh-CN" altLang="en-US" b="1"/>
              <a:t> </a:t>
            </a:r>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3A4F5CF6-9DE2-46B4-9D4E-CF8B78B461F9}" type="slidenum">
              <a:rPr lang="en-US" altLang="zh-CN" smtClean="0"/>
              <a:pPr>
                <a:defRPr/>
              </a:pPr>
              <a:t>108</a:t>
            </a:fld>
            <a:endParaRPr lang="en-US" altLang="zh-CN"/>
          </a:p>
        </p:txBody>
      </p:sp>
      <p:graphicFrame>
        <p:nvGraphicFramePr>
          <p:cNvPr id="108548" name="Object 5"/>
          <p:cNvGraphicFramePr>
            <a:graphicFrameLocks noChangeAspect="1"/>
          </p:cNvGraphicFramePr>
          <p:nvPr/>
        </p:nvGraphicFramePr>
        <p:xfrm>
          <a:off x="-285750" y="2192338"/>
          <a:ext cx="4071938" cy="4237037"/>
        </p:xfrm>
        <a:graphic>
          <a:graphicData uri="http://schemas.openxmlformats.org/presentationml/2006/ole">
            <mc:AlternateContent xmlns:mc="http://schemas.openxmlformats.org/markup-compatibility/2006">
              <mc:Choice xmlns:v="urn:schemas-microsoft-com:vml" Requires="v">
                <p:oleObj spid="_x0000_s108567" name="VISIO" r:id="rId4" imgW="1508760" imgH="1310640" progId="Visio.Drawing.4">
                  <p:embed/>
                </p:oleObj>
              </mc:Choice>
              <mc:Fallback>
                <p:oleObj name="VISIO" r:id="rId4" imgW="1508760" imgH="1310640" progId="Visio.Drawing.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2192338"/>
                        <a:ext cx="4071938" cy="423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Group 63"/>
          <p:cNvGraphicFramePr>
            <a:graphicFrameLocks noGrp="1"/>
          </p:cNvGraphicFramePr>
          <p:nvPr/>
        </p:nvGraphicFramePr>
        <p:xfrm>
          <a:off x="3571875" y="571500"/>
          <a:ext cx="5500688" cy="5967413"/>
        </p:xfrm>
        <a:graphic>
          <a:graphicData uri="http://schemas.openxmlformats.org/drawingml/2006/table">
            <a:tbl>
              <a:tblPr/>
              <a:tblGrid>
                <a:gridCol w="3087581"/>
                <a:gridCol w="2413107"/>
              </a:tblGrid>
              <a:tr h="768925">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zh-CN" altLang="en-US" sz="2000" b="0" i="0" u="none" strike="noStrike" cap="none" normalizeH="0" baseline="0" dirty="0" smtClean="0">
                          <a:ln>
                            <a:noFill/>
                          </a:ln>
                          <a:solidFill>
                            <a:schemeClr val="tx1"/>
                          </a:solidFill>
                          <a:effectLst/>
                          <a:latin typeface="Times New Roman" pitchFamily="18" charset="0"/>
                          <a:ea typeface="宋体" pitchFamily="2" charset="-122"/>
                        </a:rPr>
                        <a:t>输 入 </a:t>
                      </a:r>
                    </a:p>
                  </a:txBody>
                  <a:tcPr marL="91439" marR="9143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zh-CN" altLang="en-US" sz="2000" b="0" i="0" u="none" strike="noStrike" cap="none" normalizeH="0" baseline="0" smtClean="0">
                          <a:ln>
                            <a:noFill/>
                          </a:ln>
                          <a:solidFill>
                            <a:schemeClr val="tx1"/>
                          </a:solidFill>
                          <a:effectLst/>
                          <a:latin typeface="Times New Roman" pitchFamily="18" charset="0"/>
                          <a:ea typeface="宋体" pitchFamily="2" charset="-122"/>
                        </a:rPr>
                        <a:t>输   出 </a:t>
                      </a:r>
                    </a:p>
                  </a:txBody>
                  <a:tcPr marL="91439" marR="9143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810667">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1" u="none" strike="noStrike" cap="none" normalizeH="0" baseline="-25000" dirty="0" smtClean="0">
                          <a:ln>
                            <a:noFill/>
                          </a:ln>
                          <a:solidFill>
                            <a:schemeClr val="tx1"/>
                          </a:solidFill>
                          <a:effectLst/>
                          <a:latin typeface="Times New Roman" pitchFamily="18" charset="0"/>
                          <a:ea typeface="宋体" pitchFamily="2" charset="-122"/>
                        </a:rPr>
                        <a:t>1</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1" u="none" strike="noStrike" cap="none" normalizeH="0" baseline="-25000" dirty="0" smtClean="0">
                          <a:ln>
                            <a:noFill/>
                          </a:ln>
                          <a:solidFill>
                            <a:schemeClr val="tx1"/>
                          </a:solidFill>
                          <a:effectLst/>
                          <a:latin typeface="Times New Roman" pitchFamily="18" charset="0"/>
                          <a:ea typeface="宋体" pitchFamily="2" charset="-122"/>
                        </a:rPr>
                        <a:t>2</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3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4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5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6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I</a:t>
                      </a: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7  </a:t>
                      </a:r>
                    </a:p>
                  </a:txBody>
                  <a:tcPr marL="91439" marR="9143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F</a:t>
                      </a:r>
                      <a:r>
                        <a:rPr kumimoji="1" lang="en-US" altLang="zh-CN" sz="2400" b="1" i="1" u="none" strike="noStrike" cap="none" normalizeH="0" baseline="-25000" dirty="0" smtClean="0">
                          <a:ln>
                            <a:noFill/>
                          </a:ln>
                          <a:solidFill>
                            <a:schemeClr val="tx1"/>
                          </a:solidFill>
                          <a:effectLst/>
                          <a:latin typeface="Times New Roman" pitchFamily="18" charset="0"/>
                          <a:ea typeface="宋体" pitchFamily="2" charset="-122"/>
                        </a:rPr>
                        <a:t>2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F</a:t>
                      </a:r>
                      <a:r>
                        <a:rPr kumimoji="1" lang="en-US" altLang="zh-CN" sz="2400" b="1" i="1" u="none" strike="noStrike" cap="none" normalizeH="0" baseline="-25000" dirty="0" smtClean="0">
                          <a:ln>
                            <a:noFill/>
                          </a:ln>
                          <a:solidFill>
                            <a:schemeClr val="tx1"/>
                          </a:solidFill>
                          <a:effectLst/>
                          <a:latin typeface="Times New Roman" pitchFamily="18" charset="0"/>
                          <a:ea typeface="宋体" pitchFamily="2" charset="-122"/>
                        </a:rPr>
                        <a:t>1  </a:t>
                      </a:r>
                      <a:r>
                        <a:rPr kumimoji="1" lang="en-US" altLang="zh-CN" sz="2400" b="1" i="1" u="none" strike="noStrike" cap="none" normalizeH="0" baseline="0" dirty="0" smtClean="0">
                          <a:ln>
                            <a:noFill/>
                          </a:ln>
                          <a:solidFill>
                            <a:schemeClr val="tx1"/>
                          </a:solidFill>
                          <a:effectLst/>
                          <a:latin typeface="Times New Roman" pitchFamily="18" charset="0"/>
                          <a:ea typeface="宋体" pitchFamily="2" charset="-122"/>
                        </a:rPr>
                        <a:t>F</a:t>
                      </a:r>
                      <a:r>
                        <a:rPr kumimoji="1" lang="en-US" altLang="zh-CN" sz="2400" b="1" i="1" u="none" strike="noStrike" cap="none" normalizeH="0" baseline="-25000" dirty="0" smtClean="0">
                          <a:ln>
                            <a:noFill/>
                          </a:ln>
                          <a:solidFill>
                            <a:schemeClr val="tx1"/>
                          </a:solidFill>
                          <a:effectLst/>
                          <a:latin typeface="Times New Roman" pitchFamily="18" charset="0"/>
                          <a:ea typeface="宋体" pitchFamily="2" charset="-122"/>
                        </a:rPr>
                        <a:t>0</a:t>
                      </a:r>
                    </a:p>
                  </a:txBody>
                  <a:tcPr marL="36000" marR="36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387821">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1      0     0     0      0      0     0     0    </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0      1    0     0      0      0     0     0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0      0    1     0      0      0     0     0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0      0    0     1      0      0     0     0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0      0    0     0      1      0     0     0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0      0     0     0      0       1     0    0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0      0    0     0      0      0     1     0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2400" b="1" i="0" u="none" strike="noStrike" cap="none" normalizeH="0" baseline="-25000" dirty="0" smtClean="0">
                          <a:ln>
                            <a:noFill/>
                          </a:ln>
                          <a:solidFill>
                            <a:schemeClr val="tx1"/>
                          </a:solidFill>
                          <a:effectLst/>
                          <a:latin typeface="Times New Roman" pitchFamily="18" charset="0"/>
                          <a:ea typeface="宋体" pitchFamily="2" charset="-122"/>
                        </a:rPr>
                        <a:t>0      0    0     0      0      0     0      1</a:t>
                      </a:r>
                    </a:p>
                  </a:txBody>
                  <a:tcPr marL="91439" marR="9143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0         0        0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0         0         1</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0         1         0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0         1         1</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1         0         0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1         0         1</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1         1         0</a:t>
                      </a:r>
                    </a:p>
                    <a:p>
                      <a:pPr marL="0" marR="0" lvl="0" indent="0" algn="ctr" defTabSz="914400" rtl="0" eaLnBrk="1" fontAlgn="base" latinLnBrk="0" hangingPunct="1">
                        <a:lnSpc>
                          <a:spcPct val="180000"/>
                        </a:lnSpc>
                        <a:spcBef>
                          <a:spcPct val="2000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Times New Roman" pitchFamily="18" charset="0"/>
                          <a:ea typeface="宋体" pitchFamily="2" charset="-122"/>
                        </a:rPr>
                        <a:t>1         1         1</a:t>
                      </a:r>
                    </a:p>
                    <a:p>
                      <a:pPr marL="0" marR="0" lvl="0" indent="0" algn="ctr" defTabSz="914400" rtl="0" eaLnBrk="1" fontAlgn="base" latinLnBrk="0" hangingPunct="1">
                        <a:lnSpc>
                          <a:spcPct val="180000"/>
                        </a:lnSpc>
                        <a:spcBef>
                          <a:spcPct val="20000"/>
                        </a:spcBef>
                        <a:spcAft>
                          <a:spcPct val="0"/>
                        </a:spcAft>
                        <a:buClrTx/>
                        <a:buSzTx/>
                        <a:buFontTx/>
                        <a:buNone/>
                        <a:tabLst/>
                      </a:pPr>
                      <a:endParaRPr kumimoji="1" lang="en-US"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36000" marR="36000" marT="108011"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0C01FD91-1469-4AA5-AEC2-2A98119C2B98}" type="slidenum">
              <a:rPr lang="en-US" altLang="zh-CN" smtClean="0"/>
              <a:pPr>
                <a:defRPr/>
              </a:pPr>
              <a:t>109</a:t>
            </a:fld>
            <a:endParaRPr lang="en-US" altLang="zh-CN"/>
          </a:p>
        </p:txBody>
      </p:sp>
      <p:sp>
        <p:nvSpPr>
          <p:cNvPr id="109572" name="Text Box 6"/>
          <p:cNvSpPr txBox="1">
            <a:spLocks noChangeArrowheads="1"/>
          </p:cNvSpPr>
          <p:nvPr/>
        </p:nvSpPr>
        <p:spPr bwMode="auto">
          <a:xfrm>
            <a:off x="457200" y="3048000"/>
            <a:ext cx="83058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40000"/>
              </a:lnSpc>
              <a:spcBef>
                <a:spcPct val="50000"/>
              </a:spcBef>
            </a:pPr>
            <a:r>
              <a:rPr lang="en-US" altLang="zh-CN"/>
              <a:t>        </a:t>
            </a:r>
            <a:r>
              <a:rPr lang="zh-CN" altLang="en-US"/>
              <a:t>因为任何时刻</a:t>
            </a:r>
            <a:r>
              <a:rPr lang="en-US" altLang="zh-CN" i="1"/>
              <a:t>I</a:t>
            </a:r>
            <a:r>
              <a:rPr lang="en-US" altLang="zh-CN" baseline="-25000"/>
              <a:t>0</a:t>
            </a:r>
            <a:r>
              <a:rPr lang="en-US" altLang="zh-CN"/>
              <a:t>~</a:t>
            </a:r>
            <a:r>
              <a:rPr lang="en-US" altLang="zh-CN" i="1"/>
              <a:t>I</a:t>
            </a:r>
            <a:r>
              <a:rPr lang="en-US" altLang="zh-CN" baseline="-25000"/>
              <a:t>7</a:t>
            </a:r>
            <a:r>
              <a:rPr lang="zh-CN" altLang="en-US"/>
              <a:t>当中仅有一个取值为</a:t>
            </a:r>
            <a:r>
              <a:rPr lang="en-US" altLang="zh-CN"/>
              <a:t>1</a:t>
            </a:r>
            <a:r>
              <a:rPr lang="zh-CN" altLang="en-US"/>
              <a:t>，利用这个约束条件将上式化简，得到 </a:t>
            </a:r>
          </a:p>
        </p:txBody>
      </p:sp>
      <p:graphicFrame>
        <p:nvGraphicFramePr>
          <p:cNvPr id="109573" name="Object 7"/>
          <p:cNvGraphicFramePr>
            <a:graphicFrameLocks noChangeAspect="1"/>
          </p:cNvGraphicFramePr>
          <p:nvPr/>
        </p:nvGraphicFramePr>
        <p:xfrm>
          <a:off x="3276600" y="4419600"/>
          <a:ext cx="3048000" cy="1955800"/>
        </p:xfrm>
        <a:graphic>
          <a:graphicData uri="http://schemas.openxmlformats.org/presentationml/2006/ole">
            <mc:AlternateContent xmlns:mc="http://schemas.openxmlformats.org/markup-compatibility/2006">
              <mc:Choice xmlns:v="urn:schemas-microsoft-com:vml" Requires="v">
                <p:oleObj spid="_x0000_s109579" name="公式" r:id="rId4" imgW="1345616" imgH="863225" progId="Equation.3">
                  <p:embed/>
                </p:oleObj>
              </mc:Choice>
              <mc:Fallback>
                <p:oleObj name="公式" r:id="rId4" imgW="1345616" imgH="86322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419600"/>
                        <a:ext cx="3048000" cy="195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9574"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 y="714375"/>
            <a:ext cx="85153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6A8D619E-F771-45C4-89DD-777C216B521D}" type="slidenum">
              <a:rPr lang="en-US" altLang="zh-CN" smtClean="0"/>
              <a:pPr>
                <a:defRPr/>
              </a:pPr>
              <a:t>110</a:t>
            </a:fld>
            <a:endParaRPr lang="en-US" altLang="zh-CN"/>
          </a:p>
        </p:txBody>
      </p:sp>
      <p:graphicFrame>
        <p:nvGraphicFramePr>
          <p:cNvPr id="110596" name="Object 5"/>
          <p:cNvGraphicFramePr>
            <a:graphicFrameLocks noChangeAspect="1"/>
          </p:cNvGraphicFramePr>
          <p:nvPr/>
        </p:nvGraphicFramePr>
        <p:xfrm>
          <a:off x="2362200" y="914400"/>
          <a:ext cx="4894263" cy="5181600"/>
        </p:xfrm>
        <a:graphic>
          <a:graphicData uri="http://schemas.openxmlformats.org/presentationml/2006/ole">
            <mc:AlternateContent xmlns:mc="http://schemas.openxmlformats.org/markup-compatibility/2006">
              <mc:Choice xmlns:v="urn:schemas-microsoft-com:vml" Requires="v">
                <p:oleObj spid="_x0000_s110601" name="VISIO" r:id="rId4" imgW="1546860" imgH="1638300" progId="Visio.Drawing.4">
                  <p:embed/>
                </p:oleObj>
              </mc:Choice>
              <mc:Fallback>
                <p:oleObj name="VISIO" r:id="rId4" imgW="1546860" imgH="1638300" progId="Visio.Drawing.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914400"/>
                        <a:ext cx="4894263" cy="5181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309E10F9-88AE-49EA-9AD3-F988B2AD4EC8}" type="slidenum">
              <a:rPr lang="en-US" altLang="zh-CN" smtClean="0"/>
              <a:pPr>
                <a:defRPr/>
              </a:pPr>
              <a:t>111</a:t>
            </a:fld>
            <a:endParaRPr lang="en-US" altLang="zh-CN"/>
          </a:p>
        </p:txBody>
      </p:sp>
      <p:sp>
        <p:nvSpPr>
          <p:cNvPr id="111620" name="Text Box 4"/>
          <p:cNvSpPr txBox="1">
            <a:spLocks noChangeArrowheads="1"/>
          </p:cNvSpPr>
          <p:nvPr/>
        </p:nvSpPr>
        <p:spPr bwMode="auto">
          <a:xfrm>
            <a:off x="609600" y="71438"/>
            <a:ext cx="8001000" cy="37861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50000"/>
              </a:lnSpc>
              <a:spcBef>
                <a:spcPct val="50000"/>
              </a:spcBef>
            </a:pPr>
            <a:r>
              <a:rPr lang="en-US" altLang="zh-CN" b="1"/>
              <a:t>         2. </a:t>
            </a:r>
            <a:r>
              <a:rPr lang="zh-CN" altLang="en-US" b="1"/>
              <a:t>优先编码器</a:t>
            </a:r>
          </a:p>
          <a:p>
            <a:pPr algn="just" eaLnBrk="1" hangingPunct="1">
              <a:lnSpc>
                <a:spcPct val="150000"/>
              </a:lnSpc>
              <a:spcBef>
                <a:spcPct val="50000"/>
              </a:spcBef>
            </a:pPr>
            <a:r>
              <a:rPr lang="zh-CN" altLang="en-US" b="1"/>
              <a:t>        优先编码器常用于优先中断系统和键盘编码。与普通编码器不同，优先编码器允许多个输入信号同时有效，但它只按其中优先级别最高的有效输入信号编码，对级别较低的输入信号不予理睬。</a:t>
            </a:r>
          </a:p>
          <a:p>
            <a:pPr algn="just" eaLnBrk="1" hangingPunct="1">
              <a:lnSpc>
                <a:spcPct val="150000"/>
              </a:lnSpc>
              <a:spcBef>
                <a:spcPct val="50000"/>
              </a:spcBef>
            </a:pPr>
            <a:r>
              <a:rPr lang="zh-CN" altLang="en-US" b="1"/>
              <a:t>         </a:t>
            </a:r>
          </a:p>
        </p:txBody>
      </p:sp>
      <p:graphicFrame>
        <p:nvGraphicFramePr>
          <p:cNvPr id="111621" name="Object 5"/>
          <p:cNvGraphicFramePr>
            <a:graphicFrameLocks noChangeAspect="1"/>
          </p:cNvGraphicFramePr>
          <p:nvPr/>
        </p:nvGraphicFramePr>
        <p:xfrm>
          <a:off x="4210050" y="2643188"/>
          <a:ext cx="4576763" cy="3929062"/>
        </p:xfrm>
        <a:graphic>
          <a:graphicData uri="http://schemas.openxmlformats.org/presentationml/2006/ole">
            <mc:AlternateContent xmlns:mc="http://schemas.openxmlformats.org/markup-compatibility/2006">
              <mc:Choice xmlns:v="urn:schemas-microsoft-com:vml" Requires="v">
                <p:oleObj spid="_x0000_s111626" name="VISIO" r:id="rId4" imgW="1584960" imgH="1310640" progId="Visio.Drawing.4">
                  <p:embed/>
                </p:oleObj>
              </mc:Choice>
              <mc:Fallback>
                <p:oleObj name="VISIO" r:id="rId4" imgW="1584960" imgH="1310640" progId="Visio.Drawing.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0050" y="2643188"/>
                        <a:ext cx="4576763" cy="392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77A4DC5-583E-4875-8F08-3CD35E197B8A}" type="datetime1">
              <a:rPr lang="zh-CN" altLang="en-US" smtClean="0"/>
              <a:pPr>
                <a:defRPr/>
              </a:pPr>
              <a:t>2020/10/10</a:t>
            </a:fld>
            <a:endParaRPr lang="en-US" altLang="zh-CN"/>
          </a:p>
        </p:txBody>
      </p:sp>
      <p:sp>
        <p:nvSpPr>
          <p:cNvPr id="3" name="灯片编号占位符 2"/>
          <p:cNvSpPr>
            <a:spLocks noGrp="1"/>
          </p:cNvSpPr>
          <p:nvPr>
            <p:ph type="sldNum" sz="quarter" idx="12"/>
          </p:nvPr>
        </p:nvSpPr>
        <p:spPr/>
        <p:txBody>
          <a:bodyPr/>
          <a:lstStyle/>
          <a:p>
            <a:pPr>
              <a:defRPr/>
            </a:pPr>
            <a:fld id="{BABE57ED-766C-4E4A-99C9-A137C22407D6}" type="slidenum">
              <a:rPr lang="en-US" altLang="zh-CN" smtClean="0"/>
              <a:pPr>
                <a:defRPr/>
              </a:pPr>
              <a:t>112</a:t>
            </a:fld>
            <a:endParaRPr lang="en-US" altLang="zh-CN"/>
          </a:p>
        </p:txBody>
      </p:sp>
      <p:pic>
        <p:nvPicPr>
          <p:cNvPr id="112644" name="Picture 5" descr="C:\WINDOWS\Desktop\未标题-1 拷贝.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71438"/>
            <a:ext cx="7848600" cy="550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5" name="矩形 4"/>
          <p:cNvSpPr>
            <a:spLocks noChangeArrowheads="1"/>
          </p:cNvSpPr>
          <p:nvPr/>
        </p:nvSpPr>
        <p:spPr bwMode="auto">
          <a:xfrm>
            <a:off x="2214563" y="5514975"/>
            <a:ext cx="6429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t>当</a:t>
            </a:r>
            <a:r>
              <a:rPr lang="en-US" altLang="zh-CN" b="1" i="1"/>
              <a:t>CS</a:t>
            </a:r>
            <a:r>
              <a:rPr lang="en-US" altLang="zh-CN" b="1"/>
              <a:t>=1 , </a:t>
            </a:r>
            <a:r>
              <a:rPr lang="en-US" altLang="zh-CN" b="1" i="1"/>
              <a:t>E</a:t>
            </a:r>
            <a:r>
              <a:rPr lang="en-US" altLang="zh-CN" b="1" baseline="-25000"/>
              <a:t>0</a:t>
            </a:r>
            <a:r>
              <a:rPr lang="en-US" altLang="zh-CN" b="1"/>
              <a:t>=0</a:t>
            </a:r>
            <a:r>
              <a:rPr lang="zh-CN" altLang="en-US" b="1"/>
              <a:t>时，允许编码，但无码可编；</a:t>
            </a:r>
            <a:endParaRPr lang="en-US" altLang="zh-CN" b="1"/>
          </a:p>
          <a:p>
            <a:r>
              <a:rPr lang="zh-CN" altLang="en-US" b="1"/>
              <a:t>当</a:t>
            </a:r>
            <a:r>
              <a:rPr lang="en-US" altLang="zh-CN" b="1" i="1">
                <a:solidFill>
                  <a:srgbClr val="FF0000"/>
                </a:solidFill>
              </a:rPr>
              <a:t>CS</a:t>
            </a:r>
            <a:r>
              <a:rPr lang="en-US" altLang="zh-CN" b="1">
                <a:solidFill>
                  <a:srgbClr val="FF0000"/>
                </a:solidFill>
              </a:rPr>
              <a:t>=0 , </a:t>
            </a:r>
            <a:r>
              <a:rPr lang="en-US" altLang="zh-CN" b="1" i="1">
                <a:solidFill>
                  <a:srgbClr val="FF0000"/>
                </a:solidFill>
              </a:rPr>
              <a:t>E</a:t>
            </a:r>
            <a:r>
              <a:rPr lang="en-US" altLang="zh-CN" b="1" baseline="-25000">
                <a:solidFill>
                  <a:srgbClr val="FF0000"/>
                </a:solidFill>
              </a:rPr>
              <a:t>0</a:t>
            </a:r>
            <a:r>
              <a:rPr lang="en-US" altLang="zh-CN" b="1">
                <a:solidFill>
                  <a:srgbClr val="FF0000"/>
                </a:solidFill>
              </a:rPr>
              <a:t>=1</a:t>
            </a:r>
            <a:r>
              <a:rPr lang="zh-CN" altLang="en-US" b="1">
                <a:solidFill>
                  <a:srgbClr val="FF0000"/>
                </a:solidFill>
              </a:rPr>
              <a:t>时，允许编码，并且正在编码</a:t>
            </a:r>
            <a:r>
              <a:rPr lang="zh-CN" altLang="en-US" b="1"/>
              <a:t>；当</a:t>
            </a:r>
            <a:r>
              <a:rPr lang="en-US" altLang="zh-CN" b="1"/>
              <a:t>C</a:t>
            </a:r>
            <a:r>
              <a:rPr lang="en-US" altLang="zh-CN" b="1" i="1"/>
              <a:t>S</a:t>
            </a:r>
            <a:r>
              <a:rPr lang="en-US" altLang="zh-CN" b="1"/>
              <a:t>=1 , </a:t>
            </a:r>
            <a:r>
              <a:rPr lang="en-US" altLang="zh-CN" b="1" i="1"/>
              <a:t>E</a:t>
            </a:r>
            <a:r>
              <a:rPr lang="en-US" altLang="zh-CN" b="1" baseline="-25000"/>
              <a:t>0</a:t>
            </a:r>
            <a:r>
              <a:rPr lang="en-US" altLang="zh-CN" b="1"/>
              <a:t>=1</a:t>
            </a:r>
            <a:r>
              <a:rPr lang="zh-CN" altLang="en-US" b="1"/>
              <a:t> 时，禁止编码，即无法编码。 </a:t>
            </a:r>
          </a:p>
        </p:txBody>
      </p:sp>
    </p:spTree>
  </p:cSld>
  <p:clrMapOvr>
    <a:masterClrMapping/>
  </p:clrMapOvr>
  <p:transition>
    <p:random/>
  </p:transition>
</p:sld>
</file>

<file path=ppt/theme/theme1.xml><?xml version="1.0" encoding="utf-8"?>
<a:theme xmlns:a="http://schemas.openxmlformats.org/drawingml/2006/main" name="routeFlap_zyx">
  <a:themeElements>
    <a:clrScheme name="routeFlap_zyx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routeFlap_zyx">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routeFlap_zyx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routeFlap_zyx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routeFlap_zyx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routeFlap_zyx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routeFlap_zyx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routeFlap_zyx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routeFlap_zyx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D:\work\presentation\others\lecture-2001\routeFlap_zyx.ppt</Template>
  <TotalTime>0</TotalTime>
  <Words>4945</Words>
  <Application>Microsoft Office PowerPoint</Application>
  <PresentationFormat>全屏显示(4:3)</PresentationFormat>
  <Paragraphs>1262</Paragraphs>
  <Slides>112</Slides>
  <Notes>87</Notes>
  <HiddenSlides>0</HiddenSlides>
  <MMClips>0</MMClips>
  <ScaleCrop>false</ScaleCrop>
  <HeadingPairs>
    <vt:vector size="6" baseType="variant">
      <vt:variant>
        <vt:lpstr>主题</vt:lpstr>
      </vt:variant>
      <vt:variant>
        <vt:i4>1</vt:i4>
      </vt:variant>
      <vt:variant>
        <vt:lpstr>嵌入 OLE 服务器</vt:lpstr>
      </vt:variant>
      <vt:variant>
        <vt:i4>5</vt:i4>
      </vt:variant>
      <vt:variant>
        <vt:lpstr>幻灯片标题</vt:lpstr>
      </vt:variant>
      <vt:variant>
        <vt:i4>112</vt:i4>
      </vt:variant>
    </vt:vector>
  </HeadingPairs>
  <TitlesOfParts>
    <vt:vector size="118" baseType="lpstr">
      <vt:lpstr>routeFlap_zyx</vt:lpstr>
      <vt:lpstr>Document</vt:lpstr>
      <vt:lpstr>公式</vt:lpstr>
      <vt:lpstr>Picture</vt:lpstr>
      <vt:lpstr>VISIO</vt:lpstr>
      <vt:lpstr>Equation</vt:lpstr>
      <vt:lpstr>第三章 组合逻辑电路</vt:lpstr>
      <vt:lpstr>本章的组成</vt:lpstr>
      <vt:lpstr>概念</vt:lpstr>
      <vt:lpstr>概念</vt:lpstr>
      <vt:lpstr>3.1 逻辑门电路</vt:lpstr>
      <vt:lpstr>简单逻辑门电路</vt:lpstr>
      <vt:lpstr>简单逻辑门电路</vt:lpstr>
      <vt:lpstr>简单逻辑门电路</vt:lpstr>
      <vt:lpstr>复合逻辑门电路</vt:lpstr>
      <vt:lpstr>复合逻辑门电路</vt:lpstr>
      <vt:lpstr>复合逻辑门电路</vt:lpstr>
      <vt:lpstr>复合逻辑门电路</vt:lpstr>
      <vt:lpstr>复合逻辑门电路</vt:lpstr>
      <vt:lpstr>3.2 逻辑函数的实现</vt:lpstr>
      <vt:lpstr>3.2 逻辑函数的实现</vt:lpstr>
      <vt:lpstr>用“与非”门实现逻辑函数</vt:lpstr>
      <vt:lpstr>PowerPoint 演示文稿</vt:lpstr>
      <vt:lpstr>用“或非”门实现逻辑函数</vt:lpstr>
      <vt:lpstr>PowerPoint 演示文稿</vt:lpstr>
      <vt:lpstr>用“与或非”门实现逻辑函数</vt:lpstr>
      <vt:lpstr>PowerPoint 演示文稿</vt:lpstr>
      <vt:lpstr>用“异或”门实现逻辑函数</vt:lpstr>
      <vt:lpstr>PowerPoint 演示文稿</vt:lpstr>
      <vt:lpstr>3.3 组合逻辑电路的分析</vt:lpstr>
      <vt:lpstr>PowerPoint 演示文稿</vt:lpstr>
      <vt:lpstr>PowerPoint 演示文稿</vt:lpstr>
      <vt:lpstr>PowerPoint 演示文稿</vt:lpstr>
      <vt:lpstr>PowerPoint 演示文稿</vt:lpstr>
      <vt:lpstr>PowerPoint 演示文稿</vt:lpstr>
      <vt:lpstr>PowerPoint 演示文稿</vt:lpstr>
      <vt:lpstr>3.4 组合逻辑电路的设计</vt:lpstr>
      <vt:lpstr>单输出组合逻辑电路的设计举例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多输出组合逻辑电路的设计举例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组合逻辑电路的竞争与冒险</vt:lpstr>
      <vt:lpstr>竞争与冒险的产生</vt:lpstr>
      <vt:lpstr>竞争与冒险的产生</vt:lpstr>
      <vt:lpstr>竞争与冒险的产生</vt:lpstr>
      <vt:lpstr>PowerPoint 演示文稿</vt:lpstr>
      <vt:lpstr>PowerPoint 演示文稿</vt:lpstr>
      <vt:lpstr>判别冒险</vt:lpstr>
      <vt:lpstr>判别冒险</vt:lpstr>
      <vt:lpstr>卡诺图判别法</vt:lpstr>
      <vt:lpstr>PowerPoint 演示文稿</vt:lpstr>
      <vt:lpstr>消除冒险</vt:lpstr>
      <vt:lpstr>消除冒险</vt:lpstr>
      <vt:lpstr>PowerPoint 演示文稿</vt:lpstr>
      <vt:lpstr>本章小结</vt:lpstr>
      <vt:lpstr>采用中、大规模集成电路的逻辑设计</vt:lpstr>
      <vt:lpstr>二进制并行加法器</vt:lpstr>
      <vt:lpstr>PowerPoint 演示文稿</vt:lpstr>
      <vt:lpstr>PowerPoint 演示文稿</vt:lpstr>
      <vt:lpstr>PowerPoint 演示文稿</vt:lpstr>
      <vt:lpstr>全加器的应用</vt:lpstr>
      <vt:lpstr>全加器的应用</vt:lpstr>
      <vt:lpstr>全加器的应用</vt:lpstr>
      <vt:lpstr>全加器的应用</vt:lpstr>
      <vt:lpstr>全加器的应用</vt:lpstr>
      <vt:lpstr>全加器的应用</vt:lpstr>
      <vt:lpstr>全加器的应用</vt:lpstr>
      <vt:lpstr>全加器的应用</vt:lpstr>
      <vt:lpstr>全加器的应用</vt:lpstr>
      <vt:lpstr>数值比较器</vt:lpstr>
      <vt:lpstr>四位数值比较器74LS85逻辑图</vt:lpstr>
      <vt:lpstr>7485数值比较器功能表 </vt:lpstr>
      <vt:lpstr>数值比较器</vt:lpstr>
      <vt:lpstr>译码器</vt:lpstr>
      <vt:lpstr>PowerPoint 演示文稿</vt:lpstr>
      <vt:lpstr>PowerPoint 演示文稿</vt:lpstr>
      <vt:lpstr>译码器</vt:lpstr>
      <vt:lpstr>译码器</vt:lpstr>
      <vt:lpstr>译码器</vt:lpstr>
      <vt:lpstr>译码器</vt:lpstr>
      <vt:lpstr>译码器的应用</vt:lpstr>
      <vt:lpstr>译码器</vt:lpstr>
      <vt:lpstr>PowerPoint 演示文稿</vt:lpstr>
      <vt:lpstr>多路选择器（MUX）</vt:lpstr>
      <vt:lpstr>多路选择器</vt:lpstr>
      <vt:lpstr>多路选择器</vt:lpstr>
      <vt:lpstr>多路选择器的应用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组合逻辑电路</dc:title>
  <dc:creator/>
  <cp:lastModifiedBy/>
  <cp:revision>17</cp:revision>
  <dcterms:created xsi:type="dcterms:W3CDTF">2012-09-30T06:51:52Z</dcterms:created>
  <dcterms:modified xsi:type="dcterms:W3CDTF">2020-10-10T10:12:57Z</dcterms:modified>
</cp:coreProperties>
</file>