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3" r:id="rId1"/>
  </p:sldMasterIdLst>
  <p:notesMasterIdLst>
    <p:notesMasterId r:id="rId71"/>
  </p:notesMasterIdLst>
  <p:sldIdLst>
    <p:sldId id="599" r:id="rId2"/>
    <p:sldId id="600" r:id="rId3"/>
    <p:sldId id="708" r:id="rId4"/>
    <p:sldId id="601" r:id="rId5"/>
    <p:sldId id="656" r:id="rId6"/>
    <p:sldId id="658" r:id="rId7"/>
    <p:sldId id="709" r:id="rId8"/>
    <p:sldId id="637" r:id="rId9"/>
    <p:sldId id="660" r:id="rId10"/>
    <p:sldId id="607" r:id="rId11"/>
    <p:sldId id="662" r:id="rId12"/>
    <p:sldId id="661" r:id="rId13"/>
    <p:sldId id="663" r:id="rId14"/>
    <p:sldId id="669" r:id="rId15"/>
    <p:sldId id="610" r:id="rId16"/>
    <p:sldId id="611" r:id="rId17"/>
    <p:sldId id="612" r:id="rId18"/>
    <p:sldId id="614" r:id="rId19"/>
    <p:sldId id="613" r:id="rId20"/>
    <p:sldId id="615" r:id="rId21"/>
    <p:sldId id="668" r:id="rId22"/>
    <p:sldId id="616" r:id="rId23"/>
    <p:sldId id="670" r:id="rId24"/>
    <p:sldId id="710" r:id="rId25"/>
    <p:sldId id="617" r:id="rId26"/>
    <p:sldId id="618" r:id="rId27"/>
    <p:sldId id="620" r:id="rId28"/>
    <p:sldId id="672" r:id="rId29"/>
    <p:sldId id="686" r:id="rId30"/>
    <p:sldId id="676" r:id="rId31"/>
    <p:sldId id="675" r:id="rId32"/>
    <p:sldId id="679" r:id="rId33"/>
    <p:sldId id="682" r:id="rId34"/>
    <p:sldId id="680" r:id="rId35"/>
    <p:sldId id="677" r:id="rId36"/>
    <p:sldId id="681" r:id="rId37"/>
    <p:sldId id="684" r:id="rId38"/>
    <p:sldId id="685" r:id="rId39"/>
    <p:sldId id="683" r:id="rId40"/>
    <p:sldId id="687" r:id="rId41"/>
    <p:sldId id="689" r:id="rId42"/>
    <p:sldId id="690" r:id="rId43"/>
    <p:sldId id="691" r:id="rId44"/>
    <p:sldId id="692" r:id="rId45"/>
    <p:sldId id="693" r:id="rId46"/>
    <p:sldId id="694" r:id="rId47"/>
    <p:sldId id="711" r:id="rId48"/>
    <p:sldId id="695" r:id="rId49"/>
    <p:sldId id="624" r:id="rId50"/>
    <p:sldId id="696" r:id="rId51"/>
    <p:sldId id="697" r:id="rId52"/>
    <p:sldId id="625" r:id="rId53"/>
    <p:sldId id="698" r:id="rId54"/>
    <p:sldId id="665" r:id="rId55"/>
    <p:sldId id="699" r:id="rId56"/>
    <p:sldId id="700" r:id="rId57"/>
    <p:sldId id="627" r:id="rId58"/>
    <p:sldId id="653" r:id="rId59"/>
    <p:sldId id="701" r:id="rId60"/>
    <p:sldId id="628" r:id="rId61"/>
    <p:sldId id="629" r:id="rId62"/>
    <p:sldId id="707" r:id="rId63"/>
    <p:sldId id="703" r:id="rId64"/>
    <p:sldId id="630" r:id="rId65"/>
    <p:sldId id="666" r:id="rId66"/>
    <p:sldId id="632" r:id="rId67"/>
    <p:sldId id="704" r:id="rId68"/>
    <p:sldId id="705" r:id="rId69"/>
    <p:sldId id="706" r:id="rId7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F33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88177" autoAdjust="0"/>
  </p:normalViewPr>
  <p:slideViewPr>
    <p:cSldViewPr>
      <p:cViewPr varScale="1">
        <p:scale>
          <a:sx n="76" d="100"/>
          <a:sy n="76" d="100"/>
        </p:scale>
        <p:origin x="-1642" y="-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80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3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33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33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fld id="{06A1E78A-2B14-4A82-8C68-BF0F1494DE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34578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1376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3598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15655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84420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30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88057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0954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1592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61860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6A1E78A-2B14-4A82-8C68-BF0F1494DE67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0585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upp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406775"/>
            <a:ext cx="7397750" cy="1822450"/>
          </a:xfrm>
        </p:spPr>
        <p:txBody>
          <a:bodyPr lIns="91440" tIns="45720" rIns="91440" bIns="45720" anchor="b"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98340" name="AutoShape 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63638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130763"/>
      </p:ext>
    </p:extLst>
  </p:cSld>
  <p:clrMapOvr>
    <a:masterClrMapping/>
  </p:clrMapOvr>
  <p:transition spd="med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1A633-576F-46D6-9FAA-ECFADAC6F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6121400"/>
      </p:ext>
    </p:extLst>
  </p:cSld>
  <p:clrMapOvr>
    <a:masterClrMapping/>
  </p:clrMapOvr>
  <p:transition spd="med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EFFE2-EFC8-4A69-95FE-4D1D8AB31B4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4063064"/>
      </p:ext>
    </p:extLst>
  </p:cSld>
  <p:clrMapOvr>
    <a:masterClrMapping/>
  </p:clrMapOvr>
  <p:transition spd="med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700213"/>
            <a:ext cx="3919538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700213"/>
            <a:ext cx="3921125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631AF-0BB6-41EF-8F20-F2D0D077CE6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1915044"/>
      </p:ext>
    </p:extLst>
  </p:cSld>
  <p:clrMapOvr>
    <a:masterClrMapping/>
  </p:clrMapOvr>
  <p:transition spd="med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4BCB1-FD36-4419-B043-9BB339528B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16661222"/>
      </p:ext>
    </p:extLst>
  </p:cSld>
  <p:clrMapOvr>
    <a:masterClrMapping/>
  </p:clrMapOvr>
  <p:transition spd="med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4BEA9-DAA6-436C-834D-87E17424C8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1559811"/>
      </p:ext>
    </p:extLst>
  </p:cSld>
  <p:clrMapOvr>
    <a:masterClrMapping/>
  </p:clrMapOvr>
  <p:transition spd="med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36351-7D5B-47CE-B54D-C31E7589E5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8528544"/>
      </p:ext>
    </p:extLst>
  </p:cSld>
  <p:clrMapOvr>
    <a:masterClrMapping/>
  </p:clrMapOvr>
  <p:transition spd="med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0A702-BEA2-4348-8357-24E594FB1A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0582535"/>
      </p:ext>
    </p:extLst>
  </p:cSld>
  <p:clrMapOvr>
    <a:masterClrMapping/>
  </p:clrMapOvr>
  <p:transition spd="med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11A0E-3169-4162-AF4A-D1DE4B8167B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4798136"/>
      </p:ext>
    </p:extLst>
  </p:cSld>
  <p:clrMapOvr>
    <a:masterClrMapping/>
  </p:clrMapOvr>
  <p:transition spd="med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49E25-5995-484F-9A62-6B7229AD86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3899233"/>
      </p:ext>
    </p:extLst>
  </p:cSld>
  <p:clrMapOvr>
    <a:masterClrMapping/>
  </p:clrMapOvr>
  <p:transition spd="med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765175"/>
            <a:ext cx="1997075" cy="5472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765175"/>
            <a:ext cx="5843588" cy="5472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F90D5-A31F-4C2A-BB7D-2C6A931A09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3869685"/>
      </p:ext>
    </p:extLst>
  </p:cSld>
  <p:clrMapOvr>
    <a:masterClrMapping/>
  </p:clrMapOvr>
  <p:transition spd="med"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9525" y="1588"/>
            <a:ext cx="76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Freeform 3"/>
          <p:cNvSpPr>
            <a:spLocks/>
          </p:cNvSpPr>
          <p:nvPr/>
        </p:nvSpPr>
        <p:spPr bwMode="auto">
          <a:xfrm>
            <a:off x="468313" y="0"/>
            <a:ext cx="2743200" cy="1052513"/>
          </a:xfrm>
          <a:custGeom>
            <a:avLst/>
            <a:gdLst>
              <a:gd name="T0" fmla="*/ 2147483647 w 1728"/>
              <a:gd name="T1" fmla="*/ 0 h 735"/>
              <a:gd name="T2" fmla="*/ 2147483647 w 1728"/>
              <a:gd name="T3" fmla="*/ 984285814 h 735"/>
              <a:gd name="T4" fmla="*/ 957659375 w 1728"/>
              <a:gd name="T5" fmla="*/ 988387034 h 735"/>
              <a:gd name="T6" fmla="*/ 892135313 w 1728"/>
              <a:gd name="T7" fmla="*/ 984285814 h 735"/>
              <a:gd name="T8" fmla="*/ 776208125 w 1728"/>
              <a:gd name="T9" fmla="*/ 1002741307 h 735"/>
              <a:gd name="T10" fmla="*/ 619958438 w 1728"/>
              <a:gd name="T11" fmla="*/ 1088866942 h 735"/>
              <a:gd name="T12" fmla="*/ 519152188 w 1728"/>
              <a:gd name="T13" fmla="*/ 1224205794 h 735"/>
              <a:gd name="T14" fmla="*/ 483870000 w 1728"/>
              <a:gd name="T15" fmla="*/ 1365697909 h 735"/>
              <a:gd name="T16" fmla="*/ 483870000 w 1728"/>
              <a:gd name="T17" fmla="*/ 1507188592 h 735"/>
              <a:gd name="T18" fmla="*/ 0 w 1728"/>
              <a:gd name="T19" fmla="*/ 1507188592 h 735"/>
              <a:gd name="T20" fmla="*/ 0 w 1728"/>
              <a:gd name="T21" fmla="*/ 984285814 h 735"/>
              <a:gd name="T22" fmla="*/ 0 w 1728"/>
              <a:gd name="T23" fmla="*/ 0 h 735"/>
              <a:gd name="T24" fmla="*/ 2147483647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C7E8C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250825" y="1557338"/>
            <a:ext cx="7391400" cy="93662"/>
            <a:chOff x="144" y="1248"/>
            <a:chExt cx="4656" cy="201"/>
          </a:xfrm>
        </p:grpSpPr>
        <p:sp>
          <p:nvSpPr>
            <p:cNvPr id="1037" name="AutoShape 5"/>
            <p:cNvSpPr>
              <a:spLocks noChangeArrowheads="1"/>
            </p:cNvSpPr>
            <p:nvPr userDrawn="1"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AutoShape 6"/>
            <p:cNvSpPr>
              <a:spLocks noChangeArrowheads="1"/>
            </p:cNvSpPr>
            <p:nvPr userDrawn="1"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7319" name="AutoShape 7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732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700213"/>
            <a:ext cx="7993063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73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00563" y="6524625"/>
            <a:ext cx="4576762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73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08725"/>
            <a:ext cx="587375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517A816-AE02-46E7-BAEE-4C81B905E1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3" name="Text Box 11"/>
          <p:cNvSpPr txBox="1">
            <a:spLocks noChangeArrowheads="1"/>
          </p:cNvSpPr>
          <p:nvPr/>
        </p:nvSpPr>
        <p:spPr bwMode="auto">
          <a:xfrm>
            <a:off x="107950" y="4078288"/>
            <a:ext cx="5492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FFCC"/>
                </a:solidFill>
                <a:ea typeface="方正姚体" pitchFamily="2" charset="-122"/>
              </a:rPr>
              <a:t>计算中心编制</a:t>
            </a:r>
          </a:p>
        </p:txBody>
      </p:sp>
      <p:sp>
        <p:nvSpPr>
          <p:cNvPr id="1034" name="Rectangle 12"/>
          <p:cNvSpPr>
            <a:spLocks noChangeArrowheads="1"/>
          </p:cNvSpPr>
          <p:nvPr/>
        </p:nvSpPr>
        <p:spPr bwMode="auto">
          <a:xfrm>
            <a:off x="3197225" y="4763"/>
            <a:ext cx="3097213" cy="692150"/>
          </a:xfrm>
          <a:prstGeom prst="rect">
            <a:avLst/>
          </a:prstGeom>
          <a:gradFill rotWithShape="1">
            <a:gsLst>
              <a:gs pos="0">
                <a:srgbClr val="C7E8C4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7325" name="Text Box 13"/>
          <p:cNvSpPr txBox="1">
            <a:spLocks noChangeArrowheads="1"/>
          </p:cNvSpPr>
          <p:nvPr/>
        </p:nvSpPr>
        <p:spPr bwMode="auto">
          <a:xfrm>
            <a:off x="1116013" y="112713"/>
            <a:ext cx="5616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上海大学</a:t>
            </a:r>
            <a:r>
              <a:rPr lang="zh-CN" altLang="en-US" sz="3200" b="1">
                <a:solidFill>
                  <a:srgbClr val="FFFFCC"/>
                </a:solidFill>
                <a:ea typeface="华文楷体" pitchFamily="2" charset="-122"/>
              </a:rPr>
              <a:t>    </a:t>
            </a:r>
            <a:r>
              <a:rPr lang="en-US" altLang="zh-CN" sz="2200" b="1">
                <a:solidFill>
                  <a:srgbClr val="339933"/>
                </a:solidFill>
                <a:latin typeface="Gautami" pitchFamily="2"/>
                <a:ea typeface="Dotum" pitchFamily="34" charset="-127"/>
              </a:rPr>
              <a:t>Shanghai University</a:t>
            </a:r>
          </a:p>
        </p:txBody>
      </p:sp>
      <p:pic>
        <p:nvPicPr>
          <p:cNvPr id="1036" name="Picture 14" descr="bg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69850"/>
            <a:ext cx="6000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ransition spd="med">
    <p:random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9pPr>
    </p:titleStyle>
    <p:bodyStyle>
      <a:lvl1pPr marL="92075" indent="-920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A50021"/>
        </a:buClr>
        <a:buSzPct val="75000"/>
        <a:buFont typeface="Webdings" pitchFamily="18" charset="2"/>
        <a:buChar char="·"/>
        <a:defRPr sz="2800" b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57188" indent="-8572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itchFamily="2" charset="2"/>
        <a:buChar char="]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622300" indent="-8572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80"/>
        </a:buClr>
        <a:buSzPct val="75000"/>
        <a:buFont typeface="Wingdings" pitchFamily="2" charset="2"/>
        <a:buChar char="µ"/>
        <a:defRPr sz="22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808038" indent="-6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987425" indent="8413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14446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19018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23590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28162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AutoShape 2"/>
          <p:cNvSpPr>
            <a:spLocks noGrp="1" noChangeArrowheads="1"/>
          </p:cNvSpPr>
          <p:nvPr>
            <p:ph type="ctrTitle"/>
          </p:nvPr>
        </p:nvSpPr>
        <p:spPr>
          <a:xfrm>
            <a:off x="611188" y="2209800"/>
            <a:ext cx="7772400" cy="2133600"/>
          </a:xfrm>
        </p:spPr>
        <p:txBody>
          <a:bodyPr/>
          <a:lstStyle/>
          <a:p>
            <a:pPr marL="685800" indent="-685800" eaLnBrk="1" hangingPunct="1">
              <a:defRPr/>
            </a:pPr>
            <a:r>
              <a:rPr lang="zh-CN" altLang="en-US" dirty="0" smtClean="0">
                <a:solidFill>
                  <a:srgbClr val="010000"/>
                </a:solidFill>
                <a:latin typeface="黑体" pitchFamily="2" charset="-122"/>
              </a:rPr>
              <a:t>第二章 </a:t>
            </a:r>
            <a:r>
              <a:rPr lang="en-US" altLang="zh-CN" dirty="0" smtClean="0">
                <a:solidFill>
                  <a:srgbClr val="010000"/>
                </a:solidFill>
                <a:latin typeface="黑体" pitchFamily="2" charset="-122"/>
              </a:rPr>
              <a:t>C</a:t>
            </a:r>
            <a:r>
              <a:rPr lang="zh-CN" altLang="en-US" dirty="0" smtClean="0">
                <a:solidFill>
                  <a:srgbClr val="010000"/>
                </a:solidFill>
                <a:latin typeface="黑体" pitchFamily="2" charset="-122"/>
              </a:rPr>
              <a:t>语言基础知识</a:t>
            </a:r>
            <a:r>
              <a:rPr lang="zh-CN" altLang="en-US" sz="3200" i="1" dirty="0" smtClean="0"/>
              <a:t/>
            </a:r>
            <a:br>
              <a:rPr lang="zh-CN" altLang="en-US" sz="3200" i="1" dirty="0" smtClean="0"/>
            </a:br>
            <a:endParaRPr lang="zh-CN" altLang="en-US" sz="3200" i="1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369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8F4AE1B-9DAC-4F0E-BA48-11944D710201}" type="slidenum">
              <a:rPr lang="en-US" altLang="zh-CN" sz="2600" smtClean="0">
                <a:solidFill>
                  <a:schemeClr val="bg1"/>
                </a:solidFill>
              </a:rPr>
              <a:pPr/>
              <a:t>1</a:t>
            </a:fld>
            <a:endParaRPr lang="en-US" altLang="zh-CN" sz="2600" smtClean="0">
              <a:solidFill>
                <a:schemeClr val="bg1"/>
              </a:solidFill>
            </a:endParaRPr>
          </a:p>
        </p:txBody>
      </p:sp>
      <p:sp>
        <p:nvSpPr>
          <p:cNvPr id="8693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主要内容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标识符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基本数据类型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基本输入输出函数</a:t>
            </a:r>
            <a:endParaRPr lang="en-US" altLang="zh-CN" dirty="0" smtClean="0"/>
          </a:p>
          <a:p>
            <a:pPr eaLnBrk="1" hangingPunct="1">
              <a:defRPr/>
            </a:pPr>
            <a:r>
              <a:rPr lang="zh-CN" altLang="en-US" dirty="0" smtClean="0"/>
              <a:t>运算符与表达式</a:t>
            </a:r>
            <a:endParaRPr lang="en-US" altLang="zh-CN" dirty="0" smtClean="0"/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259632" y="2996952"/>
            <a:ext cx="6912768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</a:t>
            </a: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.1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标识符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27265614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09AD7B7-31F4-404E-A6EC-AD1B17505555}" type="slidenum">
              <a:rPr lang="en-US" altLang="zh-CN" sz="2600" smtClean="0">
                <a:solidFill>
                  <a:schemeClr val="bg1"/>
                </a:solidFill>
              </a:rPr>
              <a:pPr/>
              <a:t>3</a:t>
            </a:fld>
            <a:endParaRPr lang="en-US" altLang="zh-CN" sz="2600" smtClean="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标识符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标识符是用来标识程序中用到的变量名、函数名、类型名和数组名等的有效字符序列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。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语言规定：标识符是以字母或下划线开头的字母、数字和下划线序列；并且不能与保留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关键字冲突。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语言中，字母区分大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小写</a:t>
            </a:r>
            <a:endParaRPr lang="en-US" alt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用户在命名标识符时，尽量做到见名知义</a:t>
            </a:r>
            <a:endParaRPr lang="zh-CN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标识符</a:t>
            </a:r>
            <a:r>
              <a:rPr lang="en-US" altLang="zh-CN" dirty="0" smtClean="0"/>
              <a:t>-</a:t>
            </a:r>
            <a:r>
              <a:rPr lang="zh-CN" altLang="en-US" dirty="0" smtClean="0"/>
              <a:t>关键字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2132856"/>
            <a:ext cx="8208838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978567"/>
      </p:ext>
    </p:extLst>
  </p:cSld>
  <p:clrMapOvr>
    <a:masterClrMapping/>
  </p:clrMapOvr>
  <p:transition spd="med">
    <p:rand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A09AD7B7-31F4-404E-A6EC-AD1B17505555}" type="slidenum">
              <a:rPr lang="en-US" altLang="zh-CN" sz="2600" smtClean="0">
                <a:solidFill>
                  <a:schemeClr val="bg1"/>
                </a:solidFill>
              </a:rPr>
              <a:pPr/>
              <a:t>5</a:t>
            </a:fld>
            <a:endParaRPr lang="en-US" altLang="zh-CN" sz="2600" smtClean="0">
              <a:solidFill>
                <a:schemeClr val="bg1"/>
              </a:solidFill>
            </a:endParaRPr>
          </a:p>
        </p:txBody>
      </p:sp>
      <p:sp>
        <p:nvSpPr>
          <p:cNvPr id="87040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标识符判断</a:t>
            </a:r>
          </a:p>
        </p:txBody>
      </p:sp>
      <p:sp>
        <p:nvSpPr>
          <p:cNvPr id="870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fchar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a1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3ab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_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isw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b-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bwhile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、</a:t>
            </a:r>
            <a:r>
              <a:rPr lang="en-US" altLang="zh-CN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i_Sum</a:t>
            </a:r>
            <a:endParaRPr lang="zh-CN" alt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545708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259632" y="2996952"/>
            <a:ext cx="6912768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2.2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基本数据类型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545264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742228"/>
            <a:ext cx="6696744" cy="49271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7705226"/>
      </p:ext>
    </p:extLst>
  </p:cSld>
  <p:clrMapOvr>
    <a:masterClrMapping/>
  </p:clrMapOvr>
  <p:transition spd="med">
    <p:rand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基本数据类型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99592" y="1700808"/>
            <a:ext cx="7993583" cy="4824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/>
            <a:r>
              <a:rPr lang="en-US" altLang="zh-CN" kern="0" dirty="0" err="1" smtClean="0">
                <a:solidFill>
                  <a:srgbClr val="FF3300"/>
                </a:solidFill>
                <a:ea typeface="黑体" panose="02010609060101010101" pitchFamily="49" charset="-122"/>
              </a:rPr>
              <a:t>int</a:t>
            </a:r>
            <a:r>
              <a:rPr lang="en-US" altLang="zh-CN" kern="0" dirty="0" smtClean="0">
                <a:solidFill>
                  <a:srgbClr val="FF3300"/>
                </a:solidFill>
                <a:ea typeface="黑体" panose="02010609060101010101" pitchFamily="49" charset="-122"/>
              </a:rPr>
              <a:t> </a:t>
            </a:r>
            <a:r>
              <a:rPr lang="en-US" altLang="zh-CN" kern="0" dirty="0" smtClean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kern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kern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整型</a:t>
            </a:r>
            <a:r>
              <a:rPr lang="zh-CN" altLang="en-US" kern="0" dirty="0" smtClean="0"/>
              <a:t> </a:t>
            </a:r>
          </a:p>
          <a:p>
            <a:pPr eaLnBrk="1" hangingPunct="1"/>
            <a:r>
              <a:rPr lang="en-US" altLang="zh-CN" kern="0" dirty="0" smtClean="0">
                <a:solidFill>
                  <a:srgbClr val="FF3300"/>
                </a:solidFill>
              </a:rPr>
              <a:t>float  </a:t>
            </a:r>
            <a:r>
              <a:rPr lang="en-US" altLang="zh-CN" kern="0" dirty="0" smtClean="0"/>
              <a:t>    </a:t>
            </a:r>
            <a:r>
              <a:rPr lang="zh-CN" altLang="en-US" kern="0" dirty="0" smtClean="0">
                <a:ea typeface="黑体" panose="02010609060101010101" pitchFamily="49" charset="-122"/>
              </a:rPr>
              <a:t>单精度浮点型</a:t>
            </a:r>
          </a:p>
          <a:p>
            <a:pPr eaLnBrk="1" hangingPunct="1"/>
            <a:r>
              <a:rPr lang="en-US" altLang="zh-CN" kern="0" dirty="0" smtClean="0">
                <a:solidFill>
                  <a:srgbClr val="FF3300"/>
                </a:solidFill>
                <a:ea typeface="黑体" panose="02010609060101010101" pitchFamily="49" charset="-122"/>
              </a:rPr>
              <a:t>double</a:t>
            </a:r>
            <a:r>
              <a:rPr lang="en-US" altLang="zh-CN" kern="0" dirty="0" smtClean="0">
                <a:ea typeface="黑体" panose="02010609060101010101" pitchFamily="49" charset="-122"/>
              </a:rPr>
              <a:t>  </a:t>
            </a:r>
            <a:r>
              <a:rPr lang="zh-CN" altLang="en-US" kern="0" dirty="0" smtClean="0">
                <a:ea typeface="黑体" panose="02010609060101010101" pitchFamily="49" charset="-122"/>
              </a:rPr>
              <a:t>双精度浮点型</a:t>
            </a:r>
          </a:p>
          <a:p>
            <a:pPr eaLnBrk="1" hangingPunct="1"/>
            <a:r>
              <a:rPr lang="en-US" altLang="zh-CN" kern="0" dirty="0" smtClean="0">
                <a:solidFill>
                  <a:srgbClr val="FF3300"/>
                </a:solidFill>
                <a:ea typeface="黑体" panose="02010609060101010101" pitchFamily="49" charset="-122"/>
              </a:rPr>
              <a:t>char      </a:t>
            </a:r>
            <a:r>
              <a:rPr lang="zh-CN" altLang="en-US" kern="0" dirty="0" smtClean="0">
                <a:ea typeface="黑体" panose="02010609060101010101" pitchFamily="49" charset="-122"/>
              </a:rPr>
              <a:t>字符型</a:t>
            </a:r>
          </a:p>
          <a:p>
            <a:pPr marL="0" indent="0" eaLnBrk="1" hangingPunct="1">
              <a:buNone/>
            </a:pPr>
            <a:r>
              <a:rPr lang="zh-CN" altLang="en-US" kern="0" dirty="0" smtClean="0">
                <a:ea typeface="黑体" panose="02010609060101010101" pitchFamily="49" charset="-122"/>
              </a:rPr>
              <a:t>（表示单个字符 </a:t>
            </a:r>
            <a:r>
              <a:rPr lang="en-US" altLang="zh-CN" kern="0" dirty="0" smtClean="0">
                <a:solidFill>
                  <a:srgbClr val="FF3300"/>
                </a:solidFill>
                <a:ea typeface="黑体" panose="02010609060101010101" pitchFamily="49" charset="-122"/>
              </a:rPr>
              <a:t>'a'</a:t>
            </a:r>
            <a:r>
              <a:rPr lang="zh-CN" altLang="en-US" kern="0" dirty="0" smtClean="0">
                <a:ea typeface="黑体" panose="02010609060101010101" pitchFamily="49" charset="-122"/>
              </a:rPr>
              <a:t>、</a:t>
            </a:r>
            <a:r>
              <a:rPr lang="en-US" altLang="zh-CN" kern="0" dirty="0" smtClean="0">
                <a:solidFill>
                  <a:srgbClr val="FF3300"/>
                </a:solidFill>
                <a:ea typeface="黑体" panose="02010609060101010101" pitchFamily="49" charset="-122"/>
              </a:rPr>
              <a:t>'B'</a:t>
            </a:r>
            <a:r>
              <a:rPr lang="zh-CN" altLang="en-US" kern="0" dirty="0">
                <a:ea typeface="黑体" panose="02010609060101010101" pitchFamily="49" charset="-122"/>
              </a:rPr>
              <a:t>、</a:t>
            </a:r>
            <a:r>
              <a:rPr lang="en-US" altLang="zh-CN" kern="0" dirty="0" smtClean="0">
                <a:solidFill>
                  <a:srgbClr val="FF3300"/>
                </a:solidFill>
                <a:ea typeface="黑体" panose="02010609060101010101" pitchFamily="49" charset="-122"/>
              </a:rPr>
              <a:t>'</a:t>
            </a:r>
            <a:r>
              <a:rPr lang="en-US" altLang="zh-CN" kern="0" dirty="0">
                <a:solidFill>
                  <a:srgbClr val="FF3300"/>
                </a:solidFill>
                <a:ea typeface="黑体" panose="02010609060101010101" pitchFamily="49" charset="-122"/>
              </a:rPr>
              <a:t>9'</a:t>
            </a:r>
            <a:r>
              <a:rPr lang="zh-CN" altLang="en-US" kern="0" dirty="0" smtClean="0">
                <a:ea typeface="黑体" panose="02010609060101010101" pitchFamily="49" charset="-122"/>
              </a:rPr>
              <a:t>等）           </a:t>
            </a:r>
          </a:p>
          <a:p>
            <a:pPr eaLnBrk="1" hangingPunct="1"/>
            <a:endParaRPr lang="en-US" altLang="zh-CN" kern="0" dirty="0" smtClean="0"/>
          </a:p>
        </p:txBody>
      </p:sp>
    </p:spTree>
    <p:extLst>
      <p:ext uri="{BB962C8B-B14F-4D97-AF65-F5344CB8AC3E}">
        <p14:creationId xmlns:p14="http://schemas.microsoft.com/office/powerpoint/2010/main" val="437794008"/>
      </p:ext>
    </p:extLst>
  </p:cSld>
  <p:clrMapOvr>
    <a:masterClrMapping/>
  </p:clrMapOvr>
  <p:transition spd="med"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4"/>
            <a:ext cx="8064822" cy="5030786"/>
          </a:xfrm>
        </p:spPr>
        <p:txBody>
          <a:bodyPr/>
          <a:lstStyle/>
          <a:p>
            <a:r>
              <a:rPr lang="zh-CN" altLang="en-US" dirty="0" smtClean="0"/>
              <a:t>三</a:t>
            </a:r>
            <a:r>
              <a:rPr lang="zh-CN" altLang="en-US" dirty="0"/>
              <a:t>种进制</a:t>
            </a:r>
            <a:r>
              <a:rPr lang="zh-CN" altLang="en-US" dirty="0" smtClean="0"/>
              <a:t>形式</a:t>
            </a:r>
            <a:endParaRPr lang="zh-CN" altLang="en-US" dirty="0"/>
          </a:p>
          <a:p>
            <a:pPr lvl="1"/>
            <a:r>
              <a:rPr lang="zh-CN" altLang="en-US" dirty="0" smtClean="0"/>
              <a:t>十进制数</a:t>
            </a:r>
            <a:r>
              <a:rPr lang="zh-CN" altLang="en-US" dirty="0"/>
              <a:t>：以</a:t>
            </a:r>
            <a:r>
              <a:rPr lang="zh-CN" altLang="en-US" dirty="0">
                <a:solidFill>
                  <a:srgbClr val="FF0000"/>
                </a:solidFill>
              </a:rPr>
              <a:t>非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/>
              <a:t>开头的数，每个数字位可以是</a:t>
            </a:r>
            <a:r>
              <a:rPr lang="en-US" altLang="zh-CN" dirty="0" smtClean="0"/>
              <a:t>0~9</a:t>
            </a:r>
          </a:p>
          <a:p>
            <a:pPr marL="271463" lvl="1" indent="0">
              <a:buNone/>
            </a:pPr>
            <a:r>
              <a:rPr lang="en-US" altLang="zh-CN" dirty="0" smtClean="0"/>
              <a:t>    </a:t>
            </a:r>
            <a:r>
              <a:rPr lang="zh-CN" altLang="en-US" dirty="0" smtClean="0"/>
              <a:t>例如：</a:t>
            </a:r>
            <a:r>
              <a:rPr lang="en-US" altLang="zh-CN" dirty="0" smtClean="0"/>
              <a:t>329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en-US" altLang="zh-CN" dirty="0" smtClean="0"/>
              <a:t>329</a:t>
            </a:r>
            <a:endParaRPr lang="zh-CN" altLang="en-US" dirty="0"/>
          </a:p>
          <a:p>
            <a:pPr lvl="1"/>
            <a:r>
              <a:rPr lang="zh-CN" altLang="en-US" dirty="0" smtClean="0"/>
              <a:t>八进制数</a:t>
            </a:r>
            <a:r>
              <a:rPr lang="zh-CN" altLang="en-US" dirty="0"/>
              <a:t>：以</a:t>
            </a:r>
            <a:r>
              <a:rPr lang="en-US" altLang="zh-CN" dirty="0"/>
              <a:t>0</a:t>
            </a:r>
            <a:r>
              <a:rPr lang="zh-CN" altLang="en-US" dirty="0"/>
              <a:t>开头的数，每个数字位可以是</a:t>
            </a:r>
            <a:r>
              <a:rPr lang="en-US" altLang="zh-CN" dirty="0" smtClean="0"/>
              <a:t>0~7</a:t>
            </a:r>
          </a:p>
          <a:p>
            <a:pPr marL="271463" lvl="1" indent="0">
              <a:buNone/>
            </a:pPr>
            <a:r>
              <a:rPr lang="zh-CN" altLang="en-US" dirty="0" smtClean="0"/>
              <a:t>    例如：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325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en-US" altLang="zh-CN" dirty="0" smtClean="0">
                <a:solidFill>
                  <a:srgbClr val="FF0000"/>
                </a:solidFill>
              </a:rPr>
              <a:t>0</a:t>
            </a:r>
            <a:r>
              <a:rPr lang="en-US" altLang="zh-CN" dirty="0" smtClean="0"/>
              <a:t>325</a:t>
            </a:r>
            <a:endParaRPr lang="zh-CN" altLang="en-US" dirty="0"/>
          </a:p>
          <a:p>
            <a:pPr lvl="1"/>
            <a:r>
              <a:rPr lang="zh-CN" altLang="en-US" dirty="0" smtClean="0"/>
              <a:t>十六进制</a:t>
            </a:r>
            <a:r>
              <a:rPr lang="zh-CN" altLang="en-US" dirty="0"/>
              <a:t>数：以</a:t>
            </a:r>
            <a:r>
              <a:rPr lang="en-US" altLang="zh-CN" dirty="0"/>
              <a:t>0x</a:t>
            </a:r>
            <a:r>
              <a:rPr lang="zh-CN" altLang="en-US" dirty="0"/>
              <a:t>（或</a:t>
            </a:r>
            <a:r>
              <a:rPr lang="en-US" altLang="zh-CN" dirty="0"/>
              <a:t>0X</a:t>
            </a:r>
            <a:r>
              <a:rPr lang="zh-CN" altLang="en-US" dirty="0"/>
              <a:t>）开头的数，每个数字位可以是</a:t>
            </a:r>
            <a:r>
              <a:rPr lang="en-US" altLang="zh-CN" dirty="0" smtClean="0"/>
              <a:t>0~9</a:t>
            </a:r>
            <a:r>
              <a:rPr lang="zh-CN" altLang="en-US" dirty="0" smtClean="0"/>
              <a:t>，</a:t>
            </a:r>
            <a:r>
              <a:rPr lang="en-US" altLang="zh-CN" dirty="0"/>
              <a:t>A~F</a:t>
            </a:r>
            <a:r>
              <a:rPr lang="zh-CN" altLang="en-US" dirty="0"/>
              <a:t>（或</a:t>
            </a:r>
            <a:r>
              <a:rPr lang="en-US" altLang="zh-CN" dirty="0" err="1"/>
              <a:t>a~f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marL="271463" lvl="1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例如：</a:t>
            </a:r>
            <a:r>
              <a:rPr lang="en-US" altLang="zh-CN" dirty="0" smtClean="0">
                <a:solidFill>
                  <a:srgbClr val="FF0000"/>
                </a:solidFill>
              </a:rPr>
              <a:t>0x</a:t>
            </a:r>
            <a:r>
              <a:rPr lang="en-US" altLang="zh-CN" dirty="0" smtClean="0"/>
              <a:t>258d</a:t>
            </a:r>
            <a:r>
              <a:rPr lang="zh-CN" altLang="en-US" dirty="0"/>
              <a:t>，</a:t>
            </a:r>
            <a:r>
              <a:rPr lang="en-US" altLang="zh-CN" dirty="0"/>
              <a:t>-</a:t>
            </a:r>
            <a:r>
              <a:rPr lang="en-US" altLang="zh-CN" dirty="0" smtClean="0">
                <a:solidFill>
                  <a:srgbClr val="FF0000"/>
                </a:solidFill>
              </a:rPr>
              <a:t>0X</a:t>
            </a:r>
            <a:r>
              <a:rPr lang="en-US" altLang="zh-CN" dirty="0" smtClean="0"/>
              <a:t>258</a:t>
            </a:r>
          </a:p>
          <a:p>
            <a:pPr lvl="1"/>
            <a:r>
              <a:rPr lang="zh-CN" altLang="en-US" dirty="0">
                <a:ea typeface="黑体" panose="02010609060101010101" pitchFamily="49" charset="-122"/>
              </a:rPr>
              <a:t>任何一个整数都可以用</a:t>
            </a:r>
            <a:r>
              <a:rPr lang="en-US" altLang="zh-CN" dirty="0">
                <a:ea typeface="黑体" panose="02010609060101010101" pitchFamily="49" charset="-122"/>
              </a:rPr>
              <a:t>3</a:t>
            </a:r>
            <a:r>
              <a:rPr lang="zh-CN" altLang="en-US" dirty="0">
                <a:ea typeface="黑体" panose="02010609060101010101" pitchFamily="49" charset="-122"/>
              </a:rPr>
              <a:t>种形式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49" charset="-122"/>
              </a:rPr>
              <a:t>(</a:t>
            </a:r>
            <a:r>
              <a:rPr lang="zh-CN" altLang="en-US" dirty="0">
                <a:solidFill>
                  <a:srgbClr val="FF3300"/>
                </a:solidFill>
                <a:ea typeface="黑体" panose="02010609060101010101" pitchFamily="49" charset="-122"/>
              </a:rPr>
              <a:t>十进制、八进制、十六进制</a:t>
            </a:r>
            <a:r>
              <a:rPr lang="en-US" altLang="zh-CN" dirty="0">
                <a:solidFill>
                  <a:srgbClr val="FF3300"/>
                </a:solidFill>
                <a:ea typeface="黑体" panose="02010609060101010101" pitchFamily="49" charset="-122"/>
              </a:rPr>
              <a:t>)</a:t>
            </a:r>
            <a:r>
              <a:rPr lang="zh-CN" altLang="en-US" dirty="0">
                <a:ea typeface="黑体" panose="02010609060101010101" pitchFamily="49" charset="-122"/>
              </a:rPr>
              <a:t>来表示，并不影响它的数值大小。</a:t>
            </a:r>
          </a:p>
          <a:p>
            <a:pPr marL="271463" lvl="1" indent="0">
              <a:buNone/>
            </a:pPr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整型常量 </a:t>
            </a:r>
          </a:p>
        </p:txBody>
      </p:sp>
    </p:spTree>
    <p:extLst>
      <p:ext uri="{BB962C8B-B14F-4D97-AF65-F5344CB8AC3E}">
        <p14:creationId xmlns:p14="http://schemas.microsoft.com/office/powerpoint/2010/main" val="1483686997"/>
      </p:ext>
    </p:extLst>
  </p:cSld>
  <p:clrMapOvr>
    <a:masterClrMapping/>
  </p:clrMapOvr>
  <p:transition spd="med"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4"/>
            <a:ext cx="8064822" cy="5030786"/>
          </a:xfrm>
        </p:spPr>
        <p:txBody>
          <a:bodyPr/>
          <a:lstStyle/>
          <a:p>
            <a:r>
              <a:rPr lang="zh-CN" altLang="en-US" sz="3200" dirty="0">
                <a:ea typeface="黑体" panose="02010609060101010101" pitchFamily="49" charset="-122"/>
              </a:rPr>
              <a:t>判断下面的整数表示是否</a:t>
            </a:r>
            <a:r>
              <a:rPr lang="zh-CN" altLang="en-US" sz="3200" dirty="0" smtClean="0">
                <a:ea typeface="黑体" panose="02010609060101010101" pitchFamily="49" charset="-122"/>
              </a:rPr>
              <a:t>正确</a:t>
            </a:r>
            <a:endParaRPr lang="en-US" altLang="zh-CN" sz="3200" dirty="0" smtClean="0">
              <a:ea typeface="黑体" panose="02010609060101010101" pitchFamily="49" charset="-122"/>
            </a:endParaRPr>
          </a:p>
          <a:p>
            <a:pPr eaLnBrk="1" hangingPunct="1">
              <a:buFontTx/>
              <a:buNone/>
            </a:pPr>
            <a:r>
              <a:rPr lang="en-US" altLang="zh-CN" sz="3600" dirty="0" smtClean="0"/>
              <a:t>  123</a:t>
            </a:r>
            <a:r>
              <a:rPr lang="zh-CN" altLang="en-US" sz="3600" dirty="0" smtClean="0"/>
              <a:t>，</a:t>
            </a:r>
            <a:r>
              <a:rPr lang="en-US" altLang="zh-CN" sz="3600" dirty="0" smtClean="0"/>
              <a:t>100</a:t>
            </a:r>
          </a:p>
          <a:p>
            <a:pPr eaLnBrk="1" hangingPunct="1">
              <a:buFontTx/>
              <a:buNone/>
            </a:pPr>
            <a:r>
              <a:rPr lang="en-US" altLang="zh-CN" sz="3600" dirty="0" smtClean="0">
                <a:solidFill>
                  <a:srgbClr val="FF3300"/>
                </a:solidFill>
              </a:rPr>
              <a:t>  0</a:t>
            </a:r>
            <a:r>
              <a:rPr lang="en-US" altLang="zh-CN" sz="3600" dirty="0" smtClean="0"/>
              <a:t>178</a:t>
            </a:r>
            <a:r>
              <a:rPr lang="zh-CN" altLang="en-US" sz="3600" dirty="0" smtClean="0"/>
              <a:t>，</a:t>
            </a:r>
            <a:r>
              <a:rPr lang="en-US" altLang="zh-CN" sz="3600" dirty="0" smtClean="0">
                <a:solidFill>
                  <a:srgbClr val="FF3300"/>
                </a:solidFill>
              </a:rPr>
              <a:t>0</a:t>
            </a:r>
            <a:r>
              <a:rPr lang="en-US" altLang="zh-CN" sz="3600" dirty="0" smtClean="0"/>
              <a:t>51</a:t>
            </a:r>
            <a:endParaRPr lang="en-US" altLang="zh-CN" sz="3600" dirty="0"/>
          </a:p>
          <a:p>
            <a:pPr eaLnBrk="1" hangingPunct="1">
              <a:buFontTx/>
              <a:buNone/>
            </a:pPr>
            <a:r>
              <a:rPr lang="en-US" altLang="zh-CN" sz="3600" dirty="0" smtClean="0">
                <a:solidFill>
                  <a:srgbClr val="FF3300"/>
                </a:solidFill>
              </a:rPr>
              <a:t>  0x</a:t>
            </a:r>
            <a:r>
              <a:rPr lang="en-US" altLang="zh-CN" sz="3600" dirty="0" smtClean="0"/>
              <a:t>123456</a:t>
            </a:r>
            <a:r>
              <a:rPr lang="en-US" altLang="zh-CN" sz="3600" dirty="0"/>
              <a:t>,   </a:t>
            </a:r>
            <a:r>
              <a:rPr lang="en-US" altLang="zh-CN" sz="3600" dirty="0" smtClean="0">
                <a:solidFill>
                  <a:srgbClr val="FF3300"/>
                </a:solidFill>
              </a:rPr>
              <a:t>0X</a:t>
            </a:r>
            <a:r>
              <a:rPr lang="en-US" altLang="zh-CN" sz="3600" dirty="0" smtClean="0"/>
              <a:t>ABCD</a:t>
            </a:r>
            <a:endParaRPr lang="en-US" altLang="zh-CN" sz="3600" dirty="0"/>
          </a:p>
          <a:p>
            <a:pPr eaLnBrk="1" hangingPunct="1">
              <a:buFontTx/>
              <a:buNone/>
            </a:pPr>
            <a:r>
              <a:rPr lang="en-US" altLang="zh-CN" sz="3600" dirty="0" smtClean="0">
                <a:solidFill>
                  <a:srgbClr val="FF3300"/>
                </a:solidFill>
              </a:rPr>
              <a:t>  0x</a:t>
            </a:r>
            <a:r>
              <a:rPr lang="en-US" altLang="zh-CN" sz="3600" dirty="0" smtClean="0"/>
              <a:t>ff</a:t>
            </a:r>
            <a:r>
              <a:rPr lang="en-US" altLang="zh-CN" sz="3600" dirty="0"/>
              <a:t>,    </a:t>
            </a:r>
            <a:r>
              <a:rPr lang="en-US" altLang="zh-CN" sz="3600" dirty="0">
                <a:solidFill>
                  <a:srgbClr val="FF3300"/>
                </a:solidFill>
              </a:rPr>
              <a:t>0x</a:t>
            </a:r>
            <a:r>
              <a:rPr lang="en-US" altLang="zh-CN" sz="3600" dirty="0"/>
              <a:t>lg</a:t>
            </a:r>
          </a:p>
          <a:p>
            <a:pPr lvl="1"/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整型常量 </a:t>
            </a:r>
          </a:p>
        </p:txBody>
      </p:sp>
    </p:spTree>
    <p:extLst>
      <p:ext uri="{BB962C8B-B14F-4D97-AF65-F5344CB8AC3E}">
        <p14:creationId xmlns:p14="http://schemas.microsoft.com/office/powerpoint/2010/main" val="3480741015"/>
      </p:ext>
    </p:extLst>
  </p:cSld>
  <p:clrMapOvr>
    <a:masterClrMapping/>
  </p:clrMapOvr>
  <p:transition spd="med">
    <p:rand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3219" y="1710283"/>
            <a:ext cx="7924800" cy="784225"/>
          </a:xfrm>
        </p:spPr>
        <p:txBody>
          <a:bodyPr/>
          <a:lstStyle/>
          <a:p>
            <a:pPr eaLnBrk="1" hangingPunct="1"/>
            <a:r>
              <a:rPr lang="en-US" altLang="zh-CN" b="1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个字节有</a:t>
            </a:r>
            <a:r>
              <a:rPr lang="en-US" altLang="zh-CN" b="1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8</a:t>
            </a:r>
            <a:r>
              <a:rPr lang="zh-CN" altLang="en-US" b="1" dirty="0" smtClean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个二进制位</a:t>
            </a:r>
          </a:p>
        </p:txBody>
      </p:sp>
      <p:graphicFrame>
        <p:nvGraphicFramePr>
          <p:cNvPr id="7192" name="Group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98507"/>
              </p:ext>
            </p:extLst>
          </p:nvPr>
        </p:nvGraphicFramePr>
        <p:xfrm>
          <a:off x="1546969" y="3861346"/>
          <a:ext cx="5856288" cy="808037"/>
        </p:xfrm>
        <a:graphic>
          <a:graphicData uri="http://schemas.openxmlformats.org/drawingml/2006/table">
            <a:tbl>
              <a:tblPr/>
              <a:tblGrid>
                <a:gridCol w="73183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31837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3183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334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3183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3183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31837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73183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80803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zh-CN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宋体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19" name="Line 26"/>
          <p:cNvSpPr>
            <a:spLocks noChangeShapeType="1"/>
          </p:cNvSpPr>
          <p:nvPr/>
        </p:nvSpPr>
        <p:spPr bwMode="auto">
          <a:xfrm flipH="1">
            <a:off x="3491657" y="3142208"/>
            <a:ext cx="1079500" cy="647700"/>
          </a:xfrm>
          <a:prstGeom prst="line">
            <a:avLst/>
          </a:prstGeom>
          <a:noFill/>
          <a:ln w="101600">
            <a:solidFill>
              <a:srgbClr val="0066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0" name="Rectangle 27"/>
          <p:cNvSpPr>
            <a:spLocks noChangeArrowheads="1"/>
          </p:cNvSpPr>
          <p:nvPr/>
        </p:nvSpPr>
        <p:spPr bwMode="auto">
          <a:xfrm>
            <a:off x="4715619" y="2565946"/>
            <a:ext cx="1872605" cy="647700"/>
          </a:xfrm>
          <a:prstGeom prst="rect">
            <a:avLst/>
          </a:prstGeom>
          <a:noFill/>
          <a:ln w="38100" algn="ctr">
            <a:solidFill>
              <a:srgbClr val="008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600" b="1">
                <a:solidFill>
                  <a:srgbClr val="0066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个字节</a:t>
            </a:r>
          </a:p>
        </p:txBody>
      </p:sp>
      <p:sp>
        <p:nvSpPr>
          <p:cNvPr id="4121" name="Line 28"/>
          <p:cNvSpPr>
            <a:spLocks noChangeShapeType="1"/>
          </p:cNvSpPr>
          <p:nvPr/>
        </p:nvSpPr>
        <p:spPr bwMode="auto">
          <a:xfrm flipV="1">
            <a:off x="1907332" y="4724946"/>
            <a:ext cx="0" cy="576262"/>
          </a:xfrm>
          <a:prstGeom prst="line">
            <a:avLst/>
          </a:prstGeom>
          <a:noFill/>
          <a:ln w="101600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22" name="Rectangle 29"/>
          <p:cNvSpPr>
            <a:spLocks noChangeArrowheads="1"/>
          </p:cNvSpPr>
          <p:nvPr/>
        </p:nvSpPr>
        <p:spPr bwMode="auto">
          <a:xfrm>
            <a:off x="827584" y="5319216"/>
            <a:ext cx="2520280" cy="1081088"/>
          </a:xfrm>
          <a:prstGeom prst="rect">
            <a:avLst/>
          </a:prstGeom>
          <a:noFill/>
          <a:ln w="38100" algn="ctr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44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 </a:t>
            </a:r>
            <a:r>
              <a:rPr lang="zh-CN" altLang="en-US" sz="44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或者 </a:t>
            </a:r>
            <a:r>
              <a:rPr lang="en-US" altLang="zh-CN" sz="4400" b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</a:p>
        </p:txBody>
      </p:sp>
      <p:sp>
        <p:nvSpPr>
          <p:cNvPr id="8" name="标题 1"/>
          <p:cNvSpPr txBox="1">
            <a:spLocks/>
          </p:cNvSpPr>
          <p:nvPr/>
        </p:nvSpPr>
        <p:spPr bwMode="auto"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charset="0"/>
                <a:ea typeface="黑体" pitchFamily="2" charset="-122"/>
              </a:defRPr>
            </a:lvl9pPr>
          </a:lstStyle>
          <a:p>
            <a:r>
              <a:rPr lang="zh-CN" altLang="en-US" kern="0" smtClean="0"/>
              <a:t>基本数据类型</a:t>
            </a:r>
            <a:endParaRPr lang="zh-CN" altLang="en-US" kern="0" dirty="0"/>
          </a:p>
        </p:txBody>
      </p:sp>
    </p:spTree>
    <p:extLst>
      <p:ext uri="{BB962C8B-B14F-4D97-AF65-F5344CB8AC3E}">
        <p14:creationId xmlns:p14="http://schemas.microsoft.com/office/powerpoint/2010/main" val="411624824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整型</a:t>
            </a:r>
            <a:r>
              <a:rPr lang="zh-CN" altLang="en-US" dirty="0" smtClean="0"/>
              <a:t>变量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462795"/>
              </p:ext>
            </p:extLst>
          </p:nvPr>
        </p:nvGraphicFramePr>
        <p:xfrm>
          <a:off x="759570" y="1700808"/>
          <a:ext cx="8204918" cy="5030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1128">
                  <a:extLst>
                    <a:ext uri="{9D8B030D-6E8A-4147-A177-3AD203B41FA5}">
                      <a16:colId xmlns="" xmlns:a16="http://schemas.microsoft.com/office/drawing/2014/main" val="630753886"/>
                    </a:ext>
                  </a:extLst>
                </a:gridCol>
                <a:gridCol w="2443912">
                  <a:extLst>
                    <a:ext uri="{9D8B030D-6E8A-4147-A177-3AD203B41FA5}">
                      <a16:colId xmlns="" xmlns:a16="http://schemas.microsoft.com/office/drawing/2014/main" val="1573456957"/>
                    </a:ext>
                  </a:extLst>
                </a:gridCol>
                <a:gridCol w="2222337">
                  <a:extLst>
                    <a:ext uri="{9D8B030D-6E8A-4147-A177-3AD203B41FA5}">
                      <a16:colId xmlns="" xmlns:a16="http://schemas.microsoft.com/office/drawing/2014/main" val="2975203754"/>
                    </a:ext>
                  </a:extLst>
                </a:gridCol>
                <a:gridCol w="1777541">
                  <a:extLst>
                    <a:ext uri="{9D8B030D-6E8A-4147-A177-3AD203B41FA5}">
                      <a16:colId xmlns="" xmlns:a16="http://schemas.microsoft.com/office/drawing/2014/main" val="170237759"/>
                    </a:ext>
                  </a:extLst>
                </a:gridCol>
              </a:tblGrid>
              <a:tr h="675904">
                <a:tc>
                  <a:txBody>
                    <a:bodyPr/>
                    <a:lstStyle/>
                    <a:p>
                      <a:pPr algn="ctr" fontAlgn="base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 dirty="0">
                          <a:effectLst/>
                        </a:rPr>
                        <a:t>名称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 dirty="0">
                          <a:effectLst/>
                        </a:rPr>
                        <a:t>类型名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 dirty="0">
                          <a:effectLst/>
                        </a:rPr>
                        <a:t>数据长度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7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取值范围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496110410"/>
                  </a:ext>
                </a:extLst>
              </a:tr>
              <a:tr h="675904"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有符号整型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 err="1">
                          <a:effectLst/>
                        </a:rPr>
                        <a:t>int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effectLst/>
                        </a:rPr>
                        <a:t>32</a:t>
                      </a:r>
                      <a:r>
                        <a:rPr lang="zh-CN" sz="1800" b="1" kern="1200" dirty="0">
                          <a:effectLst/>
                        </a:rPr>
                        <a:t>位（</a:t>
                      </a:r>
                      <a:r>
                        <a:rPr lang="en-US" sz="1800" b="1" kern="1200" dirty="0">
                          <a:effectLst/>
                        </a:rPr>
                        <a:t>4</a:t>
                      </a:r>
                      <a:r>
                        <a:rPr lang="zh-CN" sz="1800" b="1" kern="1200" dirty="0">
                          <a:effectLst/>
                        </a:rPr>
                        <a:t>个字节）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-2</a:t>
                      </a:r>
                      <a:r>
                        <a:rPr lang="en-US" sz="1800" b="1" kern="0" baseline="30000" dirty="0">
                          <a:effectLst/>
                        </a:rPr>
                        <a:t>31</a:t>
                      </a:r>
                      <a:r>
                        <a:rPr lang="en-US" sz="1800" b="1" kern="0" dirty="0">
                          <a:effectLst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en-US" sz="1800" b="1" kern="0" dirty="0">
                          <a:effectLst/>
                        </a:rPr>
                        <a:t>2</a:t>
                      </a:r>
                      <a:r>
                        <a:rPr lang="en-US" sz="1800" b="1" kern="0" baseline="30000" dirty="0">
                          <a:effectLst/>
                        </a:rPr>
                        <a:t>31</a:t>
                      </a:r>
                      <a:r>
                        <a:rPr lang="en-US" sz="1800" b="1" kern="0" dirty="0">
                          <a:effectLst/>
                        </a:rPr>
                        <a:t>-1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035596124"/>
                  </a:ext>
                </a:extLst>
              </a:tr>
              <a:tr h="750620"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有符号短整型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effectLst/>
                        </a:rPr>
                        <a:t>short [</a:t>
                      </a:r>
                      <a:r>
                        <a:rPr lang="en-US" sz="1800" b="1" kern="1200" dirty="0" err="1">
                          <a:effectLst/>
                        </a:rPr>
                        <a:t>int</a:t>
                      </a:r>
                      <a:r>
                        <a:rPr lang="en-US" sz="1800" b="1" kern="1200" dirty="0">
                          <a:effectLst/>
                        </a:rPr>
                        <a:t>]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effectLst/>
                        </a:rPr>
                        <a:t>16</a:t>
                      </a:r>
                      <a:r>
                        <a:rPr lang="zh-CN" sz="1800" b="1" kern="1200" dirty="0">
                          <a:effectLst/>
                        </a:rPr>
                        <a:t>位（</a:t>
                      </a:r>
                      <a:r>
                        <a:rPr lang="en-US" sz="1800" b="1" kern="1200" dirty="0">
                          <a:effectLst/>
                        </a:rPr>
                        <a:t>2</a:t>
                      </a:r>
                      <a:r>
                        <a:rPr lang="zh-CN" sz="1800" b="1" kern="1200" dirty="0">
                          <a:effectLst/>
                        </a:rPr>
                        <a:t>个字节）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-2</a:t>
                      </a:r>
                      <a:r>
                        <a:rPr lang="en-US" sz="1800" b="1" kern="0" baseline="30000" dirty="0">
                          <a:effectLst/>
                        </a:rPr>
                        <a:t>15</a:t>
                      </a:r>
                      <a:r>
                        <a:rPr lang="en-US" sz="1800" b="1" kern="0" dirty="0">
                          <a:effectLst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en-US" sz="1800" b="1" kern="0" dirty="0">
                          <a:effectLst/>
                        </a:rPr>
                        <a:t>2</a:t>
                      </a:r>
                      <a:r>
                        <a:rPr lang="en-US" sz="1800" b="1" kern="0" baseline="30000" dirty="0">
                          <a:effectLst/>
                        </a:rPr>
                        <a:t>15</a:t>
                      </a:r>
                      <a:r>
                        <a:rPr lang="en-US" sz="1800" b="1" kern="0" dirty="0">
                          <a:effectLst/>
                        </a:rPr>
                        <a:t>-1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1268900050"/>
                  </a:ext>
                </a:extLst>
              </a:tr>
              <a:tr h="750620"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有符号长整型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long [int]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effectLst/>
                        </a:rPr>
                        <a:t>32</a:t>
                      </a:r>
                      <a:r>
                        <a:rPr lang="zh-CN" sz="1800" b="1" kern="1200" dirty="0">
                          <a:effectLst/>
                        </a:rPr>
                        <a:t>位（</a:t>
                      </a:r>
                      <a:r>
                        <a:rPr lang="en-US" sz="1800" b="1" kern="1200" dirty="0">
                          <a:effectLst/>
                        </a:rPr>
                        <a:t>4</a:t>
                      </a:r>
                      <a:r>
                        <a:rPr lang="zh-CN" sz="1800" b="1" kern="1200" dirty="0">
                          <a:effectLst/>
                        </a:rPr>
                        <a:t>个字节）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-2</a:t>
                      </a:r>
                      <a:r>
                        <a:rPr lang="en-US" sz="1800" b="1" kern="0" baseline="30000" dirty="0">
                          <a:effectLst/>
                        </a:rPr>
                        <a:t>31</a:t>
                      </a:r>
                      <a:r>
                        <a:rPr lang="en-US" sz="1800" b="1" kern="0" dirty="0">
                          <a:effectLst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en-US" sz="1800" b="1" kern="0" dirty="0">
                          <a:effectLst/>
                        </a:rPr>
                        <a:t>2</a:t>
                      </a:r>
                      <a:r>
                        <a:rPr lang="en-US" sz="1800" b="1" kern="0" baseline="30000" dirty="0">
                          <a:effectLst/>
                        </a:rPr>
                        <a:t>31</a:t>
                      </a:r>
                      <a:r>
                        <a:rPr lang="en-US" sz="1800" b="1" kern="0" dirty="0">
                          <a:effectLst/>
                        </a:rPr>
                        <a:t>-1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56729339"/>
                  </a:ext>
                </a:extLst>
              </a:tr>
              <a:tr h="675904"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无符号整型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unsigned [int]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effectLst/>
                        </a:rPr>
                        <a:t>32</a:t>
                      </a:r>
                      <a:r>
                        <a:rPr lang="zh-CN" sz="1800" b="1" kern="1200" dirty="0">
                          <a:effectLst/>
                        </a:rPr>
                        <a:t>位（</a:t>
                      </a:r>
                      <a:r>
                        <a:rPr lang="en-US" sz="1800" b="1" kern="1200" dirty="0">
                          <a:effectLst/>
                        </a:rPr>
                        <a:t>4</a:t>
                      </a:r>
                      <a:r>
                        <a:rPr lang="zh-CN" sz="1800" b="1" kern="1200" dirty="0">
                          <a:effectLst/>
                        </a:rPr>
                        <a:t>个字节）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0</a:t>
                      </a:r>
                      <a:r>
                        <a:rPr lang="en-US" sz="1800" b="1" kern="0" dirty="0">
                          <a:effectLst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en-US" sz="1800" b="1" kern="0" dirty="0">
                          <a:effectLst/>
                        </a:rPr>
                        <a:t>2</a:t>
                      </a:r>
                      <a:r>
                        <a:rPr lang="en-US" sz="1800" b="1" kern="0" baseline="30000" dirty="0">
                          <a:effectLst/>
                        </a:rPr>
                        <a:t>32</a:t>
                      </a:r>
                      <a:r>
                        <a:rPr lang="en-US" sz="1800" b="1" kern="0" dirty="0">
                          <a:effectLst/>
                        </a:rPr>
                        <a:t>-1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3076610595"/>
                  </a:ext>
                </a:extLst>
              </a:tr>
              <a:tr h="750620"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无符号短整型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unsigned short [int]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 dirty="0">
                          <a:effectLst/>
                        </a:rPr>
                        <a:t>16</a:t>
                      </a:r>
                      <a:r>
                        <a:rPr lang="zh-CN" sz="1800" b="1" kern="1200" dirty="0">
                          <a:effectLst/>
                        </a:rPr>
                        <a:t>位（</a:t>
                      </a:r>
                      <a:r>
                        <a:rPr lang="en-US" sz="1800" b="1" kern="1200" dirty="0">
                          <a:effectLst/>
                        </a:rPr>
                        <a:t>2</a:t>
                      </a:r>
                      <a:r>
                        <a:rPr lang="zh-CN" sz="1800" b="1" kern="1200" dirty="0">
                          <a:effectLst/>
                        </a:rPr>
                        <a:t>个字节）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0</a:t>
                      </a:r>
                      <a:r>
                        <a:rPr lang="en-US" sz="1800" b="1" kern="0" dirty="0">
                          <a:effectLst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en-US" sz="1800" b="1" kern="0" dirty="0">
                          <a:effectLst/>
                        </a:rPr>
                        <a:t>2</a:t>
                      </a:r>
                      <a:r>
                        <a:rPr lang="en-US" sz="1800" b="1" kern="0" baseline="30000" dirty="0">
                          <a:effectLst/>
                        </a:rPr>
                        <a:t>16</a:t>
                      </a:r>
                      <a:r>
                        <a:rPr lang="en-US" sz="1800" b="1" kern="0" dirty="0">
                          <a:effectLst/>
                        </a:rPr>
                        <a:t>-1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400262703"/>
                  </a:ext>
                </a:extLst>
              </a:tr>
              <a:tr h="750620"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zh-CN" sz="1800" b="1" kern="1200">
                          <a:effectLst/>
                        </a:rPr>
                        <a:t>无符号长整型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spcBef>
                          <a:spcPts val="670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unsigned long [int]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spcBef>
                          <a:spcPts val="575"/>
                        </a:spcBef>
                        <a:spcAft>
                          <a:spcPts val="0"/>
                        </a:spcAft>
                      </a:pPr>
                      <a:r>
                        <a:rPr lang="en-US" sz="1800" b="1" kern="1200">
                          <a:effectLst/>
                        </a:rPr>
                        <a:t>32</a:t>
                      </a:r>
                      <a:r>
                        <a:rPr lang="zh-CN" sz="1800" b="1" kern="1200">
                          <a:effectLst/>
                        </a:rPr>
                        <a:t>位（</a:t>
                      </a:r>
                      <a:r>
                        <a:rPr lang="en-US" sz="1800" b="1" kern="1200">
                          <a:effectLst/>
                        </a:rPr>
                        <a:t>4</a:t>
                      </a:r>
                      <a:r>
                        <a:rPr lang="zh-CN" sz="1800" b="1" kern="1200">
                          <a:effectLst/>
                        </a:rPr>
                        <a:t>个字节）</a:t>
                      </a:r>
                      <a:endParaRPr lang="zh-CN" sz="1800" b="1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800" b="1" kern="0" dirty="0">
                          <a:effectLst/>
                        </a:rPr>
                        <a:t>0</a:t>
                      </a:r>
                      <a:r>
                        <a:rPr lang="en-US" sz="1800" b="1" kern="0" dirty="0">
                          <a:effectLst/>
                          <a:sym typeface="Symbol" panose="05050102010706020507" pitchFamily="18" charset="2"/>
                        </a:rPr>
                        <a:t></a:t>
                      </a:r>
                      <a:r>
                        <a:rPr lang="en-US" sz="1800" b="1" kern="0" dirty="0">
                          <a:effectLst/>
                        </a:rPr>
                        <a:t>2</a:t>
                      </a:r>
                      <a:r>
                        <a:rPr lang="en-US" sz="1800" b="1" kern="0" baseline="30000" dirty="0">
                          <a:effectLst/>
                        </a:rPr>
                        <a:t>32</a:t>
                      </a:r>
                      <a:r>
                        <a:rPr lang="en-US" sz="1800" b="1" kern="0" dirty="0">
                          <a:effectLst/>
                        </a:rPr>
                        <a:t>-1</a:t>
                      </a:r>
                      <a:endParaRPr lang="zh-CN" sz="18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="" xmlns:a16="http://schemas.microsoft.com/office/drawing/2014/main" val="2429969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201437"/>
      </p:ext>
    </p:extLst>
  </p:cSld>
  <p:clrMapOvr>
    <a:masterClrMapping/>
  </p:clrMapOvr>
  <p:transition spd="med"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变量</a:t>
            </a:r>
            <a:r>
              <a:rPr lang="zh-CN" altLang="en-US" dirty="0"/>
              <a:t>定义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041155"/>
          </a:xfrm>
        </p:spPr>
        <p:txBody>
          <a:bodyPr/>
          <a:lstStyle/>
          <a:p>
            <a:r>
              <a:rPr lang="zh-CN" altLang="en-US" dirty="0" smtClean="0"/>
              <a:t>变量</a:t>
            </a:r>
            <a:r>
              <a:rPr lang="zh-CN" altLang="en-US" dirty="0"/>
              <a:t>的定义格式为：</a:t>
            </a:r>
          </a:p>
          <a:p>
            <a:pPr lvl="1"/>
            <a:r>
              <a:rPr lang="en-US" altLang="zh-CN" dirty="0"/>
              <a:t>&lt;</a:t>
            </a:r>
            <a:r>
              <a:rPr lang="zh-CN" altLang="en-US" dirty="0"/>
              <a:t>类型说明符</a:t>
            </a:r>
            <a:r>
              <a:rPr lang="en-US" altLang="zh-CN" dirty="0"/>
              <a:t>&gt; &lt;</a:t>
            </a:r>
            <a:r>
              <a:rPr lang="zh-CN" altLang="en-US" dirty="0"/>
              <a:t>变量名</a:t>
            </a:r>
            <a:r>
              <a:rPr lang="en-US" altLang="zh-CN" dirty="0"/>
              <a:t>1&gt;[,&lt;</a:t>
            </a:r>
            <a:r>
              <a:rPr lang="zh-CN" altLang="en-US" dirty="0"/>
              <a:t>变量名</a:t>
            </a:r>
            <a:r>
              <a:rPr lang="en-US" altLang="zh-CN" dirty="0"/>
              <a:t>2&gt;,……&lt;</a:t>
            </a:r>
            <a:r>
              <a:rPr lang="zh-CN" altLang="en-US" dirty="0"/>
              <a:t>变量名</a:t>
            </a:r>
            <a:r>
              <a:rPr lang="en-US" altLang="zh-CN" dirty="0"/>
              <a:t>n</a:t>
            </a:r>
            <a:r>
              <a:rPr lang="en-US" altLang="zh-CN" dirty="0" smtClean="0"/>
              <a:t>&gt;];</a:t>
            </a:r>
          </a:p>
          <a:p>
            <a:pPr lvl="1"/>
            <a:r>
              <a:rPr lang="zh-CN" altLang="en-US" dirty="0" smtClean="0"/>
              <a:t>例：</a:t>
            </a:r>
            <a:endParaRPr lang="en-US" altLang="zh-CN" dirty="0"/>
          </a:p>
          <a:p>
            <a:pPr lvl="2"/>
            <a:r>
              <a:rPr lang="en-US" altLang="zh-CN" sz="2400" dirty="0" err="1" smtClean="0"/>
              <a:t>int</a:t>
            </a:r>
            <a:r>
              <a:rPr lang="en-US" altLang="zh-CN" sz="2400" dirty="0" smtClean="0"/>
              <a:t>  </a:t>
            </a:r>
            <a:r>
              <a:rPr lang="en-US" altLang="zh-CN" sz="2400" dirty="0" err="1" smtClean="0"/>
              <a:t>i,j,k</a:t>
            </a:r>
            <a:r>
              <a:rPr lang="en-US" altLang="zh-CN" sz="2400" dirty="0" smtClean="0"/>
              <a:t>;</a:t>
            </a:r>
          </a:p>
          <a:p>
            <a:pPr lvl="2"/>
            <a:r>
              <a:rPr lang="en-US" altLang="zh-CN" sz="2400" dirty="0" smtClean="0"/>
              <a:t>float sum;</a:t>
            </a:r>
          </a:p>
          <a:p>
            <a:pPr lvl="2"/>
            <a:r>
              <a:rPr lang="en-US" altLang="zh-CN" sz="2400" dirty="0" smtClean="0"/>
              <a:t>double x;</a:t>
            </a:r>
          </a:p>
          <a:p>
            <a:pPr lvl="2"/>
            <a:r>
              <a:rPr lang="en-US" altLang="zh-CN" sz="2400" dirty="0" smtClean="0"/>
              <a:t>char c1,c1;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992889"/>
      </p:ext>
    </p:extLst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浮点型常量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897139"/>
          </a:xfrm>
        </p:spPr>
        <p:txBody>
          <a:bodyPr/>
          <a:lstStyle/>
          <a:p>
            <a:r>
              <a:rPr lang="zh-CN" altLang="en-US" dirty="0" smtClean="0"/>
              <a:t>实</a:t>
            </a:r>
            <a:r>
              <a:rPr lang="zh-CN" altLang="en-US" dirty="0"/>
              <a:t>型</a:t>
            </a:r>
            <a:r>
              <a:rPr lang="zh-CN" altLang="en-US" dirty="0" smtClean="0"/>
              <a:t>常量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实数</a:t>
            </a:r>
            <a:r>
              <a:rPr lang="zh-CN" altLang="en-US" dirty="0"/>
              <a:t>或</a:t>
            </a:r>
            <a:r>
              <a:rPr lang="zh-CN" altLang="en-US" dirty="0" smtClean="0"/>
              <a:t>浮点数</a:t>
            </a:r>
            <a:endParaRPr lang="en-US" altLang="zh-CN" dirty="0" smtClean="0"/>
          </a:p>
          <a:p>
            <a:r>
              <a:rPr lang="zh-CN" altLang="en-US" dirty="0" smtClean="0"/>
              <a:t>两种表示形式</a:t>
            </a:r>
          </a:p>
          <a:p>
            <a:pPr lvl="1"/>
            <a:r>
              <a:rPr lang="zh-CN" altLang="en-US" dirty="0" smtClean="0"/>
              <a:t>小数</a:t>
            </a:r>
            <a:r>
              <a:rPr lang="zh-CN" altLang="en-US" dirty="0"/>
              <a:t>形式</a:t>
            </a:r>
            <a:r>
              <a:rPr lang="zh-CN" altLang="en-US" dirty="0" smtClean="0"/>
              <a:t>：整数部分</a:t>
            </a:r>
            <a:r>
              <a:rPr lang="en-US" altLang="zh-CN" dirty="0" smtClean="0"/>
              <a:t>+</a:t>
            </a:r>
            <a:r>
              <a:rPr lang="zh-CN" altLang="en-US" dirty="0" smtClean="0"/>
              <a:t>小数点</a:t>
            </a:r>
            <a:r>
              <a:rPr lang="en-US" altLang="zh-CN" dirty="0" smtClean="0"/>
              <a:t>+</a:t>
            </a:r>
            <a:r>
              <a:rPr lang="zh-CN" altLang="en-US" dirty="0" smtClean="0"/>
              <a:t>小数部分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例如：</a:t>
            </a:r>
            <a:r>
              <a:rPr lang="en-US" altLang="zh-CN" dirty="0" smtClean="0"/>
              <a:t>1.23</a:t>
            </a:r>
            <a:r>
              <a:rPr lang="zh-CN" altLang="en-US" dirty="0"/>
              <a:t>、</a:t>
            </a:r>
            <a:r>
              <a:rPr lang="en-US" altLang="zh-CN" dirty="0"/>
              <a:t>0.45</a:t>
            </a:r>
            <a:r>
              <a:rPr lang="zh-CN" altLang="en-US" dirty="0"/>
              <a:t>、</a:t>
            </a:r>
            <a:r>
              <a:rPr lang="en-US" altLang="zh-CN" dirty="0"/>
              <a:t>.</a:t>
            </a:r>
            <a:r>
              <a:rPr lang="en-US" altLang="zh-CN" dirty="0" smtClean="0"/>
              <a:t>234</a:t>
            </a:r>
            <a:endParaRPr lang="zh-CN" altLang="en-US" dirty="0"/>
          </a:p>
          <a:p>
            <a:pPr lvl="1"/>
            <a:r>
              <a:rPr lang="zh-CN" altLang="en-US" dirty="0" smtClean="0"/>
              <a:t>指数</a:t>
            </a:r>
            <a:r>
              <a:rPr lang="zh-CN" altLang="en-US" dirty="0"/>
              <a:t>形式</a:t>
            </a:r>
            <a:r>
              <a:rPr lang="zh-CN" altLang="en-US" dirty="0" smtClean="0"/>
              <a:t>：实数部分</a:t>
            </a:r>
            <a:r>
              <a:rPr lang="en-US" altLang="zh-CN" dirty="0" smtClean="0"/>
              <a:t>+</a:t>
            </a:r>
            <a:r>
              <a:rPr lang="zh-CN" altLang="en-US" dirty="0" smtClean="0"/>
              <a:t>字母</a:t>
            </a:r>
            <a:r>
              <a:rPr lang="en-US" altLang="zh-CN" dirty="0"/>
              <a:t>E</a:t>
            </a:r>
            <a:r>
              <a:rPr lang="zh-CN" altLang="en-US" dirty="0"/>
              <a:t>（或</a:t>
            </a:r>
            <a:r>
              <a:rPr lang="en-US" altLang="zh-CN" dirty="0"/>
              <a:t>e</a:t>
            </a:r>
            <a:r>
              <a:rPr lang="zh-CN" altLang="en-US" dirty="0" smtClean="0"/>
              <a:t>）</a:t>
            </a:r>
            <a:r>
              <a:rPr lang="en-US" altLang="zh-CN" dirty="0" smtClean="0"/>
              <a:t>+</a:t>
            </a:r>
            <a:r>
              <a:rPr lang="zh-CN" altLang="en-US" dirty="0" smtClean="0"/>
              <a:t>整型指数部分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例如：</a:t>
            </a:r>
            <a:r>
              <a:rPr lang="en-US" altLang="zh-CN" dirty="0" smtClean="0"/>
              <a:t>1.23×10</a:t>
            </a:r>
            <a:r>
              <a:rPr lang="en-US" altLang="zh-CN" baseline="30000" dirty="0" smtClean="0"/>
              <a:t>-7 </a:t>
            </a:r>
            <a:r>
              <a:rPr lang="en-US" altLang="zh-CN" baseline="30000" dirty="0" smtClean="0">
                <a:sym typeface="Symbol" panose="05050102010706020507" pitchFamily="18" charset="2"/>
              </a:rPr>
              <a:t> </a:t>
            </a:r>
            <a:r>
              <a:rPr lang="en-US" altLang="zh-CN" dirty="0" smtClean="0"/>
              <a:t>1.23E-7  </a:t>
            </a:r>
            <a:r>
              <a:rPr lang="zh-CN" altLang="en-US" dirty="0" smtClean="0"/>
              <a:t>、 </a:t>
            </a:r>
            <a:r>
              <a:rPr lang="en-US" altLang="zh-CN" dirty="0" smtClean="0"/>
              <a:t>1×10</a:t>
            </a:r>
            <a:r>
              <a:rPr lang="en-US" altLang="zh-CN" baseline="30000" dirty="0" smtClean="0"/>
              <a:t>5 </a:t>
            </a:r>
            <a:r>
              <a:rPr lang="en-US" altLang="zh-CN" baseline="30000" dirty="0">
                <a:sym typeface="Symbol" panose="05050102010706020507" pitchFamily="18" charset="2"/>
              </a:rPr>
              <a:t> </a:t>
            </a:r>
            <a:r>
              <a:rPr lang="en-US" altLang="zh-CN" dirty="0" smtClean="0"/>
              <a:t>1e5</a:t>
            </a:r>
          </a:p>
          <a:p>
            <a:pPr lvl="2"/>
            <a:r>
              <a:rPr lang="zh-CN" altLang="en-US" dirty="0" smtClean="0"/>
              <a:t>注意：</a:t>
            </a:r>
            <a:r>
              <a:rPr lang="en-US" altLang="zh-CN" dirty="0" smtClean="0"/>
              <a:t>E</a:t>
            </a:r>
            <a:r>
              <a:rPr lang="zh-CN" altLang="en-US" dirty="0"/>
              <a:t>（或</a:t>
            </a:r>
            <a:r>
              <a:rPr lang="en-US" altLang="zh-CN" dirty="0"/>
              <a:t>e</a:t>
            </a:r>
            <a:r>
              <a:rPr lang="zh-CN" altLang="en-US" dirty="0"/>
              <a:t>）前面必须有数字，</a:t>
            </a:r>
            <a:r>
              <a:rPr lang="en-US" altLang="zh-CN" dirty="0"/>
              <a:t>E</a:t>
            </a:r>
            <a:r>
              <a:rPr lang="zh-CN" altLang="en-US" dirty="0"/>
              <a:t>（或</a:t>
            </a:r>
            <a:r>
              <a:rPr lang="en-US" altLang="zh-CN" dirty="0"/>
              <a:t>e</a:t>
            </a:r>
            <a:r>
              <a:rPr lang="zh-CN" altLang="en-US" dirty="0"/>
              <a:t>）后面的数字必须是整数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2"/>
            <a:r>
              <a:rPr lang="zh-CN" altLang="en-US" dirty="0"/>
              <a:t>不</a:t>
            </a:r>
            <a:r>
              <a:rPr lang="zh-CN" altLang="en-US" dirty="0" smtClean="0"/>
              <a:t>合法的指数形式：</a:t>
            </a:r>
            <a:r>
              <a:rPr lang="en-US" altLang="zh-CN" dirty="0" smtClean="0"/>
              <a:t>1.23E3.2</a:t>
            </a:r>
            <a:r>
              <a:rPr lang="zh-CN" altLang="en-US" dirty="0"/>
              <a:t>、</a:t>
            </a:r>
            <a:r>
              <a:rPr lang="en-US" altLang="zh-CN" dirty="0" smtClean="0"/>
              <a:t>e5</a:t>
            </a:r>
          </a:p>
          <a:p>
            <a:pPr lvl="2"/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75171192"/>
      </p:ext>
    </p:extLst>
  </p:cSld>
  <p:clrMapOvr>
    <a:masterClrMapping/>
  </p:clrMapOvr>
  <p:transition spd="med"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浮点</a:t>
            </a:r>
            <a:r>
              <a:rPr lang="zh-CN" altLang="en-US" dirty="0" smtClean="0"/>
              <a:t>型变量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628800"/>
            <a:ext cx="8064822" cy="5229200"/>
          </a:xfrm>
        </p:spPr>
        <p:txBody>
          <a:bodyPr/>
          <a:lstStyle/>
          <a:p>
            <a:r>
              <a:rPr lang="zh-CN" altLang="en-US" sz="2000" dirty="0" smtClean="0"/>
              <a:t>单精度</a:t>
            </a:r>
            <a:r>
              <a:rPr lang="zh-CN" altLang="en-US" sz="2000" dirty="0"/>
              <a:t>浮点型（</a:t>
            </a:r>
            <a:r>
              <a:rPr lang="en-US" altLang="zh-CN" sz="2000" dirty="0"/>
              <a:t>float</a:t>
            </a:r>
            <a:r>
              <a:rPr lang="zh-CN" altLang="en-US" sz="2000" dirty="0"/>
              <a:t>型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4</a:t>
            </a:r>
            <a:r>
              <a:rPr lang="zh-CN" altLang="en-US" sz="2000" dirty="0"/>
              <a:t>个字节（</a:t>
            </a:r>
            <a:r>
              <a:rPr lang="en-US" altLang="zh-CN" sz="2000" dirty="0"/>
              <a:t>32</a:t>
            </a:r>
            <a:r>
              <a:rPr lang="zh-CN" altLang="en-US" sz="2000" dirty="0"/>
              <a:t>位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 smtClean="0"/>
              <a:t>有效位数：</a:t>
            </a:r>
            <a:r>
              <a:rPr lang="en-US" altLang="zh-CN" sz="2000" dirty="0" smtClean="0"/>
              <a:t>7-8</a:t>
            </a:r>
            <a:r>
              <a:rPr lang="zh-CN" altLang="en-US" sz="2000" dirty="0"/>
              <a:t>位</a:t>
            </a:r>
          </a:p>
          <a:p>
            <a:r>
              <a:rPr lang="zh-CN" altLang="en-US" sz="2000" dirty="0" smtClean="0"/>
              <a:t>双精度</a:t>
            </a:r>
            <a:r>
              <a:rPr lang="zh-CN" altLang="en-US" sz="2000" dirty="0"/>
              <a:t>浮点型（</a:t>
            </a:r>
            <a:r>
              <a:rPr lang="en-US" altLang="zh-CN" sz="2000" dirty="0"/>
              <a:t>double</a:t>
            </a:r>
            <a:r>
              <a:rPr lang="zh-CN" altLang="en-US" sz="2000" dirty="0"/>
              <a:t>型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8</a:t>
            </a:r>
            <a:r>
              <a:rPr lang="zh-CN" altLang="en-US" sz="2000" dirty="0"/>
              <a:t>个字节（</a:t>
            </a:r>
            <a:r>
              <a:rPr lang="en-US" altLang="zh-CN" sz="2000" dirty="0"/>
              <a:t>64</a:t>
            </a:r>
            <a:r>
              <a:rPr lang="zh-CN" altLang="en-US" sz="2000" dirty="0" smtClean="0"/>
              <a:t>位）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有效位数： </a:t>
            </a:r>
            <a:r>
              <a:rPr lang="en-US" altLang="zh-CN" sz="2000" dirty="0" smtClean="0"/>
              <a:t>15-16</a:t>
            </a:r>
            <a:r>
              <a:rPr lang="zh-CN" altLang="en-US" sz="2000" dirty="0" smtClean="0"/>
              <a:t>位</a:t>
            </a:r>
            <a:endParaRPr lang="zh-CN" altLang="en-US" sz="2000" dirty="0"/>
          </a:p>
          <a:p>
            <a:r>
              <a:rPr lang="zh-CN" altLang="en-US" sz="2000" dirty="0" smtClean="0"/>
              <a:t>长</a:t>
            </a:r>
            <a:r>
              <a:rPr lang="zh-CN" altLang="en-US" sz="2000" dirty="0"/>
              <a:t>双精度浮点型</a:t>
            </a:r>
            <a:r>
              <a:rPr lang="zh-CN" altLang="en-US" sz="2000" dirty="0" smtClean="0"/>
              <a:t>（</a:t>
            </a:r>
            <a:r>
              <a:rPr lang="en-US" altLang="zh-CN" sz="2000" dirty="0" smtClean="0"/>
              <a:t>long double</a:t>
            </a:r>
            <a:r>
              <a:rPr lang="zh-CN" altLang="en-US" sz="2000" dirty="0" smtClean="0"/>
              <a:t>型）</a:t>
            </a:r>
            <a:endParaRPr lang="en-US" altLang="zh-CN" sz="2000" dirty="0" smtClean="0"/>
          </a:p>
          <a:p>
            <a:pPr lvl="1"/>
            <a:r>
              <a:rPr lang="en-US" altLang="zh-CN" sz="2000" dirty="0" smtClean="0"/>
              <a:t>12</a:t>
            </a:r>
            <a:r>
              <a:rPr lang="zh-CN" altLang="en-US" sz="2000" dirty="0"/>
              <a:t>个字节（</a:t>
            </a:r>
            <a:r>
              <a:rPr lang="en-US" altLang="zh-CN" sz="2000" dirty="0"/>
              <a:t>96</a:t>
            </a:r>
            <a:r>
              <a:rPr lang="zh-CN" altLang="en-US" sz="2000" dirty="0"/>
              <a:t>位</a:t>
            </a:r>
            <a:r>
              <a:rPr lang="zh-CN" altLang="en-US" sz="2000" dirty="0" smtClean="0"/>
              <a:t>）</a:t>
            </a:r>
            <a:endParaRPr lang="en-US" altLang="zh-CN" sz="2000" dirty="0" smtClean="0"/>
          </a:p>
          <a:p>
            <a:pPr lvl="1"/>
            <a:r>
              <a:rPr lang="zh-CN" altLang="en-US" sz="2000" dirty="0"/>
              <a:t>有效位数： </a:t>
            </a:r>
            <a:r>
              <a:rPr lang="en-US" altLang="zh-CN" sz="2000" dirty="0" smtClean="0"/>
              <a:t>24-25</a:t>
            </a:r>
            <a:r>
              <a:rPr lang="zh-CN" altLang="en-US" sz="2000" dirty="0" smtClean="0"/>
              <a:t>位</a:t>
            </a:r>
            <a:endParaRPr lang="en-US" altLang="zh-CN" sz="2000" dirty="0" smtClean="0"/>
          </a:p>
          <a:p>
            <a:pPr marL="6350" indent="0">
              <a:buNone/>
            </a:pPr>
            <a:r>
              <a:rPr lang="zh-CN" altLang="en-US" sz="2000" dirty="0" smtClean="0"/>
              <a:t>注意：</a:t>
            </a:r>
            <a:endParaRPr lang="en-US" altLang="zh-CN" sz="2000" dirty="0" smtClean="0"/>
          </a:p>
          <a:p>
            <a:pPr lvl="1"/>
            <a:r>
              <a:rPr lang="zh-CN" altLang="en-US" sz="2000" dirty="0" smtClean="0">
                <a:solidFill>
                  <a:srgbClr val="FF0000"/>
                </a:solidFill>
              </a:rPr>
              <a:t>浮点</a:t>
            </a:r>
            <a:r>
              <a:rPr lang="zh-CN" altLang="en-US" sz="2000" dirty="0">
                <a:solidFill>
                  <a:srgbClr val="FF0000"/>
                </a:solidFill>
              </a:rPr>
              <a:t>型常量不分单精度型、双精度型和长双精度</a:t>
            </a:r>
            <a:r>
              <a:rPr lang="zh-CN" altLang="en-US" sz="2000" dirty="0" smtClean="0">
                <a:solidFill>
                  <a:srgbClr val="FF0000"/>
                </a:solidFill>
              </a:rPr>
              <a:t>型</a:t>
            </a:r>
            <a:endParaRPr lang="en-US" altLang="zh-CN" sz="2000" dirty="0" smtClean="0">
              <a:solidFill>
                <a:srgbClr val="FF0000"/>
              </a:solidFill>
            </a:endParaRPr>
          </a:p>
          <a:p>
            <a:pPr lvl="1"/>
            <a:r>
              <a:rPr lang="zh-CN" altLang="en-US" sz="2000" dirty="0" smtClean="0">
                <a:solidFill>
                  <a:srgbClr val="FF0000"/>
                </a:solidFill>
              </a:rPr>
              <a:t>默认</a:t>
            </a:r>
            <a:r>
              <a:rPr lang="zh-CN" altLang="en-US" sz="2000" dirty="0">
                <a:solidFill>
                  <a:srgbClr val="FF0000"/>
                </a:solidFill>
              </a:rPr>
              <a:t>小数部分</a:t>
            </a:r>
            <a:r>
              <a:rPr lang="en-US" altLang="zh-CN" sz="2000" dirty="0">
                <a:solidFill>
                  <a:srgbClr val="FF0000"/>
                </a:solidFill>
              </a:rPr>
              <a:t>6</a:t>
            </a:r>
            <a:r>
              <a:rPr lang="zh-CN" altLang="en-US" sz="2000" dirty="0">
                <a:solidFill>
                  <a:srgbClr val="FF0000"/>
                </a:solidFill>
              </a:rPr>
              <a:t>位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6350" indent="0">
              <a:buNone/>
            </a:pPr>
            <a:endParaRPr lang="en-US" altLang="zh-CN" sz="2000" dirty="0" smtClean="0"/>
          </a:p>
          <a:p>
            <a:pPr lvl="1"/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04288574"/>
      </p:ext>
    </p:extLst>
  </p:cSld>
  <p:clrMapOvr>
    <a:masterClrMapping/>
  </p:clrMapOvr>
  <p:transition spd="med">
    <p:rand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3521" y="1628800"/>
            <a:ext cx="8220967" cy="5102200"/>
          </a:xfrm>
        </p:spPr>
        <p:txBody>
          <a:bodyPr/>
          <a:lstStyle/>
          <a:p>
            <a:r>
              <a:rPr lang="zh-CN" altLang="en-US" sz="2400" dirty="0" smtClean="0"/>
              <a:t>表示一</a:t>
            </a:r>
            <a:r>
              <a:rPr lang="zh-CN" altLang="en-US" sz="2400" dirty="0"/>
              <a:t>个字符，用单引号括</a:t>
            </a:r>
            <a:r>
              <a:rPr lang="zh-CN" altLang="en-US" sz="2400" dirty="0" smtClean="0"/>
              <a:t>起来</a:t>
            </a:r>
            <a:endParaRPr lang="en-US" altLang="zh-CN" sz="2400" dirty="0" smtClean="0"/>
          </a:p>
          <a:p>
            <a:pPr lvl="1"/>
            <a:r>
              <a:rPr lang="zh-CN" altLang="en-US" sz="2000" dirty="0" smtClean="0"/>
              <a:t>例如：</a:t>
            </a:r>
            <a:r>
              <a:rPr lang="en-US" altLang="zh-CN" sz="2000" dirty="0" smtClean="0"/>
              <a:t>'a</a:t>
            </a:r>
            <a:r>
              <a:rPr lang="en-US" altLang="zh-CN" sz="2000" dirty="0"/>
              <a:t>'</a:t>
            </a:r>
            <a:r>
              <a:rPr lang="en-US" altLang="zh-CN" sz="2000" dirty="0" smtClean="0"/>
              <a:t> 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 'A' 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'0</a:t>
            </a:r>
            <a:r>
              <a:rPr lang="en-US" altLang="zh-CN" sz="2000" dirty="0"/>
              <a:t>'</a:t>
            </a:r>
            <a:r>
              <a:rPr lang="zh-CN" altLang="en-US" sz="2000" dirty="0" smtClean="0"/>
              <a:t>、</a:t>
            </a:r>
            <a:r>
              <a:rPr lang="en-US" altLang="zh-CN" sz="2000" dirty="0" smtClean="0"/>
              <a:t> '9</a:t>
            </a:r>
            <a:r>
              <a:rPr lang="en-US" altLang="zh-CN" sz="2000" dirty="0"/>
              <a:t>'</a:t>
            </a:r>
            <a:endParaRPr lang="en-US" altLang="zh-CN" sz="2000" dirty="0" smtClean="0"/>
          </a:p>
          <a:p>
            <a:r>
              <a:rPr lang="zh-CN" altLang="en-US" sz="2400" dirty="0" smtClean="0"/>
              <a:t>占用字节数：一</a:t>
            </a:r>
            <a:r>
              <a:rPr lang="zh-CN" altLang="en-US" sz="2400" dirty="0"/>
              <a:t>个字节（</a:t>
            </a:r>
            <a:r>
              <a:rPr lang="en-US" altLang="zh-CN" sz="2400" dirty="0"/>
              <a:t>8</a:t>
            </a:r>
            <a:r>
              <a:rPr lang="zh-CN" altLang="en-US" sz="2400" dirty="0"/>
              <a:t>个二进制位</a:t>
            </a:r>
            <a:r>
              <a:rPr lang="zh-CN" altLang="en-US" sz="2400" dirty="0" smtClean="0"/>
              <a:t>）</a:t>
            </a:r>
            <a:endParaRPr lang="zh-CN" altLang="en-US" sz="2400" dirty="0"/>
          </a:p>
          <a:p>
            <a:r>
              <a:rPr lang="zh-CN" altLang="en-US" sz="2400" dirty="0" smtClean="0"/>
              <a:t>基本字符</a:t>
            </a:r>
            <a:endParaRPr lang="en-US" altLang="zh-CN" sz="2400" dirty="0" smtClean="0"/>
          </a:p>
          <a:p>
            <a:pPr lvl="1"/>
            <a:r>
              <a:rPr lang="zh-CN" altLang="en-US" sz="2200" dirty="0" smtClean="0"/>
              <a:t>计算机系统</a:t>
            </a:r>
            <a:r>
              <a:rPr lang="zh-CN" altLang="en-US" sz="2200" dirty="0"/>
              <a:t>所采用字符集的任意</a:t>
            </a:r>
            <a:r>
              <a:rPr lang="zh-CN" altLang="en-US" sz="2200" dirty="0" smtClean="0"/>
              <a:t>字符</a:t>
            </a:r>
            <a:endParaRPr lang="en-US" altLang="zh-CN" sz="2200" dirty="0" smtClean="0"/>
          </a:p>
          <a:p>
            <a:pPr lvl="1"/>
            <a:r>
              <a:rPr lang="en-US" altLang="zh-CN" sz="2200" dirty="0" smtClean="0"/>
              <a:t>ASCII</a:t>
            </a:r>
            <a:r>
              <a:rPr lang="zh-CN" altLang="en-US" sz="2200" dirty="0" smtClean="0"/>
              <a:t>码</a:t>
            </a:r>
            <a:endParaRPr lang="en-US" altLang="zh-CN" sz="2200" dirty="0" smtClean="0"/>
          </a:p>
          <a:p>
            <a:pPr lvl="1"/>
            <a:r>
              <a:rPr lang="zh-CN" altLang="en-US" sz="2200" dirty="0" smtClean="0"/>
              <a:t>字符常量</a:t>
            </a:r>
            <a:r>
              <a:rPr lang="en-US" altLang="zh-CN" sz="2200" dirty="0" smtClean="0"/>
              <a:t>'A'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'a</a:t>
            </a:r>
            <a:r>
              <a:rPr lang="en-US" altLang="zh-CN" sz="2200" dirty="0"/>
              <a:t>'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'2</a:t>
            </a:r>
            <a:r>
              <a:rPr lang="en-US" altLang="zh-CN" sz="2200" dirty="0"/>
              <a:t>'</a:t>
            </a:r>
            <a:r>
              <a:rPr lang="zh-CN" altLang="en-US" sz="2200" dirty="0" smtClean="0"/>
              <a:t>、</a:t>
            </a:r>
            <a:r>
              <a:rPr lang="en-US" altLang="zh-CN" sz="2200" dirty="0" smtClean="0"/>
              <a:t>'!</a:t>
            </a:r>
            <a:r>
              <a:rPr lang="en-US" altLang="zh-CN" sz="2200" dirty="0"/>
              <a:t> '</a:t>
            </a:r>
            <a:r>
              <a:rPr lang="en-US" altLang="zh-CN" sz="2200" dirty="0" smtClean="0"/>
              <a:t> </a:t>
            </a:r>
            <a:r>
              <a:rPr lang="en-US" altLang="zh-CN" sz="2200" dirty="0" smtClean="0">
                <a:sym typeface="Symbol" panose="05050102010706020507" pitchFamily="18" charset="2"/>
              </a:rPr>
              <a:t> </a:t>
            </a:r>
            <a:r>
              <a:rPr lang="zh-CN" altLang="en-US" sz="2200" dirty="0" smtClean="0"/>
              <a:t>十进制</a:t>
            </a:r>
            <a:r>
              <a:rPr lang="en-US" altLang="zh-CN" sz="2200" dirty="0" smtClean="0"/>
              <a:t>ASCII</a:t>
            </a:r>
            <a:r>
              <a:rPr lang="zh-CN" altLang="en-US" sz="2200" dirty="0"/>
              <a:t>码</a:t>
            </a:r>
            <a:r>
              <a:rPr lang="zh-CN" altLang="en-US" sz="2200" dirty="0" smtClean="0"/>
              <a:t>值：</a:t>
            </a:r>
            <a:r>
              <a:rPr lang="en-US" altLang="zh-CN" sz="2200" dirty="0" smtClean="0"/>
              <a:t>65</a:t>
            </a:r>
            <a:r>
              <a:rPr lang="zh-CN" altLang="en-US" sz="2200" dirty="0"/>
              <a:t>、</a:t>
            </a:r>
            <a:r>
              <a:rPr lang="en-US" altLang="zh-CN" sz="2200" dirty="0"/>
              <a:t>97</a:t>
            </a:r>
            <a:r>
              <a:rPr lang="zh-CN" altLang="en-US" sz="2200" dirty="0"/>
              <a:t>、</a:t>
            </a:r>
            <a:r>
              <a:rPr lang="en-US" altLang="zh-CN" sz="2200" dirty="0"/>
              <a:t>50</a:t>
            </a:r>
            <a:r>
              <a:rPr lang="zh-CN" altLang="en-US" sz="2200" dirty="0"/>
              <a:t>、</a:t>
            </a:r>
            <a:r>
              <a:rPr lang="en-US" altLang="zh-CN" sz="2200" dirty="0" smtClean="0"/>
              <a:t>33</a:t>
            </a:r>
            <a:endParaRPr lang="zh-CN" altLang="en-US" sz="2200" dirty="0"/>
          </a:p>
          <a:p>
            <a:r>
              <a:rPr lang="zh-CN" altLang="en-US" sz="2400" dirty="0" smtClean="0"/>
              <a:t>转义字符</a:t>
            </a:r>
            <a:endParaRPr lang="en-US" altLang="zh-CN" sz="2400" dirty="0" smtClean="0"/>
          </a:p>
          <a:p>
            <a:pPr lvl="1"/>
            <a:r>
              <a:rPr lang="zh-CN" altLang="en-US" sz="2200" dirty="0" smtClean="0"/>
              <a:t>换行符</a:t>
            </a:r>
            <a:r>
              <a:rPr lang="zh-CN" altLang="en-US" sz="2200" dirty="0"/>
              <a:t>、退格符等</a:t>
            </a:r>
            <a:r>
              <a:rPr lang="zh-CN" altLang="en-US" sz="2200" dirty="0" smtClean="0"/>
              <a:t>控制符</a:t>
            </a:r>
            <a:endParaRPr lang="en-US" altLang="zh-CN" sz="2200" dirty="0" smtClean="0"/>
          </a:p>
          <a:p>
            <a:pPr lvl="1"/>
            <a:r>
              <a:rPr lang="zh-CN" altLang="en-US" sz="2200" dirty="0" smtClean="0"/>
              <a:t>转义字符</a:t>
            </a:r>
            <a:r>
              <a:rPr lang="zh-CN" altLang="en-US" sz="2200" dirty="0"/>
              <a:t>以</a:t>
            </a:r>
            <a:r>
              <a:rPr lang="en-US" altLang="zh-CN" sz="2200" dirty="0"/>
              <a:t>\</a:t>
            </a:r>
            <a:r>
              <a:rPr lang="zh-CN" altLang="en-US" sz="2200" dirty="0"/>
              <a:t>开头，后跟字符或</a:t>
            </a:r>
            <a:r>
              <a:rPr lang="zh-CN" altLang="en-US" sz="2200" dirty="0" smtClean="0"/>
              <a:t>数字</a:t>
            </a:r>
            <a:endParaRPr lang="en-US" altLang="zh-CN" sz="220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8396374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转义字符表</a:t>
            </a:r>
            <a:endParaRPr lang="zh-CN" altLang="en-US" dirty="0"/>
          </a:p>
        </p:txBody>
      </p:sp>
      <p:graphicFrame>
        <p:nvGraphicFramePr>
          <p:cNvPr id="5" name="内容占位符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6480720"/>
              </p:ext>
            </p:extLst>
          </p:nvPr>
        </p:nvGraphicFramePr>
        <p:xfrm>
          <a:off x="827621" y="1774119"/>
          <a:ext cx="7780858" cy="475253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636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98468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161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316399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67893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转义字符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含义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宋体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转义字符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含义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\n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换行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\\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反斜杠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\t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横向跳格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altLang="zh-CN" sz="2000" b="1" dirty="0" smtClean="0"/>
                        <a:t>'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单引号</a:t>
                      </a:r>
                      <a:r>
                        <a:rPr lang="en-US" altLang="zh-CN" sz="2000" b="1" dirty="0" smtClean="0"/>
                        <a:t>'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\v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竖向跳格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altLang="zh-CN" sz="2000" b="1" dirty="0" smtClean="0"/>
                        <a:t>"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双引号</a:t>
                      </a:r>
                      <a:r>
                        <a:rPr lang="en-US" altLang="zh-CN" sz="2000" b="1" dirty="0" smtClean="0"/>
                        <a:t>"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\b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退格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ddd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至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位八进制所代表的字符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\r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回车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</a:t>
                      </a:r>
                      <a:r>
                        <a:rPr lang="en-US" sz="2000" b="1" kern="1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xhh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至</a:t>
                      </a: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位十六进制所代表的字符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78933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\f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走纸换页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zh-C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21240496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字符变量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1" y="1700213"/>
            <a:ext cx="7416750" cy="4537075"/>
          </a:xfrm>
        </p:spPr>
        <p:txBody>
          <a:bodyPr/>
          <a:lstStyle/>
          <a:p>
            <a:r>
              <a:rPr lang="zh-CN" altLang="en-US" dirty="0" smtClean="0"/>
              <a:t>字符</a:t>
            </a:r>
            <a:r>
              <a:rPr lang="zh-CN" altLang="en-US" dirty="0"/>
              <a:t>变量用来存放单个</a:t>
            </a:r>
            <a:r>
              <a:rPr lang="zh-CN" altLang="en-US" dirty="0" smtClean="0"/>
              <a:t>字符</a:t>
            </a:r>
            <a:endParaRPr lang="en-US" altLang="zh-CN" dirty="0" smtClean="0"/>
          </a:p>
          <a:p>
            <a:r>
              <a:rPr lang="zh-CN" altLang="en-US" dirty="0" smtClean="0"/>
              <a:t>定义形式</a:t>
            </a:r>
            <a:endParaRPr lang="zh-CN" altLang="en-US" dirty="0"/>
          </a:p>
          <a:p>
            <a:pPr marL="271463" lvl="1" indent="0">
              <a:buNone/>
            </a:pPr>
            <a:r>
              <a:rPr lang="en-US" altLang="zh-CN" sz="2800" dirty="0"/>
              <a:t>char c1,c2;          </a:t>
            </a:r>
          </a:p>
          <a:p>
            <a:r>
              <a:rPr lang="zh-CN" altLang="en-US" dirty="0" smtClean="0"/>
              <a:t>赋值</a:t>
            </a:r>
            <a:endParaRPr lang="en-US" altLang="zh-CN" dirty="0" smtClean="0"/>
          </a:p>
          <a:p>
            <a:pPr marL="271463" lvl="1" indent="0">
              <a:buNone/>
            </a:pPr>
            <a:r>
              <a:rPr lang="en-US" altLang="zh-CN" sz="2800" dirty="0" smtClean="0"/>
              <a:t>c1='A</a:t>
            </a:r>
            <a:r>
              <a:rPr lang="en-US" altLang="zh-CN" sz="2800" dirty="0"/>
              <a:t>'</a:t>
            </a:r>
            <a:r>
              <a:rPr lang="en-US" altLang="zh-CN" sz="2800" dirty="0" smtClean="0"/>
              <a:t>; </a:t>
            </a:r>
            <a:r>
              <a:rPr lang="en-US" altLang="zh-CN" sz="2800" dirty="0"/>
              <a:t>c2</a:t>
            </a:r>
            <a:r>
              <a:rPr lang="en-US" altLang="zh-CN" sz="2800" dirty="0" smtClean="0"/>
              <a:t>='a</a:t>
            </a:r>
            <a:r>
              <a:rPr lang="en-US" altLang="zh-CN" sz="2800" dirty="0"/>
              <a:t>'</a:t>
            </a:r>
            <a:r>
              <a:rPr lang="en-US" altLang="zh-CN" sz="2800" dirty="0" smtClean="0"/>
              <a:t>;</a:t>
            </a:r>
            <a:endParaRPr lang="zh-CN" altLang="en-US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3923928" y="2780928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b="1" dirty="0"/>
              <a:t>#include 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</a:t>
            </a:r>
          </a:p>
          <a:p>
            <a:r>
              <a:rPr lang="en-US" altLang="zh-CN" sz="2400" b="1" dirty="0" err="1"/>
              <a:t>int</a:t>
            </a:r>
            <a:r>
              <a:rPr lang="en-US" altLang="zh-CN" sz="2400" b="1" dirty="0"/>
              <a:t> main()</a:t>
            </a:r>
          </a:p>
          <a:p>
            <a:r>
              <a:rPr lang="en-US" altLang="zh-CN" sz="2400" b="1" dirty="0"/>
              <a:t>{  </a:t>
            </a:r>
            <a:r>
              <a:rPr lang="en-US" altLang="zh-CN" sz="2400" b="1" dirty="0" smtClean="0"/>
              <a:t> </a:t>
            </a:r>
            <a:r>
              <a:rPr lang="en-US" altLang="zh-CN" sz="2400" b="1" dirty="0">
                <a:solidFill>
                  <a:srgbClr val="FF0000"/>
                </a:solidFill>
              </a:rPr>
              <a:t>char</a:t>
            </a:r>
            <a:r>
              <a:rPr lang="en-US" altLang="zh-CN" sz="2400" b="1" dirty="0"/>
              <a:t> c1,c2</a:t>
            </a:r>
            <a:r>
              <a:rPr lang="en-US" altLang="zh-CN" sz="2400" b="1" dirty="0" smtClean="0"/>
              <a:t>;</a:t>
            </a:r>
          </a:p>
          <a:p>
            <a:r>
              <a:rPr lang="en-US" altLang="zh-CN" sz="2400" b="1" dirty="0"/>
              <a:t> </a:t>
            </a:r>
            <a:r>
              <a:rPr lang="en-US" altLang="zh-CN" sz="2400" b="1" dirty="0" smtClean="0"/>
              <a:t>    </a:t>
            </a:r>
            <a:r>
              <a:rPr lang="en-US" altLang="zh-CN" sz="2400" b="1" dirty="0" err="1" smtClean="0"/>
              <a:t>scanf</a:t>
            </a:r>
            <a:r>
              <a:rPr lang="en-US" altLang="zh-CN" sz="2400" b="1" dirty="0"/>
              <a:t> ("</a:t>
            </a:r>
            <a:r>
              <a:rPr lang="en-US" altLang="zh-CN" sz="2400" b="1" dirty="0">
                <a:solidFill>
                  <a:srgbClr val="FF0000"/>
                </a:solidFill>
              </a:rPr>
              <a:t>%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c</a:t>
            </a:r>
            <a:r>
              <a:rPr lang="en-US" altLang="zh-CN" sz="2400" b="1" dirty="0" smtClean="0"/>
              <a:t>",&amp;c1);</a:t>
            </a:r>
            <a:endParaRPr lang="en-US" altLang="zh-CN" sz="2400" b="1" dirty="0"/>
          </a:p>
          <a:p>
            <a:r>
              <a:rPr lang="en-US" altLang="zh-CN" sz="2400" b="1" dirty="0" smtClean="0"/>
              <a:t>     c2</a:t>
            </a:r>
            <a:r>
              <a:rPr lang="en-US" altLang="zh-CN" sz="2400" b="1" dirty="0"/>
              <a:t>='a';</a:t>
            </a:r>
          </a:p>
          <a:p>
            <a:r>
              <a:rPr lang="en-US" altLang="zh-CN" sz="2400" b="1" dirty="0"/>
              <a:t>     </a:t>
            </a:r>
            <a:r>
              <a:rPr lang="en-US" altLang="zh-CN" sz="2400" b="1" dirty="0" err="1"/>
              <a:t>printf</a:t>
            </a:r>
            <a:r>
              <a:rPr lang="en-US" altLang="zh-CN" sz="2400" b="1" dirty="0"/>
              <a:t>("</a:t>
            </a:r>
            <a:r>
              <a:rPr lang="en-US" altLang="zh-CN" sz="2400" b="1" dirty="0">
                <a:solidFill>
                  <a:srgbClr val="FF0000"/>
                </a:solidFill>
              </a:rPr>
              <a:t>%c</a:t>
            </a:r>
            <a:r>
              <a:rPr lang="en-US" altLang="zh-CN" sz="2400" b="1" dirty="0"/>
              <a:t>\</a:t>
            </a:r>
            <a:r>
              <a:rPr lang="en-US" altLang="zh-CN" sz="2400" b="1" dirty="0" err="1"/>
              <a:t>n%c</a:t>
            </a:r>
            <a:r>
              <a:rPr lang="en-US" altLang="zh-CN" sz="2400" b="1" dirty="0"/>
              <a:t>\n",c1,c2);</a:t>
            </a:r>
          </a:p>
          <a:p>
            <a:r>
              <a:rPr lang="en-US" altLang="zh-CN" sz="2400" b="1" dirty="0"/>
              <a:t>     return 0;</a:t>
            </a:r>
          </a:p>
          <a:p>
            <a:r>
              <a:rPr lang="en-US" altLang="zh-C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8727295"/>
      </p:ext>
    </p:extLst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字符串常量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041155"/>
          </a:xfrm>
        </p:spPr>
        <p:txBody>
          <a:bodyPr/>
          <a:lstStyle/>
          <a:p>
            <a:r>
              <a:rPr lang="zh-CN" altLang="en-US" dirty="0" smtClean="0"/>
              <a:t>用</a:t>
            </a:r>
            <a:r>
              <a:rPr lang="zh-CN" altLang="en-US" dirty="0"/>
              <a:t>双引号括起来的字符</a:t>
            </a:r>
            <a:r>
              <a:rPr lang="zh-CN" altLang="en-US" dirty="0" smtClean="0"/>
              <a:t>序列</a:t>
            </a:r>
            <a:endParaRPr lang="en-US" altLang="zh-CN" dirty="0" smtClean="0"/>
          </a:p>
          <a:p>
            <a:r>
              <a:rPr lang="zh-CN" altLang="en-US" dirty="0" smtClean="0"/>
              <a:t>例如：</a:t>
            </a:r>
            <a:r>
              <a:rPr lang="en-US" altLang="zh-CN" dirty="0"/>
              <a:t>"</a:t>
            </a:r>
            <a:r>
              <a:rPr lang="en-US" altLang="zh-CN" dirty="0" smtClean="0"/>
              <a:t>Hello" </a:t>
            </a:r>
            <a:r>
              <a:rPr lang="zh-CN" altLang="en-US" dirty="0" smtClean="0"/>
              <a:t>、</a:t>
            </a:r>
            <a:r>
              <a:rPr lang="en-US" altLang="zh-CN" dirty="0"/>
              <a:t> </a:t>
            </a:r>
            <a:r>
              <a:rPr lang="en-US" altLang="zh-CN" dirty="0" smtClean="0"/>
              <a:t>"This </a:t>
            </a:r>
            <a:r>
              <a:rPr lang="en-US" altLang="zh-CN" dirty="0"/>
              <a:t>is my first </a:t>
            </a:r>
            <a:r>
              <a:rPr lang="en-US" altLang="zh-CN" dirty="0" smtClean="0"/>
              <a:t>prom" 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/>
              <a:t>语言规定字符串的存储方式为：串中的每个字符（转义字符只能被看成一个字符）按照他们的</a:t>
            </a:r>
            <a:r>
              <a:rPr lang="en-US" altLang="zh-CN" dirty="0"/>
              <a:t>ASCII</a:t>
            </a:r>
            <a:r>
              <a:rPr lang="zh-CN" altLang="en-US" dirty="0"/>
              <a:t>码值的二进制形式存储在内存中，并在存放</a:t>
            </a:r>
            <a:r>
              <a:rPr lang="zh-CN" altLang="en-US" dirty="0" smtClean="0"/>
              <a:t>串最后</a:t>
            </a:r>
            <a:r>
              <a:rPr lang="zh-CN" altLang="en-US" dirty="0"/>
              <a:t>一个字符后面再存入一个</a:t>
            </a:r>
            <a:r>
              <a:rPr lang="zh-CN" altLang="en-US" dirty="0" smtClean="0"/>
              <a:t>字符</a:t>
            </a:r>
            <a:r>
              <a:rPr lang="en-US" altLang="zh-CN" dirty="0"/>
              <a:t>'</a:t>
            </a:r>
            <a:r>
              <a:rPr lang="en-US" altLang="zh-CN" dirty="0" smtClean="0"/>
              <a:t>\0</a:t>
            </a:r>
            <a:r>
              <a:rPr lang="en-US" altLang="zh-CN" dirty="0"/>
              <a:t>'</a:t>
            </a:r>
            <a:r>
              <a:rPr lang="zh-CN" altLang="en-US" dirty="0" smtClean="0"/>
              <a:t>（</a:t>
            </a:r>
            <a:r>
              <a:rPr lang="en-US" altLang="zh-CN" dirty="0"/>
              <a:t>ASCII</a:t>
            </a:r>
            <a:r>
              <a:rPr lang="zh-CN" altLang="en-US" dirty="0"/>
              <a:t>码为</a:t>
            </a:r>
            <a:r>
              <a:rPr lang="en-US" altLang="zh-CN" dirty="0"/>
              <a:t>0</a:t>
            </a:r>
            <a:r>
              <a:rPr lang="zh-CN" altLang="en-US" dirty="0" smtClean="0"/>
              <a:t>），</a:t>
            </a:r>
            <a:r>
              <a:rPr lang="en-US" altLang="zh-CN" dirty="0"/>
              <a:t>'</a:t>
            </a:r>
            <a:r>
              <a:rPr lang="en-US" altLang="zh-CN" dirty="0" smtClean="0"/>
              <a:t>\0</a:t>
            </a:r>
            <a:r>
              <a:rPr lang="en-US" altLang="zh-CN" dirty="0"/>
              <a:t>'</a:t>
            </a:r>
            <a:r>
              <a:rPr lang="zh-CN" altLang="en-US" dirty="0" smtClean="0"/>
              <a:t>是</a:t>
            </a:r>
            <a:r>
              <a:rPr lang="zh-CN" altLang="en-US" dirty="0"/>
              <a:t>字符串结束的标志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4841709"/>
      </p:ext>
    </p:extLst>
  </p:cSld>
  <p:clrMapOvr>
    <a:masterClrMapping/>
  </p:clrMapOvr>
  <p:transition spd="med"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字符与字符串常量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041155"/>
          </a:xfrm>
        </p:spPr>
        <p:txBody>
          <a:bodyPr/>
          <a:lstStyle/>
          <a:p>
            <a:r>
              <a:rPr lang="zh-CN" altLang="en-US" dirty="0" smtClean="0"/>
              <a:t>字符常量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'a'</a:t>
            </a:r>
          </a:p>
          <a:p>
            <a:pPr marL="463550" indent="-457200"/>
            <a:r>
              <a:rPr lang="zh-CN" altLang="en-US" dirty="0" smtClean="0"/>
              <a:t>字符串常量</a:t>
            </a:r>
            <a:endParaRPr lang="en-US" altLang="zh-CN" dirty="0" smtClean="0"/>
          </a:p>
          <a:p>
            <a:pPr marL="271463" lvl="1" indent="0">
              <a:buNone/>
            </a:pPr>
            <a:r>
              <a:rPr lang="en-US" altLang="zh-CN" dirty="0" smtClean="0"/>
              <a:t>                             </a:t>
            </a:r>
            <a:r>
              <a:rPr lang="en-US" altLang="zh-CN" dirty="0"/>
              <a:t>"</a:t>
            </a:r>
            <a:r>
              <a:rPr lang="en-US" altLang="zh-CN" dirty="0" smtClean="0"/>
              <a:t>a</a:t>
            </a:r>
            <a:r>
              <a:rPr lang="en-US" altLang="zh-CN" dirty="0"/>
              <a:t>"</a:t>
            </a:r>
          </a:p>
          <a:p>
            <a:pPr marL="728663" lvl="1" indent="-457200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795600"/>
              </p:ext>
            </p:extLst>
          </p:nvPr>
        </p:nvGraphicFramePr>
        <p:xfrm>
          <a:off x="1835696" y="3501008"/>
          <a:ext cx="122413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2068">
                  <a:extLst>
                    <a:ext uri="{9D8B030D-6E8A-4147-A177-3AD203B41FA5}">
                      <a16:colId xmlns="" xmlns:a16="http://schemas.microsoft.com/office/drawing/2014/main" val="3633807034"/>
                    </a:ext>
                  </a:extLst>
                </a:gridCol>
                <a:gridCol w="612068">
                  <a:extLst>
                    <a:ext uri="{9D8B030D-6E8A-4147-A177-3AD203B41FA5}">
                      <a16:colId xmlns="" xmlns:a16="http://schemas.microsoft.com/office/drawing/2014/main" val="1559949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a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48016751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643035"/>
              </p:ext>
            </p:extLst>
          </p:nvPr>
        </p:nvGraphicFramePr>
        <p:xfrm>
          <a:off x="1835696" y="4208036"/>
          <a:ext cx="295233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055">
                  <a:extLst>
                    <a:ext uri="{9D8B030D-6E8A-4147-A177-3AD203B41FA5}">
                      <a16:colId xmlns="" xmlns:a16="http://schemas.microsoft.com/office/drawing/2014/main" val="1227866067"/>
                    </a:ext>
                  </a:extLst>
                </a:gridCol>
                <a:gridCol w="492055">
                  <a:extLst>
                    <a:ext uri="{9D8B030D-6E8A-4147-A177-3AD203B41FA5}">
                      <a16:colId xmlns="" xmlns:a16="http://schemas.microsoft.com/office/drawing/2014/main" val="3907396863"/>
                    </a:ext>
                  </a:extLst>
                </a:gridCol>
                <a:gridCol w="492055">
                  <a:extLst>
                    <a:ext uri="{9D8B030D-6E8A-4147-A177-3AD203B41FA5}">
                      <a16:colId xmlns="" xmlns:a16="http://schemas.microsoft.com/office/drawing/2014/main" val="506276688"/>
                    </a:ext>
                  </a:extLst>
                </a:gridCol>
                <a:gridCol w="492055">
                  <a:extLst>
                    <a:ext uri="{9D8B030D-6E8A-4147-A177-3AD203B41FA5}">
                      <a16:colId xmlns="" xmlns:a16="http://schemas.microsoft.com/office/drawing/2014/main" val="617233443"/>
                    </a:ext>
                  </a:extLst>
                </a:gridCol>
                <a:gridCol w="492055">
                  <a:extLst>
                    <a:ext uri="{9D8B030D-6E8A-4147-A177-3AD203B41FA5}">
                      <a16:colId xmlns="" xmlns:a16="http://schemas.microsoft.com/office/drawing/2014/main" val="3633807034"/>
                    </a:ext>
                  </a:extLst>
                </a:gridCol>
                <a:gridCol w="492055">
                  <a:extLst>
                    <a:ext uri="{9D8B030D-6E8A-4147-A177-3AD203B41FA5}">
                      <a16:colId xmlns="" xmlns:a16="http://schemas.microsoft.com/office/drawing/2014/main" val="15599492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e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l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>
                          <a:solidFill>
                            <a:schemeClr val="tx1"/>
                          </a:solidFill>
                        </a:rPr>
                        <a:t>\0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48016751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5250672" y="4016513"/>
            <a:ext cx="367240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/>
              <a:t>#include &lt;</a:t>
            </a:r>
            <a:r>
              <a:rPr lang="en-US" altLang="zh-CN" sz="2400" b="1" dirty="0" err="1"/>
              <a:t>stdio.h</a:t>
            </a:r>
            <a:r>
              <a:rPr lang="en-US" altLang="zh-CN" sz="2400" b="1" dirty="0"/>
              <a:t>&gt;</a:t>
            </a:r>
          </a:p>
          <a:p>
            <a:r>
              <a:rPr lang="en-US" altLang="zh-CN" sz="2400" b="1" dirty="0" err="1"/>
              <a:t>int</a:t>
            </a:r>
            <a:r>
              <a:rPr lang="en-US" altLang="zh-CN" sz="2400" b="1" dirty="0"/>
              <a:t> main()</a:t>
            </a:r>
          </a:p>
          <a:p>
            <a:r>
              <a:rPr lang="en-US" altLang="zh-CN" sz="2400" b="1" dirty="0"/>
              <a:t>{</a:t>
            </a:r>
          </a:p>
          <a:p>
            <a:r>
              <a:rPr lang="en-US" altLang="zh-CN" sz="2400" b="1" dirty="0"/>
              <a:t>     printf("</a:t>
            </a:r>
            <a:r>
              <a:rPr lang="en-US" altLang="zh-CN" sz="2400" b="1" dirty="0" smtClean="0"/>
              <a:t>Hello");</a:t>
            </a:r>
            <a:endParaRPr lang="en-US" altLang="zh-CN" sz="2400" b="1" dirty="0"/>
          </a:p>
          <a:p>
            <a:r>
              <a:rPr lang="en-US" altLang="zh-CN" sz="2400" b="1" dirty="0"/>
              <a:t>     return 0;</a:t>
            </a:r>
          </a:p>
          <a:p>
            <a:r>
              <a:rPr lang="en-US" altLang="zh-CN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91411692"/>
      </p:ext>
    </p:extLst>
  </p:cSld>
  <p:clrMapOvr>
    <a:masterClrMapping/>
  </p:clrMapOvr>
  <p:transition spd="med"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符号常量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1" y="1700808"/>
            <a:ext cx="7632773" cy="4607917"/>
          </a:xfrm>
        </p:spPr>
        <p:txBody>
          <a:bodyPr/>
          <a:lstStyle/>
          <a:p>
            <a:r>
              <a:rPr lang="zh-CN" altLang="en-US" sz="2400" dirty="0"/>
              <a:t>将</a:t>
            </a:r>
            <a:r>
              <a:rPr lang="zh-CN" altLang="en-US" sz="2400" dirty="0" smtClean="0"/>
              <a:t>常量</a:t>
            </a:r>
            <a:r>
              <a:rPr lang="zh-CN" altLang="en-US" sz="2400" dirty="0"/>
              <a:t>定义为一个</a:t>
            </a:r>
            <a:r>
              <a:rPr lang="zh-CN" altLang="en-US" sz="2400" dirty="0" smtClean="0"/>
              <a:t>标识符</a:t>
            </a:r>
            <a:endParaRPr lang="en-US" altLang="zh-CN" sz="2400" dirty="0" smtClean="0"/>
          </a:p>
          <a:p>
            <a:r>
              <a:rPr lang="zh-CN" altLang="en-US" sz="2400" dirty="0" smtClean="0"/>
              <a:t>用</a:t>
            </a:r>
            <a:r>
              <a:rPr lang="zh-CN" altLang="en-US" sz="2400" dirty="0"/>
              <a:t>大写字母</a:t>
            </a:r>
            <a:r>
              <a:rPr lang="zh-CN" altLang="en-US" sz="2400" dirty="0" smtClean="0"/>
              <a:t>表示</a:t>
            </a:r>
            <a:endParaRPr lang="en-US" altLang="zh-CN" sz="2400" dirty="0" smtClean="0"/>
          </a:p>
          <a:p>
            <a:r>
              <a:rPr lang="zh-CN" altLang="en-US" sz="2400" dirty="0" smtClean="0"/>
              <a:t>使用前</a:t>
            </a:r>
            <a:r>
              <a:rPr lang="zh-CN" altLang="en-US" sz="2400" dirty="0"/>
              <a:t>必须预定义，</a:t>
            </a:r>
            <a:r>
              <a:rPr lang="zh-CN" altLang="en-US" sz="2400" dirty="0" smtClean="0"/>
              <a:t>定义格式</a:t>
            </a:r>
            <a:endParaRPr lang="en-US" altLang="zh-CN" sz="2400" dirty="0" smtClean="0"/>
          </a:p>
          <a:p>
            <a:pPr lvl="1"/>
            <a:r>
              <a:rPr lang="en-US" altLang="zh-CN" dirty="0" smtClean="0"/>
              <a:t> </a:t>
            </a:r>
            <a:r>
              <a:rPr lang="en-US" altLang="zh-CN" dirty="0" smtClean="0">
                <a:solidFill>
                  <a:srgbClr val="FF0000"/>
                </a:solidFill>
              </a:rPr>
              <a:t>#</a:t>
            </a:r>
            <a:r>
              <a:rPr lang="en-US" altLang="zh-CN" dirty="0">
                <a:solidFill>
                  <a:srgbClr val="FF0000"/>
                </a:solidFill>
              </a:rPr>
              <a:t>define </a:t>
            </a:r>
            <a:r>
              <a:rPr lang="zh-CN" altLang="en-US" dirty="0">
                <a:solidFill>
                  <a:srgbClr val="FF0000"/>
                </a:solidFill>
              </a:rPr>
              <a:t>标识符 常量</a:t>
            </a:r>
          </a:p>
          <a:p>
            <a:pPr lvl="1"/>
            <a:r>
              <a:rPr lang="zh-CN" altLang="en-US" dirty="0"/>
              <a:t>例如，</a:t>
            </a:r>
            <a:r>
              <a:rPr lang="en-US" altLang="zh-CN" dirty="0"/>
              <a:t>#define PI 3.1415926</a:t>
            </a:r>
          </a:p>
          <a:p>
            <a:r>
              <a:rPr lang="zh-CN" altLang="en-US" sz="2400" dirty="0" smtClean="0"/>
              <a:t>一经</a:t>
            </a:r>
            <a:r>
              <a:rPr lang="zh-CN" altLang="en-US" sz="2400" dirty="0"/>
              <a:t>定义，以后在程序中出现该标识符的地方均代之以该常量值。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65967434"/>
      </p:ext>
    </p:extLst>
  </p:cSld>
  <p:clrMapOvr>
    <a:masterClrMapping/>
  </p:clrMapOvr>
  <p:transition spd="med"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符号常量（求圆面积）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71600" y="1772816"/>
            <a:ext cx="705678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/>
              <a:t>#include &lt;</a:t>
            </a:r>
            <a:r>
              <a:rPr lang="en-US" altLang="zh-CN" sz="2800" b="1" dirty="0" err="1"/>
              <a:t>stdio.h</a:t>
            </a:r>
            <a:r>
              <a:rPr lang="en-US" altLang="zh-CN" sz="2800" b="1" dirty="0"/>
              <a:t>&gt;</a:t>
            </a:r>
          </a:p>
          <a:p>
            <a:r>
              <a:rPr lang="en-US" altLang="zh-CN" sz="2800" b="1" dirty="0"/>
              <a:t>#define PI 3.1415926</a:t>
            </a:r>
          </a:p>
          <a:p>
            <a:r>
              <a:rPr lang="en-US" altLang="zh-CN" sz="2800" b="1" dirty="0" err="1"/>
              <a:t>int</a:t>
            </a:r>
            <a:r>
              <a:rPr lang="en-US" altLang="zh-CN" sz="2800" b="1" dirty="0"/>
              <a:t> main()</a:t>
            </a:r>
          </a:p>
          <a:p>
            <a:r>
              <a:rPr lang="en-US" altLang="zh-CN" sz="2800" b="1" dirty="0"/>
              <a:t>{</a:t>
            </a:r>
          </a:p>
          <a:p>
            <a:r>
              <a:rPr lang="en-US" altLang="zh-CN" sz="2800" b="1" dirty="0"/>
              <a:t>     float </a:t>
            </a:r>
            <a:r>
              <a:rPr lang="en-US" altLang="zh-CN" sz="2800" b="1" dirty="0" err="1"/>
              <a:t>r,area</a:t>
            </a:r>
            <a:r>
              <a:rPr lang="en-US" altLang="zh-CN" sz="2800" b="1" dirty="0"/>
              <a:t>;</a:t>
            </a:r>
          </a:p>
          <a:p>
            <a:r>
              <a:rPr lang="en-US" altLang="zh-CN" sz="2800" b="1" dirty="0"/>
              <a:t>     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("</a:t>
            </a:r>
            <a:r>
              <a:rPr lang="zh-CN" altLang="en-US" sz="2800" b="1" dirty="0"/>
              <a:t>请输入圆的半径</a:t>
            </a:r>
            <a:r>
              <a:rPr lang="en-US" altLang="zh-CN" sz="2800" b="1" dirty="0"/>
              <a:t>:");</a:t>
            </a:r>
          </a:p>
          <a:p>
            <a:r>
              <a:rPr lang="en-US" altLang="zh-CN" sz="2800" b="1" dirty="0"/>
              <a:t>     </a:t>
            </a:r>
            <a:r>
              <a:rPr lang="en-US" altLang="zh-CN" sz="2800" b="1" dirty="0" err="1"/>
              <a:t>scanf</a:t>
            </a:r>
            <a:r>
              <a:rPr lang="en-US" altLang="zh-CN" sz="2800" b="1" dirty="0"/>
              <a:t>("%</a:t>
            </a:r>
            <a:r>
              <a:rPr lang="en-US" altLang="zh-CN" sz="2800" b="1" dirty="0" err="1"/>
              <a:t>f",&amp;r</a:t>
            </a:r>
            <a:r>
              <a:rPr lang="en-US" altLang="zh-CN" sz="2800" b="1" dirty="0"/>
              <a:t>);</a:t>
            </a:r>
          </a:p>
          <a:p>
            <a:r>
              <a:rPr lang="en-US" altLang="zh-CN" sz="2800" b="1" dirty="0"/>
              <a:t>     area=PI*r*r;</a:t>
            </a:r>
          </a:p>
          <a:p>
            <a:r>
              <a:rPr lang="en-US" altLang="zh-CN" sz="2800" b="1" dirty="0"/>
              <a:t>     </a:t>
            </a:r>
            <a:r>
              <a:rPr lang="en-US" altLang="zh-CN" sz="2800" b="1" dirty="0" err="1"/>
              <a:t>printf</a:t>
            </a:r>
            <a:r>
              <a:rPr lang="en-US" altLang="zh-CN" sz="2800" b="1" dirty="0"/>
              <a:t>("</a:t>
            </a:r>
            <a:r>
              <a:rPr lang="zh-CN" altLang="en-US" sz="2800" b="1" dirty="0"/>
              <a:t>圆的面积</a:t>
            </a:r>
            <a:r>
              <a:rPr lang="zh-CN" altLang="en-US" sz="2800" b="1" dirty="0" smtClean="0"/>
              <a:t>为</a:t>
            </a:r>
            <a:r>
              <a:rPr lang="en-US" altLang="zh-CN" sz="2800" b="1" dirty="0"/>
              <a:t>:</a:t>
            </a:r>
            <a:r>
              <a:rPr lang="en-US" altLang="zh-CN" sz="2800" b="1" dirty="0" smtClean="0"/>
              <a:t>%.</a:t>
            </a:r>
            <a:r>
              <a:rPr lang="en-US" altLang="zh-CN" sz="2800" b="1" dirty="0"/>
              <a:t>2f\</a:t>
            </a:r>
            <a:r>
              <a:rPr lang="en-US" altLang="zh-CN" sz="2800" b="1" dirty="0" err="1"/>
              <a:t>n",area</a:t>
            </a:r>
            <a:r>
              <a:rPr lang="en-US" altLang="zh-CN" sz="2800" b="1" dirty="0"/>
              <a:t>);</a:t>
            </a:r>
          </a:p>
          <a:p>
            <a:r>
              <a:rPr lang="en-US" altLang="zh-CN" sz="2800" b="1" dirty="0"/>
              <a:t>     return 0;</a:t>
            </a:r>
          </a:p>
          <a:p>
            <a:r>
              <a:rPr lang="en-US" altLang="zh-CN" sz="28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3118923"/>
      </p:ext>
    </p:extLst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259632" y="2996952"/>
            <a:ext cx="7884368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2.3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基本输入</a:t>
            </a: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/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输出函数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11683600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基本输入输出函数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208838" cy="4969147"/>
          </a:xfrm>
        </p:spPr>
        <p:txBody>
          <a:bodyPr/>
          <a:lstStyle/>
          <a:p>
            <a:r>
              <a:rPr lang="en-US" altLang="zh-CN" sz="2600" dirty="0"/>
              <a:t>C</a:t>
            </a:r>
            <a:r>
              <a:rPr lang="zh-CN" altLang="en-US" sz="2600" dirty="0"/>
              <a:t>语言本身不提供输入输出语句，输入和输出功能由系统提供的库</a:t>
            </a:r>
            <a:r>
              <a:rPr lang="zh-CN" altLang="en-US" sz="2600" dirty="0" smtClean="0"/>
              <a:t>函数实现。</a:t>
            </a:r>
            <a:endParaRPr lang="en-US" altLang="zh-CN" sz="2600" dirty="0" smtClean="0"/>
          </a:p>
          <a:p>
            <a:r>
              <a:rPr lang="zh-CN" altLang="en-US" sz="2600" dirty="0" smtClean="0"/>
              <a:t>使用</a:t>
            </a:r>
            <a:r>
              <a:rPr lang="en-US" altLang="zh-CN" sz="2600" dirty="0"/>
              <a:t>C</a:t>
            </a:r>
            <a:r>
              <a:rPr lang="zh-CN" altLang="en-US" sz="2600" dirty="0"/>
              <a:t>语言库函数时，要用预编译命令</a:t>
            </a:r>
            <a:r>
              <a:rPr lang="en-US" altLang="zh-CN" sz="2600" dirty="0"/>
              <a:t>#include</a:t>
            </a:r>
            <a:r>
              <a:rPr lang="zh-CN" altLang="en-US" sz="2600" dirty="0"/>
              <a:t>将相关头文件包含到用户源文件中</a:t>
            </a:r>
            <a:r>
              <a:rPr lang="zh-CN" altLang="en-US" sz="2600" dirty="0" smtClean="0"/>
              <a:t>。</a:t>
            </a:r>
            <a:endParaRPr lang="en-US" altLang="zh-CN" sz="2600" dirty="0" smtClean="0"/>
          </a:p>
          <a:p>
            <a:r>
              <a:rPr lang="zh-CN" altLang="en-US" sz="2600" dirty="0" smtClean="0"/>
              <a:t>例如</a:t>
            </a:r>
            <a:r>
              <a:rPr lang="zh-CN" altLang="en-US" sz="2600" dirty="0"/>
              <a:t>使用标准输入输出函数时，要用</a:t>
            </a:r>
            <a:r>
              <a:rPr lang="zh-CN" altLang="en-US" sz="2600" dirty="0" smtClean="0"/>
              <a:t>到</a:t>
            </a:r>
            <a:r>
              <a:rPr lang="en-US" altLang="zh-CN" sz="2600" dirty="0" smtClean="0"/>
              <a:t>“</a:t>
            </a:r>
            <a:r>
              <a:rPr lang="en-US" altLang="zh-CN" sz="2600" dirty="0" err="1" smtClean="0"/>
              <a:t>stdio.h</a:t>
            </a:r>
            <a:r>
              <a:rPr lang="en-US" altLang="zh-CN" sz="2600" dirty="0" smtClean="0"/>
              <a:t>”</a:t>
            </a:r>
            <a:r>
              <a:rPr lang="zh-CN" altLang="en-US" sz="2600" dirty="0" smtClean="0"/>
              <a:t>头文件。</a:t>
            </a:r>
            <a:endParaRPr lang="en-US" altLang="zh-CN" sz="2600" dirty="0" smtClean="0"/>
          </a:p>
          <a:p>
            <a:r>
              <a:rPr lang="zh-CN" altLang="en-US" sz="2600" dirty="0" smtClean="0"/>
              <a:t>调用</a:t>
            </a:r>
            <a:r>
              <a:rPr lang="zh-CN" altLang="en-US" sz="2600" dirty="0"/>
              <a:t>标准输入输出</a:t>
            </a:r>
            <a:r>
              <a:rPr lang="zh-CN" altLang="en-US" sz="2600" dirty="0" smtClean="0"/>
              <a:t>函数，</a:t>
            </a:r>
            <a:r>
              <a:rPr lang="zh-CN" altLang="en-US" sz="2600" dirty="0"/>
              <a:t>程序</a:t>
            </a:r>
            <a:r>
              <a:rPr lang="zh-CN" altLang="en-US" sz="2600" dirty="0" smtClean="0"/>
              <a:t>文件开始处预编</a:t>
            </a:r>
            <a:r>
              <a:rPr lang="zh-CN" altLang="en-US" sz="2600" dirty="0"/>
              <a:t>译</a:t>
            </a:r>
            <a:r>
              <a:rPr lang="zh-CN" altLang="en-US" sz="2600" dirty="0" smtClean="0"/>
              <a:t>命令</a:t>
            </a:r>
            <a:endParaRPr lang="zh-CN" altLang="en-US" sz="2600" dirty="0"/>
          </a:p>
          <a:p>
            <a:pPr marL="0" indent="0">
              <a:buNone/>
            </a:pPr>
            <a:r>
              <a:rPr lang="en-US" altLang="zh-CN" sz="2600" dirty="0" smtClean="0"/>
              <a:t>      #</a:t>
            </a:r>
            <a:r>
              <a:rPr lang="en-US" altLang="zh-CN" sz="2600" dirty="0"/>
              <a:t>include &lt;</a:t>
            </a:r>
            <a:r>
              <a:rPr lang="en-US" altLang="zh-CN" sz="2600" dirty="0" err="1"/>
              <a:t>stdio.h</a:t>
            </a:r>
            <a:r>
              <a:rPr lang="en-US" altLang="zh-CN" sz="2600" dirty="0"/>
              <a:t>&gt;</a:t>
            </a:r>
          </a:p>
          <a:p>
            <a:pPr marL="0" indent="0">
              <a:buNone/>
            </a:pPr>
            <a:r>
              <a:rPr lang="zh-CN" altLang="en-US" sz="2600" dirty="0" smtClean="0"/>
              <a:t>或  </a:t>
            </a:r>
            <a:r>
              <a:rPr lang="en-US" altLang="zh-CN" sz="2600" dirty="0" smtClean="0"/>
              <a:t>#</a:t>
            </a:r>
            <a:r>
              <a:rPr lang="en-US" altLang="zh-CN" sz="2600" dirty="0"/>
              <a:t>include  </a:t>
            </a:r>
            <a:r>
              <a:rPr lang="pt-BR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altLang="zh-CN" sz="2600" dirty="0" err="1" smtClean="0"/>
              <a:t>stdio.h</a:t>
            </a:r>
            <a:r>
              <a:rPr lang="pt-BR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n-US" altLang="zh-CN" sz="2600" dirty="0" smtClean="0"/>
              <a:t>                 </a:t>
            </a:r>
            <a:endParaRPr lang="en-US" altLang="zh-CN" sz="2600" dirty="0"/>
          </a:p>
          <a:p>
            <a:endParaRPr lang="zh-CN" altLang="en-US" sz="2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39059154"/>
      </p:ext>
    </p:extLst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基本输出</a:t>
            </a:r>
            <a:r>
              <a:rPr lang="zh-CN" altLang="en-US" dirty="0"/>
              <a:t>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628800"/>
            <a:ext cx="8208838" cy="5041155"/>
          </a:xfrm>
        </p:spPr>
        <p:txBody>
          <a:bodyPr/>
          <a:lstStyle/>
          <a:p>
            <a:r>
              <a:rPr lang="zh-CN" altLang="en-US" sz="2400" dirty="0"/>
              <a:t>格式化输出</a:t>
            </a:r>
            <a:r>
              <a:rPr lang="zh-CN" altLang="en-US" sz="2400" dirty="0" smtClean="0"/>
              <a:t>函数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 格式</a:t>
            </a:r>
            <a:r>
              <a:rPr lang="zh-CN" altLang="en-US" sz="2400" dirty="0"/>
              <a:t>：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</a:t>
            </a:r>
            <a:r>
              <a:rPr lang="zh-CN" altLang="en-US" sz="2400" dirty="0"/>
              <a:t>格式控制</a:t>
            </a:r>
            <a:r>
              <a:rPr lang="en-US" altLang="zh-CN" sz="2400" dirty="0"/>
              <a:t>,</a:t>
            </a:r>
            <a:r>
              <a:rPr lang="zh-CN" altLang="en-US" sz="2400" dirty="0"/>
              <a:t>输出表列</a:t>
            </a:r>
            <a:r>
              <a:rPr lang="en-US" altLang="zh-CN" sz="2400" dirty="0" smtClean="0"/>
              <a:t>);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sz="2400" dirty="0" smtClean="0"/>
              <a:t> 功能</a:t>
            </a:r>
            <a:r>
              <a:rPr lang="zh-CN" altLang="en-US" sz="2400" dirty="0"/>
              <a:t>：将输出的数据按格式控制指定的格式输出</a:t>
            </a:r>
            <a:r>
              <a:rPr lang="zh-CN" altLang="en-US" sz="2400" dirty="0" smtClean="0"/>
              <a:t>。    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/>
              <a:t> </a:t>
            </a:r>
            <a:r>
              <a:rPr lang="zh-CN" altLang="en-US" sz="2400" dirty="0" smtClean="0"/>
              <a:t>例如：</a:t>
            </a:r>
            <a:r>
              <a:rPr lang="pt-BR" altLang="zh-CN" sz="2400" dirty="0"/>
              <a:t>printf("n=%d m=%d\n",n,m</a:t>
            </a:r>
            <a:r>
              <a:rPr lang="pt-BR" altLang="zh-CN" sz="2400" dirty="0" smtClean="0"/>
              <a:t>);</a:t>
            </a:r>
            <a:endParaRPr lang="en-US" altLang="zh-CN" sz="2400" dirty="0"/>
          </a:p>
          <a:p>
            <a:pPr lvl="1"/>
            <a:r>
              <a:rPr lang="zh-CN" altLang="en-US" sz="2200" dirty="0"/>
              <a:t>格式</a:t>
            </a:r>
            <a:r>
              <a:rPr lang="zh-CN" altLang="en-US" sz="2200" dirty="0" smtClean="0"/>
              <a:t>控制：</a:t>
            </a:r>
            <a:endParaRPr lang="en-US" altLang="zh-CN" sz="2200" dirty="0" smtClean="0"/>
          </a:p>
          <a:p>
            <a:pPr lvl="2"/>
            <a:r>
              <a:rPr lang="zh-CN" altLang="en-US" dirty="0" smtClean="0"/>
              <a:t>双引号</a:t>
            </a:r>
            <a:r>
              <a:rPr lang="zh-CN" altLang="en-US" dirty="0"/>
              <a:t>括起来的</a:t>
            </a:r>
            <a:r>
              <a:rPr lang="zh-CN" altLang="en-US" dirty="0" smtClean="0"/>
              <a:t>字符串</a:t>
            </a:r>
            <a:endParaRPr lang="en-US" altLang="zh-CN" dirty="0" smtClean="0"/>
          </a:p>
          <a:p>
            <a:pPr lvl="2"/>
            <a:r>
              <a:rPr lang="zh-CN" altLang="en-US" dirty="0" smtClean="0"/>
              <a:t>格式说明</a:t>
            </a:r>
            <a:r>
              <a:rPr lang="en-US" altLang="zh-CN" dirty="0" smtClean="0"/>
              <a:t>+</a:t>
            </a:r>
            <a:r>
              <a:rPr lang="zh-CN" altLang="en-US" dirty="0" smtClean="0"/>
              <a:t>普通字符</a:t>
            </a:r>
            <a:endParaRPr lang="en-US" altLang="zh-CN" dirty="0" smtClean="0"/>
          </a:p>
          <a:p>
            <a:pPr lvl="3"/>
            <a:r>
              <a:rPr lang="zh-CN" altLang="en-US" sz="2200" dirty="0" smtClean="0">
                <a:solidFill>
                  <a:srgbClr val="0066FF"/>
                </a:solidFill>
              </a:rPr>
              <a:t>格式说明</a:t>
            </a:r>
            <a:r>
              <a:rPr lang="zh-CN" altLang="en-US" sz="2200" dirty="0" smtClean="0"/>
              <a:t>：由</a:t>
            </a:r>
            <a:r>
              <a:rPr lang="en-US" altLang="zh-CN" sz="2200" dirty="0"/>
              <a:t>%</a:t>
            </a:r>
            <a:r>
              <a:rPr lang="zh-CN" altLang="en-US" sz="2200" dirty="0"/>
              <a:t>和格式字符组</a:t>
            </a:r>
            <a:r>
              <a:rPr lang="zh-CN" altLang="en-US" sz="2200" dirty="0" smtClean="0"/>
              <a:t>成（</a:t>
            </a:r>
            <a:r>
              <a:rPr lang="en-US" altLang="zh-CN" sz="2200" dirty="0" smtClean="0"/>
              <a:t>%%</a:t>
            </a:r>
            <a:r>
              <a:rPr lang="zh-CN" altLang="en-US" sz="2200" dirty="0" smtClean="0"/>
              <a:t>输出</a:t>
            </a:r>
            <a:r>
              <a:rPr lang="en-US" altLang="zh-CN" sz="2200" dirty="0" smtClean="0"/>
              <a:t>%</a:t>
            </a:r>
            <a:r>
              <a:rPr lang="zh-CN" altLang="en-US" sz="2200" dirty="0" smtClean="0"/>
              <a:t>号）</a:t>
            </a:r>
            <a:endParaRPr lang="en-US" altLang="zh-CN" sz="2200" dirty="0" smtClean="0"/>
          </a:p>
          <a:p>
            <a:pPr lvl="3"/>
            <a:r>
              <a:rPr lang="zh-CN" altLang="en-US" sz="2200" dirty="0" smtClean="0">
                <a:solidFill>
                  <a:srgbClr val="0066FF"/>
                </a:solidFill>
              </a:rPr>
              <a:t>普通字符</a:t>
            </a:r>
            <a:r>
              <a:rPr lang="zh-CN" altLang="en-US" sz="2200" dirty="0" smtClean="0"/>
              <a:t>：需要</a:t>
            </a:r>
            <a:r>
              <a:rPr lang="zh-CN" altLang="en-US" sz="2200" dirty="0"/>
              <a:t>按字符原样输出的</a:t>
            </a:r>
            <a:r>
              <a:rPr lang="zh-CN" altLang="en-US" sz="2200" dirty="0" smtClean="0"/>
              <a:t>字符</a:t>
            </a:r>
            <a:endParaRPr lang="en-US" altLang="zh-CN" sz="2200" dirty="0" smtClean="0"/>
          </a:p>
          <a:p>
            <a:pPr lvl="1"/>
            <a:r>
              <a:rPr lang="zh-CN" altLang="en-US" sz="2200" dirty="0"/>
              <a:t>输出表</a:t>
            </a:r>
            <a:r>
              <a:rPr lang="zh-CN" altLang="en-US" sz="2200" dirty="0" smtClean="0"/>
              <a:t>列：需要</a:t>
            </a:r>
            <a:r>
              <a:rPr lang="zh-CN" altLang="en-US" sz="2200" dirty="0"/>
              <a:t>输出的一些</a:t>
            </a:r>
            <a:r>
              <a:rPr lang="zh-CN" altLang="en-US" sz="2200" dirty="0" smtClean="0"/>
              <a:t>数据（常量、变量、表达式），各</a:t>
            </a:r>
            <a:r>
              <a:rPr lang="zh-CN" altLang="en-US" sz="2200" dirty="0"/>
              <a:t>输出项之间用逗号分隔。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40951814"/>
      </p:ext>
    </p:extLst>
  </p:cSld>
  <p:clrMapOvr>
    <a:masterClrMapping/>
  </p:clrMapOvr>
  <p:transition spd="med"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157787"/>
          </a:xfrm>
        </p:spPr>
        <p:txBody>
          <a:bodyPr/>
          <a:lstStyle/>
          <a:p>
            <a:r>
              <a:rPr lang="zh-CN" altLang="en-US" dirty="0" smtClean="0"/>
              <a:t>格式化输入函数 </a:t>
            </a:r>
            <a:r>
              <a:rPr lang="en-US" altLang="zh-CN" dirty="0"/>
              <a:t> </a:t>
            </a:r>
            <a:r>
              <a:rPr lang="en-US" altLang="zh-CN" dirty="0" smtClean="0"/>
              <a:t>                         </a:t>
            </a:r>
          </a:p>
          <a:p>
            <a:pPr marL="0" indent="0">
              <a:buNone/>
            </a:pPr>
            <a:r>
              <a:rPr lang="zh-CN" altLang="en-US" dirty="0" smtClean="0"/>
              <a:t>格式</a:t>
            </a:r>
            <a:r>
              <a:rPr lang="zh-CN" altLang="en-US" dirty="0"/>
              <a:t>：</a:t>
            </a:r>
            <a:r>
              <a:rPr lang="en-US" altLang="zh-CN" dirty="0" err="1"/>
              <a:t>scanf</a:t>
            </a:r>
            <a:r>
              <a:rPr lang="en-US" altLang="zh-CN" dirty="0"/>
              <a:t>(</a:t>
            </a:r>
            <a:r>
              <a:rPr lang="zh-CN" altLang="en-US" dirty="0"/>
              <a:t>格式说明</a:t>
            </a:r>
            <a:r>
              <a:rPr lang="en-US" altLang="zh-CN" dirty="0"/>
              <a:t>,</a:t>
            </a:r>
            <a:r>
              <a:rPr lang="zh-CN" altLang="en-US" dirty="0"/>
              <a:t>地址表列</a:t>
            </a:r>
            <a:r>
              <a:rPr lang="en-US" altLang="zh-CN" dirty="0"/>
              <a:t>)</a:t>
            </a:r>
          </a:p>
          <a:p>
            <a:pPr marL="0" indent="0">
              <a:buNone/>
            </a:pPr>
            <a:r>
              <a:rPr lang="zh-CN" altLang="en-US" dirty="0"/>
              <a:t>功能：从键盘输入各种数据。</a:t>
            </a:r>
          </a:p>
          <a:p>
            <a:pPr marL="0" indent="0">
              <a:buNone/>
            </a:pPr>
            <a:r>
              <a:rPr lang="zh-CN" altLang="en-US" dirty="0" smtClean="0"/>
              <a:t>例如：</a:t>
            </a:r>
            <a:r>
              <a:rPr lang="en-US" altLang="zh-CN" dirty="0" err="1"/>
              <a:t>scanf</a:t>
            </a:r>
            <a:r>
              <a:rPr lang="en-US" altLang="zh-CN" dirty="0"/>
              <a:t>("%</a:t>
            </a:r>
            <a:r>
              <a:rPr lang="en-US" altLang="zh-CN" dirty="0" err="1"/>
              <a:t>d%d</a:t>
            </a:r>
            <a:r>
              <a:rPr lang="en-US" altLang="zh-CN" dirty="0"/>
              <a:t>",</a:t>
            </a:r>
            <a:r>
              <a:rPr lang="en-US" altLang="zh-CN" dirty="0">
                <a:solidFill>
                  <a:srgbClr val="FF0000"/>
                </a:solidFill>
              </a:rPr>
              <a:t>&amp;</a:t>
            </a:r>
            <a:r>
              <a:rPr lang="en-US" altLang="zh-CN" dirty="0" err="1"/>
              <a:t>n,</a:t>
            </a:r>
            <a:r>
              <a:rPr lang="en-US" altLang="zh-CN" dirty="0" err="1">
                <a:solidFill>
                  <a:srgbClr val="FF0000"/>
                </a:solidFill>
              </a:rPr>
              <a:t>&amp;</a:t>
            </a:r>
            <a:r>
              <a:rPr lang="en-US" altLang="zh-CN" dirty="0" err="1"/>
              <a:t>m</a:t>
            </a:r>
            <a:r>
              <a:rPr lang="en-US" altLang="zh-CN" dirty="0" smtClean="0"/>
              <a:t>);</a:t>
            </a:r>
          </a:p>
          <a:p>
            <a:pPr lvl="1"/>
            <a:r>
              <a:rPr lang="zh-CN" altLang="en-US" dirty="0" smtClean="0"/>
              <a:t>其中</a:t>
            </a:r>
            <a:r>
              <a:rPr lang="en-US" altLang="zh-CN" dirty="0"/>
              <a:t>&amp;</a:t>
            </a:r>
            <a:r>
              <a:rPr lang="zh-CN" altLang="en-US" dirty="0"/>
              <a:t>为取地址运算符，</a:t>
            </a:r>
            <a:r>
              <a:rPr lang="en-US" altLang="zh-CN" dirty="0"/>
              <a:t>&amp;n</a:t>
            </a:r>
            <a:r>
              <a:rPr lang="zh-CN" altLang="en-US" dirty="0"/>
              <a:t>指变量</a:t>
            </a:r>
            <a:r>
              <a:rPr lang="en-US" altLang="zh-CN" dirty="0"/>
              <a:t>n</a:t>
            </a:r>
            <a:r>
              <a:rPr lang="zh-CN" altLang="en-US" dirty="0"/>
              <a:t>在内存中的地址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49321124"/>
      </p:ext>
    </p:extLst>
  </p:cSld>
  <p:clrMapOvr>
    <a:masterClrMapping/>
  </p:clrMapOvr>
  <p:transition spd="med"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输入输出（整型）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27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043608" y="1772816"/>
            <a:ext cx="74888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  <a:endParaRPr lang="pt-BR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int i;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printf(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输入数值：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scanf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d",</a:t>
            </a:r>
            <a:r>
              <a:rPr lang="pt-BR" altLang="zh-CN" sz="28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printf("i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=%d\n",i);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9509443"/>
      </p:ext>
    </p:extLst>
  </p:cSld>
  <p:clrMapOvr>
    <a:masterClrMapping/>
  </p:clrMapOvr>
  <p:transition spd="med">
    <p:rand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输入输出（整型）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28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043608" y="1772816"/>
            <a:ext cx="748883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  <a:endParaRPr lang="pt-BR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int i,m,n;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printf(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输入三个数值：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scanf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d%o%x",</a:t>
            </a:r>
            <a:r>
              <a:rPr lang="pt-BR" altLang="zh-CN" sz="2800" b="1" dirty="0" smtClean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i,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m,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printf("i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=%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 m=%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n=%d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\n",i,m,n);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07704" y="5743134"/>
            <a:ext cx="19442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/>
              <a:t>输入：</a:t>
            </a:r>
            <a:r>
              <a:rPr lang="en-US" altLang="zh-CN" sz="2000" b="1" dirty="0" smtClean="0"/>
              <a:t>10 10 10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907396304"/>
      </p:ext>
    </p:extLst>
  </p:cSld>
  <p:clrMapOvr>
    <a:masterClrMapping/>
  </p:clrMapOvr>
  <p:transition spd="med"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输入输出（整型）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80600" y="1623319"/>
            <a:ext cx="8363400" cy="5107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int x,y,z;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600" kern="0" dirty="0" smtClean="0"/>
              <a:t>x=12;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2600" kern="0" dirty="0" smtClean="0"/>
              <a:t>     y=</a:t>
            </a:r>
            <a:r>
              <a:rPr lang="en-US" altLang="zh-CN" sz="2600" kern="0" dirty="0" smtClean="0">
                <a:solidFill>
                  <a:srgbClr val="FF0000"/>
                </a:solidFill>
              </a:rPr>
              <a:t>0</a:t>
            </a:r>
            <a:r>
              <a:rPr lang="en-US" altLang="zh-CN" sz="2600" kern="0" dirty="0" smtClean="0"/>
              <a:t>12;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US" altLang="zh-CN" sz="2600" kern="0" dirty="0" smtClean="0"/>
              <a:t>     z=</a:t>
            </a:r>
            <a:r>
              <a:rPr lang="en-US" altLang="zh-CN" sz="2600" kern="0" dirty="0" smtClean="0">
                <a:solidFill>
                  <a:srgbClr val="FF0000"/>
                </a:solidFill>
              </a:rPr>
              <a:t>0x</a:t>
            </a:r>
            <a:r>
              <a:rPr lang="en-US" altLang="zh-CN" sz="2600" kern="0" dirty="0" smtClean="0"/>
              <a:t>12;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</a:t>
            </a:r>
            <a:r>
              <a:rPr lang="pt-BR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,y=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,z=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,x,y,z);  //</a:t>
            </a: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十进制输出</a:t>
            </a:r>
            <a:endParaRPr lang="pt-BR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</a:t>
            </a:r>
            <a:r>
              <a:rPr lang="pt-BR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%o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,y=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%o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,z=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%o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,x,y,z);  //</a:t>
            </a: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八进制输出</a:t>
            </a:r>
            <a:endParaRPr lang="pt-BR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</a:t>
            </a:r>
            <a:r>
              <a:rPr lang="pt-BR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%x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,y=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%x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,z=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%x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,x,y,z);  //</a:t>
            </a: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十六进制输出</a:t>
            </a:r>
            <a:endParaRPr lang="pt-BR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printf("x=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%X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,y=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%X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,z=</a:t>
            </a:r>
            <a:r>
              <a:rPr lang="pt-BR" altLang="zh-CN" sz="2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%X</a:t>
            </a: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\n",x,y,z); //</a:t>
            </a:r>
            <a:r>
              <a:rPr lang="zh-CN" alt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十六进制输出</a:t>
            </a:r>
            <a:endParaRPr lang="pt-BR" altLang="zh-CN" sz="2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r>
              <a:rPr lang="en-US" altLang="zh-CN" sz="2600" kern="0" dirty="0" smtClean="0"/>
              <a:t>   </a:t>
            </a: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zh-CN" sz="2600" kern="0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zh-CN" sz="2600" kern="0" dirty="0" smtClean="0">
              <a:solidFill>
                <a:srgbClr val="FF3300"/>
              </a:solidFill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altLang="zh-CN" sz="2600" kern="0" dirty="0" smtClean="0"/>
          </a:p>
        </p:txBody>
      </p:sp>
    </p:spTree>
    <p:extLst>
      <p:ext uri="{BB962C8B-B14F-4D97-AF65-F5344CB8AC3E}">
        <p14:creationId xmlns:p14="http://schemas.microsoft.com/office/powerpoint/2010/main" val="1496369108"/>
      </p:ext>
    </p:extLst>
  </p:cSld>
  <p:clrMapOvr>
    <a:masterClrMapping/>
  </p:clrMapOvr>
  <p:transition spd="med"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</a:t>
            </a:r>
            <a:r>
              <a:rPr lang="zh-CN" altLang="en-US" dirty="0"/>
              <a:t>单精度</a:t>
            </a:r>
            <a:r>
              <a:rPr lang="zh-CN" altLang="en-US" dirty="0" smtClean="0"/>
              <a:t>浮点型）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30</a:t>
            </a:fld>
            <a:endParaRPr lang="en-US" altLang="zh-CN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064822" cy="4969147"/>
          </a:xfrm>
        </p:spPr>
        <p:txBody>
          <a:bodyPr/>
          <a:lstStyle/>
          <a:p>
            <a:r>
              <a:rPr lang="zh-CN" altLang="en-US" dirty="0" smtClean="0"/>
              <a:t>单精度</a:t>
            </a:r>
            <a:r>
              <a:rPr lang="zh-CN" altLang="en-US" dirty="0"/>
              <a:t>浮点型（</a:t>
            </a:r>
            <a:r>
              <a:rPr lang="en-US" altLang="zh-CN" dirty="0"/>
              <a:t>float</a:t>
            </a:r>
            <a:r>
              <a:rPr lang="zh-CN" altLang="en-US" dirty="0"/>
              <a:t>型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sz="2800" dirty="0" smtClean="0"/>
              <a:t>4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32</a:t>
            </a:r>
            <a:r>
              <a:rPr lang="zh-CN" altLang="en-US" sz="2800" dirty="0"/>
              <a:t>位</a:t>
            </a:r>
            <a:r>
              <a:rPr lang="zh-CN" altLang="en-US" sz="2800" dirty="0" smtClean="0"/>
              <a:t>）</a:t>
            </a:r>
            <a:endParaRPr lang="en-US" altLang="zh-CN" sz="2800" dirty="0" smtClean="0"/>
          </a:p>
          <a:p>
            <a:pPr lvl="1"/>
            <a:r>
              <a:rPr lang="zh-CN" altLang="en-US" sz="2800" dirty="0" smtClean="0"/>
              <a:t>有效位数：</a:t>
            </a:r>
            <a:r>
              <a:rPr lang="en-US" altLang="zh-CN" sz="2800" dirty="0" smtClean="0"/>
              <a:t>7-8</a:t>
            </a:r>
            <a:r>
              <a:rPr lang="zh-CN" altLang="en-US" sz="2800" dirty="0" smtClean="0"/>
              <a:t>位</a:t>
            </a:r>
            <a:endParaRPr lang="en-US" altLang="zh-CN" sz="2800" dirty="0" smtClean="0"/>
          </a:p>
          <a:p>
            <a:pPr lvl="1"/>
            <a:r>
              <a:rPr lang="zh-CN" altLang="en-US" sz="2800" dirty="0"/>
              <a:t>默认六位小数</a:t>
            </a:r>
            <a:r>
              <a:rPr lang="zh-CN" altLang="en-US" sz="2800" dirty="0" smtClean="0"/>
              <a:t>位数</a:t>
            </a:r>
            <a:endParaRPr lang="en-US" altLang="zh-CN" sz="2800" dirty="0" smtClean="0"/>
          </a:p>
        </p:txBody>
      </p:sp>
    </p:spTree>
    <p:extLst>
      <p:ext uri="{BB962C8B-B14F-4D97-AF65-F5344CB8AC3E}">
        <p14:creationId xmlns:p14="http://schemas.microsoft.com/office/powerpoint/2010/main" val="2038865013"/>
      </p:ext>
    </p:extLst>
  </p:cSld>
  <p:clrMapOvr>
    <a:masterClrMapping/>
  </p:clrMapOvr>
  <p:transition spd="med"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</a:t>
            </a:r>
            <a:r>
              <a:rPr lang="zh-CN" altLang="en-US" dirty="0"/>
              <a:t>单精度</a:t>
            </a:r>
            <a:r>
              <a:rPr lang="zh-CN" altLang="en-US" dirty="0" smtClean="0"/>
              <a:t>浮点型）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31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55650" y="1844824"/>
            <a:ext cx="59046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   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 y;</a:t>
            </a:r>
            <a:endParaRPr lang="pt-BR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printf("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输入两个数值：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\n");</a:t>
            </a:r>
          </a:p>
          <a:p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scanf 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y);</a:t>
            </a:r>
          </a:p>
          <a:p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printf (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x=%</a:t>
            </a:r>
            <a:r>
              <a:rPr lang="es-E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,y=%</a:t>
            </a:r>
            <a:r>
              <a:rPr lang="es-E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x,y);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return 0;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43589475"/>
      </p:ext>
    </p:extLst>
  </p:cSld>
  <p:clrMapOvr>
    <a:masterClrMapping/>
  </p:clrMapOvr>
  <p:transition spd="med"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</a:t>
            </a:r>
            <a:r>
              <a:rPr lang="zh-CN" altLang="en-US" dirty="0"/>
              <a:t>单精度</a:t>
            </a:r>
            <a:r>
              <a:rPr lang="zh-CN" altLang="en-US" dirty="0" smtClean="0"/>
              <a:t>浮点型）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84656" y="2336581"/>
            <a:ext cx="590465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float   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 y;</a:t>
            </a:r>
            <a:endParaRPr lang="pt-BR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printf("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输入两个数值：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\n");</a:t>
            </a:r>
          </a:p>
          <a:p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scanf 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x,</a:t>
            </a:r>
            <a:r>
              <a:rPr lang="es-E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y);</a:t>
            </a:r>
          </a:p>
          <a:p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printf (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x=%</a:t>
            </a:r>
            <a:r>
              <a:rPr lang="es-E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.2f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,y=%</a:t>
            </a:r>
            <a:r>
              <a:rPr lang="es-E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s-E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3f</a:t>
            </a:r>
            <a:r>
              <a:rPr lang="es-E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es-E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 x,y);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return 0;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4"/>
            <a:ext cx="4320406" cy="636368"/>
          </a:xfrm>
        </p:spPr>
        <p:txBody>
          <a:bodyPr/>
          <a:lstStyle/>
          <a:p>
            <a:r>
              <a:rPr lang="zh-CN" altLang="en-US" dirty="0" smtClean="0"/>
              <a:t>保留固定的小数位数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2541733"/>
      </p:ext>
    </p:extLst>
  </p:cSld>
  <p:clrMapOvr>
    <a:masterClrMapping/>
  </p:clrMapOvr>
  <p:transition spd="med"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输入输出（双精度浮点型）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33</a:t>
            </a:fld>
            <a:endParaRPr lang="en-US" altLang="zh-CN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6048598" cy="1728787"/>
          </a:xfrm>
        </p:spPr>
        <p:txBody>
          <a:bodyPr/>
          <a:lstStyle/>
          <a:p>
            <a:r>
              <a:rPr lang="zh-CN" altLang="en-US" dirty="0" smtClean="0"/>
              <a:t>双精度</a:t>
            </a:r>
            <a:r>
              <a:rPr lang="zh-CN" altLang="en-US" dirty="0"/>
              <a:t>浮点型（</a:t>
            </a:r>
            <a:r>
              <a:rPr lang="en-US" altLang="zh-CN" dirty="0"/>
              <a:t>double</a:t>
            </a:r>
            <a:r>
              <a:rPr lang="zh-CN" altLang="en-US" dirty="0"/>
              <a:t>型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en-US" altLang="zh-CN" sz="2800" dirty="0" smtClean="0"/>
              <a:t>8</a:t>
            </a:r>
            <a:r>
              <a:rPr lang="zh-CN" altLang="en-US" sz="2800" dirty="0"/>
              <a:t>个字节（</a:t>
            </a:r>
            <a:r>
              <a:rPr lang="en-US" altLang="zh-CN" sz="2800" dirty="0"/>
              <a:t>64</a:t>
            </a:r>
            <a:r>
              <a:rPr lang="zh-CN" altLang="en-US" sz="2800" dirty="0" smtClean="0"/>
              <a:t>位）</a:t>
            </a:r>
            <a:endParaRPr lang="en-US" altLang="zh-CN" sz="2800" dirty="0" smtClean="0"/>
          </a:p>
          <a:p>
            <a:pPr lvl="1"/>
            <a:r>
              <a:rPr lang="zh-CN" altLang="en-US" sz="2800" dirty="0"/>
              <a:t>有效位数： </a:t>
            </a:r>
            <a:r>
              <a:rPr lang="en-US" altLang="zh-CN" sz="2800" dirty="0" smtClean="0"/>
              <a:t>15-16</a:t>
            </a:r>
            <a:r>
              <a:rPr lang="zh-CN" altLang="en-US" sz="2800" dirty="0" smtClean="0"/>
              <a:t>位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905294432"/>
      </p:ext>
    </p:extLst>
  </p:cSld>
  <p:clrMapOvr>
    <a:masterClrMapping/>
  </p:clrMapOvr>
  <p:transition spd="med"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输入输出（双精度浮点型）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55650" y="1556792"/>
            <a:ext cx="820883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double x,y,sum;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</a:t>
            </a:r>
            <a:r>
              <a:rPr lang="zh-CN" altLang="en-US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输入两个数值：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\n");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scanf("%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lf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lf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sum=x+y;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=%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lf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sum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     </a:t>
            </a:r>
            <a:endParaRPr lang="pt-BR" altLang="zh-CN" sz="2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printf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("sum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=%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",sum);</a:t>
            </a:r>
            <a:endParaRPr lang="pt-BR" altLang="zh-CN" sz="2600" b="1" dirty="0">
              <a:solidFill>
                <a:srgbClr val="3333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("sum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=%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.4lf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",sum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printf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("sum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=%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.4f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",sum);</a:t>
            </a:r>
            <a:endParaRPr lang="pt-BR" altLang="zh-CN" sz="2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73811122"/>
      </p:ext>
    </p:extLst>
  </p:cSld>
  <p:clrMapOvr>
    <a:masterClrMapping/>
  </p:clrMapOvr>
  <p:transition spd="med"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35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903586" y="1772816"/>
            <a:ext cx="813291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float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x=111111.111111, y=222222.222222;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(float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      //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修改为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double</a:t>
            </a:r>
            <a:r>
              <a:rPr lang="zh-CN" alt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？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x+y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</a:t>
            </a:r>
            <a:r>
              <a:rPr lang="zh-CN" altLang="en-US" dirty="0"/>
              <a:t>单精度</a:t>
            </a:r>
            <a:r>
              <a:rPr lang="zh-CN" altLang="en-US" dirty="0" smtClean="0"/>
              <a:t>浮点型）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7921163"/>
      </p:ext>
    </p:extLst>
  </p:cSld>
  <p:clrMapOvr>
    <a:masterClrMapping/>
  </p:clrMapOvr>
  <p:transition spd="med"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55576" y="1772816"/>
            <a:ext cx="847248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double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x=11111111.111111,y=22222222.222222;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(double); 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%lf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x+y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输入输出（双精度浮点型）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8013386"/>
      </p:ext>
    </p:extLst>
  </p:cSld>
  <p:clrMapOvr>
    <a:masterClrMapping/>
  </p:clrMapOvr>
  <p:transition spd="med"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37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755576" y="1628800"/>
            <a:ext cx="8472487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  <a:endParaRPr lang="en-US" altLang="zh-CN" sz="28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float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x=1234.56789;</a:t>
            </a:r>
          </a:p>
          <a:p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%-10.2f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",x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%10.2f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*\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n",x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%e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",x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10.2e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*\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n",x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%-10.2e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*\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n",x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r>
              <a:rPr lang="zh-CN" altLang="en-US"/>
              <a:t>基本</a:t>
            </a:r>
            <a:r>
              <a:rPr lang="zh-CN" altLang="en-US" smtClean="0"/>
              <a:t>输入输出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7953894"/>
      </p:ext>
    </p:extLst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38</a:t>
            </a:fld>
            <a:endParaRPr lang="en-US" altLang="zh-CN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55650" y="765175"/>
            <a:ext cx="7924800" cy="784225"/>
          </a:xfrm>
        </p:spPr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208838" cy="4465091"/>
          </a:xfrm>
        </p:spPr>
        <p:txBody>
          <a:bodyPr/>
          <a:lstStyle/>
          <a:p>
            <a:r>
              <a:rPr lang="zh-CN" altLang="en-US" sz="3200" dirty="0" smtClean="0">
                <a:solidFill>
                  <a:srgbClr val="FF0000"/>
                </a:solidFill>
              </a:rPr>
              <a:t>注意浮点型数据的有效位数</a:t>
            </a:r>
            <a:endParaRPr lang="en-US" altLang="zh-CN" sz="3200" dirty="0" smtClean="0">
              <a:solidFill>
                <a:srgbClr val="FF0000"/>
              </a:solidFill>
            </a:endParaRPr>
          </a:p>
          <a:p>
            <a:r>
              <a:rPr lang="zh-CN" altLang="en-US" sz="3200" dirty="0" smtClean="0">
                <a:solidFill>
                  <a:srgbClr val="002060"/>
                </a:solidFill>
              </a:rPr>
              <a:t>格式字符前加“</a:t>
            </a:r>
            <a:r>
              <a:rPr lang="en-US" altLang="zh-CN" sz="3200" dirty="0">
                <a:solidFill>
                  <a:srgbClr val="002060"/>
                </a:solidFill>
              </a:rPr>
              <a:t>-</a:t>
            </a:r>
            <a:r>
              <a:rPr lang="zh-CN" altLang="en-US" sz="3200" dirty="0" smtClean="0">
                <a:solidFill>
                  <a:srgbClr val="002060"/>
                </a:solidFill>
              </a:rPr>
              <a:t>”，表示数据左对齐，右补空格；默认右对齐，左补空格</a:t>
            </a:r>
          </a:p>
          <a:p>
            <a:r>
              <a:rPr lang="zh-CN" altLang="en-US" sz="3200" dirty="0" smtClean="0">
                <a:solidFill>
                  <a:srgbClr val="002060"/>
                </a:solidFill>
              </a:rPr>
              <a:t>小数形式输出</a:t>
            </a:r>
            <a:endParaRPr lang="en-US" altLang="zh-CN" sz="3200" dirty="0" smtClean="0">
              <a:solidFill>
                <a:srgbClr val="002060"/>
              </a:solidFill>
            </a:endParaRP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整数部分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小数点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>
                <a:solidFill>
                  <a:srgbClr val="FF0000"/>
                </a:solidFill>
              </a:rPr>
              <a:t>六位小数部分</a:t>
            </a:r>
            <a:endParaRPr lang="en-US" altLang="zh-CN" dirty="0" smtClean="0">
              <a:solidFill>
                <a:srgbClr val="002060"/>
              </a:solidFill>
            </a:endParaRPr>
          </a:p>
          <a:p>
            <a:r>
              <a:rPr lang="zh-CN" altLang="en-US" sz="3200" dirty="0" smtClean="0">
                <a:solidFill>
                  <a:srgbClr val="002060"/>
                </a:solidFill>
              </a:rPr>
              <a:t>指数形式输出：</a:t>
            </a:r>
            <a:endParaRPr lang="en-US" altLang="zh-CN" sz="3200" dirty="0" smtClean="0">
              <a:solidFill>
                <a:srgbClr val="002060"/>
              </a:solidFill>
            </a:endParaRPr>
          </a:p>
          <a:p>
            <a:pPr lvl="1"/>
            <a:r>
              <a:rPr lang="zh-CN" altLang="en-US" dirty="0" smtClean="0">
                <a:solidFill>
                  <a:srgbClr val="FF0000"/>
                </a:solidFill>
              </a:rPr>
              <a:t>整数部分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</a:rPr>
              <a:t>小数点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</a:rPr>
              <a:t>六位小数部分</a:t>
            </a:r>
            <a:r>
              <a:rPr lang="en-US" altLang="zh-CN" dirty="0" smtClean="0">
                <a:solidFill>
                  <a:srgbClr val="FF0000"/>
                </a:solidFill>
              </a:rPr>
              <a:t>+e+</a:t>
            </a:r>
            <a:r>
              <a:rPr lang="zh-CN" altLang="en-US" dirty="0" smtClean="0">
                <a:solidFill>
                  <a:srgbClr val="FF0000"/>
                </a:solidFill>
              </a:rPr>
              <a:t>符号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>
                <a:solidFill>
                  <a:srgbClr val="FF0000"/>
                </a:solidFill>
              </a:rPr>
              <a:t>三位</a:t>
            </a:r>
            <a:r>
              <a:rPr lang="zh-CN" altLang="en-US" dirty="0">
                <a:solidFill>
                  <a:srgbClr val="FF0000"/>
                </a:solidFill>
              </a:rPr>
              <a:t>整数</a:t>
            </a:r>
            <a:r>
              <a:rPr lang="zh-CN" altLang="en-US" dirty="0" smtClean="0">
                <a:solidFill>
                  <a:srgbClr val="FF0000"/>
                </a:solidFill>
              </a:rPr>
              <a:t>指数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179495"/>
      </p:ext>
    </p:extLst>
  </p:cSld>
  <p:clrMapOvr>
    <a:masterClrMapping/>
  </p:clrMapOvr>
  <p:transition spd="med"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738882" y="2913906"/>
            <a:ext cx="74167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ch1,ch2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scanf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%c%c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ch1,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ch2);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ch1=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%c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ch2=</a:t>
            </a:r>
            <a:r>
              <a:rPr lang="pt-BR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</a:t>
            </a:r>
            <a:r>
              <a:rPr lang="pt-BR" altLang="zh-CN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\n",ch1,ch2);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6984702" cy="648667"/>
          </a:xfrm>
        </p:spPr>
        <p:txBody>
          <a:bodyPr/>
          <a:lstStyle/>
          <a:p>
            <a:r>
              <a:rPr lang="zh-CN" altLang="en-US" dirty="0" smtClean="0"/>
              <a:t>字符型变量输入输出</a:t>
            </a:r>
            <a:endParaRPr lang="en-US" altLang="zh-CN" dirty="0" smtClean="0"/>
          </a:p>
          <a:p>
            <a:pPr lvl="1"/>
            <a:r>
              <a:rPr lang="en-US" altLang="zh-CN" sz="2800" dirty="0" err="1" smtClean="0">
                <a:solidFill>
                  <a:srgbClr val="FF0000"/>
                </a:solidFill>
              </a:rPr>
              <a:t>scanf</a:t>
            </a:r>
            <a:r>
              <a:rPr lang="zh-CN" altLang="en-US" sz="2800" dirty="0" smtClean="0">
                <a:solidFill>
                  <a:srgbClr val="FF0000"/>
                </a:solidFill>
              </a:rPr>
              <a:t>、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printf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496547"/>
      </p:ext>
    </p:extLst>
  </p:cSld>
  <p:clrMapOvr>
    <a:masterClrMapping/>
  </p:clrMapOvr>
  <p:transition spd="med"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40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421724" y="3429000"/>
            <a:ext cx="644464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ch1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ch1=getchar();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putchar(ch1);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776790" cy="1296739"/>
          </a:xfrm>
        </p:spPr>
        <p:txBody>
          <a:bodyPr/>
          <a:lstStyle/>
          <a:p>
            <a:r>
              <a:rPr lang="zh-CN" altLang="en-US" dirty="0" smtClean="0"/>
              <a:t>字符型变量输入输出</a:t>
            </a:r>
            <a:endParaRPr lang="en-US" altLang="zh-CN" dirty="0" smtClean="0"/>
          </a:p>
          <a:p>
            <a:pPr marL="608013" lvl="1" indent="-342900"/>
            <a:r>
              <a:rPr lang="zh-CN" altLang="en-US" sz="2800" dirty="0" smtClean="0">
                <a:solidFill>
                  <a:srgbClr val="FF0000"/>
                </a:solidFill>
              </a:rPr>
              <a:t>字符输入输出函数</a:t>
            </a:r>
            <a:endParaRPr lang="en-US" altLang="zh-CN" sz="2800" dirty="0" smtClean="0">
              <a:solidFill>
                <a:srgbClr val="FF0000"/>
              </a:solidFill>
            </a:endParaRPr>
          </a:p>
          <a:p>
            <a:pPr lvl="1"/>
            <a:r>
              <a:rPr lang="en-US" altLang="zh-CN" sz="2800" dirty="0" err="1" smtClean="0">
                <a:solidFill>
                  <a:srgbClr val="FF0000"/>
                </a:solidFill>
              </a:rPr>
              <a:t>getchar</a:t>
            </a:r>
            <a:r>
              <a:rPr lang="en-US" altLang="zh-CN" sz="2800" dirty="0" smtClean="0">
                <a:solidFill>
                  <a:srgbClr val="FF0000"/>
                </a:solidFill>
              </a:rPr>
              <a:t>()</a:t>
            </a:r>
            <a:r>
              <a:rPr lang="zh-CN" altLang="en-US" sz="2800" dirty="0" smtClean="0">
                <a:solidFill>
                  <a:srgbClr val="FF0000"/>
                </a:solidFill>
              </a:rPr>
              <a:t>，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putchar</a:t>
            </a:r>
            <a:r>
              <a:rPr lang="en-US" altLang="zh-CN" sz="2800" dirty="0" smtClean="0">
                <a:solidFill>
                  <a:srgbClr val="FF0000"/>
                </a:solidFill>
              </a:rPr>
              <a:t>()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903947"/>
      </p:ext>
    </p:extLst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41</a:t>
            </a:fld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776790" cy="2088827"/>
          </a:xfrm>
        </p:spPr>
        <p:txBody>
          <a:bodyPr/>
          <a:lstStyle/>
          <a:p>
            <a:r>
              <a:rPr lang="zh-CN" altLang="en-US" dirty="0"/>
              <a:t>每一个字符都有一个</a:t>
            </a:r>
            <a:r>
              <a:rPr lang="en-US" altLang="zh-CN" dirty="0"/>
              <a:t>ASCII</a:t>
            </a:r>
            <a:r>
              <a:rPr lang="zh-CN" altLang="en-US" dirty="0" smtClean="0"/>
              <a:t>编码</a:t>
            </a:r>
            <a:endParaRPr lang="en-US" altLang="zh-CN" dirty="0" smtClean="0"/>
          </a:p>
          <a:p>
            <a:r>
              <a:rPr lang="zh-CN" altLang="en-US" dirty="0"/>
              <a:t>在内存中用一个字节存储字符的</a:t>
            </a:r>
            <a:r>
              <a:rPr lang="en-US" altLang="zh-CN" dirty="0"/>
              <a:t>ASCII</a:t>
            </a:r>
            <a:r>
              <a:rPr lang="zh-CN" altLang="en-US" dirty="0" smtClean="0"/>
              <a:t>码</a:t>
            </a:r>
            <a:endParaRPr lang="en-US" altLang="zh-CN" dirty="0" smtClean="0"/>
          </a:p>
          <a:p>
            <a:r>
              <a:rPr lang="zh-CN" altLang="en-US" dirty="0"/>
              <a:t>字符型数据的</a:t>
            </a:r>
            <a:r>
              <a:rPr lang="en-US" altLang="zh-CN" dirty="0"/>
              <a:t>ASCII</a:t>
            </a:r>
            <a:r>
              <a:rPr lang="zh-CN" altLang="en-US" dirty="0"/>
              <a:t>编码  </a:t>
            </a:r>
            <a:r>
              <a:rPr lang="en-US" altLang="zh-CN" dirty="0">
                <a:solidFill>
                  <a:srgbClr val="FF0000"/>
                </a:solidFill>
              </a:rPr>
              <a:t>P208</a:t>
            </a:r>
            <a:endParaRPr lang="en-US" altLang="zh-CN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553269"/>
      </p:ext>
    </p:extLst>
  </p:cSld>
  <p:clrMapOvr>
    <a:masterClrMapping/>
  </p:clrMapOvr>
  <p:transition spd="med"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42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259632" y="2780928"/>
            <a:ext cx="644464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ch1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ch1=getchar();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putchar(ch1);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%c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\n",ch1);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",ch1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pt-BR" altLang="zh-CN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776790" cy="1080715"/>
          </a:xfrm>
        </p:spPr>
        <p:txBody>
          <a:bodyPr/>
          <a:lstStyle/>
          <a:p>
            <a:r>
              <a:rPr lang="zh-CN" altLang="en-US" dirty="0"/>
              <a:t>字符型数据可以用不同的形式</a:t>
            </a:r>
            <a:r>
              <a:rPr lang="zh-CN" altLang="en-US" dirty="0" smtClean="0"/>
              <a:t>输出</a:t>
            </a:r>
            <a:endParaRPr lang="en-US" altLang="zh-CN" dirty="0" smtClean="0"/>
          </a:p>
          <a:p>
            <a:pPr lvl="1"/>
            <a:r>
              <a:rPr lang="zh-CN" altLang="en-US" sz="2800" dirty="0"/>
              <a:t>按</a:t>
            </a:r>
            <a:r>
              <a:rPr lang="zh-CN" altLang="en-US" sz="2800" dirty="0" smtClean="0">
                <a:solidFill>
                  <a:srgbClr val="FF0000"/>
                </a:solidFill>
              </a:rPr>
              <a:t>字符</a:t>
            </a:r>
            <a:r>
              <a:rPr lang="zh-CN" altLang="en-US" sz="2800" dirty="0" smtClean="0"/>
              <a:t>或者</a:t>
            </a:r>
            <a:r>
              <a:rPr lang="zh-CN" altLang="en-US" sz="2800" dirty="0" smtClean="0">
                <a:solidFill>
                  <a:srgbClr val="FF0000"/>
                </a:solidFill>
              </a:rPr>
              <a:t>整数</a:t>
            </a:r>
            <a:r>
              <a:rPr lang="zh-CN" altLang="en-US" sz="2800" dirty="0" smtClean="0"/>
              <a:t>形式输出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36709837"/>
      </p:ext>
    </p:extLst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43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899592" y="1844824"/>
            <a:ext cx="496855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ch1,ch2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ch1='a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';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ch2=ch1</a:t>
            </a:r>
            <a:r>
              <a:rPr lang="en-US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+3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%c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\n",ch</a:t>
            </a:r>
            <a:r>
              <a:rPr lang="en-US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</a:t>
            </a:r>
            <a:r>
              <a:rPr lang="pt-BR" altLang="zh-CN" sz="2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%d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\n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</a:t>
            </a:r>
            <a:r>
              <a:rPr lang="en-US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pt-BR" altLang="zh-CN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48264" y="2924944"/>
            <a:ext cx="115212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zh-CN" sz="2600" b="1" dirty="0" smtClean="0">
                <a:solidFill>
                  <a:srgbClr val="003366"/>
                </a:solidFill>
              </a:rPr>
              <a:t>'a':97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63885047"/>
      </p:ext>
    </p:extLst>
  </p:cSld>
  <p:clrMapOvr>
    <a:masterClrMapping/>
  </p:clrMapOvr>
  <p:transition spd="med">
    <p:random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44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115616" y="2431505"/>
            <a:ext cx="6444642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&lt;stdio.h&gt;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main()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    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</a:t>
            </a:r>
            <a:r>
              <a:rPr lang="en-US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char ch1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ch1=getchar();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ch1=ch1- 'A' + 'a';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printf("%c\n",ch1);</a:t>
            </a:r>
          </a:p>
          <a:p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printf("%d\n</a:t>
            </a:r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",ch1</a:t>
            </a:r>
            <a:r>
              <a:rPr lang="pt-BR" altLang="zh-CN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);</a:t>
            </a:r>
            <a:endParaRPr lang="pt-BR" altLang="zh-CN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pt-BR" altLang="zh-CN" sz="2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776790" cy="648667"/>
          </a:xfrm>
        </p:spPr>
        <p:txBody>
          <a:bodyPr/>
          <a:lstStyle/>
          <a:p>
            <a:r>
              <a:rPr lang="zh-CN" altLang="en-US" dirty="0" smtClean="0"/>
              <a:t>练习</a:t>
            </a:r>
            <a:r>
              <a:rPr lang="en-US" altLang="zh-CN" dirty="0" smtClean="0"/>
              <a:t>1</a:t>
            </a:r>
            <a:r>
              <a:rPr lang="zh-CN" altLang="en-US" dirty="0"/>
              <a:t>：将大写英文字母转换</a:t>
            </a:r>
            <a:r>
              <a:rPr lang="zh-CN" altLang="en-US" dirty="0" smtClean="0"/>
              <a:t>为小写字母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684935109"/>
      </p:ext>
    </p:extLst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基本</a:t>
            </a:r>
            <a:r>
              <a:rPr lang="zh-CN" altLang="en-US" dirty="0" smtClean="0"/>
              <a:t>输入输出（字符型）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45</a:t>
            </a:fld>
            <a:endParaRPr lang="en-US" altLang="zh-CN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776790" cy="1584771"/>
          </a:xfrm>
        </p:spPr>
        <p:txBody>
          <a:bodyPr/>
          <a:lstStyle/>
          <a:p>
            <a:r>
              <a:rPr lang="zh-CN" altLang="en-US" dirty="0" smtClean="0"/>
              <a:t>思考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：将小写</a:t>
            </a:r>
            <a:r>
              <a:rPr lang="zh-CN" altLang="en-US" dirty="0"/>
              <a:t>英文字母转换</a:t>
            </a:r>
            <a:r>
              <a:rPr lang="zh-CN" altLang="en-US" dirty="0" smtClean="0"/>
              <a:t>为大写字母</a:t>
            </a:r>
            <a:endParaRPr lang="en-US" altLang="zh-CN" dirty="0" smtClean="0"/>
          </a:p>
          <a:p>
            <a:r>
              <a:rPr lang="zh-CN" altLang="en-US" dirty="0" smtClean="0"/>
              <a:t>思考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：字符串输入</a:t>
            </a:r>
            <a:r>
              <a:rPr lang="en-US" altLang="zh-CN" dirty="0" smtClean="0"/>
              <a:t>/</a:t>
            </a:r>
            <a:r>
              <a:rPr lang="zh-CN" altLang="en-US" dirty="0" smtClean="0"/>
              <a:t>输出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878233560"/>
      </p:ext>
    </p:extLst>
  </p:cSld>
  <p:clrMapOvr>
    <a:masterClrMapping/>
  </p:clrMapOvr>
  <p:transition spd="med"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/>
          <p:cNvSpPr>
            <a:spLocks noChangeArrowheads="1"/>
          </p:cNvSpPr>
          <p:nvPr/>
        </p:nvSpPr>
        <p:spPr bwMode="auto">
          <a:xfrm>
            <a:off x="1259632" y="2996952"/>
            <a:ext cx="7884368" cy="1428750"/>
          </a:xfrm>
          <a:prstGeom prst="roundRect">
            <a:avLst>
              <a:gd name="adj" fmla="val 50000"/>
            </a:avLst>
          </a:prstGeom>
          <a:noFill/>
          <a:ln w="9525">
            <a:noFill/>
            <a:round/>
          </a:ln>
          <a:effectLst/>
        </p:spPr>
        <p:txBody>
          <a:bodyPr anchor="ctr"/>
          <a:lstStyle/>
          <a:p>
            <a:pPr algn="ctr">
              <a:lnSpc>
                <a:spcPct val="90000"/>
              </a:lnSpc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/>
            </a:r>
            <a:br>
              <a:rPr lang="zh-CN" altLang="en-US" sz="4000" b="1" dirty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</a:br>
            <a:r>
              <a:rPr lang="en-US" altLang="zh-CN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2.4 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2" charset="-122"/>
              </a:rPr>
              <a:t>运算符与表达式</a:t>
            </a:r>
            <a:endParaRPr lang="zh-CN" altLang="en-US" sz="4000" b="1" dirty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anose="0201060906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1757363" y="3611166"/>
            <a:ext cx="5947172" cy="789384"/>
            <a:chOff x="0" y="1536"/>
            <a:chExt cx="5675" cy="663"/>
          </a:xfrm>
        </p:grpSpPr>
        <p:grpSp>
          <p:nvGrpSpPr>
            <p:cNvPr id="3" name="Group 4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32779" name="Rectangle 5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80" name="Rectangle 6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grpSp>
          <p:nvGrpSpPr>
            <p:cNvPr id="4" name="Group 7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32777" name="Rectangle 8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  <p:sp>
            <p:nvSpPr>
              <p:cNvPr id="32778" name="Rectangle 9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</a:ln>
            </p:spPr>
            <p:txBody>
              <a:bodyPr wrap="none" anchor="ctr"/>
              <a:lstStyle/>
              <a:p>
                <a:endParaRPr lang="zh-CN" altLang="zh-CN" sz="900"/>
              </a:p>
            </p:txBody>
          </p:sp>
        </p:grpSp>
        <p:sp>
          <p:nvSpPr>
            <p:cNvPr id="32774" name="Rectangle 10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5" name="Rectangle 11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  <p:sp>
          <p:nvSpPr>
            <p:cNvPr id="32776" name="Rectangle 12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</a:ln>
          </p:spPr>
          <p:txBody>
            <a:bodyPr wrap="none" anchor="ctr"/>
            <a:lstStyle/>
            <a:p>
              <a:endParaRPr lang="zh-CN" altLang="zh-CN" sz="900"/>
            </a:p>
          </p:txBody>
        </p:sp>
      </p:grpSp>
    </p:spTree>
    <p:extLst>
      <p:ext uri="{BB962C8B-B14F-4D97-AF65-F5344CB8AC3E}">
        <p14:creationId xmlns:p14="http://schemas.microsoft.com/office/powerpoint/2010/main" val="4016604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2.4 </a:t>
            </a:r>
            <a:r>
              <a:rPr lang="zh-CN" altLang="en-US" dirty="0" smtClean="0"/>
              <a:t>运算符与表达式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运算符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算术运算</a:t>
            </a:r>
            <a:r>
              <a:rPr lang="zh-CN" altLang="en-US" dirty="0"/>
              <a:t>符、关系运算符、逻辑运算符、赋值运算符、条件运算符、逗号运算符、求字节数运算符、和位运算符</a:t>
            </a:r>
            <a:r>
              <a:rPr lang="zh-CN" altLang="en-US" dirty="0" smtClean="0"/>
              <a:t>等</a:t>
            </a:r>
            <a:endParaRPr lang="zh-CN" altLang="en-US" dirty="0"/>
          </a:p>
          <a:p>
            <a:r>
              <a:rPr lang="zh-CN" altLang="en-US" dirty="0" smtClean="0"/>
              <a:t>表达式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</a:t>
            </a:r>
            <a:r>
              <a:rPr lang="zh-CN" altLang="en-US" dirty="0"/>
              <a:t>变量、常量、函数调用以及运算符构成的符合</a:t>
            </a:r>
            <a:r>
              <a:rPr lang="en-US" altLang="zh-CN" dirty="0"/>
              <a:t>C</a:t>
            </a:r>
            <a:r>
              <a:rPr lang="zh-CN" altLang="en-US" dirty="0"/>
              <a:t>语言语法的式子。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6266178"/>
      </p:ext>
    </p:extLst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算术运算符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算术运算符：</a:t>
            </a:r>
            <a:r>
              <a:rPr lang="en-US" altLang="zh-CN" dirty="0" smtClean="0">
                <a:solidFill>
                  <a:srgbClr val="FF0000"/>
                </a:solidFill>
              </a:rPr>
              <a:t>+</a:t>
            </a:r>
            <a:r>
              <a:rPr lang="zh-CN" altLang="en-US" dirty="0" smtClean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 smtClean="0"/>
              <a:t>、</a:t>
            </a:r>
            <a:r>
              <a:rPr lang="zh-CN" altLang="en-US" dirty="0">
                <a:solidFill>
                  <a:srgbClr val="FF0000"/>
                </a:solidFill>
              </a:rPr>
              <a:t>*</a:t>
            </a:r>
            <a:r>
              <a:rPr lang="zh-CN" altLang="en-US" dirty="0" smtClean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 smtClean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zh-CN" altLang="en-US" dirty="0" smtClean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+</a:t>
            </a:r>
            <a:r>
              <a:rPr lang="zh-CN" altLang="en-US" dirty="0" smtClean="0"/>
              <a:t>（正号）、</a:t>
            </a:r>
            <a:r>
              <a:rPr lang="en-US" altLang="zh-CN" dirty="0">
                <a:solidFill>
                  <a:srgbClr val="FF0000"/>
                </a:solidFill>
              </a:rPr>
              <a:t>-</a:t>
            </a:r>
            <a:r>
              <a:rPr lang="zh-CN" altLang="en-US" dirty="0" smtClean="0"/>
              <a:t>（负号）、</a:t>
            </a:r>
            <a:r>
              <a:rPr lang="en-US" altLang="zh-CN" dirty="0">
                <a:solidFill>
                  <a:srgbClr val="FF0000"/>
                </a:solidFill>
              </a:rPr>
              <a:t>++</a:t>
            </a:r>
            <a:r>
              <a:rPr lang="zh-CN" altLang="en-US" dirty="0" smtClean="0"/>
              <a:t>、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</a:p>
          <a:p>
            <a:r>
              <a:rPr lang="zh-CN" altLang="en-US" dirty="0"/>
              <a:t>除法运算 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/ </a:t>
            </a:r>
            <a:r>
              <a:rPr lang="en-US" altLang="zh-CN" dirty="0"/>
              <a:t> </a:t>
            </a:r>
            <a:r>
              <a:rPr lang="zh-CN" altLang="en-US" dirty="0" smtClean="0"/>
              <a:t>如果</a:t>
            </a:r>
            <a:r>
              <a:rPr lang="zh-CN" altLang="en-US" dirty="0"/>
              <a:t>整数除整数，得整数</a:t>
            </a:r>
          </a:p>
          <a:p>
            <a:pPr marL="265113" lvl="1" indent="0">
              <a:buNone/>
            </a:pPr>
            <a:r>
              <a:rPr lang="en-US" altLang="zh-CN" sz="2800" dirty="0"/>
              <a:t>1/4 = 0</a:t>
            </a:r>
            <a:r>
              <a:rPr lang="zh-CN" altLang="en-US" sz="2800" dirty="0"/>
              <a:t>，</a:t>
            </a:r>
            <a:r>
              <a:rPr lang="en-US" altLang="zh-CN" sz="2800" dirty="0"/>
              <a:t>10/3 = 3</a:t>
            </a:r>
          </a:p>
          <a:p>
            <a:r>
              <a:rPr lang="zh-CN" altLang="en-US" dirty="0"/>
              <a:t>求余运算 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en-US" altLang="zh-CN" dirty="0"/>
              <a:t> </a:t>
            </a:r>
            <a:r>
              <a:rPr lang="zh-CN" altLang="en-US" dirty="0"/>
              <a:t>针对</a:t>
            </a:r>
            <a:r>
              <a:rPr lang="zh-CN" altLang="en-US" dirty="0">
                <a:solidFill>
                  <a:srgbClr val="FF0000"/>
                </a:solidFill>
              </a:rPr>
              <a:t>整型</a:t>
            </a:r>
            <a:r>
              <a:rPr lang="zh-CN" altLang="en-US" dirty="0" smtClean="0"/>
              <a:t>数据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5%6 </a:t>
            </a:r>
            <a:r>
              <a:rPr lang="en-US" altLang="zh-CN" dirty="0"/>
              <a:t>= 5</a:t>
            </a:r>
            <a:r>
              <a:rPr lang="zh-CN" altLang="en-US" dirty="0"/>
              <a:t>，</a:t>
            </a:r>
            <a:r>
              <a:rPr lang="en-US" altLang="zh-CN" dirty="0"/>
              <a:t>9%4 = 1</a:t>
            </a:r>
            <a:r>
              <a:rPr lang="zh-CN" altLang="en-US" dirty="0"/>
              <a:t>，</a:t>
            </a:r>
            <a:r>
              <a:rPr lang="en-US" altLang="zh-CN" dirty="0"/>
              <a:t>100%2 = </a:t>
            </a:r>
            <a:r>
              <a:rPr lang="en-US" altLang="zh-CN" dirty="0" smtClean="0"/>
              <a:t>0</a:t>
            </a:r>
          </a:p>
          <a:p>
            <a:r>
              <a:rPr lang="zh-CN" altLang="en-US" dirty="0"/>
              <a:t>求余运算 </a:t>
            </a:r>
            <a:r>
              <a:rPr lang="en-US" altLang="zh-CN" dirty="0">
                <a:solidFill>
                  <a:srgbClr val="FF0000"/>
                </a:solidFill>
              </a:rPr>
              <a:t>%</a:t>
            </a:r>
            <a:r>
              <a:rPr lang="en-US" altLang="zh-CN" dirty="0"/>
              <a:t> </a:t>
            </a:r>
            <a:r>
              <a:rPr lang="zh-CN" altLang="en-US" dirty="0" smtClean="0"/>
              <a:t>余数值的符号与</a:t>
            </a:r>
            <a:r>
              <a:rPr lang="zh-CN" altLang="en-US" dirty="0" smtClean="0">
                <a:solidFill>
                  <a:srgbClr val="FF0000"/>
                </a:solidFill>
              </a:rPr>
              <a:t>被除数</a:t>
            </a:r>
            <a:r>
              <a:rPr lang="zh-CN" altLang="en-US" dirty="0" smtClean="0"/>
              <a:t>一致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-5%-2 </a:t>
            </a:r>
            <a:r>
              <a:rPr lang="en-US" altLang="zh-CN" dirty="0"/>
              <a:t>= </a:t>
            </a:r>
            <a:r>
              <a:rPr lang="en-US" altLang="zh-CN" dirty="0" smtClean="0"/>
              <a:t>-1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5%-2 </a:t>
            </a:r>
            <a:r>
              <a:rPr lang="en-US" altLang="zh-CN" dirty="0"/>
              <a:t>= </a:t>
            </a:r>
            <a:r>
              <a:rPr lang="en-US" altLang="zh-CN" dirty="0" smtClean="0"/>
              <a:t>1</a:t>
            </a:r>
            <a:r>
              <a:rPr lang="zh-CN" altLang="en-US" dirty="0"/>
              <a:t>，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3172076"/>
      </p:ext>
    </p:extLst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算术运算符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2592883"/>
          </a:xfrm>
        </p:spPr>
        <p:txBody>
          <a:bodyPr/>
          <a:lstStyle/>
          <a:p>
            <a:r>
              <a:rPr lang="zh-CN" altLang="en-US" dirty="0"/>
              <a:t>自增运算符</a:t>
            </a:r>
            <a:r>
              <a:rPr lang="en-US" altLang="zh-CN" dirty="0" smtClean="0">
                <a:solidFill>
                  <a:srgbClr val="FF0000"/>
                </a:solidFill>
              </a:rPr>
              <a:t>++</a:t>
            </a:r>
            <a:r>
              <a:rPr lang="zh-CN" altLang="en-US" dirty="0" smtClean="0"/>
              <a:t>、自</a:t>
            </a:r>
            <a:r>
              <a:rPr lang="zh-CN" altLang="en-US" dirty="0"/>
              <a:t>减</a:t>
            </a:r>
            <a:r>
              <a:rPr lang="zh-CN" altLang="en-US" dirty="0" smtClean="0"/>
              <a:t>运算符</a:t>
            </a:r>
            <a:r>
              <a:rPr lang="en-US" altLang="zh-CN" dirty="0">
                <a:solidFill>
                  <a:srgbClr val="FF0000"/>
                </a:solidFill>
              </a:rPr>
              <a:t>--</a:t>
            </a:r>
          </a:p>
          <a:p>
            <a:pPr lvl="1"/>
            <a:r>
              <a:rPr lang="en-US" altLang="zh-CN" dirty="0" smtClean="0"/>
              <a:t>n</a:t>
            </a:r>
            <a:r>
              <a:rPr lang="en-US" altLang="zh-CN" dirty="0"/>
              <a:t>++  ++n   </a:t>
            </a:r>
            <a:r>
              <a:rPr lang="en-US" altLang="zh-CN" dirty="0" smtClean="0"/>
              <a:t> </a:t>
            </a:r>
            <a:r>
              <a:rPr lang="en-US" altLang="zh-CN" dirty="0" err="1"/>
              <a:t>n</a:t>
            </a:r>
            <a:r>
              <a:rPr lang="en-US" altLang="zh-CN" dirty="0"/>
              <a:t> = n + </a:t>
            </a:r>
            <a:r>
              <a:rPr lang="en-US" altLang="zh-CN" dirty="0" smtClean="0"/>
              <a:t>1</a:t>
            </a:r>
          </a:p>
          <a:p>
            <a:pPr lvl="1"/>
            <a:r>
              <a:rPr lang="en-US" altLang="zh-CN" dirty="0" smtClean="0"/>
              <a:t>n-</a:t>
            </a:r>
            <a:r>
              <a:rPr lang="en-US" altLang="zh-CN" dirty="0"/>
              <a:t>-   --n </a:t>
            </a:r>
            <a:r>
              <a:rPr lang="en-US" altLang="zh-CN" dirty="0" smtClean="0"/>
              <a:t>      </a:t>
            </a:r>
            <a:r>
              <a:rPr lang="en-US" altLang="zh-CN" dirty="0" err="1"/>
              <a:t>n</a:t>
            </a:r>
            <a:r>
              <a:rPr lang="en-US" altLang="zh-CN" dirty="0"/>
              <a:t> = n - </a:t>
            </a:r>
            <a:r>
              <a:rPr lang="en-US" altLang="zh-CN" dirty="0" smtClean="0"/>
              <a:t>1</a:t>
            </a:r>
          </a:p>
          <a:p>
            <a:pPr lvl="1"/>
            <a:r>
              <a:rPr lang="zh-CN" altLang="en-US" dirty="0" smtClean="0"/>
              <a:t>只</a:t>
            </a:r>
            <a:r>
              <a:rPr lang="zh-CN" altLang="en-US" dirty="0"/>
              <a:t>适合变量</a:t>
            </a:r>
            <a:r>
              <a:rPr lang="zh-CN" altLang="en-US" dirty="0" smtClean="0"/>
              <a:t>运算</a:t>
            </a:r>
            <a:endParaRPr lang="zh-CN" altLang="en-US" dirty="0"/>
          </a:p>
          <a:p>
            <a:pPr lvl="1"/>
            <a:r>
              <a:rPr lang="zh-CN" altLang="en-US" dirty="0"/>
              <a:t>使变量的值增</a:t>
            </a:r>
            <a:r>
              <a:rPr lang="en-US" altLang="zh-CN" dirty="0"/>
              <a:t>1</a:t>
            </a:r>
            <a:r>
              <a:rPr lang="zh-CN" altLang="en-US" dirty="0"/>
              <a:t>或减</a:t>
            </a:r>
            <a:r>
              <a:rPr lang="en-US" altLang="zh-CN" dirty="0" smtClean="0"/>
              <a:t>1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49</a:t>
            </a:fld>
            <a:endParaRPr lang="en-US" altLang="zh-CN"/>
          </a:p>
        </p:txBody>
      </p:sp>
      <p:sp>
        <p:nvSpPr>
          <p:cNvPr id="6" name="矩形 5"/>
          <p:cNvSpPr/>
          <p:nvPr/>
        </p:nvSpPr>
        <p:spPr>
          <a:xfrm>
            <a:off x="1331640" y="4365104"/>
            <a:ext cx="22322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= 2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 = ++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n;</a:t>
            </a:r>
          </a:p>
        </p:txBody>
      </p:sp>
      <p:sp>
        <p:nvSpPr>
          <p:cNvPr id="7" name="矩形 6"/>
          <p:cNvSpPr/>
          <p:nvPr/>
        </p:nvSpPr>
        <p:spPr>
          <a:xfrm>
            <a:off x="769105" y="5937224"/>
            <a:ext cx="3110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输出：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n=3 m=3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矩形 7"/>
          <p:cNvSpPr/>
          <p:nvPr/>
        </p:nvSpPr>
        <p:spPr>
          <a:xfrm>
            <a:off x="5062527" y="4323049"/>
            <a:ext cx="22322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 </a:t>
            </a:r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m;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 = 2</a:t>
            </a:r>
            <a:r>
              <a:rPr lang="pt-BR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;</a:t>
            </a:r>
          </a:p>
          <a:p>
            <a:r>
              <a:rPr lang="pt-BR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 = n++;</a:t>
            </a:r>
            <a:endParaRPr lang="pt-BR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矩形 8"/>
          <p:cNvSpPr/>
          <p:nvPr/>
        </p:nvSpPr>
        <p:spPr>
          <a:xfrm>
            <a:off x="4499992" y="5895169"/>
            <a:ext cx="311041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输出：</a:t>
            </a:r>
            <a:r>
              <a:rPr lang="en-US" altLang="zh-CN" sz="2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n=3 m=2</a:t>
            </a:r>
            <a:endParaRPr lang="en-US" altLang="zh-CN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95691072"/>
      </p:ext>
    </p:extLst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算术表达式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算术表达式</a:t>
            </a:r>
            <a:r>
              <a:rPr lang="zh-CN" altLang="en-US" dirty="0"/>
              <a:t>是由算术运算符和括号将运算对象（操作数）连接起来的，符合</a:t>
            </a:r>
            <a:r>
              <a:rPr lang="en-US" altLang="zh-CN" dirty="0"/>
              <a:t>C</a:t>
            </a:r>
            <a:r>
              <a:rPr lang="zh-CN" altLang="en-US" dirty="0"/>
              <a:t>语法规则的式子。运算对象可以是常量、变量、</a:t>
            </a:r>
            <a:r>
              <a:rPr lang="zh-CN" altLang="en-US" dirty="0" smtClean="0"/>
              <a:t>函数。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7024565"/>
      </p:ext>
    </p:extLst>
  </p:cSld>
  <p:clrMapOvr>
    <a:masterClrMapping/>
  </p:clrMapOvr>
  <p:transition spd="med"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赋值运算符</a:t>
            </a:r>
            <a:r>
              <a:rPr lang="zh-CN" altLang="en-US" dirty="0"/>
              <a:t>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728192"/>
            <a:ext cx="7993063" cy="4437112"/>
          </a:xfrm>
        </p:spPr>
        <p:txBody>
          <a:bodyPr/>
          <a:lstStyle/>
          <a:p>
            <a:r>
              <a:rPr lang="zh-CN" altLang="en-US" dirty="0" smtClean="0"/>
              <a:t>赋值运算符：</a:t>
            </a:r>
            <a:r>
              <a:rPr lang="en-US" altLang="zh-CN" dirty="0" smtClean="0">
                <a:solidFill>
                  <a:srgbClr val="FF0000"/>
                </a:solidFill>
              </a:rPr>
              <a:t>=</a:t>
            </a:r>
          </a:p>
          <a:p>
            <a:r>
              <a:rPr lang="zh-CN" altLang="en-US" dirty="0" smtClean="0"/>
              <a:t>功能：将</a:t>
            </a:r>
            <a:r>
              <a:rPr lang="zh-CN" altLang="en-US" dirty="0"/>
              <a:t>赋值运算符右边的表达式的值赋给其左边的变量。</a:t>
            </a:r>
          </a:p>
          <a:p>
            <a:pPr marL="0" indent="0">
              <a:buNone/>
            </a:pPr>
            <a:r>
              <a:rPr lang="en-US" altLang="zh-CN" dirty="0" smtClean="0"/>
              <a:t>     x = 3*4</a:t>
            </a:r>
          </a:p>
          <a:p>
            <a:pPr marL="0" indent="0">
              <a:buNone/>
            </a:pPr>
            <a:r>
              <a:rPr lang="en-US" altLang="zh-CN" dirty="0" smtClean="0"/>
              <a:t>     x = y = 3 </a:t>
            </a:r>
            <a:r>
              <a:rPr lang="zh-CN" altLang="en-US" dirty="0" smtClean="0"/>
              <a:t>（</a:t>
            </a:r>
            <a:r>
              <a:rPr lang="en-US" altLang="zh-CN" dirty="0" smtClean="0">
                <a:solidFill>
                  <a:srgbClr val="FF0000"/>
                </a:solidFill>
              </a:rPr>
              <a:t>x =(y =3)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en-US" altLang="zh-CN" dirty="0" smtClean="0"/>
              <a:t>P218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744819"/>
      </p:ext>
    </p:extLst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赋值运算符</a:t>
            </a:r>
            <a:r>
              <a:rPr lang="zh-CN" altLang="en-US" dirty="0"/>
              <a:t>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576" y="1656184"/>
            <a:ext cx="8388424" cy="5301208"/>
          </a:xfrm>
        </p:spPr>
        <p:txBody>
          <a:bodyPr/>
          <a:lstStyle/>
          <a:p>
            <a:r>
              <a:rPr lang="zh-CN" altLang="en-US" dirty="0" smtClean="0"/>
              <a:t>复合</a:t>
            </a:r>
            <a:r>
              <a:rPr lang="zh-CN" altLang="en-US" dirty="0"/>
              <a:t>赋值</a:t>
            </a:r>
            <a:r>
              <a:rPr lang="zh-CN" altLang="en-US" dirty="0" smtClean="0"/>
              <a:t>运算符：</a:t>
            </a:r>
            <a:endParaRPr lang="zh-CN" altLang="en-US" dirty="0"/>
          </a:p>
          <a:p>
            <a:pPr lvl="1"/>
            <a:r>
              <a:rPr lang="zh-CN" altLang="en-US" sz="2800" dirty="0" smtClean="0"/>
              <a:t>算术运算</a:t>
            </a:r>
            <a:r>
              <a:rPr lang="zh-CN" altLang="en-US" sz="2800" dirty="0"/>
              <a:t>符组成的复合</a:t>
            </a:r>
            <a:r>
              <a:rPr lang="zh-CN" altLang="en-US" sz="2800" dirty="0" smtClean="0"/>
              <a:t>运算符</a:t>
            </a:r>
            <a:endParaRPr lang="en-US" altLang="zh-CN" sz="2800" dirty="0" smtClean="0"/>
          </a:p>
          <a:p>
            <a:pPr marL="271463" lvl="1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+=   </a:t>
            </a:r>
            <a:r>
              <a:rPr lang="en-US" altLang="zh-CN" sz="2800" dirty="0"/>
              <a:t>-=   *=   /=   %= </a:t>
            </a:r>
          </a:p>
          <a:p>
            <a:pPr lvl="1"/>
            <a:r>
              <a:rPr lang="zh-CN" altLang="en-US" sz="2800" dirty="0" smtClean="0"/>
              <a:t>位</a:t>
            </a:r>
            <a:r>
              <a:rPr lang="zh-CN" altLang="en-US" sz="2800" dirty="0"/>
              <a:t>运算符组成的复合</a:t>
            </a:r>
            <a:r>
              <a:rPr lang="zh-CN" altLang="en-US" sz="2800" dirty="0" smtClean="0"/>
              <a:t>运算符</a:t>
            </a:r>
            <a:endParaRPr lang="en-US" altLang="zh-CN" sz="2800" dirty="0" smtClean="0"/>
          </a:p>
          <a:p>
            <a:pPr marL="271463" lvl="1" indent="0">
              <a:buNone/>
            </a:pPr>
            <a:r>
              <a:rPr lang="en-US" altLang="zh-CN" sz="2800" dirty="0"/>
              <a:t> </a:t>
            </a:r>
            <a:r>
              <a:rPr lang="en-US" altLang="zh-CN" sz="2800" dirty="0" smtClean="0"/>
              <a:t>  &lt;&lt;=   </a:t>
            </a:r>
            <a:r>
              <a:rPr lang="en-US" altLang="zh-CN" sz="2800" dirty="0"/>
              <a:t>&gt;&gt;=   &amp;=   ^=   </a:t>
            </a:r>
            <a:r>
              <a:rPr lang="en-US" altLang="zh-CN" sz="2800" dirty="0" smtClean="0"/>
              <a:t>|=</a:t>
            </a:r>
          </a:p>
          <a:p>
            <a:pPr lvl="1"/>
            <a:r>
              <a:rPr lang="zh-CN" altLang="en-US" sz="2800" dirty="0" smtClean="0"/>
              <a:t>赋值表达式</a:t>
            </a:r>
            <a:endParaRPr lang="en-US" altLang="zh-CN" sz="2800" dirty="0" smtClean="0"/>
          </a:p>
          <a:p>
            <a:pPr marL="271463" lvl="1" indent="0">
              <a:buNone/>
            </a:pPr>
            <a:r>
              <a:rPr lang="es-ES" altLang="zh-CN" sz="2800" dirty="0" smtClean="0"/>
              <a:t>   x </a:t>
            </a:r>
            <a:r>
              <a:rPr lang="es-ES" altLang="zh-CN" sz="2800" dirty="0"/>
              <a:t>*= y – 3 </a:t>
            </a:r>
            <a:r>
              <a:rPr lang="zh-CN" altLang="en-US" sz="2800" dirty="0" smtClean="0"/>
              <a:t>（</a:t>
            </a:r>
            <a:r>
              <a:rPr lang="zh-CN" altLang="es-ES" sz="2800" dirty="0" smtClean="0"/>
              <a:t> </a:t>
            </a:r>
            <a:r>
              <a:rPr lang="es-ES" altLang="zh-CN" sz="2800" dirty="0">
                <a:solidFill>
                  <a:srgbClr val="FF0000"/>
                </a:solidFill>
              </a:rPr>
              <a:t>x=x*(y-3</a:t>
            </a:r>
            <a:r>
              <a:rPr lang="es-ES" altLang="zh-CN" sz="2800" dirty="0" smtClean="0">
                <a:solidFill>
                  <a:srgbClr val="FF0000"/>
                </a:solidFill>
              </a:rPr>
              <a:t>)</a:t>
            </a:r>
            <a:r>
              <a:rPr lang="zh-CN" altLang="en-US" sz="2800" dirty="0" smtClean="0"/>
              <a:t>）</a:t>
            </a:r>
            <a:endParaRPr lang="es-ES" altLang="zh-CN" sz="2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8667171"/>
      </p:ext>
    </p:extLst>
  </p:cSld>
  <p:clrMapOvr>
    <a:masterClrMapping/>
  </p:clrMapOvr>
  <p:transition spd="med"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关系</a:t>
            </a:r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064822" cy="4969147"/>
          </a:xfrm>
        </p:spPr>
        <p:txBody>
          <a:bodyPr/>
          <a:lstStyle/>
          <a:p>
            <a:r>
              <a:rPr lang="zh-CN" altLang="en-US" dirty="0"/>
              <a:t>关系</a:t>
            </a:r>
            <a:r>
              <a:rPr lang="zh-CN" altLang="en-US" dirty="0" smtClean="0"/>
              <a:t>运算符：</a:t>
            </a:r>
            <a:r>
              <a:rPr lang="en-US" altLang="zh-CN" dirty="0" smtClean="0">
                <a:solidFill>
                  <a:srgbClr val="FF0000"/>
                </a:solidFill>
              </a:rPr>
              <a:t>&gt; 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&lt;</a:t>
            </a:r>
            <a:r>
              <a:rPr lang="zh-CN" altLang="en-US" dirty="0" smtClean="0">
                <a:solidFill>
                  <a:srgbClr val="FF0000"/>
                </a:solidFill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sym typeface="Wingdings" pitchFamily="2" charset="2"/>
              </a:rPr>
              <a:t>==</a:t>
            </a:r>
            <a:r>
              <a:rPr lang="zh-CN" altLang="en-US" dirty="0" smtClean="0">
                <a:solidFill>
                  <a:srgbClr val="FF0000"/>
                </a:solidFill>
                <a:sym typeface="Wingdings" pitchFamily="2" charset="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sym typeface="Wingdings" pitchFamily="2" charset="2"/>
              </a:rPr>
              <a:t> &gt;=</a:t>
            </a:r>
            <a:r>
              <a:rPr lang="zh-CN" altLang="en-US" dirty="0" smtClean="0">
                <a:solidFill>
                  <a:srgbClr val="FF0000"/>
                </a:solidFill>
                <a:sym typeface="Wingdings" pitchFamily="2" charset="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sym typeface="Wingdings" pitchFamily="2" charset="2"/>
              </a:rPr>
              <a:t> &lt;=</a:t>
            </a:r>
            <a:r>
              <a:rPr lang="zh-CN" altLang="en-US" dirty="0" smtClean="0">
                <a:solidFill>
                  <a:srgbClr val="FF0000"/>
                </a:solidFill>
                <a:sym typeface="Wingdings" pitchFamily="2" charset="2"/>
              </a:rPr>
              <a:t>、</a:t>
            </a:r>
            <a:r>
              <a:rPr lang="en-US" altLang="zh-CN" dirty="0" smtClean="0">
                <a:solidFill>
                  <a:srgbClr val="FF0000"/>
                </a:solidFill>
                <a:sym typeface="Wingdings" pitchFamily="2" charset="2"/>
              </a:rPr>
              <a:t> !=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pPr lvl="1" algn="just" eaLnBrk="1" hangingPunct="1">
              <a:buNone/>
            </a:pPr>
            <a:r>
              <a:rPr lang="en-US" altLang="zh-CN" sz="3200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x </a:t>
            </a:r>
            <a:r>
              <a:rPr lang="en-US" altLang="zh-CN" sz="3200" dirty="0">
                <a:solidFill>
                  <a:srgbClr val="FF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&lt;</a:t>
            </a:r>
            <a:r>
              <a:rPr lang="en-US" altLang="zh-CN" sz="3200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 y     x </a:t>
            </a:r>
            <a:r>
              <a:rPr lang="en-US" altLang="zh-CN" sz="3200" dirty="0">
                <a:solidFill>
                  <a:srgbClr val="FF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&lt;=</a:t>
            </a:r>
            <a:r>
              <a:rPr lang="en-US" altLang="zh-CN" sz="3200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 y       x</a:t>
            </a:r>
            <a:r>
              <a:rPr lang="en-US" altLang="zh-CN" sz="3200" dirty="0">
                <a:solidFill>
                  <a:srgbClr val="FF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 ==</a:t>
            </a:r>
            <a:r>
              <a:rPr lang="en-US" altLang="zh-CN" sz="3200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 y</a:t>
            </a:r>
          </a:p>
          <a:p>
            <a:pPr lvl="1" algn="just" eaLnBrk="1" hangingPunct="1">
              <a:buNone/>
            </a:pPr>
            <a:r>
              <a:rPr lang="en-US" altLang="zh-CN" sz="3200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x </a:t>
            </a:r>
            <a:r>
              <a:rPr lang="en-US" altLang="zh-CN" sz="3200" dirty="0">
                <a:solidFill>
                  <a:srgbClr val="FF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&gt;</a:t>
            </a:r>
            <a:r>
              <a:rPr lang="en-US" altLang="zh-CN" sz="3200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 y     x </a:t>
            </a:r>
            <a:r>
              <a:rPr lang="en-US" altLang="zh-CN" sz="3200" dirty="0">
                <a:solidFill>
                  <a:srgbClr val="FF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&gt;=</a:t>
            </a:r>
            <a:r>
              <a:rPr lang="en-US" altLang="zh-CN" sz="3200" dirty="0">
                <a:ea typeface="Arial Unicode MS" panose="020B0604020202020204" pitchFamily="34" charset="-122"/>
                <a:cs typeface="Arial Unicode MS" panose="020B0604020202020204" pitchFamily="34" charset="-122"/>
              </a:rPr>
              <a:t> y       x </a:t>
            </a:r>
            <a:r>
              <a:rPr lang="en-US" altLang="zh-CN" sz="3200" dirty="0">
                <a:solidFill>
                  <a:srgbClr val="FF3300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!=</a:t>
            </a:r>
            <a:r>
              <a:rPr lang="en-US" altLang="zh-CN" sz="3200" dirty="0">
                <a:solidFill>
                  <a:schemeClr val="bg2"/>
                </a:solidFill>
                <a:ea typeface="Arial Unicode MS" panose="020B0604020202020204" pitchFamily="34" charset="-122"/>
                <a:cs typeface="Arial Unicode MS" panose="020B0604020202020204" pitchFamily="34" charset="-122"/>
              </a:rPr>
              <a:t> </a:t>
            </a:r>
            <a:r>
              <a:rPr lang="en-US" altLang="zh-CN" sz="3200" dirty="0" smtClean="0">
                <a:ea typeface="Arial Unicode MS" panose="020B0604020202020204" pitchFamily="34" charset="-122"/>
                <a:cs typeface="Arial Unicode MS" panose="020B0604020202020204" pitchFamily="34" charset="-122"/>
              </a:rPr>
              <a:t>y</a:t>
            </a:r>
          </a:p>
          <a:p>
            <a:pPr lvl="0"/>
            <a:r>
              <a:rPr lang="zh-CN" altLang="en-US" dirty="0">
                <a:solidFill>
                  <a:srgbClr val="003366"/>
                </a:solidFill>
              </a:rPr>
              <a:t>比较两个操作数，结果：真（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003366"/>
                </a:solidFill>
              </a:rPr>
              <a:t>） 或 假（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 smtClean="0">
                <a:solidFill>
                  <a:srgbClr val="003366"/>
                </a:solidFill>
              </a:rPr>
              <a:t>）</a:t>
            </a:r>
            <a:endParaRPr lang="en-US" altLang="zh-CN" dirty="0" smtClean="0">
              <a:solidFill>
                <a:srgbClr val="003366"/>
              </a:solidFill>
            </a:endParaRPr>
          </a:p>
          <a:p>
            <a:r>
              <a:rPr lang="zh-CN" altLang="en-US" sz="2400" dirty="0">
                <a:ea typeface="黑体" panose="02010609060101010101" pitchFamily="49" charset="-122"/>
              </a:rPr>
              <a:t>例如： </a:t>
            </a:r>
            <a:r>
              <a:rPr lang="en-US" altLang="zh-CN" sz="2400" dirty="0">
                <a:ea typeface="黑体" panose="02010609060101010101" pitchFamily="49" charset="-122"/>
              </a:rPr>
              <a:t>a=1,  b=2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dirty="0">
                <a:ea typeface="黑体" panose="02010609060101010101" pitchFamily="49" charset="-122"/>
              </a:rPr>
              <a:t>    </a:t>
            </a:r>
            <a:r>
              <a:rPr lang="en-US" altLang="zh-CN" dirty="0">
                <a:ea typeface="黑体" panose="02010609060101010101" pitchFamily="49" charset="-122"/>
              </a:rPr>
              <a:t>a&lt;b    </a:t>
            </a:r>
            <a:r>
              <a:rPr lang="zh-CN" altLang="en-US" dirty="0">
                <a:ea typeface="黑体" panose="02010609060101010101" pitchFamily="49" charset="-122"/>
              </a:rPr>
              <a:t>表达式值为</a:t>
            </a:r>
            <a:r>
              <a:rPr lang="zh-CN" altLang="en-US" dirty="0" smtClean="0">
                <a:ea typeface="黑体" panose="02010609060101010101" pitchFamily="49" charset="-122"/>
              </a:rPr>
              <a:t>：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endParaRPr lang="zh-CN" altLang="en-US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dirty="0">
                <a:ea typeface="黑体" panose="02010609060101010101" pitchFamily="49" charset="-122"/>
              </a:rPr>
              <a:t>   </a:t>
            </a:r>
            <a:r>
              <a:rPr lang="en-US" altLang="zh-CN" dirty="0">
                <a:ea typeface="黑体" panose="02010609060101010101" pitchFamily="49" charset="-122"/>
              </a:rPr>
              <a:t>a==</a:t>
            </a:r>
            <a:r>
              <a:rPr lang="en-US" altLang="zh-CN" dirty="0" smtClean="0">
                <a:ea typeface="黑体" panose="02010609060101010101" pitchFamily="49" charset="-122"/>
              </a:rPr>
              <a:t>b                        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endParaRPr lang="en-US" altLang="zh-CN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dirty="0">
                <a:ea typeface="黑体" panose="02010609060101010101" pitchFamily="49" charset="-122"/>
              </a:rPr>
              <a:t>    a!=</a:t>
            </a:r>
            <a:r>
              <a:rPr lang="en-US" altLang="zh-CN" dirty="0" smtClean="0">
                <a:ea typeface="黑体" panose="02010609060101010101" pitchFamily="49" charset="-122"/>
              </a:rPr>
              <a:t>b                         </a:t>
            </a:r>
            <a:r>
              <a:rPr lang="en-US" altLang="zh-CN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  <a:r>
              <a:rPr lang="en-US" altLang="zh-CN" dirty="0" smtClean="0">
                <a:ea typeface="黑体" panose="02010609060101010101" pitchFamily="49" charset="-122"/>
              </a:rPr>
              <a:t>   </a:t>
            </a:r>
            <a:endParaRPr lang="en-US" altLang="zh-CN" dirty="0">
              <a:ea typeface="黑体" panose="02010609060101010101" pitchFamily="49" charset="-122"/>
            </a:endParaRPr>
          </a:p>
          <a:p>
            <a:pPr lvl="0"/>
            <a:endParaRPr lang="zh-CN" altLang="en-US" dirty="0">
              <a:solidFill>
                <a:srgbClr val="003366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5163074"/>
      </p:ext>
    </p:extLst>
  </p:cSld>
  <p:clrMapOvr>
    <a:masterClrMapping/>
  </p:clrMapOvr>
  <p:transition spd="med"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关系</a:t>
            </a:r>
            <a:r>
              <a:rPr lang="zh-CN" altLang="en-US" dirty="0"/>
              <a:t>运算符与表达式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54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55650" y="1772816"/>
            <a:ext cx="6336630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r>
              <a:rPr lang="zh-CN" altLang="en-US" sz="3200" kern="0" dirty="0" smtClean="0">
                <a:ea typeface="黑体" panose="02010609060101010101" pitchFamily="49" charset="-122"/>
              </a:rPr>
              <a:t>例如： </a:t>
            </a:r>
            <a:r>
              <a:rPr lang="en-US" altLang="zh-CN" sz="3200" kern="0" dirty="0" smtClean="0">
                <a:ea typeface="黑体" panose="02010609060101010101" pitchFamily="49" charset="-122"/>
              </a:rPr>
              <a:t>a=1,  b=2</a:t>
            </a:r>
            <a:r>
              <a:rPr lang="zh-CN" altLang="en-US" sz="3200" kern="0" dirty="0" smtClean="0">
                <a:ea typeface="黑体" panose="02010609060101010101" pitchFamily="49" charset="-122"/>
              </a:rPr>
              <a:t>，</a:t>
            </a:r>
            <a:r>
              <a:rPr lang="en-US" altLang="zh-CN" sz="3200" kern="0" dirty="0" smtClean="0">
                <a:ea typeface="黑体" panose="02010609060101010101" pitchFamily="49" charset="-122"/>
              </a:rPr>
              <a:t>c=3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kern="0" dirty="0" smtClean="0">
                <a:solidFill>
                  <a:srgbClr val="0000FF"/>
                </a:solidFill>
                <a:ea typeface="黑体" panose="02010609060101010101" pitchFamily="49" charset="-122"/>
              </a:rPr>
              <a:t>   (a&gt;b)==c</a:t>
            </a:r>
            <a:r>
              <a:rPr lang="en-US" altLang="zh-CN" sz="3200" kern="0" dirty="0" smtClean="0">
                <a:ea typeface="黑体" panose="02010609060101010101" pitchFamily="49" charset="-122"/>
              </a:rPr>
              <a:t>   </a:t>
            </a:r>
            <a:r>
              <a:rPr lang="en-US" altLang="zh-CN" sz="3200" kern="0" dirty="0" smtClean="0">
                <a:ea typeface="黑体" panose="02010609060101010101" pitchFamily="49" charset="-122"/>
              </a:rPr>
              <a:t>          </a:t>
            </a:r>
            <a:r>
              <a:rPr lang="zh-CN" altLang="en-US" sz="3200" kern="0" dirty="0" smtClean="0">
                <a:ea typeface="黑体" panose="02010609060101010101" pitchFamily="49" charset="-122"/>
              </a:rPr>
              <a:t>表达式值为 </a:t>
            </a:r>
            <a:r>
              <a:rPr lang="en-US" altLang="zh-CN" sz="3200" kern="0" dirty="0" smtClean="0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kern="0" dirty="0" smtClean="0">
                <a:ea typeface="黑体" panose="02010609060101010101" pitchFamily="49" charset="-122"/>
              </a:rPr>
              <a:t>    </a:t>
            </a:r>
            <a:r>
              <a:rPr lang="en-US" altLang="zh-CN" sz="3200" kern="0" dirty="0" smtClean="0">
                <a:solidFill>
                  <a:srgbClr val="0000FF"/>
                </a:solidFill>
                <a:ea typeface="黑体" panose="02010609060101010101" pitchFamily="49" charset="-122"/>
              </a:rPr>
              <a:t>a&lt;b&lt;c (a&lt;b)&lt;c   </a:t>
            </a:r>
            <a:r>
              <a:rPr lang="zh-CN" altLang="en-US" sz="3200" kern="0" dirty="0" smtClean="0">
                <a:ea typeface="黑体" panose="02010609060101010101" pitchFamily="49" charset="-122"/>
              </a:rPr>
              <a:t>表达式</a:t>
            </a:r>
            <a:r>
              <a:rPr lang="zh-CN" altLang="en-US" sz="3200" kern="0" dirty="0" smtClean="0">
                <a:ea typeface="黑体" panose="02010609060101010101" pitchFamily="49" charset="-122"/>
              </a:rPr>
              <a:t>值为 </a:t>
            </a:r>
            <a:r>
              <a:rPr lang="en-US" altLang="zh-CN" sz="3200" kern="0" dirty="0" smtClean="0">
                <a:solidFill>
                  <a:srgbClr val="FF0000"/>
                </a:solidFill>
                <a:ea typeface="黑体" panose="02010609060101010101" pitchFamily="49" charset="-122"/>
              </a:rPr>
              <a:t>1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kern="0" dirty="0">
                <a:solidFill>
                  <a:srgbClr val="FF0000"/>
                </a:solidFill>
                <a:ea typeface="黑体" panose="02010609060101010101" pitchFamily="49" charset="-122"/>
              </a:rPr>
              <a:t> </a:t>
            </a:r>
            <a:r>
              <a:rPr lang="en-US" altLang="zh-CN" sz="3200" kern="0" dirty="0" smtClean="0">
                <a:solidFill>
                  <a:srgbClr val="FF0000"/>
                </a:solidFill>
                <a:ea typeface="黑体" panose="02010609060101010101" pitchFamily="49" charset="-122"/>
              </a:rPr>
              <a:t>   (b&gt;a)&amp;&amp;(b&lt;c)</a:t>
            </a:r>
            <a:endParaRPr lang="en-US" altLang="zh-CN" sz="3200" kern="0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kern="0" dirty="0" smtClean="0">
                <a:solidFill>
                  <a:srgbClr val="0000FF"/>
                </a:solidFill>
                <a:ea typeface="黑体" panose="02010609060101010101" pitchFamily="49" charset="-122"/>
              </a:rPr>
              <a:t>   </a:t>
            </a:r>
            <a:r>
              <a:rPr lang="en-US" altLang="zh-CN" sz="3200" kern="0" dirty="0" err="1" smtClean="0">
                <a:solidFill>
                  <a:srgbClr val="0000FF"/>
                </a:solidFill>
                <a:ea typeface="黑体" panose="02010609060101010101" pitchFamily="49" charset="-122"/>
              </a:rPr>
              <a:t>a+b</a:t>
            </a:r>
            <a:r>
              <a:rPr lang="en-US" altLang="zh-CN" sz="3200" kern="0" dirty="0" smtClean="0">
                <a:solidFill>
                  <a:srgbClr val="0000FF"/>
                </a:solidFill>
                <a:ea typeface="黑体" panose="02010609060101010101" pitchFamily="49" charset="-122"/>
              </a:rPr>
              <a:t> != c     </a:t>
            </a:r>
            <a:r>
              <a:rPr lang="en-US" altLang="zh-CN" sz="3200" kern="0" dirty="0" smtClean="0">
                <a:solidFill>
                  <a:srgbClr val="0000FF"/>
                </a:solidFill>
                <a:ea typeface="黑体" panose="02010609060101010101" pitchFamily="49" charset="-122"/>
              </a:rPr>
              <a:t>          </a:t>
            </a:r>
            <a:r>
              <a:rPr lang="zh-CN" altLang="en-US" sz="3200" kern="0" dirty="0" smtClean="0">
                <a:ea typeface="黑体" panose="02010609060101010101" pitchFamily="49" charset="-122"/>
              </a:rPr>
              <a:t>表达式</a:t>
            </a:r>
            <a:r>
              <a:rPr lang="zh-CN" altLang="en-US" sz="3200" kern="0" dirty="0" smtClean="0">
                <a:ea typeface="黑体" panose="02010609060101010101" pitchFamily="49" charset="-122"/>
              </a:rPr>
              <a:t>值为 </a:t>
            </a:r>
            <a:r>
              <a:rPr lang="en-US" altLang="zh-CN" sz="3200" kern="0" dirty="0" smtClean="0">
                <a:solidFill>
                  <a:srgbClr val="FF0000"/>
                </a:solidFill>
                <a:ea typeface="黑体" panose="02010609060101010101" pitchFamily="49" charset="-122"/>
              </a:rPr>
              <a:t>0</a:t>
            </a:r>
            <a:endParaRPr lang="en-US" altLang="zh-CN" sz="3200" kern="0" dirty="0" smtClean="0"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CN" sz="4400" kern="0" dirty="0" smtClean="0">
              <a:solidFill>
                <a:srgbClr val="0000FF"/>
              </a:solidFill>
              <a:ea typeface="黑体" panose="02010609060101010101" pitchFamily="49" charset="-122"/>
            </a:endParaRPr>
          </a:p>
          <a:p>
            <a:endParaRPr lang="zh-CN" altLang="en-US" kern="0" dirty="0" smtClean="0">
              <a:ea typeface="黑体" panose="02010609060101010101" pitchFamily="49" charset="-122"/>
            </a:endParaRPr>
          </a:p>
        </p:txBody>
      </p:sp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1547664" y="4941168"/>
            <a:ext cx="5038725" cy="1655763"/>
            <a:chOff x="930" y="2840"/>
            <a:chExt cx="3174" cy="1043"/>
          </a:xfrm>
        </p:grpSpPr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H="1" flipV="1">
              <a:off x="930" y="2840"/>
              <a:ext cx="635" cy="635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1383" y="3022"/>
              <a:ext cx="2721" cy="8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508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rgbClr val="FF3300"/>
                  </a:solidFill>
                </a:rPr>
                <a:t>先求和，</a:t>
              </a:r>
            </a:p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3200" dirty="0">
                  <a:solidFill>
                    <a:srgbClr val="FF3300"/>
                  </a:solidFill>
                </a:rPr>
                <a:t>算术运算符的优先级高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7020272" y="1916832"/>
            <a:ext cx="11539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P218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260168144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逻辑运算</a:t>
            </a:r>
            <a:r>
              <a:rPr lang="zh-CN" altLang="en-US" dirty="0"/>
              <a:t>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157787"/>
          </a:xfrm>
        </p:spPr>
        <p:txBody>
          <a:bodyPr/>
          <a:lstStyle/>
          <a:p>
            <a:r>
              <a:rPr lang="zh-CN" altLang="en-US" dirty="0" smtClean="0"/>
              <a:t>逻辑运算符：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！</a:t>
            </a:r>
            <a:r>
              <a:rPr lang="zh-CN" altLang="en-US" dirty="0" smtClean="0"/>
              <a:t>（逻辑非）、</a:t>
            </a:r>
            <a:r>
              <a:rPr lang="en-US" altLang="zh-CN" dirty="0" smtClean="0">
                <a:solidFill>
                  <a:srgbClr val="FF0000"/>
                </a:solidFill>
              </a:rPr>
              <a:t>&amp;&amp; </a:t>
            </a:r>
            <a:r>
              <a:rPr lang="en-US" altLang="zh-CN" dirty="0" smtClean="0"/>
              <a:t> </a:t>
            </a:r>
            <a:r>
              <a:rPr lang="zh-CN" altLang="en-US" dirty="0" smtClean="0"/>
              <a:t>（逻辑与）、</a:t>
            </a:r>
            <a:r>
              <a:rPr lang="en-US" altLang="zh-CN" dirty="0" smtClean="0">
                <a:solidFill>
                  <a:srgbClr val="FF0000"/>
                </a:solidFill>
              </a:rPr>
              <a:t>||</a:t>
            </a:r>
            <a:r>
              <a:rPr lang="en-US" altLang="zh-CN" dirty="0" smtClean="0"/>
              <a:t>   </a:t>
            </a:r>
            <a:r>
              <a:rPr lang="zh-CN" altLang="en-US" dirty="0" smtClean="0"/>
              <a:t>（逻辑或）</a:t>
            </a:r>
            <a:endParaRPr lang="zh-CN" altLang="en-US" dirty="0"/>
          </a:p>
          <a:p>
            <a:r>
              <a:rPr lang="zh-CN" altLang="en-US" dirty="0" smtClean="0"/>
              <a:t>逻辑表达式由</a:t>
            </a:r>
            <a:r>
              <a:rPr lang="zh-CN" altLang="en-US" dirty="0"/>
              <a:t>逻辑运算符将关系表达式连接起来的有意义的</a:t>
            </a:r>
            <a:r>
              <a:rPr lang="zh-CN" altLang="en-US" dirty="0" smtClean="0"/>
              <a:t>式子</a:t>
            </a:r>
            <a:endParaRPr lang="en-US" altLang="zh-CN" dirty="0" smtClean="0"/>
          </a:p>
          <a:p>
            <a:r>
              <a:rPr lang="zh-CN" altLang="en-US" dirty="0" smtClean="0"/>
              <a:t>逻辑表达式</a:t>
            </a:r>
            <a:r>
              <a:rPr lang="zh-CN" altLang="en-US" dirty="0"/>
              <a:t>的</a:t>
            </a:r>
            <a:r>
              <a:rPr lang="zh-CN" altLang="en-US" dirty="0" smtClean="0"/>
              <a:t>值：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（真），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（假）</a:t>
            </a:r>
            <a:endParaRPr lang="en-US" altLang="zh-CN" dirty="0" smtClean="0"/>
          </a:p>
          <a:p>
            <a:pPr>
              <a:buNone/>
            </a:pPr>
            <a:r>
              <a:rPr lang="zh-CN" altLang="en-US" dirty="0" smtClean="0">
                <a:effectLst/>
              </a:rPr>
              <a:t>数学</a:t>
            </a:r>
            <a:r>
              <a:rPr lang="zh-CN" altLang="en-US" dirty="0">
                <a:effectLst/>
              </a:rPr>
              <a:t>式子                       </a:t>
            </a:r>
            <a:r>
              <a:rPr lang="en-US" altLang="zh-CN" dirty="0">
                <a:effectLst/>
              </a:rPr>
              <a:t>C</a:t>
            </a:r>
            <a:r>
              <a:rPr lang="zh-CN" altLang="en-US" dirty="0">
                <a:effectLst/>
              </a:rPr>
              <a:t>表达式</a:t>
            </a:r>
          </a:p>
          <a:p>
            <a:pPr>
              <a:buNone/>
            </a:pPr>
            <a:r>
              <a:rPr lang="en-US" altLang="zh-CN" dirty="0">
                <a:effectLst/>
              </a:rPr>
              <a:t>-1 &lt;= x &lt;= 1              x&gt;=-1 &amp;&amp; x&lt;=1</a:t>
            </a:r>
          </a:p>
          <a:p>
            <a:pPr>
              <a:buNone/>
            </a:pPr>
            <a:r>
              <a:rPr lang="en-US" altLang="zh-CN" dirty="0">
                <a:effectLst/>
              </a:rPr>
              <a:t> x&gt;1</a:t>
            </a:r>
            <a:r>
              <a:rPr lang="zh-CN" altLang="en-US" dirty="0">
                <a:effectLst/>
              </a:rPr>
              <a:t>或</a:t>
            </a:r>
            <a:r>
              <a:rPr lang="en-US" altLang="zh-CN" dirty="0">
                <a:effectLst/>
              </a:rPr>
              <a:t>x&lt;-1                  x&gt;1 || x&lt;-</a:t>
            </a:r>
            <a:r>
              <a:rPr lang="en-US" altLang="zh-CN" dirty="0" smtClean="0">
                <a:effectLst/>
              </a:rPr>
              <a:t>1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29515823"/>
      </p:ext>
    </p:extLst>
  </p:cSld>
  <p:clrMapOvr>
    <a:masterClrMapping/>
  </p:clrMapOvr>
  <p:transition spd="med"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逻辑运算</a:t>
            </a:r>
            <a:r>
              <a:rPr lang="zh-CN" altLang="en-US" dirty="0"/>
              <a:t>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936699"/>
          </a:xfrm>
        </p:spPr>
        <p:txBody>
          <a:bodyPr/>
          <a:lstStyle/>
          <a:p>
            <a:r>
              <a:rPr lang="zh-CN" altLang="en-US" dirty="0" smtClean="0"/>
              <a:t>逻辑运算规则表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56</a:t>
            </a:fld>
            <a:endParaRPr lang="en-US" altLang="zh-CN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368425" y="2636912"/>
            <a:ext cx="6767512" cy="3384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lvl="1" eaLnBrk="1" hangingPunct="1">
              <a:buFont typeface="Wingdings" pitchFamily="2" charset="2"/>
              <a:buNone/>
            </a:pPr>
            <a:r>
              <a:rPr lang="en-US" altLang="zh-CN" kern="0" dirty="0" smtClean="0">
                <a:ea typeface="黑体" panose="02010609060101010101" pitchFamily="49" charset="-122"/>
              </a:rPr>
              <a:t>  x      y      x&amp;&amp;y    x||y   !x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kern="0" dirty="0" smtClean="0">
                <a:ea typeface="黑体" panose="02010609060101010101" pitchFamily="49" charset="-122"/>
              </a:rPr>
              <a:t>假</a:t>
            </a:r>
            <a:r>
              <a:rPr lang="en-US" altLang="zh-CN" kern="0" dirty="0" smtClean="0">
                <a:ea typeface="黑体" panose="02010609060101010101" pitchFamily="49" charset="-122"/>
              </a:rPr>
              <a:t>0</a:t>
            </a:r>
            <a:r>
              <a:rPr lang="zh-CN" altLang="en-US" kern="0" dirty="0" smtClean="0">
                <a:ea typeface="黑体" panose="02010609060101010101" pitchFamily="49" charset="-122"/>
              </a:rPr>
              <a:t>  </a:t>
            </a:r>
            <a:r>
              <a:rPr lang="en-US" altLang="zh-CN" kern="0" dirty="0" smtClean="0">
                <a:ea typeface="黑体" panose="02010609060101010101" pitchFamily="49" charset="-122"/>
              </a:rPr>
              <a:t> </a:t>
            </a:r>
            <a:r>
              <a:rPr lang="zh-CN" altLang="en-US" kern="0" dirty="0" smtClean="0">
                <a:ea typeface="黑体" panose="02010609060101010101" pitchFamily="49" charset="-122"/>
              </a:rPr>
              <a:t>假</a:t>
            </a:r>
            <a:r>
              <a:rPr lang="en-US" altLang="zh-CN" kern="0" dirty="0" smtClean="0">
                <a:ea typeface="黑体" panose="02010609060101010101" pitchFamily="49" charset="-122"/>
              </a:rPr>
              <a:t>0</a:t>
            </a:r>
            <a:r>
              <a:rPr lang="zh-CN" altLang="en-US" kern="0" dirty="0" smtClean="0">
                <a:ea typeface="黑体" panose="02010609060101010101" pitchFamily="49" charset="-122"/>
              </a:rPr>
              <a:t>       0         0       1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kern="0" dirty="0" smtClean="0">
                <a:ea typeface="黑体" panose="02010609060101010101" pitchFamily="49" charset="-122"/>
              </a:rPr>
              <a:t>假</a:t>
            </a:r>
            <a:r>
              <a:rPr lang="en-US" altLang="zh-CN" kern="0" dirty="0" smtClean="0">
                <a:ea typeface="黑体" panose="02010609060101010101" pitchFamily="49" charset="-122"/>
              </a:rPr>
              <a:t>0</a:t>
            </a:r>
            <a:r>
              <a:rPr lang="zh-CN" altLang="en-US" kern="0" dirty="0" smtClean="0">
                <a:ea typeface="黑体" panose="02010609060101010101" pitchFamily="49" charset="-122"/>
              </a:rPr>
              <a:t>   真</a:t>
            </a:r>
            <a:r>
              <a:rPr lang="en-US" altLang="zh-CN" kern="0" dirty="0" smtClean="0">
                <a:ea typeface="黑体" panose="02010609060101010101" pitchFamily="49" charset="-122"/>
              </a:rPr>
              <a:t>1</a:t>
            </a:r>
            <a:r>
              <a:rPr lang="zh-CN" altLang="en-US" kern="0" dirty="0" smtClean="0">
                <a:ea typeface="黑体" panose="02010609060101010101" pitchFamily="49" charset="-122"/>
              </a:rPr>
              <a:t>       0         1       1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kern="0" dirty="0" smtClean="0">
                <a:ea typeface="黑体" panose="02010609060101010101" pitchFamily="49" charset="-122"/>
              </a:rPr>
              <a:t>真</a:t>
            </a:r>
            <a:r>
              <a:rPr lang="en-US" altLang="zh-CN" kern="0" dirty="0" smtClean="0">
                <a:ea typeface="黑体" panose="02010609060101010101" pitchFamily="49" charset="-122"/>
              </a:rPr>
              <a:t>1</a:t>
            </a:r>
            <a:r>
              <a:rPr lang="zh-CN" altLang="en-US" kern="0" dirty="0" smtClean="0">
                <a:ea typeface="黑体" panose="02010609060101010101" pitchFamily="49" charset="-122"/>
              </a:rPr>
              <a:t>   假</a:t>
            </a:r>
            <a:r>
              <a:rPr lang="en-US" altLang="zh-CN" kern="0" dirty="0" smtClean="0">
                <a:ea typeface="黑体" panose="02010609060101010101" pitchFamily="49" charset="-122"/>
              </a:rPr>
              <a:t>0</a:t>
            </a:r>
            <a:r>
              <a:rPr lang="zh-CN" altLang="en-US" kern="0" dirty="0" smtClean="0">
                <a:ea typeface="黑体" panose="02010609060101010101" pitchFamily="49" charset="-122"/>
              </a:rPr>
              <a:t>       0         1       0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zh-CN" altLang="en-US" kern="0" dirty="0" smtClean="0">
                <a:ea typeface="黑体" panose="02010609060101010101" pitchFamily="49" charset="-122"/>
              </a:rPr>
              <a:t>真</a:t>
            </a:r>
            <a:r>
              <a:rPr lang="en-US" altLang="zh-CN" kern="0" dirty="0" smtClean="0">
                <a:ea typeface="黑体" panose="02010609060101010101" pitchFamily="49" charset="-122"/>
              </a:rPr>
              <a:t>1</a:t>
            </a:r>
            <a:r>
              <a:rPr lang="zh-CN" altLang="en-US" kern="0" dirty="0" smtClean="0">
                <a:ea typeface="黑体" panose="02010609060101010101" pitchFamily="49" charset="-122"/>
              </a:rPr>
              <a:t>   真</a:t>
            </a:r>
            <a:r>
              <a:rPr lang="en-US" altLang="zh-CN" kern="0" dirty="0" smtClean="0">
                <a:ea typeface="黑体" panose="02010609060101010101" pitchFamily="49" charset="-122"/>
              </a:rPr>
              <a:t>1</a:t>
            </a:r>
            <a:r>
              <a:rPr lang="zh-CN" altLang="en-US" kern="0" dirty="0" smtClean="0">
                <a:ea typeface="黑体" panose="02010609060101010101" pitchFamily="49" charset="-122"/>
              </a:rPr>
              <a:t>       1         1       0 </a:t>
            </a:r>
          </a:p>
        </p:txBody>
      </p:sp>
      <p:sp>
        <p:nvSpPr>
          <p:cNvPr id="6" name="Line 5"/>
          <p:cNvSpPr>
            <a:spLocks noChangeShapeType="1"/>
          </p:cNvSpPr>
          <p:nvPr/>
        </p:nvSpPr>
        <p:spPr bwMode="auto">
          <a:xfrm>
            <a:off x="1548532" y="3098304"/>
            <a:ext cx="426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3059832" y="2564904"/>
            <a:ext cx="0" cy="2514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586142"/>
      </p:ext>
    </p:extLst>
  </p:cSld>
  <p:clrMapOvr>
    <a:masterClrMapping/>
  </p:clrMapOvr>
  <p:transition spd="med"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938213"/>
            <a:ext cx="7924800" cy="546100"/>
          </a:xfrm>
          <a:prstGeom prst="roundRect">
            <a:avLst>
              <a:gd name="adj" fmla="val 16667"/>
            </a:avLst>
          </a:prstGeom>
          <a:noFill/>
        </p:spPr>
        <p:txBody>
          <a:bodyPr anchor="ctr"/>
          <a:lstStyle/>
          <a:p>
            <a:pPr eaLnBrk="1" hangingPunct="1"/>
            <a:r>
              <a:rPr lang="zh-CN" altLang="en-US" dirty="0"/>
              <a:t>逻辑运算符与</a:t>
            </a:r>
            <a:r>
              <a:rPr lang="zh-CN" altLang="en-US" dirty="0" smtClean="0"/>
              <a:t>表达式（练习）</a:t>
            </a:r>
            <a:endParaRPr lang="zh-CN" altLang="en-US" dirty="0" smtClean="0">
              <a:effectLst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44550" y="1728192"/>
            <a:ext cx="8299450" cy="4941168"/>
          </a:xfrm>
          <a:noFill/>
        </p:spPr>
        <p:txBody>
          <a:bodyPr lIns="91440" tIns="45720" rIns="91440" bIns="45720"/>
          <a:lstStyle/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1.</a:t>
            </a:r>
            <a:r>
              <a:rPr lang="zh-CN" altLang="en-US" dirty="0" smtClean="0">
                <a:solidFill>
                  <a:schemeClr val="tx1"/>
                </a:solidFill>
              </a:rPr>
              <a:t>判断整数</a:t>
            </a:r>
            <a:r>
              <a:rPr lang="en-US" altLang="zh-CN" dirty="0" smtClean="0">
                <a:solidFill>
                  <a:schemeClr val="tx1"/>
                </a:solidFill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</a:rPr>
              <a:t>是否是偶数</a:t>
            </a:r>
            <a:r>
              <a:rPr lang="en-US" altLang="zh-CN" dirty="0" smtClean="0">
                <a:solidFill>
                  <a:schemeClr val="tx1"/>
                </a:solidFill>
              </a:rPr>
              <a:t>/</a:t>
            </a:r>
            <a:r>
              <a:rPr lang="zh-CN" altLang="en-US" dirty="0" smtClean="0">
                <a:solidFill>
                  <a:schemeClr val="tx1"/>
                </a:solidFill>
              </a:rPr>
              <a:t>奇数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n</a:t>
            </a:r>
            <a:r>
              <a:rPr lang="zh-CN" altLang="en-US" dirty="0" smtClean="0">
                <a:solidFill>
                  <a:schemeClr val="tx1"/>
                </a:solidFill>
              </a:rPr>
              <a:t>是偶数：</a:t>
            </a:r>
            <a:r>
              <a:rPr lang="en-US" altLang="zh-CN" dirty="0" smtClean="0">
                <a:solidFill>
                  <a:schemeClr val="tx1"/>
                </a:solidFill>
              </a:rPr>
              <a:t>n%2 </a:t>
            </a:r>
            <a:r>
              <a:rPr lang="en-US" altLang="zh-CN" dirty="0">
                <a:solidFill>
                  <a:schemeClr val="tx1"/>
                </a:solidFill>
              </a:rPr>
              <a:t>== </a:t>
            </a:r>
            <a:r>
              <a:rPr lang="en-US" altLang="zh-CN" dirty="0" smtClean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n</a:t>
            </a:r>
            <a:r>
              <a:rPr lang="zh-CN" altLang="en-US" dirty="0" smtClean="0">
                <a:solidFill>
                  <a:schemeClr val="tx1"/>
                </a:solidFill>
              </a:rPr>
              <a:t>是奇数：</a:t>
            </a:r>
            <a:r>
              <a:rPr lang="en-US" altLang="zh-CN" dirty="0" smtClean="0">
                <a:solidFill>
                  <a:schemeClr val="tx1"/>
                </a:solidFill>
              </a:rPr>
              <a:t>n%2 !=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2. </a:t>
            </a:r>
            <a:r>
              <a:rPr lang="zh-CN" altLang="en-US" dirty="0" smtClean="0">
                <a:solidFill>
                  <a:schemeClr val="tx1"/>
                </a:solidFill>
              </a:rPr>
              <a:t>判断整数</a:t>
            </a:r>
            <a:r>
              <a:rPr lang="en-US" altLang="zh-CN" dirty="0" smtClean="0">
                <a:solidFill>
                  <a:schemeClr val="tx1"/>
                </a:solidFill>
              </a:rPr>
              <a:t>n</a:t>
            </a:r>
            <a:r>
              <a:rPr lang="zh-CN" altLang="en-US" dirty="0" smtClean="0">
                <a:solidFill>
                  <a:schemeClr val="tx1"/>
                </a:solidFill>
              </a:rPr>
              <a:t>是否能被</a:t>
            </a:r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r>
              <a:rPr lang="zh-CN" altLang="en-US" dirty="0" smtClean="0">
                <a:solidFill>
                  <a:schemeClr val="tx1"/>
                </a:solidFill>
              </a:rPr>
              <a:t>整除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 n%5 </a:t>
            </a:r>
            <a:r>
              <a:rPr lang="en-US" altLang="zh-CN" dirty="0" smtClean="0">
                <a:solidFill>
                  <a:schemeClr val="tx1"/>
                </a:solidFill>
              </a:rPr>
              <a:t>== </a:t>
            </a:r>
            <a:r>
              <a:rPr lang="en-US" altLang="zh-CN" dirty="0">
                <a:solidFill>
                  <a:schemeClr val="tx1"/>
                </a:solidFill>
              </a:rPr>
              <a:t>0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3. 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是否为小写英文字母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      (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&gt;= 'a') &amp;&amp; (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&lt;= 'z')     </a:t>
            </a:r>
            <a:endParaRPr lang="zh-CN" alt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/>
                </a:solidFill>
              </a:rPr>
              <a:t>   或</a:t>
            </a:r>
            <a:r>
              <a:rPr lang="zh-CN" altLang="en-US" dirty="0" smtClean="0">
                <a:solidFill>
                  <a:schemeClr val="tx1"/>
                </a:solidFill>
              </a:rPr>
              <a:t>：</a:t>
            </a:r>
            <a:r>
              <a:rPr lang="en-US" altLang="zh-CN" dirty="0" err="1" smtClean="0">
                <a:solidFill>
                  <a:schemeClr val="tx1"/>
                </a:solidFill>
              </a:rPr>
              <a:t>ch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&gt;= 'a' &amp;&amp; 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&lt;= 'z</a:t>
            </a:r>
            <a:r>
              <a:rPr lang="en-US" altLang="zh-CN" dirty="0" smtClean="0">
                <a:solidFill>
                  <a:schemeClr val="tx1"/>
                </a:solidFill>
              </a:rPr>
              <a:t>'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57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55650" y="938213"/>
            <a:ext cx="7924800" cy="546100"/>
          </a:xfrm>
          <a:prstGeom prst="roundRect">
            <a:avLst>
              <a:gd name="adj" fmla="val 16667"/>
            </a:avLst>
          </a:prstGeom>
          <a:noFill/>
        </p:spPr>
        <p:txBody>
          <a:bodyPr anchor="ctr"/>
          <a:lstStyle/>
          <a:p>
            <a:pPr eaLnBrk="1" hangingPunct="1"/>
            <a:r>
              <a:rPr lang="zh-CN" altLang="en-US" dirty="0"/>
              <a:t>逻辑运算符与表达式</a:t>
            </a:r>
            <a:endParaRPr lang="zh-CN" altLang="en-US" dirty="0" smtClean="0">
              <a:effectLst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83304" y="1772816"/>
            <a:ext cx="8299450" cy="4680520"/>
          </a:xfrm>
          <a:noFill/>
        </p:spPr>
        <p:txBody>
          <a:bodyPr lIns="91440" tIns="45720" rIns="91440" bIns="45720"/>
          <a:lstStyle/>
          <a:p>
            <a:pPr marL="0" indent="0">
              <a:spcBef>
                <a:spcPts val="600"/>
              </a:spcBef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4. </a:t>
            </a:r>
            <a:r>
              <a:rPr lang="zh-CN" altLang="en-US" dirty="0" smtClean="0">
                <a:solidFill>
                  <a:schemeClr val="tx1"/>
                </a:solidFill>
              </a:rPr>
              <a:t>判断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是否为英文字母</a:t>
            </a:r>
            <a:endParaRPr lang="en-US" altLang="zh-CN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&gt;= 'a' &amp;&amp; 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&lt;= 'z') || ( 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&gt;= 'A' &amp;&amp; 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&lt;= 'Z</a:t>
            </a:r>
            <a:r>
              <a:rPr lang="en-US" altLang="zh-CN" dirty="0" smtClean="0">
                <a:solidFill>
                  <a:schemeClr val="tx1"/>
                </a:solidFill>
              </a:rPr>
              <a:t>')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5. </a:t>
            </a:r>
            <a:r>
              <a:rPr lang="zh-CN" altLang="en-US" dirty="0">
                <a:solidFill>
                  <a:schemeClr val="tx1"/>
                </a:solidFill>
              </a:rPr>
              <a:t>判断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是空格或者回车。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 </a:t>
            </a:r>
            <a:r>
              <a:rPr lang="en-US" altLang="zh-CN" dirty="0" err="1" smtClean="0">
                <a:solidFill>
                  <a:schemeClr val="tx1"/>
                </a:solidFill>
              </a:rPr>
              <a:t>ch</a:t>
            </a:r>
            <a:r>
              <a:rPr lang="en-US" altLang="zh-CN" dirty="0" smtClean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== ' ' || </a:t>
            </a:r>
            <a:r>
              <a:rPr lang="en-US" altLang="zh-CN" dirty="0" err="1">
                <a:solidFill>
                  <a:schemeClr val="tx1"/>
                </a:solidFill>
              </a:rPr>
              <a:t>ch</a:t>
            </a:r>
            <a:r>
              <a:rPr lang="en-US" altLang="zh-CN" dirty="0">
                <a:solidFill>
                  <a:schemeClr val="tx1"/>
                </a:solidFill>
              </a:rPr>
              <a:t> == '\n'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 smtClean="0">
                <a:solidFill>
                  <a:srgbClr val="FF0000"/>
                </a:solidFill>
              </a:rPr>
              <a:t>6. </a:t>
            </a:r>
            <a:r>
              <a:rPr lang="en-US" altLang="zh-CN" dirty="0">
                <a:solidFill>
                  <a:schemeClr val="tx1"/>
                </a:solidFill>
              </a:rPr>
              <a:t>year </a:t>
            </a:r>
            <a:r>
              <a:rPr lang="zh-CN" altLang="en-US" dirty="0">
                <a:solidFill>
                  <a:schemeClr val="tx1"/>
                </a:solidFill>
              </a:rPr>
              <a:t>是闰年，即 </a:t>
            </a:r>
            <a:r>
              <a:rPr lang="en-US" altLang="zh-CN" dirty="0">
                <a:solidFill>
                  <a:schemeClr val="tx1"/>
                </a:solidFill>
              </a:rPr>
              <a:t>year </a:t>
            </a:r>
            <a:r>
              <a:rPr lang="zh-CN" altLang="en-US" dirty="0">
                <a:solidFill>
                  <a:schemeClr val="tx1"/>
                </a:solidFill>
              </a:rPr>
              <a:t>能被 </a:t>
            </a:r>
            <a:r>
              <a:rPr lang="en-US" altLang="zh-CN" dirty="0">
                <a:solidFill>
                  <a:schemeClr val="tx1"/>
                </a:solidFill>
              </a:rPr>
              <a:t>4 </a:t>
            </a:r>
            <a:r>
              <a:rPr lang="zh-CN" altLang="en-US" dirty="0">
                <a:solidFill>
                  <a:schemeClr val="tx1"/>
                </a:solidFill>
              </a:rPr>
              <a:t>整除但不能被 </a:t>
            </a:r>
            <a:r>
              <a:rPr lang="en-US" altLang="zh-CN" dirty="0">
                <a:solidFill>
                  <a:schemeClr val="tx1"/>
                </a:solidFill>
              </a:rPr>
              <a:t>100 </a:t>
            </a:r>
            <a:r>
              <a:rPr lang="zh-CN" altLang="en-US" dirty="0">
                <a:solidFill>
                  <a:schemeClr val="tx1"/>
                </a:solidFill>
              </a:rPr>
              <a:t>整除，或 </a:t>
            </a:r>
            <a:r>
              <a:rPr lang="en-US" altLang="zh-CN" dirty="0">
                <a:solidFill>
                  <a:schemeClr val="tx1"/>
                </a:solidFill>
              </a:rPr>
              <a:t>year </a:t>
            </a:r>
            <a:r>
              <a:rPr lang="zh-CN" altLang="en-US" dirty="0">
                <a:solidFill>
                  <a:schemeClr val="tx1"/>
                </a:solidFill>
              </a:rPr>
              <a:t>能被 </a:t>
            </a:r>
            <a:r>
              <a:rPr lang="en-US" altLang="zh-CN" dirty="0">
                <a:solidFill>
                  <a:schemeClr val="tx1"/>
                </a:solidFill>
              </a:rPr>
              <a:t>400 </a:t>
            </a:r>
            <a:r>
              <a:rPr lang="zh-CN" altLang="en-US" dirty="0">
                <a:solidFill>
                  <a:schemeClr val="tx1"/>
                </a:solidFill>
              </a:rPr>
              <a:t>整除。 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(year % 4 == 0 &amp;&amp; year % 100 != 0) || (year % 400 == 0) </a:t>
            </a:r>
            <a:endParaRPr lang="zh-CN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43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条件</a:t>
            </a:r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969147"/>
          </a:xfrm>
        </p:spPr>
        <p:txBody>
          <a:bodyPr/>
          <a:lstStyle/>
          <a:p>
            <a:r>
              <a:rPr lang="zh-CN" altLang="en-US" dirty="0" smtClean="0"/>
              <a:t>条件运算符：</a:t>
            </a:r>
            <a:r>
              <a:rPr lang="en-US" altLang="zh-CN" dirty="0" smtClean="0">
                <a:solidFill>
                  <a:srgbClr val="FF0000"/>
                </a:solidFill>
              </a:rPr>
              <a:t>? :</a:t>
            </a:r>
          </a:p>
          <a:p>
            <a:r>
              <a:rPr lang="zh-CN" altLang="en-US" dirty="0" smtClean="0"/>
              <a:t>一</a:t>
            </a:r>
            <a:r>
              <a:rPr lang="zh-CN" altLang="en-US" dirty="0"/>
              <a:t>个三目运算符</a:t>
            </a:r>
            <a:r>
              <a:rPr lang="zh-CN" altLang="en-US" dirty="0" smtClean="0"/>
              <a:t>，</a:t>
            </a:r>
            <a:r>
              <a:rPr lang="en-US" altLang="zh-CN" dirty="0" smtClean="0"/>
              <a:t>C</a:t>
            </a:r>
            <a:r>
              <a:rPr lang="zh-CN" altLang="en-US" dirty="0"/>
              <a:t>语言中唯一一个三目</a:t>
            </a:r>
            <a:r>
              <a:rPr lang="zh-CN" altLang="en-US" dirty="0" smtClean="0"/>
              <a:t>运算符</a:t>
            </a:r>
            <a:endParaRPr lang="zh-CN" altLang="en-US" dirty="0"/>
          </a:p>
          <a:p>
            <a:r>
              <a:rPr lang="zh-CN" altLang="en-US" dirty="0" smtClean="0"/>
              <a:t>条件表达式：由</a:t>
            </a:r>
            <a:r>
              <a:rPr lang="zh-CN" altLang="en-US" dirty="0"/>
              <a:t>条件运算符将三个表达式连接起来的有意义的</a:t>
            </a:r>
            <a:r>
              <a:rPr lang="zh-CN" altLang="en-US" dirty="0" smtClean="0"/>
              <a:t>式子</a:t>
            </a:r>
            <a:endParaRPr lang="en-US" altLang="zh-CN" dirty="0" smtClean="0"/>
          </a:p>
          <a:p>
            <a:r>
              <a:rPr lang="zh-CN" altLang="en-US" dirty="0" smtClean="0"/>
              <a:t>一般形式：表达式</a:t>
            </a:r>
            <a:r>
              <a:rPr lang="en-US" altLang="zh-CN" dirty="0"/>
              <a:t>1</a:t>
            </a:r>
            <a:r>
              <a:rPr lang="zh-CN" altLang="en-US" dirty="0">
                <a:solidFill>
                  <a:srgbClr val="FF0000"/>
                </a:solidFill>
              </a:rPr>
              <a:t>？</a:t>
            </a:r>
            <a:r>
              <a:rPr lang="zh-CN" altLang="en-US" dirty="0"/>
              <a:t>表达式</a:t>
            </a:r>
            <a:r>
              <a:rPr lang="en-US" altLang="zh-CN" dirty="0"/>
              <a:t>2</a:t>
            </a:r>
            <a:r>
              <a:rPr lang="zh-CN" altLang="en-US" dirty="0">
                <a:solidFill>
                  <a:srgbClr val="FF0000"/>
                </a:solidFill>
              </a:rPr>
              <a:t>：</a:t>
            </a:r>
            <a:r>
              <a:rPr lang="zh-CN" altLang="en-US" dirty="0"/>
              <a:t>表达式</a:t>
            </a:r>
            <a:r>
              <a:rPr lang="en-US" altLang="zh-CN" dirty="0"/>
              <a:t>3</a:t>
            </a:r>
          </a:p>
          <a:p>
            <a:r>
              <a:rPr lang="zh-CN" altLang="en-US" dirty="0" smtClean="0"/>
              <a:t>执行过程：先</a:t>
            </a:r>
            <a:r>
              <a:rPr lang="zh-CN" altLang="en-US" dirty="0"/>
              <a:t>计算表达式</a:t>
            </a:r>
            <a:r>
              <a:rPr lang="en-US" altLang="zh-CN" dirty="0"/>
              <a:t>1</a:t>
            </a:r>
            <a:r>
              <a:rPr lang="zh-CN" altLang="en-US" dirty="0"/>
              <a:t>的值，当表达式</a:t>
            </a:r>
            <a:r>
              <a:rPr lang="en-US" altLang="zh-CN" dirty="0"/>
              <a:t>1</a:t>
            </a:r>
            <a:r>
              <a:rPr lang="zh-CN" altLang="en-US" dirty="0"/>
              <a:t>的值为真（非</a:t>
            </a:r>
            <a:r>
              <a:rPr lang="en-US" altLang="zh-CN" dirty="0"/>
              <a:t>0</a:t>
            </a:r>
            <a:r>
              <a:rPr lang="zh-CN" altLang="en-US" dirty="0"/>
              <a:t>）时，计算表达式</a:t>
            </a:r>
            <a:r>
              <a:rPr lang="en-US" altLang="zh-CN" dirty="0"/>
              <a:t>2</a:t>
            </a:r>
            <a:r>
              <a:rPr lang="zh-CN" altLang="en-US" dirty="0"/>
              <a:t>的值，并把该值作为运算结果，否则将表达式</a:t>
            </a:r>
            <a:r>
              <a:rPr lang="en-US" altLang="zh-CN" dirty="0"/>
              <a:t>3</a:t>
            </a:r>
            <a:r>
              <a:rPr lang="zh-CN" altLang="en-US" dirty="0"/>
              <a:t>的值作为运算结果。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2792857"/>
      </p:ext>
    </p:extLst>
  </p:cSld>
  <p:clrMapOvr>
    <a:masterClrMapping/>
  </p:clrMapOvr>
  <p:transition spd="med"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位</a:t>
            </a:r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157787"/>
          </a:xfrm>
        </p:spPr>
        <p:txBody>
          <a:bodyPr/>
          <a:lstStyle/>
          <a:p>
            <a:r>
              <a:rPr lang="zh-CN" altLang="en-US" dirty="0"/>
              <a:t>位</a:t>
            </a:r>
            <a:r>
              <a:rPr lang="zh-CN" altLang="en-US" dirty="0" smtClean="0"/>
              <a:t>运算符：</a:t>
            </a:r>
            <a:r>
              <a:rPr lang="en-US" altLang="zh-CN" dirty="0"/>
              <a:t>&amp; </a:t>
            </a:r>
            <a:r>
              <a:rPr lang="zh-CN" altLang="en-US" dirty="0"/>
              <a:t>、</a:t>
            </a:r>
            <a:r>
              <a:rPr lang="en-US" altLang="zh-CN" dirty="0"/>
              <a:t> | </a:t>
            </a:r>
            <a:r>
              <a:rPr lang="zh-CN" altLang="en-US" dirty="0"/>
              <a:t>、</a:t>
            </a:r>
            <a:r>
              <a:rPr lang="en-US" altLang="zh-CN" dirty="0"/>
              <a:t> ^</a:t>
            </a:r>
            <a:r>
              <a:rPr lang="zh-CN" altLang="en-US" dirty="0"/>
              <a:t>、</a:t>
            </a:r>
            <a:r>
              <a:rPr lang="en-US" altLang="zh-CN" dirty="0"/>
              <a:t>~</a:t>
            </a:r>
            <a:r>
              <a:rPr lang="zh-CN" altLang="en-US" dirty="0"/>
              <a:t>、</a:t>
            </a:r>
            <a:r>
              <a:rPr lang="en-US" altLang="zh-CN" dirty="0"/>
              <a:t> </a:t>
            </a:r>
            <a:r>
              <a:rPr lang="en-US" altLang="zh-CN" dirty="0">
                <a:effectLst/>
              </a:rPr>
              <a:t>&lt;&lt;</a:t>
            </a:r>
            <a:r>
              <a:rPr lang="zh-CN" altLang="en-US" dirty="0">
                <a:effectLst/>
              </a:rPr>
              <a:t>、</a:t>
            </a:r>
            <a:r>
              <a:rPr lang="en-US" altLang="zh-CN" dirty="0">
                <a:effectLst/>
              </a:rPr>
              <a:t>&gt;&gt;</a:t>
            </a:r>
            <a:endParaRPr lang="en-US" altLang="zh-CN" dirty="0" smtClean="0"/>
          </a:p>
          <a:p>
            <a:r>
              <a:rPr lang="zh-CN" altLang="en-US" dirty="0" smtClean="0"/>
              <a:t>进行</a:t>
            </a:r>
            <a:r>
              <a:rPr lang="zh-CN" altLang="en-US" dirty="0"/>
              <a:t>二进制位的</a:t>
            </a:r>
            <a:r>
              <a:rPr lang="zh-CN" altLang="en-US" dirty="0" smtClean="0"/>
              <a:t>运算</a:t>
            </a:r>
            <a:endParaRPr lang="zh-CN" altLang="en-US" dirty="0"/>
          </a:p>
          <a:p>
            <a:r>
              <a:rPr lang="zh-CN" altLang="en-US" dirty="0"/>
              <a:t>位</a:t>
            </a:r>
            <a:r>
              <a:rPr lang="zh-CN" altLang="en-US" dirty="0" smtClean="0"/>
              <a:t>表达式：由</a:t>
            </a:r>
            <a:r>
              <a:rPr lang="zh-CN" altLang="en-US" dirty="0"/>
              <a:t>位运算符将运算对象连接起来的有意义的</a:t>
            </a:r>
            <a:r>
              <a:rPr lang="zh-CN" altLang="en-US" dirty="0" smtClean="0"/>
              <a:t>式子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94411389"/>
      </p:ext>
    </p:extLst>
  </p:cSld>
  <p:clrMapOvr>
    <a:masterClrMapping/>
  </p:clrMapOvr>
  <p:transition spd="med"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位</a:t>
            </a:r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560766" cy="5157787"/>
          </a:xfrm>
        </p:spPr>
        <p:txBody>
          <a:bodyPr/>
          <a:lstStyle/>
          <a:p>
            <a:r>
              <a:rPr lang="zh-CN" altLang="en-US" dirty="0"/>
              <a:t>假如</a:t>
            </a:r>
            <a:r>
              <a:rPr lang="en-US" altLang="zh-CN" dirty="0"/>
              <a:t>n=20</a:t>
            </a:r>
            <a:r>
              <a:rPr lang="zh-CN" altLang="en-US" dirty="0"/>
              <a:t>，</a:t>
            </a:r>
            <a:r>
              <a:rPr lang="en-US" altLang="zh-CN" dirty="0"/>
              <a:t>m=15</a:t>
            </a:r>
            <a:r>
              <a:rPr lang="zh-CN" altLang="en-US" dirty="0"/>
              <a:t>，分别计算</a:t>
            </a:r>
            <a:r>
              <a:rPr lang="en-US" altLang="zh-CN" dirty="0" err="1"/>
              <a:t>n&amp;m</a:t>
            </a:r>
            <a:r>
              <a:rPr lang="zh-CN" altLang="en-US" dirty="0"/>
              <a:t>，</a:t>
            </a:r>
            <a:r>
              <a:rPr lang="en-US" altLang="zh-CN" dirty="0" err="1"/>
              <a:t>n|m</a:t>
            </a:r>
            <a:r>
              <a:rPr lang="zh-CN" altLang="en-US" dirty="0"/>
              <a:t>，</a:t>
            </a:r>
            <a:r>
              <a:rPr lang="en-US" altLang="zh-CN" dirty="0" err="1"/>
              <a:t>n^m</a:t>
            </a:r>
            <a:r>
              <a:rPr lang="zh-CN" altLang="en-US" dirty="0"/>
              <a:t>的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61</a:t>
            </a:fld>
            <a:endParaRPr lang="en-US" altLang="zh-C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806" y="3210074"/>
            <a:ext cx="247707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3284984"/>
            <a:ext cx="2158728" cy="1005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752" y="3284985"/>
            <a:ext cx="2243767" cy="10052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6570923"/>
      </p:ext>
    </p:extLst>
  </p:cSld>
  <p:clrMapOvr>
    <a:masterClrMapping/>
  </p:clrMapOvr>
  <p:transition spd="med"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位</a:t>
            </a:r>
            <a:r>
              <a:rPr lang="zh-CN" altLang="en-US" dirty="0"/>
              <a:t>运算符与表达式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4"/>
            <a:ext cx="7560766" cy="4608512"/>
          </a:xfrm>
        </p:spPr>
        <p:txBody>
          <a:bodyPr/>
          <a:lstStyle/>
          <a:p>
            <a:r>
              <a:rPr lang="en-US" altLang="zh-CN" dirty="0" smtClean="0"/>
              <a:t>~</a:t>
            </a:r>
            <a:r>
              <a:rPr lang="zh-CN" altLang="en-US" dirty="0" smtClean="0"/>
              <a:t>取反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n=11101011    </a:t>
            </a:r>
          </a:p>
          <a:p>
            <a:pPr marL="0" indent="0">
              <a:buNone/>
            </a:pPr>
            <a:r>
              <a:rPr lang="en-US" altLang="zh-CN" dirty="0" smtClean="0"/>
              <a:t>~n   00010100</a:t>
            </a:r>
          </a:p>
          <a:p>
            <a:r>
              <a:rPr lang="en-US" altLang="zh-CN" dirty="0" smtClean="0"/>
              <a:t>&lt;&lt;</a:t>
            </a:r>
            <a:r>
              <a:rPr lang="zh-CN" altLang="en-US" dirty="0" smtClean="0"/>
              <a:t>左移（</a:t>
            </a:r>
            <a:r>
              <a:rPr lang="en-US" altLang="zh-CN" dirty="0" smtClean="0"/>
              <a:t>&gt;&gt;</a:t>
            </a:r>
            <a:r>
              <a:rPr lang="zh-CN" altLang="en-US" dirty="0" smtClean="0"/>
              <a:t>右移）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左移：右补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（乘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右移：左补</a:t>
            </a:r>
            <a:r>
              <a:rPr lang="en-US" altLang="zh-CN" dirty="0" smtClean="0"/>
              <a:t>0</a:t>
            </a:r>
            <a:r>
              <a:rPr lang="zh-CN" altLang="en-US" dirty="0" smtClean="0"/>
              <a:t>（除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33195277"/>
      </p:ext>
    </p:extLst>
  </p:cSld>
  <p:clrMapOvr>
    <a:masterClrMapping/>
  </p:clrMapOvr>
  <p:transition spd="med"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逗号</a:t>
            </a:r>
            <a:r>
              <a:rPr lang="zh-CN" altLang="en-US" dirty="0"/>
              <a:t>运算符与逗号表达式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897139"/>
          </a:xfrm>
        </p:spPr>
        <p:txBody>
          <a:bodyPr/>
          <a:lstStyle/>
          <a:p>
            <a:r>
              <a:rPr lang="zh-CN" altLang="en-US" dirty="0"/>
              <a:t>用逗号将表达式连接起来构成逗号</a:t>
            </a:r>
            <a:r>
              <a:rPr lang="zh-CN" altLang="en-US" dirty="0" smtClean="0"/>
              <a:t>表达式</a:t>
            </a:r>
            <a:endParaRPr lang="en-US" altLang="zh-CN" dirty="0" smtClean="0"/>
          </a:p>
          <a:p>
            <a:r>
              <a:rPr lang="zh-CN" altLang="en-US" dirty="0" smtClean="0"/>
              <a:t>一般形式：</a:t>
            </a:r>
            <a:endParaRPr lang="zh-CN" altLang="en-US" dirty="0"/>
          </a:p>
          <a:p>
            <a:pPr marL="0" indent="0">
              <a:buNone/>
            </a:pPr>
            <a:r>
              <a:rPr lang="zh-CN" altLang="en-US" dirty="0" smtClean="0"/>
              <a:t>  表达式</a:t>
            </a:r>
            <a:r>
              <a:rPr lang="en-US" altLang="zh-CN" dirty="0"/>
              <a:t>1,</a:t>
            </a:r>
            <a:r>
              <a:rPr lang="zh-CN" altLang="en-US" dirty="0"/>
              <a:t>表达式</a:t>
            </a:r>
            <a:r>
              <a:rPr lang="en-US" altLang="zh-CN" dirty="0"/>
              <a:t>2,……,</a:t>
            </a:r>
            <a:r>
              <a:rPr lang="zh-CN" altLang="en-US" dirty="0"/>
              <a:t>表达式</a:t>
            </a:r>
            <a:r>
              <a:rPr lang="en-US" altLang="zh-CN" dirty="0"/>
              <a:t>n</a:t>
            </a:r>
          </a:p>
          <a:p>
            <a:r>
              <a:rPr lang="zh-CN" altLang="en-US" dirty="0"/>
              <a:t>逗号表达式式的运算次序为：从左到右依次计算各表达式的值，逗号表达式的值就是表达式</a:t>
            </a:r>
            <a:r>
              <a:rPr lang="en-US" altLang="zh-CN" dirty="0"/>
              <a:t>n</a:t>
            </a:r>
            <a:r>
              <a:rPr lang="zh-CN" altLang="en-US" dirty="0"/>
              <a:t>的</a:t>
            </a:r>
            <a:r>
              <a:rPr lang="zh-CN" altLang="en-US" dirty="0" smtClean="0"/>
              <a:t>值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如</a:t>
            </a:r>
            <a:r>
              <a:rPr lang="en-US" altLang="zh-CN" dirty="0"/>
              <a:t>m=(10,20,30);</a:t>
            </a:r>
          </a:p>
          <a:p>
            <a:pPr marL="0" indent="0">
              <a:buNone/>
            </a:pPr>
            <a:r>
              <a:rPr lang="zh-CN" altLang="en-US" dirty="0"/>
              <a:t>执行后</a:t>
            </a:r>
            <a:r>
              <a:rPr lang="en-US" altLang="zh-CN" dirty="0"/>
              <a:t>m</a:t>
            </a:r>
            <a:r>
              <a:rPr lang="zh-CN" altLang="en-US" dirty="0"/>
              <a:t>的值为</a:t>
            </a:r>
            <a:r>
              <a:rPr lang="en-US" altLang="zh-CN" dirty="0" smtClean="0"/>
              <a:t>30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1772003"/>
      </p:ext>
    </p:extLst>
  </p:cSld>
  <p:clrMapOvr>
    <a:masterClrMapping/>
  </p:clrMapOvr>
  <p:transition spd="med"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49" y="765175"/>
            <a:ext cx="8065077" cy="784225"/>
          </a:xfrm>
        </p:spPr>
        <p:txBody>
          <a:bodyPr/>
          <a:lstStyle/>
          <a:p>
            <a:r>
              <a:rPr lang="en-US" altLang="zh-CN" dirty="0" err="1"/>
              <a:t>sizeof</a:t>
            </a:r>
            <a:r>
              <a:rPr lang="zh-CN" altLang="en-US" dirty="0"/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065076" cy="4969147"/>
          </a:xfrm>
        </p:spPr>
        <p:txBody>
          <a:bodyPr/>
          <a:lstStyle/>
          <a:p>
            <a:pPr eaLnBrk="1" hangingPunct="1"/>
            <a:r>
              <a:rPr lang="zh-CN" altLang="en-US" dirty="0"/>
              <a:t>验证数据类型在内存中占用的存储空间运算符</a:t>
            </a:r>
            <a:endParaRPr lang="en-US" altLang="zh-CN" dirty="0" smtClean="0"/>
          </a:p>
          <a:p>
            <a:pPr eaLnBrk="1" hangingPunct="1"/>
            <a:r>
              <a:rPr lang="en-US" altLang="zh-CN" dirty="0" err="1" smtClean="0">
                <a:solidFill>
                  <a:srgbClr val="FF3300"/>
                </a:solidFill>
              </a:rPr>
              <a:t>sizeof</a:t>
            </a:r>
            <a:r>
              <a:rPr lang="en-US" altLang="zh-CN" dirty="0" smtClean="0"/>
              <a:t> 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)</a:t>
            </a:r>
          </a:p>
          <a:p>
            <a:pPr eaLnBrk="1" hangingPunct="1"/>
            <a:r>
              <a:rPr lang="en-US" altLang="zh-CN" dirty="0" err="1">
                <a:solidFill>
                  <a:srgbClr val="FF3300"/>
                </a:solidFill>
              </a:rPr>
              <a:t>sizeof</a:t>
            </a:r>
            <a:r>
              <a:rPr lang="en-US" altLang="zh-CN" dirty="0"/>
              <a:t> (short)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64</a:t>
            </a:fld>
            <a:endParaRPr lang="en-US" altLang="zh-CN"/>
          </a:p>
        </p:txBody>
      </p: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827584" y="3284984"/>
            <a:ext cx="2087962" cy="1368152"/>
            <a:chOff x="703" y="2432"/>
            <a:chExt cx="2319" cy="1225"/>
          </a:xfrm>
        </p:grpSpPr>
        <p:sp>
          <p:nvSpPr>
            <p:cNvPr id="9" name="Line 4"/>
            <p:cNvSpPr>
              <a:spLocks noChangeShapeType="1"/>
            </p:cNvSpPr>
            <p:nvPr/>
          </p:nvSpPr>
          <p:spPr bwMode="auto">
            <a:xfrm flipV="1">
              <a:off x="1663" y="2432"/>
              <a:ext cx="0" cy="544"/>
            </a:xfrm>
            <a:prstGeom prst="line">
              <a:avLst/>
            </a:prstGeom>
            <a:noFill/>
            <a:ln w="101600">
              <a:solidFill>
                <a:srgbClr val="008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5"/>
            <p:cNvSpPr>
              <a:spLocks noChangeArrowheads="1"/>
            </p:cNvSpPr>
            <p:nvPr/>
          </p:nvSpPr>
          <p:spPr bwMode="auto">
            <a:xfrm>
              <a:off x="703" y="2976"/>
              <a:ext cx="2319" cy="68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dirty="0">
                  <a:solidFill>
                    <a:srgbClr val="006600"/>
                  </a:solidFill>
                  <a:ea typeface="黑体" panose="02010609060101010101" pitchFamily="49" charset="-122"/>
                </a:rPr>
                <a:t>长度运算符</a:t>
              </a:r>
            </a:p>
          </p:txBody>
        </p:sp>
      </p:grpSp>
      <p:sp>
        <p:nvSpPr>
          <p:cNvPr id="11" name="矩形 10"/>
          <p:cNvSpPr/>
          <p:nvPr/>
        </p:nvSpPr>
        <p:spPr>
          <a:xfrm>
            <a:off x="3275856" y="3919696"/>
            <a:ext cx="565205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#include &lt;</a:t>
            </a:r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stdio.h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</a:t>
            </a:r>
          </a:p>
          <a:p>
            <a:r>
              <a:rPr lang="en-US" altLang="zh-CN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main()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{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printf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("%d\n",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sizeof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</a:t>
            </a:r>
            <a:r>
              <a:rPr lang="en-US" altLang="zh-CN" sz="28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</a:t>
            </a:r>
            <a:r>
              <a:rPr lang="en-US" altLang="zh-CN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));</a:t>
            </a:r>
            <a:endParaRPr lang="en-US" altLang="zh-CN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return 0;</a:t>
            </a:r>
          </a:p>
          <a:p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}</a:t>
            </a:r>
            <a:endParaRPr lang="zh-CN" alt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4771262"/>
      </p:ext>
    </p:extLst>
  </p:cSld>
  <p:clrMapOvr>
    <a:masterClrMapping/>
  </p:clrMapOvr>
  <p:transition spd="med"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类型</a:t>
            </a:r>
            <a:r>
              <a:rPr lang="zh-CN" altLang="en-US" dirty="0"/>
              <a:t>转换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5041155"/>
          </a:xfrm>
        </p:spPr>
        <p:txBody>
          <a:bodyPr/>
          <a:lstStyle/>
          <a:p>
            <a:r>
              <a:rPr lang="zh-CN" altLang="en-US" dirty="0" smtClean="0"/>
              <a:t>自动</a:t>
            </a:r>
            <a:r>
              <a:rPr lang="zh-CN" altLang="en-US" dirty="0"/>
              <a:t>类型</a:t>
            </a:r>
            <a:r>
              <a:rPr lang="zh-CN" altLang="en-US" dirty="0" smtClean="0"/>
              <a:t>转换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不同类型的数据混合运算时，先转换为同一类型，然后再运算。</a:t>
            </a:r>
            <a:endParaRPr lang="en-US" altLang="zh-CN" dirty="0" smtClean="0"/>
          </a:p>
          <a:p>
            <a:r>
              <a:rPr lang="zh-CN" altLang="en-US" dirty="0" smtClean="0"/>
              <a:t>强制</a:t>
            </a:r>
            <a:r>
              <a:rPr lang="zh-CN" altLang="en-US" dirty="0"/>
              <a:t>类型</a:t>
            </a:r>
            <a:r>
              <a:rPr lang="zh-CN" altLang="en-US" dirty="0" smtClean="0"/>
              <a:t>转换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0242670"/>
      </p:ext>
    </p:extLst>
  </p:cSld>
  <p:clrMapOvr>
    <a:masterClrMapping/>
  </p:clrMapOvr>
  <p:transition spd="med"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自动类型</a:t>
            </a:r>
            <a:r>
              <a:rPr lang="zh-CN" altLang="en-US" dirty="0"/>
              <a:t>转换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66</a:t>
            </a:fld>
            <a:endParaRPr lang="en-US" altLang="zh-CN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19672" y="1700808"/>
            <a:ext cx="5327650" cy="143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533400" indent="-533400" algn="just" eaLnBrk="1" hangingPunct="1">
              <a:buFont typeface="Wingdings" panose="05000000000000000000" pitchFamily="2" charset="2"/>
              <a:buNone/>
            </a:pPr>
            <a:r>
              <a:rPr lang="zh-CN" altLang="en-US" sz="4000" kern="0" smtClean="0">
                <a:solidFill>
                  <a:srgbClr val="FF3300"/>
                </a:solidFill>
                <a:ea typeface="黑体" panose="02010609060101010101" pitchFamily="49" charset="-122"/>
              </a:rPr>
              <a:t>水平方向：自动转换</a:t>
            </a:r>
          </a:p>
          <a:p>
            <a:pPr marL="533400" indent="-533400" algn="just" eaLnBrk="1" hangingPunct="1">
              <a:buFont typeface="Wingdings" panose="05000000000000000000" pitchFamily="2" charset="2"/>
              <a:buNone/>
            </a:pPr>
            <a:r>
              <a:rPr lang="zh-CN" altLang="en-US" sz="4000" kern="0" smtClean="0">
                <a:solidFill>
                  <a:srgbClr val="FF3300"/>
                </a:solidFill>
                <a:ea typeface="黑体" panose="02010609060101010101" pitchFamily="49" charset="-122"/>
              </a:rPr>
              <a:t>垂直方向：低 </a:t>
            </a:r>
            <a:r>
              <a:rPr lang="zh-CN" altLang="en-US" sz="4000" kern="0" smtClean="0">
                <a:solidFill>
                  <a:srgbClr val="FF3300"/>
                </a:solidFill>
                <a:ea typeface="黑体" panose="02010609060101010101" pitchFamily="49" charset="-122"/>
                <a:sym typeface="Wingdings" panose="05000000000000000000" pitchFamily="2" charset="2"/>
              </a:rPr>
              <a:t> 高</a:t>
            </a:r>
            <a:r>
              <a:rPr lang="zh-CN" altLang="en-US" sz="4000" kern="0" smtClean="0">
                <a:ea typeface="黑体" panose="02010609060101010101" pitchFamily="49" charset="-122"/>
              </a:rPr>
              <a:t> </a:t>
            </a:r>
            <a:endParaRPr lang="zh-CN" altLang="en-US" sz="4000" kern="0" dirty="0" smtClean="0">
              <a:ea typeface="黑体" panose="02010609060101010101" pitchFamily="49" charset="-122"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1115616" y="3255927"/>
            <a:ext cx="7920038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eaLnBrk="0" hangingPunct="0"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1143000" indent="-228600" eaLnBrk="0" hangingPunct="0"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600200" indent="-228600" eaLnBrk="0" hangingPunct="0"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2057400" indent="-228600" eaLnBrk="0" hangingPunct="0"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dirty="0">
                <a:solidFill>
                  <a:srgbClr val="0000FF"/>
                </a:solidFill>
              </a:rPr>
              <a:t>高</a:t>
            </a:r>
            <a:r>
              <a:rPr lang="zh-CN" altLang="en-US" sz="4000" dirty="0">
                <a:solidFill>
                  <a:srgbClr val="CC0066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400" dirty="0">
                <a:ea typeface="宋体" panose="02010600030101010101" pitchFamily="2" charset="-122"/>
              </a:rPr>
              <a:t>          </a:t>
            </a:r>
            <a:r>
              <a:rPr lang="en-US" altLang="zh-CN" sz="3600" dirty="0">
                <a:ea typeface="宋体" panose="02010600030101010101" pitchFamily="2" charset="-122"/>
              </a:rPr>
              <a:t>double</a:t>
            </a:r>
            <a:r>
              <a:rPr lang="en-US" altLang="zh-CN" sz="2400" dirty="0">
                <a:ea typeface="宋体" panose="02010600030101010101" pitchFamily="2" charset="-122"/>
              </a:rPr>
              <a:t>             </a:t>
            </a:r>
            <a:r>
              <a:rPr lang="en-US" altLang="zh-CN" sz="3600" dirty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</a:t>
            </a:r>
            <a:r>
              <a:rPr lang="en-US" altLang="zh-CN" sz="2400" dirty="0">
                <a:ea typeface="宋体" panose="02010600030101010101" pitchFamily="2" charset="-122"/>
                <a:sym typeface="Wingdings" panose="05000000000000000000" pitchFamily="2" charset="2"/>
              </a:rPr>
              <a:t>   </a:t>
            </a:r>
            <a:r>
              <a:rPr lang="en-US" altLang="zh-CN" sz="4000" dirty="0">
                <a:ea typeface="宋体" panose="02010600030101010101" pitchFamily="2" charset="-122"/>
              </a:rPr>
              <a:t>float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            </a:t>
            </a:r>
            <a:r>
              <a:rPr lang="en-US" altLang="zh-CN" sz="2800" dirty="0">
                <a:ea typeface="宋体" panose="02010600030101010101" pitchFamily="2" charset="-122"/>
              </a:rPr>
              <a:t> </a:t>
            </a:r>
            <a:r>
              <a:rPr lang="en-US" altLang="zh-CN" sz="2800" dirty="0" smtClean="0">
                <a:ea typeface="宋体" panose="02010600030101010101" pitchFamily="2" charset="-122"/>
              </a:rPr>
              <a:t>     long</a:t>
            </a:r>
            <a:r>
              <a:rPr lang="en-US" altLang="zh-CN" sz="2400" dirty="0" smtClean="0">
                <a:ea typeface="宋体" panose="02010600030101010101" pitchFamily="2" charset="-122"/>
              </a:rPr>
              <a:t>    </a:t>
            </a:r>
            <a:endParaRPr lang="en-US" altLang="zh-CN" sz="3600" dirty="0" smtClean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dirty="0" smtClean="0">
                <a:solidFill>
                  <a:srgbClr val="0000FF"/>
                </a:solidFill>
              </a:rPr>
              <a:t>低</a:t>
            </a:r>
            <a:r>
              <a:rPr lang="zh-CN" altLang="en-US" sz="3600" dirty="0" smtClean="0">
                <a:solidFill>
                  <a:srgbClr val="0000FF"/>
                </a:solidFill>
                <a:ea typeface="宋体" panose="02010600030101010101" pitchFamily="2" charset="-122"/>
              </a:rPr>
              <a:t> </a:t>
            </a:r>
            <a:r>
              <a:rPr lang="zh-CN" altLang="en-US" sz="3600" dirty="0" smtClean="0">
                <a:solidFill>
                  <a:srgbClr val="FF33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1800" dirty="0" smtClean="0">
                <a:solidFill>
                  <a:srgbClr val="FF3300"/>
                </a:solidFill>
                <a:ea typeface="宋体" panose="02010600030101010101" pitchFamily="2" charset="-122"/>
              </a:rPr>
              <a:t>          </a:t>
            </a:r>
            <a:r>
              <a:rPr lang="en-US" altLang="zh-CN" sz="3200" dirty="0" smtClean="0">
                <a:ea typeface="宋体" panose="02010600030101010101" pitchFamily="2" charset="-122"/>
              </a:rPr>
              <a:t>unsigned   </a:t>
            </a:r>
            <a:r>
              <a:rPr lang="en-US" altLang="zh-CN" sz="2400" dirty="0" smtClean="0">
                <a:ea typeface="宋体" panose="02010600030101010101" pitchFamily="2" charset="-122"/>
              </a:rPr>
              <a:t>      </a:t>
            </a:r>
            <a:endParaRPr lang="en-US" altLang="zh-CN" sz="3200" dirty="0" smtClean="0"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smtClean="0">
                <a:ea typeface="宋体" panose="02010600030101010101" pitchFamily="2" charset="-122"/>
              </a:rPr>
              <a:t>                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 smtClean="0">
                <a:ea typeface="宋体" panose="02010600030101010101" pitchFamily="2" charset="-122"/>
              </a:rPr>
              <a:t>               </a:t>
            </a:r>
            <a:r>
              <a:rPr lang="en-US" altLang="zh-CN" sz="3600" dirty="0" err="1" smtClean="0">
                <a:ea typeface="宋体" panose="02010600030101010101" pitchFamily="2" charset="-122"/>
              </a:rPr>
              <a:t>int</a:t>
            </a:r>
            <a:r>
              <a:rPr lang="en-US" altLang="zh-CN" sz="3600" dirty="0" smtClean="0">
                <a:ea typeface="宋体" panose="02010600030101010101" pitchFamily="2" charset="-122"/>
              </a:rPr>
              <a:t>     </a:t>
            </a:r>
            <a:r>
              <a:rPr lang="en-US" altLang="zh-CN" sz="2400" dirty="0" smtClean="0">
                <a:ea typeface="宋体" panose="02010600030101010101" pitchFamily="2" charset="-122"/>
              </a:rPr>
              <a:t>               </a:t>
            </a:r>
            <a:r>
              <a:rPr lang="en-US" altLang="zh-CN" sz="3600" dirty="0">
                <a:solidFill>
                  <a:srgbClr val="0000FF"/>
                </a:solidFill>
                <a:ea typeface="宋体" panose="02010600030101010101" pitchFamily="2" charset="-122"/>
                <a:sym typeface="Wingdings" panose="05000000000000000000" pitchFamily="2" charset="2"/>
              </a:rPr>
              <a:t></a:t>
            </a:r>
            <a:r>
              <a:rPr lang="en-US" altLang="zh-CN" sz="36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  </a:t>
            </a:r>
            <a:r>
              <a:rPr lang="en-US" altLang="zh-CN" sz="3200" dirty="0">
                <a:ea typeface="宋体" panose="02010600030101010101" pitchFamily="2" charset="-122"/>
              </a:rPr>
              <a:t>char, short</a:t>
            </a:r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 flipV="1">
            <a:off x="1403648" y="3836952"/>
            <a:ext cx="0" cy="1219200"/>
          </a:xfrm>
          <a:prstGeom prst="line">
            <a:avLst/>
          </a:prstGeom>
          <a:noFill/>
          <a:ln w="69850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 flipV="1">
            <a:off x="3419872" y="4111590"/>
            <a:ext cx="0" cy="3048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 flipV="1">
            <a:off x="3419872" y="4903752"/>
            <a:ext cx="0" cy="304800"/>
          </a:xfrm>
          <a:prstGeom prst="line">
            <a:avLst/>
          </a:prstGeom>
          <a:noFill/>
          <a:ln w="38100">
            <a:solidFill>
              <a:srgbClr val="33CC33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 flipV="1">
            <a:off x="3419872" y="5767352"/>
            <a:ext cx="0" cy="304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964997"/>
      </p:ext>
    </p:extLst>
  </p:cSld>
  <p:clrMapOvr>
    <a:masterClrMapping/>
  </p:clrMapOvr>
  <p:transition spd="med"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自动类型</a:t>
            </a:r>
            <a:r>
              <a:rPr lang="zh-CN" altLang="en-US" dirty="0"/>
              <a:t>转换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67</a:t>
            </a:fld>
            <a:endParaRPr lang="en-US" altLang="zh-CN"/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1331491" y="1987848"/>
            <a:ext cx="6553200" cy="4105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marL="990600" lvl="1" indent="-533400" algn="just" eaLnBrk="1" hangingPunct="1">
              <a:buFont typeface="Wingdings" pitchFamily="2" charset="2"/>
              <a:buNone/>
            </a:pPr>
            <a:r>
              <a:rPr lang="zh-CN" altLang="en-US" sz="5400" kern="0" dirty="0" smtClean="0">
                <a:ea typeface="黑体" panose="02010609060101010101" pitchFamily="49" charset="-122"/>
              </a:rPr>
              <a:t>'</a:t>
            </a:r>
            <a:r>
              <a:rPr lang="en-US" altLang="zh-CN" sz="5400" kern="0" dirty="0" smtClean="0">
                <a:ea typeface="黑体" panose="02010609060101010101" pitchFamily="49" charset="-122"/>
              </a:rPr>
              <a:t>A' + 12 – 10.05 </a:t>
            </a:r>
          </a:p>
          <a:p>
            <a:pPr marL="990600" lvl="1" indent="-533400" algn="just" eaLnBrk="1" hangingPunct="1">
              <a:buFont typeface="Wingdings" pitchFamily="2" charset="2"/>
              <a:buNone/>
            </a:pPr>
            <a:r>
              <a:rPr lang="en-US" altLang="zh-CN" sz="5400" kern="0" dirty="0" smtClean="0">
                <a:solidFill>
                  <a:srgbClr val="CC0066"/>
                </a:solidFill>
                <a:ea typeface="黑体" panose="02010609060101010101" pitchFamily="49" charset="-122"/>
              </a:rPr>
              <a:t>65</a:t>
            </a:r>
          </a:p>
          <a:p>
            <a:pPr marL="990600" lvl="1" indent="-533400" algn="just" eaLnBrk="1" hangingPunct="1">
              <a:buFont typeface="Wingdings" pitchFamily="2" charset="2"/>
              <a:buNone/>
            </a:pPr>
            <a:r>
              <a:rPr lang="en-US" altLang="zh-CN" sz="5400" kern="0" dirty="0" smtClean="0">
                <a:ea typeface="黑体" panose="02010609060101010101" pitchFamily="49" charset="-122"/>
              </a:rPr>
              <a:t>    </a:t>
            </a:r>
          </a:p>
          <a:p>
            <a:pPr marL="990600" lvl="1" indent="-533400" algn="just" eaLnBrk="1" hangingPunct="1">
              <a:buFont typeface="Wingdings" pitchFamily="2" charset="2"/>
              <a:buNone/>
            </a:pPr>
            <a:r>
              <a:rPr lang="en-US" altLang="zh-CN" sz="5400" kern="0" dirty="0" smtClean="0">
                <a:ea typeface="黑体" panose="02010609060101010101" pitchFamily="49" charset="-122"/>
              </a:rPr>
              <a:t>           </a:t>
            </a:r>
          </a:p>
        </p:txBody>
      </p:sp>
      <p:sp>
        <p:nvSpPr>
          <p:cNvPr id="14" name="Line 10"/>
          <p:cNvSpPr>
            <a:spLocks noChangeShapeType="1"/>
          </p:cNvSpPr>
          <p:nvPr/>
        </p:nvSpPr>
        <p:spPr bwMode="auto">
          <a:xfrm>
            <a:off x="1835696" y="2851448"/>
            <a:ext cx="719137" cy="0"/>
          </a:xfrm>
          <a:prstGeom prst="line">
            <a:avLst/>
          </a:prstGeom>
          <a:noFill/>
          <a:ln w="101600" cap="sq">
            <a:solidFill>
              <a:srgbClr val="CC0066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zh-CN" altLang="en-US"/>
          </a:p>
        </p:txBody>
      </p:sp>
      <p:grpSp>
        <p:nvGrpSpPr>
          <p:cNvPr id="15" name="Group 17"/>
          <p:cNvGrpSpPr>
            <a:grpSpLocks/>
          </p:cNvGrpSpPr>
          <p:nvPr/>
        </p:nvGrpSpPr>
        <p:grpSpPr bwMode="auto">
          <a:xfrm>
            <a:off x="1691853" y="4004990"/>
            <a:ext cx="2952750" cy="792162"/>
            <a:chOff x="431" y="3430"/>
            <a:chExt cx="1860" cy="499"/>
          </a:xfrm>
        </p:grpSpPr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V="1">
              <a:off x="431" y="3430"/>
              <a:ext cx="1860" cy="0"/>
            </a:xfrm>
            <a:prstGeom prst="line">
              <a:avLst/>
            </a:prstGeom>
            <a:noFill/>
            <a:ln w="101600" cap="sq">
              <a:solidFill>
                <a:srgbClr val="0000FF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839" y="3475"/>
              <a:ext cx="953" cy="4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800">
                  <a:solidFill>
                    <a:srgbClr val="0000FF"/>
                  </a:solidFill>
                  <a:latin typeface="黑体" panose="02010609060101010101" pitchFamily="49" charset="-122"/>
                </a:rPr>
                <a:t>77</a:t>
              </a:r>
            </a:p>
          </p:txBody>
        </p:sp>
      </p:grpSp>
      <p:grpSp>
        <p:nvGrpSpPr>
          <p:cNvPr id="18" name="Group 23"/>
          <p:cNvGrpSpPr>
            <a:grpSpLocks/>
          </p:cNvGrpSpPr>
          <p:nvPr/>
        </p:nvGrpSpPr>
        <p:grpSpPr bwMode="auto">
          <a:xfrm>
            <a:off x="2915816" y="4869160"/>
            <a:ext cx="5513387" cy="1223963"/>
            <a:chOff x="1837" y="2478"/>
            <a:chExt cx="3473" cy="771"/>
          </a:xfrm>
        </p:grpSpPr>
        <p:sp>
          <p:nvSpPr>
            <p:cNvPr id="19" name="Line 11"/>
            <p:cNvSpPr>
              <a:spLocks noChangeShapeType="1"/>
            </p:cNvSpPr>
            <p:nvPr/>
          </p:nvSpPr>
          <p:spPr bwMode="auto">
            <a:xfrm flipV="1">
              <a:off x="1837" y="2478"/>
              <a:ext cx="3473" cy="2"/>
            </a:xfrm>
            <a:prstGeom prst="line">
              <a:avLst/>
            </a:prstGeom>
            <a:noFill/>
            <a:ln w="127000" cap="sq">
              <a:solidFill>
                <a:srgbClr val="008000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Rectangle 21"/>
            <p:cNvSpPr>
              <a:spLocks noChangeArrowheads="1"/>
            </p:cNvSpPr>
            <p:nvPr/>
          </p:nvSpPr>
          <p:spPr bwMode="auto">
            <a:xfrm>
              <a:off x="2427" y="2524"/>
              <a:ext cx="1950" cy="7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>
              <a:lvl1pPr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2pPr>
              <a:lvl3pPr marL="11430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3pPr>
              <a:lvl4pPr marL="16002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4pPr>
              <a:lvl5pPr marL="2057400" indent="-228600" eaLnBrk="0" hangingPunct="0"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5400" b="1">
                  <a:solidFill>
                    <a:schemeClr val="tx1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dirty="0">
                  <a:solidFill>
                    <a:srgbClr val="006600"/>
                  </a:solidFill>
                  <a:latin typeface="黑体" panose="02010609060101010101" pitchFamily="49" charset="-122"/>
                </a:rPr>
                <a:t>66.95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86732279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强制</a:t>
            </a:r>
            <a:r>
              <a:rPr lang="zh-CN" altLang="en-US" dirty="0" smtClean="0"/>
              <a:t>类型</a:t>
            </a:r>
            <a:r>
              <a:rPr lang="zh-CN" altLang="en-US" dirty="0"/>
              <a:t>转换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68</a:t>
            </a:fld>
            <a:endParaRPr lang="en-US" altLang="zh-CN"/>
          </a:p>
        </p:txBody>
      </p:sp>
      <p:sp>
        <p:nvSpPr>
          <p:cNvPr id="21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969147"/>
          </a:xfrm>
        </p:spPr>
        <p:txBody>
          <a:bodyPr/>
          <a:lstStyle/>
          <a:p>
            <a:r>
              <a:rPr lang="zh-CN" altLang="en-US" dirty="0" smtClean="0"/>
              <a:t>表示形式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</a:t>
            </a:r>
            <a:r>
              <a:rPr lang="zh-CN" altLang="en-US" sz="3600" dirty="0" smtClean="0"/>
              <a:t>（类型标识符）（表达式）</a:t>
            </a:r>
            <a:endParaRPr lang="en-US" altLang="zh-CN" sz="3600" dirty="0"/>
          </a:p>
          <a:p>
            <a:r>
              <a:rPr lang="en-US" altLang="zh-CN" dirty="0" smtClean="0"/>
              <a:t>(double) 3      </a:t>
            </a:r>
            <a:r>
              <a:rPr lang="zh-CN" altLang="en-US" dirty="0" smtClean="0"/>
              <a:t>转换后    </a:t>
            </a:r>
            <a:r>
              <a:rPr lang="en-US" altLang="zh-CN" dirty="0" smtClean="0"/>
              <a:t>3.0</a:t>
            </a:r>
          </a:p>
          <a:p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) 3.8                          3</a:t>
            </a:r>
          </a:p>
          <a:p>
            <a:r>
              <a:rPr lang="en-US" altLang="zh-CN" dirty="0" smtClean="0"/>
              <a:t>(double)(5/2)                 2.0</a:t>
            </a:r>
          </a:p>
          <a:p>
            <a:r>
              <a:rPr lang="en-US" altLang="zh-CN" dirty="0" smtClean="0"/>
              <a:t>(double) 5/2                  2.5</a:t>
            </a:r>
          </a:p>
          <a:p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)3.8+1.3                   4.3</a:t>
            </a:r>
          </a:p>
          <a:p>
            <a:r>
              <a:rPr lang="en-US" altLang="zh-CN" dirty="0" smtClean="0"/>
              <a:t>(</a:t>
            </a:r>
            <a:r>
              <a:rPr lang="en-US" altLang="zh-CN" dirty="0" err="1" smtClean="0"/>
              <a:t>int</a:t>
            </a:r>
            <a:r>
              <a:rPr lang="en-US" altLang="zh-CN" dirty="0" smtClean="0"/>
              <a:t>)(3.8+1.3)                 5</a:t>
            </a:r>
          </a:p>
        </p:txBody>
      </p:sp>
    </p:spTree>
    <p:extLst>
      <p:ext uri="{BB962C8B-B14F-4D97-AF65-F5344CB8AC3E}">
        <p14:creationId xmlns:p14="http://schemas.microsoft.com/office/powerpoint/2010/main" val="1263019482"/>
      </p:ext>
    </p:extLst>
  </p:cSld>
  <p:clrMapOvr>
    <a:masterClrMapping/>
  </p:clrMapOvr>
  <p:transition spd="med"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6798</TotalTime>
  <Words>3596</Words>
  <Application>Microsoft Office PowerPoint</Application>
  <PresentationFormat>全屏显示(4:3)</PresentationFormat>
  <Paragraphs>645</Paragraphs>
  <Slides>69</Slides>
  <Notes>10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70" baseType="lpstr">
      <vt:lpstr>Capsules</vt:lpstr>
      <vt:lpstr>第二章 C语言基础知识 </vt:lpstr>
      <vt:lpstr>主要内容</vt:lpstr>
      <vt:lpstr>PowerPoint 演示文稿</vt:lpstr>
      <vt:lpstr>标识符</vt:lpstr>
      <vt:lpstr>标识符-关键字</vt:lpstr>
      <vt:lpstr>标识符判断</vt:lpstr>
      <vt:lpstr>PowerPoint 演示文稿</vt:lpstr>
      <vt:lpstr>基本数据类型</vt:lpstr>
      <vt:lpstr>基本数据类型</vt:lpstr>
      <vt:lpstr>整型常量 </vt:lpstr>
      <vt:lpstr>整型常量 </vt:lpstr>
      <vt:lpstr>1个字节有8个二进制位</vt:lpstr>
      <vt:lpstr>整型变量</vt:lpstr>
      <vt:lpstr>变量定义</vt:lpstr>
      <vt:lpstr>浮点型常量</vt:lpstr>
      <vt:lpstr>浮点型变量</vt:lpstr>
      <vt:lpstr>字符常量</vt:lpstr>
      <vt:lpstr>转义字符表</vt:lpstr>
      <vt:lpstr>字符变量</vt:lpstr>
      <vt:lpstr>字符串常量</vt:lpstr>
      <vt:lpstr>字符与字符串常量</vt:lpstr>
      <vt:lpstr>符号常量</vt:lpstr>
      <vt:lpstr>符号常量（求圆面积）</vt:lpstr>
      <vt:lpstr>PowerPoint 演示文稿</vt:lpstr>
      <vt:lpstr>基本输入输出函数</vt:lpstr>
      <vt:lpstr>基本输出函数</vt:lpstr>
      <vt:lpstr>基本输入函数</vt:lpstr>
      <vt:lpstr>基本输入输出（整型）</vt:lpstr>
      <vt:lpstr>基本输入输出（整型）</vt:lpstr>
      <vt:lpstr>基本输入输出（整型）</vt:lpstr>
      <vt:lpstr>基本输入输出（单精度浮点型）</vt:lpstr>
      <vt:lpstr>基本输入输出（单精度浮点型）</vt:lpstr>
      <vt:lpstr>基本输入输出（单精度浮点型）</vt:lpstr>
      <vt:lpstr>基本输入输出（双精度浮点型）</vt:lpstr>
      <vt:lpstr>基本输入输出（双精度浮点型）</vt:lpstr>
      <vt:lpstr>基本输入输出（单精度浮点型）</vt:lpstr>
      <vt:lpstr>基本输入输出（双精度浮点型）</vt:lpstr>
      <vt:lpstr>基本输入输出</vt:lpstr>
      <vt:lpstr>基本输入输出</vt:lpstr>
      <vt:lpstr>基本输入输出（字符型）</vt:lpstr>
      <vt:lpstr>基本输入输出（字符型）</vt:lpstr>
      <vt:lpstr>基本输入输出（字符型）</vt:lpstr>
      <vt:lpstr>基本输入输出（字符型）</vt:lpstr>
      <vt:lpstr>基本输入输出（字符型）</vt:lpstr>
      <vt:lpstr>基本输入输出（字符型）</vt:lpstr>
      <vt:lpstr>基本输入输出（字符型）</vt:lpstr>
      <vt:lpstr>PowerPoint 演示文稿</vt:lpstr>
      <vt:lpstr>2.4 运算符与表达式</vt:lpstr>
      <vt:lpstr>算术运算符</vt:lpstr>
      <vt:lpstr>算术运算符</vt:lpstr>
      <vt:lpstr>算术表达式</vt:lpstr>
      <vt:lpstr>赋值运算符与表达式</vt:lpstr>
      <vt:lpstr>赋值运算符与表达式</vt:lpstr>
      <vt:lpstr>关系运算符与表达式</vt:lpstr>
      <vt:lpstr>关系运算符与表达式</vt:lpstr>
      <vt:lpstr>逻辑运算符与表达式</vt:lpstr>
      <vt:lpstr>逻辑运算符与表达式</vt:lpstr>
      <vt:lpstr>逻辑运算符与表达式（练习）</vt:lpstr>
      <vt:lpstr>逻辑运算符与表达式</vt:lpstr>
      <vt:lpstr>条件运算符与表达式</vt:lpstr>
      <vt:lpstr>位运算符与表达式</vt:lpstr>
      <vt:lpstr>位运算符与表达式</vt:lpstr>
      <vt:lpstr>位运算符与表达式</vt:lpstr>
      <vt:lpstr>逗号运算符与逗号表达式</vt:lpstr>
      <vt:lpstr>sizeof运算符</vt:lpstr>
      <vt:lpstr>类型转换</vt:lpstr>
      <vt:lpstr>自动类型转换</vt:lpstr>
      <vt:lpstr>自动类型转换</vt:lpstr>
      <vt:lpstr>强制类型转换</vt:lpstr>
    </vt:vector>
  </TitlesOfParts>
  <Company>Shanghai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</dc:title>
  <dc:creator>Richard M. Lu</dc:creator>
  <dc:description>2007年第五版</dc:description>
  <cp:lastModifiedBy>Windows 用户</cp:lastModifiedBy>
  <cp:revision>1110</cp:revision>
  <dcterms:created xsi:type="dcterms:W3CDTF">2007-07-11T13:28:25Z</dcterms:created>
  <dcterms:modified xsi:type="dcterms:W3CDTF">2020-09-15T10:08:59Z</dcterms:modified>
</cp:coreProperties>
</file>