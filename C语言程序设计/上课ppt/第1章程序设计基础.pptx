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3" r:id="rId1"/>
  </p:sldMasterIdLst>
  <p:notesMasterIdLst>
    <p:notesMasterId r:id="rId25"/>
  </p:notesMasterIdLst>
  <p:sldIdLst>
    <p:sldId id="599" r:id="rId2"/>
    <p:sldId id="673" r:id="rId3"/>
    <p:sldId id="650" r:id="rId4"/>
    <p:sldId id="651" r:id="rId5"/>
    <p:sldId id="675" r:id="rId6"/>
    <p:sldId id="654" r:id="rId7"/>
    <p:sldId id="656" r:id="rId8"/>
    <p:sldId id="657" r:id="rId9"/>
    <p:sldId id="658" r:id="rId10"/>
    <p:sldId id="659" r:id="rId11"/>
    <p:sldId id="663" r:id="rId12"/>
    <p:sldId id="664" r:id="rId13"/>
    <p:sldId id="665" r:id="rId14"/>
    <p:sldId id="666" r:id="rId15"/>
    <p:sldId id="667" r:id="rId16"/>
    <p:sldId id="661" r:id="rId17"/>
    <p:sldId id="662" r:id="rId18"/>
    <p:sldId id="668" r:id="rId19"/>
    <p:sldId id="669" r:id="rId20"/>
    <p:sldId id="670" r:id="rId21"/>
    <p:sldId id="671" r:id="rId22"/>
    <p:sldId id="672" r:id="rId23"/>
    <p:sldId id="674" r:id="rId2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333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54" autoAdjust="0"/>
    <p:restoredTop sz="94716" autoAdjust="0"/>
  </p:normalViewPr>
  <p:slideViewPr>
    <p:cSldViewPr>
      <p:cViewPr varScale="1">
        <p:scale>
          <a:sx n="80" d="100"/>
          <a:sy n="80" d="100"/>
        </p:scale>
        <p:origin x="6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7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3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33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33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fld id="{06A1E78A-2B14-4A82-8C68-BF0F1494DE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4578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upp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406775"/>
            <a:ext cx="7397750" cy="1822450"/>
          </a:xfrm>
        </p:spPr>
        <p:txBody>
          <a:bodyPr lIns="91440" tIns="45720" rIns="91440" bIns="45720" anchor="b"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98340" name="AutoShape 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63638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13076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1A633-576F-46D6-9FAA-ECFADAC6F9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250825" y="1557338"/>
            <a:ext cx="7391400" cy="93662"/>
            <a:chOff x="144" y="1248"/>
            <a:chExt cx="4656" cy="201"/>
          </a:xfrm>
        </p:grpSpPr>
        <p:sp>
          <p:nvSpPr>
            <p:cNvPr id="7" name="AutoShape 5"/>
            <p:cNvSpPr>
              <a:spLocks noChangeArrowheads="1"/>
            </p:cNvSpPr>
            <p:nvPr userDrawn="1"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AutoShape 6"/>
            <p:cNvSpPr>
              <a:spLocks noChangeArrowheads="1"/>
            </p:cNvSpPr>
            <p:nvPr userDrawn="1"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612140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EFFE2-EFC8-4A69-95FE-4D1D8AB31B4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406306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700213"/>
            <a:ext cx="3919538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700213"/>
            <a:ext cx="3921125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631AF-0BB6-41EF-8F20-F2D0D077CE6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1915044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4BCB1-FD36-4419-B043-9BB339528B5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666122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4BEA9-DAA6-436C-834D-87E17424C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1559811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36351-7D5B-47CE-B54D-C31E7589E5E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8528544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0A702-BEA2-4348-8357-24E594FB1A5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0582535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11A0E-3169-4162-AF4A-D1DE4B8167B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4798136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49E25-5995-484F-9A62-6B7229AD86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3899233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765175"/>
            <a:ext cx="1997075" cy="5472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765175"/>
            <a:ext cx="5843588" cy="5472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F90D5-A31F-4C2A-BB7D-2C6A931A09E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3869685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9525" y="1588"/>
            <a:ext cx="76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Freeform 3"/>
          <p:cNvSpPr>
            <a:spLocks/>
          </p:cNvSpPr>
          <p:nvPr/>
        </p:nvSpPr>
        <p:spPr bwMode="auto">
          <a:xfrm>
            <a:off x="468313" y="0"/>
            <a:ext cx="2743200" cy="1052513"/>
          </a:xfrm>
          <a:custGeom>
            <a:avLst/>
            <a:gdLst>
              <a:gd name="T0" fmla="*/ 2147483647 w 1728"/>
              <a:gd name="T1" fmla="*/ 0 h 735"/>
              <a:gd name="T2" fmla="*/ 2147483647 w 1728"/>
              <a:gd name="T3" fmla="*/ 984285814 h 735"/>
              <a:gd name="T4" fmla="*/ 957659375 w 1728"/>
              <a:gd name="T5" fmla="*/ 988387034 h 735"/>
              <a:gd name="T6" fmla="*/ 892135313 w 1728"/>
              <a:gd name="T7" fmla="*/ 984285814 h 735"/>
              <a:gd name="T8" fmla="*/ 776208125 w 1728"/>
              <a:gd name="T9" fmla="*/ 1002741307 h 735"/>
              <a:gd name="T10" fmla="*/ 619958438 w 1728"/>
              <a:gd name="T11" fmla="*/ 1088866942 h 735"/>
              <a:gd name="T12" fmla="*/ 519152188 w 1728"/>
              <a:gd name="T13" fmla="*/ 1224205794 h 735"/>
              <a:gd name="T14" fmla="*/ 483870000 w 1728"/>
              <a:gd name="T15" fmla="*/ 1365697909 h 735"/>
              <a:gd name="T16" fmla="*/ 483870000 w 1728"/>
              <a:gd name="T17" fmla="*/ 1507188592 h 735"/>
              <a:gd name="T18" fmla="*/ 0 w 1728"/>
              <a:gd name="T19" fmla="*/ 1507188592 h 735"/>
              <a:gd name="T20" fmla="*/ 0 w 1728"/>
              <a:gd name="T21" fmla="*/ 984285814 h 735"/>
              <a:gd name="T22" fmla="*/ 0 w 1728"/>
              <a:gd name="T23" fmla="*/ 0 h 735"/>
              <a:gd name="T24" fmla="*/ 2147483647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C7E8C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97319" name="AutoShape 7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732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700213"/>
            <a:ext cx="7993063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73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00563" y="6524625"/>
            <a:ext cx="4576762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973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08725"/>
            <a:ext cx="587375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517A816-AE02-46E7-BAEE-4C81B905E14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3" name="Text Box 11"/>
          <p:cNvSpPr txBox="1">
            <a:spLocks noChangeArrowheads="1"/>
          </p:cNvSpPr>
          <p:nvPr/>
        </p:nvSpPr>
        <p:spPr bwMode="auto">
          <a:xfrm>
            <a:off x="107950" y="4078288"/>
            <a:ext cx="5492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FFCC"/>
                </a:solidFill>
                <a:ea typeface="方正姚体" pitchFamily="2" charset="-122"/>
              </a:rPr>
              <a:t>计算中心编制</a:t>
            </a:r>
          </a:p>
        </p:txBody>
      </p:sp>
      <p:sp>
        <p:nvSpPr>
          <p:cNvPr id="1034" name="Rectangle 12"/>
          <p:cNvSpPr>
            <a:spLocks noChangeArrowheads="1"/>
          </p:cNvSpPr>
          <p:nvPr/>
        </p:nvSpPr>
        <p:spPr bwMode="auto">
          <a:xfrm>
            <a:off x="3197225" y="4763"/>
            <a:ext cx="3097213" cy="692150"/>
          </a:xfrm>
          <a:prstGeom prst="rect">
            <a:avLst/>
          </a:prstGeom>
          <a:gradFill rotWithShape="1">
            <a:gsLst>
              <a:gs pos="0">
                <a:srgbClr val="C7E8C4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7325" name="Text Box 13"/>
          <p:cNvSpPr txBox="1">
            <a:spLocks noChangeArrowheads="1"/>
          </p:cNvSpPr>
          <p:nvPr/>
        </p:nvSpPr>
        <p:spPr bwMode="auto">
          <a:xfrm>
            <a:off x="1116013" y="112713"/>
            <a:ext cx="5616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上海大学</a:t>
            </a:r>
            <a:r>
              <a:rPr lang="zh-CN" altLang="en-US" sz="3200" b="1">
                <a:solidFill>
                  <a:srgbClr val="FFFFCC"/>
                </a:solidFill>
                <a:ea typeface="华文楷体" pitchFamily="2" charset="-122"/>
              </a:rPr>
              <a:t>    </a:t>
            </a:r>
            <a:r>
              <a:rPr lang="en-US" altLang="zh-CN" sz="2200" b="1" dirty="0">
                <a:solidFill>
                  <a:srgbClr val="339933"/>
                </a:solidFill>
                <a:latin typeface="Gautami" pitchFamily="2"/>
                <a:ea typeface="Dotum" pitchFamily="34" charset="-127"/>
              </a:rPr>
              <a:t>Shanghai University</a:t>
            </a:r>
          </a:p>
        </p:txBody>
      </p:sp>
      <p:pic>
        <p:nvPicPr>
          <p:cNvPr id="1036" name="Picture 14" descr="bg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69850"/>
            <a:ext cx="6000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9pPr>
    </p:titleStyle>
    <p:bodyStyle>
      <a:lvl1pPr marL="92075" indent="-920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A50021"/>
        </a:buClr>
        <a:buSzPct val="75000"/>
        <a:buFont typeface="Webdings" pitchFamily="18" charset="2"/>
        <a:buChar char="·"/>
        <a:defRPr sz="2800" b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57188" indent="-8572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itchFamily="2" charset="2"/>
        <a:buChar char="]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622300" indent="-8572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80"/>
        </a:buClr>
        <a:buSzPct val="75000"/>
        <a:buFont typeface="Wingdings" pitchFamily="2" charset="2"/>
        <a:buChar char="µ"/>
        <a:defRPr sz="22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808038" indent="-6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987425" indent="8413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14446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19018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23590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28162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AutoShape 2"/>
          <p:cNvSpPr>
            <a:spLocks noGrp="1" noChangeArrowheads="1"/>
          </p:cNvSpPr>
          <p:nvPr>
            <p:ph type="ctrTitle"/>
          </p:nvPr>
        </p:nvSpPr>
        <p:spPr>
          <a:xfrm>
            <a:off x="611188" y="2209800"/>
            <a:ext cx="7772400" cy="2133600"/>
          </a:xfrm>
        </p:spPr>
        <p:txBody>
          <a:bodyPr/>
          <a:lstStyle/>
          <a:p>
            <a:pPr marL="685800" indent="-685800" eaLnBrk="1" hangingPunct="1">
              <a:defRPr/>
            </a:pPr>
            <a:r>
              <a:rPr lang="zh-CN" altLang="en-US" sz="4400" dirty="0" smtClean="0">
                <a:solidFill>
                  <a:srgbClr val="010000"/>
                </a:solidFill>
                <a:latin typeface="黑体" pitchFamily="2" charset="-122"/>
              </a:rPr>
              <a:t>第</a:t>
            </a:r>
            <a:r>
              <a:rPr lang="en-US" altLang="zh-CN" sz="4400" dirty="0">
                <a:solidFill>
                  <a:srgbClr val="010000"/>
                </a:solidFill>
                <a:latin typeface="黑体" pitchFamily="2" charset="-122"/>
              </a:rPr>
              <a:t>1</a:t>
            </a:r>
            <a:r>
              <a:rPr lang="zh-CN" altLang="en-US" sz="4400" dirty="0" smtClean="0">
                <a:solidFill>
                  <a:srgbClr val="010000"/>
                </a:solidFill>
                <a:latin typeface="黑体" pitchFamily="2" charset="-122"/>
              </a:rPr>
              <a:t>章 程序设计基础</a:t>
            </a:r>
            <a:endParaRPr lang="zh-CN" altLang="en-US" sz="3200" i="1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3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1.1  </a:t>
            </a:r>
            <a:r>
              <a:rPr lang="zh-CN" altLang="zh-CN" dirty="0">
                <a:solidFill>
                  <a:schemeClr val="tx1"/>
                </a:solidFill>
              </a:rPr>
              <a:t>简单的</a:t>
            </a:r>
            <a:r>
              <a:rPr lang="en-US" altLang="zh-CN" dirty="0" smtClean="0">
                <a:solidFill>
                  <a:schemeClr val="tx1"/>
                </a:solidFill>
              </a:rPr>
              <a:t>C</a:t>
            </a:r>
            <a:r>
              <a:rPr lang="zh-CN" altLang="zh-CN" dirty="0" smtClean="0">
                <a:solidFill>
                  <a:schemeClr val="tx1"/>
                </a:solidFill>
              </a:rPr>
              <a:t>程序</a:t>
            </a:r>
            <a:endParaRPr lang="zh-CN" altLang="zh-CN" dirty="0">
              <a:solidFill>
                <a:schemeClr val="tx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1.2  </a:t>
            </a:r>
            <a:r>
              <a:rPr lang="zh-CN" altLang="zh-CN" dirty="0">
                <a:solidFill>
                  <a:schemeClr val="tx1"/>
                </a:solidFill>
              </a:rPr>
              <a:t>算法</a:t>
            </a: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1.3  </a:t>
            </a:r>
            <a:r>
              <a:rPr lang="zh-CN" altLang="zh-CN" dirty="0">
                <a:solidFill>
                  <a:schemeClr val="tx1"/>
                </a:solidFill>
              </a:rPr>
              <a:t>程序与程序设计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3306338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09AD7B7-31F4-404E-A6EC-AD1B17505555}" type="slidenum">
              <a:rPr lang="en-US" altLang="zh-CN" sz="2600" smtClean="0">
                <a:solidFill>
                  <a:schemeClr val="bg1"/>
                </a:solidFill>
              </a:rPr>
              <a:pPr/>
              <a:t>2</a:t>
            </a:fld>
            <a:endParaRPr lang="en-US" altLang="zh-CN" sz="2600" dirty="0" smtClean="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 </a:t>
            </a:r>
            <a:r>
              <a:rPr lang="zh-CN" altLang="zh-CN" dirty="0" smtClean="0">
                <a:effectLst/>
              </a:rPr>
              <a:t>简单</a:t>
            </a:r>
            <a:r>
              <a:rPr lang="zh-CN" altLang="zh-CN" dirty="0">
                <a:effectLst/>
              </a:rPr>
              <a:t>的</a:t>
            </a:r>
            <a:r>
              <a:rPr lang="en-US" altLang="zh-CN" dirty="0" smtClean="0">
                <a:effectLst/>
              </a:rPr>
              <a:t>C</a:t>
            </a:r>
            <a:r>
              <a:rPr lang="zh-CN" altLang="zh-CN" dirty="0" smtClean="0">
                <a:effectLst/>
              </a:rPr>
              <a:t>程序</a:t>
            </a:r>
            <a:endParaRPr lang="zh-CN" altLang="en-US" dirty="0"/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164" y="1771650"/>
            <a:ext cx="8208838" cy="45370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zh-CN" sz="2400" dirty="0">
                <a:solidFill>
                  <a:schemeClr val="tx1"/>
                </a:solidFill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</a:rPr>
              <a:t>1-1</a:t>
            </a:r>
            <a:r>
              <a:rPr lang="zh-CN" altLang="zh-CN" sz="2400" dirty="0">
                <a:solidFill>
                  <a:schemeClr val="tx1"/>
                </a:solidFill>
              </a:rPr>
              <a:t>】 使用</a:t>
            </a:r>
            <a:r>
              <a:rPr lang="en-US" altLang="zh-CN" sz="2400" dirty="0">
                <a:solidFill>
                  <a:schemeClr val="tx1"/>
                </a:solidFill>
              </a:rPr>
              <a:t>C</a:t>
            </a:r>
            <a:r>
              <a:rPr lang="zh-CN" altLang="zh-CN" sz="2400" dirty="0">
                <a:solidFill>
                  <a:schemeClr val="tx1"/>
                </a:solidFill>
              </a:rPr>
              <a:t>语言编写程序输出“</a:t>
            </a:r>
            <a:r>
              <a:rPr lang="en-US" altLang="zh-CN" sz="2400" dirty="0">
                <a:solidFill>
                  <a:schemeClr val="tx1"/>
                </a:solidFill>
              </a:rPr>
              <a:t>Hello,World</a:t>
            </a:r>
            <a:r>
              <a:rPr lang="zh-CN" altLang="zh-CN" sz="2400" dirty="0">
                <a:solidFill>
                  <a:schemeClr val="tx1"/>
                </a:solidFill>
              </a:rPr>
              <a:t>！”。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#include &lt;</a:t>
            </a:r>
            <a:r>
              <a:rPr lang="en-US" altLang="zh-CN" sz="2400" dirty="0" err="1">
                <a:solidFill>
                  <a:schemeClr val="tx1"/>
                </a:solidFill>
              </a:rPr>
              <a:t>stdio.h</a:t>
            </a:r>
            <a:r>
              <a:rPr lang="en-US" altLang="zh-CN" sz="2400" dirty="0">
                <a:solidFill>
                  <a:schemeClr val="tx1"/>
                </a:solidFill>
              </a:rPr>
              <a:t>&gt;          //</a:t>
            </a:r>
            <a:r>
              <a:rPr lang="zh-CN" altLang="en-US" sz="2400" dirty="0">
                <a:solidFill>
                  <a:schemeClr val="tx1"/>
                </a:solidFill>
              </a:rPr>
              <a:t>编译预处理命令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int main()                      </a:t>
            </a:r>
            <a:r>
              <a:rPr lang="en-US" altLang="zh-CN" sz="2400" dirty="0" smtClean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/*</a:t>
            </a:r>
            <a:r>
              <a:rPr lang="zh-CN" altLang="zh-CN" sz="2400" dirty="0">
                <a:solidFill>
                  <a:schemeClr val="tx1"/>
                </a:solidFill>
              </a:rPr>
              <a:t>主程序部分，</a:t>
            </a:r>
            <a:r>
              <a:rPr lang="en-US" altLang="zh-CN" sz="2400" dirty="0">
                <a:solidFill>
                  <a:schemeClr val="tx1"/>
                </a:solidFill>
              </a:rPr>
              <a:t>main</a:t>
            </a:r>
            <a:r>
              <a:rPr lang="zh-CN" altLang="zh-CN" sz="2400" dirty="0">
                <a:solidFill>
                  <a:schemeClr val="tx1"/>
                </a:solidFill>
              </a:rPr>
              <a:t>为程序入口</a:t>
            </a:r>
            <a:r>
              <a:rPr lang="en-US" altLang="zh-CN" sz="2400" dirty="0">
                <a:solidFill>
                  <a:schemeClr val="tx1"/>
                </a:solidFill>
              </a:rPr>
              <a:t>*/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{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printf("Hello,World!\n</a:t>
            </a:r>
            <a:r>
              <a:rPr lang="en-US" altLang="zh-CN" sz="2400" dirty="0" smtClean="0">
                <a:solidFill>
                  <a:schemeClr val="tx1"/>
                </a:solidFill>
              </a:rPr>
              <a:t>");     </a:t>
            </a:r>
            <a:r>
              <a:rPr lang="en-US" altLang="zh-CN" sz="2400" dirty="0">
                <a:solidFill>
                  <a:schemeClr val="tx1"/>
                </a:solidFill>
              </a:rPr>
              <a:t>//printf()</a:t>
            </a:r>
            <a:r>
              <a:rPr lang="zh-CN" altLang="zh-CN" sz="2400" dirty="0">
                <a:solidFill>
                  <a:schemeClr val="tx1"/>
                </a:solidFill>
              </a:rPr>
              <a:t>为输出函数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    return 0;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}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524820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①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 &lt;stdio.h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②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③花括号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{}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括起来的表示函数体，由语句组成。分号“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”是语句结束符，表示该语句结束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④符号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/*……*/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”和“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”为注释</a:t>
            </a:r>
            <a:r>
              <a:rPr lang="zh-CN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7765313"/>
      </p:ext>
    </p:extLst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>
                <a:effectLst/>
              </a:rPr>
              <a:t>程序</a:t>
            </a:r>
            <a:r>
              <a:rPr lang="zh-CN" altLang="en-US" dirty="0">
                <a:effectLst/>
              </a:rPr>
              <a:t>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 &lt;stdio.h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>
              <a:buNone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return  0;           //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此处为注释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043608" y="3573016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程序体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1753804"/>
      </p:ext>
    </p:extLst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求</a:t>
            </a:r>
            <a:r>
              <a:rPr lang="en-US" altLang="zh-CN" dirty="0" smtClean="0"/>
              <a:t>n</a:t>
            </a:r>
            <a:r>
              <a:rPr lang="zh-CN" altLang="en-US" dirty="0" smtClean="0"/>
              <a:t>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effectLst/>
              </a:rPr>
              <a:t>#</a:t>
            </a:r>
            <a:r>
              <a:rPr lang="en-US" altLang="zh-CN" sz="2400" dirty="0">
                <a:effectLst/>
              </a:rPr>
              <a:t>include &lt;stdio.h&gt;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int main()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 smtClean="0">
                <a:effectLst/>
              </a:rPr>
              <a:t>{    </a:t>
            </a:r>
            <a:r>
              <a:rPr lang="en-US" altLang="zh-CN" sz="2400" dirty="0">
                <a:effectLst/>
              </a:rPr>
              <a:t>int i,n,fa=1;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    </a:t>
            </a:r>
            <a:r>
              <a:rPr lang="en-US" altLang="zh-CN" sz="2400" dirty="0" smtClean="0">
                <a:effectLst/>
              </a:rPr>
              <a:t> </a:t>
            </a:r>
            <a:r>
              <a:rPr lang="en-US" altLang="zh-CN" sz="2400" dirty="0" err="1" smtClean="0">
                <a:effectLst/>
              </a:rPr>
              <a:t>scanf</a:t>
            </a:r>
            <a:r>
              <a:rPr lang="en-US" altLang="zh-CN" sz="2400" dirty="0">
                <a:effectLst/>
              </a:rPr>
              <a:t>("%d",&amp;n);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    </a:t>
            </a:r>
            <a:r>
              <a:rPr lang="en-US" altLang="zh-CN" sz="2400" dirty="0" smtClean="0">
                <a:effectLst/>
              </a:rPr>
              <a:t> for(</a:t>
            </a:r>
            <a:r>
              <a:rPr lang="en-US" altLang="zh-CN" sz="2400" dirty="0" err="1" smtClean="0">
                <a:effectLst/>
              </a:rPr>
              <a:t>i</a:t>
            </a:r>
            <a:r>
              <a:rPr lang="en-US" altLang="zh-CN" sz="2400" dirty="0" smtClean="0">
                <a:effectLst/>
              </a:rPr>
              <a:t>=1;i</a:t>
            </a:r>
            <a:r>
              <a:rPr lang="en-US" altLang="zh-CN" sz="2400" dirty="0">
                <a:effectLst/>
              </a:rPr>
              <a:t>&lt;=</a:t>
            </a:r>
            <a:r>
              <a:rPr lang="en-US" altLang="zh-CN" sz="2400" dirty="0" err="1">
                <a:effectLst/>
              </a:rPr>
              <a:t>n;i</a:t>
            </a:r>
            <a:r>
              <a:rPr lang="en-US" altLang="zh-CN" sz="2400" dirty="0" smtClean="0">
                <a:effectLst/>
              </a:rPr>
              <a:t>++)    </a:t>
            </a:r>
            <a:r>
              <a:rPr lang="en-US" altLang="zh-CN" sz="1800" dirty="0">
                <a:effectLst/>
              </a:rPr>
              <a:t>//for</a:t>
            </a:r>
            <a:r>
              <a:rPr lang="zh-CN" altLang="zh-CN" sz="1800" dirty="0">
                <a:effectLst/>
              </a:rPr>
              <a:t>循环语句，初值为</a:t>
            </a:r>
            <a:r>
              <a:rPr lang="en-US" altLang="zh-CN" sz="1800" dirty="0">
                <a:effectLst/>
              </a:rPr>
              <a:t>1</a:t>
            </a:r>
            <a:r>
              <a:rPr lang="zh-CN" altLang="zh-CN" sz="1800" dirty="0">
                <a:effectLst/>
              </a:rPr>
              <a:t>，终值为</a:t>
            </a:r>
            <a:r>
              <a:rPr lang="en-US" altLang="zh-CN" sz="1800" dirty="0">
                <a:effectLst/>
              </a:rPr>
              <a:t>n</a:t>
            </a:r>
            <a:r>
              <a:rPr lang="zh-CN" altLang="zh-CN" sz="1800" dirty="0">
                <a:effectLst/>
              </a:rPr>
              <a:t>，步长为</a:t>
            </a:r>
            <a:r>
              <a:rPr lang="en-US" altLang="zh-CN" sz="1800" dirty="0">
                <a:effectLst/>
              </a:rPr>
              <a:t>1</a:t>
            </a:r>
            <a:endParaRPr lang="zh-CN" altLang="zh-CN" sz="18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        fa=fa*i;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    </a:t>
            </a:r>
            <a:r>
              <a:rPr lang="en-US" altLang="zh-CN" sz="2400" dirty="0" smtClean="0">
                <a:effectLst/>
              </a:rPr>
              <a:t> </a:t>
            </a:r>
            <a:r>
              <a:rPr lang="en-US" altLang="zh-CN" sz="2400" dirty="0" err="1" smtClean="0">
                <a:effectLst/>
              </a:rPr>
              <a:t>printf</a:t>
            </a:r>
            <a:r>
              <a:rPr lang="en-US" altLang="zh-CN" sz="2400" dirty="0">
                <a:effectLst/>
              </a:rPr>
              <a:t>("%d\n",fa);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    </a:t>
            </a:r>
            <a:r>
              <a:rPr lang="en-US" altLang="zh-CN" sz="2400" dirty="0" smtClean="0">
                <a:effectLst/>
              </a:rPr>
              <a:t> return </a:t>
            </a:r>
            <a:r>
              <a:rPr lang="en-US" altLang="zh-CN" sz="2400" dirty="0">
                <a:effectLst/>
              </a:rPr>
              <a:t>0;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}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3311025"/>
      </p:ext>
    </p:extLst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利用函数</a:t>
            </a:r>
            <a:r>
              <a:rPr lang="zh-CN" altLang="en-US" dirty="0"/>
              <a:t>形式</a:t>
            </a:r>
            <a:r>
              <a:rPr lang="zh-CN" altLang="en-US" dirty="0" smtClean="0"/>
              <a:t>求</a:t>
            </a:r>
            <a:r>
              <a:rPr lang="en-US" altLang="zh-CN" dirty="0" smtClean="0"/>
              <a:t>n!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5832574" cy="345697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effectLst/>
              </a:rPr>
              <a:t>#include &lt;stdio.h&gt;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int factorial(int n</a:t>
            </a:r>
            <a:r>
              <a:rPr lang="en-US" altLang="zh-CN" sz="2000" dirty="0" smtClean="0">
                <a:effectLst/>
              </a:rPr>
              <a:t>)   //</a:t>
            </a:r>
            <a:r>
              <a:rPr lang="zh-CN" altLang="zh-CN" sz="2000" dirty="0">
                <a:effectLst/>
              </a:rPr>
              <a:t>定义求</a:t>
            </a:r>
            <a:r>
              <a:rPr lang="en-US" altLang="zh-CN" sz="2000" dirty="0">
                <a:effectLst/>
              </a:rPr>
              <a:t>n</a:t>
            </a:r>
            <a:r>
              <a:rPr lang="zh-CN" altLang="zh-CN" sz="2000" dirty="0">
                <a:effectLst/>
              </a:rPr>
              <a:t>的阶乘值的函数</a:t>
            </a: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{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    int i,fa=1;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    for(i=1;i&lt;=n;i++)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        fa=fa*i;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    return fa;  //</a:t>
            </a:r>
            <a:r>
              <a:rPr lang="zh-CN" altLang="zh-CN" sz="2000" dirty="0">
                <a:effectLst/>
              </a:rPr>
              <a:t>返回函数值</a:t>
            </a:r>
          </a:p>
          <a:p>
            <a:pPr marL="0" indent="0">
              <a:buNone/>
            </a:pPr>
            <a:r>
              <a:rPr lang="en-US" altLang="zh-CN" sz="2000" dirty="0">
                <a:effectLst/>
              </a:rPr>
              <a:t>}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5292080" y="3219674"/>
            <a:ext cx="3530552" cy="3511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int main()</a:t>
            </a:r>
            <a:endParaRPr lang="zh-CN" altLang="zh-CN" sz="20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{</a:t>
            </a:r>
            <a:endParaRPr lang="zh-CN" altLang="zh-CN" sz="20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    int n,f;</a:t>
            </a:r>
            <a:endParaRPr lang="zh-CN" altLang="zh-CN" sz="20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    scanf("%d",&amp;n);</a:t>
            </a:r>
            <a:endParaRPr lang="zh-CN" altLang="zh-CN" sz="20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    f=factorial(n);  //</a:t>
            </a:r>
            <a:r>
              <a:rPr lang="zh-CN" altLang="zh-CN" sz="2000" b="1" dirty="0">
                <a:latin typeface="+mn-lt"/>
                <a:ea typeface="+mn-ea"/>
              </a:rPr>
              <a:t>调用函数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    printf("%d\n",f);</a:t>
            </a:r>
            <a:endParaRPr lang="zh-CN" altLang="zh-CN" sz="20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    return 0;</a:t>
            </a:r>
            <a:endParaRPr lang="zh-CN" altLang="zh-CN" sz="2000" b="1" dirty="0">
              <a:latin typeface="+mn-lt"/>
              <a:ea typeface="+mn-ea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None/>
            </a:pPr>
            <a:r>
              <a:rPr lang="en-US" altLang="zh-CN" sz="2000" b="1" dirty="0">
                <a:latin typeface="+mn-lt"/>
                <a:ea typeface="+mn-ea"/>
              </a:rPr>
              <a:t>}</a:t>
            </a:r>
            <a:endParaRPr lang="zh-CN" altLang="en-US" sz="2000" b="1" dirty="0">
              <a:latin typeface="+mn-lt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58147" y="2696454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主函数</a:t>
            </a:r>
            <a:endParaRPr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8393780"/>
      </p:ext>
    </p:extLst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2400" dirty="0" smtClean="0">
                <a:effectLst/>
              </a:rPr>
              <a:t>① </a:t>
            </a:r>
            <a:r>
              <a:rPr lang="en-US" altLang="zh-CN" sz="2400" dirty="0" smtClean="0">
                <a:effectLst/>
              </a:rPr>
              <a:t>C</a:t>
            </a:r>
            <a:r>
              <a:rPr lang="zh-CN" altLang="zh-CN" sz="2400" dirty="0" smtClean="0">
                <a:effectLst/>
              </a:rPr>
              <a:t>程序</a:t>
            </a:r>
            <a:r>
              <a:rPr lang="zh-CN" altLang="zh-CN" sz="2400" dirty="0">
                <a:effectLst/>
              </a:rPr>
              <a:t>是由一个或多个函数构成的，并且只能有一个主函数。</a:t>
            </a:r>
          </a:p>
          <a:p>
            <a:r>
              <a:rPr lang="zh-CN" altLang="zh-CN" sz="2400" dirty="0">
                <a:effectLst/>
              </a:rPr>
              <a:t>② 不管有多少个函数，程序执行都是从</a:t>
            </a:r>
            <a:r>
              <a:rPr lang="en-US" altLang="zh-CN" sz="2400" dirty="0">
                <a:effectLst/>
              </a:rPr>
              <a:t>main()</a:t>
            </a:r>
            <a:r>
              <a:rPr lang="zh-CN" altLang="zh-CN" sz="2400" dirty="0">
                <a:effectLst/>
              </a:rPr>
              <a:t>函数开始的。在一个函数内，执行顺序是从上到下的。</a:t>
            </a:r>
          </a:p>
          <a:p>
            <a:r>
              <a:rPr lang="zh-CN" altLang="zh-CN" sz="2400" dirty="0">
                <a:effectLst/>
              </a:rPr>
              <a:t>③ 注释是从“</a:t>
            </a:r>
            <a:r>
              <a:rPr lang="en-US" altLang="zh-CN" sz="2400" dirty="0">
                <a:effectLst/>
              </a:rPr>
              <a:t>//</a:t>
            </a:r>
            <a:r>
              <a:rPr lang="zh-CN" altLang="zh-CN" sz="2400" dirty="0">
                <a:effectLst/>
              </a:rPr>
              <a:t>”开始的，具有增加可读性的作用。</a:t>
            </a:r>
          </a:p>
          <a:p>
            <a:r>
              <a:rPr lang="zh-CN" altLang="zh-CN" sz="2400" dirty="0">
                <a:effectLst/>
              </a:rPr>
              <a:t>④ 程序书写形式自由，一行内可以写多条语句，每条语句以“</a:t>
            </a:r>
            <a:r>
              <a:rPr lang="en-US" altLang="zh-CN" sz="2400" dirty="0">
                <a:effectLst/>
              </a:rPr>
              <a:t>;</a:t>
            </a:r>
            <a:r>
              <a:rPr lang="zh-CN" altLang="zh-CN" sz="2400" dirty="0">
                <a:effectLst/>
              </a:rPr>
              <a:t>”结束。</a:t>
            </a:r>
          </a:p>
          <a:p>
            <a:r>
              <a:rPr lang="zh-CN" altLang="zh-CN" sz="2400" dirty="0">
                <a:effectLst/>
              </a:rPr>
              <a:t>⑤ </a:t>
            </a:r>
            <a:r>
              <a:rPr lang="en-US" altLang="zh-CN" sz="2400" dirty="0">
                <a:effectLst/>
              </a:rPr>
              <a:t>C</a:t>
            </a:r>
            <a:r>
              <a:rPr lang="zh-CN" altLang="zh-CN" sz="2400" dirty="0">
                <a:effectLst/>
              </a:rPr>
              <a:t>语言区分大小写字母。</a:t>
            </a:r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7284519"/>
      </p:ext>
    </p:extLst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1.2  </a:t>
            </a:r>
            <a:r>
              <a:rPr lang="zh-CN" altLang="zh-CN" dirty="0">
                <a:effectLst/>
              </a:rPr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1" y="1700213"/>
            <a:ext cx="7920806" cy="4753123"/>
          </a:xfrm>
        </p:spPr>
        <p:txBody>
          <a:bodyPr/>
          <a:lstStyle/>
          <a:p>
            <a:r>
              <a:rPr lang="zh-CN" altLang="zh-CN" dirty="0">
                <a:effectLst/>
              </a:rPr>
              <a:t>算法就是一组有穷的规则，它规定了解决某个特定问题的一系列运算。通俗地说，为解决问题而采用的方法和步骤就是算法</a:t>
            </a:r>
            <a:r>
              <a:rPr lang="zh-CN" altLang="zh-CN" dirty="0" smtClean="0">
                <a:effectLst/>
              </a:rPr>
              <a:t>。</a:t>
            </a:r>
            <a:endParaRPr lang="en-US" altLang="zh-CN" dirty="0" smtClean="0">
              <a:effectLst/>
            </a:endParaRPr>
          </a:p>
          <a:p>
            <a:r>
              <a:rPr lang="zh-CN" altLang="zh-CN" dirty="0">
                <a:effectLst/>
              </a:rPr>
              <a:t>算法的特性</a:t>
            </a:r>
          </a:p>
          <a:p>
            <a:pPr marL="0" indent="0">
              <a:buNone/>
            </a:pPr>
            <a:r>
              <a:rPr lang="zh-CN" altLang="zh-CN" sz="2400" dirty="0">
                <a:effectLst/>
              </a:rPr>
              <a:t>① 确定性（</a:t>
            </a:r>
            <a:r>
              <a:rPr lang="en-US" altLang="zh-CN" sz="2400" dirty="0">
                <a:effectLst/>
              </a:rPr>
              <a:t>Definiteness</a:t>
            </a:r>
            <a:r>
              <a:rPr lang="zh-CN" altLang="zh-CN" sz="2400" dirty="0" smtClean="0">
                <a:effectLst/>
              </a:rPr>
              <a:t>）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zh-CN" altLang="zh-CN" sz="2400" dirty="0">
                <a:effectLst/>
              </a:rPr>
              <a:t>② 有穷性（</a:t>
            </a:r>
            <a:r>
              <a:rPr lang="en-US" altLang="zh-CN" sz="2400" dirty="0">
                <a:effectLst/>
              </a:rPr>
              <a:t>Finiteness</a:t>
            </a:r>
            <a:r>
              <a:rPr lang="zh-CN" altLang="zh-CN" sz="2400" dirty="0" smtClean="0">
                <a:effectLst/>
              </a:rPr>
              <a:t>）</a:t>
            </a:r>
            <a:endParaRPr lang="en-US" altLang="zh-CN" sz="2400" dirty="0" smtClean="0">
              <a:effectLst/>
            </a:endParaRPr>
          </a:p>
          <a:p>
            <a:pPr marL="0" indent="0">
              <a:buNone/>
            </a:pPr>
            <a:r>
              <a:rPr lang="zh-CN" altLang="zh-CN" sz="2400" dirty="0" smtClean="0">
                <a:effectLst/>
              </a:rPr>
              <a:t>③ </a:t>
            </a:r>
            <a:r>
              <a:rPr lang="zh-CN" altLang="zh-CN" sz="2400" dirty="0">
                <a:effectLst/>
              </a:rPr>
              <a:t>有效性（</a:t>
            </a:r>
            <a:r>
              <a:rPr lang="en-US" altLang="zh-CN" sz="2400" dirty="0">
                <a:effectLst/>
              </a:rPr>
              <a:t>Effectiveness</a:t>
            </a:r>
            <a:r>
              <a:rPr lang="zh-CN" altLang="zh-CN" sz="2400" dirty="0" smtClean="0">
                <a:effectLst/>
              </a:rPr>
              <a:t>）</a:t>
            </a:r>
            <a:endParaRPr lang="en-US" altLang="zh-CN" sz="2400" dirty="0" smtClean="0">
              <a:effectLst/>
            </a:endParaRPr>
          </a:p>
          <a:p>
            <a:pPr marL="0" indent="0">
              <a:buNone/>
            </a:pPr>
            <a:r>
              <a:rPr lang="zh-CN" altLang="zh-CN" sz="2400" dirty="0" smtClean="0">
                <a:effectLst/>
              </a:rPr>
              <a:t>④ </a:t>
            </a:r>
            <a:r>
              <a:rPr lang="zh-CN" altLang="zh-CN" sz="2400" dirty="0">
                <a:effectLst/>
              </a:rPr>
              <a:t>有零个或多个输入（</a:t>
            </a:r>
            <a:r>
              <a:rPr lang="en-US" altLang="zh-CN" sz="2400" dirty="0">
                <a:effectLst/>
              </a:rPr>
              <a:t>Input</a:t>
            </a:r>
            <a:r>
              <a:rPr lang="zh-CN" altLang="zh-CN" sz="2400" dirty="0" smtClean="0">
                <a:effectLst/>
              </a:rPr>
              <a:t>）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zh-CN" altLang="zh-CN" sz="2400" dirty="0">
                <a:effectLst/>
              </a:rPr>
              <a:t>⑤ 有一个或多个输出（</a:t>
            </a:r>
            <a:r>
              <a:rPr lang="en-US" altLang="zh-CN" sz="2400" dirty="0">
                <a:effectLst/>
              </a:rPr>
              <a:t>Output</a:t>
            </a:r>
            <a:r>
              <a:rPr lang="zh-CN" altLang="zh-CN" sz="2400" dirty="0" smtClean="0">
                <a:effectLst/>
              </a:rPr>
              <a:t>）</a:t>
            </a:r>
            <a:endParaRPr lang="zh-CN" altLang="zh-CN" sz="2400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46493813"/>
      </p:ext>
    </p:extLst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算法的分类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根据待解决问题的形式模型和求解要求，算法分为数值和非数值两大类。</a:t>
            </a:r>
          </a:p>
          <a:p>
            <a:r>
              <a:rPr lang="zh-CN" altLang="zh-CN" dirty="0">
                <a:effectLst/>
              </a:rPr>
              <a:t>① 数值运算算法：是以数学方式表示的问题求数值解的方法</a:t>
            </a:r>
            <a:r>
              <a:rPr lang="zh-CN" altLang="zh-CN" dirty="0" smtClean="0">
                <a:effectLst/>
              </a:rPr>
              <a:t>。</a:t>
            </a:r>
            <a:endParaRPr lang="zh-CN" altLang="zh-CN" dirty="0">
              <a:effectLst/>
            </a:endParaRPr>
          </a:p>
          <a:p>
            <a:r>
              <a:rPr lang="zh-CN" altLang="zh-CN" dirty="0">
                <a:effectLst/>
              </a:rPr>
              <a:t>② 非数值运算算法：通常为求非数值解的方法。例如，排序、查找、表格处理、文字处理、人事管理、车辆调度等。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701452"/>
      </p:ext>
    </p:extLst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算法的表示方法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（</a:t>
            </a:r>
            <a:r>
              <a:rPr lang="en-US" altLang="zh-CN" dirty="0">
                <a:effectLst/>
              </a:rPr>
              <a:t>1</a:t>
            </a:r>
            <a:r>
              <a:rPr lang="zh-CN" altLang="zh-CN" dirty="0">
                <a:effectLst/>
              </a:rPr>
              <a:t>）自然语言（</a:t>
            </a:r>
            <a:r>
              <a:rPr lang="en-US" altLang="zh-CN" dirty="0">
                <a:effectLst/>
              </a:rPr>
              <a:t>Natural Language</a:t>
            </a:r>
            <a:r>
              <a:rPr lang="zh-CN" altLang="zh-CN" dirty="0">
                <a:effectLst/>
              </a:rPr>
              <a:t>）</a:t>
            </a:r>
          </a:p>
          <a:p>
            <a:r>
              <a:rPr lang="zh-CN" altLang="zh-CN" dirty="0">
                <a:effectLst/>
              </a:rPr>
              <a:t>（</a:t>
            </a:r>
            <a:r>
              <a:rPr lang="en-US" altLang="zh-CN" dirty="0">
                <a:effectLst/>
              </a:rPr>
              <a:t>2</a:t>
            </a:r>
            <a:r>
              <a:rPr lang="zh-CN" altLang="zh-CN" dirty="0">
                <a:effectLst/>
              </a:rPr>
              <a:t>）流程图（</a:t>
            </a:r>
            <a:r>
              <a:rPr lang="en-US" altLang="zh-CN" dirty="0">
                <a:effectLst/>
              </a:rPr>
              <a:t>Flow Chart</a:t>
            </a:r>
            <a:r>
              <a:rPr lang="zh-CN" altLang="zh-CN" dirty="0">
                <a:effectLst/>
              </a:rPr>
              <a:t>）</a:t>
            </a:r>
          </a:p>
          <a:p>
            <a:r>
              <a:rPr lang="zh-CN" altLang="zh-CN" dirty="0">
                <a:effectLst/>
              </a:rPr>
              <a:t>（</a:t>
            </a:r>
            <a:r>
              <a:rPr lang="en-US" altLang="zh-CN" dirty="0">
                <a:effectLst/>
              </a:rPr>
              <a:t>3</a:t>
            </a:r>
            <a:r>
              <a:rPr lang="zh-CN" altLang="zh-CN" dirty="0">
                <a:effectLst/>
              </a:rPr>
              <a:t>）伪代码（</a:t>
            </a:r>
            <a:r>
              <a:rPr lang="en-US" altLang="zh-CN" dirty="0">
                <a:effectLst/>
              </a:rPr>
              <a:t>Pseudocode</a:t>
            </a:r>
            <a:r>
              <a:rPr lang="zh-CN" altLang="zh-CN" dirty="0">
                <a:effectLst/>
              </a:rPr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197036"/>
      </p:ext>
    </p:extLst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流程图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顺序结构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选择结构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循环结构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1026" name="Picture 2" descr="1t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700808"/>
            <a:ext cx="19335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1t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212" y="2780928"/>
            <a:ext cx="35623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1t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085184"/>
            <a:ext cx="33718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1t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017" y="4653136"/>
            <a:ext cx="320992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339599"/>
      </p:ext>
    </p:extLst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算法设计的基本方法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1</a:t>
            </a:r>
            <a:r>
              <a:rPr lang="zh-CN" altLang="zh-CN" dirty="0">
                <a:effectLst/>
              </a:rPr>
              <a:t>．穷举法（</a:t>
            </a:r>
            <a:r>
              <a:rPr lang="en-US" altLang="zh-CN" dirty="0">
                <a:effectLst/>
              </a:rPr>
              <a:t>Exhaustive Algorithm</a:t>
            </a:r>
            <a:r>
              <a:rPr lang="zh-CN" altLang="zh-CN" dirty="0">
                <a:effectLst/>
              </a:rPr>
              <a:t>）</a:t>
            </a:r>
          </a:p>
          <a:p>
            <a:r>
              <a:rPr lang="en-US" altLang="zh-CN" dirty="0">
                <a:effectLst/>
              </a:rPr>
              <a:t>2</a:t>
            </a:r>
            <a:r>
              <a:rPr lang="zh-CN" altLang="zh-CN" dirty="0">
                <a:effectLst/>
              </a:rPr>
              <a:t>．递推法（</a:t>
            </a:r>
            <a:r>
              <a:rPr lang="en-US" altLang="zh-CN" dirty="0">
                <a:effectLst/>
              </a:rPr>
              <a:t>Recurrence</a:t>
            </a:r>
            <a:r>
              <a:rPr lang="zh-CN" altLang="zh-CN" dirty="0">
                <a:effectLst/>
              </a:rPr>
              <a:t>）</a:t>
            </a:r>
          </a:p>
          <a:p>
            <a:r>
              <a:rPr lang="en-US" altLang="zh-CN" dirty="0">
                <a:effectLst/>
              </a:rPr>
              <a:t>3</a:t>
            </a:r>
            <a:r>
              <a:rPr lang="zh-CN" altLang="zh-CN" dirty="0">
                <a:effectLst/>
              </a:rPr>
              <a:t>．排序（</a:t>
            </a:r>
            <a:r>
              <a:rPr lang="en-US" altLang="zh-CN" dirty="0">
                <a:effectLst/>
              </a:rPr>
              <a:t>Sort</a:t>
            </a:r>
            <a:r>
              <a:rPr lang="zh-CN" altLang="zh-CN" dirty="0">
                <a:effectLst/>
              </a:rPr>
              <a:t>）</a:t>
            </a:r>
          </a:p>
          <a:p>
            <a:r>
              <a:rPr lang="en-US" altLang="zh-CN" dirty="0">
                <a:effectLst/>
              </a:rPr>
              <a:t>4</a:t>
            </a:r>
            <a:r>
              <a:rPr lang="zh-CN" altLang="zh-CN" dirty="0">
                <a:effectLst/>
              </a:rPr>
              <a:t>．查找（</a:t>
            </a:r>
            <a:r>
              <a:rPr lang="en-US" altLang="zh-CN" dirty="0">
                <a:effectLst/>
              </a:rPr>
              <a:t>Search</a:t>
            </a:r>
            <a:r>
              <a:rPr lang="zh-CN" altLang="zh-CN" dirty="0">
                <a:effectLst/>
              </a:rPr>
              <a:t>）</a:t>
            </a:r>
          </a:p>
          <a:p>
            <a:r>
              <a:rPr lang="en-US" altLang="zh-CN" dirty="0">
                <a:effectLst/>
              </a:rPr>
              <a:t>5</a:t>
            </a:r>
            <a:r>
              <a:rPr lang="zh-CN" altLang="zh-CN" dirty="0">
                <a:effectLst/>
              </a:rPr>
              <a:t>．简单数论问题（</a:t>
            </a:r>
            <a:r>
              <a:rPr lang="en-US" altLang="zh-CN" dirty="0">
                <a:effectLst/>
              </a:rPr>
              <a:t>Simple Number Theory</a:t>
            </a:r>
            <a:r>
              <a:rPr lang="zh-CN" altLang="zh-CN" dirty="0">
                <a:effectLst/>
              </a:rPr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6447117"/>
      </p:ext>
    </p:extLst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1.3  </a:t>
            </a:r>
            <a:r>
              <a:rPr lang="zh-CN" altLang="zh-CN" dirty="0">
                <a:effectLst/>
              </a:rPr>
              <a:t>程序与程序设计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</a:t>
            </a:r>
            <a:r>
              <a:rPr lang="en-US" altLang="zh-CN" dirty="0">
                <a:effectLst/>
              </a:rPr>
              <a:t>=</a:t>
            </a:r>
            <a:r>
              <a:rPr lang="zh-CN" altLang="zh-CN" dirty="0">
                <a:effectLst/>
              </a:rPr>
              <a:t>数据结构</a:t>
            </a:r>
            <a:r>
              <a:rPr lang="en-US" altLang="zh-CN" dirty="0">
                <a:effectLst/>
              </a:rPr>
              <a:t>+</a:t>
            </a:r>
            <a:r>
              <a:rPr lang="zh-CN" altLang="zh-CN" dirty="0">
                <a:effectLst/>
              </a:rPr>
              <a:t>算法</a:t>
            </a:r>
            <a:r>
              <a:rPr lang="en-US" altLang="zh-CN" dirty="0">
                <a:effectLst/>
              </a:rPr>
              <a:t>+</a:t>
            </a:r>
            <a:r>
              <a:rPr lang="zh-CN" altLang="zh-CN" dirty="0">
                <a:effectLst/>
              </a:rPr>
              <a:t>程序设计方法</a:t>
            </a:r>
            <a:r>
              <a:rPr lang="en-US" altLang="zh-CN" dirty="0">
                <a:effectLst/>
              </a:rPr>
              <a:t>+</a:t>
            </a:r>
            <a:r>
              <a:rPr lang="zh-CN" altLang="zh-CN" dirty="0">
                <a:effectLst/>
              </a:rPr>
              <a:t>语言工具和环境</a:t>
            </a:r>
          </a:p>
          <a:p>
            <a:r>
              <a:rPr lang="zh-CN" altLang="zh-CN" dirty="0">
                <a:effectLst/>
              </a:rPr>
              <a:t>程序设计是指使用某种计算机语言，按照某种算法，编写程序的活动。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909430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程序与程序设计语言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960239"/>
              </p:ext>
            </p:extLst>
          </p:nvPr>
        </p:nvGraphicFramePr>
        <p:xfrm>
          <a:off x="671513" y="1772815"/>
          <a:ext cx="8364983" cy="4793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6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85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effectLst/>
                        </a:rPr>
                        <a:t> 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机器语言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汇编语言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高级语言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5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定义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二进制代码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反映指令功能的助记符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独立于机器的算法语言（表达式）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5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硬件识别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可识别（唯一）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不可识别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不可识别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686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是否可直接执行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可直接执行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不可，需要汇编、连接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不可，需要编译</a:t>
                      </a:r>
                      <a:r>
                        <a:rPr lang="en-US" sz="1800" kern="1050" dirty="0">
                          <a:effectLst/>
                        </a:rPr>
                        <a:t>/</a:t>
                      </a:r>
                      <a:r>
                        <a:rPr lang="zh-CN" sz="1800" kern="1050" dirty="0">
                          <a:effectLst/>
                        </a:rPr>
                        <a:t>解释、连接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6224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特点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面向机器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占用内存少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执行速度快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使用不方便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面向机器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占用内存少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执行速度快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较为直观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与机器语言一一对应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面向问题</a:t>
                      </a:r>
                      <a:r>
                        <a:rPr lang="en-US" sz="1800" kern="1050" dirty="0">
                          <a:effectLst/>
                        </a:rPr>
                        <a:t>/</a:t>
                      </a:r>
                      <a:r>
                        <a:rPr lang="zh-CN" sz="1800" kern="1050" dirty="0">
                          <a:effectLst/>
                        </a:rPr>
                        <a:t>对象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占用内存大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执行速度相对慢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标准化程度高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便于程序交换</a:t>
                      </a:r>
                    </a:p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使用方便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5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定位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>
                          <a:effectLst/>
                        </a:rPr>
                        <a:t>低级语言，极少使用</a:t>
                      </a:r>
                      <a:endParaRPr lang="zh-CN" sz="1800" kern="105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低级语言，很少使用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effectLst/>
                        </a:rPr>
                        <a:t>高级语言，种类多，常用</a:t>
                      </a:r>
                      <a:endParaRPr lang="zh-CN" sz="1800" kern="105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858091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程序设计语言处理过程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汇编程序（</a:t>
            </a:r>
            <a:r>
              <a:rPr lang="en-US" altLang="zh-CN" dirty="0">
                <a:effectLst/>
              </a:rPr>
              <a:t>Assembler</a:t>
            </a:r>
            <a:r>
              <a:rPr lang="zh-CN" altLang="zh-CN" dirty="0" smtClean="0">
                <a:effectLst/>
              </a:rPr>
              <a:t>）</a:t>
            </a:r>
            <a:endParaRPr lang="en-US" altLang="zh-CN" dirty="0" smtClean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 smtClean="0">
              <a:effectLst/>
            </a:endParaRPr>
          </a:p>
          <a:p>
            <a:r>
              <a:rPr lang="zh-CN" altLang="zh-CN" dirty="0">
                <a:effectLst/>
              </a:rPr>
              <a:t>解释程序（</a:t>
            </a:r>
            <a:r>
              <a:rPr lang="en-US" altLang="zh-CN" dirty="0">
                <a:effectLst/>
              </a:rPr>
              <a:t>Interpreter</a:t>
            </a:r>
            <a:r>
              <a:rPr lang="zh-CN" altLang="zh-CN" dirty="0" smtClean="0">
                <a:effectLst/>
              </a:rPr>
              <a:t>）</a:t>
            </a:r>
            <a:endParaRPr lang="en-US" altLang="zh-CN" dirty="0" smtClean="0">
              <a:effectLst/>
            </a:endParaRPr>
          </a:p>
          <a:p>
            <a:r>
              <a:rPr lang="zh-CN" altLang="zh-CN" dirty="0" smtClean="0">
                <a:effectLst/>
              </a:rPr>
              <a:t>编译程序</a:t>
            </a:r>
            <a:r>
              <a:rPr lang="zh-CN" altLang="zh-CN" dirty="0">
                <a:effectLst/>
              </a:rPr>
              <a:t>（</a:t>
            </a:r>
            <a:r>
              <a:rPr lang="en-US" altLang="zh-CN" dirty="0">
                <a:effectLst/>
              </a:rPr>
              <a:t>Compiler</a:t>
            </a:r>
            <a:r>
              <a:rPr lang="zh-CN" altLang="zh-CN" dirty="0">
                <a:effectLst/>
              </a:rPr>
              <a:t>）</a:t>
            </a:r>
            <a:endParaRPr lang="en-US" altLang="zh-CN" dirty="0" smtClean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4098" name="Picture 2" descr="1t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76872"/>
            <a:ext cx="5544616" cy="105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1t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643" y="3429000"/>
            <a:ext cx="3184773" cy="137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1t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05" y="4888383"/>
            <a:ext cx="6016669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47214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跨平台语言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Java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.NET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5122" name="Picture 2" descr="1t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287" y="1628800"/>
            <a:ext cx="4238843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 descr="1t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789040"/>
            <a:ext cx="3456384" cy="295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9722044"/>
      </p:ext>
    </p:extLst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程序设计步骤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完整的</a:t>
            </a:r>
            <a:r>
              <a:rPr lang="zh-CN" altLang="zh-CN" dirty="0" smtClean="0">
                <a:effectLst/>
              </a:rPr>
              <a:t>程序设计：</a:t>
            </a:r>
            <a:endParaRPr lang="zh-CN" altLang="zh-CN" dirty="0">
              <a:effectLst/>
            </a:endParaRPr>
          </a:p>
          <a:p>
            <a:pPr lvl="1"/>
            <a:r>
              <a:rPr lang="zh-CN" altLang="zh-CN" dirty="0" smtClean="0">
                <a:effectLst/>
              </a:rPr>
              <a:t>数据结构</a:t>
            </a:r>
            <a:r>
              <a:rPr lang="en-US" altLang="zh-CN" dirty="0">
                <a:effectLst/>
              </a:rPr>
              <a:t>+</a:t>
            </a:r>
            <a:r>
              <a:rPr lang="zh-CN" altLang="zh-CN" dirty="0">
                <a:effectLst/>
              </a:rPr>
              <a:t>算法</a:t>
            </a:r>
            <a:r>
              <a:rPr lang="en-US" altLang="zh-CN" dirty="0">
                <a:effectLst/>
              </a:rPr>
              <a:t>+</a:t>
            </a:r>
            <a:r>
              <a:rPr lang="zh-CN" altLang="zh-CN" dirty="0">
                <a:effectLst/>
              </a:rPr>
              <a:t>程序设计方法</a:t>
            </a:r>
            <a:r>
              <a:rPr lang="en-US" altLang="zh-CN" dirty="0">
                <a:effectLst/>
              </a:rPr>
              <a:t>+</a:t>
            </a:r>
            <a:r>
              <a:rPr lang="zh-CN" altLang="zh-CN" dirty="0">
                <a:effectLst/>
              </a:rPr>
              <a:t>语言</a:t>
            </a:r>
            <a:r>
              <a:rPr lang="zh-CN" altLang="zh-CN" dirty="0" smtClean="0">
                <a:effectLst/>
              </a:rPr>
              <a:t>工具</a:t>
            </a:r>
            <a:endParaRPr lang="en-US" altLang="zh-CN" dirty="0" smtClean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zh-CN" dirty="0">
                <a:effectLst/>
              </a:rPr>
              <a:t>程序设计基本</a:t>
            </a:r>
            <a:r>
              <a:rPr lang="zh-CN" altLang="zh-CN" dirty="0" smtClean="0">
                <a:effectLst/>
              </a:rPr>
              <a:t>步骤</a:t>
            </a:r>
            <a:r>
              <a:rPr lang="zh-CN" altLang="en-US" dirty="0">
                <a:effectLst/>
              </a:rPr>
              <a:t>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6146" name="Picture 2" descr="1t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77072"/>
            <a:ext cx="772431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8010221"/>
      </p:ext>
    </p:extLst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程序设计方法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1</a:t>
            </a:r>
            <a:r>
              <a:rPr lang="zh-CN" altLang="zh-CN" dirty="0">
                <a:effectLst/>
              </a:rPr>
              <a:t>．</a:t>
            </a:r>
            <a:r>
              <a:rPr lang="zh-CN" altLang="zh-CN" sz="2400" dirty="0">
                <a:effectLst/>
              </a:rPr>
              <a:t>结构化程序设计（</a:t>
            </a:r>
            <a:r>
              <a:rPr lang="en-US" altLang="zh-CN" sz="2400" dirty="0">
                <a:effectLst/>
              </a:rPr>
              <a:t>Structured Programming</a:t>
            </a:r>
            <a:r>
              <a:rPr lang="zh-CN" altLang="zh-CN" sz="2400" dirty="0">
                <a:effectLst/>
              </a:rPr>
              <a:t>，</a:t>
            </a:r>
            <a:r>
              <a:rPr lang="en-US" altLang="zh-CN" sz="2400" dirty="0">
                <a:effectLst/>
              </a:rPr>
              <a:t>SP</a:t>
            </a:r>
            <a:r>
              <a:rPr lang="zh-CN" altLang="zh-CN" sz="2400" dirty="0">
                <a:effectLst/>
              </a:rPr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pic>
        <p:nvPicPr>
          <p:cNvPr id="7170" name="Picture 2" descr="1t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5" y="2564904"/>
            <a:ext cx="4572053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1860049"/>
      </p:ext>
    </p:extLst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程序设计方法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ffectLst/>
              </a:rPr>
              <a:t>2.</a:t>
            </a:r>
            <a:r>
              <a:rPr lang="zh-CN" altLang="zh-CN" dirty="0" smtClean="0">
                <a:effectLst/>
              </a:rPr>
              <a:t>面向对象程序设计</a:t>
            </a:r>
            <a:r>
              <a:rPr lang="zh-CN" altLang="zh-CN" dirty="0">
                <a:effectLst/>
              </a:rPr>
              <a:t>（</a:t>
            </a:r>
            <a:r>
              <a:rPr lang="en-US" altLang="zh-CN" dirty="0">
                <a:effectLst/>
              </a:rPr>
              <a:t>Object Oriented </a:t>
            </a:r>
            <a:r>
              <a:rPr lang="en-US" altLang="zh-CN" dirty="0" smtClean="0">
                <a:effectLst/>
              </a:rPr>
              <a:t>Programming</a:t>
            </a:r>
            <a:r>
              <a:rPr lang="zh-CN" altLang="zh-CN" dirty="0">
                <a:effectLst/>
              </a:rPr>
              <a:t>，</a:t>
            </a:r>
            <a:r>
              <a:rPr lang="en-US" altLang="zh-CN" dirty="0">
                <a:effectLst/>
              </a:rPr>
              <a:t>OOP</a:t>
            </a:r>
            <a:r>
              <a:rPr lang="zh-CN" altLang="zh-CN" dirty="0" smtClean="0">
                <a:effectLst/>
              </a:rPr>
              <a:t>）</a:t>
            </a:r>
            <a:endParaRPr lang="en-US" altLang="zh-CN" dirty="0" smtClean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pic>
        <p:nvPicPr>
          <p:cNvPr id="8194" name="Picture 2" descr="1t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068959"/>
            <a:ext cx="3312368" cy="249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1730876"/>
      </p:ext>
    </p:extLst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程序设计规范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1</a:t>
            </a:r>
            <a:r>
              <a:rPr lang="zh-CN" altLang="zh-CN" dirty="0">
                <a:effectLst/>
              </a:rPr>
              <a:t>．基本要求</a:t>
            </a:r>
          </a:p>
          <a:p>
            <a:r>
              <a:rPr lang="en-US" altLang="zh-CN" dirty="0">
                <a:effectLst/>
              </a:rPr>
              <a:t>2</a:t>
            </a:r>
            <a:r>
              <a:rPr lang="zh-CN" altLang="zh-CN" dirty="0">
                <a:effectLst/>
              </a:rPr>
              <a:t>．可读性要求</a:t>
            </a:r>
          </a:p>
          <a:p>
            <a:r>
              <a:rPr lang="en-US" altLang="zh-CN" dirty="0">
                <a:effectLst/>
              </a:rPr>
              <a:t>3</a:t>
            </a:r>
            <a:r>
              <a:rPr lang="zh-CN" altLang="zh-CN" dirty="0">
                <a:effectLst/>
              </a:rPr>
              <a:t>．结构化要求</a:t>
            </a:r>
          </a:p>
          <a:p>
            <a:r>
              <a:rPr lang="en-US" altLang="zh-CN" dirty="0">
                <a:effectLst/>
              </a:rPr>
              <a:t>4</a:t>
            </a:r>
            <a:r>
              <a:rPr lang="zh-CN" altLang="zh-CN" dirty="0">
                <a:effectLst/>
              </a:rPr>
              <a:t>．正确性与容错性要求 </a:t>
            </a:r>
            <a:endParaRPr lang="en-US" altLang="zh-CN" dirty="0" smtClean="0">
              <a:effectLst/>
            </a:endParaRPr>
          </a:p>
          <a:p>
            <a:r>
              <a:rPr lang="en-US" altLang="zh-CN" dirty="0">
                <a:effectLst/>
              </a:rPr>
              <a:t>5</a:t>
            </a:r>
            <a:r>
              <a:rPr lang="zh-CN" altLang="zh-CN" dirty="0">
                <a:effectLst/>
              </a:rPr>
              <a:t>．可重用性要求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5875172"/>
      </p:ext>
    </p:extLst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程序设计规范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sz="2000" dirty="0">
                <a:effectLst/>
              </a:rPr>
              <a:t>一个良好的程序设计风格应当注重和考虑下述</a:t>
            </a:r>
            <a:r>
              <a:rPr lang="zh-CN" altLang="zh-CN" sz="2000" dirty="0" smtClean="0">
                <a:effectLst/>
              </a:rPr>
              <a:t>因素</a:t>
            </a:r>
            <a:r>
              <a:rPr lang="zh-CN" altLang="en-US" sz="2000" dirty="0" smtClean="0">
                <a:effectLst/>
              </a:rPr>
              <a:t>：</a:t>
            </a:r>
            <a:endParaRPr lang="zh-CN" altLang="zh-CN" sz="2000" dirty="0">
              <a:effectLst/>
            </a:endParaRPr>
          </a:p>
          <a:p>
            <a:pPr marL="0" indent="0">
              <a:buNone/>
            </a:pPr>
            <a:r>
              <a:rPr lang="zh-CN" altLang="zh-CN" sz="2000" dirty="0">
                <a:effectLst/>
              </a:rPr>
              <a:t>（</a:t>
            </a:r>
            <a:r>
              <a:rPr lang="en-US" altLang="zh-CN" sz="2000" dirty="0">
                <a:effectLst/>
              </a:rPr>
              <a:t>1</a:t>
            </a:r>
            <a:r>
              <a:rPr lang="zh-CN" altLang="zh-CN" sz="2000" dirty="0">
                <a:effectLst/>
              </a:rPr>
              <a:t>）标识符：按意命名，保留字用大写字母，使用统一的缩写规则。</a:t>
            </a:r>
          </a:p>
          <a:p>
            <a:pPr marL="0" indent="0">
              <a:buNone/>
            </a:pPr>
            <a:r>
              <a:rPr lang="zh-CN" altLang="zh-CN" sz="2000" dirty="0">
                <a:effectLst/>
              </a:rPr>
              <a:t>（</a:t>
            </a:r>
            <a:r>
              <a:rPr lang="en-US" altLang="zh-CN" sz="2000" dirty="0">
                <a:effectLst/>
              </a:rPr>
              <a:t>2</a:t>
            </a:r>
            <a:r>
              <a:rPr lang="zh-CN" altLang="zh-CN" sz="2000" dirty="0">
                <a:effectLst/>
              </a:rPr>
              <a:t>）表达式：使用括号，使用库函数，条件化简，函数与过程。</a:t>
            </a:r>
          </a:p>
          <a:p>
            <a:pPr marL="0" indent="0">
              <a:buNone/>
            </a:pPr>
            <a:r>
              <a:rPr lang="zh-CN" altLang="zh-CN" sz="2000" dirty="0">
                <a:effectLst/>
              </a:rPr>
              <a:t>（</a:t>
            </a:r>
            <a:r>
              <a:rPr lang="en-US" altLang="zh-CN" sz="2000" dirty="0">
                <a:effectLst/>
              </a:rPr>
              <a:t>3</a:t>
            </a:r>
            <a:r>
              <a:rPr lang="zh-CN" altLang="zh-CN" sz="2000" dirty="0">
                <a:effectLst/>
              </a:rPr>
              <a:t>）模块化：模块的独立性（高内聚、低耦合），模块的规模适中。</a:t>
            </a:r>
          </a:p>
          <a:p>
            <a:pPr marL="0" indent="0">
              <a:buNone/>
            </a:pPr>
            <a:r>
              <a:rPr lang="zh-CN" altLang="zh-CN" sz="2000" dirty="0">
                <a:effectLst/>
              </a:rPr>
              <a:t>（</a:t>
            </a:r>
            <a:r>
              <a:rPr lang="en-US" altLang="zh-CN" sz="2000" dirty="0">
                <a:effectLst/>
              </a:rPr>
              <a:t>4</a:t>
            </a:r>
            <a:r>
              <a:rPr lang="zh-CN" altLang="zh-CN" sz="2000" dirty="0">
                <a:effectLst/>
              </a:rPr>
              <a:t>）程序行的排列格式：排列格式美观，层次分明，使用统一的缩进格式，同一嵌套深度并列的语句对齐。</a:t>
            </a:r>
          </a:p>
          <a:p>
            <a:pPr marL="0" indent="0">
              <a:buNone/>
            </a:pPr>
            <a:r>
              <a:rPr lang="zh-CN" altLang="zh-CN" sz="2000" dirty="0">
                <a:effectLst/>
              </a:rPr>
              <a:t>（</a:t>
            </a:r>
            <a:r>
              <a:rPr lang="en-US" altLang="zh-CN" sz="2000" dirty="0">
                <a:effectLst/>
              </a:rPr>
              <a:t>5</a:t>
            </a:r>
            <a:r>
              <a:rPr lang="zh-CN" altLang="zh-CN" sz="2000" dirty="0">
                <a:effectLst/>
              </a:rPr>
              <a:t>）注释：添加必要的注释，以说明程序、过程和语句等的功能及注意事项。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984315"/>
      </p:ext>
    </p:extLst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第一周第一次</a:t>
            </a:r>
            <a:r>
              <a:rPr lang="zh-CN" altLang="en-US" dirty="0"/>
              <a:t>作业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55650" y="1700213"/>
            <a:ext cx="8136830" cy="4969147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）仔细阅读第</a:t>
            </a:r>
            <a:r>
              <a:rPr lang="en-US" altLang="zh-CN" dirty="0"/>
              <a:t>1</a:t>
            </a:r>
            <a:r>
              <a:rPr lang="zh-CN" altLang="en-US" dirty="0"/>
              <a:t>章中的内容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）熟悉</a:t>
            </a:r>
            <a:r>
              <a:rPr lang="en-US" altLang="zh-CN" dirty="0" err="1"/>
              <a:t>CodeBlocks</a:t>
            </a:r>
            <a:r>
              <a:rPr lang="zh-CN" altLang="en-US" dirty="0"/>
              <a:t>编程环境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 smtClean="0"/>
              <a:t>）完成网上教学平台上的作业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636351-7D5B-47CE-B54D-C31E7589E5E2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7574603"/>
      </p:ext>
    </p:extLst>
  </p:cSld>
  <p:clrMapOvr>
    <a:masterClrMapping/>
  </p:clrMapOvr>
  <p:transition spd="med">
    <p:random/>
  </p:transition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7123</TotalTime>
  <Words>1030</Words>
  <Application>Microsoft Office PowerPoint</Application>
  <PresentationFormat>全屏显示(4:3)</PresentationFormat>
  <Paragraphs>189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Dotum</vt:lpstr>
      <vt:lpstr>方正姚体</vt:lpstr>
      <vt:lpstr>黑体</vt:lpstr>
      <vt:lpstr>华文楷体</vt:lpstr>
      <vt:lpstr>宋体</vt:lpstr>
      <vt:lpstr>Arial</vt:lpstr>
      <vt:lpstr>Gautami</vt:lpstr>
      <vt:lpstr>Times New Roman</vt:lpstr>
      <vt:lpstr>Webdings</vt:lpstr>
      <vt:lpstr>Wingdings</vt:lpstr>
      <vt:lpstr>Capsules</vt:lpstr>
      <vt:lpstr>第1章 程序设计基础</vt:lpstr>
      <vt:lpstr>主要内容</vt:lpstr>
      <vt:lpstr>1.1 简单的C程序</vt:lpstr>
      <vt:lpstr>程序说明</vt:lpstr>
      <vt:lpstr>程序框架</vt:lpstr>
      <vt:lpstr>求n！</vt:lpstr>
      <vt:lpstr>利用函数形式求n!</vt:lpstr>
      <vt:lpstr>总结</vt:lpstr>
      <vt:lpstr>1.2  算法</vt:lpstr>
      <vt:lpstr>算法的分类</vt:lpstr>
      <vt:lpstr>算法的表示方法</vt:lpstr>
      <vt:lpstr>流程图</vt:lpstr>
      <vt:lpstr>算法设计的基本方法</vt:lpstr>
      <vt:lpstr>1.3  程序与程序设计</vt:lpstr>
      <vt:lpstr>程序与程序设计语言</vt:lpstr>
      <vt:lpstr>程序设计语言处理过程</vt:lpstr>
      <vt:lpstr>跨平台语言</vt:lpstr>
      <vt:lpstr>程序设计步骤</vt:lpstr>
      <vt:lpstr>程序设计方法</vt:lpstr>
      <vt:lpstr>程序设计方法</vt:lpstr>
      <vt:lpstr>程序设计规范</vt:lpstr>
      <vt:lpstr>程序设计规范</vt:lpstr>
      <vt:lpstr>第一周第一次作业：</vt:lpstr>
    </vt:vector>
  </TitlesOfParts>
  <Company>Shanghai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</dc:title>
  <dc:creator>Richard M. Lu</dc:creator>
  <dc:description>2007年第五版</dc:description>
  <cp:lastModifiedBy>SHU</cp:lastModifiedBy>
  <cp:revision>1117</cp:revision>
  <dcterms:created xsi:type="dcterms:W3CDTF">2007-07-11T13:28:25Z</dcterms:created>
  <dcterms:modified xsi:type="dcterms:W3CDTF">2019-11-21T05:49:25Z</dcterms:modified>
</cp:coreProperties>
</file>