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3" r:id="rId1"/>
    <p:sldMasterId id="2147483689" r:id="rId2"/>
  </p:sldMasterIdLst>
  <p:notesMasterIdLst>
    <p:notesMasterId r:id="rId92"/>
  </p:notesMasterIdLst>
  <p:sldIdLst>
    <p:sldId id="599" r:id="rId3"/>
    <p:sldId id="600" r:id="rId4"/>
    <p:sldId id="601" r:id="rId5"/>
    <p:sldId id="689" r:id="rId6"/>
    <p:sldId id="606" r:id="rId7"/>
    <p:sldId id="690" r:id="rId8"/>
    <p:sldId id="693" r:id="rId9"/>
    <p:sldId id="698" r:id="rId10"/>
    <p:sldId id="694" r:id="rId11"/>
    <p:sldId id="697" r:id="rId12"/>
    <p:sldId id="699" r:id="rId13"/>
    <p:sldId id="608" r:id="rId14"/>
    <p:sldId id="609" r:id="rId15"/>
    <p:sldId id="610" r:id="rId16"/>
    <p:sldId id="611" r:id="rId17"/>
    <p:sldId id="612" r:id="rId18"/>
    <p:sldId id="614" r:id="rId19"/>
    <p:sldId id="615" r:id="rId20"/>
    <p:sldId id="616" r:id="rId21"/>
    <p:sldId id="617" r:id="rId22"/>
    <p:sldId id="618" r:id="rId23"/>
    <p:sldId id="619" r:id="rId24"/>
    <p:sldId id="621" r:id="rId25"/>
    <p:sldId id="620" r:id="rId26"/>
    <p:sldId id="622" r:id="rId27"/>
    <p:sldId id="623" r:id="rId28"/>
    <p:sldId id="624" r:id="rId29"/>
    <p:sldId id="625" r:id="rId30"/>
    <p:sldId id="626" r:id="rId31"/>
    <p:sldId id="627" r:id="rId32"/>
    <p:sldId id="629" r:id="rId33"/>
    <p:sldId id="630" r:id="rId34"/>
    <p:sldId id="631" r:id="rId35"/>
    <p:sldId id="695" r:id="rId36"/>
    <p:sldId id="628" r:id="rId37"/>
    <p:sldId id="682" r:id="rId38"/>
    <p:sldId id="633" r:id="rId39"/>
    <p:sldId id="700" r:id="rId40"/>
    <p:sldId id="634" r:id="rId41"/>
    <p:sldId id="636" r:id="rId42"/>
    <p:sldId id="635" r:id="rId43"/>
    <p:sldId id="637" r:id="rId44"/>
    <p:sldId id="638" r:id="rId45"/>
    <p:sldId id="639" r:id="rId46"/>
    <p:sldId id="640" r:id="rId47"/>
    <p:sldId id="641" r:id="rId48"/>
    <p:sldId id="642" r:id="rId49"/>
    <p:sldId id="643" r:id="rId50"/>
    <p:sldId id="680" r:id="rId51"/>
    <p:sldId id="681" r:id="rId52"/>
    <p:sldId id="644" r:id="rId53"/>
    <p:sldId id="645" r:id="rId54"/>
    <p:sldId id="646" r:id="rId55"/>
    <p:sldId id="647" r:id="rId56"/>
    <p:sldId id="648" r:id="rId57"/>
    <p:sldId id="649" r:id="rId58"/>
    <p:sldId id="650" r:id="rId59"/>
    <p:sldId id="651" r:id="rId60"/>
    <p:sldId id="652" r:id="rId61"/>
    <p:sldId id="653" r:id="rId62"/>
    <p:sldId id="654" r:id="rId63"/>
    <p:sldId id="655" r:id="rId64"/>
    <p:sldId id="656" r:id="rId65"/>
    <p:sldId id="657" r:id="rId66"/>
    <p:sldId id="658" r:id="rId67"/>
    <p:sldId id="659" r:id="rId68"/>
    <p:sldId id="660" r:id="rId69"/>
    <p:sldId id="661" r:id="rId70"/>
    <p:sldId id="662" r:id="rId71"/>
    <p:sldId id="663" r:id="rId72"/>
    <p:sldId id="664" r:id="rId73"/>
    <p:sldId id="665" r:id="rId74"/>
    <p:sldId id="666" r:id="rId75"/>
    <p:sldId id="667" r:id="rId76"/>
    <p:sldId id="668" r:id="rId77"/>
    <p:sldId id="669" r:id="rId78"/>
    <p:sldId id="670" r:id="rId79"/>
    <p:sldId id="671" r:id="rId80"/>
    <p:sldId id="687" r:id="rId81"/>
    <p:sldId id="688" r:id="rId82"/>
    <p:sldId id="684" r:id="rId83"/>
    <p:sldId id="685" r:id="rId84"/>
    <p:sldId id="686" r:id="rId85"/>
    <p:sldId id="672" r:id="rId86"/>
    <p:sldId id="683" r:id="rId87"/>
    <p:sldId id="673" r:id="rId88"/>
    <p:sldId id="674" r:id="rId89"/>
    <p:sldId id="675" r:id="rId90"/>
    <p:sldId id="701" r:id="rId91"/>
  </p:sldIdLst>
  <p:sldSz cx="9144000" cy="6858000" type="screen4x3"/>
  <p:notesSz cx="6858000" cy="9144000"/>
  <p:defaultTextStyle>
    <a:defPPr>
      <a:defRPr lang="zh-CN"/>
    </a:defPPr>
    <a:lvl1pPr algn="l" rtl="0" eaLnBrk="0" fontAlgn="base" hangingPunct="0">
      <a:spcBef>
        <a:spcPct val="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Arial" charset="0"/>
        <a:ea typeface="宋体" pitchFamily="2" charset="-122"/>
        <a:cs typeface="+mn-cs"/>
      </a:defRPr>
    </a:lvl6pPr>
    <a:lvl7pPr marL="2743200" algn="l" defTabSz="914400" rtl="0" eaLnBrk="1" latinLnBrk="0" hangingPunct="1">
      <a:defRPr sz="1200" kern="1200">
        <a:solidFill>
          <a:schemeClr val="tx1"/>
        </a:solidFill>
        <a:latin typeface="Arial" charset="0"/>
        <a:ea typeface="宋体" pitchFamily="2" charset="-122"/>
        <a:cs typeface="+mn-cs"/>
      </a:defRPr>
    </a:lvl7pPr>
    <a:lvl8pPr marL="3200400" algn="l" defTabSz="914400" rtl="0" eaLnBrk="1" latinLnBrk="0" hangingPunct="1">
      <a:defRPr sz="1200" kern="1200">
        <a:solidFill>
          <a:schemeClr val="tx1"/>
        </a:solidFill>
        <a:latin typeface="Arial" charset="0"/>
        <a:ea typeface="宋体" pitchFamily="2" charset="-122"/>
        <a:cs typeface="+mn-cs"/>
      </a:defRPr>
    </a:lvl8pPr>
    <a:lvl9pPr marL="3657600" algn="l" defTabSz="914400" rtl="0" eaLnBrk="1" latinLnBrk="0" hangingPunct="1">
      <a:defRPr sz="1200"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3333FF"/>
    <a:srgbClr val="00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86" autoAdjust="0"/>
    <p:restoredTop sz="93400" autoAdjust="0"/>
  </p:normalViewPr>
  <p:slideViewPr>
    <p:cSldViewPr>
      <p:cViewPr varScale="1">
        <p:scale>
          <a:sx n="81" d="100"/>
          <a:sy n="81" d="100"/>
        </p:scale>
        <p:origin x="173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66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38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zh-CN" dirty="0"/>
          </a:p>
        </p:txBody>
      </p:sp>
      <p:sp>
        <p:nvSpPr>
          <p:cNvPr id="33382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a:lvl1pPr>
          </a:lstStyle>
          <a:p>
            <a:pPr>
              <a:defRPr/>
            </a:pPr>
            <a:endParaRPr lang="en-US" altLang="zh-CN" dirty="0"/>
          </a:p>
        </p:txBody>
      </p:sp>
      <p:sp>
        <p:nvSpPr>
          <p:cNvPr id="102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382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3383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a:lvl1pPr>
          </a:lstStyle>
          <a:p>
            <a:pPr>
              <a:defRPr/>
            </a:pPr>
            <a:endParaRPr lang="en-US" altLang="zh-CN" dirty="0"/>
          </a:p>
        </p:txBody>
      </p:sp>
      <p:sp>
        <p:nvSpPr>
          <p:cNvPr id="33383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06A1E78A-2B14-4A82-8C68-BF0F1494DE67}" type="slidenum">
              <a:rPr lang="en-US" altLang="zh-CN"/>
              <a:pPr>
                <a:defRPr/>
              </a:pPr>
              <a:t>‹#›</a:t>
            </a:fld>
            <a:endParaRPr lang="en-US" altLang="zh-CN" dirty="0"/>
          </a:p>
        </p:txBody>
      </p:sp>
    </p:spTree>
    <p:extLst>
      <p:ext uri="{BB962C8B-B14F-4D97-AF65-F5344CB8AC3E}">
        <p14:creationId xmlns:p14="http://schemas.microsoft.com/office/powerpoint/2010/main" val="36345782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A1E78A-2B14-4A82-8C68-BF0F1494DE67}" type="slidenum">
              <a:rPr lang="en-US" altLang="zh-CN" smtClean="0"/>
              <a:pPr>
                <a:defRPr/>
              </a:pPr>
              <a:t>87</a:t>
            </a:fld>
            <a:endParaRPr lang="en-US" altLang="zh-CN" dirty="0"/>
          </a:p>
        </p:txBody>
      </p:sp>
    </p:spTree>
    <p:extLst>
      <p:ext uri="{BB962C8B-B14F-4D97-AF65-F5344CB8AC3E}">
        <p14:creationId xmlns:p14="http://schemas.microsoft.com/office/powerpoint/2010/main" val="28550328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supp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339" name="Rectangle 3"/>
          <p:cNvSpPr>
            <a:spLocks noGrp="1" noChangeArrowheads="1"/>
          </p:cNvSpPr>
          <p:nvPr>
            <p:ph type="subTitle" idx="1"/>
          </p:nvPr>
        </p:nvSpPr>
        <p:spPr>
          <a:xfrm>
            <a:off x="1116013" y="3406775"/>
            <a:ext cx="7397750" cy="1822450"/>
          </a:xfrm>
        </p:spPr>
        <p:txBody>
          <a:bodyPr lIns="91440" tIns="45720" rIns="91440" bIns="45720" anchor="b"/>
          <a:lstStyle>
            <a:lvl1pPr marL="0" indent="0" algn="ctr">
              <a:buFont typeface="Webdings" pitchFamily="18" charset="2"/>
              <a:buNone/>
              <a:defRPr/>
            </a:lvl1pPr>
          </a:lstStyle>
          <a:p>
            <a:pPr lvl="0"/>
            <a:r>
              <a:rPr lang="zh-CN" altLang="en-US" noProof="0" smtClean="0"/>
              <a:t>单击此处编辑母版副标题样式</a:t>
            </a:r>
          </a:p>
        </p:txBody>
      </p:sp>
      <p:sp>
        <p:nvSpPr>
          <p:cNvPr id="398340" name="AutoShape 4"/>
          <p:cNvSpPr>
            <a:spLocks noGrp="1" noChangeArrowheads="1"/>
          </p:cNvSpPr>
          <p:nvPr>
            <p:ph type="ctrTitle" sz="quarter"/>
          </p:nvPr>
        </p:nvSpPr>
        <p:spPr>
          <a:xfrm>
            <a:off x="685800" y="1163638"/>
            <a:ext cx="8229600" cy="1905000"/>
          </a:xfrm>
          <a:prstGeom prst="roundRect">
            <a:avLst>
              <a:gd name="adj" fmla="val 50000"/>
            </a:avLst>
          </a:prstGeom>
        </p:spPr>
        <p:txBody>
          <a:bodyPr anchor="ctr"/>
          <a:lstStyle>
            <a:lvl1pPr algn="ct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39130763"/>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1B21A633-576F-46D6-9FAA-ECFADAC6F967}" type="slidenum">
              <a:rPr lang="en-US" altLang="zh-CN"/>
              <a:pPr>
                <a:defRPr/>
              </a:pPr>
              <a:t>‹#›</a:t>
            </a:fld>
            <a:endParaRPr lang="en-US" altLang="zh-CN" dirty="0"/>
          </a:p>
        </p:txBody>
      </p:sp>
    </p:spTree>
    <p:extLst>
      <p:ext uri="{BB962C8B-B14F-4D97-AF65-F5344CB8AC3E}">
        <p14:creationId xmlns:p14="http://schemas.microsoft.com/office/powerpoint/2010/main" val="756121400"/>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19DEFFE2-EFC8-4A69-95FE-4D1D8AB31B48}" type="slidenum">
              <a:rPr lang="en-US" altLang="zh-CN"/>
              <a:pPr>
                <a:defRPr/>
              </a:pPr>
              <a:t>‹#›</a:t>
            </a:fld>
            <a:endParaRPr lang="en-US" altLang="zh-CN" dirty="0"/>
          </a:p>
        </p:txBody>
      </p:sp>
    </p:spTree>
    <p:extLst>
      <p:ext uri="{BB962C8B-B14F-4D97-AF65-F5344CB8AC3E}">
        <p14:creationId xmlns:p14="http://schemas.microsoft.com/office/powerpoint/2010/main" val="4154063064"/>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55650" y="1700213"/>
            <a:ext cx="3919538" cy="4537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27588" y="1700213"/>
            <a:ext cx="3921125" cy="4537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10"/>
          <p:cNvSpPr>
            <a:spLocks noGrp="1" noChangeArrowheads="1"/>
          </p:cNvSpPr>
          <p:nvPr>
            <p:ph type="sldNum" sz="quarter" idx="11"/>
          </p:nvPr>
        </p:nvSpPr>
        <p:spPr>
          <a:ln/>
        </p:spPr>
        <p:txBody>
          <a:bodyPr/>
          <a:lstStyle>
            <a:lvl1pPr>
              <a:defRPr/>
            </a:lvl1pPr>
          </a:lstStyle>
          <a:p>
            <a:pPr>
              <a:defRPr/>
            </a:pPr>
            <a:fld id="{883631AF-0BB6-41EF-8F20-F2D0D077CE60}" type="slidenum">
              <a:rPr lang="en-US" altLang="zh-CN"/>
              <a:pPr>
                <a:defRPr/>
              </a:pPr>
              <a:t>‹#›</a:t>
            </a:fld>
            <a:endParaRPr lang="en-US" altLang="zh-CN" dirty="0"/>
          </a:p>
        </p:txBody>
      </p:sp>
    </p:spTree>
    <p:extLst>
      <p:ext uri="{BB962C8B-B14F-4D97-AF65-F5344CB8AC3E}">
        <p14:creationId xmlns:p14="http://schemas.microsoft.com/office/powerpoint/2010/main" val="2331915044"/>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8" name="Rectangle 10"/>
          <p:cNvSpPr>
            <a:spLocks noGrp="1" noChangeArrowheads="1"/>
          </p:cNvSpPr>
          <p:nvPr>
            <p:ph type="sldNum" sz="quarter" idx="11"/>
          </p:nvPr>
        </p:nvSpPr>
        <p:spPr>
          <a:ln/>
        </p:spPr>
        <p:txBody>
          <a:bodyPr/>
          <a:lstStyle>
            <a:lvl1pPr>
              <a:defRPr/>
            </a:lvl1pPr>
          </a:lstStyle>
          <a:p>
            <a:pPr>
              <a:defRPr/>
            </a:pPr>
            <a:fld id="{F514BCB1-FD36-4419-B043-9BB339528B50}" type="slidenum">
              <a:rPr lang="en-US" altLang="zh-CN"/>
              <a:pPr>
                <a:defRPr/>
              </a:pPr>
              <a:t>‹#›</a:t>
            </a:fld>
            <a:endParaRPr lang="en-US" altLang="zh-CN" dirty="0"/>
          </a:p>
        </p:txBody>
      </p:sp>
    </p:spTree>
    <p:extLst>
      <p:ext uri="{BB962C8B-B14F-4D97-AF65-F5344CB8AC3E}">
        <p14:creationId xmlns:p14="http://schemas.microsoft.com/office/powerpoint/2010/main" val="1016661222"/>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4" name="Rectangle 10"/>
          <p:cNvSpPr>
            <a:spLocks noGrp="1" noChangeArrowheads="1"/>
          </p:cNvSpPr>
          <p:nvPr>
            <p:ph type="sldNum" sz="quarter" idx="11"/>
          </p:nvPr>
        </p:nvSpPr>
        <p:spPr>
          <a:ln/>
        </p:spPr>
        <p:txBody>
          <a:bodyPr/>
          <a:lstStyle>
            <a:lvl1pPr>
              <a:defRPr/>
            </a:lvl1pPr>
          </a:lstStyle>
          <a:p>
            <a:pPr>
              <a:defRPr/>
            </a:pPr>
            <a:fld id="{FE44BEA9-DAA6-436C-834D-87E17424C89D}" type="slidenum">
              <a:rPr lang="en-US" altLang="zh-CN"/>
              <a:pPr>
                <a:defRPr/>
              </a:pPr>
              <a:t>‹#›</a:t>
            </a:fld>
            <a:endParaRPr lang="en-US" altLang="zh-CN" dirty="0"/>
          </a:p>
        </p:txBody>
      </p:sp>
    </p:spTree>
    <p:extLst>
      <p:ext uri="{BB962C8B-B14F-4D97-AF65-F5344CB8AC3E}">
        <p14:creationId xmlns:p14="http://schemas.microsoft.com/office/powerpoint/2010/main" val="2391559811"/>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3" name="Rectangle 10"/>
          <p:cNvSpPr>
            <a:spLocks noGrp="1" noChangeArrowheads="1"/>
          </p:cNvSpPr>
          <p:nvPr>
            <p:ph type="sldNum" sz="quarter" idx="11"/>
          </p:nvPr>
        </p:nvSpPr>
        <p:spPr>
          <a:ln/>
        </p:spPr>
        <p:txBody>
          <a:bodyPr/>
          <a:lstStyle>
            <a:lvl1pPr>
              <a:defRPr/>
            </a:lvl1pPr>
          </a:lstStyle>
          <a:p>
            <a:pPr>
              <a:defRPr/>
            </a:pPr>
            <a:fld id="{56636351-7D5B-47CE-B54D-C31E7589E5E2}" type="slidenum">
              <a:rPr lang="en-US" altLang="zh-CN"/>
              <a:pPr>
                <a:defRPr/>
              </a:pPr>
              <a:t>‹#›</a:t>
            </a:fld>
            <a:endParaRPr lang="en-US" altLang="zh-CN" dirty="0"/>
          </a:p>
        </p:txBody>
      </p:sp>
    </p:spTree>
    <p:extLst>
      <p:ext uri="{BB962C8B-B14F-4D97-AF65-F5344CB8AC3E}">
        <p14:creationId xmlns:p14="http://schemas.microsoft.com/office/powerpoint/2010/main" val="2458528544"/>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10"/>
          <p:cNvSpPr>
            <a:spLocks noGrp="1" noChangeArrowheads="1"/>
          </p:cNvSpPr>
          <p:nvPr>
            <p:ph type="sldNum" sz="quarter" idx="11"/>
          </p:nvPr>
        </p:nvSpPr>
        <p:spPr>
          <a:ln/>
        </p:spPr>
        <p:txBody>
          <a:bodyPr/>
          <a:lstStyle>
            <a:lvl1pPr>
              <a:defRPr/>
            </a:lvl1pPr>
          </a:lstStyle>
          <a:p>
            <a:pPr>
              <a:defRPr/>
            </a:pPr>
            <a:fld id="{18F0A702-BEA2-4348-8357-24E594FB1A51}" type="slidenum">
              <a:rPr lang="en-US" altLang="zh-CN"/>
              <a:pPr>
                <a:defRPr/>
              </a:pPr>
              <a:t>‹#›</a:t>
            </a:fld>
            <a:endParaRPr lang="en-US" altLang="zh-CN" dirty="0"/>
          </a:p>
        </p:txBody>
      </p:sp>
    </p:spTree>
    <p:extLst>
      <p:ext uri="{BB962C8B-B14F-4D97-AF65-F5344CB8AC3E}">
        <p14:creationId xmlns:p14="http://schemas.microsoft.com/office/powerpoint/2010/main" val="2670582535"/>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10"/>
          <p:cNvSpPr>
            <a:spLocks noGrp="1" noChangeArrowheads="1"/>
          </p:cNvSpPr>
          <p:nvPr>
            <p:ph type="sldNum" sz="quarter" idx="11"/>
          </p:nvPr>
        </p:nvSpPr>
        <p:spPr>
          <a:ln/>
        </p:spPr>
        <p:txBody>
          <a:bodyPr/>
          <a:lstStyle>
            <a:lvl1pPr>
              <a:defRPr/>
            </a:lvl1pPr>
          </a:lstStyle>
          <a:p>
            <a:pPr>
              <a:defRPr/>
            </a:pPr>
            <a:fld id="{24E11A0E-3169-4162-AF4A-D1DE4B8167BF}" type="slidenum">
              <a:rPr lang="en-US" altLang="zh-CN"/>
              <a:pPr>
                <a:defRPr/>
              </a:pPr>
              <a:t>‹#›</a:t>
            </a:fld>
            <a:endParaRPr lang="en-US" altLang="zh-CN" dirty="0"/>
          </a:p>
        </p:txBody>
      </p:sp>
    </p:spTree>
    <p:extLst>
      <p:ext uri="{BB962C8B-B14F-4D97-AF65-F5344CB8AC3E}">
        <p14:creationId xmlns:p14="http://schemas.microsoft.com/office/powerpoint/2010/main" val="2004798136"/>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D6749E25-5995-484F-9A62-6B7229AD865A}" type="slidenum">
              <a:rPr lang="en-US" altLang="zh-CN"/>
              <a:pPr>
                <a:defRPr/>
              </a:pPr>
              <a:t>‹#›</a:t>
            </a:fld>
            <a:endParaRPr lang="en-US" altLang="zh-CN" dirty="0"/>
          </a:p>
        </p:txBody>
      </p:sp>
    </p:spTree>
    <p:extLst>
      <p:ext uri="{BB962C8B-B14F-4D97-AF65-F5344CB8AC3E}">
        <p14:creationId xmlns:p14="http://schemas.microsoft.com/office/powerpoint/2010/main" val="3843899233"/>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51638" y="765175"/>
            <a:ext cx="1997075" cy="5472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55650" y="765175"/>
            <a:ext cx="5843588" cy="5472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10"/>
          <p:cNvSpPr>
            <a:spLocks noGrp="1" noChangeArrowheads="1"/>
          </p:cNvSpPr>
          <p:nvPr>
            <p:ph type="sldNum" sz="quarter" idx="11"/>
          </p:nvPr>
        </p:nvSpPr>
        <p:spPr>
          <a:ln/>
        </p:spPr>
        <p:txBody>
          <a:bodyPr/>
          <a:lstStyle>
            <a:lvl1pPr>
              <a:defRPr/>
            </a:lvl1pPr>
          </a:lstStyle>
          <a:p>
            <a:pPr>
              <a:defRPr/>
            </a:pPr>
            <a:fld id="{A72F90D5-A31F-4C2A-BB7D-2C6A931A09EA}" type="slidenum">
              <a:rPr lang="en-US" altLang="zh-CN"/>
              <a:pPr>
                <a:defRPr/>
              </a:pPr>
              <a:t>‹#›</a:t>
            </a:fld>
            <a:endParaRPr lang="en-US" altLang="zh-CN" dirty="0"/>
          </a:p>
        </p:txBody>
      </p:sp>
    </p:spTree>
    <p:extLst>
      <p:ext uri="{BB962C8B-B14F-4D97-AF65-F5344CB8AC3E}">
        <p14:creationId xmlns:p14="http://schemas.microsoft.com/office/powerpoint/2010/main" val="3343869685"/>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9"/>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dirty="0">
              <a:ln>
                <a:noFill/>
              </a:ln>
              <a:solidFill>
                <a:srgbClr val="FF0000"/>
              </a:solidFill>
              <a:effectLst/>
              <a:uLnTx/>
              <a:uFillTx/>
              <a:latin typeface="Arial" charset="0"/>
              <a:ea typeface="黑体"/>
              <a:cs typeface="+mn-cs"/>
            </a:endParaRPr>
          </a:p>
        </p:txBody>
      </p:sp>
      <p:sp>
        <p:nvSpPr>
          <p:cNvPr id="5" name="Rectangle 10"/>
          <p:cNvSpPr>
            <a:spLocks noGrp="1" noChangeArrowheads="1"/>
          </p:cNvSpPr>
          <p:nvPr>
            <p:ph type="sldNum" sz="quarter" idx="11"/>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B21A633-576F-46D6-9FAA-ECFADAC6F967}" type="slidenum">
              <a:rPr kumimoji="0" lang="en-US" altLang="zh-CN" sz="2600" b="1" i="0" u="none" strike="noStrike" kern="1200" cap="none" spc="0" normalizeH="0" baseline="0" noProof="0">
                <a:ln>
                  <a:noFill/>
                </a:ln>
                <a:solidFill>
                  <a:srgbClr val="FFFFFF"/>
                </a:solidFill>
                <a:effectLst/>
                <a:uLnTx/>
                <a:uFillTx/>
                <a:latin typeface="Arial" charset="0"/>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600" b="1" i="0" u="none" strike="noStrike" kern="1200" cap="none" spc="0" normalizeH="0" baseline="0" noProof="0" dirty="0">
              <a:ln>
                <a:noFill/>
              </a:ln>
              <a:solidFill>
                <a:srgbClr val="FFFFFF"/>
              </a:solidFill>
              <a:effectLst/>
              <a:uLnTx/>
              <a:uFillTx/>
              <a:latin typeface="Arial" charset="0"/>
              <a:ea typeface="宋体" pitchFamily="2" charset="-122"/>
              <a:cs typeface="+mn-cs"/>
            </a:endParaRPr>
          </a:p>
        </p:txBody>
      </p:sp>
      <p:grpSp>
        <p:nvGrpSpPr>
          <p:cNvPr id="6" name="Group 4"/>
          <p:cNvGrpSpPr>
            <a:grpSpLocks/>
          </p:cNvGrpSpPr>
          <p:nvPr userDrawn="1"/>
        </p:nvGrpSpPr>
        <p:grpSpPr bwMode="auto">
          <a:xfrm>
            <a:off x="250825" y="1557338"/>
            <a:ext cx="7391400" cy="93662"/>
            <a:chOff x="144" y="1248"/>
            <a:chExt cx="4656" cy="201"/>
          </a:xfrm>
        </p:grpSpPr>
        <p:sp>
          <p:nvSpPr>
            <p:cNvPr id="7" name="AutoShape 5"/>
            <p:cNvSpPr>
              <a:spLocks noChangeArrowheads="1"/>
            </p:cNvSpPr>
            <p:nvPr userDrawn="1"/>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003366"/>
                </a:solidFill>
                <a:effectLst/>
                <a:uLnTx/>
                <a:uFillTx/>
                <a:latin typeface="Arial" charset="0"/>
                <a:ea typeface="宋体" pitchFamily="2" charset="-122"/>
                <a:cs typeface="+mn-cs"/>
              </a:endParaRPr>
            </a:p>
          </p:txBody>
        </p:sp>
        <p:sp>
          <p:nvSpPr>
            <p:cNvPr id="8" name="AutoShape 6"/>
            <p:cNvSpPr>
              <a:spLocks noChangeArrowheads="1"/>
            </p:cNvSpPr>
            <p:nvPr userDrawn="1"/>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003366"/>
                </a:solidFill>
                <a:effectLst/>
                <a:uLnTx/>
                <a:uFillTx/>
                <a:latin typeface="Arial" charset="0"/>
                <a:ea typeface="宋体" pitchFamily="2" charset="-122"/>
                <a:cs typeface="+mn-cs"/>
              </a:endParaRPr>
            </a:p>
          </p:txBody>
        </p:sp>
      </p:grpSp>
    </p:spTree>
    <p:extLst>
      <p:ext uri="{BB962C8B-B14F-4D97-AF65-F5344CB8AC3E}">
        <p14:creationId xmlns:p14="http://schemas.microsoft.com/office/powerpoint/2010/main" val="1767887368"/>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9525" y="1588"/>
            <a:ext cx="762000" cy="6858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Freeform 3"/>
          <p:cNvSpPr>
            <a:spLocks/>
          </p:cNvSpPr>
          <p:nvPr/>
        </p:nvSpPr>
        <p:spPr bwMode="auto">
          <a:xfrm>
            <a:off x="468313" y="0"/>
            <a:ext cx="2743200" cy="1052513"/>
          </a:xfrm>
          <a:custGeom>
            <a:avLst/>
            <a:gdLst>
              <a:gd name="T0" fmla="*/ 2147483647 w 1728"/>
              <a:gd name="T1" fmla="*/ 0 h 735"/>
              <a:gd name="T2" fmla="*/ 2147483647 w 1728"/>
              <a:gd name="T3" fmla="*/ 984285814 h 735"/>
              <a:gd name="T4" fmla="*/ 957659375 w 1728"/>
              <a:gd name="T5" fmla="*/ 988387034 h 735"/>
              <a:gd name="T6" fmla="*/ 892135313 w 1728"/>
              <a:gd name="T7" fmla="*/ 984285814 h 735"/>
              <a:gd name="T8" fmla="*/ 776208125 w 1728"/>
              <a:gd name="T9" fmla="*/ 1002741307 h 735"/>
              <a:gd name="T10" fmla="*/ 619958438 w 1728"/>
              <a:gd name="T11" fmla="*/ 1088866942 h 735"/>
              <a:gd name="T12" fmla="*/ 519152188 w 1728"/>
              <a:gd name="T13" fmla="*/ 1224205794 h 735"/>
              <a:gd name="T14" fmla="*/ 483870000 w 1728"/>
              <a:gd name="T15" fmla="*/ 1365697909 h 735"/>
              <a:gd name="T16" fmla="*/ 483870000 w 1728"/>
              <a:gd name="T17" fmla="*/ 1507188592 h 735"/>
              <a:gd name="T18" fmla="*/ 0 w 1728"/>
              <a:gd name="T19" fmla="*/ 1507188592 h 735"/>
              <a:gd name="T20" fmla="*/ 0 w 1728"/>
              <a:gd name="T21" fmla="*/ 984285814 h 735"/>
              <a:gd name="T22" fmla="*/ 0 w 1728"/>
              <a:gd name="T23" fmla="*/ 0 h 735"/>
              <a:gd name="T24" fmla="*/ 2147483647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gradFill rotWithShape="1">
            <a:gsLst>
              <a:gs pos="0">
                <a:schemeClr val="accent2"/>
              </a:gs>
              <a:gs pos="100000">
                <a:srgbClr val="C7E8C4"/>
              </a:gs>
            </a:gsLst>
            <a:lin ang="0" scaled="1"/>
          </a:gra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028" name="Group 4"/>
          <p:cNvGrpSpPr>
            <a:grpSpLocks/>
          </p:cNvGrpSpPr>
          <p:nvPr/>
        </p:nvGrpSpPr>
        <p:grpSpPr bwMode="auto">
          <a:xfrm>
            <a:off x="250825" y="1557338"/>
            <a:ext cx="7391400" cy="93662"/>
            <a:chOff x="144" y="1248"/>
            <a:chExt cx="4656" cy="201"/>
          </a:xfrm>
        </p:grpSpPr>
        <p:sp>
          <p:nvSpPr>
            <p:cNvPr id="1037" name="AutoShape 5"/>
            <p:cNvSpPr>
              <a:spLocks noChangeArrowheads="1"/>
            </p:cNvSpPr>
            <p:nvPr userDrawn="1"/>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AutoShape 6"/>
            <p:cNvSpPr>
              <a:spLocks noChangeArrowheads="1"/>
            </p:cNvSpPr>
            <p:nvPr userDrawn="1"/>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19" name="AutoShape 7"/>
          <p:cNvSpPr>
            <a:spLocks noGrp="1" noChangeArrowheads="1"/>
          </p:cNvSpPr>
          <p:nvPr>
            <p:ph type="title"/>
          </p:nvPr>
        </p:nvSpPr>
        <p:spPr bwMode="auto">
          <a:xfrm>
            <a:off x="755650" y="765175"/>
            <a:ext cx="7924800" cy="784225"/>
          </a:xfrm>
          <a:prstGeom prst="roundRect">
            <a:avLst>
              <a:gd name="adj" fmla="val 2975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97320" name="Rectangle 8"/>
          <p:cNvSpPr>
            <a:spLocks noGrp="1" noChangeArrowheads="1"/>
          </p:cNvSpPr>
          <p:nvPr>
            <p:ph type="body" idx="1"/>
          </p:nvPr>
        </p:nvSpPr>
        <p:spPr bwMode="auto">
          <a:xfrm>
            <a:off x="755650" y="1700213"/>
            <a:ext cx="7993063"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97321" name="Rectangle 9"/>
          <p:cNvSpPr>
            <a:spLocks noGrp="1" noChangeArrowheads="1"/>
          </p:cNvSpPr>
          <p:nvPr>
            <p:ph type="ftr" sz="quarter" idx="3"/>
          </p:nvPr>
        </p:nvSpPr>
        <p:spPr bwMode="auto">
          <a:xfrm>
            <a:off x="4500563" y="6524625"/>
            <a:ext cx="4576762"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solidFill>
                  <a:srgbClr val="FF0000"/>
                </a:solidFill>
                <a:ea typeface="+mn-ea"/>
              </a:defRPr>
            </a:lvl1pPr>
          </a:lstStyle>
          <a:p>
            <a:pPr>
              <a:defRPr/>
            </a:pPr>
            <a:endParaRPr lang="en-US" altLang="zh-CN" dirty="0"/>
          </a:p>
        </p:txBody>
      </p:sp>
      <p:sp>
        <p:nvSpPr>
          <p:cNvPr id="397322" name="Rectangle 10"/>
          <p:cNvSpPr>
            <a:spLocks noGrp="1" noChangeArrowheads="1"/>
          </p:cNvSpPr>
          <p:nvPr>
            <p:ph type="sldNum" sz="quarter" idx="4"/>
          </p:nvPr>
        </p:nvSpPr>
        <p:spPr bwMode="auto">
          <a:xfrm>
            <a:off x="84138" y="6308725"/>
            <a:ext cx="58737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a:defRPr/>
            </a:pPr>
            <a:fld id="{6517A816-AE02-46E7-BAEE-4C81B905E149}" type="slidenum">
              <a:rPr lang="en-US" altLang="zh-CN"/>
              <a:pPr>
                <a:defRPr/>
              </a:pPr>
              <a:t>‹#›</a:t>
            </a:fld>
            <a:endParaRPr lang="en-US" altLang="zh-CN" dirty="0"/>
          </a:p>
        </p:txBody>
      </p:sp>
      <p:sp>
        <p:nvSpPr>
          <p:cNvPr id="1033" name="Text Box 11"/>
          <p:cNvSpPr txBox="1">
            <a:spLocks noChangeArrowheads="1"/>
          </p:cNvSpPr>
          <p:nvPr/>
        </p:nvSpPr>
        <p:spPr bwMode="auto">
          <a:xfrm>
            <a:off x="107950" y="4078288"/>
            <a:ext cx="549275"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pPr eaLnBrk="1" hangingPunct="1">
              <a:spcBef>
                <a:spcPct val="50000"/>
              </a:spcBef>
              <a:defRPr/>
            </a:pPr>
            <a:r>
              <a:rPr lang="zh-CN" altLang="en-US" sz="2400" smtClean="0">
                <a:solidFill>
                  <a:srgbClr val="FFFFCC"/>
                </a:solidFill>
                <a:ea typeface="方正姚体" pitchFamily="2" charset="-122"/>
              </a:rPr>
              <a:t>计算中心编制</a:t>
            </a:r>
          </a:p>
        </p:txBody>
      </p:sp>
      <p:sp>
        <p:nvSpPr>
          <p:cNvPr id="1034" name="Rectangle 12"/>
          <p:cNvSpPr>
            <a:spLocks noChangeArrowheads="1"/>
          </p:cNvSpPr>
          <p:nvPr/>
        </p:nvSpPr>
        <p:spPr bwMode="auto">
          <a:xfrm>
            <a:off x="3197225" y="4763"/>
            <a:ext cx="3097213" cy="692150"/>
          </a:xfrm>
          <a:prstGeom prst="rect">
            <a:avLst/>
          </a:prstGeom>
          <a:gradFill rotWithShape="1">
            <a:gsLst>
              <a:gs pos="0">
                <a:srgbClr val="C7E8C4"/>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5" name="Text Box 13"/>
          <p:cNvSpPr txBox="1">
            <a:spLocks noChangeArrowheads="1"/>
          </p:cNvSpPr>
          <p:nvPr/>
        </p:nvSpPr>
        <p:spPr bwMode="auto">
          <a:xfrm>
            <a:off x="1116013" y="112713"/>
            <a:ext cx="5616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3200" b="1">
                <a:solidFill>
                  <a:srgbClr val="FFFF99"/>
                </a:solidFill>
                <a:effectLst>
                  <a:outerShdw blurRad="38100" dist="38100" dir="2700000" algn="tl">
                    <a:srgbClr val="C0C0C0"/>
                  </a:outerShdw>
                </a:effectLst>
                <a:ea typeface="华文楷体" pitchFamily="2" charset="-122"/>
              </a:rPr>
              <a:t>上海大学</a:t>
            </a:r>
            <a:r>
              <a:rPr lang="zh-CN" altLang="en-US" sz="3200" b="1">
                <a:solidFill>
                  <a:srgbClr val="FFFFCC"/>
                </a:solidFill>
                <a:ea typeface="华文楷体" pitchFamily="2" charset="-122"/>
              </a:rPr>
              <a:t>    </a:t>
            </a:r>
            <a:r>
              <a:rPr lang="en-US" altLang="zh-CN" sz="2200" b="1" dirty="0">
                <a:solidFill>
                  <a:srgbClr val="339933"/>
                </a:solidFill>
                <a:latin typeface="Gautami" pitchFamily="2"/>
                <a:ea typeface="Dotum" pitchFamily="34" charset="-127"/>
              </a:rPr>
              <a:t>Shanghai University</a:t>
            </a:r>
          </a:p>
        </p:txBody>
      </p:sp>
      <p:pic>
        <p:nvPicPr>
          <p:cNvPr id="1036" name="Picture 14" descr="bg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8113" y="69850"/>
            <a:ext cx="6000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8"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spd="med">
    <p:random/>
  </p:transition>
  <p:hf hdr="0" ftr="0" dt="0"/>
  <p:txStyles>
    <p:title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9pPr>
    </p:titleStyle>
    <p:body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rgbClr val="FF3300"/>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rgbClr val="3333FF"/>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9525" y="1588"/>
            <a:ext cx="762000" cy="6858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Freeform 3"/>
          <p:cNvSpPr>
            <a:spLocks/>
          </p:cNvSpPr>
          <p:nvPr/>
        </p:nvSpPr>
        <p:spPr bwMode="auto">
          <a:xfrm>
            <a:off x="468313" y="0"/>
            <a:ext cx="2743200" cy="1052513"/>
          </a:xfrm>
          <a:custGeom>
            <a:avLst/>
            <a:gdLst>
              <a:gd name="T0" fmla="*/ 2147483647 w 1728"/>
              <a:gd name="T1" fmla="*/ 0 h 735"/>
              <a:gd name="T2" fmla="*/ 2147483647 w 1728"/>
              <a:gd name="T3" fmla="*/ 984285814 h 735"/>
              <a:gd name="T4" fmla="*/ 957659375 w 1728"/>
              <a:gd name="T5" fmla="*/ 988387034 h 735"/>
              <a:gd name="T6" fmla="*/ 892135313 w 1728"/>
              <a:gd name="T7" fmla="*/ 984285814 h 735"/>
              <a:gd name="T8" fmla="*/ 776208125 w 1728"/>
              <a:gd name="T9" fmla="*/ 1002741307 h 735"/>
              <a:gd name="T10" fmla="*/ 619958438 w 1728"/>
              <a:gd name="T11" fmla="*/ 1088866942 h 735"/>
              <a:gd name="T12" fmla="*/ 519152188 w 1728"/>
              <a:gd name="T13" fmla="*/ 1224205794 h 735"/>
              <a:gd name="T14" fmla="*/ 483870000 w 1728"/>
              <a:gd name="T15" fmla="*/ 1365697909 h 735"/>
              <a:gd name="T16" fmla="*/ 483870000 w 1728"/>
              <a:gd name="T17" fmla="*/ 1507188592 h 735"/>
              <a:gd name="T18" fmla="*/ 0 w 1728"/>
              <a:gd name="T19" fmla="*/ 1507188592 h 735"/>
              <a:gd name="T20" fmla="*/ 0 w 1728"/>
              <a:gd name="T21" fmla="*/ 984285814 h 735"/>
              <a:gd name="T22" fmla="*/ 0 w 1728"/>
              <a:gd name="T23" fmla="*/ 0 h 735"/>
              <a:gd name="T24" fmla="*/ 2147483647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gradFill rotWithShape="1">
            <a:gsLst>
              <a:gs pos="0">
                <a:schemeClr val="accent2"/>
              </a:gs>
              <a:gs pos="100000">
                <a:srgbClr val="C7E8C4"/>
              </a:gs>
            </a:gsLst>
            <a:lin ang="0" scaled="1"/>
          </a:gra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7319" name="AutoShape 7"/>
          <p:cNvSpPr>
            <a:spLocks noGrp="1" noChangeArrowheads="1"/>
          </p:cNvSpPr>
          <p:nvPr>
            <p:ph type="title"/>
          </p:nvPr>
        </p:nvSpPr>
        <p:spPr bwMode="auto">
          <a:xfrm>
            <a:off x="755650" y="765175"/>
            <a:ext cx="7924800" cy="784225"/>
          </a:xfrm>
          <a:prstGeom prst="roundRect">
            <a:avLst>
              <a:gd name="adj" fmla="val 2975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97320" name="Rectangle 8"/>
          <p:cNvSpPr>
            <a:spLocks noGrp="1" noChangeArrowheads="1"/>
          </p:cNvSpPr>
          <p:nvPr>
            <p:ph type="body" idx="1"/>
          </p:nvPr>
        </p:nvSpPr>
        <p:spPr bwMode="auto">
          <a:xfrm>
            <a:off x="755650" y="1700213"/>
            <a:ext cx="7993063"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97321" name="Rectangle 9"/>
          <p:cNvSpPr>
            <a:spLocks noGrp="1" noChangeArrowheads="1"/>
          </p:cNvSpPr>
          <p:nvPr>
            <p:ph type="ftr" sz="quarter" idx="3"/>
          </p:nvPr>
        </p:nvSpPr>
        <p:spPr bwMode="auto">
          <a:xfrm>
            <a:off x="4500563" y="6524625"/>
            <a:ext cx="4576762"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solidFill>
                  <a:srgbClr val="FF0000"/>
                </a:solidFill>
                <a:ea typeface="+mn-ea"/>
              </a:defRPr>
            </a:lvl1pPr>
          </a:lstStyle>
          <a:p>
            <a:pPr>
              <a:defRPr/>
            </a:pPr>
            <a:endParaRPr lang="en-US" altLang="zh-CN" dirty="0"/>
          </a:p>
        </p:txBody>
      </p:sp>
      <p:sp>
        <p:nvSpPr>
          <p:cNvPr id="397322" name="Rectangle 10"/>
          <p:cNvSpPr>
            <a:spLocks noGrp="1" noChangeArrowheads="1"/>
          </p:cNvSpPr>
          <p:nvPr>
            <p:ph type="sldNum" sz="quarter" idx="4"/>
          </p:nvPr>
        </p:nvSpPr>
        <p:spPr bwMode="auto">
          <a:xfrm>
            <a:off x="84138" y="6308725"/>
            <a:ext cx="58737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a:defRPr/>
            </a:pPr>
            <a:fld id="{6517A816-AE02-46E7-BAEE-4C81B905E149}" type="slidenum">
              <a:rPr lang="en-US" altLang="zh-CN"/>
              <a:pPr>
                <a:defRPr/>
              </a:pPr>
              <a:t>‹#›</a:t>
            </a:fld>
            <a:endParaRPr lang="en-US" altLang="zh-CN" dirty="0"/>
          </a:p>
        </p:txBody>
      </p:sp>
      <p:sp>
        <p:nvSpPr>
          <p:cNvPr id="1033" name="Text Box 11"/>
          <p:cNvSpPr txBox="1">
            <a:spLocks noChangeArrowheads="1"/>
          </p:cNvSpPr>
          <p:nvPr/>
        </p:nvSpPr>
        <p:spPr bwMode="auto">
          <a:xfrm>
            <a:off x="107950" y="4078288"/>
            <a:ext cx="549275"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pPr eaLnBrk="1" hangingPunct="1">
              <a:spcBef>
                <a:spcPct val="50000"/>
              </a:spcBef>
              <a:defRPr/>
            </a:pPr>
            <a:r>
              <a:rPr lang="zh-CN" altLang="en-US" sz="2400" smtClean="0">
                <a:solidFill>
                  <a:srgbClr val="FFFFCC"/>
                </a:solidFill>
                <a:ea typeface="方正姚体" pitchFamily="2" charset="-122"/>
              </a:rPr>
              <a:t>计算中心编制</a:t>
            </a:r>
          </a:p>
        </p:txBody>
      </p:sp>
      <p:sp>
        <p:nvSpPr>
          <p:cNvPr id="1034" name="Rectangle 12"/>
          <p:cNvSpPr>
            <a:spLocks noChangeArrowheads="1"/>
          </p:cNvSpPr>
          <p:nvPr/>
        </p:nvSpPr>
        <p:spPr bwMode="auto">
          <a:xfrm>
            <a:off x="3197225" y="4763"/>
            <a:ext cx="3097213" cy="692150"/>
          </a:xfrm>
          <a:prstGeom prst="rect">
            <a:avLst/>
          </a:prstGeom>
          <a:gradFill rotWithShape="1">
            <a:gsLst>
              <a:gs pos="0">
                <a:srgbClr val="C7E8C4"/>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5" name="Text Box 13"/>
          <p:cNvSpPr txBox="1">
            <a:spLocks noChangeArrowheads="1"/>
          </p:cNvSpPr>
          <p:nvPr/>
        </p:nvSpPr>
        <p:spPr bwMode="auto">
          <a:xfrm>
            <a:off x="1116013" y="112713"/>
            <a:ext cx="5616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3200" b="1">
                <a:solidFill>
                  <a:srgbClr val="FFFF99"/>
                </a:solidFill>
                <a:effectLst>
                  <a:outerShdw blurRad="38100" dist="38100" dir="2700000" algn="tl">
                    <a:srgbClr val="C0C0C0"/>
                  </a:outerShdw>
                </a:effectLst>
                <a:ea typeface="华文楷体" pitchFamily="2" charset="-122"/>
              </a:rPr>
              <a:t>上海大学</a:t>
            </a:r>
            <a:r>
              <a:rPr lang="zh-CN" altLang="en-US" sz="3200" b="1">
                <a:solidFill>
                  <a:srgbClr val="FFFFCC"/>
                </a:solidFill>
                <a:ea typeface="华文楷体" pitchFamily="2" charset="-122"/>
              </a:rPr>
              <a:t>    </a:t>
            </a:r>
            <a:r>
              <a:rPr lang="en-US" altLang="zh-CN" sz="2200" b="1" dirty="0">
                <a:solidFill>
                  <a:srgbClr val="339933"/>
                </a:solidFill>
                <a:latin typeface="Gautami" pitchFamily="2"/>
                <a:ea typeface="Dotum" pitchFamily="34" charset="-127"/>
              </a:rPr>
              <a:t>Shanghai University</a:t>
            </a:r>
          </a:p>
        </p:txBody>
      </p:sp>
      <p:pic>
        <p:nvPicPr>
          <p:cNvPr id="1036" name="Picture 14" descr="bg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13" y="69850"/>
            <a:ext cx="6000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6307483"/>
      </p:ext>
    </p:extLst>
  </p:cSld>
  <p:clrMap bg1="lt1" tx1="dk1" bg2="lt2" tx2="dk2" accent1="accent1" accent2="accent2" accent3="accent3" accent4="accent4" accent5="accent5" accent6="accent6" hlink="hlink" folHlink="folHlink"/>
  <p:sldLayoutIdLst>
    <p:sldLayoutId id="2147483690" r:id="rId1"/>
  </p:sldLayoutIdLst>
  <p:transition spd="med">
    <p:random/>
  </p:transition>
  <p:hf hdr="0" ftr="0" dt="0"/>
  <p:txStyles>
    <p:titleStyle>
      <a:lvl1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2pPr>
      <a:lvl3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3pPr>
      <a:lvl4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4pPr>
      <a:lvl5pPr algn="l" rtl="0" eaLnBrk="0" fontAlgn="base" hangingPunct="0">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5pPr>
      <a:lvl6pPr marL="4572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6pPr>
      <a:lvl7pPr marL="9144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7pPr>
      <a:lvl8pPr marL="13716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8pPr>
      <a:lvl9pPr marL="1828800" algn="l" rtl="0" fontAlgn="base">
        <a:lnSpc>
          <a:spcPct val="90000"/>
        </a:lnSpc>
        <a:spcBef>
          <a:spcPct val="0"/>
        </a:spcBef>
        <a:spcAft>
          <a:spcPct val="0"/>
        </a:spcAft>
        <a:defRPr sz="3600" b="1">
          <a:solidFill>
            <a:schemeClr val="tx2"/>
          </a:solidFill>
          <a:effectLst>
            <a:outerShdw blurRad="38100" dist="38100" dir="2700000" algn="tl">
              <a:srgbClr val="C0C0C0"/>
            </a:outerShdw>
          </a:effectLst>
          <a:latin typeface="Arial" charset="0"/>
          <a:ea typeface="黑体" pitchFamily="2" charset="-122"/>
        </a:defRPr>
      </a:lvl9pPr>
    </p:titleStyle>
    <p:body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4.png"/></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4.png"/></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4.png"/></Relationships>
</file>

<file path=ppt/slides/_rels/slide8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AutoShape 2"/>
          <p:cNvSpPr>
            <a:spLocks noGrp="1" noChangeArrowheads="1"/>
          </p:cNvSpPr>
          <p:nvPr>
            <p:ph type="ctrTitle"/>
          </p:nvPr>
        </p:nvSpPr>
        <p:spPr>
          <a:xfrm>
            <a:off x="611188" y="2209800"/>
            <a:ext cx="7772400" cy="2133600"/>
          </a:xfrm>
        </p:spPr>
        <p:txBody>
          <a:bodyPr/>
          <a:lstStyle/>
          <a:p>
            <a:pPr marL="685800" lvl="0" indent="-685800" eaLnBrk="1" hangingPunct="1">
              <a:defRPr/>
            </a:pPr>
            <a:r>
              <a:rPr lang="zh-CN" altLang="en-US" dirty="0" smtClean="0">
                <a:solidFill>
                  <a:srgbClr val="010000"/>
                </a:solidFill>
                <a:latin typeface="黑体" pitchFamily="2" charset="-122"/>
              </a:rPr>
              <a:t>第</a:t>
            </a:r>
            <a:r>
              <a:rPr lang="en-US" altLang="zh-CN" dirty="0">
                <a:solidFill>
                  <a:srgbClr val="010000"/>
                </a:solidFill>
                <a:latin typeface="黑体" pitchFamily="2" charset="-122"/>
              </a:rPr>
              <a:t>5</a:t>
            </a:r>
            <a:r>
              <a:rPr lang="zh-CN" altLang="en-US" dirty="0" smtClean="0">
                <a:solidFill>
                  <a:srgbClr val="010000"/>
                </a:solidFill>
                <a:latin typeface="黑体" pitchFamily="2" charset="-122"/>
              </a:rPr>
              <a:t>章 </a:t>
            </a:r>
            <a:r>
              <a:rPr lang="zh-CN" altLang="zh-CN" dirty="0" smtClean="0">
                <a:solidFill>
                  <a:srgbClr val="010000"/>
                </a:solidFill>
                <a:latin typeface="黑体" pitchFamily="2" charset="-122"/>
              </a:rPr>
              <a:t>函数</a:t>
            </a:r>
            <a:endParaRPr lang="zh-CN" altLang="en-US" sz="3200" i="1" dirty="0" smtClean="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69666"/>
                                        </p:tgtEl>
                                        <p:attrNameLst>
                                          <p:attrName>style.visibility</p:attrName>
                                        </p:attrNameLst>
                                      </p:cBhvr>
                                      <p:to>
                                        <p:strVal val="visible"/>
                                      </p:to>
                                    </p:set>
                                    <p:animEffect transition="in" filter="blinds(vertical)">
                                      <p:cBhvr>
                                        <p:cTn id="7" dur="1000"/>
                                        <p:tgtEl>
                                          <p:spTgt spid="369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28F4AE1B-9DAC-4F0E-BA48-11944D710201}" type="slidenum">
              <a:rPr lang="en-US" altLang="zh-CN" sz="2600" smtClean="0">
                <a:solidFill>
                  <a:schemeClr val="bg1"/>
                </a:solidFill>
              </a:rPr>
              <a:pPr/>
              <a:t>1</a:t>
            </a:fld>
            <a:endParaRPr lang="en-US" altLang="zh-CN" sz="2600" dirty="0" smtClean="0">
              <a:solidFill>
                <a:schemeClr val="bg1"/>
              </a:solidFill>
            </a:endParaRPr>
          </a:p>
        </p:txBody>
      </p:sp>
      <p:sp>
        <p:nvSpPr>
          <p:cNvPr id="869378" name="AutoShape 2"/>
          <p:cNvSpPr>
            <a:spLocks noGrp="1" noChangeArrowheads="1"/>
          </p:cNvSpPr>
          <p:nvPr>
            <p:ph type="title"/>
          </p:nvPr>
        </p:nvSpPr>
        <p:spPr/>
        <p:txBody>
          <a:bodyPr/>
          <a:lstStyle/>
          <a:p>
            <a:pPr eaLnBrk="1" hangingPunct="1">
              <a:defRPr/>
            </a:pPr>
            <a:r>
              <a:rPr lang="zh-CN" altLang="en-US" dirty="0" smtClean="0"/>
              <a:t>主要内容</a:t>
            </a:r>
          </a:p>
        </p:txBody>
      </p:sp>
      <p:sp>
        <p:nvSpPr>
          <p:cNvPr id="869379" name="Rectangle 3"/>
          <p:cNvSpPr>
            <a:spLocks noGrp="1" noChangeArrowheads="1"/>
          </p:cNvSpPr>
          <p:nvPr>
            <p:ph type="body" idx="1"/>
          </p:nvPr>
        </p:nvSpPr>
        <p:spPr/>
        <p:txBody>
          <a:bodyPr/>
          <a:lstStyle/>
          <a:p>
            <a:pPr eaLnBrk="1" hangingPunct="1">
              <a:defRPr/>
            </a:pPr>
            <a:r>
              <a:rPr lang="zh-CN" altLang="zh-CN" dirty="0" smtClean="0">
                <a:effectLst/>
              </a:rPr>
              <a:t>程序</a:t>
            </a:r>
            <a:r>
              <a:rPr lang="zh-CN" altLang="zh-CN" dirty="0">
                <a:effectLst/>
              </a:rPr>
              <a:t>与函数</a:t>
            </a:r>
            <a:endParaRPr lang="en-US" altLang="zh-CN" dirty="0" smtClean="0">
              <a:solidFill>
                <a:srgbClr val="0066FF"/>
              </a:solidFill>
            </a:endParaRPr>
          </a:p>
          <a:p>
            <a:pPr eaLnBrk="1" hangingPunct="1">
              <a:defRPr/>
            </a:pPr>
            <a:r>
              <a:rPr lang="zh-CN" altLang="zh-CN" dirty="0" smtClean="0">
                <a:effectLst/>
              </a:rPr>
              <a:t>函数</a:t>
            </a:r>
            <a:r>
              <a:rPr lang="zh-CN" altLang="zh-CN" dirty="0">
                <a:effectLst/>
              </a:rPr>
              <a:t>的定义</a:t>
            </a:r>
            <a:endParaRPr lang="en-US" altLang="zh-CN" dirty="0" smtClean="0">
              <a:solidFill>
                <a:srgbClr val="0066FF"/>
              </a:solidFill>
            </a:endParaRPr>
          </a:p>
          <a:p>
            <a:pPr eaLnBrk="1" hangingPunct="1">
              <a:defRPr/>
            </a:pPr>
            <a:r>
              <a:rPr lang="zh-CN" altLang="zh-CN" dirty="0" smtClean="0">
                <a:effectLst/>
              </a:rPr>
              <a:t>函数</a:t>
            </a:r>
            <a:r>
              <a:rPr lang="zh-CN" altLang="zh-CN" dirty="0">
                <a:effectLst/>
              </a:rPr>
              <a:t>的调用</a:t>
            </a:r>
            <a:endParaRPr lang="en-US" altLang="zh-CN" dirty="0">
              <a:solidFill>
                <a:srgbClr val="0066FF"/>
              </a:solidFill>
            </a:endParaRPr>
          </a:p>
          <a:p>
            <a:pPr eaLnBrk="1" hangingPunct="1">
              <a:defRPr/>
            </a:pPr>
            <a:r>
              <a:rPr lang="zh-CN" altLang="zh-CN" dirty="0" smtClean="0">
                <a:effectLst/>
              </a:rPr>
              <a:t>数组</a:t>
            </a:r>
            <a:r>
              <a:rPr lang="zh-CN" altLang="zh-CN" dirty="0">
                <a:effectLst/>
              </a:rPr>
              <a:t>名作为函数的</a:t>
            </a:r>
            <a:r>
              <a:rPr lang="zh-CN" altLang="zh-CN" dirty="0" smtClean="0">
                <a:effectLst/>
              </a:rPr>
              <a:t>参数</a:t>
            </a:r>
            <a:endParaRPr lang="en-US" altLang="zh-CN" dirty="0" smtClean="0">
              <a:effectLst/>
            </a:endParaRPr>
          </a:p>
          <a:p>
            <a:pPr eaLnBrk="1" hangingPunct="1">
              <a:defRPr/>
            </a:pPr>
            <a:r>
              <a:rPr lang="zh-CN" altLang="zh-CN" dirty="0">
                <a:effectLst/>
              </a:rPr>
              <a:t>函数的</a:t>
            </a:r>
            <a:r>
              <a:rPr lang="zh-CN" altLang="zh-CN" dirty="0" smtClean="0">
                <a:effectLst/>
              </a:rPr>
              <a:t>应用</a:t>
            </a:r>
            <a:endParaRPr lang="en-US" altLang="zh-CN" dirty="0" smtClean="0">
              <a:effectLst/>
            </a:endParaRPr>
          </a:p>
          <a:p>
            <a:pPr eaLnBrk="1" hangingPunct="1">
              <a:defRPr/>
            </a:pPr>
            <a:r>
              <a:rPr lang="zh-CN" altLang="zh-CN" dirty="0">
                <a:effectLst/>
              </a:rPr>
              <a:t>函数的嵌套与</a:t>
            </a:r>
            <a:r>
              <a:rPr lang="zh-CN" altLang="zh-CN" dirty="0" smtClean="0">
                <a:effectLst/>
              </a:rPr>
              <a:t>递归</a:t>
            </a:r>
            <a:endParaRPr lang="en-US" altLang="zh-CN" dirty="0" smtClean="0">
              <a:effectLst/>
            </a:endParaRPr>
          </a:p>
          <a:p>
            <a:pPr eaLnBrk="1" hangingPunct="1">
              <a:defRPr/>
            </a:pPr>
            <a:r>
              <a:rPr lang="zh-CN" altLang="zh-CN" dirty="0">
                <a:effectLst/>
              </a:rPr>
              <a:t>局部变量与</a:t>
            </a:r>
            <a:r>
              <a:rPr lang="zh-CN" altLang="zh-CN" dirty="0" smtClean="0">
                <a:effectLst/>
              </a:rPr>
              <a:t>全局变量</a:t>
            </a:r>
            <a:endParaRPr lang="en-US" altLang="zh-CN" dirty="0" smtClean="0">
              <a:effectLst/>
            </a:endParaRPr>
          </a:p>
          <a:p>
            <a:pPr eaLnBrk="1" hangingPunct="1">
              <a:defRPr/>
            </a:pPr>
            <a:r>
              <a:rPr lang="zh-CN" altLang="zh-CN" dirty="0">
                <a:effectLst/>
              </a:rPr>
              <a:t>变量的存储方式</a:t>
            </a:r>
            <a:endParaRPr lang="zh-CN" altLang="en-US" dirty="0" smtClean="0">
              <a:solidFill>
                <a:srgbClr val="0066FF"/>
              </a:solidFill>
            </a:endParaRPr>
          </a:p>
        </p:txBody>
      </p:sp>
    </p:spTree>
  </p:cSld>
  <p:clrMapOvr>
    <a:masterClrMapping/>
  </p:clrMapOvr>
  <p:transition spd="med">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2</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zh-CN" altLang="zh-CN" dirty="0" smtClean="0">
                <a:effectLst/>
              </a:rPr>
              <a:t>程序</a:t>
            </a:r>
            <a:r>
              <a:rPr lang="zh-CN" altLang="zh-CN" dirty="0">
                <a:effectLst/>
              </a:rPr>
              <a:t>与</a:t>
            </a:r>
            <a:r>
              <a:rPr lang="zh-CN" altLang="zh-CN" dirty="0" smtClean="0">
                <a:effectLst/>
              </a:rPr>
              <a:t>函数</a:t>
            </a:r>
            <a:endParaRPr lang="zh-CN" altLang="en-US" dirty="0" smtClean="0"/>
          </a:p>
        </p:txBody>
      </p:sp>
      <p:sp>
        <p:nvSpPr>
          <p:cNvPr id="870403" name="Rectangle 3"/>
          <p:cNvSpPr>
            <a:spLocks noGrp="1" noChangeArrowheads="1"/>
          </p:cNvSpPr>
          <p:nvPr>
            <p:ph type="body" idx="1"/>
          </p:nvPr>
        </p:nvSpPr>
        <p:spPr>
          <a:xfrm>
            <a:off x="755650" y="1700213"/>
            <a:ext cx="7560765" cy="2304851"/>
          </a:xfrm>
        </p:spPr>
        <p:txBody>
          <a:bodyPr/>
          <a:lstStyle/>
          <a:p>
            <a:pPr marL="271463" lvl="1" indent="457200" eaLnBrk="1" hangingPunct="1">
              <a:buNone/>
              <a:defRPr/>
            </a:pPr>
            <a:r>
              <a:rPr lang="en-US" altLang="zh-CN" dirty="0" smtClean="0">
                <a:effectLst/>
              </a:rPr>
              <a:t>C</a:t>
            </a:r>
            <a:r>
              <a:rPr lang="zh-CN" altLang="en-US" dirty="0" smtClean="0">
                <a:effectLst/>
              </a:rPr>
              <a:t>源程序由函数组成，函数是</a:t>
            </a:r>
            <a:r>
              <a:rPr lang="en-US" altLang="zh-CN" dirty="0" smtClean="0">
                <a:effectLst/>
              </a:rPr>
              <a:t>C</a:t>
            </a:r>
            <a:r>
              <a:rPr lang="zh-CN" altLang="en-US" dirty="0" smtClean="0">
                <a:effectLst/>
              </a:rPr>
              <a:t>源程序的基本模块，通过对函数模块的调用实现特定的功能。</a:t>
            </a:r>
            <a:endParaRPr lang="en-US" altLang="zh-CN" dirty="0" smtClean="0">
              <a:effectLst/>
            </a:endParaRPr>
          </a:p>
          <a:p>
            <a:pPr marL="271463" lvl="1" indent="457200" eaLnBrk="1" hangingPunct="1">
              <a:buNone/>
              <a:defRPr/>
            </a:pPr>
            <a:r>
              <a:rPr lang="zh-CN" altLang="zh-CN" dirty="0" smtClean="0">
                <a:effectLst/>
              </a:rPr>
              <a:t>一</a:t>
            </a:r>
            <a:r>
              <a:rPr lang="zh-CN" altLang="zh-CN" dirty="0">
                <a:effectLst/>
              </a:rPr>
              <a:t>个</a:t>
            </a:r>
            <a:r>
              <a:rPr lang="en-US" altLang="zh-CN" dirty="0">
                <a:effectLst/>
              </a:rPr>
              <a:t>C</a:t>
            </a:r>
            <a:r>
              <a:rPr lang="zh-CN" altLang="zh-CN" dirty="0">
                <a:effectLst/>
              </a:rPr>
              <a:t>程序中有且仅有一个名为</a:t>
            </a:r>
            <a:r>
              <a:rPr lang="en-US" altLang="zh-CN" dirty="0">
                <a:solidFill>
                  <a:srgbClr val="FF0000"/>
                </a:solidFill>
                <a:effectLst/>
              </a:rPr>
              <a:t>main</a:t>
            </a:r>
            <a:r>
              <a:rPr lang="zh-CN" altLang="zh-CN" dirty="0">
                <a:effectLst/>
              </a:rPr>
              <a:t>的主函数。</a:t>
            </a:r>
            <a:r>
              <a:rPr lang="en-US" altLang="zh-CN" dirty="0">
                <a:effectLst/>
              </a:rPr>
              <a:t>C</a:t>
            </a:r>
            <a:r>
              <a:rPr lang="zh-CN" altLang="zh-CN" dirty="0">
                <a:effectLst/>
              </a:rPr>
              <a:t>程序的执行总是从</a:t>
            </a:r>
            <a:r>
              <a:rPr lang="en-US" altLang="zh-CN" dirty="0">
                <a:solidFill>
                  <a:srgbClr val="FF0000"/>
                </a:solidFill>
                <a:effectLst/>
              </a:rPr>
              <a:t>main</a:t>
            </a:r>
            <a:r>
              <a:rPr lang="zh-CN" altLang="zh-CN" dirty="0">
                <a:effectLst/>
              </a:rPr>
              <a:t>开始，从</a:t>
            </a:r>
            <a:r>
              <a:rPr lang="en-US" altLang="zh-CN" dirty="0">
                <a:solidFill>
                  <a:srgbClr val="FF0000"/>
                </a:solidFill>
                <a:effectLst/>
              </a:rPr>
              <a:t>main</a:t>
            </a:r>
            <a:r>
              <a:rPr lang="zh-CN" altLang="zh-CN" dirty="0">
                <a:effectLst/>
              </a:rPr>
              <a:t>结束</a:t>
            </a:r>
            <a:r>
              <a:rPr lang="zh-CN" altLang="zh-CN" dirty="0" smtClean="0">
                <a:effectLst/>
              </a:rPr>
              <a:t>。</a:t>
            </a:r>
            <a:endParaRPr lang="en-US" altLang="zh-CN" dirty="0" smtClean="0">
              <a:effectLst/>
            </a:endParaRPr>
          </a:p>
        </p:txBody>
      </p:sp>
    </p:spTree>
  </p:cSld>
  <p:clrMapOvr>
    <a:masterClrMapping/>
  </p:clrMapOvr>
  <p:transition spd="med">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0"/>
              </a:spcBef>
              <a:spcAft>
                <a:spcPct val="0"/>
              </a:spcAft>
              <a:defRPr sz="1200">
                <a:solidFill>
                  <a:schemeClr val="tx1"/>
                </a:solidFill>
                <a:latin typeface="Arial" charset="0"/>
                <a:ea typeface="宋体" pitchFamily="2" charset="-122"/>
              </a:defRPr>
            </a:lvl6pPr>
            <a:lvl7pPr marL="2971800" indent="-228600" eaLnBrk="0" fontAlgn="base" hangingPunct="0">
              <a:spcBef>
                <a:spcPct val="0"/>
              </a:spcBef>
              <a:spcAft>
                <a:spcPct val="0"/>
              </a:spcAft>
              <a:defRPr sz="1200">
                <a:solidFill>
                  <a:schemeClr val="tx1"/>
                </a:solidFill>
                <a:latin typeface="Arial" charset="0"/>
                <a:ea typeface="宋体" pitchFamily="2" charset="-122"/>
              </a:defRPr>
            </a:lvl7pPr>
            <a:lvl8pPr marL="3429000" indent="-228600" eaLnBrk="0" fontAlgn="base" hangingPunct="0">
              <a:spcBef>
                <a:spcPct val="0"/>
              </a:spcBef>
              <a:spcAft>
                <a:spcPct val="0"/>
              </a:spcAft>
              <a:defRPr sz="1200">
                <a:solidFill>
                  <a:schemeClr val="tx1"/>
                </a:solidFill>
                <a:latin typeface="Arial" charset="0"/>
                <a:ea typeface="宋体" pitchFamily="2" charset="-122"/>
              </a:defRPr>
            </a:lvl8pPr>
            <a:lvl9pPr marL="3886200" indent="-228600" eaLnBrk="0" fontAlgn="base" hangingPunct="0">
              <a:spcBef>
                <a:spcPct val="0"/>
              </a:spcBef>
              <a:spcAft>
                <a:spcPct val="0"/>
              </a:spcAft>
              <a:defRPr sz="1200">
                <a:solidFill>
                  <a:schemeClr val="tx1"/>
                </a:solidFill>
                <a:latin typeface="Arial" charset="0"/>
                <a:ea typeface="宋体" pitchFamily="2" charset="-122"/>
              </a:defRPr>
            </a:lvl9pPr>
          </a:lstStyle>
          <a:p>
            <a:fld id="{A09AD7B7-31F4-404E-A6EC-AD1B17505555}" type="slidenum">
              <a:rPr lang="en-US" altLang="zh-CN" sz="2600" smtClean="0">
                <a:solidFill>
                  <a:schemeClr val="bg1"/>
                </a:solidFill>
              </a:rPr>
              <a:pPr/>
              <a:t>3</a:t>
            </a:fld>
            <a:endParaRPr lang="en-US" altLang="zh-CN" sz="2600" dirty="0" smtClean="0">
              <a:solidFill>
                <a:schemeClr val="bg1"/>
              </a:solidFill>
            </a:endParaRPr>
          </a:p>
        </p:txBody>
      </p:sp>
      <p:sp>
        <p:nvSpPr>
          <p:cNvPr id="870402" name="AutoShape 2"/>
          <p:cNvSpPr>
            <a:spLocks noGrp="1" noChangeArrowheads="1"/>
          </p:cNvSpPr>
          <p:nvPr>
            <p:ph type="title"/>
          </p:nvPr>
        </p:nvSpPr>
        <p:spPr/>
        <p:txBody>
          <a:bodyPr/>
          <a:lstStyle/>
          <a:p>
            <a:pPr eaLnBrk="1" hangingPunct="1">
              <a:defRPr/>
            </a:pPr>
            <a:r>
              <a:rPr lang="zh-CN" altLang="zh-CN" dirty="0" smtClean="0">
                <a:effectLst/>
              </a:rPr>
              <a:t>程序</a:t>
            </a:r>
            <a:r>
              <a:rPr lang="zh-CN" altLang="zh-CN" dirty="0">
                <a:effectLst/>
              </a:rPr>
              <a:t>与</a:t>
            </a:r>
            <a:r>
              <a:rPr lang="zh-CN" altLang="zh-CN" dirty="0" smtClean="0">
                <a:effectLst/>
              </a:rPr>
              <a:t>函数</a:t>
            </a:r>
            <a:endParaRPr lang="zh-CN" altLang="en-US" dirty="0" smtClean="0"/>
          </a:p>
        </p:txBody>
      </p:sp>
      <p:sp>
        <p:nvSpPr>
          <p:cNvPr id="870403" name="Rectangle 3"/>
          <p:cNvSpPr>
            <a:spLocks noGrp="1" noChangeArrowheads="1"/>
          </p:cNvSpPr>
          <p:nvPr>
            <p:ph type="body" idx="1"/>
          </p:nvPr>
        </p:nvSpPr>
        <p:spPr/>
        <p:txBody>
          <a:bodyPr/>
          <a:lstStyle/>
          <a:p>
            <a:pPr marL="463550" indent="-457200" eaLnBrk="1" hangingPunct="1">
              <a:defRPr/>
            </a:pPr>
            <a:r>
              <a:rPr lang="zh-CN" altLang="zh-CN" dirty="0" smtClean="0">
                <a:solidFill>
                  <a:srgbClr val="FF0000"/>
                </a:solidFill>
                <a:effectLst/>
              </a:rPr>
              <a:t>库</a:t>
            </a:r>
            <a:r>
              <a:rPr lang="zh-CN" altLang="zh-CN" dirty="0">
                <a:solidFill>
                  <a:srgbClr val="FF0000"/>
                </a:solidFill>
                <a:effectLst/>
              </a:rPr>
              <a:t>函数</a:t>
            </a:r>
            <a:r>
              <a:rPr lang="zh-CN" altLang="zh-CN" dirty="0">
                <a:effectLst/>
              </a:rPr>
              <a:t>和</a:t>
            </a:r>
            <a:r>
              <a:rPr lang="zh-CN" altLang="zh-CN" dirty="0">
                <a:solidFill>
                  <a:srgbClr val="FF0000"/>
                </a:solidFill>
                <a:effectLst/>
              </a:rPr>
              <a:t>用户自定义</a:t>
            </a:r>
            <a:r>
              <a:rPr lang="zh-CN" altLang="zh-CN" dirty="0" smtClean="0">
                <a:solidFill>
                  <a:srgbClr val="FF0000"/>
                </a:solidFill>
                <a:effectLst/>
              </a:rPr>
              <a:t>函数</a:t>
            </a:r>
            <a:endParaRPr lang="en-US" altLang="zh-CN" dirty="0" smtClean="0">
              <a:solidFill>
                <a:srgbClr val="FF0000"/>
              </a:solidFill>
              <a:effectLst/>
            </a:endParaRPr>
          </a:p>
          <a:p>
            <a:pPr marL="728663" lvl="1" indent="-457200" eaLnBrk="1" hangingPunct="1">
              <a:defRPr/>
            </a:pPr>
            <a:r>
              <a:rPr lang="zh-CN" altLang="zh-CN" dirty="0">
                <a:solidFill>
                  <a:srgbClr val="FF0000"/>
                </a:solidFill>
                <a:effectLst/>
              </a:rPr>
              <a:t>库</a:t>
            </a:r>
            <a:r>
              <a:rPr lang="zh-CN" altLang="zh-CN" dirty="0" smtClean="0">
                <a:solidFill>
                  <a:srgbClr val="FF0000"/>
                </a:solidFill>
                <a:effectLst/>
              </a:rPr>
              <a:t>函数</a:t>
            </a:r>
            <a:r>
              <a:rPr lang="zh-CN" altLang="en-US" dirty="0" smtClean="0">
                <a:effectLst/>
              </a:rPr>
              <a:t>：</a:t>
            </a:r>
            <a:r>
              <a:rPr lang="zh-CN" altLang="zh-CN" dirty="0">
                <a:effectLst/>
              </a:rPr>
              <a:t>由</a:t>
            </a:r>
            <a:r>
              <a:rPr lang="en-US" altLang="zh-CN" dirty="0">
                <a:effectLst/>
              </a:rPr>
              <a:t>C</a:t>
            </a:r>
            <a:r>
              <a:rPr lang="zh-CN" altLang="zh-CN" dirty="0">
                <a:effectLst/>
              </a:rPr>
              <a:t>系统提供，用户无须定义，也不必在程序中作类型声明，只需在程序前包含有该函数原型的头文件即可在程序中直接调用</a:t>
            </a:r>
            <a:r>
              <a:rPr lang="zh-CN" altLang="zh-CN" dirty="0" smtClean="0">
                <a:effectLst/>
              </a:rPr>
              <a:t>。</a:t>
            </a:r>
            <a:endParaRPr lang="en-US" altLang="zh-CN" dirty="0" smtClean="0">
              <a:effectLst/>
            </a:endParaRPr>
          </a:p>
          <a:p>
            <a:pPr marL="993775" lvl="2" indent="-457200" eaLnBrk="1" hangingPunct="1">
              <a:defRPr/>
            </a:pPr>
            <a:r>
              <a:rPr lang="zh-CN" altLang="en-US" dirty="0" smtClean="0">
                <a:effectLst/>
              </a:rPr>
              <a:t>头文件</a:t>
            </a:r>
            <a:r>
              <a:rPr lang="en-US" altLang="zh-CN" dirty="0" err="1" smtClean="0">
                <a:effectLst/>
              </a:rPr>
              <a:t>stdio.h</a:t>
            </a:r>
            <a:r>
              <a:rPr lang="zh-CN" altLang="en-US" dirty="0" smtClean="0">
                <a:effectLst/>
              </a:rPr>
              <a:t>、</a:t>
            </a:r>
            <a:r>
              <a:rPr lang="en-US" altLang="zh-CN" dirty="0" err="1" smtClean="0">
                <a:effectLst/>
              </a:rPr>
              <a:t>math.h</a:t>
            </a:r>
            <a:r>
              <a:rPr lang="zh-CN" altLang="en-US" dirty="0" smtClean="0">
                <a:effectLst/>
              </a:rPr>
              <a:t>、</a:t>
            </a:r>
            <a:r>
              <a:rPr lang="en-US" altLang="zh-CN" dirty="0" err="1" smtClean="0">
                <a:effectLst/>
              </a:rPr>
              <a:t>string.h</a:t>
            </a:r>
            <a:r>
              <a:rPr lang="zh-CN" altLang="en-US" dirty="0" smtClean="0">
                <a:effectLst/>
              </a:rPr>
              <a:t>等</a:t>
            </a:r>
            <a:endParaRPr lang="en-US" altLang="zh-CN" dirty="0" smtClean="0">
              <a:effectLst/>
            </a:endParaRPr>
          </a:p>
          <a:p>
            <a:pPr marL="271463" lvl="1" indent="457200" eaLnBrk="1" hangingPunct="1">
              <a:buNone/>
              <a:defRPr/>
            </a:pPr>
            <a:endParaRPr lang="en-US" altLang="zh-CN" dirty="0" smtClean="0">
              <a:effectLst/>
            </a:endParaRPr>
          </a:p>
          <a:p>
            <a:pPr marL="271463" lvl="1" indent="457200" eaLnBrk="1" hangingPunct="1">
              <a:buNone/>
              <a:defRPr/>
            </a:pPr>
            <a:endParaRPr lang="zh-CN" altLang="en-US" dirty="0" smtClean="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59686031"/>
      </p:ext>
    </p:extLst>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程序与函数</a:t>
            </a:r>
            <a:endParaRPr lang="zh-CN" altLang="en-US" dirty="0"/>
          </a:p>
        </p:txBody>
      </p:sp>
      <p:sp>
        <p:nvSpPr>
          <p:cNvPr id="3" name="内容占位符 2"/>
          <p:cNvSpPr>
            <a:spLocks noGrp="1"/>
          </p:cNvSpPr>
          <p:nvPr>
            <p:ph idx="1"/>
          </p:nvPr>
        </p:nvSpPr>
        <p:spPr>
          <a:xfrm>
            <a:off x="755650" y="1700213"/>
            <a:ext cx="7993063" cy="4969147"/>
          </a:xfrm>
        </p:spPr>
        <p:txBody>
          <a:bodyPr/>
          <a:lstStyle/>
          <a:p>
            <a:pPr lvl="1"/>
            <a:r>
              <a:rPr lang="zh-CN" altLang="zh-CN" dirty="0">
                <a:solidFill>
                  <a:srgbClr val="FF0000"/>
                </a:solidFill>
                <a:effectLst/>
              </a:rPr>
              <a:t>用户自定义</a:t>
            </a:r>
            <a:r>
              <a:rPr lang="zh-CN" altLang="zh-CN" dirty="0" smtClean="0">
                <a:solidFill>
                  <a:srgbClr val="FF0000"/>
                </a:solidFill>
                <a:effectLst/>
              </a:rPr>
              <a:t>函数</a:t>
            </a:r>
            <a:r>
              <a:rPr lang="zh-CN" altLang="en-US" dirty="0" smtClean="0">
                <a:effectLst/>
              </a:rPr>
              <a:t>：</a:t>
            </a:r>
            <a:r>
              <a:rPr lang="zh-CN" altLang="zh-CN" dirty="0">
                <a:effectLst/>
              </a:rPr>
              <a:t>由用户按需要写的函数。对于用户自定义函数，不仅要在程序中</a:t>
            </a:r>
            <a:r>
              <a:rPr lang="zh-CN" altLang="zh-CN" dirty="0">
                <a:solidFill>
                  <a:srgbClr val="FF3300"/>
                </a:solidFill>
                <a:effectLst/>
              </a:rPr>
              <a:t>定义函数本身</a:t>
            </a:r>
            <a:r>
              <a:rPr lang="zh-CN" altLang="zh-CN" dirty="0">
                <a:effectLst/>
              </a:rPr>
              <a:t>，而且在主调函数模块中还必须对该被调函数</a:t>
            </a:r>
            <a:r>
              <a:rPr lang="zh-CN" altLang="zh-CN" dirty="0">
                <a:solidFill>
                  <a:srgbClr val="FF3300"/>
                </a:solidFill>
                <a:effectLst/>
              </a:rPr>
              <a:t>进行类型声明</a:t>
            </a:r>
            <a:r>
              <a:rPr lang="zh-CN" altLang="zh-CN" dirty="0">
                <a:effectLst/>
              </a:rPr>
              <a:t>，然后才能使用</a:t>
            </a:r>
            <a:r>
              <a:rPr lang="zh-CN" altLang="zh-CN" dirty="0" smtClean="0">
                <a:effectLst/>
              </a:rPr>
              <a:t>。</a:t>
            </a:r>
            <a:endParaRPr lang="en-US" altLang="zh-CN" dirty="0" smtClean="0">
              <a:effectLst/>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a:t>
            </a:fld>
            <a:endParaRPr lang="en-US" altLang="zh-CN" dirty="0"/>
          </a:p>
        </p:txBody>
      </p:sp>
    </p:spTree>
    <p:extLst>
      <p:ext uri="{BB962C8B-B14F-4D97-AF65-F5344CB8AC3E}">
        <p14:creationId xmlns:p14="http://schemas.microsoft.com/office/powerpoint/2010/main" val="407356532"/>
      </p:ext>
    </p:extLst>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程序与函数</a:t>
            </a:r>
            <a:endParaRPr lang="zh-CN" altLang="en-US" dirty="0"/>
          </a:p>
        </p:txBody>
      </p:sp>
      <p:sp>
        <p:nvSpPr>
          <p:cNvPr id="3" name="内容占位符 2"/>
          <p:cNvSpPr>
            <a:spLocks noGrp="1"/>
          </p:cNvSpPr>
          <p:nvPr>
            <p:ph idx="1"/>
          </p:nvPr>
        </p:nvSpPr>
        <p:spPr>
          <a:xfrm>
            <a:off x="755650" y="1700213"/>
            <a:ext cx="7993063" cy="4969147"/>
          </a:xfrm>
        </p:spPr>
        <p:txBody>
          <a:bodyPr/>
          <a:lstStyle/>
          <a:p>
            <a:pPr marL="271463" lvl="1" indent="0">
              <a:buNone/>
            </a:pPr>
            <a:r>
              <a:rPr lang="zh-CN" altLang="zh-CN" dirty="0" smtClean="0">
                <a:effectLst/>
              </a:rPr>
              <a:t>【</a:t>
            </a:r>
            <a:r>
              <a:rPr lang="zh-CN" altLang="zh-CN" dirty="0">
                <a:effectLst/>
              </a:rPr>
              <a:t>例</a:t>
            </a:r>
            <a:r>
              <a:rPr lang="en-US" altLang="zh-CN" dirty="0">
                <a:effectLst/>
              </a:rPr>
              <a:t>5-1</a:t>
            </a:r>
            <a:r>
              <a:rPr lang="zh-CN" altLang="zh-CN" dirty="0">
                <a:effectLst/>
              </a:rPr>
              <a:t>】输入一行字符串，把其中的</a:t>
            </a:r>
            <a:r>
              <a:rPr lang="zh-CN" altLang="zh-CN" dirty="0">
                <a:solidFill>
                  <a:srgbClr val="FF3300"/>
                </a:solidFill>
                <a:effectLst/>
              </a:rPr>
              <a:t>小写字符</a:t>
            </a:r>
            <a:r>
              <a:rPr lang="zh-CN" altLang="zh-CN" dirty="0">
                <a:effectLst/>
              </a:rPr>
              <a:t>改成</a:t>
            </a:r>
            <a:r>
              <a:rPr lang="zh-CN" altLang="zh-CN" dirty="0">
                <a:solidFill>
                  <a:srgbClr val="FF3300"/>
                </a:solidFill>
                <a:effectLst/>
              </a:rPr>
              <a:t>大写字符</a:t>
            </a:r>
            <a:r>
              <a:rPr lang="zh-CN" altLang="zh-CN" dirty="0">
                <a:effectLst/>
              </a:rPr>
              <a:t>，并输出该字符串</a:t>
            </a:r>
            <a:r>
              <a:rPr lang="zh-CN" altLang="zh-CN" dirty="0" smtClean="0">
                <a:effectLst/>
              </a:rPr>
              <a:t>。</a:t>
            </a:r>
            <a:endParaRPr lang="en-US" altLang="zh-CN" dirty="0" smtClean="0">
              <a:effectLst/>
            </a:endParaRPr>
          </a:p>
          <a:p>
            <a:pPr marL="271463" lvl="1" indent="0">
              <a:buNone/>
            </a:pPr>
            <a:r>
              <a:rPr lang="zh-CN" altLang="zh-CN" dirty="0">
                <a:effectLst/>
              </a:rPr>
              <a:t>此程序的运行结果如下图所示：</a:t>
            </a:r>
          </a:p>
          <a:p>
            <a:pPr marL="271463" lvl="1" indent="0">
              <a:buNone/>
            </a:pPr>
            <a:endParaRPr lang="zh-CN" altLang="zh-CN" dirty="0">
              <a:effectLst/>
            </a:endParaRPr>
          </a:p>
          <a:p>
            <a:pPr marL="271463" lvl="1" indent="0">
              <a:buNone/>
            </a:pPr>
            <a:endParaRPr lang="zh-CN" altLang="zh-CN" dirty="0">
              <a:effectLst/>
            </a:endParaRP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a:t>
            </a:fld>
            <a:endParaRPr lang="en-US" altLang="zh-C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284984"/>
            <a:ext cx="5263785" cy="12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108371"/>
      </p:ext>
    </p:extLst>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矩形 6"/>
          <p:cNvSpPr/>
          <p:nvPr/>
        </p:nvSpPr>
        <p:spPr>
          <a:xfrm>
            <a:off x="1187624" y="404664"/>
            <a:ext cx="6552728" cy="5693866"/>
          </a:xfrm>
          <a:prstGeom prst="rect">
            <a:avLst/>
          </a:prstGeom>
        </p:spPr>
        <p:txBody>
          <a:bodyPr wrap="square">
            <a:spAutoFit/>
          </a:bodyPr>
          <a:lstStyle/>
          <a:p>
            <a:pPr marL="0" indent="0">
              <a:buNone/>
            </a:pPr>
            <a:r>
              <a:rPr lang="en-US" altLang="zh-CN" sz="2800" b="1" dirty="0">
                <a:effectLst>
                  <a:outerShdw blurRad="38100" dist="38100" dir="2700000" algn="tl">
                    <a:srgbClr val="000000">
                      <a:alpha val="43137"/>
                    </a:srgbClr>
                  </a:outerShdw>
                </a:effectLst>
              </a:rPr>
              <a:t>#include &lt;</a:t>
            </a:r>
            <a:r>
              <a:rPr lang="en-US" altLang="zh-CN" sz="2800" b="1" dirty="0" err="1">
                <a:effectLst>
                  <a:outerShdw blurRad="38100" dist="38100" dir="2700000" algn="tl">
                    <a:srgbClr val="000000">
                      <a:alpha val="43137"/>
                    </a:srgbClr>
                  </a:outerShdw>
                </a:effectLst>
              </a:rPr>
              <a:t>stdio.h</a:t>
            </a:r>
            <a:r>
              <a:rPr lang="en-US" altLang="zh-CN" sz="2800" b="1" dirty="0">
                <a:effectLst>
                  <a:outerShdw blurRad="38100" dist="38100" dir="2700000" algn="tl">
                    <a:srgbClr val="000000">
                      <a:alpha val="43137"/>
                    </a:srgbClr>
                  </a:outerShdw>
                </a:effectLst>
              </a:rPr>
              <a:t>&gt;</a:t>
            </a:r>
          </a:p>
          <a:p>
            <a:pPr marL="0" indent="0">
              <a:buNone/>
            </a:pPr>
            <a:r>
              <a:rPr lang="en-US" altLang="zh-CN" sz="2800" b="1" dirty="0" err="1">
                <a:effectLst>
                  <a:outerShdw blurRad="38100" dist="38100" dir="2700000" algn="tl">
                    <a:srgbClr val="000000">
                      <a:alpha val="43137"/>
                    </a:srgbClr>
                  </a:outerShdw>
                </a:effectLst>
              </a:rPr>
              <a:t>int</a:t>
            </a:r>
            <a:r>
              <a:rPr lang="en-US" altLang="zh-CN" sz="2800" b="1" dirty="0">
                <a:effectLst>
                  <a:outerShdw blurRad="38100" dist="38100" dir="2700000" algn="tl">
                    <a:srgbClr val="000000">
                      <a:alpha val="43137"/>
                    </a:srgbClr>
                  </a:outerShdw>
                </a:effectLst>
              </a:rPr>
              <a:t> main()</a:t>
            </a:r>
          </a:p>
          <a:p>
            <a:pPr marL="0" indent="0">
              <a:buNone/>
            </a:pPr>
            <a:r>
              <a:rPr lang="en-US" altLang="zh-CN" sz="2800" b="1" dirty="0">
                <a:effectLst>
                  <a:outerShdw blurRad="38100" dist="38100" dir="2700000" algn="tl">
                    <a:srgbClr val="000000">
                      <a:alpha val="43137"/>
                    </a:srgbClr>
                  </a:outerShdw>
                </a:effectLst>
              </a:rPr>
              <a:t>{</a:t>
            </a:r>
          </a:p>
          <a:p>
            <a:pPr marL="0" indent="0">
              <a:buNone/>
            </a:pPr>
            <a:r>
              <a:rPr lang="en-US" altLang="zh-CN" sz="2800" b="1" dirty="0">
                <a:effectLst>
                  <a:outerShdw blurRad="38100" dist="38100" dir="2700000" algn="tl">
                    <a:srgbClr val="000000">
                      <a:alpha val="43137"/>
                    </a:srgbClr>
                  </a:outerShdw>
                </a:effectLst>
              </a:rPr>
              <a:t>    char </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[80];</a:t>
            </a:r>
          </a:p>
          <a:p>
            <a:pPr marL="0" indent="0">
              <a:buNone/>
            </a:pPr>
            <a:r>
              <a:rPr lang="en-US" altLang="zh-CN" sz="2800" b="1" dirty="0">
                <a:effectLst>
                  <a:outerShdw blurRad="38100" dist="38100" dir="2700000" algn="tl">
                    <a:srgbClr val="000000">
                      <a:alpha val="43137"/>
                    </a:srgbClr>
                  </a:outerShdw>
                </a:effectLst>
              </a:rPr>
              <a:t>    </a:t>
            </a:r>
            <a:r>
              <a:rPr lang="en-US" altLang="zh-CN" sz="2800" b="1" dirty="0" err="1">
                <a:effectLst>
                  <a:outerShdw blurRad="38100" dist="38100" dir="2700000" algn="tl">
                    <a:srgbClr val="000000">
                      <a:alpha val="43137"/>
                    </a:srgbClr>
                  </a:outerShdw>
                </a:effectLst>
              </a:rPr>
              <a:t>int</a:t>
            </a:r>
            <a:r>
              <a:rPr lang="en-US" altLang="zh-CN" sz="2800" b="1" dirty="0">
                <a:effectLst>
                  <a:outerShdw blurRad="38100" dist="38100" dir="2700000" algn="tl">
                    <a:srgbClr val="000000">
                      <a:alpha val="43137"/>
                    </a:srgbClr>
                  </a:outerShdw>
                </a:effectLst>
              </a:rPr>
              <a:t> </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a:t>
            </a:r>
          </a:p>
          <a:p>
            <a:pPr marL="0" indent="0">
              <a:buNone/>
            </a:pPr>
            <a:r>
              <a:rPr lang="en-US" altLang="zh-CN" sz="2800" b="1" dirty="0">
                <a:effectLst>
                  <a:outerShdw blurRad="38100" dist="38100" dir="2700000" algn="tl">
                    <a:srgbClr val="000000">
                      <a:alpha val="43137"/>
                    </a:srgbClr>
                  </a:outerShdw>
                </a:effectLst>
              </a:rPr>
              <a:t>    </a:t>
            </a:r>
            <a:r>
              <a:rPr lang="en-US" altLang="zh-CN" sz="2800" b="1" dirty="0" err="1">
                <a:effectLst>
                  <a:outerShdw blurRad="38100" dist="38100" dir="2700000" algn="tl">
                    <a:srgbClr val="000000">
                      <a:alpha val="43137"/>
                    </a:srgbClr>
                  </a:outerShdw>
                </a:effectLst>
              </a:rPr>
              <a:t>printf</a:t>
            </a:r>
            <a:r>
              <a:rPr lang="en-US" altLang="zh-CN" sz="2800" b="1" dirty="0">
                <a:effectLst>
                  <a:outerShdw blurRad="38100" dist="38100" dir="2700000" algn="tl">
                    <a:srgbClr val="000000">
                      <a:alpha val="43137"/>
                    </a:srgbClr>
                  </a:outerShdw>
                </a:effectLst>
              </a:rPr>
              <a:t>("Enter a string:");</a:t>
            </a:r>
          </a:p>
          <a:p>
            <a:pPr marL="0" indent="0">
              <a:buNone/>
            </a:pPr>
            <a:r>
              <a:rPr lang="en-US" altLang="zh-CN" sz="2800" b="1" dirty="0">
                <a:effectLst>
                  <a:outerShdw blurRad="38100" dist="38100" dir="2700000" algn="tl">
                    <a:srgbClr val="000000">
                      <a:alpha val="43137"/>
                    </a:srgbClr>
                  </a:outerShdw>
                </a:effectLst>
              </a:rPr>
              <a:t>    gets(</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a:t>
            </a:r>
          </a:p>
          <a:p>
            <a:pPr marL="0" indent="0">
              <a:buNone/>
            </a:pPr>
            <a:r>
              <a:rPr lang="en-US" altLang="zh-CN" sz="2800" b="1" dirty="0">
                <a:effectLst>
                  <a:outerShdw blurRad="38100" dist="38100" dir="2700000" algn="tl">
                    <a:srgbClr val="000000">
                      <a:alpha val="43137"/>
                    </a:srgbClr>
                  </a:outerShdw>
                </a:effectLst>
              </a:rPr>
              <a:t>    for(</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=0;str[</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a:t>
            </a:r>
          </a:p>
          <a:p>
            <a:pPr marL="0" indent="0">
              <a:buNone/>
            </a:pPr>
            <a:r>
              <a:rPr lang="en-US" altLang="zh-CN" sz="2800" b="1" dirty="0">
                <a:effectLst>
                  <a:outerShdw blurRad="38100" dist="38100" dir="2700000" algn="tl">
                    <a:srgbClr val="000000">
                      <a:alpha val="43137"/>
                    </a:srgbClr>
                  </a:outerShdw>
                </a:effectLst>
              </a:rPr>
              <a:t>        if(</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]&gt;='a' &amp;&amp; </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]&lt;='z')</a:t>
            </a:r>
          </a:p>
          <a:p>
            <a:pPr marL="0" indent="0">
              <a:buNone/>
            </a:pPr>
            <a:r>
              <a:rPr lang="en-US" altLang="zh-CN" sz="2800" b="1" dirty="0">
                <a:effectLst>
                  <a:outerShdw blurRad="38100" dist="38100" dir="2700000" algn="tl">
                    <a:srgbClr val="000000">
                      <a:alpha val="43137"/>
                    </a:srgbClr>
                  </a:outerShdw>
                </a:effectLst>
              </a:rPr>
              <a:t>            </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i</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i</a:t>
            </a:r>
            <a:r>
              <a:rPr lang="en-US" altLang="zh-CN" sz="2800" b="1" dirty="0" smtClean="0">
                <a:effectLst>
                  <a:outerShdw blurRad="38100" dist="38100" dir="2700000" algn="tl">
                    <a:srgbClr val="000000">
                      <a:alpha val="43137"/>
                    </a:srgbClr>
                  </a:outerShdw>
                </a:effectLst>
              </a:rPr>
              <a:t>]-</a:t>
            </a:r>
            <a:r>
              <a:rPr lang="en-US" altLang="zh-CN" sz="2800" b="1" dirty="0">
                <a:effectLst>
                  <a:outerShdw blurRad="38100" dist="38100" dir="2700000" algn="tl">
                    <a:srgbClr val="000000">
                      <a:alpha val="43137"/>
                    </a:srgbClr>
                  </a:outerShdw>
                </a:effectLst>
              </a:rPr>
              <a:t>'</a:t>
            </a:r>
            <a:r>
              <a:rPr lang="en-US" altLang="zh-CN" sz="2800" b="1" dirty="0" err="1">
                <a:effectLst>
                  <a:outerShdw blurRad="38100" dist="38100" dir="2700000" algn="tl">
                    <a:srgbClr val="000000">
                      <a:alpha val="43137"/>
                    </a:srgbClr>
                  </a:outerShdw>
                </a:effectLst>
              </a:rPr>
              <a:t>a'+'A</a:t>
            </a:r>
            <a:r>
              <a:rPr lang="en-US" altLang="zh-CN" sz="2800" b="1" dirty="0" smtClean="0">
                <a:effectLst>
                  <a:outerShdw blurRad="38100" dist="38100" dir="2700000" algn="tl">
                    <a:srgbClr val="000000">
                      <a:alpha val="43137"/>
                    </a:srgbClr>
                  </a:outerShdw>
                </a:effectLst>
              </a:rPr>
              <a:t>';</a:t>
            </a:r>
            <a:endParaRPr lang="en-US" altLang="zh-CN" sz="2800" b="1" dirty="0">
              <a:effectLst>
                <a:outerShdw blurRad="38100" dist="38100" dir="2700000" algn="tl">
                  <a:srgbClr val="000000">
                    <a:alpha val="43137"/>
                  </a:srgbClr>
                </a:outerShdw>
              </a:effectLst>
            </a:endParaRPr>
          </a:p>
          <a:p>
            <a:pPr marL="0" indent="0">
              <a:buNone/>
            </a:pPr>
            <a:r>
              <a:rPr lang="en-US" altLang="zh-CN" sz="2800" b="1" dirty="0">
                <a:effectLst>
                  <a:outerShdw blurRad="38100" dist="38100" dir="2700000" algn="tl">
                    <a:srgbClr val="000000">
                      <a:alpha val="43137"/>
                    </a:srgbClr>
                  </a:outerShdw>
                </a:effectLst>
              </a:rPr>
              <a:t>    puts(</a:t>
            </a:r>
            <a:r>
              <a:rPr lang="en-US" altLang="zh-CN" sz="2800" b="1" dirty="0" err="1">
                <a:effectLst>
                  <a:outerShdw blurRad="38100" dist="38100" dir="2700000" algn="tl">
                    <a:srgbClr val="000000">
                      <a:alpha val="43137"/>
                    </a:srgbClr>
                  </a:outerShdw>
                </a:effectLst>
              </a:rPr>
              <a:t>str</a:t>
            </a:r>
            <a:r>
              <a:rPr lang="en-US" altLang="zh-CN" sz="2800" b="1" dirty="0">
                <a:effectLst>
                  <a:outerShdw blurRad="38100" dist="38100" dir="2700000" algn="tl">
                    <a:srgbClr val="000000">
                      <a:alpha val="43137"/>
                    </a:srgbClr>
                  </a:outerShdw>
                </a:effectLst>
              </a:rPr>
              <a:t>);</a:t>
            </a:r>
          </a:p>
          <a:p>
            <a:pPr marL="0" indent="0">
              <a:buNone/>
            </a:pPr>
            <a:r>
              <a:rPr lang="en-US" altLang="zh-CN" sz="2800" b="1" dirty="0">
                <a:effectLst>
                  <a:outerShdw blurRad="38100" dist="38100" dir="2700000" algn="tl">
                    <a:srgbClr val="000000">
                      <a:alpha val="43137"/>
                    </a:srgbClr>
                  </a:outerShdw>
                </a:effectLst>
              </a:rPr>
              <a:t>    return 0;</a:t>
            </a:r>
          </a:p>
          <a:p>
            <a:pPr marL="0" indent="0">
              <a:buNone/>
            </a:pPr>
            <a:r>
              <a:rPr lang="en-US" altLang="zh-CN" sz="2800" b="1" dirty="0">
                <a:effectLst>
                  <a:outerShdw blurRad="38100" dist="38100" dir="2700000" algn="tl">
                    <a:srgbClr val="000000">
                      <a:alpha val="43137"/>
                    </a:srgbClr>
                  </a:outerShdw>
                </a:effectLst>
              </a:rPr>
              <a:t>}</a:t>
            </a:r>
            <a:endParaRPr lang="zh-CN" altLang="en-US"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19977053"/>
      </p:ext>
    </p:extLst>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矩形 6"/>
          <p:cNvSpPr/>
          <p:nvPr/>
        </p:nvSpPr>
        <p:spPr>
          <a:xfrm>
            <a:off x="683568" y="404664"/>
            <a:ext cx="7632848" cy="5940088"/>
          </a:xfrm>
          <a:prstGeom prst="rect">
            <a:avLst/>
          </a:prstGeom>
        </p:spPr>
        <p:txBody>
          <a:bodyPr wrap="square">
            <a:spAutoFit/>
          </a:bodyPr>
          <a:lstStyle/>
          <a:p>
            <a:pPr marL="0" indent="0">
              <a:buNone/>
            </a:pPr>
            <a:r>
              <a:rPr lang="en-US" altLang="zh-CN" sz="2000" b="1" dirty="0">
                <a:effectLst>
                  <a:outerShdw blurRad="38100" dist="38100" dir="2700000" algn="tl">
                    <a:srgbClr val="000000">
                      <a:alpha val="43137"/>
                    </a:srgbClr>
                  </a:outerShdw>
                </a:effectLst>
              </a:rPr>
              <a:t>#include &lt;</a:t>
            </a:r>
            <a:r>
              <a:rPr lang="en-US" altLang="zh-CN" sz="2000" b="1" dirty="0" err="1">
                <a:effectLst>
                  <a:outerShdw blurRad="38100" dist="38100" dir="2700000" algn="tl">
                    <a:srgbClr val="000000">
                      <a:alpha val="43137"/>
                    </a:srgbClr>
                  </a:outerShdw>
                </a:effectLst>
              </a:rPr>
              <a:t>stdio.h</a:t>
            </a:r>
            <a:r>
              <a:rPr lang="en-US" altLang="zh-CN" sz="2000" b="1" dirty="0">
                <a:effectLst>
                  <a:outerShdw blurRad="38100" dist="38100" dir="2700000" algn="tl">
                    <a:srgbClr val="000000">
                      <a:alpha val="43137"/>
                    </a:srgbClr>
                  </a:outerShdw>
                </a:effectLst>
              </a:rPr>
              <a:t>&gt;            </a:t>
            </a:r>
            <a:r>
              <a:rPr lang="en-US" altLang="zh-CN" sz="2000" b="1" dirty="0">
                <a:effectLst>
                  <a:outerShdw blurRad="38100" dist="38100" dir="2700000" algn="tl">
                    <a:srgbClr val="000000">
                      <a:alpha val="43137"/>
                    </a:srgbClr>
                  </a:outerShdw>
                </a:effectLst>
                <a:latin typeface="+mn-ea"/>
                <a:ea typeface="+mn-ea"/>
              </a:rPr>
              <a:t>//</a:t>
            </a:r>
            <a:r>
              <a:rPr lang="zh-CN" altLang="en-US" sz="2000" b="1" dirty="0">
                <a:effectLst>
                  <a:outerShdw blurRad="38100" dist="38100" dir="2700000" algn="tl">
                    <a:srgbClr val="000000">
                      <a:alpha val="43137"/>
                    </a:srgbClr>
                  </a:outerShdw>
                </a:effectLst>
                <a:latin typeface="+mn-ea"/>
                <a:ea typeface="+mn-ea"/>
              </a:rPr>
              <a:t>先引用后定义</a:t>
            </a:r>
          </a:p>
          <a:p>
            <a:r>
              <a:rPr lang="en-US" altLang="zh-CN" sz="2000" b="1" dirty="0">
                <a:solidFill>
                  <a:srgbClr val="0066FF"/>
                </a:solidFill>
                <a:effectLst>
                  <a:outerShdw blurRad="38100" dist="38100" dir="2700000" algn="tl">
                    <a:srgbClr val="000000">
                      <a:alpha val="43137"/>
                    </a:srgbClr>
                  </a:outerShdw>
                </a:effectLst>
              </a:rPr>
              <a:t>char </a:t>
            </a:r>
            <a:r>
              <a:rPr lang="en-US" altLang="zh-CN" sz="2000" b="1" dirty="0" err="1">
                <a:solidFill>
                  <a:srgbClr val="0066FF"/>
                </a:solidFill>
                <a:effectLst>
                  <a:outerShdw blurRad="38100" dist="38100" dir="2700000" algn="tl">
                    <a:srgbClr val="000000">
                      <a:alpha val="43137"/>
                    </a:srgbClr>
                  </a:outerShdw>
                </a:effectLst>
              </a:rPr>
              <a:t>low_to_upper</a:t>
            </a:r>
            <a:r>
              <a:rPr lang="en-US" altLang="zh-CN" sz="2000" b="1" dirty="0">
                <a:solidFill>
                  <a:srgbClr val="0066FF"/>
                </a:solidFill>
                <a:effectLst>
                  <a:outerShdw blurRad="38100" dist="38100" dir="2700000" algn="tl">
                    <a:srgbClr val="000000">
                      <a:alpha val="43137"/>
                    </a:srgbClr>
                  </a:outerShdw>
                </a:effectLst>
              </a:rPr>
              <a:t>(</a:t>
            </a:r>
            <a:r>
              <a:rPr lang="en-US" altLang="zh-CN" sz="2000" b="1" dirty="0">
                <a:solidFill>
                  <a:srgbClr val="FF0000"/>
                </a:solidFill>
                <a:effectLst>
                  <a:outerShdw blurRad="38100" dist="38100" dir="2700000" algn="tl">
                    <a:srgbClr val="000000">
                      <a:alpha val="43137"/>
                    </a:srgbClr>
                  </a:outerShdw>
                </a:effectLst>
              </a:rPr>
              <a:t>char c</a:t>
            </a:r>
            <a:r>
              <a:rPr lang="en-US" altLang="zh-CN" sz="2000" b="1" dirty="0">
                <a:solidFill>
                  <a:srgbClr val="0066FF"/>
                </a:solidFill>
                <a:effectLst>
                  <a:outerShdw blurRad="38100" dist="38100" dir="2700000" algn="tl">
                    <a:srgbClr val="000000">
                      <a:alpha val="43137"/>
                    </a:srgbClr>
                  </a:outerShdw>
                </a:effectLst>
              </a:rPr>
              <a:t>);      //</a:t>
            </a:r>
            <a:r>
              <a:rPr lang="zh-CN" altLang="en-US" sz="2000" b="1" dirty="0">
                <a:solidFill>
                  <a:srgbClr val="0066FF"/>
                </a:solidFill>
                <a:effectLst>
                  <a:outerShdw blurRad="38100" dist="38100" dir="2700000" algn="tl">
                    <a:srgbClr val="000000">
                      <a:alpha val="43137"/>
                    </a:srgbClr>
                  </a:outerShdw>
                </a:effectLst>
                <a:latin typeface="+mn-ea"/>
                <a:ea typeface="+mn-ea"/>
              </a:rPr>
              <a:t>函数</a:t>
            </a:r>
            <a:r>
              <a:rPr lang="zh-CN" altLang="en-US" sz="2000" b="1" dirty="0" smtClean="0">
                <a:solidFill>
                  <a:srgbClr val="0066FF"/>
                </a:solidFill>
                <a:effectLst>
                  <a:outerShdw blurRad="38100" dist="38100" dir="2700000" algn="tl">
                    <a:srgbClr val="000000">
                      <a:alpha val="43137"/>
                    </a:srgbClr>
                  </a:outerShdw>
                </a:effectLst>
                <a:latin typeface="+mn-ea"/>
                <a:ea typeface="+mn-ea"/>
              </a:rPr>
              <a:t>声明，此处</a:t>
            </a:r>
            <a:r>
              <a:rPr lang="en-US" altLang="zh-CN" sz="2000" b="1" dirty="0" smtClean="0">
                <a:solidFill>
                  <a:srgbClr val="0066FF"/>
                </a:solidFill>
                <a:effectLst>
                  <a:outerShdw blurRad="38100" dist="38100" dir="2700000" algn="tl">
                    <a:srgbClr val="000000">
                      <a:alpha val="43137"/>
                    </a:srgbClr>
                  </a:outerShdw>
                </a:effectLst>
                <a:latin typeface="+mn-ea"/>
                <a:ea typeface="+mn-ea"/>
              </a:rPr>
              <a:t>c</a:t>
            </a:r>
            <a:r>
              <a:rPr lang="zh-CN" altLang="en-US" sz="2000" b="1" dirty="0" smtClean="0">
                <a:solidFill>
                  <a:srgbClr val="0066FF"/>
                </a:solidFill>
                <a:effectLst>
                  <a:outerShdw blurRad="38100" dist="38100" dir="2700000" algn="tl">
                    <a:srgbClr val="000000">
                      <a:alpha val="43137"/>
                    </a:srgbClr>
                  </a:outerShdw>
                </a:effectLst>
                <a:latin typeface="+mn-ea"/>
                <a:ea typeface="+mn-ea"/>
              </a:rPr>
              <a:t>可以省略</a:t>
            </a:r>
            <a:endParaRPr lang="zh-CN" altLang="en-US" sz="2000" b="1" dirty="0">
              <a:solidFill>
                <a:srgbClr val="0066FF"/>
              </a:solidFill>
              <a:effectLst>
                <a:outerShdw blurRad="38100" dist="38100" dir="2700000" algn="tl">
                  <a:srgbClr val="000000">
                    <a:alpha val="43137"/>
                  </a:srgbClr>
                </a:outerShdw>
              </a:effectLst>
              <a:latin typeface="+mn-ea"/>
              <a:ea typeface="+mn-ea"/>
            </a:endParaRPr>
          </a:p>
          <a:p>
            <a:pPr marL="0" indent="0">
              <a:buNone/>
            </a:pPr>
            <a:r>
              <a:rPr lang="en-US" altLang="zh-CN" sz="2000" b="1" dirty="0" err="1" smtClean="0">
                <a:effectLst>
                  <a:outerShdw blurRad="38100" dist="38100" dir="2700000" algn="tl">
                    <a:srgbClr val="000000">
                      <a:alpha val="43137"/>
                    </a:srgbClr>
                  </a:outerShdw>
                </a:effectLst>
              </a:rPr>
              <a:t>int</a:t>
            </a:r>
            <a:r>
              <a:rPr lang="en-US" altLang="zh-CN" sz="2000" b="1" dirty="0" smtClean="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main()</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char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[80];</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dirty="0" smtClean="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printf</a:t>
            </a:r>
            <a:r>
              <a:rPr lang="en-US" altLang="zh-CN" sz="2000" b="1" dirty="0">
                <a:effectLst>
                  <a:outerShdw blurRad="38100" dist="38100" dir="2700000" algn="tl">
                    <a:srgbClr val="000000">
                      <a:alpha val="43137"/>
                    </a:srgbClr>
                  </a:outerShdw>
                </a:effectLst>
              </a:rPr>
              <a:t>("Enter a string:");</a:t>
            </a:r>
          </a:p>
          <a:p>
            <a:pPr marL="0" indent="0">
              <a:buNone/>
            </a:pPr>
            <a:r>
              <a:rPr lang="en-US" altLang="zh-CN" sz="2000" b="1" dirty="0">
                <a:effectLst>
                  <a:outerShdw blurRad="38100" dist="38100" dir="2700000" algn="tl">
                    <a:srgbClr val="000000">
                      <a:alpha val="43137"/>
                    </a:srgbClr>
                  </a:outerShdw>
                </a:effectLst>
              </a:rPr>
              <a:t>    gets(</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for(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=0;str[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            </a:t>
            </a:r>
            <a:r>
              <a:rPr lang="en-US" altLang="zh-CN" sz="2000" b="1" dirty="0" smtClean="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latin typeface="+mn-ea"/>
                <a:ea typeface="+mn-ea"/>
              </a:rPr>
              <a:t>//</a:t>
            </a:r>
            <a:r>
              <a:rPr lang="zh-CN" altLang="en-US" sz="2000" b="1" dirty="0">
                <a:effectLst>
                  <a:outerShdw blurRad="38100" dist="38100" dir="2700000" algn="tl">
                    <a:srgbClr val="000000">
                      <a:alpha val="43137"/>
                    </a:srgbClr>
                  </a:outerShdw>
                </a:effectLst>
                <a:latin typeface="+mn-ea"/>
                <a:ea typeface="+mn-ea"/>
              </a:rPr>
              <a:t>自定义函数调用</a:t>
            </a:r>
          </a:p>
          <a:p>
            <a:pPr marL="0" indent="0">
              <a:buNone/>
            </a:pP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puts(</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return 0;</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char </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(char </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latin typeface="+mn-ea"/>
                <a:ea typeface="+mn-ea"/>
              </a:rPr>
              <a:t>//</a:t>
            </a:r>
            <a:r>
              <a:rPr lang="zh-CN" altLang="en-US" sz="2000" b="1" dirty="0">
                <a:effectLst>
                  <a:outerShdw blurRad="38100" dist="38100" dir="2700000" algn="tl">
                    <a:srgbClr val="000000">
                      <a:alpha val="43137"/>
                    </a:srgbClr>
                  </a:outerShdw>
                </a:effectLst>
                <a:latin typeface="+mn-ea"/>
                <a:ea typeface="+mn-ea"/>
              </a:rPr>
              <a:t>自定义函数</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if(</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&gt;='a' &amp;&amp; </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&lt;='z')</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a'+'A</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return </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latin typeface="+mn-ea"/>
                <a:ea typeface="+mn-ea"/>
              </a:rPr>
              <a:t>//</a:t>
            </a:r>
            <a:r>
              <a:rPr lang="zh-CN" altLang="en-US" sz="2000" b="1" dirty="0">
                <a:effectLst>
                  <a:outerShdw blurRad="38100" dist="38100" dir="2700000" algn="tl">
                    <a:srgbClr val="000000">
                      <a:alpha val="43137"/>
                    </a:srgbClr>
                  </a:outerShdw>
                </a:effectLst>
                <a:latin typeface="+mn-ea"/>
                <a:ea typeface="+mn-ea"/>
              </a:rPr>
              <a:t>返回自定义函数值</a:t>
            </a:r>
          </a:p>
          <a:p>
            <a:pPr marL="0" indent="0">
              <a:buNone/>
            </a:pPr>
            <a:r>
              <a:rPr lang="en-US" altLang="zh-CN" sz="2000" b="1" dirty="0">
                <a:effectLst>
                  <a:outerShdw blurRad="38100" dist="38100" dir="2700000" algn="tl">
                    <a:srgbClr val="000000">
                      <a:alpha val="43137"/>
                    </a:srgbClr>
                  </a:outerShdw>
                </a:effectLst>
              </a:rPr>
              <a:t>}</a:t>
            </a:r>
          </a:p>
        </p:txBody>
      </p:sp>
      <p:sp>
        <p:nvSpPr>
          <p:cNvPr id="2" name="文本框 1"/>
          <p:cNvSpPr txBox="1"/>
          <p:nvPr/>
        </p:nvSpPr>
        <p:spPr>
          <a:xfrm>
            <a:off x="6660232" y="1916832"/>
            <a:ext cx="1656184" cy="461665"/>
          </a:xfrm>
          <a:prstGeom prst="rect">
            <a:avLst/>
          </a:prstGeom>
          <a:noFill/>
          <a:ln w="28575">
            <a:solidFill>
              <a:schemeClr val="tx1"/>
            </a:solidFill>
          </a:ln>
        </p:spPr>
        <p:txBody>
          <a:bodyPr wrap="square" rtlCol="0">
            <a:spAutoFit/>
          </a:bodyPr>
          <a:lstStyle/>
          <a:p>
            <a:r>
              <a:rPr lang="en-US" altLang="zh-CN" sz="2400" b="1" dirty="0" smtClean="0"/>
              <a:t>Abc123#$</a:t>
            </a:r>
            <a:endParaRPr lang="zh-CN" altLang="en-US" sz="2400" b="1" dirty="0"/>
          </a:p>
        </p:txBody>
      </p:sp>
      <p:sp>
        <p:nvSpPr>
          <p:cNvPr id="4" name="文本框 3"/>
          <p:cNvSpPr txBox="1"/>
          <p:nvPr/>
        </p:nvSpPr>
        <p:spPr>
          <a:xfrm>
            <a:off x="6660232" y="2636912"/>
            <a:ext cx="1728192" cy="461665"/>
          </a:xfrm>
          <a:prstGeom prst="rect">
            <a:avLst/>
          </a:prstGeom>
          <a:noFill/>
          <a:ln w="28575">
            <a:solidFill>
              <a:schemeClr val="tx1"/>
            </a:solidFill>
          </a:ln>
        </p:spPr>
        <p:txBody>
          <a:bodyPr wrap="square" rtlCol="0">
            <a:spAutoFit/>
          </a:bodyPr>
          <a:lstStyle/>
          <a:p>
            <a:r>
              <a:rPr lang="en-US" altLang="zh-CN" sz="2400" b="1" dirty="0" smtClean="0"/>
              <a:t>ABC123#$</a:t>
            </a:r>
            <a:endParaRPr lang="zh-CN" altLang="en-US" sz="2400" b="1" dirty="0"/>
          </a:p>
        </p:txBody>
      </p:sp>
      <p:sp>
        <p:nvSpPr>
          <p:cNvPr id="6" name="文本框 5"/>
          <p:cNvSpPr txBox="1"/>
          <p:nvPr/>
        </p:nvSpPr>
        <p:spPr>
          <a:xfrm>
            <a:off x="7704348" y="4610745"/>
            <a:ext cx="828092" cy="461665"/>
          </a:xfrm>
          <a:prstGeom prst="rect">
            <a:avLst/>
          </a:prstGeom>
          <a:noFill/>
          <a:ln w="28575">
            <a:solidFill>
              <a:schemeClr val="tx1"/>
            </a:solidFill>
          </a:ln>
        </p:spPr>
        <p:txBody>
          <a:bodyPr wrap="square" rtlCol="0">
            <a:spAutoFit/>
          </a:bodyPr>
          <a:lstStyle/>
          <a:p>
            <a:r>
              <a:rPr lang="en-US" altLang="zh-CN" sz="2400" b="1" dirty="0" smtClean="0"/>
              <a:t>A</a:t>
            </a:r>
            <a:endParaRPr lang="zh-CN" altLang="en-US" sz="2400" b="1" dirty="0"/>
          </a:p>
        </p:txBody>
      </p:sp>
      <p:sp>
        <p:nvSpPr>
          <p:cNvPr id="8" name="文本框 7"/>
          <p:cNvSpPr txBox="1"/>
          <p:nvPr/>
        </p:nvSpPr>
        <p:spPr>
          <a:xfrm>
            <a:off x="6660232" y="4604294"/>
            <a:ext cx="864096" cy="461665"/>
          </a:xfrm>
          <a:prstGeom prst="rect">
            <a:avLst/>
          </a:prstGeom>
          <a:noFill/>
          <a:ln w="28575">
            <a:solidFill>
              <a:schemeClr val="tx1"/>
            </a:solidFill>
          </a:ln>
        </p:spPr>
        <p:txBody>
          <a:bodyPr wrap="square" rtlCol="0">
            <a:spAutoFit/>
          </a:bodyPr>
          <a:lstStyle/>
          <a:p>
            <a:r>
              <a:rPr lang="zh-CN" altLang="en-US" b="1" dirty="0" smtClean="0"/>
              <a:t>分配临时存储空间</a:t>
            </a:r>
            <a:endParaRPr lang="zh-CN" altLang="en-US" b="1" dirty="0"/>
          </a:p>
        </p:txBody>
      </p:sp>
      <p:sp>
        <p:nvSpPr>
          <p:cNvPr id="9" name="文本框 8"/>
          <p:cNvSpPr txBox="1"/>
          <p:nvPr/>
        </p:nvSpPr>
        <p:spPr>
          <a:xfrm>
            <a:off x="7697398" y="4213833"/>
            <a:ext cx="576064" cy="338554"/>
          </a:xfrm>
          <a:prstGeom prst="rect">
            <a:avLst/>
          </a:prstGeom>
          <a:noFill/>
          <a:ln w="28575">
            <a:noFill/>
          </a:ln>
        </p:spPr>
        <p:txBody>
          <a:bodyPr wrap="square" rtlCol="0">
            <a:spAutoFit/>
          </a:bodyPr>
          <a:lstStyle/>
          <a:p>
            <a:r>
              <a:rPr lang="en-US" altLang="zh-CN" sz="1600" b="1" dirty="0" err="1" smtClean="0"/>
              <a:t>ch</a:t>
            </a:r>
            <a:endParaRPr lang="zh-CN" altLang="en-US" sz="1600" b="1" dirty="0"/>
          </a:p>
        </p:txBody>
      </p:sp>
    </p:spTree>
    <p:extLst>
      <p:ext uri="{BB962C8B-B14F-4D97-AF65-F5344CB8AC3E}">
        <p14:creationId xmlns:p14="http://schemas.microsoft.com/office/powerpoint/2010/main" val="898625535"/>
      </p:ext>
    </p:extLst>
  </p:cSld>
  <p:clrMapOvr>
    <a:masterClrMapping/>
  </p:clrMapOvr>
  <p:transition spd="med">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矩形 6"/>
          <p:cNvSpPr/>
          <p:nvPr/>
        </p:nvSpPr>
        <p:spPr>
          <a:xfrm>
            <a:off x="467544" y="441240"/>
            <a:ext cx="7632848" cy="5940088"/>
          </a:xfrm>
          <a:prstGeom prst="rect">
            <a:avLst/>
          </a:prstGeom>
        </p:spPr>
        <p:txBody>
          <a:bodyPr wrap="square">
            <a:spAutoFit/>
          </a:bodyPr>
          <a:lstStyle/>
          <a:p>
            <a:pPr marL="0" indent="0">
              <a:buNone/>
            </a:pPr>
            <a:r>
              <a:rPr lang="en-US" altLang="zh-CN" sz="2000" b="1" dirty="0">
                <a:effectLst>
                  <a:outerShdw blurRad="38100" dist="38100" dir="2700000" algn="tl">
                    <a:srgbClr val="000000">
                      <a:alpha val="43137"/>
                    </a:srgbClr>
                  </a:outerShdw>
                </a:effectLst>
              </a:rPr>
              <a:t>#include &lt;</a:t>
            </a:r>
            <a:r>
              <a:rPr lang="en-US" altLang="zh-CN" sz="2000" b="1" dirty="0" err="1">
                <a:effectLst>
                  <a:outerShdw blurRad="38100" dist="38100" dir="2700000" algn="tl">
                    <a:srgbClr val="000000">
                      <a:alpha val="43137"/>
                    </a:srgbClr>
                  </a:outerShdw>
                </a:effectLst>
              </a:rPr>
              <a:t>stdio.h</a:t>
            </a:r>
            <a:r>
              <a:rPr lang="en-US" altLang="zh-CN" sz="2000" b="1" dirty="0" smtClean="0">
                <a:effectLst>
                  <a:outerShdw blurRad="38100" dist="38100" dir="2700000" algn="tl">
                    <a:srgbClr val="000000">
                      <a:alpha val="43137"/>
                    </a:srgbClr>
                  </a:outerShdw>
                </a:effectLst>
              </a:rPr>
              <a:t>&gt;             </a:t>
            </a:r>
            <a:r>
              <a:rPr lang="en-US" altLang="zh-CN" sz="2000" b="1" dirty="0" smtClean="0">
                <a:effectLst>
                  <a:outerShdw blurRad="38100" dist="38100" dir="2700000" algn="tl">
                    <a:srgbClr val="000000">
                      <a:alpha val="43137"/>
                    </a:srgbClr>
                  </a:outerShdw>
                </a:effectLst>
                <a:latin typeface="+mn-ea"/>
                <a:ea typeface="+mn-ea"/>
              </a:rPr>
              <a:t>//</a:t>
            </a:r>
            <a:r>
              <a:rPr lang="zh-CN" altLang="en-US" sz="2000" b="1" dirty="0" smtClean="0">
                <a:effectLst>
                  <a:outerShdw blurRad="38100" dist="38100" dir="2700000" algn="tl">
                    <a:srgbClr val="000000">
                      <a:alpha val="43137"/>
                    </a:srgbClr>
                  </a:outerShdw>
                </a:effectLst>
                <a:latin typeface="+mn-ea"/>
                <a:ea typeface="+mn-ea"/>
              </a:rPr>
              <a:t>先定义后引用</a:t>
            </a:r>
            <a:endParaRPr lang="en-US" altLang="zh-CN" sz="2000" b="1" dirty="0">
              <a:effectLst>
                <a:outerShdw blurRad="38100" dist="38100" dir="2700000" algn="tl">
                  <a:srgbClr val="000000">
                    <a:alpha val="43137"/>
                  </a:srgbClr>
                </a:outerShdw>
              </a:effectLst>
              <a:latin typeface="+mn-ea"/>
              <a:ea typeface="+mn-ea"/>
            </a:endParaRPr>
          </a:p>
          <a:p>
            <a:pPr marL="0" indent="0">
              <a:buNone/>
            </a:pPr>
            <a:r>
              <a:rPr lang="en-US" altLang="zh-CN" sz="2000" b="1" dirty="0">
                <a:effectLst>
                  <a:outerShdw blurRad="38100" dist="38100" dir="2700000" algn="tl">
                    <a:srgbClr val="000000">
                      <a:alpha val="43137"/>
                    </a:srgbClr>
                  </a:outerShdw>
                </a:effectLst>
              </a:rPr>
              <a:t>char </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(char </a:t>
            </a:r>
            <a:r>
              <a:rPr lang="en-US" altLang="zh-CN" sz="2000" b="1" dirty="0" err="1" smtClean="0">
                <a:effectLst>
                  <a:outerShdw blurRad="38100" dist="38100" dir="2700000" algn="tl">
                    <a:srgbClr val="000000">
                      <a:alpha val="43137"/>
                    </a:srgbClr>
                  </a:outerShdw>
                </a:effectLst>
              </a:rPr>
              <a:t>ch</a:t>
            </a:r>
            <a:r>
              <a:rPr lang="en-US" altLang="zh-CN" sz="2000" b="1" dirty="0" smtClean="0">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smtClean="0">
                <a:effectLst>
                  <a:outerShdw blurRad="38100" dist="38100" dir="2700000" algn="tl">
                    <a:srgbClr val="000000">
                      <a:alpha val="43137"/>
                    </a:srgbClr>
                  </a:outerShdw>
                </a:effectLst>
              </a:rPr>
              <a:t>   if(</a:t>
            </a:r>
            <a:r>
              <a:rPr lang="en-US" altLang="zh-CN" sz="2000" b="1" dirty="0" err="1" smtClean="0">
                <a:effectLst>
                  <a:outerShdw blurRad="38100" dist="38100" dir="2700000" algn="tl">
                    <a:srgbClr val="000000">
                      <a:alpha val="43137"/>
                    </a:srgbClr>
                  </a:outerShdw>
                </a:effectLst>
              </a:rPr>
              <a:t>ch</a:t>
            </a:r>
            <a:r>
              <a:rPr lang="en-US" altLang="zh-CN" sz="2000" b="1" dirty="0" smtClean="0">
                <a:effectLst>
                  <a:outerShdw blurRad="38100" dist="38100" dir="2700000" algn="tl">
                    <a:srgbClr val="000000">
                      <a:alpha val="43137"/>
                    </a:srgbClr>
                  </a:outerShdw>
                </a:effectLst>
              </a:rPr>
              <a:t>&gt;=</a:t>
            </a:r>
            <a:r>
              <a:rPr lang="en-US" altLang="zh-CN" sz="2000" b="1" dirty="0">
                <a:effectLst>
                  <a:outerShdw blurRad="38100" dist="38100" dir="2700000" algn="tl">
                    <a:srgbClr val="000000">
                      <a:alpha val="43137"/>
                    </a:srgbClr>
                  </a:outerShdw>
                </a:effectLst>
              </a:rPr>
              <a:t>'a' &amp;&amp; </a:t>
            </a:r>
            <a:r>
              <a:rPr lang="en-US" altLang="zh-CN" sz="2000" b="1" dirty="0" err="1" smtClean="0">
                <a:effectLst>
                  <a:outerShdw blurRad="38100" dist="38100" dir="2700000" algn="tl">
                    <a:srgbClr val="000000">
                      <a:alpha val="43137"/>
                    </a:srgbClr>
                  </a:outerShdw>
                </a:effectLst>
              </a:rPr>
              <a:t>ch</a:t>
            </a:r>
            <a:r>
              <a:rPr lang="en-US" altLang="zh-CN" sz="2000" b="1" dirty="0" smtClean="0">
                <a:effectLst>
                  <a:outerShdw blurRad="38100" dist="38100" dir="2700000" algn="tl">
                    <a:srgbClr val="000000">
                      <a:alpha val="43137"/>
                    </a:srgbClr>
                  </a:outerShdw>
                </a:effectLst>
              </a:rPr>
              <a:t>&lt;=</a:t>
            </a:r>
            <a:r>
              <a:rPr lang="en-US" altLang="zh-CN" sz="2000" b="1" dirty="0">
                <a:effectLst>
                  <a:outerShdw blurRad="38100" dist="38100" dir="2700000" algn="tl">
                    <a:srgbClr val="000000">
                      <a:alpha val="43137"/>
                    </a:srgbClr>
                  </a:outerShdw>
                </a:effectLst>
              </a:rPr>
              <a:t>'z')</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ch</a:t>
            </a:r>
            <a:r>
              <a:rPr lang="en-US" altLang="zh-CN" sz="2000" b="1" dirty="0" smtClean="0">
                <a:effectLst>
                  <a:outerShdw blurRad="38100" dist="38100" dir="2700000" algn="tl">
                    <a:srgbClr val="000000">
                      <a:alpha val="43137"/>
                    </a:srgbClr>
                  </a:outerShdw>
                </a:effectLst>
              </a:rPr>
              <a:t>=ch-32</a:t>
            </a:r>
            <a:r>
              <a:rPr lang="en-US" altLang="zh-CN" sz="2000" b="1" dirty="0">
                <a:effectLst>
                  <a:outerShdw blurRad="38100" dist="38100" dir="2700000" algn="tl">
                    <a:srgbClr val="000000">
                      <a:alpha val="43137"/>
                    </a:srgbClr>
                  </a:outerShdw>
                </a:effectLst>
              </a:rPr>
              <a:t>;</a:t>
            </a:r>
          </a:p>
          <a:p>
            <a:pPr marL="0" indent="0">
              <a:buNone/>
            </a:pPr>
            <a:r>
              <a:rPr lang="en-US" altLang="zh-CN" sz="2000" b="1" dirty="0" smtClean="0">
                <a:effectLst>
                  <a:outerShdw blurRad="38100" dist="38100" dir="2700000" algn="tl">
                    <a:srgbClr val="000000">
                      <a:alpha val="43137"/>
                    </a:srgbClr>
                  </a:outerShdw>
                </a:effectLst>
              </a:rPr>
              <a:t>   return </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main()</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char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[80];</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strike="sngStrike" dirty="0">
                <a:effectLst>
                  <a:outerShdw blurRad="38100" dist="38100" dir="2700000" algn="tl">
                    <a:srgbClr val="000000">
                      <a:alpha val="43137"/>
                    </a:srgbClr>
                  </a:outerShdw>
                </a:effectLst>
              </a:rPr>
              <a:t>   // char </a:t>
            </a:r>
            <a:r>
              <a:rPr lang="en-US" altLang="zh-CN" sz="2000" b="1" strike="sngStrike" dirty="0" err="1">
                <a:effectLst>
                  <a:outerShdw blurRad="38100" dist="38100" dir="2700000" algn="tl">
                    <a:srgbClr val="000000">
                      <a:alpha val="43137"/>
                    </a:srgbClr>
                  </a:outerShdw>
                </a:effectLst>
              </a:rPr>
              <a:t>low_to_upper</a:t>
            </a:r>
            <a:r>
              <a:rPr lang="en-US" altLang="zh-CN" sz="2000" b="1" strike="sngStrike" dirty="0">
                <a:effectLst>
                  <a:outerShdw blurRad="38100" dist="38100" dir="2700000" algn="tl">
                    <a:srgbClr val="000000">
                      <a:alpha val="43137"/>
                    </a:srgbClr>
                  </a:outerShdw>
                </a:effectLst>
              </a:rPr>
              <a:t>(char c);      </a:t>
            </a:r>
            <a:r>
              <a:rPr lang="en-US" altLang="zh-CN" sz="2000" b="1" strike="sngStrike" dirty="0">
                <a:effectLst>
                  <a:outerShdw blurRad="38100" dist="38100" dir="2700000" algn="tl">
                    <a:srgbClr val="000000">
                      <a:alpha val="43137"/>
                    </a:srgbClr>
                  </a:outerShdw>
                </a:effectLst>
                <a:latin typeface="+mn-ea"/>
                <a:ea typeface="+mn-ea"/>
              </a:rPr>
              <a:t>//</a:t>
            </a:r>
            <a:r>
              <a:rPr lang="zh-CN" altLang="en-US" sz="2000" b="1" strike="sngStrike" dirty="0">
                <a:effectLst>
                  <a:outerShdw blurRad="38100" dist="38100" dir="2700000" algn="tl">
                    <a:srgbClr val="000000">
                      <a:alpha val="43137"/>
                    </a:srgbClr>
                  </a:outerShdw>
                </a:effectLst>
                <a:latin typeface="+mn-ea"/>
                <a:ea typeface="+mn-ea"/>
              </a:rPr>
              <a:t>函数声明</a:t>
            </a:r>
          </a:p>
          <a:p>
            <a:pPr marL="0" indent="0">
              <a:buNone/>
            </a:pPr>
            <a:r>
              <a:rPr lang="zh-CN" altLang="en-US"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printf</a:t>
            </a:r>
            <a:r>
              <a:rPr lang="en-US" altLang="zh-CN" sz="2000" b="1" dirty="0">
                <a:effectLst>
                  <a:outerShdw blurRad="38100" dist="38100" dir="2700000" algn="tl">
                    <a:srgbClr val="000000">
                      <a:alpha val="43137"/>
                    </a:srgbClr>
                  </a:outerShdw>
                </a:effectLst>
              </a:rPr>
              <a:t>("Enter a string:");</a:t>
            </a:r>
          </a:p>
          <a:p>
            <a:pPr marL="0" indent="0">
              <a:buNone/>
            </a:pPr>
            <a:r>
              <a:rPr lang="en-US" altLang="zh-CN" sz="2000" b="1" dirty="0">
                <a:effectLst>
                  <a:outerShdw blurRad="38100" dist="38100" dir="2700000" algn="tl">
                    <a:srgbClr val="000000">
                      <a:alpha val="43137"/>
                    </a:srgbClr>
                  </a:outerShdw>
                </a:effectLst>
              </a:rPr>
              <a:t>    gets(</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for(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=0;str[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latin typeface="+mn-ea"/>
                <a:ea typeface="+mn-ea"/>
              </a:rPr>
              <a:t>//</a:t>
            </a:r>
            <a:r>
              <a:rPr lang="zh-CN" altLang="en-US" sz="2000" b="1" dirty="0">
                <a:effectLst>
                  <a:outerShdw blurRad="38100" dist="38100" dir="2700000" algn="tl">
                    <a:srgbClr val="000000">
                      <a:alpha val="43137"/>
                    </a:srgbClr>
                  </a:outerShdw>
                </a:effectLst>
                <a:latin typeface="+mn-ea"/>
                <a:ea typeface="+mn-ea"/>
              </a:rPr>
              <a:t>自定义函数调用</a:t>
            </a:r>
          </a:p>
          <a:p>
            <a:pPr marL="0" indent="0">
              <a:buNone/>
            </a:pP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puts(</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return 0;</a:t>
            </a:r>
          </a:p>
          <a:p>
            <a:pPr marL="0" indent="0">
              <a:buNone/>
            </a:pPr>
            <a:r>
              <a:rPr lang="en-US" altLang="zh-CN" sz="2000" b="1" dirty="0">
                <a:effectLst>
                  <a:outerShdw blurRad="38100" dist="38100" dir="2700000" algn="tl">
                    <a:srgbClr val="000000">
                      <a:alpha val="43137"/>
                    </a:srgbClr>
                  </a:outerShdw>
                </a:effectLst>
              </a:rPr>
              <a:t>}</a:t>
            </a:r>
            <a:endParaRPr lang="zh-CN" altLang="en-US"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78343824"/>
      </p:ext>
    </p:extLst>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矩形 6"/>
          <p:cNvSpPr/>
          <p:nvPr/>
        </p:nvSpPr>
        <p:spPr>
          <a:xfrm>
            <a:off x="611560" y="548680"/>
            <a:ext cx="7632848" cy="5632311"/>
          </a:xfrm>
          <a:prstGeom prst="rect">
            <a:avLst/>
          </a:prstGeom>
        </p:spPr>
        <p:txBody>
          <a:bodyPr wrap="square">
            <a:spAutoFit/>
          </a:bodyPr>
          <a:lstStyle/>
          <a:p>
            <a:r>
              <a:rPr lang="en-US" altLang="zh-CN" sz="2000" b="1" dirty="0">
                <a:effectLst>
                  <a:outerShdw blurRad="38100" dist="38100" dir="2700000" algn="tl">
                    <a:srgbClr val="000000">
                      <a:alpha val="43137"/>
                    </a:srgbClr>
                  </a:outerShdw>
                </a:effectLst>
              </a:rPr>
              <a:t>#include &lt;</a:t>
            </a:r>
            <a:r>
              <a:rPr lang="en-US" altLang="zh-CN" sz="2000" b="1" dirty="0" err="1">
                <a:effectLst>
                  <a:outerShdw blurRad="38100" dist="38100" dir="2700000" algn="tl">
                    <a:srgbClr val="000000">
                      <a:alpha val="43137"/>
                    </a:srgbClr>
                  </a:outerShdw>
                </a:effectLst>
              </a:rPr>
              <a:t>stdio.h</a:t>
            </a:r>
            <a:r>
              <a:rPr lang="en-US" altLang="zh-CN" sz="2000" b="1" dirty="0" smtClean="0">
                <a:effectLst>
                  <a:outerShdw blurRad="38100" dist="38100" dir="2700000" algn="tl">
                    <a:srgbClr val="000000">
                      <a:alpha val="43137"/>
                    </a:srgbClr>
                  </a:outerShdw>
                </a:effectLst>
              </a:rPr>
              <a:t>&gt;           </a:t>
            </a:r>
            <a:r>
              <a:rPr lang="en-US" altLang="zh-CN" sz="2000" b="1" dirty="0">
                <a:effectLst>
                  <a:outerShdw blurRad="38100" dist="38100" dir="2700000" algn="tl">
                    <a:srgbClr val="000000">
                      <a:alpha val="43137"/>
                    </a:srgbClr>
                  </a:outerShdw>
                </a:effectLst>
              </a:rPr>
              <a:t>//</a:t>
            </a:r>
            <a:r>
              <a:rPr lang="zh-CN" altLang="en-US" sz="2000" b="1" dirty="0" smtClean="0">
                <a:effectLst>
                  <a:outerShdw blurRad="38100" dist="38100" dir="2700000" algn="tl">
                    <a:srgbClr val="000000">
                      <a:alpha val="43137"/>
                    </a:srgbClr>
                  </a:outerShdw>
                </a:effectLst>
              </a:rPr>
              <a:t>先</a:t>
            </a:r>
            <a:r>
              <a:rPr lang="zh-CN" altLang="en-US" sz="2000" b="1" dirty="0">
                <a:effectLst>
                  <a:outerShdw blurRad="38100" dist="38100" dir="2700000" algn="tl">
                    <a:srgbClr val="000000">
                      <a:alpha val="43137"/>
                    </a:srgbClr>
                  </a:outerShdw>
                </a:effectLst>
              </a:rPr>
              <a:t>定义</a:t>
            </a:r>
            <a:r>
              <a:rPr lang="zh-CN" altLang="en-US" sz="2000" b="1" dirty="0" smtClean="0">
                <a:effectLst>
                  <a:outerShdw blurRad="38100" dist="38100" dir="2700000" algn="tl">
                    <a:srgbClr val="000000">
                      <a:alpha val="43137"/>
                    </a:srgbClr>
                  </a:outerShdw>
                </a:effectLst>
              </a:rPr>
              <a:t>后引用</a:t>
            </a:r>
            <a:endParaRPr lang="en-US" altLang="zh-CN" sz="2000" b="1" dirty="0">
              <a:effectLst>
                <a:outerShdw blurRad="38100" dist="38100" dir="2700000" algn="tl">
                  <a:srgbClr val="000000">
                    <a:alpha val="43137"/>
                  </a:srgbClr>
                </a:outerShdw>
              </a:effectLst>
            </a:endParaRPr>
          </a:p>
          <a:p>
            <a:pPr marL="0" indent="0">
              <a:buNone/>
            </a:pPr>
            <a:r>
              <a:rPr lang="en-US" altLang="zh-CN" sz="2000" b="1" dirty="0">
                <a:solidFill>
                  <a:srgbClr val="FF0000"/>
                </a:solidFill>
                <a:effectLst>
                  <a:outerShdw blurRad="38100" dist="38100" dir="2700000" algn="tl">
                    <a:srgbClr val="000000">
                      <a:alpha val="43137"/>
                    </a:srgbClr>
                  </a:outerShdw>
                </a:effectLst>
              </a:rPr>
              <a:t>void</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(char </a:t>
            </a:r>
            <a:r>
              <a:rPr lang="en-US" altLang="zh-CN" sz="2000" b="1" dirty="0" err="1">
                <a:solidFill>
                  <a:srgbClr val="FF0000"/>
                </a:solidFill>
                <a:effectLst>
                  <a:outerShdw blurRad="38100" dist="38100" dir="2700000" algn="tl">
                    <a:srgbClr val="000000">
                      <a:alpha val="43137"/>
                    </a:srgbClr>
                  </a:outerShdw>
                </a:effectLst>
              </a:rPr>
              <a:t>str</a:t>
            </a:r>
            <a:r>
              <a:rPr lang="en-US" altLang="zh-CN" sz="2000" b="1" dirty="0">
                <a:solidFill>
                  <a:srgbClr val="FF0000"/>
                </a:solidFill>
                <a:effectLst>
                  <a:outerShdw blurRad="38100" dist="38100" dir="2700000" algn="tl">
                    <a:srgbClr val="000000">
                      <a:alpha val="43137"/>
                    </a:srgbClr>
                  </a:outerShdw>
                </a:effectLst>
              </a:rPr>
              <a:t>[]</a:t>
            </a:r>
            <a:r>
              <a:rPr lang="en-US" altLang="zh-CN" sz="2000" b="1" dirty="0">
                <a:effectLst>
                  <a:outerShdw blurRad="38100" dist="38100" dir="2700000" algn="tl">
                    <a:srgbClr val="000000">
                      <a:alpha val="43137"/>
                    </a:srgbClr>
                  </a:outerShdw>
                </a:effectLst>
              </a:rPr>
              <a:t>) </a:t>
            </a:r>
            <a:r>
              <a:rPr lang="en-US" altLang="zh-CN" sz="2000" b="1" dirty="0" smtClean="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数组名作为参数，无返回值</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a:t>
            </a:r>
            <a:r>
              <a:rPr lang="en-US" altLang="zh-CN" sz="2000" b="1" dirty="0" smtClean="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int</a:t>
            </a:r>
            <a:r>
              <a:rPr lang="en-US" altLang="zh-CN" sz="2000" b="1" dirty="0" smtClean="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for(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=0;str[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]!='\0';i++)</a:t>
            </a:r>
          </a:p>
          <a:p>
            <a:pPr marL="0" indent="0">
              <a:buNone/>
            </a:pPr>
            <a:r>
              <a:rPr lang="en-US" altLang="zh-CN" sz="2000" b="1" dirty="0">
                <a:effectLst>
                  <a:outerShdw blurRad="38100" dist="38100" dir="2700000" algn="tl">
                    <a:srgbClr val="000000">
                      <a:alpha val="43137"/>
                    </a:srgbClr>
                  </a:outerShdw>
                </a:effectLst>
              </a:rPr>
              <a:t>      if(</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]&gt;='a' &amp;&amp;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]&lt;='z')</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a'+'A</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main()</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char s[80];</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printf</a:t>
            </a:r>
            <a:r>
              <a:rPr lang="en-US" altLang="zh-CN" sz="2000" b="1" dirty="0">
                <a:effectLst>
                  <a:outerShdw blurRad="38100" dist="38100" dir="2700000" algn="tl">
                    <a:srgbClr val="000000">
                      <a:alpha val="43137"/>
                    </a:srgbClr>
                  </a:outerShdw>
                </a:effectLst>
              </a:rPr>
              <a:t>("Enter a string:");</a:t>
            </a:r>
          </a:p>
          <a:p>
            <a:pPr marL="0" indent="0">
              <a:buNone/>
            </a:pPr>
            <a:r>
              <a:rPr lang="en-US" altLang="zh-CN" sz="2000" b="1" dirty="0">
                <a:effectLst>
                  <a:outerShdw blurRad="38100" dist="38100" dir="2700000" algn="tl">
                    <a:srgbClr val="000000">
                      <a:alpha val="43137"/>
                    </a:srgbClr>
                  </a:outerShdw>
                </a:effectLst>
              </a:rPr>
              <a:t>    gets(s);</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a:t>
            </a:r>
            <a:r>
              <a:rPr lang="en-US" altLang="zh-CN" sz="2000" b="1" dirty="0">
                <a:solidFill>
                  <a:srgbClr val="FF0000"/>
                </a:solidFill>
                <a:effectLst>
                  <a:outerShdw blurRad="38100" dist="38100" dir="2700000" algn="tl">
                    <a:srgbClr val="000000">
                      <a:alpha val="43137"/>
                    </a:srgbClr>
                  </a:outerShdw>
                </a:effectLst>
              </a:rPr>
              <a:t>s</a:t>
            </a:r>
            <a:r>
              <a:rPr lang="en-US" altLang="zh-CN" sz="2000" b="1" dirty="0">
                <a:effectLst>
                  <a:outerShdw blurRad="38100" dist="38100" dir="2700000" algn="tl">
                    <a:srgbClr val="000000">
                      <a:alpha val="43137"/>
                    </a:srgbClr>
                  </a:outerShdw>
                </a:effectLst>
              </a:rPr>
              <a:t>);  </a:t>
            </a:r>
            <a:r>
              <a:rPr lang="en-US" altLang="zh-CN" sz="2000" b="1" dirty="0" smtClean="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自定义函数调用</a:t>
            </a:r>
          </a:p>
          <a:p>
            <a:pPr marL="0" indent="0">
              <a:buNone/>
            </a:pP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puts(s);</a:t>
            </a:r>
          </a:p>
          <a:p>
            <a:pPr marL="0" indent="0">
              <a:buNone/>
            </a:pPr>
            <a:r>
              <a:rPr lang="en-US" altLang="zh-CN" sz="2000" b="1" dirty="0">
                <a:effectLst>
                  <a:outerShdw blurRad="38100" dist="38100" dir="2700000" algn="tl">
                    <a:srgbClr val="000000">
                      <a:alpha val="43137"/>
                    </a:srgbClr>
                  </a:outerShdw>
                </a:effectLst>
              </a:rPr>
              <a:t>    return 0;</a:t>
            </a:r>
          </a:p>
          <a:p>
            <a:pPr marL="0" indent="0">
              <a:buNone/>
            </a:pPr>
            <a:r>
              <a:rPr lang="en-US" altLang="zh-CN" sz="2000" b="1" dirty="0">
                <a:effectLst>
                  <a:outerShdw blurRad="38100" dist="38100" dir="2700000" algn="tl">
                    <a:srgbClr val="000000">
                      <a:alpha val="43137"/>
                    </a:srgbClr>
                  </a:outerShdw>
                </a:effectLst>
              </a:rPr>
              <a:t>}</a:t>
            </a:r>
            <a:endParaRPr lang="zh-CN" altLang="en-US" sz="2000" b="1" dirty="0">
              <a:effectLst>
                <a:outerShdw blurRad="38100" dist="38100" dir="2700000" algn="tl">
                  <a:srgbClr val="000000">
                    <a:alpha val="43137"/>
                  </a:srgbClr>
                </a:outerShdw>
              </a:effectLst>
            </a:endParaRPr>
          </a:p>
        </p:txBody>
      </p:sp>
      <p:graphicFrame>
        <p:nvGraphicFramePr>
          <p:cNvPr id="3" name="表格 2"/>
          <p:cNvGraphicFramePr>
            <a:graphicFrameLocks noGrp="1"/>
          </p:cNvGraphicFramePr>
          <p:nvPr>
            <p:extLst>
              <p:ext uri="{D42A27DB-BD31-4B8C-83A1-F6EECF244321}">
                <p14:modId xmlns:p14="http://schemas.microsoft.com/office/powerpoint/2010/main" val="2087886721"/>
              </p:ext>
            </p:extLst>
          </p:nvPr>
        </p:nvGraphicFramePr>
        <p:xfrm>
          <a:off x="4572000" y="2922403"/>
          <a:ext cx="4421484" cy="370840"/>
        </p:xfrm>
        <a:graphic>
          <a:graphicData uri="http://schemas.openxmlformats.org/drawingml/2006/table">
            <a:tbl>
              <a:tblPr firstRow="1" bandRow="1">
                <a:tableStyleId>{5C22544A-7EE6-4342-B048-85BDC9FD1C3A}</a:tableStyleId>
              </a:tblPr>
              <a:tblGrid>
                <a:gridCol w="491276">
                  <a:extLst>
                    <a:ext uri="{9D8B030D-6E8A-4147-A177-3AD203B41FA5}">
                      <a16:colId xmlns:a16="http://schemas.microsoft.com/office/drawing/2014/main" val="2733910912"/>
                    </a:ext>
                  </a:extLst>
                </a:gridCol>
                <a:gridCol w="491276">
                  <a:extLst>
                    <a:ext uri="{9D8B030D-6E8A-4147-A177-3AD203B41FA5}">
                      <a16:colId xmlns:a16="http://schemas.microsoft.com/office/drawing/2014/main" val="3614678700"/>
                    </a:ext>
                  </a:extLst>
                </a:gridCol>
                <a:gridCol w="491276">
                  <a:extLst>
                    <a:ext uri="{9D8B030D-6E8A-4147-A177-3AD203B41FA5}">
                      <a16:colId xmlns:a16="http://schemas.microsoft.com/office/drawing/2014/main" val="3331337201"/>
                    </a:ext>
                  </a:extLst>
                </a:gridCol>
                <a:gridCol w="491276">
                  <a:extLst>
                    <a:ext uri="{9D8B030D-6E8A-4147-A177-3AD203B41FA5}">
                      <a16:colId xmlns:a16="http://schemas.microsoft.com/office/drawing/2014/main" val="3500531502"/>
                    </a:ext>
                  </a:extLst>
                </a:gridCol>
                <a:gridCol w="491276">
                  <a:extLst>
                    <a:ext uri="{9D8B030D-6E8A-4147-A177-3AD203B41FA5}">
                      <a16:colId xmlns:a16="http://schemas.microsoft.com/office/drawing/2014/main" val="4270017702"/>
                    </a:ext>
                  </a:extLst>
                </a:gridCol>
                <a:gridCol w="491276">
                  <a:extLst>
                    <a:ext uri="{9D8B030D-6E8A-4147-A177-3AD203B41FA5}">
                      <a16:colId xmlns:a16="http://schemas.microsoft.com/office/drawing/2014/main" val="1958940448"/>
                    </a:ext>
                  </a:extLst>
                </a:gridCol>
                <a:gridCol w="491276">
                  <a:extLst>
                    <a:ext uri="{9D8B030D-6E8A-4147-A177-3AD203B41FA5}">
                      <a16:colId xmlns:a16="http://schemas.microsoft.com/office/drawing/2014/main" val="835987002"/>
                    </a:ext>
                  </a:extLst>
                </a:gridCol>
                <a:gridCol w="491276">
                  <a:extLst>
                    <a:ext uri="{9D8B030D-6E8A-4147-A177-3AD203B41FA5}">
                      <a16:colId xmlns:a16="http://schemas.microsoft.com/office/drawing/2014/main" val="2786264263"/>
                    </a:ext>
                  </a:extLst>
                </a:gridCol>
                <a:gridCol w="491276">
                  <a:extLst>
                    <a:ext uri="{9D8B030D-6E8A-4147-A177-3AD203B41FA5}">
                      <a16:colId xmlns:a16="http://schemas.microsoft.com/office/drawing/2014/main" val="2565273283"/>
                    </a:ext>
                  </a:extLst>
                </a:gridCol>
              </a:tblGrid>
              <a:tr h="370840">
                <a:tc>
                  <a:txBody>
                    <a:bodyPr/>
                    <a:lstStyle/>
                    <a:p>
                      <a:pPr algn="ctr"/>
                      <a:r>
                        <a:rPr lang="en-US" altLang="zh-CN" dirty="0" smtClean="0"/>
                        <a:t>A</a:t>
                      </a:r>
                      <a:endParaRPr lang="zh-CN" altLang="en-US" dirty="0"/>
                    </a:p>
                  </a:txBody>
                  <a:tcPr/>
                </a:tc>
                <a:tc>
                  <a:txBody>
                    <a:bodyPr/>
                    <a:lstStyle/>
                    <a:p>
                      <a:pPr algn="ctr"/>
                      <a:r>
                        <a:rPr lang="en-US" altLang="zh-CN" dirty="0" smtClean="0"/>
                        <a:t>b</a:t>
                      </a:r>
                      <a:endParaRPr lang="zh-CN" altLang="en-US" dirty="0"/>
                    </a:p>
                  </a:txBody>
                  <a:tcPr/>
                </a:tc>
                <a:tc>
                  <a:txBody>
                    <a:bodyPr/>
                    <a:lstStyle/>
                    <a:p>
                      <a:pPr algn="ctr"/>
                      <a:r>
                        <a:rPr lang="en-US" altLang="zh-CN" dirty="0" smtClean="0"/>
                        <a:t>c</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2</a:t>
                      </a:r>
                      <a:endParaRPr lang="zh-CN" altLang="en-US" dirty="0"/>
                    </a:p>
                  </a:txBody>
                  <a:tcPr/>
                </a:tc>
                <a:tc>
                  <a:txBody>
                    <a:bodyPr/>
                    <a:lstStyle/>
                    <a:p>
                      <a:pPr algn="ctr"/>
                      <a:r>
                        <a:rPr lang="en-US" altLang="zh-CN" dirty="0" smtClean="0"/>
                        <a:t>3</a:t>
                      </a:r>
                      <a:endParaRPr lang="zh-CN" altLang="en-US" dirty="0"/>
                    </a:p>
                  </a:txBody>
                  <a:tcPr/>
                </a:tc>
                <a:tc>
                  <a:txBody>
                    <a:bodyPr/>
                    <a:lstStyle/>
                    <a:p>
                      <a:pPr algn="ctr"/>
                      <a:r>
                        <a:rPr lang="en-US" altLang="zh-CN" dirty="0" smtClean="0"/>
                        <a:t>#</a:t>
                      </a:r>
                      <a:endParaRPr lang="zh-CN" altLang="en-US" dirty="0"/>
                    </a:p>
                  </a:txBody>
                  <a:tcPr/>
                </a:tc>
                <a:tc>
                  <a:txBody>
                    <a:bodyPr/>
                    <a:lstStyle/>
                    <a:p>
                      <a:pPr algn="ctr"/>
                      <a:r>
                        <a:rPr lang="en-US" altLang="zh-CN" dirty="0" smtClean="0"/>
                        <a:t>$</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val="628376133"/>
                  </a:ext>
                </a:extLst>
              </a:tr>
            </a:tbl>
          </a:graphicData>
        </a:graphic>
      </p:graphicFrame>
      <p:sp>
        <p:nvSpPr>
          <p:cNvPr id="4" name="文本框 3"/>
          <p:cNvSpPr txBox="1"/>
          <p:nvPr/>
        </p:nvSpPr>
        <p:spPr>
          <a:xfrm>
            <a:off x="4283968" y="1629741"/>
            <a:ext cx="917739" cy="830997"/>
          </a:xfrm>
          <a:prstGeom prst="rect">
            <a:avLst/>
          </a:prstGeom>
          <a:noFill/>
        </p:spPr>
        <p:txBody>
          <a:bodyPr wrap="square" rtlCol="0">
            <a:spAutoFit/>
          </a:bodyPr>
          <a:lstStyle/>
          <a:p>
            <a:pPr algn="ctr"/>
            <a:r>
              <a:rPr lang="zh-CN" altLang="en-US" sz="1600" b="1" dirty="0" smtClean="0"/>
              <a:t>实参数组</a:t>
            </a:r>
            <a:r>
              <a:rPr lang="en-US" altLang="zh-CN" sz="1600" b="1" dirty="0" smtClean="0"/>
              <a:t>S</a:t>
            </a:r>
            <a:r>
              <a:rPr lang="zh-CN" altLang="en-US" sz="1600" b="1" dirty="0" smtClean="0"/>
              <a:t>首地址</a:t>
            </a:r>
            <a:endParaRPr lang="zh-CN" altLang="en-US" sz="1600" b="1" dirty="0"/>
          </a:p>
        </p:txBody>
      </p:sp>
      <p:graphicFrame>
        <p:nvGraphicFramePr>
          <p:cNvPr id="6" name="表格 5"/>
          <p:cNvGraphicFramePr>
            <a:graphicFrameLocks noGrp="1"/>
          </p:cNvGraphicFramePr>
          <p:nvPr>
            <p:extLst>
              <p:ext uri="{D42A27DB-BD31-4B8C-83A1-F6EECF244321}">
                <p14:modId xmlns:p14="http://schemas.microsoft.com/office/powerpoint/2010/main" val="3931657002"/>
              </p:ext>
            </p:extLst>
          </p:nvPr>
        </p:nvGraphicFramePr>
        <p:xfrm>
          <a:off x="4572000" y="2460738"/>
          <a:ext cx="4421484" cy="370840"/>
        </p:xfrm>
        <a:graphic>
          <a:graphicData uri="http://schemas.openxmlformats.org/drawingml/2006/table">
            <a:tbl>
              <a:tblPr firstRow="1" bandRow="1">
                <a:tableStyleId>{5C22544A-7EE6-4342-B048-85BDC9FD1C3A}</a:tableStyleId>
              </a:tblPr>
              <a:tblGrid>
                <a:gridCol w="491276">
                  <a:extLst>
                    <a:ext uri="{9D8B030D-6E8A-4147-A177-3AD203B41FA5}">
                      <a16:colId xmlns:a16="http://schemas.microsoft.com/office/drawing/2014/main" val="2733910912"/>
                    </a:ext>
                  </a:extLst>
                </a:gridCol>
                <a:gridCol w="491276">
                  <a:extLst>
                    <a:ext uri="{9D8B030D-6E8A-4147-A177-3AD203B41FA5}">
                      <a16:colId xmlns:a16="http://schemas.microsoft.com/office/drawing/2014/main" val="3614678700"/>
                    </a:ext>
                  </a:extLst>
                </a:gridCol>
                <a:gridCol w="491276">
                  <a:extLst>
                    <a:ext uri="{9D8B030D-6E8A-4147-A177-3AD203B41FA5}">
                      <a16:colId xmlns:a16="http://schemas.microsoft.com/office/drawing/2014/main" val="3331337201"/>
                    </a:ext>
                  </a:extLst>
                </a:gridCol>
                <a:gridCol w="491276">
                  <a:extLst>
                    <a:ext uri="{9D8B030D-6E8A-4147-A177-3AD203B41FA5}">
                      <a16:colId xmlns:a16="http://schemas.microsoft.com/office/drawing/2014/main" val="3500531502"/>
                    </a:ext>
                  </a:extLst>
                </a:gridCol>
                <a:gridCol w="491276">
                  <a:extLst>
                    <a:ext uri="{9D8B030D-6E8A-4147-A177-3AD203B41FA5}">
                      <a16:colId xmlns:a16="http://schemas.microsoft.com/office/drawing/2014/main" val="4270017702"/>
                    </a:ext>
                  </a:extLst>
                </a:gridCol>
                <a:gridCol w="491276">
                  <a:extLst>
                    <a:ext uri="{9D8B030D-6E8A-4147-A177-3AD203B41FA5}">
                      <a16:colId xmlns:a16="http://schemas.microsoft.com/office/drawing/2014/main" val="1958940448"/>
                    </a:ext>
                  </a:extLst>
                </a:gridCol>
                <a:gridCol w="491276">
                  <a:extLst>
                    <a:ext uri="{9D8B030D-6E8A-4147-A177-3AD203B41FA5}">
                      <a16:colId xmlns:a16="http://schemas.microsoft.com/office/drawing/2014/main" val="835987002"/>
                    </a:ext>
                  </a:extLst>
                </a:gridCol>
                <a:gridCol w="491276">
                  <a:extLst>
                    <a:ext uri="{9D8B030D-6E8A-4147-A177-3AD203B41FA5}">
                      <a16:colId xmlns:a16="http://schemas.microsoft.com/office/drawing/2014/main" val="2786264263"/>
                    </a:ext>
                  </a:extLst>
                </a:gridCol>
                <a:gridCol w="491276">
                  <a:extLst>
                    <a:ext uri="{9D8B030D-6E8A-4147-A177-3AD203B41FA5}">
                      <a16:colId xmlns:a16="http://schemas.microsoft.com/office/drawing/2014/main" val="2565273283"/>
                    </a:ext>
                  </a:extLst>
                </a:gridCol>
              </a:tblGrid>
              <a:tr h="370840">
                <a:tc>
                  <a:txBody>
                    <a:bodyPr/>
                    <a:lstStyle/>
                    <a:p>
                      <a:pPr algn="ctr"/>
                      <a:r>
                        <a:rPr lang="en-US" altLang="zh-CN" sz="1400" dirty="0" smtClean="0">
                          <a:solidFill>
                            <a:schemeClr val="tx1"/>
                          </a:solidFill>
                        </a:rPr>
                        <a:t>S[0]</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S[1]</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S[2]</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S[3]</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S[4]</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S[5]</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S[6]</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400" dirty="0" smtClean="0">
                          <a:solidFill>
                            <a:schemeClr val="tx1"/>
                          </a:solidFill>
                        </a:rPr>
                        <a:t>S[7]</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solidFill>
                            <a:schemeClr val="tx1"/>
                          </a:solidFill>
                        </a:rPr>
                        <a:t>S[8]</a:t>
                      </a:r>
                      <a:endParaRPr lang="zh-CN" altLang="en-US" sz="14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28376133"/>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416346636"/>
              </p:ext>
            </p:extLst>
          </p:nvPr>
        </p:nvGraphicFramePr>
        <p:xfrm>
          <a:off x="4572000" y="3442947"/>
          <a:ext cx="4421484" cy="370840"/>
        </p:xfrm>
        <a:graphic>
          <a:graphicData uri="http://schemas.openxmlformats.org/drawingml/2006/table">
            <a:tbl>
              <a:tblPr firstRow="1" bandRow="1">
                <a:tableStyleId>{5C22544A-7EE6-4342-B048-85BDC9FD1C3A}</a:tableStyleId>
              </a:tblPr>
              <a:tblGrid>
                <a:gridCol w="491276">
                  <a:extLst>
                    <a:ext uri="{9D8B030D-6E8A-4147-A177-3AD203B41FA5}">
                      <a16:colId xmlns:a16="http://schemas.microsoft.com/office/drawing/2014/main" val="2733910912"/>
                    </a:ext>
                  </a:extLst>
                </a:gridCol>
                <a:gridCol w="491276">
                  <a:extLst>
                    <a:ext uri="{9D8B030D-6E8A-4147-A177-3AD203B41FA5}">
                      <a16:colId xmlns:a16="http://schemas.microsoft.com/office/drawing/2014/main" val="3614678700"/>
                    </a:ext>
                  </a:extLst>
                </a:gridCol>
                <a:gridCol w="491276">
                  <a:extLst>
                    <a:ext uri="{9D8B030D-6E8A-4147-A177-3AD203B41FA5}">
                      <a16:colId xmlns:a16="http://schemas.microsoft.com/office/drawing/2014/main" val="3331337201"/>
                    </a:ext>
                  </a:extLst>
                </a:gridCol>
                <a:gridCol w="491276">
                  <a:extLst>
                    <a:ext uri="{9D8B030D-6E8A-4147-A177-3AD203B41FA5}">
                      <a16:colId xmlns:a16="http://schemas.microsoft.com/office/drawing/2014/main" val="3500531502"/>
                    </a:ext>
                  </a:extLst>
                </a:gridCol>
                <a:gridCol w="491276">
                  <a:extLst>
                    <a:ext uri="{9D8B030D-6E8A-4147-A177-3AD203B41FA5}">
                      <a16:colId xmlns:a16="http://schemas.microsoft.com/office/drawing/2014/main" val="4270017702"/>
                    </a:ext>
                  </a:extLst>
                </a:gridCol>
                <a:gridCol w="491276">
                  <a:extLst>
                    <a:ext uri="{9D8B030D-6E8A-4147-A177-3AD203B41FA5}">
                      <a16:colId xmlns:a16="http://schemas.microsoft.com/office/drawing/2014/main" val="1958940448"/>
                    </a:ext>
                  </a:extLst>
                </a:gridCol>
                <a:gridCol w="491276">
                  <a:extLst>
                    <a:ext uri="{9D8B030D-6E8A-4147-A177-3AD203B41FA5}">
                      <a16:colId xmlns:a16="http://schemas.microsoft.com/office/drawing/2014/main" val="835987002"/>
                    </a:ext>
                  </a:extLst>
                </a:gridCol>
                <a:gridCol w="491276">
                  <a:extLst>
                    <a:ext uri="{9D8B030D-6E8A-4147-A177-3AD203B41FA5}">
                      <a16:colId xmlns:a16="http://schemas.microsoft.com/office/drawing/2014/main" val="2786264263"/>
                    </a:ext>
                  </a:extLst>
                </a:gridCol>
                <a:gridCol w="491276">
                  <a:extLst>
                    <a:ext uri="{9D8B030D-6E8A-4147-A177-3AD203B41FA5}">
                      <a16:colId xmlns:a16="http://schemas.microsoft.com/office/drawing/2014/main" val="2565273283"/>
                    </a:ext>
                  </a:extLst>
                </a:gridCol>
              </a:tblGrid>
              <a:tr h="370840">
                <a:tc>
                  <a:txBody>
                    <a:bodyPr/>
                    <a:lstStyle/>
                    <a:p>
                      <a:pPr algn="ctr"/>
                      <a:r>
                        <a:rPr lang="en-US" altLang="zh-CN" sz="1050" dirty="0" err="1" smtClean="0">
                          <a:solidFill>
                            <a:schemeClr val="tx1"/>
                          </a:solidFill>
                        </a:rPr>
                        <a:t>str</a:t>
                      </a:r>
                      <a:r>
                        <a:rPr lang="en-US" altLang="zh-CN" sz="1050" dirty="0" smtClean="0">
                          <a:solidFill>
                            <a:schemeClr val="tx1"/>
                          </a:solidFill>
                        </a:rPr>
                        <a:t>[0]</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[1]</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[2]</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[3]</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[4]</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[5]</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[6]</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050" dirty="0" err="1" smtClean="0">
                          <a:solidFill>
                            <a:schemeClr val="tx1"/>
                          </a:solidFill>
                        </a:rPr>
                        <a:t>str</a:t>
                      </a:r>
                      <a:r>
                        <a:rPr lang="en-US" altLang="zh-CN" sz="1050" dirty="0" smtClean="0">
                          <a:solidFill>
                            <a:schemeClr val="tx1"/>
                          </a:solidFill>
                        </a:rPr>
                        <a:t>[7]</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dirty="0" err="1" smtClean="0">
                          <a:solidFill>
                            <a:schemeClr val="tx1"/>
                          </a:solidFill>
                        </a:rPr>
                        <a:t>str</a:t>
                      </a:r>
                      <a:r>
                        <a:rPr lang="en-US" altLang="zh-CN" sz="1050" dirty="0" smtClean="0">
                          <a:solidFill>
                            <a:schemeClr val="tx1"/>
                          </a:solidFill>
                        </a:rPr>
                        <a:t>[8]</a:t>
                      </a:r>
                      <a:endParaRPr lang="zh-CN" altLang="en-US" sz="105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28376133"/>
                  </a:ext>
                </a:extLst>
              </a:tr>
            </a:tbl>
          </a:graphicData>
        </a:graphic>
      </p:graphicFrame>
      <p:sp>
        <p:nvSpPr>
          <p:cNvPr id="9" name="文本框 8"/>
          <p:cNvSpPr txBox="1"/>
          <p:nvPr/>
        </p:nvSpPr>
        <p:spPr>
          <a:xfrm>
            <a:off x="4427984" y="3813787"/>
            <a:ext cx="773723" cy="646331"/>
          </a:xfrm>
          <a:prstGeom prst="rect">
            <a:avLst/>
          </a:prstGeom>
          <a:noFill/>
        </p:spPr>
        <p:txBody>
          <a:bodyPr wrap="square" rtlCol="0">
            <a:spAutoFit/>
          </a:bodyPr>
          <a:lstStyle/>
          <a:p>
            <a:pPr algn="ctr"/>
            <a:r>
              <a:rPr lang="zh-CN" altLang="en-US" b="1" dirty="0"/>
              <a:t>形参</a:t>
            </a:r>
            <a:r>
              <a:rPr lang="zh-CN" altLang="en-US" b="1" dirty="0" smtClean="0"/>
              <a:t>数组</a:t>
            </a:r>
            <a:r>
              <a:rPr lang="en-US" altLang="zh-CN" b="1" dirty="0" err="1" smtClean="0"/>
              <a:t>str</a:t>
            </a:r>
            <a:r>
              <a:rPr lang="zh-CN" altLang="en-US" b="1" dirty="0" smtClean="0"/>
              <a:t>首地址</a:t>
            </a:r>
            <a:endParaRPr lang="zh-CN" altLang="en-US" b="1" dirty="0"/>
          </a:p>
        </p:txBody>
      </p:sp>
    </p:spTree>
    <p:extLst>
      <p:ext uri="{BB962C8B-B14F-4D97-AF65-F5344CB8AC3E}">
        <p14:creationId xmlns:p14="http://schemas.microsoft.com/office/powerpoint/2010/main" val="3662505356"/>
      </p:ext>
    </p:extLst>
  </p:cSld>
  <p:clrMapOvr>
    <a:masterClrMapping/>
  </p:clrMapOvr>
  <p:transition spd="med">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矩形 6"/>
          <p:cNvSpPr/>
          <p:nvPr/>
        </p:nvSpPr>
        <p:spPr>
          <a:xfrm>
            <a:off x="539552" y="260648"/>
            <a:ext cx="7632848" cy="6247864"/>
          </a:xfrm>
          <a:prstGeom prst="rect">
            <a:avLst/>
          </a:prstGeom>
        </p:spPr>
        <p:txBody>
          <a:bodyPr wrap="square">
            <a:spAutoFit/>
          </a:bodyPr>
          <a:lstStyle/>
          <a:p>
            <a:r>
              <a:rPr lang="en-US" altLang="zh-CN" sz="2000" b="1" dirty="0">
                <a:effectLst>
                  <a:outerShdw blurRad="38100" dist="38100" dir="2700000" algn="tl">
                    <a:srgbClr val="000000">
                      <a:alpha val="43137"/>
                    </a:srgbClr>
                  </a:outerShdw>
                </a:effectLst>
              </a:rPr>
              <a:t>#include &lt;</a:t>
            </a:r>
            <a:r>
              <a:rPr lang="en-US" altLang="zh-CN" sz="2000" b="1" dirty="0" err="1">
                <a:effectLst>
                  <a:outerShdw blurRad="38100" dist="38100" dir="2700000" algn="tl">
                    <a:srgbClr val="000000">
                      <a:alpha val="43137"/>
                    </a:srgbClr>
                  </a:outerShdw>
                </a:effectLst>
              </a:rPr>
              <a:t>stdio.h</a:t>
            </a:r>
            <a:r>
              <a:rPr lang="en-US" altLang="zh-CN" sz="2000" b="1" dirty="0" smtClean="0">
                <a:effectLst>
                  <a:outerShdw blurRad="38100" dist="38100" dir="2700000" algn="tl">
                    <a:srgbClr val="000000">
                      <a:alpha val="43137"/>
                    </a:srgbClr>
                  </a:outerShdw>
                </a:effectLst>
              </a:rPr>
              <a:t>&gt;           </a:t>
            </a:r>
            <a:r>
              <a:rPr lang="en-US" altLang="zh-CN" sz="2000" b="1" dirty="0">
                <a:effectLst>
                  <a:outerShdw blurRad="38100" dist="38100" dir="2700000" algn="tl">
                    <a:srgbClr val="000000">
                      <a:alpha val="43137"/>
                    </a:srgbClr>
                  </a:outerShdw>
                </a:effectLst>
              </a:rPr>
              <a:t>//</a:t>
            </a:r>
            <a:r>
              <a:rPr lang="zh-CN" altLang="en-US" sz="2000" b="1" dirty="0">
                <a:effectLst>
                  <a:outerShdw blurRad="38100" dist="38100" dir="2700000" algn="tl">
                    <a:srgbClr val="000000">
                      <a:alpha val="43137"/>
                    </a:srgbClr>
                  </a:outerShdw>
                </a:effectLst>
              </a:rPr>
              <a:t>先引用后定义</a:t>
            </a:r>
          </a:p>
          <a:p>
            <a:r>
              <a:rPr lang="en-US" altLang="zh-CN" sz="2000" b="1" dirty="0">
                <a:solidFill>
                  <a:srgbClr val="3333FF"/>
                </a:solidFill>
                <a:effectLst>
                  <a:outerShdw blurRad="38100" dist="38100" dir="2700000" algn="tl">
                    <a:srgbClr val="000000">
                      <a:alpha val="43137"/>
                    </a:srgbClr>
                  </a:outerShdw>
                </a:effectLst>
              </a:rPr>
              <a:t>void </a:t>
            </a:r>
            <a:r>
              <a:rPr lang="en-US" altLang="zh-CN" sz="2000" b="1" dirty="0" err="1">
                <a:solidFill>
                  <a:srgbClr val="3333FF"/>
                </a:solidFill>
                <a:effectLst>
                  <a:outerShdw blurRad="38100" dist="38100" dir="2700000" algn="tl">
                    <a:srgbClr val="000000">
                      <a:alpha val="43137"/>
                    </a:srgbClr>
                  </a:outerShdw>
                </a:effectLst>
              </a:rPr>
              <a:t>low_to_upper</a:t>
            </a:r>
            <a:r>
              <a:rPr lang="en-US" altLang="zh-CN" sz="2000" b="1" dirty="0">
                <a:solidFill>
                  <a:srgbClr val="3333FF"/>
                </a:solidFill>
                <a:effectLst>
                  <a:outerShdw blurRad="38100" dist="38100" dir="2700000" algn="tl">
                    <a:srgbClr val="000000">
                      <a:alpha val="43137"/>
                    </a:srgbClr>
                  </a:outerShdw>
                </a:effectLst>
              </a:rPr>
              <a:t>(</a:t>
            </a:r>
            <a:r>
              <a:rPr lang="en-US" altLang="zh-CN" sz="2000" b="1" dirty="0">
                <a:solidFill>
                  <a:srgbClr val="FF3300"/>
                </a:solidFill>
                <a:effectLst>
                  <a:outerShdw blurRad="38100" dist="38100" dir="2700000" algn="tl">
                    <a:srgbClr val="000000">
                      <a:alpha val="43137"/>
                    </a:srgbClr>
                  </a:outerShdw>
                </a:effectLst>
              </a:rPr>
              <a:t>char </a:t>
            </a:r>
            <a:r>
              <a:rPr lang="en-US" altLang="zh-CN" sz="2000" b="1" dirty="0" err="1">
                <a:solidFill>
                  <a:srgbClr val="FF3300"/>
                </a:solidFill>
                <a:effectLst>
                  <a:outerShdw blurRad="38100" dist="38100" dir="2700000" algn="tl">
                    <a:srgbClr val="000000">
                      <a:alpha val="43137"/>
                    </a:srgbClr>
                  </a:outerShdw>
                </a:effectLst>
              </a:rPr>
              <a:t>str</a:t>
            </a:r>
            <a:r>
              <a:rPr lang="en-US" altLang="zh-CN" sz="2000" b="1" dirty="0" smtClean="0">
                <a:solidFill>
                  <a:srgbClr val="FF3300"/>
                </a:solidFill>
                <a:effectLst>
                  <a:outerShdw blurRad="38100" dist="38100" dir="2700000" algn="tl">
                    <a:srgbClr val="000000">
                      <a:alpha val="43137"/>
                    </a:srgbClr>
                  </a:outerShdw>
                </a:effectLst>
              </a:rPr>
              <a:t>[]</a:t>
            </a:r>
            <a:r>
              <a:rPr lang="en-US" altLang="zh-CN" sz="2000" b="1" dirty="0" smtClean="0">
                <a:solidFill>
                  <a:srgbClr val="3333FF"/>
                </a:solidFill>
                <a:effectLst>
                  <a:outerShdw blurRad="38100" dist="38100" dir="2700000" algn="tl">
                    <a:srgbClr val="000000">
                      <a:alpha val="43137"/>
                    </a:srgbClr>
                  </a:outerShdw>
                </a:effectLst>
              </a:rPr>
              <a:t>);      //</a:t>
            </a:r>
            <a:r>
              <a:rPr lang="zh-CN" altLang="en-US" sz="2000" b="1" dirty="0" smtClean="0">
                <a:solidFill>
                  <a:srgbClr val="3333FF"/>
                </a:solidFill>
                <a:effectLst>
                  <a:outerShdw blurRad="38100" dist="38100" dir="2700000" algn="tl">
                    <a:srgbClr val="000000">
                      <a:alpha val="43137"/>
                    </a:srgbClr>
                  </a:outerShdw>
                </a:effectLst>
              </a:rPr>
              <a:t>此处</a:t>
            </a:r>
            <a:r>
              <a:rPr lang="en-US" altLang="zh-CN" sz="2000" b="1" dirty="0" err="1" smtClean="0">
                <a:solidFill>
                  <a:srgbClr val="3333FF"/>
                </a:solidFill>
                <a:effectLst>
                  <a:outerShdw blurRad="38100" dist="38100" dir="2700000" algn="tl">
                    <a:srgbClr val="000000">
                      <a:alpha val="43137"/>
                    </a:srgbClr>
                  </a:outerShdw>
                </a:effectLst>
              </a:rPr>
              <a:t>str</a:t>
            </a:r>
            <a:r>
              <a:rPr lang="zh-CN" altLang="en-US" sz="2000" b="1" dirty="0" smtClean="0">
                <a:solidFill>
                  <a:srgbClr val="3333FF"/>
                </a:solidFill>
                <a:effectLst>
                  <a:outerShdw blurRad="38100" dist="38100" dir="2700000" algn="tl">
                    <a:srgbClr val="000000">
                      <a:alpha val="43137"/>
                    </a:srgbClr>
                  </a:outerShdw>
                </a:effectLst>
              </a:rPr>
              <a:t>可以省略</a:t>
            </a:r>
            <a:endParaRPr lang="en-US" altLang="zh-CN" sz="2000" b="1" dirty="0">
              <a:solidFill>
                <a:srgbClr val="3333FF"/>
              </a:solidFill>
              <a:effectLst>
                <a:outerShdw blurRad="38100" dist="38100" dir="2700000" algn="tl">
                  <a:srgbClr val="000000">
                    <a:alpha val="43137"/>
                  </a:srgbClr>
                </a:outerShdw>
              </a:effectLst>
            </a:endParaRPr>
          </a:p>
          <a:p>
            <a:pPr marL="0" indent="0">
              <a:buNone/>
            </a:pPr>
            <a:r>
              <a:rPr lang="en-US" altLang="zh-CN" sz="2000" b="1" dirty="0" err="1" smtClean="0">
                <a:effectLst>
                  <a:outerShdw blurRad="38100" dist="38100" dir="2700000" algn="tl">
                    <a:srgbClr val="000000">
                      <a:alpha val="43137"/>
                    </a:srgbClr>
                  </a:outerShdw>
                </a:effectLst>
              </a:rPr>
              <a:t>int</a:t>
            </a:r>
            <a:r>
              <a:rPr lang="en-US" altLang="zh-CN" sz="2000" b="1" dirty="0" smtClean="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main()</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char s[80];</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int</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dirty="0" smtClean="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printf</a:t>
            </a:r>
            <a:r>
              <a:rPr lang="en-US" altLang="zh-CN" sz="2000" b="1" dirty="0">
                <a:effectLst>
                  <a:outerShdw blurRad="38100" dist="38100" dir="2700000" algn="tl">
                    <a:srgbClr val="000000">
                      <a:alpha val="43137"/>
                    </a:srgbClr>
                  </a:outerShdw>
                </a:effectLst>
              </a:rPr>
              <a:t>("Enter a string:");</a:t>
            </a:r>
          </a:p>
          <a:p>
            <a:pPr marL="0" indent="0">
              <a:buNone/>
            </a:pPr>
            <a:r>
              <a:rPr lang="en-US" altLang="zh-CN" sz="2000" b="1" dirty="0">
                <a:effectLst>
                  <a:outerShdw blurRad="38100" dist="38100" dir="2700000" algn="tl">
                    <a:srgbClr val="000000">
                      <a:alpha val="43137"/>
                    </a:srgbClr>
                  </a:outerShdw>
                </a:effectLst>
              </a:rPr>
              <a:t>    gets(s);</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(s);  //</a:t>
            </a:r>
            <a:r>
              <a:rPr lang="zh-CN" altLang="en-US" sz="2000" b="1" dirty="0">
                <a:effectLst>
                  <a:outerShdw blurRad="38100" dist="38100" dir="2700000" algn="tl">
                    <a:srgbClr val="000000">
                      <a:alpha val="43137"/>
                    </a:srgbClr>
                  </a:outerShdw>
                </a:effectLst>
              </a:rPr>
              <a:t>自定义函数调用</a:t>
            </a:r>
          </a:p>
          <a:p>
            <a:pPr marL="0" indent="0">
              <a:buNone/>
            </a:pPr>
            <a:r>
              <a:rPr lang="zh-CN" altLang="en-US" sz="2000" b="1" dirty="0">
                <a:effectLst>
                  <a:outerShdw blurRad="38100" dist="38100" dir="2700000" algn="tl">
                    <a:srgbClr val="000000">
                      <a:alpha val="43137"/>
                    </a:srgbClr>
                  </a:outerShdw>
                </a:effectLst>
              </a:rPr>
              <a:t>    </a:t>
            </a:r>
            <a:r>
              <a:rPr lang="en-US" altLang="zh-CN" sz="2000" b="1" dirty="0">
                <a:effectLst>
                  <a:outerShdw blurRad="38100" dist="38100" dir="2700000" algn="tl">
                    <a:srgbClr val="000000">
                      <a:alpha val="43137"/>
                    </a:srgbClr>
                  </a:outerShdw>
                </a:effectLst>
              </a:rPr>
              <a:t>puts(s);</a:t>
            </a:r>
          </a:p>
          <a:p>
            <a:pPr marL="0" indent="0">
              <a:buNone/>
            </a:pPr>
            <a:r>
              <a:rPr lang="en-US" altLang="zh-CN" sz="2000" b="1" dirty="0">
                <a:effectLst>
                  <a:outerShdw blurRad="38100" dist="38100" dir="2700000" algn="tl">
                    <a:srgbClr val="000000">
                      <a:alpha val="43137"/>
                    </a:srgbClr>
                  </a:outerShdw>
                </a:effectLst>
              </a:rPr>
              <a:t>    return 0;</a:t>
            </a:r>
          </a:p>
          <a:p>
            <a:pPr marL="0" indent="0">
              <a:buNone/>
            </a:pPr>
            <a:r>
              <a:rPr lang="en-US" altLang="zh-CN" sz="2000" b="1" dirty="0">
                <a:effectLst>
                  <a:outerShdw blurRad="38100" dist="38100" dir="2700000" algn="tl">
                    <a:srgbClr val="000000">
                      <a:alpha val="43137"/>
                    </a:srgbClr>
                  </a:outerShdw>
                </a:effectLst>
              </a:rPr>
              <a:t>}</a:t>
            </a:r>
          </a:p>
          <a:p>
            <a:pPr marL="0" indent="0">
              <a:buNone/>
            </a:pPr>
            <a:endParaRPr lang="en-US" altLang="zh-CN" sz="2000" b="1" dirty="0">
              <a:effectLst>
                <a:outerShdw blurRad="38100" dist="38100" dir="2700000" algn="tl">
                  <a:srgbClr val="000000">
                    <a:alpha val="43137"/>
                  </a:srgbClr>
                </a:outerShdw>
              </a:effectLst>
            </a:endParaRPr>
          </a:p>
          <a:p>
            <a:pPr marL="0" indent="0">
              <a:buNone/>
            </a:pPr>
            <a:r>
              <a:rPr lang="en-US" altLang="zh-CN" sz="2000" b="1" dirty="0">
                <a:effectLst>
                  <a:outerShdw blurRad="38100" dist="38100" dir="2700000" algn="tl">
                    <a:srgbClr val="000000">
                      <a:alpha val="43137"/>
                    </a:srgbClr>
                  </a:outerShdw>
                </a:effectLst>
              </a:rPr>
              <a:t>void </a:t>
            </a:r>
            <a:r>
              <a:rPr lang="en-US" altLang="zh-CN" sz="2000" b="1" dirty="0" err="1">
                <a:effectLst>
                  <a:outerShdw blurRad="38100" dist="38100" dir="2700000" algn="tl">
                    <a:srgbClr val="000000">
                      <a:alpha val="43137"/>
                    </a:srgbClr>
                  </a:outerShdw>
                </a:effectLst>
              </a:rPr>
              <a:t>low_to_upper</a:t>
            </a:r>
            <a:r>
              <a:rPr lang="en-US" altLang="zh-CN" sz="2000" b="1" dirty="0">
                <a:effectLst>
                  <a:outerShdw blurRad="38100" dist="38100" dir="2700000" algn="tl">
                    <a:srgbClr val="000000">
                      <a:alpha val="43137"/>
                    </a:srgbClr>
                  </a:outerShdw>
                </a:effectLst>
              </a:rPr>
              <a:t>(char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数组名作为参数，无返回值</a:t>
            </a:r>
          </a:p>
          <a:p>
            <a:pPr marL="0" indent="0">
              <a:buNone/>
            </a:pP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int</a:t>
            </a:r>
            <a:r>
              <a:rPr lang="en-US" altLang="zh-CN" sz="2000" b="1" dirty="0" smtClean="0">
                <a:effectLst>
                  <a:outerShdw blurRad="38100" dist="38100" dir="2700000" algn="tl">
                    <a:srgbClr val="000000">
                      <a:alpha val="43137"/>
                    </a:srgbClr>
                  </a:outerShdw>
                </a:effectLst>
              </a:rPr>
              <a:t> </a:t>
            </a:r>
            <a:r>
              <a:rPr lang="en-US" altLang="zh-CN" sz="2000" b="1" dirty="0" err="1" smtClean="0">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    for(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=0;str[</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]!='\0';i++)</a:t>
            </a:r>
          </a:p>
          <a:p>
            <a:pPr marL="0" indent="0">
              <a:buNone/>
            </a:pPr>
            <a:r>
              <a:rPr lang="en-US" altLang="zh-CN" sz="2000" b="1" dirty="0">
                <a:effectLst>
                  <a:outerShdw blurRad="38100" dist="38100" dir="2700000" algn="tl">
                    <a:srgbClr val="000000">
                      <a:alpha val="43137"/>
                    </a:srgbClr>
                  </a:outerShdw>
                </a:effectLst>
              </a:rPr>
              <a:t>      if(</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]&gt;='a' &amp;&amp;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]&lt;='z')</a:t>
            </a:r>
          </a:p>
          <a:p>
            <a:pPr marL="0" indent="0">
              <a:buNone/>
            </a:pP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str</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a:t>
            </a:r>
            <a:r>
              <a:rPr lang="en-US" altLang="zh-CN" sz="2000" b="1" dirty="0" err="1">
                <a:effectLst>
                  <a:outerShdw blurRad="38100" dist="38100" dir="2700000" algn="tl">
                    <a:srgbClr val="000000">
                      <a:alpha val="43137"/>
                    </a:srgbClr>
                  </a:outerShdw>
                </a:effectLst>
              </a:rPr>
              <a:t>a'+'A</a:t>
            </a:r>
            <a:r>
              <a:rPr lang="en-US" altLang="zh-CN" sz="2000" b="1" dirty="0">
                <a:effectLst>
                  <a:outerShdw blurRad="38100" dist="38100" dir="2700000" algn="tl">
                    <a:srgbClr val="000000">
                      <a:alpha val="43137"/>
                    </a:srgbClr>
                  </a:outerShdw>
                </a:effectLst>
              </a:rPr>
              <a:t>';</a:t>
            </a:r>
          </a:p>
          <a:p>
            <a:pPr marL="0" indent="0">
              <a:buNone/>
            </a:pPr>
            <a:r>
              <a:rPr lang="en-US" altLang="zh-CN" sz="20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678203267"/>
      </p:ext>
    </p:extLst>
  </p:cSld>
  <p:clrMapOvr>
    <a:masterClrMapping/>
  </p:clrMapOvr>
  <p:transition spd="med">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FF0000"/>
                </a:solidFill>
                <a:effectLst/>
              </a:rPr>
              <a:t>有返回值</a:t>
            </a:r>
            <a:r>
              <a:rPr lang="zh-CN" altLang="zh-CN" dirty="0">
                <a:effectLst/>
              </a:rPr>
              <a:t>函数和</a:t>
            </a:r>
            <a:r>
              <a:rPr lang="zh-CN" altLang="zh-CN" dirty="0">
                <a:solidFill>
                  <a:srgbClr val="FF0000"/>
                </a:solidFill>
                <a:effectLst/>
              </a:rPr>
              <a:t>无返回值</a:t>
            </a:r>
            <a:r>
              <a:rPr lang="zh-CN" altLang="zh-CN" dirty="0" smtClean="0">
                <a:effectLst/>
              </a:rPr>
              <a:t>函数</a:t>
            </a:r>
            <a:endParaRPr lang="zh-CN" altLang="en-US" dirty="0"/>
          </a:p>
        </p:txBody>
      </p:sp>
      <p:sp>
        <p:nvSpPr>
          <p:cNvPr id="3" name="内容占位符 2"/>
          <p:cNvSpPr>
            <a:spLocks noGrp="1"/>
          </p:cNvSpPr>
          <p:nvPr>
            <p:ph idx="1"/>
          </p:nvPr>
        </p:nvSpPr>
        <p:spPr>
          <a:xfrm>
            <a:off x="755650" y="1583581"/>
            <a:ext cx="7993063" cy="5274419"/>
          </a:xfrm>
        </p:spPr>
        <p:txBody>
          <a:bodyPr/>
          <a:lstStyle/>
          <a:p>
            <a:r>
              <a:rPr lang="zh-CN" altLang="zh-CN" sz="2400" dirty="0" smtClean="0">
                <a:solidFill>
                  <a:srgbClr val="FF0000"/>
                </a:solidFill>
                <a:effectLst/>
              </a:rPr>
              <a:t>有返回值</a:t>
            </a:r>
            <a:r>
              <a:rPr lang="zh-CN" altLang="zh-CN" sz="2400" dirty="0" smtClean="0">
                <a:effectLst/>
              </a:rPr>
              <a:t>函数</a:t>
            </a:r>
            <a:r>
              <a:rPr lang="zh-CN" altLang="en-US" sz="2400" dirty="0" smtClean="0">
                <a:effectLst/>
              </a:rPr>
              <a:t>：</a:t>
            </a:r>
            <a:endParaRPr lang="en-US" altLang="zh-CN" sz="2400" dirty="0" smtClean="0">
              <a:effectLst/>
            </a:endParaRPr>
          </a:p>
          <a:p>
            <a:pPr marL="6350" indent="457200">
              <a:buNone/>
            </a:pPr>
            <a:r>
              <a:rPr lang="zh-CN" altLang="zh-CN" sz="2400" dirty="0" smtClean="0">
                <a:effectLst/>
              </a:rPr>
              <a:t>此</a:t>
            </a:r>
            <a:r>
              <a:rPr lang="zh-CN" altLang="zh-CN" sz="2400" dirty="0">
                <a:effectLst/>
              </a:rPr>
              <a:t>类函数被调用执行完后将向调用者返回一个执行结果，称为函数返回值</a:t>
            </a:r>
            <a:r>
              <a:rPr lang="zh-CN" altLang="zh-CN" sz="2400" dirty="0" smtClean="0">
                <a:effectLst/>
              </a:rPr>
              <a:t>。由</a:t>
            </a:r>
            <a:r>
              <a:rPr lang="zh-CN" altLang="zh-CN" sz="2400" dirty="0">
                <a:effectLst/>
              </a:rPr>
              <a:t>用户定义的这种要返回函数值的函数，必须在函数定义和函数声明中明确返回值的类型</a:t>
            </a:r>
            <a:r>
              <a:rPr lang="zh-CN" altLang="zh-CN" sz="2400" dirty="0" smtClean="0">
                <a:effectLst/>
              </a:rPr>
              <a:t>。</a:t>
            </a:r>
            <a:endParaRPr lang="en-US" altLang="zh-CN" sz="2400" dirty="0" smtClean="0">
              <a:effectLst/>
            </a:endParaRPr>
          </a:p>
          <a:p>
            <a:pPr marL="6350" indent="457200">
              <a:buNone/>
            </a:pPr>
            <a:r>
              <a:rPr lang="en-US" altLang="zh-CN" sz="2400" dirty="0">
                <a:solidFill>
                  <a:srgbClr val="0066FF"/>
                </a:solidFill>
                <a:effectLst>
                  <a:outerShdw blurRad="38100" dist="38100" dir="2700000" algn="tl">
                    <a:srgbClr val="000000">
                      <a:alpha val="43137"/>
                    </a:srgbClr>
                  </a:outerShdw>
                </a:effectLst>
              </a:rPr>
              <a:t>char </a:t>
            </a:r>
            <a:r>
              <a:rPr lang="en-US" altLang="zh-CN" sz="2400" dirty="0" err="1">
                <a:solidFill>
                  <a:srgbClr val="0066FF"/>
                </a:solidFill>
                <a:effectLst>
                  <a:outerShdw blurRad="38100" dist="38100" dir="2700000" algn="tl">
                    <a:srgbClr val="000000">
                      <a:alpha val="43137"/>
                    </a:srgbClr>
                  </a:outerShdw>
                </a:effectLst>
              </a:rPr>
              <a:t>low_to_upper</a:t>
            </a:r>
            <a:r>
              <a:rPr lang="en-US" altLang="zh-CN" sz="2400" dirty="0">
                <a:solidFill>
                  <a:srgbClr val="0066FF"/>
                </a:solidFill>
                <a:effectLst>
                  <a:outerShdw blurRad="38100" dist="38100" dir="2700000" algn="tl">
                    <a:srgbClr val="000000">
                      <a:alpha val="43137"/>
                    </a:srgbClr>
                  </a:outerShdw>
                </a:effectLst>
              </a:rPr>
              <a:t>(char </a:t>
            </a:r>
            <a:r>
              <a:rPr lang="en-US" altLang="zh-CN" sz="2400" dirty="0" err="1">
                <a:solidFill>
                  <a:srgbClr val="0066FF"/>
                </a:solidFill>
                <a:effectLst>
                  <a:outerShdw blurRad="38100" dist="38100" dir="2700000" algn="tl">
                    <a:srgbClr val="000000">
                      <a:alpha val="43137"/>
                    </a:srgbClr>
                  </a:outerShdw>
                </a:effectLst>
              </a:rPr>
              <a:t>ch</a:t>
            </a:r>
            <a:r>
              <a:rPr lang="en-US" altLang="zh-CN" sz="2400" dirty="0" smtClean="0">
                <a:solidFill>
                  <a:srgbClr val="0066FF"/>
                </a:solidFill>
                <a:effectLst>
                  <a:outerShdw blurRad="38100" dist="38100" dir="2700000" algn="tl">
                    <a:srgbClr val="000000">
                      <a:alpha val="43137"/>
                    </a:srgbClr>
                  </a:outerShdw>
                </a:effectLst>
              </a:rPr>
              <a:t>)</a:t>
            </a:r>
            <a:endParaRPr lang="en-US" altLang="zh-CN" sz="2400" dirty="0" smtClean="0">
              <a:solidFill>
                <a:srgbClr val="0066FF"/>
              </a:solidFill>
              <a:effectLst/>
            </a:endParaRPr>
          </a:p>
          <a:p>
            <a:r>
              <a:rPr lang="zh-CN" altLang="zh-CN" sz="2400" dirty="0">
                <a:solidFill>
                  <a:srgbClr val="FF0000"/>
                </a:solidFill>
                <a:effectLst/>
              </a:rPr>
              <a:t>无返回值</a:t>
            </a:r>
            <a:r>
              <a:rPr lang="zh-CN" altLang="zh-CN" sz="2400" dirty="0">
                <a:effectLst/>
              </a:rPr>
              <a:t>函数</a:t>
            </a:r>
            <a:endParaRPr lang="en-US" altLang="zh-CN" sz="2400" dirty="0">
              <a:effectLst/>
            </a:endParaRPr>
          </a:p>
          <a:p>
            <a:pPr marL="6350" indent="457200">
              <a:buNone/>
            </a:pPr>
            <a:r>
              <a:rPr lang="zh-CN" altLang="zh-CN" sz="2400" dirty="0">
                <a:effectLst/>
              </a:rPr>
              <a:t>此类函数用于完成某项特定的处理任务， 执行完成后不向调用者返回函数值。这类函数类似于其它语言的过程。由于函数无须返回值，用户在定义此类函数时可指定它的返回为“</a:t>
            </a:r>
            <a:r>
              <a:rPr lang="zh-CN" altLang="zh-CN" sz="2400" dirty="0">
                <a:solidFill>
                  <a:srgbClr val="FF0000"/>
                </a:solidFill>
                <a:effectLst/>
              </a:rPr>
              <a:t>空类型</a:t>
            </a:r>
            <a:r>
              <a:rPr lang="zh-CN" altLang="zh-CN" sz="2400" dirty="0">
                <a:effectLst/>
              </a:rPr>
              <a:t>”，空类型的说明符为“</a:t>
            </a:r>
            <a:r>
              <a:rPr lang="en-US" altLang="zh-CN" sz="2400" dirty="0">
                <a:solidFill>
                  <a:srgbClr val="FF0000"/>
                </a:solidFill>
                <a:effectLst/>
              </a:rPr>
              <a:t>void</a:t>
            </a:r>
            <a:r>
              <a:rPr lang="zh-CN" altLang="zh-CN" sz="2400" dirty="0">
                <a:effectLst/>
              </a:rPr>
              <a:t>”</a:t>
            </a:r>
            <a:r>
              <a:rPr lang="zh-CN" altLang="zh-CN" sz="2400" dirty="0" smtClean="0">
                <a:effectLst/>
              </a:rPr>
              <a:t>。</a:t>
            </a:r>
            <a:endParaRPr lang="en-US" altLang="zh-CN" sz="2400" dirty="0" smtClean="0">
              <a:effectLst/>
            </a:endParaRPr>
          </a:p>
          <a:p>
            <a:pPr marL="6350" indent="457200">
              <a:buNone/>
            </a:pPr>
            <a:r>
              <a:rPr lang="en-US" altLang="zh-CN" sz="2400" dirty="0">
                <a:solidFill>
                  <a:srgbClr val="FF0000"/>
                </a:solidFill>
                <a:effectLst>
                  <a:outerShdw blurRad="38100" dist="38100" dir="2700000" algn="tl">
                    <a:srgbClr val="000000">
                      <a:alpha val="43137"/>
                    </a:srgbClr>
                  </a:outerShdw>
                </a:effectLst>
              </a:rPr>
              <a:t>void</a:t>
            </a:r>
            <a:r>
              <a:rPr lang="en-US" altLang="zh-CN" sz="2400" dirty="0">
                <a:effectLst>
                  <a:outerShdw blurRad="38100" dist="38100" dir="2700000" algn="tl">
                    <a:srgbClr val="000000">
                      <a:alpha val="43137"/>
                    </a:srgbClr>
                  </a:outerShdw>
                </a:effectLst>
              </a:rPr>
              <a:t> </a:t>
            </a:r>
            <a:r>
              <a:rPr lang="en-US" altLang="zh-CN" sz="2400" dirty="0" err="1">
                <a:effectLst>
                  <a:outerShdw blurRad="38100" dist="38100" dir="2700000" algn="tl">
                    <a:srgbClr val="000000">
                      <a:alpha val="43137"/>
                    </a:srgbClr>
                  </a:outerShdw>
                </a:effectLst>
              </a:rPr>
              <a:t>low_to_upper</a:t>
            </a:r>
            <a:r>
              <a:rPr lang="en-US" altLang="zh-CN" sz="2400" dirty="0">
                <a:effectLst>
                  <a:outerShdw blurRad="38100" dist="38100" dir="2700000" algn="tl">
                    <a:srgbClr val="000000">
                      <a:alpha val="43137"/>
                    </a:srgbClr>
                  </a:outerShdw>
                </a:effectLst>
              </a:rPr>
              <a:t>(char </a:t>
            </a:r>
            <a:r>
              <a:rPr lang="en-US" altLang="zh-CN" sz="2400" dirty="0" err="1">
                <a:solidFill>
                  <a:srgbClr val="FF0000"/>
                </a:solidFill>
                <a:effectLst>
                  <a:outerShdw blurRad="38100" dist="38100" dir="2700000" algn="tl">
                    <a:srgbClr val="000000">
                      <a:alpha val="43137"/>
                    </a:srgbClr>
                  </a:outerShdw>
                </a:effectLst>
              </a:rPr>
              <a:t>str</a:t>
            </a:r>
            <a:r>
              <a:rPr lang="en-US" altLang="zh-CN" sz="2400" dirty="0">
                <a:solidFill>
                  <a:srgbClr val="FF0000"/>
                </a:solidFill>
                <a:effectLst>
                  <a:outerShdw blurRad="38100" dist="38100" dir="2700000" algn="tl">
                    <a:srgbClr val="000000">
                      <a:alpha val="43137"/>
                    </a:srgbClr>
                  </a:outerShdw>
                </a:effectLst>
              </a:rPr>
              <a:t>[]</a:t>
            </a:r>
            <a:r>
              <a:rPr lang="en-US" altLang="zh-CN" sz="2400" dirty="0">
                <a:effectLst>
                  <a:outerShdw blurRad="38100" dist="38100" dir="2700000" algn="tl">
                    <a:srgbClr val="000000">
                      <a:alpha val="43137"/>
                    </a:srgbClr>
                  </a:outerShdw>
                </a:effectLst>
              </a:rPr>
              <a:t>)</a:t>
            </a:r>
            <a:endParaRPr lang="zh-CN" altLang="zh-CN"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11</a:t>
            </a:fld>
            <a:endParaRPr lang="en-US" altLang="zh-CN" dirty="0"/>
          </a:p>
        </p:txBody>
      </p:sp>
    </p:spTree>
    <p:extLst>
      <p:ext uri="{BB962C8B-B14F-4D97-AF65-F5344CB8AC3E}">
        <p14:creationId xmlns:p14="http://schemas.microsoft.com/office/powerpoint/2010/main" val="1203152594"/>
      </p:ext>
    </p:extLst>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FF0000"/>
                </a:solidFill>
                <a:effectLst/>
              </a:rPr>
              <a:t>无返回值</a:t>
            </a:r>
            <a:r>
              <a:rPr lang="zh-CN" altLang="zh-CN" dirty="0">
                <a:effectLst/>
              </a:rPr>
              <a:t>函数</a:t>
            </a:r>
            <a:endParaRPr lang="zh-CN" altLang="en-US" dirty="0"/>
          </a:p>
        </p:txBody>
      </p:sp>
      <p:sp>
        <p:nvSpPr>
          <p:cNvPr id="3" name="内容占位符 2"/>
          <p:cNvSpPr>
            <a:spLocks noGrp="1"/>
          </p:cNvSpPr>
          <p:nvPr>
            <p:ph sz="half" idx="1"/>
          </p:nvPr>
        </p:nvSpPr>
        <p:spPr/>
        <p:txBody>
          <a:bodyPr/>
          <a:lstStyle/>
          <a:p>
            <a:pPr marL="271463" lvl="1" indent="0">
              <a:buNone/>
            </a:pPr>
            <a:r>
              <a:rPr lang="zh-CN" altLang="zh-CN" dirty="0">
                <a:effectLst/>
              </a:rPr>
              <a:t>【例</a:t>
            </a:r>
            <a:r>
              <a:rPr lang="en-US" altLang="zh-CN" dirty="0">
                <a:effectLst/>
              </a:rPr>
              <a:t>5-2</a:t>
            </a:r>
            <a:r>
              <a:rPr lang="zh-CN" altLang="zh-CN" dirty="0">
                <a:effectLst/>
              </a:rPr>
              <a:t>】从键盘输入一个整数（</a:t>
            </a:r>
            <a:r>
              <a:rPr lang="en-US" altLang="zh-CN" dirty="0">
                <a:effectLst/>
              </a:rPr>
              <a:t>n&lt;80</a:t>
            </a:r>
            <a:r>
              <a:rPr lang="zh-CN" altLang="zh-CN" dirty="0">
                <a:effectLst/>
              </a:rPr>
              <a:t>），打印一行</a:t>
            </a:r>
            <a:r>
              <a:rPr lang="en-US" altLang="zh-CN" dirty="0">
                <a:effectLst/>
              </a:rPr>
              <a:t>n</a:t>
            </a:r>
            <a:r>
              <a:rPr lang="zh-CN" altLang="zh-CN" dirty="0">
                <a:effectLst/>
              </a:rPr>
              <a:t>个星号。</a:t>
            </a:r>
          </a:p>
          <a:p>
            <a:pPr marL="271463" lvl="1" indent="0">
              <a:buNone/>
            </a:pPr>
            <a:r>
              <a:rPr lang="zh-CN" altLang="zh-CN" dirty="0">
                <a:effectLst/>
              </a:rPr>
              <a:t>此程序的运行结果如下图所示：</a:t>
            </a:r>
          </a:p>
          <a:p>
            <a:pPr marL="271463" lvl="1" indent="0">
              <a:buNone/>
            </a:pPr>
            <a:endParaRPr lang="en-US" altLang="zh-CN" dirty="0" smtClean="0"/>
          </a:p>
          <a:p>
            <a:pPr marL="271463" lvl="1" indent="0">
              <a:buNone/>
            </a:pPr>
            <a:endParaRPr lang="zh-CN" altLang="en-US" dirty="0"/>
          </a:p>
        </p:txBody>
      </p:sp>
      <p:sp>
        <p:nvSpPr>
          <p:cNvPr id="5" name="内容占位符 4"/>
          <p:cNvSpPr>
            <a:spLocks noGrp="1"/>
          </p:cNvSpPr>
          <p:nvPr>
            <p:ph sz="half" idx="2"/>
          </p:nvPr>
        </p:nvSpPr>
        <p:spPr>
          <a:xfrm>
            <a:off x="4827588" y="1700213"/>
            <a:ext cx="3921125" cy="5030787"/>
          </a:xfrm>
        </p:spPr>
        <p:txBody>
          <a:bodyPr/>
          <a:lstStyle/>
          <a:p>
            <a:pPr marL="0" indent="0">
              <a:buNone/>
            </a:pPr>
            <a:r>
              <a:rPr lang="en-US" altLang="zh-CN" sz="1600" dirty="0">
                <a:effectLst/>
              </a:rPr>
              <a:t>#include &lt;stdio.h&gt;</a:t>
            </a:r>
            <a:endParaRPr lang="zh-CN" altLang="zh-CN" sz="1600" dirty="0">
              <a:effectLst/>
            </a:endParaRPr>
          </a:p>
          <a:p>
            <a:pPr marL="0" indent="0">
              <a:buNone/>
            </a:pPr>
            <a:r>
              <a:rPr lang="en-US" altLang="zh-CN" sz="1600" dirty="0">
                <a:solidFill>
                  <a:srgbClr val="3333FF"/>
                </a:solidFill>
                <a:effectLst/>
              </a:rPr>
              <a:t>void </a:t>
            </a:r>
            <a:r>
              <a:rPr lang="en-US" altLang="zh-CN" sz="1600" dirty="0" err="1">
                <a:solidFill>
                  <a:srgbClr val="3333FF"/>
                </a:solidFill>
                <a:effectLst/>
              </a:rPr>
              <a:t>print_star</a:t>
            </a:r>
            <a:r>
              <a:rPr lang="en-US" altLang="zh-CN" sz="1600" dirty="0">
                <a:solidFill>
                  <a:srgbClr val="3333FF"/>
                </a:solidFill>
                <a:effectLst/>
              </a:rPr>
              <a:t>(</a:t>
            </a:r>
            <a:r>
              <a:rPr lang="en-US" altLang="zh-CN" sz="1600" dirty="0" err="1">
                <a:solidFill>
                  <a:srgbClr val="3333FF"/>
                </a:solidFill>
                <a:effectLst/>
              </a:rPr>
              <a:t>int</a:t>
            </a:r>
            <a:r>
              <a:rPr lang="en-US" altLang="zh-CN" sz="1600" dirty="0">
                <a:solidFill>
                  <a:srgbClr val="3333FF"/>
                </a:solidFill>
                <a:effectLst/>
              </a:rPr>
              <a:t> </a:t>
            </a:r>
            <a:r>
              <a:rPr lang="en-US" altLang="zh-CN" sz="1600" dirty="0" smtClean="0">
                <a:solidFill>
                  <a:srgbClr val="3333FF"/>
                </a:solidFill>
                <a:effectLst/>
              </a:rPr>
              <a:t>m)</a:t>
            </a:r>
            <a:endParaRPr lang="zh-CN" altLang="zh-CN" sz="1600" dirty="0">
              <a:solidFill>
                <a:srgbClr val="3333FF"/>
              </a:solidFill>
              <a:effectLst/>
            </a:endParaRPr>
          </a:p>
          <a:p>
            <a:pPr marL="0" indent="0">
              <a:buNone/>
            </a:pPr>
            <a:r>
              <a:rPr lang="en-US" altLang="zh-CN" sz="1600" dirty="0">
                <a:solidFill>
                  <a:srgbClr val="3333FF"/>
                </a:solidFill>
                <a:effectLst/>
              </a:rPr>
              <a:t>{</a:t>
            </a:r>
            <a:endParaRPr lang="zh-CN" altLang="zh-CN" sz="1600" dirty="0">
              <a:solidFill>
                <a:srgbClr val="3333FF"/>
              </a:solidFill>
              <a:effectLst/>
            </a:endParaRPr>
          </a:p>
          <a:p>
            <a:pPr marL="0" indent="0">
              <a:buNone/>
            </a:pPr>
            <a:r>
              <a:rPr lang="en-US" altLang="zh-CN" sz="1600" dirty="0">
                <a:solidFill>
                  <a:srgbClr val="3333FF"/>
                </a:solidFill>
                <a:effectLst/>
              </a:rPr>
              <a:t>    int i;</a:t>
            </a:r>
            <a:endParaRPr lang="zh-CN" altLang="zh-CN" sz="1600" dirty="0">
              <a:solidFill>
                <a:srgbClr val="3333FF"/>
              </a:solidFill>
              <a:effectLst/>
            </a:endParaRPr>
          </a:p>
          <a:p>
            <a:pPr marL="0" indent="0">
              <a:buNone/>
            </a:pPr>
            <a:r>
              <a:rPr lang="en-US" altLang="zh-CN" sz="1600" dirty="0">
                <a:solidFill>
                  <a:srgbClr val="3333FF"/>
                </a:solidFill>
                <a:effectLst/>
              </a:rPr>
              <a:t>    </a:t>
            </a:r>
            <a:r>
              <a:rPr lang="en-US" altLang="zh-CN" sz="1600" dirty="0" smtClean="0">
                <a:solidFill>
                  <a:srgbClr val="3333FF"/>
                </a:solidFill>
                <a:effectLst/>
              </a:rPr>
              <a:t>for(</a:t>
            </a:r>
            <a:r>
              <a:rPr lang="en-US" altLang="zh-CN" sz="1600" dirty="0" err="1" smtClean="0">
                <a:solidFill>
                  <a:srgbClr val="3333FF"/>
                </a:solidFill>
                <a:effectLst/>
              </a:rPr>
              <a:t>i</a:t>
            </a:r>
            <a:r>
              <a:rPr lang="en-US" altLang="zh-CN" sz="1600" dirty="0" smtClean="0">
                <a:solidFill>
                  <a:srgbClr val="3333FF"/>
                </a:solidFill>
                <a:effectLst/>
              </a:rPr>
              <a:t>=0;i&lt;</a:t>
            </a:r>
            <a:r>
              <a:rPr lang="en-US" altLang="zh-CN" sz="1600" dirty="0" err="1" smtClean="0">
                <a:solidFill>
                  <a:srgbClr val="3333FF"/>
                </a:solidFill>
                <a:effectLst/>
              </a:rPr>
              <a:t>m;i</a:t>
            </a:r>
            <a:r>
              <a:rPr lang="en-US" altLang="zh-CN" sz="1600" dirty="0">
                <a:solidFill>
                  <a:srgbClr val="3333FF"/>
                </a:solidFill>
                <a:effectLst/>
              </a:rPr>
              <a:t>++)</a:t>
            </a:r>
            <a:endParaRPr lang="zh-CN" altLang="zh-CN" sz="1600" dirty="0">
              <a:solidFill>
                <a:srgbClr val="3333FF"/>
              </a:solidFill>
              <a:effectLst/>
            </a:endParaRPr>
          </a:p>
          <a:p>
            <a:pPr marL="0" indent="0">
              <a:buNone/>
            </a:pPr>
            <a:r>
              <a:rPr lang="en-US" altLang="zh-CN" sz="1600" dirty="0">
                <a:solidFill>
                  <a:srgbClr val="3333FF"/>
                </a:solidFill>
                <a:effectLst/>
              </a:rPr>
              <a:t>        printf("*");</a:t>
            </a:r>
            <a:endParaRPr lang="zh-CN" altLang="zh-CN" sz="1600" dirty="0">
              <a:solidFill>
                <a:srgbClr val="3333FF"/>
              </a:solidFill>
              <a:effectLst/>
            </a:endParaRPr>
          </a:p>
          <a:p>
            <a:pPr marL="0" indent="0">
              <a:buNone/>
            </a:pPr>
            <a:r>
              <a:rPr lang="en-US" altLang="zh-CN" sz="1600" dirty="0" smtClean="0">
                <a:solidFill>
                  <a:srgbClr val="3333FF"/>
                </a:solidFill>
                <a:effectLst/>
              </a:rPr>
              <a:t>}</a:t>
            </a:r>
          </a:p>
          <a:p>
            <a:pPr marL="0" indent="0">
              <a:buNone/>
            </a:pPr>
            <a:r>
              <a:rPr lang="en-US" altLang="zh-CN" sz="1600" dirty="0" smtClean="0">
                <a:solidFill>
                  <a:schemeClr val="tx1"/>
                </a:solidFill>
                <a:effectLst/>
              </a:rPr>
              <a:t>int </a:t>
            </a:r>
            <a:r>
              <a:rPr lang="en-US" altLang="zh-CN" sz="1600" dirty="0">
                <a:solidFill>
                  <a:schemeClr val="tx1"/>
                </a:solidFill>
                <a:effectLst/>
              </a:rPr>
              <a:t>main()</a:t>
            </a:r>
            <a:endParaRPr lang="zh-CN" altLang="zh-CN" sz="1600" dirty="0">
              <a:solidFill>
                <a:schemeClr val="tx1"/>
              </a:solidFill>
              <a:effectLst/>
            </a:endParaRPr>
          </a:p>
          <a:p>
            <a:pPr marL="0" indent="0">
              <a:buNone/>
            </a:pPr>
            <a:r>
              <a:rPr lang="en-US" altLang="zh-CN" sz="1600" dirty="0">
                <a:solidFill>
                  <a:schemeClr val="tx1"/>
                </a:solidFill>
                <a:effectLst/>
              </a:rPr>
              <a:t>{</a:t>
            </a:r>
            <a:endParaRPr lang="zh-CN" altLang="zh-CN" sz="1600" dirty="0">
              <a:solidFill>
                <a:schemeClr val="tx1"/>
              </a:solidFill>
              <a:effectLst/>
            </a:endParaRPr>
          </a:p>
          <a:p>
            <a:pPr marL="0" indent="0">
              <a:buNone/>
            </a:pPr>
            <a:r>
              <a:rPr lang="en-US" altLang="zh-CN" sz="1600" dirty="0">
                <a:solidFill>
                  <a:schemeClr val="tx1"/>
                </a:solidFill>
                <a:effectLst/>
              </a:rPr>
              <a:t>    int n;</a:t>
            </a:r>
            <a:endParaRPr lang="zh-CN" altLang="zh-CN" sz="1600" dirty="0">
              <a:solidFill>
                <a:schemeClr val="tx1"/>
              </a:solidFill>
              <a:effectLst/>
            </a:endParaRPr>
          </a:p>
          <a:p>
            <a:pPr marL="0" indent="0">
              <a:buNone/>
            </a:pPr>
            <a:r>
              <a:rPr lang="en-US" altLang="zh-CN" sz="1600" dirty="0">
                <a:solidFill>
                  <a:schemeClr val="tx1"/>
                </a:solidFill>
                <a:effectLst/>
              </a:rPr>
              <a:t>    printf("Enter n(&lt;80):");</a:t>
            </a:r>
            <a:endParaRPr lang="zh-CN" altLang="zh-CN" sz="1600" dirty="0">
              <a:solidFill>
                <a:schemeClr val="tx1"/>
              </a:solidFill>
              <a:effectLst/>
            </a:endParaRPr>
          </a:p>
          <a:p>
            <a:pPr marL="0" indent="0">
              <a:buNone/>
            </a:pPr>
            <a:r>
              <a:rPr lang="en-US" altLang="zh-CN" sz="1600" dirty="0">
                <a:solidFill>
                  <a:schemeClr val="tx1"/>
                </a:solidFill>
                <a:effectLst/>
              </a:rPr>
              <a:t>    scanf("%d",&amp;n);</a:t>
            </a:r>
            <a:endParaRPr lang="zh-CN" altLang="zh-CN" sz="1600" dirty="0">
              <a:solidFill>
                <a:schemeClr val="tx1"/>
              </a:solidFill>
              <a:effectLst/>
            </a:endParaRPr>
          </a:p>
          <a:p>
            <a:pPr marL="0" indent="0">
              <a:buNone/>
            </a:pPr>
            <a:r>
              <a:rPr lang="en-US" altLang="zh-CN" sz="1600" dirty="0">
                <a:solidFill>
                  <a:schemeClr val="tx1"/>
                </a:solidFill>
                <a:effectLst/>
              </a:rPr>
              <a:t>    </a:t>
            </a:r>
            <a:r>
              <a:rPr lang="en-US" altLang="zh-CN" sz="1600" dirty="0">
                <a:solidFill>
                  <a:srgbClr val="FF0000"/>
                </a:solidFill>
                <a:effectLst/>
              </a:rPr>
              <a:t>print_star(n);</a:t>
            </a:r>
            <a:endParaRPr lang="zh-CN" altLang="zh-CN" sz="1600" dirty="0">
              <a:solidFill>
                <a:srgbClr val="FF0000"/>
              </a:solidFill>
              <a:effectLst/>
            </a:endParaRPr>
          </a:p>
          <a:p>
            <a:pPr marL="0" indent="0">
              <a:buNone/>
            </a:pPr>
            <a:r>
              <a:rPr lang="en-US" altLang="zh-CN" sz="1600" dirty="0">
                <a:solidFill>
                  <a:schemeClr val="tx1"/>
                </a:solidFill>
                <a:effectLst/>
              </a:rPr>
              <a:t>    return 0;</a:t>
            </a:r>
            <a:endParaRPr lang="zh-CN" altLang="zh-CN" sz="1600" dirty="0">
              <a:solidFill>
                <a:schemeClr val="tx1"/>
              </a:solidFill>
              <a:effectLst/>
            </a:endParaRPr>
          </a:p>
          <a:p>
            <a:pPr marL="0" indent="0">
              <a:buNone/>
            </a:pPr>
            <a:r>
              <a:rPr lang="en-US" altLang="zh-CN" sz="1600" dirty="0">
                <a:solidFill>
                  <a:schemeClr val="tx1"/>
                </a:solidFill>
                <a:effectLst/>
              </a:rPr>
              <a:t>}</a:t>
            </a:r>
            <a:endParaRPr lang="zh-CN" altLang="zh-CN" sz="1600" dirty="0">
              <a:solidFill>
                <a:schemeClr val="tx1"/>
              </a:solidFill>
              <a:effectLst/>
            </a:endParaRP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12</a:t>
            </a:fld>
            <a:endParaRPr lang="en-US" altLang="zh-C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544472"/>
            <a:ext cx="2447900" cy="52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971600" y="4114815"/>
            <a:ext cx="3024336" cy="2554545"/>
          </a:xfrm>
          <a:prstGeom prst="rect">
            <a:avLst/>
          </a:prstGeom>
        </p:spPr>
        <p:txBody>
          <a:bodyPr wrap="square">
            <a:spAutoFit/>
          </a:bodyPr>
          <a:lstStyle/>
          <a:p>
            <a:r>
              <a:rPr lang="zh-CN" altLang="en-US" sz="1600" b="1" dirty="0"/>
              <a:t>#include &lt;stdio.h&gt;</a:t>
            </a:r>
          </a:p>
          <a:p>
            <a:r>
              <a:rPr lang="zh-CN" altLang="en-US" sz="1600" b="1" dirty="0"/>
              <a:t>int main()</a:t>
            </a:r>
          </a:p>
          <a:p>
            <a:r>
              <a:rPr lang="zh-CN" altLang="en-US" sz="1600" b="1" dirty="0"/>
              <a:t>{</a:t>
            </a:r>
          </a:p>
          <a:p>
            <a:r>
              <a:rPr lang="zh-CN" altLang="en-US" sz="1600" b="1" dirty="0"/>
              <a:t>    int n,i;</a:t>
            </a:r>
          </a:p>
          <a:p>
            <a:r>
              <a:rPr lang="zh-CN" altLang="en-US" sz="1600" b="1" dirty="0"/>
              <a:t>    printf("Enter n(&lt;80):");</a:t>
            </a:r>
          </a:p>
          <a:p>
            <a:r>
              <a:rPr lang="zh-CN" altLang="en-US" sz="1600" b="1" dirty="0"/>
              <a:t>    scanf("%d",&amp;n);</a:t>
            </a:r>
          </a:p>
          <a:p>
            <a:r>
              <a:rPr lang="zh-CN" altLang="en-US" sz="1600" b="1" dirty="0"/>
              <a:t>    for(i=0;i&lt;n;i++)</a:t>
            </a:r>
          </a:p>
          <a:p>
            <a:r>
              <a:rPr lang="zh-CN" altLang="en-US" sz="1600" b="1" dirty="0"/>
              <a:t>        printf("*");</a:t>
            </a:r>
          </a:p>
          <a:p>
            <a:r>
              <a:rPr lang="zh-CN" altLang="en-US" sz="1600" b="1" dirty="0"/>
              <a:t>    return 0;</a:t>
            </a:r>
          </a:p>
          <a:p>
            <a:r>
              <a:rPr lang="zh-CN" altLang="en-US" sz="1600" b="1" dirty="0"/>
              <a:t>}</a:t>
            </a:r>
          </a:p>
        </p:txBody>
      </p:sp>
      <p:sp>
        <p:nvSpPr>
          <p:cNvPr id="8" name="内容占位符 2"/>
          <p:cNvSpPr txBox="1">
            <a:spLocks/>
          </p:cNvSpPr>
          <p:nvPr/>
        </p:nvSpPr>
        <p:spPr bwMode="auto">
          <a:xfrm>
            <a:off x="5730244" y="325264"/>
            <a:ext cx="3413756" cy="12241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1800" kern="0" dirty="0" smtClean="0">
                <a:solidFill>
                  <a:srgbClr val="0066FF"/>
                </a:solidFill>
                <a:effectLst/>
              </a:rPr>
              <a:t>主函数：读入打印星号的次数</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子函数：输出</a:t>
            </a:r>
            <a:r>
              <a:rPr lang="en-US" altLang="zh-CN" sz="1800" kern="0" dirty="0" smtClean="0">
                <a:solidFill>
                  <a:srgbClr val="0066FF"/>
                </a:solidFill>
                <a:effectLst/>
              </a:rPr>
              <a:t>n</a:t>
            </a:r>
            <a:r>
              <a:rPr lang="zh-CN" altLang="en-US" sz="1800" kern="0" dirty="0" smtClean="0">
                <a:solidFill>
                  <a:srgbClr val="0066FF"/>
                </a:solidFill>
                <a:effectLst/>
              </a:rPr>
              <a:t>个星号</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需传递的函数参数：星号个数</a:t>
            </a:r>
            <a:endParaRPr lang="zh-CN" altLang="zh-CN" sz="1800" kern="0" dirty="0">
              <a:solidFill>
                <a:srgbClr val="0066FF"/>
              </a:solidFill>
              <a:effectLst/>
            </a:endParaRPr>
          </a:p>
        </p:txBody>
      </p:sp>
    </p:spTree>
    <p:extLst>
      <p:ext uri="{BB962C8B-B14F-4D97-AF65-F5344CB8AC3E}">
        <p14:creationId xmlns:p14="http://schemas.microsoft.com/office/powerpoint/2010/main" val="4194286529"/>
      </p:ext>
    </p:extLst>
  </p:cSld>
  <p:clrMapOvr>
    <a:masterClrMapping/>
  </p:clrMapOvr>
  <p:transition spd="med">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FF3300"/>
                </a:solidFill>
                <a:effectLst/>
              </a:rPr>
              <a:t>无参</a:t>
            </a:r>
            <a:r>
              <a:rPr lang="zh-CN" altLang="zh-CN" dirty="0">
                <a:effectLst/>
              </a:rPr>
              <a:t>函数和</a:t>
            </a:r>
            <a:r>
              <a:rPr lang="zh-CN" altLang="zh-CN" dirty="0">
                <a:solidFill>
                  <a:srgbClr val="FF3300"/>
                </a:solidFill>
                <a:effectLst/>
              </a:rPr>
              <a:t>有参</a:t>
            </a:r>
            <a:r>
              <a:rPr lang="zh-CN" altLang="zh-CN" dirty="0" smtClean="0">
                <a:effectLst/>
              </a:rPr>
              <a:t>函数</a:t>
            </a:r>
            <a:endParaRPr lang="zh-CN" altLang="en-US" dirty="0"/>
          </a:p>
        </p:txBody>
      </p:sp>
      <p:sp>
        <p:nvSpPr>
          <p:cNvPr id="6" name="内容占位符 5"/>
          <p:cNvSpPr>
            <a:spLocks noGrp="1"/>
          </p:cNvSpPr>
          <p:nvPr>
            <p:ph idx="1"/>
          </p:nvPr>
        </p:nvSpPr>
        <p:spPr/>
        <p:txBody>
          <a:bodyPr/>
          <a:lstStyle/>
          <a:p>
            <a:r>
              <a:rPr lang="zh-CN" altLang="zh-CN" sz="2400" dirty="0" smtClean="0">
                <a:solidFill>
                  <a:srgbClr val="FF3300"/>
                </a:solidFill>
                <a:effectLst/>
              </a:rPr>
              <a:t>无</a:t>
            </a:r>
            <a:r>
              <a:rPr lang="zh-CN" altLang="zh-CN" sz="2400" dirty="0">
                <a:solidFill>
                  <a:srgbClr val="FF3300"/>
                </a:solidFill>
                <a:effectLst/>
              </a:rPr>
              <a:t>参</a:t>
            </a:r>
            <a:r>
              <a:rPr lang="zh-CN" altLang="zh-CN" sz="2400" dirty="0" smtClean="0">
                <a:effectLst/>
              </a:rPr>
              <a:t>函数</a:t>
            </a:r>
            <a:endParaRPr lang="en-US" altLang="zh-CN" sz="2400" dirty="0" smtClean="0">
              <a:effectLst/>
            </a:endParaRPr>
          </a:p>
          <a:p>
            <a:pPr marL="6350" indent="457200">
              <a:buNone/>
            </a:pPr>
            <a:r>
              <a:rPr lang="zh-CN" altLang="zh-CN" sz="2400" dirty="0">
                <a:effectLst/>
              </a:rPr>
              <a:t>函数定义、</a:t>
            </a:r>
            <a:r>
              <a:rPr lang="zh-CN" altLang="zh-CN" sz="2400" dirty="0" smtClean="0">
                <a:effectLst/>
              </a:rPr>
              <a:t>函数</a:t>
            </a:r>
            <a:r>
              <a:rPr lang="zh-CN" altLang="en-US" sz="2400" dirty="0" smtClean="0">
                <a:effectLst/>
              </a:rPr>
              <a:t>声明</a:t>
            </a:r>
            <a:r>
              <a:rPr lang="zh-CN" altLang="zh-CN" sz="2400" dirty="0" smtClean="0">
                <a:effectLst/>
              </a:rPr>
              <a:t>及</a:t>
            </a:r>
            <a:r>
              <a:rPr lang="zh-CN" altLang="zh-CN" sz="2400" dirty="0">
                <a:effectLst/>
              </a:rPr>
              <a:t>函数调用中均不带参数。 主调函数和被调函数之间不进行参数传送。此类函数通常用来完成一组指定的功能，可以返回或不返回函数值</a:t>
            </a:r>
            <a:r>
              <a:rPr lang="zh-CN" altLang="zh-CN" sz="2400" dirty="0" smtClean="0">
                <a:effectLst/>
              </a:rPr>
              <a:t>。</a:t>
            </a:r>
            <a:endParaRPr lang="en-US" altLang="zh-CN" sz="2400" dirty="0" smtClean="0">
              <a:effectLst/>
            </a:endParaRPr>
          </a:p>
          <a:p>
            <a:pPr marL="6350" indent="457200">
              <a:buNone/>
            </a:pPr>
            <a:r>
              <a:rPr lang="zh-CN" altLang="zh-CN" sz="2400" dirty="0">
                <a:effectLst/>
              </a:rPr>
              <a:t>【例</a:t>
            </a:r>
            <a:r>
              <a:rPr lang="en-US" altLang="zh-CN" sz="2400" dirty="0">
                <a:effectLst/>
              </a:rPr>
              <a:t>5-3</a:t>
            </a:r>
            <a:r>
              <a:rPr lang="zh-CN" altLang="zh-CN" sz="2400" dirty="0">
                <a:effectLst/>
              </a:rPr>
              <a:t>】打印一个</a:t>
            </a:r>
            <a:r>
              <a:rPr lang="en-US" altLang="zh-CN" sz="2400" dirty="0">
                <a:effectLst/>
              </a:rPr>
              <a:t>3</a:t>
            </a:r>
            <a:r>
              <a:rPr lang="zh-CN" altLang="zh-CN" sz="2400" dirty="0">
                <a:effectLst/>
              </a:rPr>
              <a:t>行</a:t>
            </a:r>
            <a:r>
              <a:rPr lang="en-US" altLang="zh-CN" sz="2400" dirty="0">
                <a:effectLst/>
              </a:rPr>
              <a:t>5</a:t>
            </a:r>
            <a:r>
              <a:rPr lang="zh-CN" altLang="zh-CN" sz="2400" dirty="0">
                <a:effectLst/>
              </a:rPr>
              <a:t>列的星号图形</a:t>
            </a:r>
            <a:r>
              <a:rPr lang="zh-CN" altLang="zh-CN" sz="2400" dirty="0" smtClean="0">
                <a:effectLst/>
              </a:rPr>
              <a:t>。</a:t>
            </a:r>
            <a:endParaRPr lang="en-US" altLang="zh-CN" sz="2400" dirty="0" smtClean="0">
              <a:effectLst/>
            </a:endParaRPr>
          </a:p>
          <a:p>
            <a:pPr marL="6350" indent="457200">
              <a:buNone/>
            </a:pPr>
            <a:r>
              <a:rPr lang="zh-CN" altLang="zh-CN" sz="2400" dirty="0">
                <a:effectLst/>
              </a:rPr>
              <a:t>此程序的运行结果如下图所示：</a:t>
            </a:r>
          </a:p>
          <a:p>
            <a:pPr marL="271463" lvl="1" indent="457200">
              <a:buNone/>
            </a:pPr>
            <a:endParaRPr lang="en-US" altLang="zh-CN" dirty="0" smtClean="0">
              <a:effectLst/>
            </a:endParaRPr>
          </a:p>
          <a:p>
            <a:pPr marL="271463" lvl="1" indent="457200">
              <a:buNone/>
            </a:pPr>
            <a:endParaRPr lang="zh-CN" altLang="en-US" dirty="0"/>
          </a:p>
        </p:txBody>
      </p:sp>
      <p:sp>
        <p:nvSpPr>
          <p:cNvPr id="5" name="灯片编号占位符 4"/>
          <p:cNvSpPr>
            <a:spLocks noGrp="1"/>
          </p:cNvSpPr>
          <p:nvPr>
            <p:ph type="sldNum" sz="quarter" idx="11"/>
          </p:nvPr>
        </p:nvSpPr>
        <p:spPr/>
        <p:txBody>
          <a:bodyPr/>
          <a:lstStyle/>
          <a:p>
            <a:pPr>
              <a:defRPr/>
            </a:pPr>
            <a:fld id="{883631AF-0BB6-41EF-8F20-F2D0D077CE60}" type="slidenum">
              <a:rPr lang="en-US" altLang="zh-CN" smtClean="0"/>
              <a:pPr>
                <a:defRPr/>
              </a:pPr>
              <a:t>13</a:t>
            </a:fld>
            <a:endParaRPr lang="en-US" altLang="zh-C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725144"/>
            <a:ext cx="1440160" cy="1117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a:spLocks/>
          </p:cNvSpPr>
          <p:nvPr/>
        </p:nvSpPr>
        <p:spPr bwMode="auto">
          <a:xfrm>
            <a:off x="4287962" y="4725144"/>
            <a:ext cx="4392488" cy="12241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1800" kern="0" dirty="0" smtClean="0">
                <a:solidFill>
                  <a:srgbClr val="0066FF"/>
                </a:solidFill>
                <a:effectLst/>
              </a:rPr>
              <a:t>主函数：利用循环确定打印星号的行数</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子函数：输出</a:t>
            </a:r>
            <a:r>
              <a:rPr lang="en-US" altLang="zh-CN" sz="1800" kern="0" dirty="0" smtClean="0">
                <a:solidFill>
                  <a:srgbClr val="0066FF"/>
                </a:solidFill>
                <a:effectLst/>
              </a:rPr>
              <a:t>5</a:t>
            </a:r>
            <a:r>
              <a:rPr lang="zh-CN" altLang="en-US" sz="1800" kern="0" dirty="0" smtClean="0">
                <a:solidFill>
                  <a:srgbClr val="0066FF"/>
                </a:solidFill>
                <a:effectLst/>
              </a:rPr>
              <a:t>个星号</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需传递的函数参数：无</a:t>
            </a:r>
            <a:endParaRPr lang="zh-CN" altLang="zh-CN" sz="1800" kern="0" dirty="0">
              <a:solidFill>
                <a:srgbClr val="0066FF"/>
              </a:solidFill>
              <a:effectLst/>
            </a:endParaRPr>
          </a:p>
        </p:txBody>
      </p:sp>
    </p:spTree>
    <p:extLst>
      <p:ext uri="{BB962C8B-B14F-4D97-AF65-F5344CB8AC3E}">
        <p14:creationId xmlns:p14="http://schemas.microsoft.com/office/powerpoint/2010/main" val="3766165977"/>
      </p:ext>
    </p:extLst>
  </p:cSld>
  <p:clrMapOvr>
    <a:masterClrMapping/>
  </p:clrMapOvr>
  <p:transition spd="med">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FF3300"/>
                </a:solidFill>
                <a:effectLst/>
              </a:rPr>
              <a:t>无参</a:t>
            </a:r>
            <a:r>
              <a:rPr lang="zh-CN" altLang="zh-CN" dirty="0">
                <a:effectLst/>
              </a:rPr>
              <a:t>函数</a:t>
            </a:r>
            <a:endParaRPr lang="zh-CN" altLang="en-US" dirty="0"/>
          </a:p>
        </p:txBody>
      </p:sp>
      <p:sp>
        <p:nvSpPr>
          <p:cNvPr id="5" name="内容占位符 4"/>
          <p:cNvSpPr>
            <a:spLocks noGrp="1"/>
          </p:cNvSpPr>
          <p:nvPr>
            <p:ph sz="half" idx="1"/>
          </p:nvPr>
        </p:nvSpPr>
        <p:spPr/>
        <p:txBody>
          <a:bodyPr/>
          <a:lstStyle/>
          <a:p>
            <a:pPr marL="0" indent="0">
              <a:buNone/>
            </a:pPr>
            <a:r>
              <a:rPr lang="en-US" altLang="zh-CN" sz="2400" dirty="0">
                <a:effectLst/>
              </a:rPr>
              <a:t>#include &lt;stdio.h&gt;</a:t>
            </a:r>
            <a:endParaRPr lang="zh-CN" altLang="zh-CN" sz="2400" dirty="0">
              <a:effectLst/>
            </a:endParaRPr>
          </a:p>
          <a:p>
            <a:pPr marL="0" indent="0">
              <a:buNone/>
            </a:pPr>
            <a:r>
              <a:rPr lang="en-US" altLang="zh-CN" sz="2400" dirty="0">
                <a:effectLst/>
              </a:rPr>
              <a:t>void print_star();</a:t>
            </a:r>
            <a:endParaRPr lang="zh-CN" altLang="zh-CN" sz="2400" dirty="0">
              <a:effectLst/>
            </a:endParaRPr>
          </a:p>
          <a:p>
            <a:pPr marL="0" indent="0">
              <a:buNone/>
            </a:pPr>
            <a:r>
              <a:rPr lang="en-US" altLang="zh-CN" sz="2400" dirty="0">
                <a:effectLst/>
              </a:rPr>
              <a:t>int main()</a:t>
            </a:r>
            <a:endParaRPr lang="zh-CN" altLang="zh-CN" sz="2400" dirty="0">
              <a:effectLst/>
            </a:endParaRPr>
          </a:p>
          <a:p>
            <a:pPr marL="0" indent="0">
              <a:buNone/>
            </a:pPr>
            <a:r>
              <a:rPr lang="en-US" altLang="zh-CN" sz="2400" dirty="0">
                <a:effectLst/>
              </a:rPr>
              <a:t>{</a:t>
            </a:r>
            <a:endParaRPr lang="zh-CN" altLang="zh-CN" sz="2400" dirty="0">
              <a:effectLst/>
            </a:endParaRPr>
          </a:p>
          <a:p>
            <a:pPr marL="0" indent="0">
              <a:buNone/>
            </a:pPr>
            <a:r>
              <a:rPr lang="en-US" altLang="zh-CN" sz="2400" dirty="0">
                <a:effectLst/>
              </a:rPr>
              <a:t>    int i;</a:t>
            </a:r>
            <a:endParaRPr lang="zh-CN" altLang="zh-CN" sz="2400" dirty="0">
              <a:effectLst/>
            </a:endParaRPr>
          </a:p>
          <a:p>
            <a:pPr marL="0" indent="0">
              <a:buNone/>
            </a:pPr>
            <a:r>
              <a:rPr lang="en-US" altLang="zh-CN" sz="2400" dirty="0">
                <a:effectLst/>
              </a:rPr>
              <a:t>    for(i=1;i&lt;=3;i++)</a:t>
            </a:r>
            <a:endParaRPr lang="zh-CN" altLang="zh-CN" sz="2400" dirty="0">
              <a:effectLst/>
            </a:endParaRPr>
          </a:p>
          <a:p>
            <a:pPr marL="0" indent="0">
              <a:buNone/>
            </a:pPr>
            <a:r>
              <a:rPr lang="en-US" altLang="zh-CN" sz="2400" dirty="0">
                <a:effectLst/>
              </a:rPr>
              <a:t>        print_star();</a:t>
            </a:r>
            <a:endParaRPr lang="zh-CN" altLang="zh-CN" sz="2400" dirty="0">
              <a:effectLst/>
            </a:endParaRPr>
          </a:p>
          <a:p>
            <a:pPr marL="0" indent="0">
              <a:buNone/>
            </a:pPr>
            <a:r>
              <a:rPr lang="en-US" altLang="zh-CN" sz="2400" dirty="0">
                <a:effectLst/>
              </a:rPr>
              <a:t>    return 0;</a:t>
            </a:r>
            <a:endParaRPr lang="zh-CN" altLang="zh-CN" sz="2400" dirty="0">
              <a:effectLst/>
            </a:endParaRPr>
          </a:p>
          <a:p>
            <a:pPr marL="0" indent="0">
              <a:buNone/>
            </a:pPr>
            <a:r>
              <a:rPr lang="en-US" altLang="zh-CN" sz="2400" dirty="0">
                <a:effectLst/>
              </a:rPr>
              <a:t>}</a:t>
            </a:r>
            <a:endParaRPr lang="zh-CN" altLang="zh-CN" sz="2400" dirty="0">
              <a:effectLst/>
            </a:endParaRPr>
          </a:p>
          <a:p>
            <a:pPr marL="0" indent="0">
              <a:buNone/>
            </a:pPr>
            <a:endParaRPr lang="zh-CN" altLang="en-US" dirty="0"/>
          </a:p>
        </p:txBody>
      </p:sp>
      <p:sp>
        <p:nvSpPr>
          <p:cNvPr id="6" name="内容占位符 5"/>
          <p:cNvSpPr>
            <a:spLocks noGrp="1"/>
          </p:cNvSpPr>
          <p:nvPr>
            <p:ph sz="half" idx="2"/>
          </p:nvPr>
        </p:nvSpPr>
        <p:spPr>
          <a:xfrm>
            <a:off x="4827588" y="1700213"/>
            <a:ext cx="3921125" cy="3679103"/>
          </a:xfrm>
        </p:spPr>
        <p:txBody>
          <a:bodyPr/>
          <a:lstStyle/>
          <a:p>
            <a:pPr marL="0" indent="0">
              <a:buNone/>
            </a:pPr>
            <a:r>
              <a:rPr lang="en-US" altLang="zh-CN" sz="2400" dirty="0">
                <a:solidFill>
                  <a:srgbClr val="0070C0"/>
                </a:solidFill>
                <a:effectLst/>
              </a:rPr>
              <a:t>void print_star()</a:t>
            </a:r>
            <a:endParaRPr lang="zh-CN" altLang="zh-CN" sz="2400" dirty="0">
              <a:solidFill>
                <a:srgbClr val="0070C0"/>
              </a:solidFill>
              <a:effectLst/>
            </a:endParaRPr>
          </a:p>
          <a:p>
            <a:pPr marL="0" indent="0">
              <a:buNone/>
            </a:pPr>
            <a:r>
              <a:rPr lang="en-US" altLang="zh-CN" sz="2400" dirty="0">
                <a:solidFill>
                  <a:srgbClr val="0070C0"/>
                </a:solidFill>
                <a:effectLst/>
              </a:rPr>
              <a:t>{</a:t>
            </a:r>
            <a:endParaRPr lang="zh-CN" altLang="zh-CN" sz="2400" dirty="0">
              <a:solidFill>
                <a:srgbClr val="0070C0"/>
              </a:solidFill>
              <a:effectLst/>
            </a:endParaRPr>
          </a:p>
          <a:p>
            <a:pPr marL="0" indent="0">
              <a:buNone/>
            </a:pPr>
            <a:r>
              <a:rPr lang="en-US" altLang="zh-CN" sz="2400" dirty="0">
                <a:solidFill>
                  <a:srgbClr val="0070C0"/>
                </a:solidFill>
                <a:effectLst/>
              </a:rPr>
              <a:t>    int i;</a:t>
            </a:r>
            <a:endParaRPr lang="zh-CN" altLang="zh-CN" sz="2400" dirty="0">
              <a:solidFill>
                <a:srgbClr val="0070C0"/>
              </a:solidFill>
              <a:effectLst/>
            </a:endParaRPr>
          </a:p>
          <a:p>
            <a:pPr marL="0" indent="0">
              <a:buNone/>
            </a:pPr>
            <a:r>
              <a:rPr lang="en-US" altLang="zh-CN" sz="2400" dirty="0">
                <a:solidFill>
                  <a:srgbClr val="0070C0"/>
                </a:solidFill>
                <a:effectLst/>
              </a:rPr>
              <a:t>    for(i=1;i&lt;=5;i++)</a:t>
            </a:r>
            <a:endParaRPr lang="zh-CN" altLang="zh-CN" sz="2400" dirty="0">
              <a:solidFill>
                <a:srgbClr val="0070C0"/>
              </a:solidFill>
              <a:effectLst/>
            </a:endParaRPr>
          </a:p>
          <a:p>
            <a:pPr marL="0" indent="0">
              <a:buNone/>
            </a:pPr>
            <a:r>
              <a:rPr lang="en-US" altLang="zh-CN" sz="2400" dirty="0">
                <a:solidFill>
                  <a:srgbClr val="0070C0"/>
                </a:solidFill>
                <a:effectLst/>
              </a:rPr>
              <a:t>        printf("*");</a:t>
            </a:r>
            <a:endParaRPr lang="zh-CN" altLang="zh-CN" sz="2400" dirty="0">
              <a:solidFill>
                <a:srgbClr val="0070C0"/>
              </a:solidFill>
              <a:effectLst/>
            </a:endParaRPr>
          </a:p>
          <a:p>
            <a:pPr marL="0" indent="0">
              <a:buNone/>
            </a:pPr>
            <a:r>
              <a:rPr lang="en-US" altLang="zh-CN" sz="2400" dirty="0">
                <a:solidFill>
                  <a:srgbClr val="0070C0"/>
                </a:solidFill>
                <a:effectLst/>
              </a:rPr>
              <a:t>    printf("\n");</a:t>
            </a:r>
            <a:endParaRPr lang="zh-CN" altLang="zh-CN" sz="2400" dirty="0">
              <a:solidFill>
                <a:srgbClr val="0070C0"/>
              </a:solidFill>
              <a:effectLst/>
            </a:endParaRPr>
          </a:p>
          <a:p>
            <a:pPr marL="0" indent="0">
              <a:buNone/>
            </a:pPr>
            <a:r>
              <a:rPr lang="en-US" altLang="zh-CN" sz="2400" dirty="0">
                <a:solidFill>
                  <a:srgbClr val="0070C0"/>
                </a:solidFill>
                <a:effectLst/>
              </a:rPr>
              <a:t>}</a:t>
            </a:r>
            <a:endParaRPr lang="zh-CN" altLang="zh-CN" sz="2400" dirty="0">
              <a:solidFill>
                <a:srgbClr val="0070C0"/>
              </a:solidFill>
              <a:effectLst/>
            </a:endParaRPr>
          </a:p>
          <a:p>
            <a:pPr marL="0" indent="0">
              <a:buNone/>
            </a:pPr>
            <a:endParaRPr lang="zh-CN" altLang="en-US" sz="2400"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14</a:t>
            </a:fld>
            <a:endParaRPr lang="en-US" altLang="zh-CN" dirty="0"/>
          </a:p>
        </p:txBody>
      </p:sp>
      <p:sp>
        <p:nvSpPr>
          <p:cNvPr id="7" name="内容占位符 2"/>
          <p:cNvSpPr txBox="1">
            <a:spLocks/>
          </p:cNvSpPr>
          <p:nvPr/>
        </p:nvSpPr>
        <p:spPr bwMode="auto">
          <a:xfrm>
            <a:off x="4067944" y="5530129"/>
            <a:ext cx="4392488" cy="12241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1800" kern="0" dirty="0" smtClean="0">
                <a:solidFill>
                  <a:srgbClr val="0066FF"/>
                </a:solidFill>
                <a:effectLst/>
              </a:rPr>
              <a:t>主函数：利用循环确定打印星号的行数</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子函数：输出</a:t>
            </a:r>
            <a:r>
              <a:rPr lang="en-US" altLang="zh-CN" sz="1800" kern="0" dirty="0" smtClean="0">
                <a:solidFill>
                  <a:srgbClr val="0066FF"/>
                </a:solidFill>
                <a:effectLst/>
              </a:rPr>
              <a:t>5</a:t>
            </a:r>
            <a:r>
              <a:rPr lang="zh-CN" altLang="en-US" sz="1800" kern="0" dirty="0" smtClean="0">
                <a:solidFill>
                  <a:srgbClr val="0066FF"/>
                </a:solidFill>
                <a:effectLst/>
              </a:rPr>
              <a:t>个星号</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需传递的函数参数：无</a:t>
            </a:r>
            <a:endParaRPr lang="zh-CN" altLang="zh-CN" sz="1800" kern="0" dirty="0">
              <a:solidFill>
                <a:srgbClr val="0066FF"/>
              </a:solidFill>
              <a:effectLst/>
            </a:endParaRPr>
          </a:p>
        </p:txBody>
      </p:sp>
    </p:spTree>
    <p:extLst>
      <p:ext uri="{BB962C8B-B14F-4D97-AF65-F5344CB8AC3E}">
        <p14:creationId xmlns:p14="http://schemas.microsoft.com/office/powerpoint/2010/main" val="3594414515"/>
      </p:ext>
    </p:extLst>
  </p:cSld>
  <p:clrMapOvr>
    <a:masterClrMapping/>
  </p:clrMapOvr>
  <p:transition spd="med">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3300"/>
                </a:solidFill>
                <a:effectLst/>
              </a:rPr>
              <a:t>有</a:t>
            </a:r>
            <a:r>
              <a:rPr lang="zh-CN" altLang="zh-CN" dirty="0" smtClean="0">
                <a:solidFill>
                  <a:srgbClr val="FF3300"/>
                </a:solidFill>
                <a:effectLst/>
              </a:rPr>
              <a:t>参</a:t>
            </a:r>
            <a:r>
              <a:rPr lang="zh-CN" altLang="zh-CN" dirty="0">
                <a:effectLst/>
              </a:rPr>
              <a:t>函数</a:t>
            </a:r>
            <a:endParaRPr lang="zh-CN" altLang="en-US" dirty="0"/>
          </a:p>
        </p:txBody>
      </p:sp>
      <p:sp>
        <p:nvSpPr>
          <p:cNvPr id="3" name="内容占位符 2"/>
          <p:cNvSpPr>
            <a:spLocks noGrp="1"/>
          </p:cNvSpPr>
          <p:nvPr>
            <p:ph idx="1"/>
          </p:nvPr>
        </p:nvSpPr>
        <p:spPr>
          <a:xfrm>
            <a:off x="671513" y="1700808"/>
            <a:ext cx="7993063" cy="1524081"/>
          </a:xfrm>
        </p:spPr>
        <p:txBody>
          <a:bodyPr/>
          <a:lstStyle/>
          <a:p>
            <a:pPr marL="271463" lvl="1" indent="457200">
              <a:buNone/>
            </a:pPr>
            <a:r>
              <a:rPr lang="zh-CN" altLang="en-US" sz="2000" dirty="0" smtClean="0">
                <a:effectLst/>
              </a:rPr>
              <a:t>有参函数：</a:t>
            </a:r>
            <a:r>
              <a:rPr lang="zh-CN" altLang="zh-CN" sz="2000" dirty="0" smtClean="0">
                <a:effectLst/>
              </a:rPr>
              <a:t>也</a:t>
            </a:r>
            <a:r>
              <a:rPr lang="zh-CN" altLang="zh-CN" sz="2000" dirty="0">
                <a:effectLst/>
              </a:rPr>
              <a:t>称为</a:t>
            </a:r>
            <a:r>
              <a:rPr lang="zh-CN" altLang="zh-CN" sz="2000" dirty="0">
                <a:solidFill>
                  <a:srgbClr val="FF3300"/>
                </a:solidFill>
                <a:effectLst/>
              </a:rPr>
              <a:t>带参</a:t>
            </a:r>
            <a:r>
              <a:rPr lang="zh-CN" altLang="zh-CN" sz="2000" dirty="0">
                <a:effectLst/>
              </a:rPr>
              <a:t>函数。在</a:t>
            </a:r>
            <a:r>
              <a:rPr lang="zh-CN" altLang="zh-CN" sz="2000" dirty="0">
                <a:solidFill>
                  <a:srgbClr val="FF3300"/>
                </a:solidFill>
                <a:effectLst/>
              </a:rPr>
              <a:t>函数定义及</a:t>
            </a:r>
            <a:r>
              <a:rPr lang="zh-CN" altLang="zh-CN" sz="2000" dirty="0" smtClean="0">
                <a:solidFill>
                  <a:srgbClr val="FF3300"/>
                </a:solidFill>
                <a:effectLst/>
              </a:rPr>
              <a:t>函数</a:t>
            </a:r>
            <a:r>
              <a:rPr lang="zh-CN" altLang="en-US" sz="2000" dirty="0" smtClean="0">
                <a:solidFill>
                  <a:srgbClr val="FF3300"/>
                </a:solidFill>
                <a:effectLst/>
              </a:rPr>
              <a:t>声明</a:t>
            </a:r>
            <a:r>
              <a:rPr lang="zh-CN" altLang="zh-CN" sz="2000" dirty="0" smtClean="0">
                <a:effectLst/>
              </a:rPr>
              <a:t>时</a:t>
            </a:r>
            <a:r>
              <a:rPr lang="zh-CN" altLang="zh-CN" sz="2000" dirty="0">
                <a:effectLst/>
              </a:rPr>
              <a:t>都有参数，称为</a:t>
            </a:r>
            <a:r>
              <a:rPr lang="zh-CN" altLang="zh-CN" sz="2000" dirty="0">
                <a:solidFill>
                  <a:srgbClr val="FF3300"/>
                </a:solidFill>
                <a:effectLst/>
              </a:rPr>
              <a:t>形式参数</a:t>
            </a:r>
            <a:r>
              <a:rPr lang="en-US" altLang="zh-CN" sz="2000" dirty="0">
                <a:effectLst/>
              </a:rPr>
              <a:t>(</a:t>
            </a:r>
            <a:r>
              <a:rPr lang="zh-CN" altLang="zh-CN" sz="2000" dirty="0">
                <a:effectLst/>
              </a:rPr>
              <a:t>简称为形参</a:t>
            </a:r>
            <a:r>
              <a:rPr lang="en-US" altLang="zh-CN" sz="2000" dirty="0">
                <a:effectLst/>
              </a:rPr>
              <a:t>)</a:t>
            </a:r>
            <a:r>
              <a:rPr lang="zh-CN" altLang="zh-CN" sz="2000" dirty="0">
                <a:effectLst/>
              </a:rPr>
              <a:t>。在</a:t>
            </a:r>
            <a:r>
              <a:rPr lang="zh-CN" altLang="zh-CN" sz="2000" dirty="0">
                <a:solidFill>
                  <a:srgbClr val="FF3300"/>
                </a:solidFill>
                <a:effectLst/>
              </a:rPr>
              <a:t>函数调用时</a:t>
            </a:r>
            <a:r>
              <a:rPr lang="zh-CN" altLang="zh-CN" sz="2000" dirty="0">
                <a:effectLst/>
              </a:rPr>
              <a:t>也必须给出参数，称为</a:t>
            </a:r>
            <a:r>
              <a:rPr lang="zh-CN" altLang="zh-CN" sz="2000" dirty="0">
                <a:solidFill>
                  <a:srgbClr val="FF3300"/>
                </a:solidFill>
                <a:effectLst/>
              </a:rPr>
              <a:t>实际参数</a:t>
            </a:r>
            <a:r>
              <a:rPr lang="en-US" altLang="zh-CN" sz="2000" dirty="0">
                <a:effectLst/>
              </a:rPr>
              <a:t>(</a:t>
            </a:r>
            <a:r>
              <a:rPr lang="zh-CN" altLang="zh-CN" sz="2000" dirty="0">
                <a:effectLst/>
              </a:rPr>
              <a:t>简称为实参</a:t>
            </a:r>
            <a:r>
              <a:rPr lang="en-US" altLang="zh-CN" sz="2000" dirty="0">
                <a:effectLst/>
              </a:rPr>
              <a:t>)</a:t>
            </a:r>
            <a:r>
              <a:rPr lang="zh-CN" altLang="zh-CN" sz="2000" dirty="0">
                <a:effectLst/>
              </a:rPr>
              <a:t>。进行函数调用时，主调函数将把实参的值传送给形参，供被调函数使用</a:t>
            </a:r>
            <a:r>
              <a:rPr lang="zh-CN" altLang="zh-CN" sz="2000" dirty="0" smtClean="0">
                <a:effectLst/>
              </a:rPr>
              <a:t>。</a:t>
            </a:r>
            <a:endParaRPr lang="zh-CN" altLang="zh-CN" sz="2000" dirty="0">
              <a:effectLst/>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15</a:t>
            </a:fld>
            <a:endParaRPr lang="en-US" altLang="zh-CN" dirty="0"/>
          </a:p>
        </p:txBody>
      </p:sp>
      <p:sp>
        <p:nvSpPr>
          <p:cNvPr id="5" name="矩形 4"/>
          <p:cNvSpPr/>
          <p:nvPr/>
        </p:nvSpPr>
        <p:spPr>
          <a:xfrm>
            <a:off x="755650" y="3448159"/>
            <a:ext cx="5112494" cy="3293209"/>
          </a:xfrm>
          <a:prstGeom prst="rect">
            <a:avLst/>
          </a:prstGeom>
        </p:spPr>
        <p:txBody>
          <a:bodyPr wrap="square">
            <a:spAutoFit/>
          </a:bodyPr>
          <a:lstStyle/>
          <a:p>
            <a:pPr marL="0" indent="0">
              <a:buNone/>
            </a:pPr>
            <a:r>
              <a:rPr lang="en-US" altLang="zh-CN" sz="1600" b="1" dirty="0">
                <a:effectLst>
                  <a:outerShdw blurRad="38100" dist="38100" dir="2700000" algn="tl">
                    <a:srgbClr val="000000">
                      <a:alpha val="43137"/>
                    </a:srgbClr>
                  </a:outerShdw>
                </a:effectLst>
              </a:rPr>
              <a:t>#include &lt;</a:t>
            </a:r>
            <a:r>
              <a:rPr lang="en-US" altLang="zh-CN" sz="1600" b="1" dirty="0" err="1">
                <a:effectLst>
                  <a:outerShdw blurRad="38100" dist="38100" dir="2700000" algn="tl">
                    <a:srgbClr val="000000">
                      <a:alpha val="43137"/>
                    </a:srgbClr>
                  </a:outerShdw>
                </a:effectLst>
              </a:rPr>
              <a:t>stdio.h</a:t>
            </a:r>
            <a:r>
              <a:rPr lang="en-US" altLang="zh-CN" sz="1600" b="1" dirty="0" smtClean="0">
                <a:effectLst>
                  <a:outerShdw blurRad="38100" dist="38100" dir="2700000" algn="tl">
                    <a:srgbClr val="000000">
                      <a:alpha val="43137"/>
                    </a:srgbClr>
                  </a:outerShdw>
                </a:effectLst>
              </a:rPr>
              <a:t>&gt;            </a:t>
            </a:r>
            <a:r>
              <a:rPr lang="en-US" altLang="zh-CN" sz="1600" b="1" dirty="0" smtClean="0">
                <a:effectLst>
                  <a:outerShdw blurRad="38100" dist="38100" dir="2700000" algn="tl">
                    <a:srgbClr val="000000">
                      <a:alpha val="43137"/>
                    </a:srgbClr>
                  </a:outerShdw>
                </a:effectLst>
                <a:latin typeface="+mn-ea"/>
                <a:ea typeface="+mn-ea"/>
              </a:rPr>
              <a:t>//</a:t>
            </a:r>
            <a:r>
              <a:rPr lang="zh-CN" altLang="en-US" sz="1600" b="1" dirty="0" smtClean="0">
                <a:effectLst>
                  <a:outerShdw blurRad="38100" dist="38100" dir="2700000" algn="tl">
                    <a:srgbClr val="000000">
                      <a:alpha val="43137"/>
                    </a:srgbClr>
                  </a:outerShdw>
                </a:effectLst>
                <a:latin typeface="+mn-ea"/>
                <a:ea typeface="+mn-ea"/>
              </a:rPr>
              <a:t>先引用后定义</a:t>
            </a:r>
            <a:endParaRPr lang="zh-CN" altLang="zh-CN" sz="1600" b="1" dirty="0">
              <a:effectLst>
                <a:outerShdw blurRad="38100" dist="38100" dir="2700000" algn="tl">
                  <a:srgbClr val="000000">
                    <a:alpha val="43137"/>
                  </a:srgbClr>
                </a:outerShdw>
              </a:effectLst>
              <a:latin typeface="+mn-ea"/>
              <a:ea typeface="+mn-ea"/>
            </a:endParaRPr>
          </a:p>
          <a:p>
            <a:r>
              <a:rPr lang="en-US" altLang="zh-CN" sz="1600" b="1" dirty="0">
                <a:solidFill>
                  <a:srgbClr val="0066FF"/>
                </a:solidFill>
                <a:effectLst>
                  <a:outerShdw blurRad="38100" dist="38100" dir="2700000" algn="tl">
                    <a:srgbClr val="000000">
                      <a:alpha val="43137"/>
                    </a:srgbClr>
                  </a:outerShdw>
                </a:effectLst>
              </a:rPr>
              <a:t>char </a:t>
            </a:r>
            <a:r>
              <a:rPr lang="en-US" altLang="zh-CN" sz="1600" b="1" dirty="0" err="1">
                <a:solidFill>
                  <a:srgbClr val="0066FF"/>
                </a:solidFill>
                <a:effectLst>
                  <a:outerShdw blurRad="38100" dist="38100" dir="2700000" algn="tl">
                    <a:srgbClr val="000000">
                      <a:alpha val="43137"/>
                    </a:srgbClr>
                  </a:outerShdw>
                </a:effectLst>
              </a:rPr>
              <a:t>low_to_upper</a:t>
            </a:r>
            <a:r>
              <a:rPr lang="en-US" altLang="zh-CN" sz="1600" b="1" dirty="0">
                <a:solidFill>
                  <a:srgbClr val="0066FF"/>
                </a:solidFill>
                <a:effectLst>
                  <a:outerShdw blurRad="38100" dist="38100" dir="2700000" algn="tl">
                    <a:srgbClr val="000000">
                      <a:alpha val="43137"/>
                    </a:srgbClr>
                  </a:outerShdw>
                </a:effectLst>
              </a:rPr>
              <a:t>(</a:t>
            </a:r>
            <a:r>
              <a:rPr lang="en-US" altLang="zh-CN" sz="1600" b="1" dirty="0">
                <a:solidFill>
                  <a:srgbClr val="FF3300"/>
                </a:solidFill>
                <a:effectLst>
                  <a:outerShdw blurRad="38100" dist="38100" dir="2700000" algn="tl">
                    <a:srgbClr val="000000">
                      <a:alpha val="43137"/>
                    </a:srgbClr>
                  </a:outerShdw>
                </a:effectLst>
              </a:rPr>
              <a:t>char c</a:t>
            </a:r>
            <a:r>
              <a:rPr lang="en-US" altLang="zh-CN" sz="1600" b="1" dirty="0">
                <a:solidFill>
                  <a:srgbClr val="0066FF"/>
                </a:solidFill>
                <a:effectLst>
                  <a:outerShdw blurRad="38100" dist="38100" dir="2700000" algn="tl">
                    <a:srgbClr val="000000">
                      <a:alpha val="43137"/>
                    </a:srgbClr>
                  </a:outerShdw>
                </a:effectLst>
              </a:rPr>
              <a:t>);      </a:t>
            </a:r>
            <a:r>
              <a:rPr lang="en-US" altLang="zh-CN" sz="1600" b="1" dirty="0">
                <a:solidFill>
                  <a:srgbClr val="0066FF"/>
                </a:solidFill>
                <a:effectLst>
                  <a:outerShdw blurRad="38100" dist="38100" dir="2700000" algn="tl">
                    <a:srgbClr val="000000">
                      <a:alpha val="43137"/>
                    </a:srgbClr>
                  </a:outerShdw>
                </a:effectLst>
                <a:latin typeface="+mn-ea"/>
                <a:ea typeface="+mn-ea"/>
              </a:rPr>
              <a:t>//</a:t>
            </a:r>
            <a:r>
              <a:rPr lang="zh-CN" altLang="zh-CN" sz="1600" b="1" dirty="0">
                <a:solidFill>
                  <a:srgbClr val="0066FF"/>
                </a:solidFill>
                <a:effectLst>
                  <a:outerShdw blurRad="38100" dist="38100" dir="2700000" algn="tl">
                    <a:srgbClr val="000000">
                      <a:alpha val="43137"/>
                    </a:srgbClr>
                  </a:outerShdw>
                </a:effectLst>
                <a:latin typeface="+mn-ea"/>
                <a:ea typeface="+mn-ea"/>
              </a:rPr>
              <a:t>函数</a:t>
            </a:r>
            <a:r>
              <a:rPr lang="zh-CN" altLang="zh-CN" sz="1600" b="1" dirty="0" smtClean="0">
                <a:solidFill>
                  <a:srgbClr val="0066FF"/>
                </a:solidFill>
                <a:effectLst>
                  <a:outerShdw blurRad="38100" dist="38100" dir="2700000" algn="tl">
                    <a:srgbClr val="000000">
                      <a:alpha val="43137"/>
                    </a:srgbClr>
                  </a:outerShdw>
                </a:effectLst>
                <a:latin typeface="+mn-ea"/>
                <a:ea typeface="+mn-ea"/>
              </a:rPr>
              <a:t>声明</a:t>
            </a:r>
            <a:endParaRPr lang="en-US" altLang="zh-CN" sz="1600" b="1" dirty="0" smtClean="0">
              <a:effectLst>
                <a:outerShdw blurRad="38100" dist="38100" dir="2700000" algn="tl">
                  <a:srgbClr val="000000">
                    <a:alpha val="43137"/>
                  </a:srgbClr>
                </a:outerShdw>
              </a:effectLst>
              <a:latin typeface="+mn-ea"/>
              <a:ea typeface="+mn-ea"/>
            </a:endParaRPr>
          </a:p>
          <a:p>
            <a:pPr marL="0" indent="0">
              <a:buNone/>
            </a:pPr>
            <a:r>
              <a:rPr lang="en-US" altLang="zh-CN" sz="1600" b="1" dirty="0" err="1" smtClean="0">
                <a:effectLst>
                  <a:outerShdw blurRad="38100" dist="38100" dir="2700000" algn="tl">
                    <a:srgbClr val="000000">
                      <a:alpha val="43137"/>
                    </a:srgbClr>
                  </a:outerShdw>
                </a:effectLst>
              </a:rPr>
              <a:t>int</a:t>
            </a:r>
            <a:r>
              <a:rPr lang="en-US" altLang="zh-CN" sz="1600" b="1" dirty="0" smtClean="0">
                <a:effectLst>
                  <a:outerShdw blurRad="38100" dist="38100" dir="2700000" algn="tl">
                    <a:srgbClr val="000000">
                      <a:alpha val="43137"/>
                    </a:srgbClr>
                  </a:outerShdw>
                </a:effectLst>
              </a:rPr>
              <a:t> </a:t>
            </a:r>
            <a:r>
              <a:rPr lang="en-US" altLang="zh-CN" sz="1600" b="1" dirty="0">
                <a:effectLst>
                  <a:outerShdw blurRad="38100" dist="38100" dir="2700000" algn="tl">
                    <a:srgbClr val="000000">
                      <a:alpha val="43137"/>
                    </a:srgbClr>
                  </a:outerShdw>
                </a:effectLst>
              </a:rPr>
              <a:t>main()</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    char </a:t>
            </a:r>
            <a:r>
              <a:rPr lang="en-US" altLang="zh-CN" sz="1600" b="1" dirty="0" err="1">
                <a:effectLst>
                  <a:outerShdw blurRad="38100" dist="38100" dir="2700000" algn="tl">
                    <a:srgbClr val="000000">
                      <a:alpha val="43137"/>
                    </a:srgbClr>
                  </a:outerShdw>
                </a:effectLst>
              </a:rPr>
              <a:t>str</a:t>
            </a:r>
            <a:r>
              <a:rPr lang="en-US" altLang="zh-CN" sz="1600" b="1" dirty="0">
                <a:effectLst>
                  <a:outerShdw blurRad="38100" dist="38100" dir="2700000" algn="tl">
                    <a:srgbClr val="000000">
                      <a:alpha val="43137"/>
                    </a:srgbClr>
                  </a:outerShdw>
                </a:effectLst>
              </a:rPr>
              <a:t>[80];</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    </a:t>
            </a:r>
            <a:r>
              <a:rPr lang="en-US" altLang="zh-CN" sz="1600" b="1" dirty="0" err="1">
                <a:effectLst>
                  <a:outerShdw blurRad="38100" dist="38100" dir="2700000" algn="tl">
                    <a:srgbClr val="000000">
                      <a:alpha val="43137"/>
                    </a:srgbClr>
                  </a:outerShdw>
                </a:effectLst>
              </a:rPr>
              <a:t>int</a:t>
            </a:r>
            <a:r>
              <a:rPr lang="en-US" altLang="zh-CN" sz="1600" b="1" dirty="0">
                <a:effectLst>
                  <a:outerShdw blurRad="38100" dist="38100" dir="2700000" algn="tl">
                    <a:srgbClr val="000000">
                      <a:alpha val="43137"/>
                    </a:srgbClr>
                  </a:outerShdw>
                </a:effectLst>
              </a:rPr>
              <a:t> </a:t>
            </a:r>
            <a:r>
              <a:rPr lang="en-US" altLang="zh-CN" sz="1600" b="1" dirty="0" err="1">
                <a:effectLst>
                  <a:outerShdw blurRad="38100" dist="38100" dir="2700000" algn="tl">
                    <a:srgbClr val="000000">
                      <a:alpha val="43137"/>
                    </a:srgbClr>
                  </a:outerShdw>
                </a:effectLst>
              </a:rPr>
              <a:t>i</a:t>
            </a:r>
            <a:r>
              <a:rPr lang="en-US" altLang="zh-CN" sz="1600" b="1" dirty="0">
                <a:effectLst>
                  <a:outerShdw blurRad="38100" dist="38100" dir="2700000" algn="tl">
                    <a:srgbClr val="000000">
                      <a:alpha val="43137"/>
                    </a:srgbClr>
                  </a:outerShdw>
                </a:effectLst>
              </a:rPr>
              <a:t>;</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smtClean="0">
                <a:effectLst>
                  <a:outerShdw blurRad="38100" dist="38100" dir="2700000" algn="tl">
                    <a:srgbClr val="000000">
                      <a:alpha val="43137"/>
                    </a:srgbClr>
                  </a:outerShdw>
                </a:effectLst>
              </a:rPr>
              <a:t>    </a:t>
            </a:r>
            <a:r>
              <a:rPr lang="en-US" altLang="zh-CN" sz="1600" b="1" dirty="0" err="1" smtClean="0">
                <a:effectLst>
                  <a:outerShdw blurRad="38100" dist="38100" dir="2700000" algn="tl">
                    <a:srgbClr val="000000">
                      <a:alpha val="43137"/>
                    </a:srgbClr>
                  </a:outerShdw>
                </a:effectLst>
              </a:rPr>
              <a:t>printf</a:t>
            </a:r>
            <a:r>
              <a:rPr lang="en-US" altLang="zh-CN" sz="1600" b="1" dirty="0">
                <a:effectLst>
                  <a:outerShdw blurRad="38100" dist="38100" dir="2700000" algn="tl">
                    <a:srgbClr val="000000">
                      <a:alpha val="43137"/>
                    </a:srgbClr>
                  </a:outerShdw>
                </a:effectLst>
              </a:rPr>
              <a:t>("Enter a string:");</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    gets(</a:t>
            </a:r>
            <a:r>
              <a:rPr lang="en-US" altLang="zh-CN" sz="1600" b="1" dirty="0" err="1">
                <a:effectLst>
                  <a:outerShdw blurRad="38100" dist="38100" dir="2700000" algn="tl">
                    <a:srgbClr val="000000">
                      <a:alpha val="43137"/>
                    </a:srgbClr>
                  </a:outerShdw>
                </a:effectLst>
              </a:rPr>
              <a:t>str</a:t>
            </a:r>
            <a:r>
              <a:rPr lang="en-US" altLang="zh-CN" sz="1600" b="1" dirty="0">
                <a:effectLst>
                  <a:outerShdw blurRad="38100" dist="38100" dir="2700000" algn="tl">
                    <a:srgbClr val="000000">
                      <a:alpha val="43137"/>
                    </a:srgbClr>
                  </a:outerShdw>
                </a:effectLst>
              </a:rPr>
              <a:t>);</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    for(</a:t>
            </a:r>
            <a:r>
              <a:rPr lang="en-US" altLang="zh-CN" sz="1600" b="1" dirty="0" err="1">
                <a:effectLst>
                  <a:outerShdw blurRad="38100" dist="38100" dir="2700000" algn="tl">
                    <a:srgbClr val="000000">
                      <a:alpha val="43137"/>
                    </a:srgbClr>
                  </a:outerShdw>
                </a:effectLst>
              </a:rPr>
              <a:t>i</a:t>
            </a:r>
            <a:r>
              <a:rPr lang="en-US" altLang="zh-CN" sz="1600" b="1" dirty="0">
                <a:effectLst>
                  <a:outerShdw blurRad="38100" dist="38100" dir="2700000" algn="tl">
                    <a:srgbClr val="000000">
                      <a:alpha val="43137"/>
                    </a:srgbClr>
                  </a:outerShdw>
                </a:effectLst>
              </a:rPr>
              <a:t>=0;str[</a:t>
            </a:r>
            <a:r>
              <a:rPr lang="en-US" altLang="zh-CN" sz="1600" b="1" dirty="0" err="1">
                <a:effectLst>
                  <a:outerShdw blurRad="38100" dist="38100" dir="2700000" algn="tl">
                    <a:srgbClr val="000000">
                      <a:alpha val="43137"/>
                    </a:srgbClr>
                  </a:outerShdw>
                </a:effectLst>
              </a:rPr>
              <a:t>i</a:t>
            </a:r>
            <a:r>
              <a:rPr lang="en-US" altLang="zh-CN" sz="1600" b="1" dirty="0">
                <a:effectLst>
                  <a:outerShdw blurRad="38100" dist="38100" dir="2700000" algn="tl">
                    <a:srgbClr val="000000">
                      <a:alpha val="43137"/>
                    </a:srgbClr>
                  </a:outerShdw>
                </a:effectLst>
              </a:rPr>
              <a:t>];</a:t>
            </a:r>
            <a:r>
              <a:rPr lang="en-US" altLang="zh-CN" sz="1600" b="1" dirty="0" err="1">
                <a:effectLst>
                  <a:outerShdw blurRad="38100" dist="38100" dir="2700000" algn="tl">
                    <a:srgbClr val="000000">
                      <a:alpha val="43137"/>
                    </a:srgbClr>
                  </a:outerShdw>
                </a:effectLst>
              </a:rPr>
              <a:t>i</a:t>
            </a:r>
            <a:r>
              <a:rPr lang="en-US" altLang="zh-CN" sz="1600" b="1" dirty="0">
                <a:effectLst>
                  <a:outerShdw blurRad="38100" dist="38100" dir="2700000" algn="tl">
                    <a:srgbClr val="000000">
                      <a:alpha val="43137"/>
                    </a:srgbClr>
                  </a:outerShdw>
                </a:effectLst>
              </a:rPr>
              <a:t>++)</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        </a:t>
            </a:r>
            <a:r>
              <a:rPr lang="en-US" altLang="zh-CN" sz="1600" b="1" dirty="0" err="1">
                <a:effectLst>
                  <a:outerShdw blurRad="38100" dist="38100" dir="2700000" algn="tl">
                    <a:srgbClr val="000000">
                      <a:alpha val="43137"/>
                    </a:srgbClr>
                  </a:outerShdw>
                </a:effectLst>
              </a:rPr>
              <a:t>str</a:t>
            </a:r>
            <a:r>
              <a:rPr lang="en-US" altLang="zh-CN" sz="1600" b="1" dirty="0">
                <a:effectLst>
                  <a:outerShdw blurRad="38100" dist="38100" dir="2700000" algn="tl">
                    <a:srgbClr val="000000">
                      <a:alpha val="43137"/>
                    </a:srgbClr>
                  </a:outerShdw>
                </a:effectLst>
              </a:rPr>
              <a:t>[</a:t>
            </a:r>
            <a:r>
              <a:rPr lang="en-US" altLang="zh-CN" sz="1600" b="1" dirty="0" err="1">
                <a:effectLst>
                  <a:outerShdw blurRad="38100" dist="38100" dir="2700000" algn="tl">
                    <a:srgbClr val="000000">
                      <a:alpha val="43137"/>
                    </a:srgbClr>
                  </a:outerShdw>
                </a:effectLst>
              </a:rPr>
              <a:t>i</a:t>
            </a:r>
            <a:r>
              <a:rPr lang="en-US" altLang="zh-CN" sz="1600" b="1" dirty="0">
                <a:effectLst>
                  <a:outerShdw blurRad="38100" dist="38100" dir="2700000" algn="tl">
                    <a:srgbClr val="000000">
                      <a:alpha val="43137"/>
                    </a:srgbClr>
                  </a:outerShdw>
                </a:effectLst>
              </a:rPr>
              <a:t>]=</a:t>
            </a:r>
            <a:r>
              <a:rPr lang="en-US" altLang="zh-CN" sz="1600" b="1" dirty="0" err="1">
                <a:effectLst>
                  <a:outerShdw blurRad="38100" dist="38100" dir="2700000" algn="tl">
                    <a:srgbClr val="000000">
                      <a:alpha val="43137"/>
                    </a:srgbClr>
                  </a:outerShdw>
                </a:effectLst>
              </a:rPr>
              <a:t>low_to_upper</a:t>
            </a:r>
            <a:r>
              <a:rPr lang="en-US" altLang="zh-CN" sz="1600" b="1" dirty="0">
                <a:effectLst>
                  <a:outerShdw blurRad="38100" dist="38100" dir="2700000" algn="tl">
                    <a:srgbClr val="000000">
                      <a:alpha val="43137"/>
                    </a:srgbClr>
                  </a:outerShdw>
                </a:effectLst>
              </a:rPr>
              <a:t>(</a:t>
            </a:r>
            <a:r>
              <a:rPr lang="en-US" altLang="zh-CN" sz="1600" b="1" dirty="0" err="1">
                <a:solidFill>
                  <a:srgbClr val="3333FF"/>
                </a:solidFill>
                <a:effectLst>
                  <a:outerShdw blurRad="38100" dist="38100" dir="2700000" algn="tl">
                    <a:srgbClr val="000000">
                      <a:alpha val="43137"/>
                    </a:srgbClr>
                  </a:outerShdw>
                </a:effectLst>
              </a:rPr>
              <a:t>str</a:t>
            </a:r>
            <a:r>
              <a:rPr lang="en-US" altLang="zh-CN" sz="1600" b="1" dirty="0">
                <a:solidFill>
                  <a:srgbClr val="3333FF"/>
                </a:solidFill>
                <a:effectLst>
                  <a:outerShdw blurRad="38100" dist="38100" dir="2700000" algn="tl">
                    <a:srgbClr val="000000">
                      <a:alpha val="43137"/>
                    </a:srgbClr>
                  </a:outerShdw>
                </a:effectLst>
              </a:rPr>
              <a:t>[</a:t>
            </a:r>
            <a:r>
              <a:rPr lang="en-US" altLang="zh-CN" sz="1600" b="1" dirty="0" err="1">
                <a:solidFill>
                  <a:srgbClr val="3333FF"/>
                </a:solidFill>
                <a:effectLst>
                  <a:outerShdw blurRad="38100" dist="38100" dir="2700000" algn="tl">
                    <a:srgbClr val="000000">
                      <a:alpha val="43137"/>
                    </a:srgbClr>
                  </a:outerShdw>
                </a:effectLst>
              </a:rPr>
              <a:t>i</a:t>
            </a:r>
            <a:r>
              <a:rPr lang="en-US" altLang="zh-CN" sz="1600" b="1" dirty="0">
                <a:solidFill>
                  <a:srgbClr val="3333FF"/>
                </a:solidFill>
                <a:effectLst>
                  <a:outerShdw blurRad="38100" dist="38100" dir="2700000" algn="tl">
                    <a:srgbClr val="000000">
                      <a:alpha val="43137"/>
                    </a:srgbClr>
                  </a:outerShdw>
                </a:effectLst>
              </a:rPr>
              <a:t>]</a:t>
            </a:r>
            <a:r>
              <a:rPr lang="en-US" altLang="zh-CN" sz="1600" b="1" dirty="0">
                <a:effectLst>
                  <a:outerShdw blurRad="38100" dist="38100" dir="2700000" algn="tl">
                    <a:srgbClr val="000000">
                      <a:alpha val="43137"/>
                    </a:srgbClr>
                  </a:outerShdw>
                </a:effectLst>
              </a:rPr>
              <a:t>);  </a:t>
            </a:r>
            <a:r>
              <a:rPr lang="en-US" altLang="zh-CN" sz="1600" b="1" dirty="0">
                <a:effectLst>
                  <a:outerShdw blurRad="38100" dist="38100" dir="2700000" algn="tl">
                    <a:srgbClr val="000000">
                      <a:alpha val="43137"/>
                    </a:srgbClr>
                  </a:outerShdw>
                </a:effectLst>
                <a:latin typeface="+mn-ea"/>
                <a:ea typeface="+mn-ea"/>
              </a:rPr>
              <a:t>//</a:t>
            </a:r>
            <a:r>
              <a:rPr lang="zh-CN" altLang="zh-CN" sz="1600" b="1" dirty="0">
                <a:effectLst>
                  <a:outerShdw blurRad="38100" dist="38100" dir="2700000" algn="tl">
                    <a:srgbClr val="000000">
                      <a:alpha val="43137"/>
                    </a:srgbClr>
                  </a:outerShdw>
                </a:effectLst>
                <a:latin typeface="+mn-ea"/>
                <a:ea typeface="+mn-ea"/>
              </a:rPr>
              <a:t>自定义函数调用</a:t>
            </a:r>
          </a:p>
          <a:p>
            <a:pPr marL="0" indent="0">
              <a:buNone/>
            </a:pPr>
            <a:r>
              <a:rPr lang="en-US" altLang="zh-CN" sz="1600" b="1" dirty="0">
                <a:effectLst>
                  <a:outerShdw blurRad="38100" dist="38100" dir="2700000" algn="tl">
                    <a:srgbClr val="000000">
                      <a:alpha val="43137"/>
                    </a:srgbClr>
                  </a:outerShdw>
                </a:effectLst>
              </a:rPr>
              <a:t>    puts(</a:t>
            </a:r>
            <a:r>
              <a:rPr lang="en-US" altLang="zh-CN" sz="1600" b="1" dirty="0" err="1">
                <a:effectLst>
                  <a:outerShdw blurRad="38100" dist="38100" dir="2700000" algn="tl">
                    <a:srgbClr val="000000">
                      <a:alpha val="43137"/>
                    </a:srgbClr>
                  </a:outerShdw>
                </a:effectLst>
              </a:rPr>
              <a:t>str</a:t>
            </a:r>
            <a:r>
              <a:rPr lang="en-US" altLang="zh-CN" sz="1600" b="1" dirty="0">
                <a:effectLst>
                  <a:outerShdw blurRad="38100" dist="38100" dir="2700000" algn="tl">
                    <a:srgbClr val="000000">
                      <a:alpha val="43137"/>
                    </a:srgbClr>
                  </a:outerShdw>
                </a:effectLst>
              </a:rPr>
              <a:t>);</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a:effectLst>
                  <a:outerShdw blurRad="38100" dist="38100" dir="2700000" algn="tl">
                    <a:srgbClr val="000000">
                      <a:alpha val="43137"/>
                    </a:srgbClr>
                  </a:outerShdw>
                </a:effectLst>
              </a:rPr>
              <a:t>    return 0;</a:t>
            </a:r>
            <a:endParaRPr lang="zh-CN" altLang="zh-CN" sz="1600" b="1" dirty="0">
              <a:effectLst>
                <a:outerShdw blurRad="38100" dist="38100" dir="2700000" algn="tl">
                  <a:srgbClr val="000000">
                    <a:alpha val="43137"/>
                  </a:srgbClr>
                </a:outerShdw>
              </a:effectLst>
            </a:endParaRPr>
          </a:p>
          <a:p>
            <a:pPr marL="0" indent="0">
              <a:buNone/>
            </a:pPr>
            <a:r>
              <a:rPr lang="en-US" altLang="zh-CN" sz="1600" b="1" dirty="0" smtClean="0">
                <a:effectLst>
                  <a:outerShdw blurRad="38100" dist="38100" dir="2700000" algn="tl">
                    <a:srgbClr val="000000">
                      <a:alpha val="43137"/>
                    </a:srgbClr>
                  </a:outerShdw>
                </a:effectLst>
              </a:rPr>
              <a:t>}</a:t>
            </a:r>
          </a:p>
        </p:txBody>
      </p:sp>
      <p:sp>
        <p:nvSpPr>
          <p:cNvPr id="6" name="矩形 5"/>
          <p:cNvSpPr/>
          <p:nvPr/>
        </p:nvSpPr>
        <p:spPr>
          <a:xfrm>
            <a:off x="4472163" y="4005064"/>
            <a:ext cx="4671837" cy="1569660"/>
          </a:xfrm>
          <a:prstGeom prst="rect">
            <a:avLst/>
          </a:prstGeom>
        </p:spPr>
        <p:txBody>
          <a:bodyPr wrap="square">
            <a:spAutoFit/>
          </a:bodyPr>
          <a:lstStyle/>
          <a:p>
            <a:pPr marL="0" indent="0">
              <a:buNone/>
            </a:pPr>
            <a:r>
              <a:rPr lang="en-US" altLang="zh-CN" sz="1600" b="1" dirty="0">
                <a:effectLst>
                  <a:outerShdw blurRad="38100" dist="38100" dir="2700000" algn="tl">
                    <a:srgbClr val="000000">
                      <a:alpha val="43137"/>
                    </a:srgbClr>
                  </a:outerShdw>
                </a:effectLst>
              </a:rPr>
              <a:t>char </a:t>
            </a:r>
            <a:r>
              <a:rPr lang="en-US" altLang="zh-CN" sz="1600" b="1" dirty="0" err="1">
                <a:effectLst>
                  <a:outerShdw blurRad="38100" dist="38100" dir="2700000" algn="tl">
                    <a:srgbClr val="000000">
                      <a:alpha val="43137"/>
                    </a:srgbClr>
                  </a:outerShdw>
                </a:effectLst>
              </a:rPr>
              <a:t>low_to_upper</a:t>
            </a:r>
            <a:r>
              <a:rPr lang="en-US" altLang="zh-CN" sz="1600" b="1" dirty="0">
                <a:effectLst>
                  <a:outerShdw blurRad="38100" dist="38100" dir="2700000" algn="tl">
                    <a:srgbClr val="000000">
                      <a:alpha val="43137"/>
                    </a:srgbClr>
                  </a:outerShdw>
                </a:effectLst>
              </a:rPr>
              <a:t>(char </a:t>
            </a:r>
            <a:r>
              <a:rPr lang="en-US" altLang="zh-CN" sz="1600" b="1" dirty="0" err="1">
                <a:effectLst>
                  <a:outerShdw blurRad="38100" dist="38100" dir="2700000" algn="tl">
                    <a:srgbClr val="000000">
                      <a:alpha val="43137"/>
                    </a:srgbClr>
                  </a:outerShdw>
                </a:effectLst>
              </a:rPr>
              <a:t>ch</a:t>
            </a:r>
            <a:r>
              <a:rPr lang="en-US" altLang="zh-CN" sz="1600" b="1" dirty="0">
                <a:effectLst>
                  <a:outerShdw blurRad="38100" dist="38100" dir="2700000" algn="tl">
                    <a:srgbClr val="000000">
                      <a:alpha val="43137"/>
                    </a:srgbClr>
                  </a:outerShdw>
                </a:effectLst>
              </a:rPr>
              <a:t>)  </a:t>
            </a:r>
            <a:r>
              <a:rPr lang="en-US" altLang="zh-CN" sz="1600" b="1" dirty="0" smtClean="0">
                <a:effectLst>
                  <a:outerShdw blurRad="38100" dist="38100" dir="2700000" algn="tl">
                    <a:srgbClr val="000000">
                      <a:alpha val="43137"/>
                    </a:srgbClr>
                  </a:outerShdw>
                </a:effectLst>
              </a:rPr>
              <a:t>  </a:t>
            </a:r>
            <a:r>
              <a:rPr lang="en-US" altLang="zh-CN" sz="1600" b="1" dirty="0">
                <a:effectLst>
                  <a:outerShdw blurRad="38100" dist="38100" dir="2700000" algn="tl">
                    <a:srgbClr val="000000">
                      <a:alpha val="43137"/>
                    </a:srgbClr>
                  </a:outerShdw>
                </a:effectLst>
                <a:latin typeface="+mn-ea"/>
                <a:ea typeface="+mn-ea"/>
              </a:rPr>
              <a:t>//</a:t>
            </a:r>
            <a:r>
              <a:rPr lang="zh-CN" altLang="en-US" sz="1600" b="1" dirty="0">
                <a:effectLst>
                  <a:outerShdw blurRad="38100" dist="38100" dir="2700000" algn="tl">
                    <a:srgbClr val="000000">
                      <a:alpha val="43137"/>
                    </a:srgbClr>
                  </a:outerShdw>
                </a:effectLst>
                <a:latin typeface="+mn-ea"/>
                <a:ea typeface="+mn-ea"/>
              </a:rPr>
              <a:t>自定义函数</a:t>
            </a:r>
          </a:p>
          <a:p>
            <a:pPr marL="0" indent="0">
              <a:buNone/>
            </a:pPr>
            <a:r>
              <a:rPr lang="en-US" altLang="zh-CN" sz="1600" b="1" dirty="0">
                <a:effectLst>
                  <a:outerShdw blurRad="38100" dist="38100" dir="2700000" algn="tl">
                    <a:srgbClr val="000000">
                      <a:alpha val="43137"/>
                    </a:srgbClr>
                  </a:outerShdw>
                </a:effectLst>
              </a:rPr>
              <a:t>{</a:t>
            </a:r>
          </a:p>
          <a:p>
            <a:pPr marL="0" indent="0">
              <a:buNone/>
            </a:pPr>
            <a:r>
              <a:rPr lang="en-US" altLang="zh-CN" sz="1600" b="1" dirty="0">
                <a:effectLst>
                  <a:outerShdw blurRad="38100" dist="38100" dir="2700000" algn="tl">
                    <a:srgbClr val="000000">
                      <a:alpha val="43137"/>
                    </a:srgbClr>
                  </a:outerShdw>
                </a:effectLst>
              </a:rPr>
              <a:t>    if(</a:t>
            </a:r>
            <a:r>
              <a:rPr lang="en-US" altLang="zh-CN" sz="1600" b="1" dirty="0" err="1">
                <a:effectLst>
                  <a:outerShdw blurRad="38100" dist="38100" dir="2700000" algn="tl">
                    <a:srgbClr val="000000">
                      <a:alpha val="43137"/>
                    </a:srgbClr>
                  </a:outerShdw>
                </a:effectLst>
              </a:rPr>
              <a:t>ch</a:t>
            </a:r>
            <a:r>
              <a:rPr lang="en-US" altLang="zh-CN" sz="1600" b="1" dirty="0">
                <a:effectLst>
                  <a:outerShdw blurRad="38100" dist="38100" dir="2700000" algn="tl">
                    <a:srgbClr val="000000">
                      <a:alpha val="43137"/>
                    </a:srgbClr>
                  </a:outerShdw>
                </a:effectLst>
              </a:rPr>
              <a:t>&gt;='a' &amp;&amp; </a:t>
            </a:r>
            <a:r>
              <a:rPr lang="en-US" altLang="zh-CN" sz="1600" b="1" dirty="0" err="1">
                <a:effectLst>
                  <a:outerShdw blurRad="38100" dist="38100" dir="2700000" algn="tl">
                    <a:srgbClr val="000000">
                      <a:alpha val="43137"/>
                    </a:srgbClr>
                  </a:outerShdw>
                </a:effectLst>
              </a:rPr>
              <a:t>ch</a:t>
            </a:r>
            <a:r>
              <a:rPr lang="en-US" altLang="zh-CN" sz="1600" b="1" dirty="0">
                <a:effectLst>
                  <a:outerShdw blurRad="38100" dist="38100" dir="2700000" algn="tl">
                    <a:srgbClr val="000000">
                      <a:alpha val="43137"/>
                    </a:srgbClr>
                  </a:outerShdw>
                </a:effectLst>
              </a:rPr>
              <a:t>&lt;='z')</a:t>
            </a:r>
          </a:p>
          <a:p>
            <a:pPr marL="0" indent="0">
              <a:buNone/>
            </a:pPr>
            <a:r>
              <a:rPr lang="en-US" altLang="zh-CN" sz="1600" b="1" dirty="0">
                <a:effectLst>
                  <a:outerShdw blurRad="38100" dist="38100" dir="2700000" algn="tl">
                    <a:srgbClr val="000000">
                      <a:alpha val="43137"/>
                    </a:srgbClr>
                  </a:outerShdw>
                </a:effectLst>
              </a:rPr>
              <a:t>        </a:t>
            </a:r>
            <a:r>
              <a:rPr lang="en-US" altLang="zh-CN" sz="1600" b="1" dirty="0" err="1">
                <a:effectLst>
                  <a:outerShdw blurRad="38100" dist="38100" dir="2700000" algn="tl">
                    <a:srgbClr val="000000">
                      <a:alpha val="43137"/>
                    </a:srgbClr>
                  </a:outerShdw>
                </a:effectLst>
              </a:rPr>
              <a:t>ch</a:t>
            </a:r>
            <a:r>
              <a:rPr lang="en-US" altLang="zh-CN" sz="1600" b="1" dirty="0">
                <a:effectLst>
                  <a:outerShdw blurRad="38100" dist="38100" dir="2700000" algn="tl">
                    <a:srgbClr val="000000">
                      <a:alpha val="43137"/>
                    </a:srgbClr>
                  </a:outerShdw>
                </a:effectLst>
              </a:rPr>
              <a:t>=</a:t>
            </a:r>
            <a:r>
              <a:rPr lang="en-US" altLang="zh-CN" sz="1600" b="1" dirty="0" err="1">
                <a:effectLst>
                  <a:outerShdw blurRad="38100" dist="38100" dir="2700000" algn="tl">
                    <a:srgbClr val="000000">
                      <a:alpha val="43137"/>
                    </a:srgbClr>
                  </a:outerShdw>
                </a:effectLst>
              </a:rPr>
              <a:t>ch</a:t>
            </a:r>
            <a:r>
              <a:rPr lang="en-US" altLang="zh-CN" sz="1600" b="1" dirty="0">
                <a:effectLst>
                  <a:outerShdw blurRad="38100" dist="38100" dir="2700000" algn="tl">
                    <a:srgbClr val="000000">
                      <a:alpha val="43137"/>
                    </a:srgbClr>
                  </a:outerShdw>
                </a:effectLst>
              </a:rPr>
              <a:t>-'</a:t>
            </a:r>
            <a:r>
              <a:rPr lang="en-US" altLang="zh-CN" sz="1600" b="1" dirty="0" err="1">
                <a:effectLst>
                  <a:outerShdw blurRad="38100" dist="38100" dir="2700000" algn="tl">
                    <a:srgbClr val="000000">
                      <a:alpha val="43137"/>
                    </a:srgbClr>
                  </a:outerShdw>
                </a:effectLst>
              </a:rPr>
              <a:t>a'+'A</a:t>
            </a:r>
            <a:r>
              <a:rPr lang="en-US" altLang="zh-CN" sz="1600" b="1" dirty="0">
                <a:effectLst>
                  <a:outerShdw blurRad="38100" dist="38100" dir="2700000" algn="tl">
                    <a:srgbClr val="000000">
                      <a:alpha val="43137"/>
                    </a:srgbClr>
                  </a:outerShdw>
                </a:effectLst>
              </a:rPr>
              <a:t>';</a:t>
            </a:r>
          </a:p>
          <a:p>
            <a:pPr marL="0" indent="0">
              <a:buNone/>
            </a:pPr>
            <a:r>
              <a:rPr lang="en-US" altLang="zh-CN" sz="1600" b="1" dirty="0">
                <a:effectLst>
                  <a:outerShdw blurRad="38100" dist="38100" dir="2700000" algn="tl">
                    <a:srgbClr val="000000">
                      <a:alpha val="43137"/>
                    </a:srgbClr>
                  </a:outerShdw>
                </a:effectLst>
              </a:rPr>
              <a:t>    return </a:t>
            </a:r>
            <a:r>
              <a:rPr lang="en-US" altLang="zh-CN" sz="1600" b="1" dirty="0" err="1">
                <a:effectLst>
                  <a:outerShdw blurRad="38100" dist="38100" dir="2700000" algn="tl">
                    <a:srgbClr val="000000">
                      <a:alpha val="43137"/>
                    </a:srgbClr>
                  </a:outerShdw>
                </a:effectLst>
              </a:rPr>
              <a:t>ch</a:t>
            </a:r>
            <a:r>
              <a:rPr lang="en-US" altLang="zh-CN" sz="1600" b="1" dirty="0">
                <a:effectLst>
                  <a:outerShdw blurRad="38100" dist="38100" dir="2700000" algn="tl">
                    <a:srgbClr val="000000">
                      <a:alpha val="43137"/>
                    </a:srgbClr>
                  </a:outerShdw>
                </a:effectLst>
              </a:rPr>
              <a:t>;                       </a:t>
            </a:r>
            <a:r>
              <a:rPr lang="en-US" altLang="zh-CN" sz="1600" b="1" dirty="0" smtClean="0">
                <a:effectLst>
                  <a:outerShdw blurRad="38100" dist="38100" dir="2700000" algn="tl">
                    <a:srgbClr val="000000">
                      <a:alpha val="43137"/>
                    </a:srgbClr>
                  </a:outerShdw>
                </a:effectLst>
              </a:rPr>
              <a:t> </a:t>
            </a:r>
            <a:r>
              <a:rPr lang="en-US" altLang="zh-CN" sz="1600" b="1" dirty="0">
                <a:effectLst>
                  <a:outerShdw blurRad="38100" dist="38100" dir="2700000" algn="tl">
                    <a:srgbClr val="000000">
                      <a:alpha val="43137"/>
                    </a:srgbClr>
                  </a:outerShdw>
                </a:effectLst>
                <a:latin typeface="+mn-ea"/>
                <a:ea typeface="+mn-ea"/>
              </a:rPr>
              <a:t>//</a:t>
            </a:r>
            <a:r>
              <a:rPr lang="zh-CN" altLang="en-US" sz="1600" b="1" dirty="0">
                <a:effectLst>
                  <a:outerShdw blurRad="38100" dist="38100" dir="2700000" algn="tl">
                    <a:srgbClr val="000000">
                      <a:alpha val="43137"/>
                    </a:srgbClr>
                  </a:outerShdw>
                </a:effectLst>
                <a:latin typeface="+mn-ea"/>
                <a:ea typeface="+mn-ea"/>
              </a:rPr>
              <a:t>返回自定义函数值</a:t>
            </a:r>
          </a:p>
          <a:p>
            <a:pPr marL="0" indent="0">
              <a:buNone/>
            </a:pPr>
            <a:r>
              <a:rPr lang="en-US" altLang="zh-CN" sz="16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824323793"/>
      </p:ext>
    </p:extLst>
  </p:cSld>
  <p:clrMapOvr>
    <a:masterClrMapping/>
  </p:clrMapOvr>
  <p:transition spd="med">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函数的定义</a:t>
            </a:r>
            <a:endParaRPr lang="zh-CN" altLang="en-US" dirty="0"/>
          </a:p>
        </p:txBody>
      </p:sp>
      <p:sp>
        <p:nvSpPr>
          <p:cNvPr id="3" name="内容占位符 2"/>
          <p:cNvSpPr>
            <a:spLocks noGrp="1"/>
          </p:cNvSpPr>
          <p:nvPr>
            <p:ph idx="1"/>
          </p:nvPr>
        </p:nvSpPr>
        <p:spPr>
          <a:xfrm>
            <a:off x="755650" y="1628800"/>
            <a:ext cx="7056710" cy="3024931"/>
          </a:xfrm>
        </p:spPr>
        <p:txBody>
          <a:bodyPr/>
          <a:lstStyle/>
          <a:p>
            <a:pPr marL="265113" lvl="1" indent="0">
              <a:buNone/>
            </a:pPr>
            <a:r>
              <a:rPr lang="zh-CN" altLang="zh-CN" dirty="0" smtClean="0">
                <a:effectLst/>
              </a:rPr>
              <a:t>函数</a:t>
            </a:r>
            <a:r>
              <a:rPr lang="zh-CN" altLang="zh-CN" dirty="0">
                <a:effectLst/>
              </a:rPr>
              <a:t>定义的一般形式如下</a:t>
            </a:r>
            <a:r>
              <a:rPr lang="zh-CN" altLang="zh-CN" dirty="0" smtClean="0">
                <a:effectLst/>
              </a:rPr>
              <a:t>：</a:t>
            </a:r>
            <a:endParaRPr lang="en-US" altLang="zh-CN" dirty="0" smtClean="0">
              <a:effectLst/>
            </a:endParaRPr>
          </a:p>
          <a:p>
            <a:pPr marL="265113" lvl="1" indent="0">
              <a:buNone/>
            </a:pPr>
            <a:r>
              <a:rPr lang="en-US" altLang="zh-CN" dirty="0">
                <a:effectLst/>
              </a:rPr>
              <a:t> </a:t>
            </a:r>
            <a:r>
              <a:rPr lang="en-US" altLang="zh-CN" dirty="0" smtClean="0">
                <a:effectLst/>
              </a:rPr>
              <a:t>   </a:t>
            </a:r>
            <a:r>
              <a:rPr lang="zh-CN" altLang="en-US" dirty="0" smtClean="0">
                <a:effectLst/>
              </a:rPr>
              <a:t>函数类型标识符  函数名</a:t>
            </a:r>
            <a:r>
              <a:rPr lang="en-US" altLang="zh-CN" dirty="0" smtClean="0">
                <a:effectLst/>
              </a:rPr>
              <a:t>(</a:t>
            </a:r>
            <a:r>
              <a:rPr lang="zh-CN" altLang="en-US" dirty="0" smtClean="0">
                <a:effectLst/>
              </a:rPr>
              <a:t>形式</a:t>
            </a:r>
            <a:r>
              <a:rPr lang="zh-CN" altLang="en-US" dirty="0">
                <a:effectLst/>
              </a:rPr>
              <a:t>参数</a:t>
            </a:r>
            <a:r>
              <a:rPr lang="zh-CN" altLang="en-US" dirty="0" smtClean="0">
                <a:effectLst/>
              </a:rPr>
              <a:t>表</a:t>
            </a:r>
            <a:r>
              <a:rPr lang="en-US" altLang="zh-CN" dirty="0" smtClean="0">
                <a:effectLst/>
              </a:rPr>
              <a:t>)</a:t>
            </a:r>
            <a:endParaRPr lang="zh-CN" altLang="zh-CN" dirty="0">
              <a:effectLst/>
            </a:endParaRPr>
          </a:p>
          <a:p>
            <a:pPr marL="265113" lvl="1" indent="0">
              <a:buNone/>
            </a:pPr>
            <a:r>
              <a:rPr lang="en-US" altLang="zh-CN" dirty="0" smtClean="0">
                <a:effectLst/>
              </a:rPr>
              <a:t>   </a:t>
            </a:r>
            <a:r>
              <a:rPr lang="zh-CN" altLang="zh-CN" dirty="0" smtClean="0">
                <a:effectLst/>
              </a:rPr>
              <a:t>｛</a:t>
            </a:r>
            <a:endParaRPr lang="zh-CN" altLang="zh-CN" dirty="0">
              <a:effectLst/>
            </a:endParaRPr>
          </a:p>
          <a:p>
            <a:pPr marL="265113" lvl="1" indent="0">
              <a:buNone/>
            </a:pPr>
            <a:r>
              <a:rPr lang="en-US" altLang="zh-CN" dirty="0" smtClean="0">
                <a:effectLst/>
              </a:rPr>
              <a:t>        </a:t>
            </a:r>
            <a:r>
              <a:rPr lang="zh-CN" altLang="zh-CN" dirty="0" smtClean="0">
                <a:effectLst/>
              </a:rPr>
              <a:t>函数</a:t>
            </a:r>
            <a:r>
              <a:rPr lang="zh-CN" altLang="zh-CN" dirty="0">
                <a:effectLst/>
              </a:rPr>
              <a:t>实现</a:t>
            </a:r>
            <a:r>
              <a:rPr lang="zh-CN" altLang="zh-CN" dirty="0" smtClean="0">
                <a:effectLst/>
              </a:rPr>
              <a:t>过程</a:t>
            </a:r>
            <a:r>
              <a:rPr lang="zh-CN" altLang="en-US" dirty="0" smtClean="0">
                <a:effectLst/>
              </a:rPr>
              <a:t>（函数体）</a:t>
            </a:r>
            <a:r>
              <a:rPr lang="en-US" altLang="zh-CN" dirty="0" smtClean="0">
                <a:effectLst/>
              </a:rPr>
              <a:t>           </a:t>
            </a:r>
            <a:endParaRPr lang="zh-CN" altLang="zh-CN" dirty="0">
              <a:effectLst/>
            </a:endParaRPr>
          </a:p>
          <a:p>
            <a:pPr marL="265113" lvl="1" indent="0">
              <a:buNone/>
            </a:pPr>
            <a:r>
              <a:rPr lang="en-US" altLang="zh-CN" dirty="0" smtClean="0">
                <a:effectLst/>
              </a:rPr>
              <a:t>    </a:t>
            </a:r>
            <a:r>
              <a:rPr lang="zh-CN" altLang="zh-CN" dirty="0" smtClean="0">
                <a:effectLst/>
              </a:rPr>
              <a:t>｝</a:t>
            </a:r>
            <a:endParaRPr lang="en-US" altLang="zh-CN" dirty="0" smtClean="0">
              <a:effectLst/>
            </a:endParaRPr>
          </a:p>
          <a:p>
            <a:pPr marL="265113" lvl="1" indent="0">
              <a:buNone/>
            </a:pPr>
            <a:r>
              <a:rPr lang="zh-CN" altLang="en-US" dirty="0" smtClean="0">
                <a:effectLst/>
              </a:rPr>
              <a:t>例如：</a:t>
            </a:r>
            <a:endParaRPr lang="en-US" altLang="zh-CN" dirty="0" smtClean="0">
              <a:effectLst/>
            </a:endParaRPr>
          </a:p>
          <a:p>
            <a:pPr marL="265113" lvl="1" indent="0">
              <a:buNone/>
            </a:pPr>
            <a:r>
              <a:rPr lang="en-US" altLang="zh-CN" sz="2000" dirty="0" smtClean="0">
                <a:solidFill>
                  <a:srgbClr val="0066FF"/>
                </a:solidFill>
                <a:effectLst>
                  <a:outerShdw blurRad="38100" dist="38100" dir="2700000" algn="tl">
                    <a:srgbClr val="000000">
                      <a:alpha val="43137"/>
                    </a:srgbClr>
                  </a:outerShdw>
                </a:effectLst>
              </a:rPr>
              <a:t>char </a:t>
            </a:r>
            <a:r>
              <a:rPr lang="en-US" altLang="zh-CN" sz="2000" dirty="0" err="1">
                <a:solidFill>
                  <a:srgbClr val="0066FF"/>
                </a:solidFill>
                <a:effectLst>
                  <a:outerShdw blurRad="38100" dist="38100" dir="2700000" algn="tl">
                    <a:srgbClr val="000000">
                      <a:alpha val="43137"/>
                    </a:srgbClr>
                  </a:outerShdw>
                </a:effectLst>
              </a:rPr>
              <a:t>low_to_upper</a:t>
            </a:r>
            <a:r>
              <a:rPr lang="en-US" altLang="zh-CN" sz="2000" dirty="0">
                <a:solidFill>
                  <a:srgbClr val="0066FF"/>
                </a:solidFill>
                <a:effectLst>
                  <a:outerShdw blurRad="38100" dist="38100" dir="2700000" algn="tl">
                    <a:srgbClr val="000000">
                      <a:alpha val="43137"/>
                    </a:srgbClr>
                  </a:outerShdw>
                </a:effectLst>
              </a:rPr>
              <a:t>(char </a:t>
            </a:r>
            <a:r>
              <a:rPr lang="en-US" altLang="zh-CN" sz="2000" dirty="0" err="1">
                <a:solidFill>
                  <a:srgbClr val="0066FF"/>
                </a:solidFill>
                <a:effectLst>
                  <a:outerShdw blurRad="38100" dist="38100" dir="2700000" algn="tl">
                    <a:srgbClr val="000000">
                      <a:alpha val="43137"/>
                    </a:srgbClr>
                  </a:outerShdw>
                </a:effectLst>
              </a:rPr>
              <a:t>ch</a:t>
            </a:r>
            <a:r>
              <a:rPr lang="en-US" altLang="zh-CN" sz="2000" dirty="0" smtClean="0">
                <a:solidFill>
                  <a:srgbClr val="0066FF"/>
                </a:solidFill>
                <a:effectLst>
                  <a:outerShdw blurRad="38100" dist="38100" dir="2700000" algn="tl">
                    <a:srgbClr val="000000">
                      <a:alpha val="43137"/>
                    </a:srgbClr>
                  </a:outerShdw>
                </a:effectLst>
              </a:rPr>
              <a:t>)</a:t>
            </a:r>
          </a:p>
          <a:p>
            <a:pPr marL="265113" lvl="1" indent="0">
              <a:buNone/>
            </a:pPr>
            <a:r>
              <a:rPr lang="en-US" altLang="zh-CN" sz="2000" dirty="0" smtClean="0">
                <a:solidFill>
                  <a:srgbClr val="0066FF"/>
                </a:solidFill>
                <a:effectLst>
                  <a:outerShdw blurRad="38100" dist="38100" dir="2700000" algn="tl">
                    <a:srgbClr val="000000">
                      <a:alpha val="43137"/>
                    </a:srgbClr>
                  </a:outerShdw>
                </a:effectLst>
              </a:rPr>
              <a:t>{</a:t>
            </a:r>
            <a:endParaRPr lang="en-US" altLang="zh-CN" sz="2000" dirty="0">
              <a:solidFill>
                <a:srgbClr val="0066FF"/>
              </a:solidFill>
              <a:effectLst>
                <a:outerShdw blurRad="38100" dist="38100" dir="2700000" algn="tl">
                  <a:srgbClr val="000000">
                    <a:alpha val="43137"/>
                  </a:srgbClr>
                </a:outerShdw>
              </a:effectLst>
            </a:endParaRPr>
          </a:p>
          <a:p>
            <a:pPr marL="265113" lvl="1" indent="0">
              <a:buNone/>
            </a:pPr>
            <a:r>
              <a:rPr lang="en-US" altLang="zh-CN" sz="2000" dirty="0" smtClean="0">
                <a:effectLst/>
              </a:rPr>
              <a:t>          </a:t>
            </a:r>
            <a:r>
              <a:rPr lang="zh-CN" altLang="en-US" sz="2000" dirty="0" smtClean="0">
                <a:effectLst/>
              </a:rPr>
              <a:t>函数体</a:t>
            </a:r>
            <a:endParaRPr lang="en-US" altLang="zh-CN" sz="2000" dirty="0" smtClean="0">
              <a:effectLst/>
            </a:endParaRPr>
          </a:p>
          <a:p>
            <a:pPr marL="265113" lvl="1" indent="0">
              <a:buNone/>
            </a:pPr>
            <a:r>
              <a:rPr lang="en-US" altLang="zh-CN" sz="2000" dirty="0">
                <a:effectLst/>
              </a:rPr>
              <a:t> </a:t>
            </a:r>
            <a:r>
              <a:rPr lang="en-US" altLang="zh-CN" sz="2000" dirty="0" smtClean="0">
                <a:effectLst/>
              </a:rPr>
              <a:t>         return </a:t>
            </a:r>
            <a:r>
              <a:rPr lang="en-US" altLang="zh-CN" sz="2000" dirty="0" err="1" smtClean="0">
                <a:effectLst/>
              </a:rPr>
              <a:t>ch</a:t>
            </a:r>
            <a:r>
              <a:rPr lang="en-US" altLang="zh-CN" sz="2000" dirty="0" smtClean="0">
                <a:effectLst/>
              </a:rPr>
              <a:t>;  </a:t>
            </a:r>
          </a:p>
          <a:p>
            <a:pPr marL="265113" lvl="1" indent="0">
              <a:buNone/>
            </a:pPr>
            <a:r>
              <a:rPr lang="en-US" altLang="zh-CN" sz="2000" dirty="0">
                <a:solidFill>
                  <a:srgbClr val="0066FF"/>
                </a:solidFill>
                <a:effectLst>
                  <a:outerShdw blurRad="38100" dist="38100" dir="2700000" algn="tl">
                    <a:srgbClr val="000000">
                      <a:alpha val="43137"/>
                    </a:srgbClr>
                  </a:outerShdw>
                </a:effectLst>
              </a:rPr>
              <a:t>}</a:t>
            </a:r>
            <a:endParaRPr lang="zh-CN" altLang="zh-CN" sz="2000" dirty="0">
              <a:solidFill>
                <a:srgbClr val="0066FF"/>
              </a:solidFill>
              <a:effectLst>
                <a:outerShdw blurRad="38100" dist="38100" dir="2700000" algn="tl">
                  <a:srgbClr val="000000">
                    <a:alpha val="43137"/>
                  </a:srgbClr>
                </a:outerShdw>
              </a:effectLst>
            </a:endParaRPr>
          </a:p>
          <a:p>
            <a:pPr marL="271463" lvl="1" indent="45720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16</a:t>
            </a:fld>
            <a:endParaRPr lang="en-US" altLang="zh-CN" dirty="0"/>
          </a:p>
        </p:txBody>
      </p:sp>
      <p:sp>
        <p:nvSpPr>
          <p:cNvPr id="5" name="矩形 4"/>
          <p:cNvSpPr/>
          <p:nvPr/>
        </p:nvSpPr>
        <p:spPr>
          <a:xfrm>
            <a:off x="5080050" y="4733131"/>
            <a:ext cx="3600400" cy="1323439"/>
          </a:xfrm>
          <a:prstGeom prst="rect">
            <a:avLst/>
          </a:prstGeom>
        </p:spPr>
        <p:txBody>
          <a:bodyPr wrap="square">
            <a:spAutoFit/>
          </a:bodyPr>
          <a:lstStyle/>
          <a:p>
            <a:pPr marL="6350" indent="457200">
              <a:buNone/>
            </a:pPr>
            <a:r>
              <a:rPr lang="en-US" altLang="zh-CN" sz="2000" b="1" dirty="0">
                <a:solidFill>
                  <a:srgbClr val="3333FF"/>
                </a:solidFill>
                <a:effectLst>
                  <a:outerShdw blurRad="38100" dist="38100" dir="2700000" algn="tl">
                    <a:srgbClr val="000000">
                      <a:alpha val="43137"/>
                    </a:srgbClr>
                  </a:outerShdw>
                </a:effectLst>
              </a:rPr>
              <a:t>void </a:t>
            </a:r>
            <a:r>
              <a:rPr lang="en-US" altLang="zh-CN" sz="2000" b="1" dirty="0" err="1">
                <a:solidFill>
                  <a:srgbClr val="3333FF"/>
                </a:solidFill>
                <a:effectLst>
                  <a:outerShdw blurRad="38100" dist="38100" dir="2700000" algn="tl">
                    <a:srgbClr val="000000">
                      <a:alpha val="43137"/>
                    </a:srgbClr>
                  </a:outerShdw>
                </a:effectLst>
              </a:rPr>
              <a:t>print_star</a:t>
            </a:r>
            <a:r>
              <a:rPr lang="en-US" altLang="zh-CN" sz="2000" b="1" dirty="0">
                <a:solidFill>
                  <a:srgbClr val="3333FF"/>
                </a:solidFill>
                <a:effectLst>
                  <a:outerShdw blurRad="38100" dist="38100" dir="2700000" algn="tl">
                    <a:srgbClr val="000000">
                      <a:alpha val="43137"/>
                    </a:srgbClr>
                  </a:outerShdw>
                </a:effectLst>
              </a:rPr>
              <a:t>(</a:t>
            </a:r>
            <a:r>
              <a:rPr lang="en-US" altLang="zh-CN" sz="2000" b="1" dirty="0" err="1">
                <a:solidFill>
                  <a:srgbClr val="3333FF"/>
                </a:solidFill>
                <a:effectLst>
                  <a:outerShdw blurRad="38100" dist="38100" dir="2700000" algn="tl">
                    <a:srgbClr val="000000">
                      <a:alpha val="43137"/>
                    </a:srgbClr>
                  </a:outerShdw>
                </a:effectLst>
              </a:rPr>
              <a:t>int</a:t>
            </a:r>
            <a:r>
              <a:rPr lang="en-US" altLang="zh-CN" sz="2000" b="1" dirty="0">
                <a:solidFill>
                  <a:srgbClr val="3333FF"/>
                </a:solidFill>
                <a:effectLst>
                  <a:outerShdw blurRad="38100" dist="38100" dir="2700000" algn="tl">
                    <a:srgbClr val="000000">
                      <a:alpha val="43137"/>
                    </a:srgbClr>
                  </a:outerShdw>
                </a:effectLst>
              </a:rPr>
              <a:t> n</a:t>
            </a:r>
            <a:r>
              <a:rPr lang="en-US" altLang="zh-CN" sz="2000" b="1" dirty="0" smtClean="0">
                <a:solidFill>
                  <a:srgbClr val="3333FF"/>
                </a:solidFill>
                <a:effectLst>
                  <a:outerShdw blurRad="38100" dist="38100" dir="2700000" algn="tl">
                    <a:srgbClr val="000000">
                      <a:alpha val="43137"/>
                    </a:srgbClr>
                  </a:outerShdw>
                </a:effectLst>
              </a:rPr>
              <a:t>)</a:t>
            </a:r>
          </a:p>
          <a:p>
            <a:pPr marL="6350" indent="457200">
              <a:buNone/>
            </a:pPr>
            <a:r>
              <a:rPr lang="en-US" altLang="zh-CN" sz="2000" b="1" dirty="0" smtClean="0">
                <a:solidFill>
                  <a:srgbClr val="3333FF"/>
                </a:solidFill>
                <a:effectLst>
                  <a:outerShdw blurRad="38100" dist="38100" dir="2700000" algn="tl">
                    <a:srgbClr val="000000">
                      <a:alpha val="43137"/>
                    </a:srgbClr>
                  </a:outerShdw>
                </a:effectLst>
              </a:rPr>
              <a:t>{</a:t>
            </a:r>
          </a:p>
          <a:p>
            <a:pPr marL="6350" indent="457200">
              <a:buNone/>
            </a:pPr>
            <a:r>
              <a:rPr lang="en-US" altLang="zh-CN" sz="2000" b="1" dirty="0" smtClean="0">
                <a:solidFill>
                  <a:srgbClr val="3333FF"/>
                </a:solidFill>
                <a:effectLst>
                  <a:outerShdw blurRad="38100" dist="38100" dir="2700000" algn="tl">
                    <a:srgbClr val="000000">
                      <a:alpha val="43137"/>
                    </a:srgbClr>
                  </a:outerShdw>
                </a:effectLst>
              </a:rPr>
              <a:t>         </a:t>
            </a:r>
            <a:r>
              <a:rPr lang="zh-CN" altLang="en-US" sz="2000" b="1" dirty="0" smtClean="0">
                <a:solidFill>
                  <a:srgbClr val="3333FF"/>
                </a:solidFill>
                <a:effectLst>
                  <a:outerShdw blurRad="38100" dist="38100" dir="2700000" algn="tl">
                    <a:srgbClr val="000000">
                      <a:alpha val="43137"/>
                    </a:srgbClr>
                  </a:outerShdw>
                </a:effectLst>
              </a:rPr>
              <a:t>函数体</a:t>
            </a:r>
            <a:endParaRPr lang="en-US" altLang="zh-CN" sz="2000" b="1" dirty="0" smtClean="0">
              <a:solidFill>
                <a:srgbClr val="3333FF"/>
              </a:solidFill>
              <a:effectLst>
                <a:outerShdw blurRad="38100" dist="38100" dir="2700000" algn="tl">
                  <a:srgbClr val="000000">
                    <a:alpha val="43137"/>
                  </a:srgbClr>
                </a:outerShdw>
              </a:effectLst>
            </a:endParaRPr>
          </a:p>
          <a:p>
            <a:pPr marL="6350" indent="457200">
              <a:buNone/>
            </a:pPr>
            <a:r>
              <a:rPr lang="en-US" altLang="zh-CN" sz="2000" b="1" dirty="0" smtClean="0">
                <a:solidFill>
                  <a:srgbClr val="3333FF"/>
                </a:solidFill>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p:txBody>
      </p:sp>
      <p:sp>
        <p:nvSpPr>
          <p:cNvPr id="6" name="矩形 5"/>
          <p:cNvSpPr/>
          <p:nvPr/>
        </p:nvSpPr>
        <p:spPr>
          <a:xfrm>
            <a:off x="2483768" y="6460547"/>
            <a:ext cx="1425390" cy="338554"/>
          </a:xfrm>
          <a:prstGeom prst="rect">
            <a:avLst/>
          </a:prstGeom>
        </p:spPr>
        <p:txBody>
          <a:bodyPr wrap="none">
            <a:spAutoFit/>
          </a:bodyPr>
          <a:lstStyle/>
          <a:p>
            <a:r>
              <a:rPr lang="zh-CN" altLang="en-US" sz="1600" b="1" dirty="0">
                <a:solidFill>
                  <a:srgbClr val="3333FF"/>
                </a:solidFill>
                <a:effectLst>
                  <a:outerShdw blurRad="38100" dist="38100" dir="2700000" algn="tl">
                    <a:srgbClr val="000000">
                      <a:alpha val="43137"/>
                    </a:srgbClr>
                  </a:outerShdw>
                </a:effectLst>
                <a:latin typeface="+mn-ea"/>
                <a:ea typeface="+mn-ea"/>
              </a:rPr>
              <a:t>有返回值</a:t>
            </a:r>
            <a:r>
              <a:rPr lang="zh-CN" altLang="en-US" sz="1600" b="1" dirty="0" smtClean="0">
                <a:solidFill>
                  <a:srgbClr val="3333FF"/>
                </a:solidFill>
                <a:effectLst>
                  <a:outerShdw blurRad="38100" dist="38100" dir="2700000" algn="tl">
                    <a:srgbClr val="000000">
                      <a:alpha val="43137"/>
                    </a:srgbClr>
                  </a:outerShdw>
                </a:effectLst>
                <a:latin typeface="+mn-ea"/>
                <a:ea typeface="+mn-ea"/>
              </a:rPr>
              <a:t>函数</a:t>
            </a:r>
            <a:endParaRPr lang="zh-CN" altLang="en-US" sz="1600" b="1" dirty="0">
              <a:solidFill>
                <a:srgbClr val="3333FF"/>
              </a:solidFill>
              <a:effectLst>
                <a:outerShdw blurRad="38100" dist="38100" dir="2700000" algn="tl">
                  <a:srgbClr val="000000">
                    <a:alpha val="43137"/>
                  </a:srgbClr>
                </a:outerShdw>
              </a:effectLst>
              <a:latin typeface="+mn-ea"/>
              <a:ea typeface="+mn-ea"/>
            </a:endParaRPr>
          </a:p>
        </p:txBody>
      </p:sp>
      <p:sp>
        <p:nvSpPr>
          <p:cNvPr id="8" name="矩形 7"/>
          <p:cNvSpPr/>
          <p:nvPr/>
        </p:nvSpPr>
        <p:spPr>
          <a:xfrm>
            <a:off x="6167555" y="6460547"/>
            <a:ext cx="1426994" cy="338554"/>
          </a:xfrm>
          <a:prstGeom prst="rect">
            <a:avLst/>
          </a:prstGeom>
        </p:spPr>
        <p:txBody>
          <a:bodyPr wrap="none">
            <a:spAutoFit/>
          </a:bodyPr>
          <a:lstStyle/>
          <a:p>
            <a:r>
              <a:rPr lang="zh-CN" altLang="en-US" sz="1600" b="1" dirty="0" smtClean="0">
                <a:solidFill>
                  <a:srgbClr val="0066FF"/>
                </a:solidFill>
                <a:effectLst>
                  <a:outerShdw blurRad="38100" dist="38100" dir="2700000" algn="tl">
                    <a:srgbClr val="000000">
                      <a:alpha val="43137"/>
                    </a:srgbClr>
                  </a:outerShdw>
                </a:effectLst>
                <a:latin typeface="+mn-ea"/>
                <a:ea typeface="+mn-ea"/>
              </a:rPr>
              <a:t>无返回</a:t>
            </a:r>
            <a:r>
              <a:rPr lang="zh-CN" altLang="en-US" sz="1600" b="1" dirty="0">
                <a:solidFill>
                  <a:srgbClr val="0066FF"/>
                </a:solidFill>
                <a:effectLst>
                  <a:outerShdw blurRad="38100" dist="38100" dir="2700000" algn="tl">
                    <a:srgbClr val="000000">
                      <a:alpha val="43137"/>
                    </a:srgbClr>
                  </a:outerShdw>
                </a:effectLst>
                <a:latin typeface="+mn-ea"/>
                <a:ea typeface="+mn-ea"/>
              </a:rPr>
              <a:t>值</a:t>
            </a:r>
            <a:r>
              <a:rPr lang="zh-CN" altLang="en-US" sz="1600" b="1" dirty="0" smtClean="0">
                <a:solidFill>
                  <a:srgbClr val="0066FF"/>
                </a:solidFill>
                <a:effectLst>
                  <a:outerShdw blurRad="38100" dist="38100" dir="2700000" algn="tl">
                    <a:srgbClr val="000000">
                      <a:alpha val="43137"/>
                    </a:srgbClr>
                  </a:outerShdw>
                </a:effectLst>
                <a:latin typeface="+mn-ea"/>
                <a:ea typeface="+mn-ea"/>
              </a:rPr>
              <a:t>函数</a:t>
            </a:r>
            <a:endParaRPr lang="zh-CN" altLang="en-US" sz="1600" b="1" dirty="0">
              <a:solidFill>
                <a:srgbClr val="0066FF"/>
              </a:solidFill>
              <a:effectLst>
                <a:outerShdw blurRad="38100" dist="38100" dir="2700000" algn="tl">
                  <a:srgbClr val="000000">
                    <a:alpha val="43137"/>
                  </a:srgbClr>
                </a:outerShdw>
              </a:effectLst>
              <a:latin typeface="+mn-ea"/>
              <a:ea typeface="+mn-ea"/>
            </a:endParaRPr>
          </a:p>
        </p:txBody>
      </p:sp>
    </p:spTree>
    <p:extLst>
      <p:ext uri="{BB962C8B-B14F-4D97-AF65-F5344CB8AC3E}">
        <p14:creationId xmlns:p14="http://schemas.microsoft.com/office/powerpoint/2010/main" val="3652328908"/>
      </p:ext>
    </p:extLst>
  </p:cSld>
  <p:clrMapOvr>
    <a:masterClrMapping/>
  </p:clrMapOvr>
  <p:transition spd="med">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函数的定义</a:t>
            </a:r>
            <a:endParaRPr lang="zh-CN" altLang="en-US" dirty="0"/>
          </a:p>
        </p:txBody>
      </p:sp>
      <p:sp>
        <p:nvSpPr>
          <p:cNvPr id="3" name="内容占位符 2"/>
          <p:cNvSpPr>
            <a:spLocks noGrp="1"/>
          </p:cNvSpPr>
          <p:nvPr>
            <p:ph idx="1"/>
          </p:nvPr>
        </p:nvSpPr>
        <p:spPr>
          <a:xfrm>
            <a:off x="755650" y="1700213"/>
            <a:ext cx="7993063" cy="2736899"/>
          </a:xfrm>
        </p:spPr>
        <p:txBody>
          <a:bodyPr/>
          <a:lstStyle/>
          <a:p>
            <a:r>
              <a:rPr lang="zh-CN" altLang="zh-CN" dirty="0">
                <a:effectLst/>
              </a:rPr>
              <a:t>函数类型</a:t>
            </a:r>
            <a:r>
              <a:rPr lang="zh-CN" altLang="zh-CN" dirty="0" smtClean="0">
                <a:effectLst/>
              </a:rPr>
              <a:t>标识符</a:t>
            </a:r>
            <a:endParaRPr lang="en-US" altLang="zh-CN" dirty="0" smtClean="0">
              <a:effectLst/>
            </a:endParaRPr>
          </a:p>
          <a:p>
            <a:pPr lvl="1"/>
            <a:r>
              <a:rPr lang="zh-CN" altLang="zh-CN" dirty="0" smtClean="0">
                <a:effectLst/>
              </a:rPr>
              <a:t>指明本</a:t>
            </a:r>
            <a:r>
              <a:rPr lang="zh-CN" altLang="zh-CN" dirty="0">
                <a:effectLst/>
              </a:rPr>
              <a:t>函数的</a:t>
            </a:r>
            <a:r>
              <a:rPr lang="zh-CN" altLang="zh-CN" dirty="0" smtClean="0">
                <a:effectLst/>
              </a:rPr>
              <a:t>类型</a:t>
            </a:r>
            <a:endParaRPr lang="en-US" altLang="zh-CN" dirty="0">
              <a:effectLst/>
            </a:endParaRPr>
          </a:p>
          <a:p>
            <a:pPr lvl="1"/>
            <a:r>
              <a:rPr lang="zh-CN" altLang="en-US" dirty="0" smtClean="0">
                <a:effectLst/>
              </a:rPr>
              <a:t>确定</a:t>
            </a:r>
            <a:r>
              <a:rPr lang="zh-CN" altLang="zh-CN" dirty="0" smtClean="0">
                <a:effectLst/>
              </a:rPr>
              <a:t>函数</a:t>
            </a:r>
            <a:r>
              <a:rPr lang="zh-CN" altLang="zh-CN" dirty="0">
                <a:effectLst/>
              </a:rPr>
              <a:t>返回值的</a:t>
            </a:r>
            <a:r>
              <a:rPr lang="zh-CN" altLang="zh-CN" dirty="0" smtClean="0">
                <a:effectLst/>
              </a:rPr>
              <a:t>类型</a:t>
            </a:r>
            <a:endParaRPr lang="en-US" altLang="zh-CN" dirty="0" smtClean="0">
              <a:effectLst/>
            </a:endParaRPr>
          </a:p>
          <a:p>
            <a:pPr lvl="1"/>
            <a:r>
              <a:rPr lang="zh-CN" altLang="zh-CN" dirty="0" smtClean="0">
                <a:effectLst/>
              </a:rPr>
              <a:t>一般</a:t>
            </a:r>
            <a:r>
              <a:rPr lang="zh-CN" altLang="zh-CN" dirty="0">
                <a:effectLst/>
              </a:rPr>
              <a:t>与</a:t>
            </a:r>
            <a:r>
              <a:rPr lang="en-US" altLang="zh-CN" dirty="0">
                <a:effectLst/>
              </a:rPr>
              <a:t>return</a:t>
            </a:r>
            <a:r>
              <a:rPr lang="zh-CN" altLang="zh-CN" dirty="0">
                <a:effectLst/>
              </a:rPr>
              <a:t>语句</a:t>
            </a:r>
            <a:r>
              <a:rPr lang="zh-CN" altLang="zh-CN" dirty="0" smtClean="0">
                <a:effectLst/>
              </a:rPr>
              <a:t>中表达式</a:t>
            </a:r>
            <a:r>
              <a:rPr lang="zh-CN" altLang="zh-CN" dirty="0">
                <a:effectLst/>
              </a:rPr>
              <a:t>的数据类型</a:t>
            </a:r>
            <a:r>
              <a:rPr lang="zh-CN" altLang="zh-CN" dirty="0" smtClean="0">
                <a:effectLst/>
              </a:rPr>
              <a:t>相同</a:t>
            </a:r>
            <a:endParaRPr lang="en-US" altLang="zh-CN" dirty="0" smtClean="0">
              <a:effectLst/>
            </a:endParaRPr>
          </a:p>
          <a:p>
            <a:pPr lvl="1"/>
            <a:r>
              <a:rPr lang="zh-CN" altLang="zh-CN" dirty="0" smtClean="0">
                <a:effectLst/>
              </a:rPr>
              <a:t>不</a:t>
            </a:r>
            <a:r>
              <a:rPr lang="zh-CN" altLang="zh-CN" dirty="0">
                <a:effectLst/>
              </a:rPr>
              <a:t>要求函数有返回值</a:t>
            </a:r>
            <a:r>
              <a:rPr lang="zh-CN" altLang="zh-CN" dirty="0" smtClean="0">
                <a:effectLst/>
              </a:rPr>
              <a:t>，函数</a:t>
            </a:r>
            <a:r>
              <a:rPr lang="zh-CN" altLang="zh-CN" dirty="0">
                <a:effectLst/>
              </a:rPr>
              <a:t>类型标识符可以写为</a:t>
            </a:r>
            <a:r>
              <a:rPr lang="en-US" altLang="zh-CN" dirty="0" smtClean="0">
                <a:solidFill>
                  <a:srgbClr val="FF0000"/>
                </a:solidFill>
                <a:effectLst/>
              </a:rPr>
              <a:t>void</a:t>
            </a:r>
            <a:endParaRPr lang="en-US" altLang="zh-CN" dirty="0" smtClean="0">
              <a:effectLst/>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17</a:t>
            </a:fld>
            <a:endParaRPr lang="en-US" altLang="zh-CN" dirty="0"/>
          </a:p>
        </p:txBody>
      </p:sp>
      <p:sp>
        <p:nvSpPr>
          <p:cNvPr id="5" name="矩形 4"/>
          <p:cNvSpPr/>
          <p:nvPr/>
        </p:nvSpPr>
        <p:spPr>
          <a:xfrm>
            <a:off x="899592" y="5110152"/>
            <a:ext cx="4572000" cy="1631216"/>
          </a:xfrm>
          <a:prstGeom prst="rect">
            <a:avLst/>
          </a:prstGeom>
        </p:spPr>
        <p:txBody>
          <a:bodyPr>
            <a:spAutoFit/>
          </a:bodyPr>
          <a:lstStyle/>
          <a:p>
            <a:pPr marL="265113" lvl="1" indent="0">
              <a:buNone/>
            </a:pPr>
            <a:r>
              <a:rPr lang="en-US" altLang="zh-CN" sz="2000" b="1" dirty="0">
                <a:solidFill>
                  <a:srgbClr val="FF0000"/>
                </a:solidFill>
                <a:effectLst>
                  <a:outerShdw blurRad="38100" dist="38100" dir="2700000" algn="tl">
                    <a:srgbClr val="000000">
                      <a:alpha val="43137"/>
                    </a:srgbClr>
                  </a:outerShdw>
                </a:effectLst>
              </a:rPr>
              <a:t>char</a:t>
            </a:r>
            <a:r>
              <a:rPr lang="en-US" altLang="zh-CN" sz="2000" b="1" dirty="0">
                <a:solidFill>
                  <a:srgbClr val="0066FF"/>
                </a:solidFill>
                <a:effectLst>
                  <a:outerShdw blurRad="38100" dist="38100" dir="2700000" algn="tl">
                    <a:srgbClr val="000000">
                      <a:alpha val="43137"/>
                    </a:srgbClr>
                  </a:outerShdw>
                </a:effectLst>
              </a:rPr>
              <a:t> </a:t>
            </a:r>
            <a:r>
              <a:rPr lang="en-US" altLang="zh-CN" sz="2000" b="1" dirty="0" err="1">
                <a:solidFill>
                  <a:srgbClr val="0066FF"/>
                </a:solidFill>
                <a:effectLst>
                  <a:outerShdw blurRad="38100" dist="38100" dir="2700000" algn="tl">
                    <a:srgbClr val="000000">
                      <a:alpha val="43137"/>
                    </a:srgbClr>
                  </a:outerShdw>
                </a:effectLst>
              </a:rPr>
              <a:t>low_to_upper</a:t>
            </a:r>
            <a:r>
              <a:rPr lang="en-US" altLang="zh-CN" sz="2000" b="1" dirty="0">
                <a:solidFill>
                  <a:srgbClr val="0066FF"/>
                </a:solidFill>
                <a:effectLst>
                  <a:outerShdw blurRad="38100" dist="38100" dir="2700000" algn="tl">
                    <a:srgbClr val="000000">
                      <a:alpha val="43137"/>
                    </a:srgbClr>
                  </a:outerShdw>
                </a:effectLst>
              </a:rPr>
              <a:t>(char </a:t>
            </a:r>
            <a:r>
              <a:rPr lang="en-US" altLang="zh-CN" sz="2000" b="1" dirty="0" err="1">
                <a:solidFill>
                  <a:srgbClr val="0066FF"/>
                </a:solidFill>
                <a:effectLst>
                  <a:outerShdw blurRad="38100" dist="38100" dir="2700000" algn="tl">
                    <a:srgbClr val="000000">
                      <a:alpha val="43137"/>
                    </a:srgbClr>
                  </a:outerShdw>
                </a:effectLst>
              </a:rPr>
              <a:t>ch</a:t>
            </a:r>
            <a:r>
              <a:rPr lang="en-US" altLang="zh-CN" sz="2000" b="1" dirty="0">
                <a:solidFill>
                  <a:srgbClr val="0066FF"/>
                </a:solidFill>
                <a:effectLst>
                  <a:outerShdw blurRad="38100" dist="38100" dir="2700000" algn="tl">
                    <a:srgbClr val="000000">
                      <a:alpha val="43137"/>
                    </a:srgbClr>
                  </a:outerShdw>
                </a:effectLst>
              </a:rPr>
              <a:t>)</a:t>
            </a:r>
          </a:p>
          <a:p>
            <a:pPr marL="265113" lvl="1" indent="0">
              <a:buNone/>
            </a:pPr>
            <a:r>
              <a:rPr lang="en-US" altLang="zh-CN" sz="2000" b="1" dirty="0">
                <a:solidFill>
                  <a:srgbClr val="0066FF"/>
                </a:solidFill>
                <a:effectLst>
                  <a:outerShdw blurRad="38100" dist="38100" dir="2700000" algn="tl">
                    <a:srgbClr val="000000">
                      <a:alpha val="43137"/>
                    </a:srgbClr>
                  </a:outerShdw>
                </a:effectLst>
              </a:rPr>
              <a:t>{</a:t>
            </a:r>
          </a:p>
          <a:p>
            <a:pPr marL="265113" lvl="1" indent="0">
              <a:buNone/>
            </a:pP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函数体</a:t>
            </a:r>
            <a:endParaRPr lang="en-US" altLang="zh-CN" sz="2000" b="1" dirty="0">
              <a:effectLst>
                <a:outerShdw blurRad="38100" dist="38100" dir="2700000" algn="tl">
                  <a:srgbClr val="000000">
                    <a:alpha val="43137"/>
                  </a:srgbClr>
                </a:outerShdw>
              </a:effectLst>
            </a:endParaRPr>
          </a:p>
          <a:p>
            <a:pPr marL="265113" lvl="1" indent="0">
              <a:buNone/>
            </a:pPr>
            <a:r>
              <a:rPr lang="en-US" altLang="zh-CN" sz="2000" b="1" dirty="0">
                <a:effectLst>
                  <a:outerShdw blurRad="38100" dist="38100" dir="2700000" algn="tl">
                    <a:srgbClr val="000000">
                      <a:alpha val="43137"/>
                    </a:srgbClr>
                  </a:outerShdw>
                </a:effectLst>
              </a:rPr>
              <a:t>          return </a:t>
            </a:r>
            <a:r>
              <a:rPr lang="en-US" altLang="zh-CN" sz="2000" b="1" dirty="0" err="1">
                <a:effectLst>
                  <a:outerShdw blurRad="38100" dist="38100" dir="2700000" algn="tl">
                    <a:srgbClr val="000000">
                      <a:alpha val="43137"/>
                    </a:srgbClr>
                  </a:outerShdw>
                </a:effectLst>
              </a:rPr>
              <a:t>ch</a:t>
            </a:r>
            <a:r>
              <a:rPr lang="en-US" altLang="zh-CN" sz="2000" b="1" dirty="0">
                <a:effectLst>
                  <a:outerShdw blurRad="38100" dist="38100" dir="2700000" algn="tl">
                    <a:srgbClr val="000000">
                      <a:alpha val="43137"/>
                    </a:srgbClr>
                  </a:outerShdw>
                </a:effectLst>
              </a:rPr>
              <a:t>;  </a:t>
            </a:r>
          </a:p>
          <a:p>
            <a:pPr marL="265113" lvl="1" indent="0">
              <a:buNone/>
            </a:pPr>
            <a:r>
              <a:rPr lang="en-US" altLang="zh-CN" sz="2000" b="1" dirty="0">
                <a:solidFill>
                  <a:srgbClr val="0066FF"/>
                </a:solidFill>
                <a:effectLst>
                  <a:outerShdw blurRad="38100" dist="38100" dir="2700000" algn="tl">
                    <a:srgbClr val="000000">
                      <a:alpha val="43137"/>
                    </a:srgbClr>
                  </a:outerShdw>
                </a:effectLst>
              </a:rPr>
              <a:t>}</a:t>
            </a:r>
            <a:endParaRPr lang="zh-CN" altLang="zh-CN" sz="2000" b="1" dirty="0">
              <a:solidFill>
                <a:srgbClr val="0066FF"/>
              </a:solidFill>
              <a:effectLst>
                <a:outerShdw blurRad="38100" dist="38100" dir="2700000" algn="tl">
                  <a:srgbClr val="000000">
                    <a:alpha val="43137"/>
                  </a:srgbClr>
                </a:outerShdw>
              </a:effectLst>
            </a:endParaRPr>
          </a:p>
        </p:txBody>
      </p:sp>
      <p:sp>
        <p:nvSpPr>
          <p:cNvPr id="6" name="矩形 5"/>
          <p:cNvSpPr/>
          <p:nvPr/>
        </p:nvSpPr>
        <p:spPr>
          <a:xfrm>
            <a:off x="5080050" y="5273913"/>
            <a:ext cx="3600400" cy="1323439"/>
          </a:xfrm>
          <a:prstGeom prst="rect">
            <a:avLst/>
          </a:prstGeom>
        </p:spPr>
        <p:txBody>
          <a:bodyPr wrap="square">
            <a:spAutoFit/>
          </a:bodyPr>
          <a:lstStyle/>
          <a:p>
            <a:pPr marL="6350" indent="457200">
              <a:buNone/>
            </a:pPr>
            <a:r>
              <a:rPr lang="en-US" altLang="zh-CN" sz="2000" b="1" dirty="0">
                <a:solidFill>
                  <a:srgbClr val="FF0000"/>
                </a:solidFill>
                <a:effectLst>
                  <a:outerShdw blurRad="38100" dist="38100" dir="2700000" algn="tl">
                    <a:srgbClr val="000000">
                      <a:alpha val="43137"/>
                    </a:srgbClr>
                  </a:outerShdw>
                </a:effectLst>
              </a:rPr>
              <a:t>void</a:t>
            </a:r>
            <a:r>
              <a:rPr lang="en-US" altLang="zh-CN" sz="2000" b="1" dirty="0">
                <a:solidFill>
                  <a:srgbClr val="3333FF"/>
                </a:solidFill>
                <a:effectLst>
                  <a:outerShdw blurRad="38100" dist="38100" dir="2700000" algn="tl">
                    <a:srgbClr val="000000">
                      <a:alpha val="43137"/>
                    </a:srgbClr>
                  </a:outerShdw>
                </a:effectLst>
              </a:rPr>
              <a:t> </a:t>
            </a:r>
            <a:r>
              <a:rPr lang="en-US" altLang="zh-CN" sz="2000" b="1" dirty="0" err="1">
                <a:solidFill>
                  <a:srgbClr val="3333FF"/>
                </a:solidFill>
                <a:effectLst>
                  <a:outerShdw blurRad="38100" dist="38100" dir="2700000" algn="tl">
                    <a:srgbClr val="000000">
                      <a:alpha val="43137"/>
                    </a:srgbClr>
                  </a:outerShdw>
                </a:effectLst>
              </a:rPr>
              <a:t>print_star</a:t>
            </a:r>
            <a:r>
              <a:rPr lang="en-US" altLang="zh-CN" sz="2000" b="1" dirty="0">
                <a:solidFill>
                  <a:srgbClr val="3333FF"/>
                </a:solidFill>
                <a:effectLst>
                  <a:outerShdw blurRad="38100" dist="38100" dir="2700000" algn="tl">
                    <a:srgbClr val="000000">
                      <a:alpha val="43137"/>
                    </a:srgbClr>
                  </a:outerShdw>
                </a:effectLst>
              </a:rPr>
              <a:t>(</a:t>
            </a:r>
            <a:r>
              <a:rPr lang="en-US" altLang="zh-CN" sz="2000" b="1" dirty="0" err="1">
                <a:solidFill>
                  <a:srgbClr val="3333FF"/>
                </a:solidFill>
                <a:effectLst>
                  <a:outerShdw blurRad="38100" dist="38100" dir="2700000" algn="tl">
                    <a:srgbClr val="000000">
                      <a:alpha val="43137"/>
                    </a:srgbClr>
                  </a:outerShdw>
                </a:effectLst>
              </a:rPr>
              <a:t>int</a:t>
            </a:r>
            <a:r>
              <a:rPr lang="en-US" altLang="zh-CN" sz="2000" b="1" dirty="0">
                <a:solidFill>
                  <a:srgbClr val="3333FF"/>
                </a:solidFill>
                <a:effectLst>
                  <a:outerShdw blurRad="38100" dist="38100" dir="2700000" algn="tl">
                    <a:srgbClr val="000000">
                      <a:alpha val="43137"/>
                    </a:srgbClr>
                  </a:outerShdw>
                </a:effectLst>
              </a:rPr>
              <a:t> n</a:t>
            </a:r>
            <a:r>
              <a:rPr lang="en-US" altLang="zh-CN" sz="2000" b="1" dirty="0" smtClean="0">
                <a:solidFill>
                  <a:srgbClr val="3333FF"/>
                </a:solidFill>
                <a:effectLst>
                  <a:outerShdw blurRad="38100" dist="38100" dir="2700000" algn="tl">
                    <a:srgbClr val="000000">
                      <a:alpha val="43137"/>
                    </a:srgbClr>
                  </a:outerShdw>
                </a:effectLst>
              </a:rPr>
              <a:t>)</a:t>
            </a:r>
          </a:p>
          <a:p>
            <a:pPr marL="6350" indent="457200">
              <a:buNone/>
            </a:pPr>
            <a:r>
              <a:rPr lang="en-US" altLang="zh-CN" sz="2000" b="1" dirty="0" smtClean="0">
                <a:solidFill>
                  <a:srgbClr val="3333FF"/>
                </a:solidFill>
                <a:effectLst>
                  <a:outerShdw blurRad="38100" dist="38100" dir="2700000" algn="tl">
                    <a:srgbClr val="000000">
                      <a:alpha val="43137"/>
                    </a:srgbClr>
                  </a:outerShdw>
                </a:effectLst>
              </a:rPr>
              <a:t>{</a:t>
            </a:r>
          </a:p>
          <a:p>
            <a:pPr marL="6350" indent="457200">
              <a:buNone/>
            </a:pPr>
            <a:r>
              <a:rPr lang="en-US" altLang="zh-CN" sz="2000" b="1" dirty="0" smtClean="0">
                <a:solidFill>
                  <a:srgbClr val="3333FF"/>
                </a:solidFill>
                <a:effectLst>
                  <a:outerShdw blurRad="38100" dist="38100" dir="2700000" algn="tl">
                    <a:srgbClr val="000000">
                      <a:alpha val="43137"/>
                    </a:srgbClr>
                  </a:outerShdw>
                </a:effectLst>
              </a:rPr>
              <a:t>         </a:t>
            </a:r>
            <a:r>
              <a:rPr lang="zh-CN" altLang="en-US" sz="2000" b="1" dirty="0" smtClean="0">
                <a:solidFill>
                  <a:srgbClr val="3333FF"/>
                </a:solidFill>
                <a:effectLst>
                  <a:outerShdw blurRad="38100" dist="38100" dir="2700000" algn="tl">
                    <a:srgbClr val="000000">
                      <a:alpha val="43137"/>
                    </a:srgbClr>
                  </a:outerShdw>
                </a:effectLst>
              </a:rPr>
              <a:t>函数体</a:t>
            </a:r>
            <a:endParaRPr lang="en-US" altLang="zh-CN" sz="2000" b="1" dirty="0" smtClean="0">
              <a:solidFill>
                <a:srgbClr val="3333FF"/>
              </a:solidFill>
              <a:effectLst>
                <a:outerShdw blurRad="38100" dist="38100" dir="2700000" algn="tl">
                  <a:srgbClr val="000000">
                    <a:alpha val="43137"/>
                  </a:srgbClr>
                </a:outerShdw>
              </a:effectLst>
            </a:endParaRPr>
          </a:p>
          <a:p>
            <a:pPr marL="6350" indent="457200">
              <a:buNone/>
            </a:pPr>
            <a:r>
              <a:rPr lang="en-US" altLang="zh-CN" sz="2000" b="1" dirty="0" smtClean="0">
                <a:solidFill>
                  <a:srgbClr val="3333FF"/>
                </a:solidFill>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37577458"/>
      </p:ext>
    </p:extLst>
  </p:cSld>
  <p:clrMapOvr>
    <a:masterClrMapping/>
  </p:clrMapOvr>
  <p:transition spd="med">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函数的定义</a:t>
            </a:r>
            <a:endParaRPr lang="zh-CN" altLang="en-US" dirty="0"/>
          </a:p>
        </p:txBody>
      </p:sp>
      <p:sp>
        <p:nvSpPr>
          <p:cNvPr id="3" name="内容占位符 2"/>
          <p:cNvSpPr>
            <a:spLocks noGrp="1"/>
          </p:cNvSpPr>
          <p:nvPr>
            <p:ph idx="1"/>
          </p:nvPr>
        </p:nvSpPr>
        <p:spPr/>
        <p:txBody>
          <a:bodyPr/>
          <a:lstStyle/>
          <a:p>
            <a:pPr marL="463550" indent="-457200"/>
            <a:r>
              <a:rPr lang="zh-CN" altLang="zh-CN" dirty="0">
                <a:effectLst/>
              </a:rPr>
              <a:t>函数名</a:t>
            </a:r>
            <a:endParaRPr lang="en-US" altLang="zh-CN" dirty="0">
              <a:effectLst/>
            </a:endParaRPr>
          </a:p>
          <a:p>
            <a:pPr marL="271463" lvl="1" indent="457200">
              <a:buNone/>
            </a:pPr>
            <a:r>
              <a:rPr lang="zh-CN" altLang="zh-CN" dirty="0">
                <a:effectLst/>
              </a:rPr>
              <a:t>函数名是一个</a:t>
            </a:r>
            <a:r>
              <a:rPr lang="en-US" altLang="zh-CN" dirty="0">
                <a:effectLst/>
              </a:rPr>
              <a:t>C</a:t>
            </a:r>
            <a:r>
              <a:rPr lang="zh-CN" altLang="zh-CN" dirty="0">
                <a:effectLst/>
              </a:rPr>
              <a:t>标识符（自定义的），以便区分不同的函数，通常用函数的功能来为函数命名，例如函数名为延时</a:t>
            </a:r>
            <a:r>
              <a:rPr lang="en-US" altLang="zh-CN" dirty="0">
                <a:effectLst/>
              </a:rPr>
              <a:t>delay</a:t>
            </a:r>
            <a:r>
              <a:rPr lang="zh-CN" altLang="zh-CN" dirty="0">
                <a:effectLst/>
              </a:rPr>
              <a:t>、显示</a:t>
            </a:r>
            <a:r>
              <a:rPr lang="en-US" altLang="zh-CN" dirty="0">
                <a:effectLst/>
              </a:rPr>
              <a:t>display</a:t>
            </a:r>
            <a:r>
              <a:rPr lang="zh-CN" altLang="zh-CN" dirty="0">
                <a:effectLst/>
              </a:rPr>
              <a:t>等</a:t>
            </a:r>
            <a:endParaRPr lang="zh-CN" altLang="en-US" dirty="0"/>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18</a:t>
            </a:fld>
            <a:endParaRPr lang="en-US" altLang="zh-CN" dirty="0"/>
          </a:p>
        </p:txBody>
      </p:sp>
    </p:spTree>
    <p:extLst>
      <p:ext uri="{BB962C8B-B14F-4D97-AF65-F5344CB8AC3E}">
        <p14:creationId xmlns:p14="http://schemas.microsoft.com/office/powerpoint/2010/main" val="1181634803"/>
      </p:ext>
    </p:extLst>
  </p:cSld>
  <p:clrMapOvr>
    <a:masterClrMapping/>
  </p:clrMapOvr>
  <p:transition spd="med">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函数的定义</a:t>
            </a:r>
            <a:endParaRPr lang="zh-CN" altLang="en-US" dirty="0"/>
          </a:p>
        </p:txBody>
      </p:sp>
      <p:sp>
        <p:nvSpPr>
          <p:cNvPr id="3" name="内容占位符 2"/>
          <p:cNvSpPr>
            <a:spLocks noGrp="1"/>
          </p:cNvSpPr>
          <p:nvPr>
            <p:ph idx="1"/>
          </p:nvPr>
        </p:nvSpPr>
        <p:spPr>
          <a:xfrm>
            <a:off x="683568" y="1700213"/>
            <a:ext cx="8208838" cy="4753123"/>
          </a:xfrm>
        </p:spPr>
        <p:txBody>
          <a:bodyPr/>
          <a:lstStyle/>
          <a:p>
            <a:r>
              <a:rPr lang="zh-CN" altLang="zh-CN" dirty="0" smtClean="0">
                <a:effectLst/>
              </a:rPr>
              <a:t>形参</a:t>
            </a:r>
            <a:r>
              <a:rPr lang="zh-CN" altLang="en-US" dirty="0" smtClean="0">
                <a:effectLst/>
              </a:rPr>
              <a:t>表</a:t>
            </a:r>
            <a:endParaRPr lang="zh-CN" altLang="zh-CN" dirty="0" smtClean="0">
              <a:effectLst/>
            </a:endParaRPr>
          </a:p>
          <a:p>
            <a:pPr marL="271463" lvl="1" indent="0">
              <a:buNone/>
            </a:pPr>
            <a:r>
              <a:rPr lang="zh-CN" altLang="zh-CN" dirty="0" smtClean="0">
                <a:solidFill>
                  <a:srgbClr val="3333FF"/>
                </a:solidFill>
                <a:effectLst/>
              </a:rPr>
              <a:t>类型</a:t>
            </a:r>
            <a:r>
              <a:rPr lang="en-US" altLang="zh-CN" dirty="0">
                <a:solidFill>
                  <a:srgbClr val="3333FF"/>
                </a:solidFill>
                <a:effectLst/>
              </a:rPr>
              <a:t>1</a:t>
            </a:r>
            <a:r>
              <a:rPr lang="en-US" altLang="zh-CN" dirty="0">
                <a:effectLst/>
              </a:rPr>
              <a:t> </a:t>
            </a:r>
            <a:r>
              <a:rPr lang="zh-CN" altLang="zh-CN" dirty="0">
                <a:effectLst/>
              </a:rPr>
              <a:t>形参</a:t>
            </a:r>
            <a:r>
              <a:rPr lang="en-US" altLang="zh-CN" dirty="0">
                <a:effectLst/>
              </a:rPr>
              <a:t>1</a:t>
            </a:r>
            <a:r>
              <a:rPr lang="en-US" altLang="zh-CN" dirty="0">
                <a:solidFill>
                  <a:srgbClr val="FF0000"/>
                </a:solidFill>
                <a:effectLst/>
              </a:rPr>
              <a:t>,</a:t>
            </a:r>
            <a:r>
              <a:rPr lang="en-US" altLang="zh-CN" dirty="0">
                <a:effectLst/>
              </a:rPr>
              <a:t> </a:t>
            </a:r>
            <a:r>
              <a:rPr lang="zh-CN" altLang="zh-CN" dirty="0">
                <a:solidFill>
                  <a:srgbClr val="3333FF"/>
                </a:solidFill>
                <a:effectLst/>
              </a:rPr>
              <a:t>类型</a:t>
            </a:r>
            <a:r>
              <a:rPr lang="en-US" altLang="zh-CN" dirty="0">
                <a:solidFill>
                  <a:srgbClr val="3333FF"/>
                </a:solidFill>
                <a:effectLst/>
              </a:rPr>
              <a:t>2</a:t>
            </a:r>
            <a:r>
              <a:rPr lang="en-US" altLang="zh-CN" dirty="0">
                <a:effectLst/>
              </a:rPr>
              <a:t> </a:t>
            </a:r>
            <a:r>
              <a:rPr lang="zh-CN" altLang="zh-CN" dirty="0">
                <a:effectLst/>
              </a:rPr>
              <a:t>形参</a:t>
            </a:r>
            <a:r>
              <a:rPr lang="en-US" altLang="zh-CN" dirty="0">
                <a:effectLst/>
              </a:rPr>
              <a:t>2</a:t>
            </a:r>
            <a:r>
              <a:rPr lang="en-US" altLang="zh-CN" dirty="0">
                <a:solidFill>
                  <a:srgbClr val="FF0000"/>
                </a:solidFill>
                <a:effectLst/>
              </a:rPr>
              <a:t>,</a:t>
            </a:r>
            <a:r>
              <a:rPr lang="en-US" altLang="zh-CN" dirty="0">
                <a:effectLst/>
              </a:rPr>
              <a:t>…</a:t>
            </a:r>
            <a:r>
              <a:rPr lang="zh-CN" altLang="zh-CN" dirty="0">
                <a:solidFill>
                  <a:srgbClr val="3333FF"/>
                </a:solidFill>
                <a:effectLst/>
              </a:rPr>
              <a:t>类型</a:t>
            </a:r>
            <a:r>
              <a:rPr lang="en-US" altLang="zh-CN" dirty="0">
                <a:solidFill>
                  <a:srgbClr val="3333FF"/>
                </a:solidFill>
                <a:effectLst/>
              </a:rPr>
              <a:t>n</a:t>
            </a:r>
            <a:r>
              <a:rPr lang="en-US" altLang="zh-CN" dirty="0">
                <a:effectLst/>
              </a:rPr>
              <a:t> </a:t>
            </a:r>
            <a:r>
              <a:rPr lang="zh-CN" altLang="zh-CN" dirty="0">
                <a:effectLst/>
              </a:rPr>
              <a:t>形参</a:t>
            </a:r>
            <a:r>
              <a:rPr lang="en-US" altLang="zh-CN" dirty="0">
                <a:effectLst/>
              </a:rPr>
              <a:t>n</a:t>
            </a:r>
            <a:endParaRPr lang="zh-CN" altLang="zh-CN" dirty="0">
              <a:effectLst/>
            </a:endParaRPr>
          </a:p>
          <a:p>
            <a:pPr lvl="1"/>
            <a:r>
              <a:rPr lang="zh-CN" altLang="zh-CN" dirty="0">
                <a:solidFill>
                  <a:srgbClr val="FF3300"/>
                </a:solidFill>
                <a:effectLst/>
              </a:rPr>
              <a:t>形参必须为</a:t>
            </a:r>
            <a:r>
              <a:rPr lang="zh-CN" altLang="zh-CN" dirty="0" smtClean="0">
                <a:solidFill>
                  <a:srgbClr val="FF3300"/>
                </a:solidFill>
                <a:effectLst/>
              </a:rPr>
              <a:t>变量</a:t>
            </a:r>
            <a:endParaRPr lang="en-US" altLang="zh-CN" dirty="0">
              <a:effectLst/>
            </a:endParaRPr>
          </a:p>
          <a:p>
            <a:pPr lvl="1"/>
            <a:r>
              <a:rPr lang="zh-CN" altLang="zh-CN" dirty="0" smtClean="0">
                <a:effectLst/>
              </a:rPr>
              <a:t>各个</a:t>
            </a:r>
            <a:r>
              <a:rPr lang="zh-CN" altLang="zh-CN" dirty="0">
                <a:effectLst/>
              </a:rPr>
              <a:t>形参之间用</a:t>
            </a:r>
            <a:r>
              <a:rPr lang="zh-CN" altLang="zh-CN" dirty="0">
                <a:solidFill>
                  <a:srgbClr val="FF0000"/>
                </a:solidFill>
                <a:effectLst/>
              </a:rPr>
              <a:t>逗号</a:t>
            </a:r>
            <a:r>
              <a:rPr lang="zh-CN" altLang="zh-CN" dirty="0" smtClean="0">
                <a:effectLst/>
              </a:rPr>
              <a:t>分隔</a:t>
            </a:r>
            <a:endParaRPr lang="en-US" altLang="zh-CN" dirty="0" smtClean="0">
              <a:effectLst/>
            </a:endParaRPr>
          </a:p>
          <a:p>
            <a:pPr lvl="1"/>
            <a:r>
              <a:rPr lang="zh-CN" altLang="zh-CN" dirty="0" smtClean="0">
                <a:effectLst/>
              </a:rPr>
              <a:t>每个</a:t>
            </a:r>
            <a:r>
              <a:rPr lang="zh-CN" altLang="zh-CN" dirty="0">
                <a:effectLst/>
              </a:rPr>
              <a:t>形参前面的类型必须分别写</a:t>
            </a:r>
            <a:r>
              <a:rPr lang="zh-CN" altLang="zh-CN" dirty="0" smtClean="0">
                <a:effectLst/>
              </a:rPr>
              <a:t>明</a:t>
            </a:r>
            <a:endParaRPr lang="en-US" altLang="zh-CN" dirty="0" smtClean="0">
              <a:effectLst/>
            </a:endParaRPr>
          </a:p>
          <a:p>
            <a:pPr marL="271463" lvl="1" indent="0">
              <a:buNone/>
            </a:pPr>
            <a:r>
              <a:rPr lang="zh-CN" altLang="zh-CN" dirty="0" smtClean="0">
                <a:effectLst/>
              </a:rPr>
              <a:t>例如，定义</a:t>
            </a:r>
            <a:r>
              <a:rPr lang="zh-CN" altLang="zh-CN" dirty="0">
                <a:effectLst/>
              </a:rPr>
              <a:t>求三个整数中的最大值函数，其定义形式</a:t>
            </a:r>
            <a:r>
              <a:rPr lang="zh-CN" altLang="zh-CN" dirty="0" smtClean="0">
                <a:effectLst/>
              </a:rPr>
              <a:t>如下</a:t>
            </a:r>
            <a:r>
              <a:rPr lang="en-US" altLang="zh-CN" dirty="0" smtClean="0">
                <a:effectLst/>
              </a:rPr>
              <a:t>    </a:t>
            </a:r>
            <a:endParaRPr lang="zh-CN" altLang="zh-CN" dirty="0">
              <a:effectLst/>
            </a:endParaRPr>
          </a:p>
          <a:p>
            <a:pPr marL="271463" lvl="1" indent="0">
              <a:buNone/>
            </a:pPr>
            <a:r>
              <a:rPr lang="en-US" altLang="zh-CN" dirty="0" smtClean="0">
                <a:effectLst/>
              </a:rPr>
              <a:t>          </a:t>
            </a:r>
            <a:r>
              <a:rPr lang="en-US" altLang="zh-CN" dirty="0" err="1" smtClean="0">
                <a:effectLst/>
              </a:rPr>
              <a:t>int</a:t>
            </a:r>
            <a:r>
              <a:rPr lang="en-US" altLang="zh-CN" dirty="0" smtClean="0">
                <a:effectLst/>
              </a:rPr>
              <a:t> </a:t>
            </a:r>
            <a:r>
              <a:rPr lang="en-US" altLang="zh-CN" dirty="0">
                <a:effectLst/>
              </a:rPr>
              <a:t>max(int a,int b,int c)</a:t>
            </a:r>
            <a:endParaRPr lang="zh-CN" altLang="zh-CN" dirty="0">
              <a:effectLst/>
            </a:endParaRPr>
          </a:p>
          <a:p>
            <a:pPr marL="271463" lvl="1" indent="0">
              <a:buNone/>
            </a:pPr>
            <a:r>
              <a:rPr lang="zh-CN" altLang="zh-CN" dirty="0">
                <a:effectLst/>
              </a:rPr>
              <a:t>而不能写成：</a:t>
            </a:r>
          </a:p>
          <a:p>
            <a:pPr marL="271463" lvl="1" indent="0">
              <a:buNone/>
            </a:pPr>
            <a:r>
              <a:rPr lang="en-US" altLang="zh-CN" dirty="0" smtClean="0">
                <a:effectLst/>
              </a:rPr>
              <a:t>          </a:t>
            </a:r>
            <a:r>
              <a:rPr lang="en-US" altLang="zh-CN" dirty="0" err="1" smtClean="0">
                <a:effectLst/>
              </a:rPr>
              <a:t>int</a:t>
            </a:r>
            <a:r>
              <a:rPr lang="en-US" altLang="zh-CN" dirty="0" smtClean="0">
                <a:effectLst/>
              </a:rPr>
              <a:t> </a:t>
            </a:r>
            <a:r>
              <a:rPr lang="en-US" altLang="zh-CN" dirty="0">
                <a:effectLst/>
              </a:rPr>
              <a:t>max(int </a:t>
            </a:r>
            <a:r>
              <a:rPr lang="en-US" altLang="zh-CN" dirty="0" err="1">
                <a:effectLst/>
              </a:rPr>
              <a:t>a,b,c</a:t>
            </a:r>
            <a:r>
              <a:rPr lang="en-US" altLang="zh-CN" dirty="0" smtClean="0">
                <a:effectLst/>
              </a:rPr>
              <a:t>)</a:t>
            </a:r>
            <a:r>
              <a:rPr lang="zh-CN" altLang="en-US" dirty="0" smtClean="0">
                <a:effectLst/>
              </a:rPr>
              <a:t>（</a:t>
            </a:r>
            <a:r>
              <a:rPr lang="zh-CN" altLang="en-US" dirty="0" smtClean="0">
                <a:solidFill>
                  <a:srgbClr val="FF0000"/>
                </a:solidFill>
                <a:effectLst/>
              </a:rPr>
              <a:t>错误写法</a:t>
            </a:r>
            <a:r>
              <a:rPr lang="zh-CN" altLang="en-US" dirty="0" smtClean="0">
                <a:effectLst/>
              </a:rPr>
              <a:t>）</a:t>
            </a:r>
            <a:endParaRPr lang="zh-CN" altLang="zh-CN" dirty="0">
              <a:effectLst/>
            </a:endParaRP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19</a:t>
            </a:fld>
            <a:endParaRPr lang="en-US" altLang="zh-CN" dirty="0"/>
          </a:p>
        </p:txBody>
      </p:sp>
    </p:spTree>
    <p:extLst>
      <p:ext uri="{BB962C8B-B14F-4D97-AF65-F5344CB8AC3E}">
        <p14:creationId xmlns:p14="http://schemas.microsoft.com/office/powerpoint/2010/main" val="1184310528"/>
      </p:ext>
    </p:extLst>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函数的定义</a:t>
            </a:r>
            <a:endParaRPr lang="zh-CN" altLang="en-US" dirty="0"/>
          </a:p>
        </p:txBody>
      </p:sp>
      <p:sp>
        <p:nvSpPr>
          <p:cNvPr id="3" name="内容占位符 2"/>
          <p:cNvSpPr>
            <a:spLocks noGrp="1"/>
          </p:cNvSpPr>
          <p:nvPr>
            <p:ph idx="1"/>
          </p:nvPr>
        </p:nvSpPr>
        <p:spPr>
          <a:xfrm>
            <a:off x="755650" y="1700213"/>
            <a:ext cx="7993063" cy="4897139"/>
          </a:xfrm>
        </p:spPr>
        <p:txBody>
          <a:bodyPr/>
          <a:lstStyle/>
          <a:p>
            <a:r>
              <a:rPr lang="zh-CN" altLang="zh-CN" dirty="0">
                <a:effectLst/>
              </a:rPr>
              <a:t>函数实现</a:t>
            </a:r>
            <a:r>
              <a:rPr lang="zh-CN" altLang="zh-CN" dirty="0" smtClean="0">
                <a:effectLst/>
              </a:rPr>
              <a:t>过程</a:t>
            </a:r>
            <a:endParaRPr lang="en-US" altLang="zh-CN" dirty="0" smtClean="0">
              <a:effectLst/>
            </a:endParaRPr>
          </a:p>
          <a:p>
            <a:pPr marL="271463" lvl="1" indent="457200">
              <a:buNone/>
            </a:pPr>
            <a:r>
              <a:rPr lang="zh-CN" altLang="zh-CN" dirty="0" smtClean="0">
                <a:effectLst/>
              </a:rPr>
              <a:t>函数</a:t>
            </a:r>
            <a:r>
              <a:rPr lang="zh-CN" altLang="zh-CN" dirty="0">
                <a:effectLst/>
              </a:rPr>
              <a:t>体，由一对大括号内的若干条语句组成，用以计算，或完成特定的工作，可用</a:t>
            </a:r>
            <a:r>
              <a:rPr lang="en-US" altLang="zh-CN" dirty="0">
                <a:effectLst/>
              </a:rPr>
              <a:t>return</a:t>
            </a:r>
            <a:r>
              <a:rPr lang="zh-CN" altLang="zh-CN" dirty="0">
                <a:effectLst/>
              </a:rPr>
              <a:t>语句返回运算结果给主调函数。</a:t>
            </a:r>
          </a:p>
          <a:p>
            <a:pPr marL="271463" lvl="1" indent="0">
              <a:buNone/>
            </a:pPr>
            <a:r>
              <a:rPr lang="en-US" altLang="zh-CN" dirty="0">
                <a:effectLst/>
              </a:rPr>
              <a:t>return</a:t>
            </a:r>
            <a:r>
              <a:rPr lang="zh-CN" altLang="zh-CN" dirty="0">
                <a:effectLst/>
              </a:rPr>
              <a:t>语句的形式为：</a:t>
            </a:r>
          </a:p>
          <a:p>
            <a:pPr marL="271463" lvl="1" indent="0">
              <a:buNone/>
            </a:pPr>
            <a:r>
              <a:rPr lang="en-US" altLang="zh-CN" dirty="0" smtClean="0">
                <a:effectLst/>
              </a:rPr>
              <a:t>       </a:t>
            </a:r>
            <a:r>
              <a:rPr lang="en-US" altLang="zh-CN" dirty="0" smtClean="0">
                <a:solidFill>
                  <a:srgbClr val="0066FF"/>
                </a:solidFill>
                <a:effectLst/>
              </a:rPr>
              <a:t>return </a:t>
            </a:r>
            <a:r>
              <a:rPr lang="zh-CN" altLang="zh-CN" dirty="0">
                <a:solidFill>
                  <a:srgbClr val="0066FF"/>
                </a:solidFill>
                <a:effectLst/>
              </a:rPr>
              <a:t>表达式；</a:t>
            </a:r>
          </a:p>
          <a:p>
            <a:pPr marL="271463" lvl="1" indent="457200">
              <a:buNone/>
            </a:pPr>
            <a:r>
              <a:rPr lang="zh-CN" altLang="zh-CN" dirty="0">
                <a:effectLst/>
              </a:rPr>
              <a:t>表示本函数执行结束，执行到该语句时，停止本函数的执行，并将表达式的值返回给主调函数</a:t>
            </a:r>
            <a:r>
              <a:rPr lang="zh-CN" altLang="zh-CN" dirty="0" smtClean="0">
                <a:effectLst/>
              </a:rPr>
              <a:t>。</a:t>
            </a:r>
            <a:endParaRPr lang="en-US" altLang="zh-CN" dirty="0" smtClean="0">
              <a:effectLst/>
            </a:endParaRPr>
          </a:p>
          <a:p>
            <a:pPr marL="271463" lvl="1" indent="457200">
              <a:buNone/>
            </a:pPr>
            <a:r>
              <a:rPr lang="zh-CN" altLang="zh-CN" dirty="0" smtClean="0">
                <a:effectLst/>
              </a:rPr>
              <a:t>对于</a:t>
            </a:r>
            <a:r>
              <a:rPr lang="en-US" altLang="zh-CN" dirty="0">
                <a:solidFill>
                  <a:srgbClr val="FF0000"/>
                </a:solidFill>
                <a:effectLst/>
              </a:rPr>
              <a:t>void</a:t>
            </a:r>
            <a:r>
              <a:rPr lang="zh-CN" altLang="zh-CN" dirty="0">
                <a:effectLst/>
              </a:rPr>
              <a:t>类的函数，可以没有</a:t>
            </a:r>
            <a:r>
              <a:rPr lang="en-US" altLang="zh-CN" dirty="0">
                <a:effectLst/>
              </a:rPr>
              <a:t>return</a:t>
            </a:r>
            <a:r>
              <a:rPr lang="zh-CN" altLang="zh-CN" dirty="0">
                <a:effectLst/>
              </a:rPr>
              <a:t>语句，函数执行到最外层花括号的右括号前的语句结束。</a:t>
            </a: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20</a:t>
            </a:fld>
            <a:endParaRPr lang="en-US" altLang="zh-CN" dirty="0"/>
          </a:p>
        </p:txBody>
      </p:sp>
    </p:spTree>
    <p:extLst>
      <p:ext uri="{BB962C8B-B14F-4D97-AF65-F5344CB8AC3E}">
        <p14:creationId xmlns:p14="http://schemas.microsoft.com/office/powerpoint/2010/main" val="446075946"/>
      </p:ext>
    </p:extLst>
  </p:cSld>
  <p:clrMapOvr>
    <a:masterClrMapping/>
  </p:clrMapOvr>
  <p:transition spd="med">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函数的调用</a:t>
            </a:r>
          </a:p>
        </p:txBody>
      </p:sp>
      <p:sp>
        <p:nvSpPr>
          <p:cNvPr id="3" name="内容占位符 2"/>
          <p:cNvSpPr>
            <a:spLocks noGrp="1"/>
          </p:cNvSpPr>
          <p:nvPr>
            <p:ph idx="1"/>
          </p:nvPr>
        </p:nvSpPr>
        <p:spPr>
          <a:xfrm>
            <a:off x="755650" y="1700213"/>
            <a:ext cx="8208838" cy="4897139"/>
          </a:xfrm>
        </p:spPr>
        <p:txBody>
          <a:bodyPr/>
          <a:lstStyle/>
          <a:p>
            <a:pPr marL="271463" lvl="1" indent="457200">
              <a:buNone/>
            </a:pPr>
            <a:r>
              <a:rPr lang="zh-CN" altLang="zh-CN" dirty="0">
                <a:effectLst/>
              </a:rPr>
              <a:t>在</a:t>
            </a:r>
            <a:r>
              <a:rPr lang="en-US" altLang="zh-CN" dirty="0">
                <a:effectLst/>
              </a:rPr>
              <a:t>C</a:t>
            </a:r>
            <a:r>
              <a:rPr lang="zh-CN" altLang="zh-CN" dirty="0">
                <a:effectLst/>
              </a:rPr>
              <a:t>语言中，调用标准库函数时，只须用</a:t>
            </a:r>
            <a:r>
              <a:rPr lang="en-US" altLang="zh-CN" dirty="0">
                <a:solidFill>
                  <a:srgbClr val="FF3300"/>
                </a:solidFill>
                <a:effectLst/>
              </a:rPr>
              <a:t>#include</a:t>
            </a:r>
            <a:r>
              <a:rPr lang="zh-CN" altLang="zh-CN" dirty="0">
                <a:effectLst/>
              </a:rPr>
              <a:t>命令把相关的头文件包含到本文件模块中，即可在程序中直接调用。而调用自定义函数时，</a:t>
            </a:r>
            <a:r>
              <a:rPr lang="zh-CN" altLang="zh-CN" dirty="0">
                <a:solidFill>
                  <a:srgbClr val="FF3300"/>
                </a:solidFill>
                <a:effectLst/>
              </a:rPr>
              <a:t>必须先定义并声明函数</a:t>
            </a:r>
            <a:r>
              <a:rPr lang="zh-CN" altLang="zh-CN" dirty="0">
                <a:effectLst/>
              </a:rPr>
              <a:t>，之后再根据定义函数的格式调用</a:t>
            </a:r>
            <a:r>
              <a:rPr lang="zh-CN" altLang="zh-CN" dirty="0" smtClean="0">
                <a:effectLst/>
              </a:rPr>
              <a:t>。</a:t>
            </a:r>
            <a:endParaRPr lang="en-US" altLang="zh-CN" dirty="0" smtClean="0">
              <a:effectLst/>
            </a:endParaRPr>
          </a:p>
          <a:p>
            <a:pPr marL="463550" indent="-457200"/>
            <a:r>
              <a:rPr lang="zh-CN" altLang="zh-CN" dirty="0">
                <a:effectLst/>
              </a:rPr>
              <a:t>函数调用的一般</a:t>
            </a:r>
            <a:r>
              <a:rPr lang="zh-CN" altLang="zh-CN" dirty="0" smtClean="0">
                <a:effectLst/>
              </a:rPr>
              <a:t>形式</a:t>
            </a:r>
            <a:endParaRPr lang="en-US" altLang="zh-CN" dirty="0" smtClean="0">
              <a:effectLst/>
            </a:endParaRPr>
          </a:p>
          <a:p>
            <a:pPr marL="271463" lvl="1" indent="0">
              <a:buNone/>
            </a:pPr>
            <a:r>
              <a:rPr lang="zh-CN" altLang="zh-CN" dirty="0">
                <a:solidFill>
                  <a:srgbClr val="FF3300"/>
                </a:solidFill>
                <a:effectLst/>
              </a:rPr>
              <a:t>函数名（实际参数表）</a:t>
            </a:r>
          </a:p>
          <a:p>
            <a:pPr marL="271463" lvl="1" indent="457200">
              <a:buNone/>
            </a:pPr>
            <a:r>
              <a:rPr lang="zh-CN" altLang="zh-CN" dirty="0" smtClean="0">
                <a:effectLst/>
              </a:rPr>
              <a:t>实际</a:t>
            </a:r>
            <a:r>
              <a:rPr lang="zh-CN" altLang="zh-CN" dirty="0">
                <a:effectLst/>
              </a:rPr>
              <a:t>参数可以是常量、变量和表达式。</a:t>
            </a:r>
          </a:p>
          <a:p>
            <a:pPr marL="271463" lvl="1" indent="457200">
              <a:buNone/>
            </a:pPr>
            <a:r>
              <a:rPr lang="zh-CN" altLang="zh-CN" dirty="0">
                <a:effectLst/>
              </a:rPr>
              <a:t>如果实际参数表中包括多个实参，则各参数间用</a:t>
            </a:r>
            <a:r>
              <a:rPr lang="zh-CN" altLang="zh-CN" dirty="0">
                <a:solidFill>
                  <a:srgbClr val="FF3300"/>
                </a:solidFill>
                <a:effectLst/>
              </a:rPr>
              <a:t>逗号</a:t>
            </a:r>
            <a:r>
              <a:rPr lang="zh-CN" altLang="zh-CN" dirty="0">
                <a:effectLst/>
              </a:rPr>
              <a:t>分隔。实参与形参的</a:t>
            </a:r>
            <a:r>
              <a:rPr lang="zh-CN" altLang="zh-CN" dirty="0">
                <a:solidFill>
                  <a:srgbClr val="FF0000"/>
                </a:solidFill>
                <a:effectLst/>
              </a:rPr>
              <a:t>个数应相等</a:t>
            </a:r>
            <a:r>
              <a:rPr lang="zh-CN" altLang="zh-CN" dirty="0">
                <a:effectLst/>
              </a:rPr>
              <a:t>，</a:t>
            </a:r>
            <a:r>
              <a:rPr lang="zh-CN" altLang="zh-CN" dirty="0">
                <a:solidFill>
                  <a:srgbClr val="FF0000"/>
                </a:solidFill>
                <a:effectLst/>
              </a:rPr>
              <a:t>类型应匹配</a:t>
            </a:r>
            <a:r>
              <a:rPr lang="zh-CN" altLang="zh-CN" dirty="0">
                <a:effectLst/>
              </a:rPr>
              <a:t>，实参与形参</a:t>
            </a:r>
            <a:r>
              <a:rPr lang="zh-CN" altLang="zh-CN" dirty="0">
                <a:solidFill>
                  <a:srgbClr val="FF0000"/>
                </a:solidFill>
                <a:effectLst/>
              </a:rPr>
              <a:t>顺序对应</a:t>
            </a:r>
            <a:r>
              <a:rPr lang="zh-CN" altLang="zh-CN" dirty="0">
                <a:effectLst/>
              </a:rPr>
              <a:t>，向形参传递数据。</a:t>
            </a: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21</a:t>
            </a:fld>
            <a:endParaRPr lang="en-US" altLang="zh-CN" dirty="0"/>
          </a:p>
        </p:txBody>
      </p:sp>
    </p:spTree>
    <p:extLst>
      <p:ext uri="{BB962C8B-B14F-4D97-AF65-F5344CB8AC3E}">
        <p14:creationId xmlns:p14="http://schemas.microsoft.com/office/powerpoint/2010/main" val="419928808"/>
      </p:ext>
    </p:extLst>
  </p:cSld>
  <p:clrMapOvr>
    <a:masterClrMapping/>
  </p:clrMapOvr>
  <p:transition spd="med">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p:txBody>
          <a:bodyPr/>
          <a:lstStyle/>
          <a:p>
            <a:r>
              <a:rPr lang="zh-CN" altLang="zh-CN" dirty="0">
                <a:effectLst/>
              </a:rPr>
              <a:t>函数的调用</a:t>
            </a:r>
            <a:r>
              <a:rPr lang="zh-CN" altLang="zh-CN" dirty="0" smtClean="0">
                <a:effectLst/>
              </a:rPr>
              <a:t>过程</a:t>
            </a:r>
            <a:endParaRPr lang="en-US" altLang="zh-CN" dirty="0" smtClean="0">
              <a:effectLst/>
            </a:endParaRPr>
          </a:p>
          <a:p>
            <a:pPr marL="271463" lvl="1" indent="457200">
              <a:buNone/>
            </a:pPr>
            <a:r>
              <a:rPr lang="zh-CN" altLang="zh-CN" dirty="0">
                <a:effectLst/>
              </a:rPr>
              <a:t>任何</a:t>
            </a:r>
            <a:r>
              <a:rPr lang="en-US" altLang="zh-CN" dirty="0">
                <a:effectLst/>
              </a:rPr>
              <a:t>C</a:t>
            </a:r>
            <a:r>
              <a:rPr lang="zh-CN" altLang="zh-CN" dirty="0">
                <a:effectLst/>
              </a:rPr>
              <a:t>程序，总是从主函数</a:t>
            </a:r>
            <a:r>
              <a:rPr lang="en-US" altLang="zh-CN" dirty="0">
                <a:effectLst/>
              </a:rPr>
              <a:t>main</a:t>
            </a:r>
            <a:r>
              <a:rPr lang="zh-CN" altLang="zh-CN" dirty="0">
                <a:effectLst/>
              </a:rPr>
              <a:t>开始执行，如果遇到某个函数调用，主函数被暂停执行，转而执行相应的被调函数，该函数执行结束后，返回主函数，从原先暂停位置继续执行</a:t>
            </a:r>
            <a:r>
              <a:rPr lang="zh-CN" altLang="zh-CN" dirty="0" smtClean="0">
                <a:effectLst/>
              </a:rPr>
              <a:t>。</a:t>
            </a:r>
            <a:endParaRPr lang="en-US" altLang="zh-CN" dirty="0" smtClean="0">
              <a:effectLst/>
            </a:endParaRPr>
          </a:p>
          <a:p>
            <a:pPr marL="271463" lvl="1" indent="45720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22</a:t>
            </a:fld>
            <a:endParaRPr lang="en-US" altLang="zh-CN" dirty="0"/>
          </a:p>
        </p:txBody>
      </p:sp>
    </p:spTree>
    <p:extLst>
      <p:ext uri="{BB962C8B-B14F-4D97-AF65-F5344CB8AC3E}">
        <p14:creationId xmlns:p14="http://schemas.microsoft.com/office/powerpoint/2010/main" val="30629736"/>
      </p:ext>
    </p:extLst>
  </p:cSld>
  <p:clrMapOvr>
    <a:masterClrMapping/>
  </p:clrMapOvr>
  <p:transition spd="med">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sz="half" idx="1"/>
          </p:nvPr>
        </p:nvSpPr>
        <p:spPr>
          <a:xfrm>
            <a:off x="611560" y="1700808"/>
            <a:ext cx="6480646" cy="1224731"/>
          </a:xfrm>
        </p:spPr>
        <p:txBody>
          <a:bodyPr/>
          <a:lstStyle/>
          <a:p>
            <a:pPr marL="265113" lvl="1" indent="0">
              <a:buNone/>
            </a:pPr>
            <a:r>
              <a:rPr lang="zh-CN" altLang="zh-CN" dirty="0">
                <a:effectLst/>
              </a:rPr>
              <a:t>【例</a:t>
            </a:r>
            <a:r>
              <a:rPr lang="en-US" altLang="zh-CN" dirty="0">
                <a:effectLst/>
              </a:rPr>
              <a:t>5-4</a:t>
            </a:r>
            <a:r>
              <a:rPr lang="zh-CN" altLang="zh-CN" dirty="0">
                <a:effectLst/>
              </a:rPr>
              <a:t>】将指定字符</a:t>
            </a:r>
            <a:r>
              <a:rPr lang="en-US" altLang="zh-CN" dirty="0">
                <a:effectLst/>
              </a:rPr>
              <a:t>ch</a:t>
            </a:r>
            <a:r>
              <a:rPr lang="zh-CN" altLang="zh-CN" dirty="0">
                <a:effectLst/>
              </a:rPr>
              <a:t>打印</a:t>
            </a:r>
            <a:r>
              <a:rPr lang="en-US" altLang="zh-CN" dirty="0">
                <a:effectLst/>
              </a:rPr>
              <a:t>n</a:t>
            </a:r>
            <a:r>
              <a:rPr lang="zh-CN" altLang="zh-CN" dirty="0">
                <a:effectLst/>
              </a:rPr>
              <a:t>次</a:t>
            </a:r>
            <a:r>
              <a:rPr lang="zh-CN" altLang="zh-CN" dirty="0" smtClean="0">
                <a:effectLst/>
              </a:rPr>
              <a:t>。</a:t>
            </a:r>
            <a:endParaRPr lang="en-US" altLang="zh-CN" dirty="0" smtClean="0">
              <a:effectLst/>
            </a:endParaRPr>
          </a:p>
          <a:p>
            <a:pPr marL="265113" lvl="1" indent="0">
              <a:buNone/>
            </a:pPr>
            <a:r>
              <a:rPr lang="zh-CN" altLang="zh-CN" dirty="0">
                <a:effectLst/>
              </a:rPr>
              <a:t>此程序的运行结果如下图所示</a:t>
            </a:r>
            <a:r>
              <a:rPr lang="zh-CN" altLang="zh-CN" dirty="0" smtClean="0">
                <a:effectLst/>
              </a:rPr>
              <a:t>：</a:t>
            </a:r>
            <a:endParaRPr lang="en-US" altLang="zh-CN" dirty="0" smtClean="0">
              <a:effectLst/>
            </a:endParaRPr>
          </a:p>
          <a:p>
            <a:pPr marL="265113" lvl="1" indent="0">
              <a:buNone/>
            </a:pPr>
            <a:endParaRPr lang="zh-CN" altLang="zh-CN" dirty="0">
              <a:effectLst/>
            </a:endParaRPr>
          </a:p>
          <a:p>
            <a:pPr marL="26511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23</a:t>
            </a:fld>
            <a:endParaRPr lang="en-US" altLang="zh-C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2824373"/>
            <a:ext cx="2777463" cy="833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a:spLocks noGrp="1"/>
          </p:cNvSpPr>
          <p:nvPr>
            <p:ph sz="half" idx="1"/>
          </p:nvPr>
        </p:nvSpPr>
        <p:spPr>
          <a:xfrm>
            <a:off x="738174" y="3861048"/>
            <a:ext cx="6354032" cy="1512168"/>
          </a:xfrm>
        </p:spPr>
        <p:txBody>
          <a:bodyPr/>
          <a:lstStyle/>
          <a:p>
            <a:pPr marL="608013" lvl="1" indent="-342900"/>
            <a:r>
              <a:rPr lang="zh-CN" altLang="en-US" dirty="0" smtClean="0">
                <a:solidFill>
                  <a:srgbClr val="3333FF"/>
                </a:solidFill>
                <a:effectLst/>
              </a:rPr>
              <a:t>主函数：读入指定字符和打印次数</a:t>
            </a:r>
            <a:endParaRPr lang="en-US" altLang="zh-CN" dirty="0" smtClean="0">
              <a:solidFill>
                <a:srgbClr val="3333FF"/>
              </a:solidFill>
              <a:effectLst/>
            </a:endParaRPr>
          </a:p>
          <a:p>
            <a:pPr marL="608013" lvl="1" indent="-342900"/>
            <a:r>
              <a:rPr lang="zh-CN" altLang="en-US" dirty="0" smtClean="0">
                <a:solidFill>
                  <a:srgbClr val="3333FF"/>
                </a:solidFill>
                <a:effectLst/>
              </a:rPr>
              <a:t>子函数：输出</a:t>
            </a:r>
            <a:r>
              <a:rPr lang="en-US" altLang="zh-CN" dirty="0" smtClean="0">
                <a:solidFill>
                  <a:srgbClr val="3333FF"/>
                </a:solidFill>
                <a:effectLst/>
              </a:rPr>
              <a:t>n</a:t>
            </a:r>
            <a:r>
              <a:rPr lang="zh-CN" altLang="en-US" dirty="0" smtClean="0">
                <a:solidFill>
                  <a:srgbClr val="3333FF"/>
                </a:solidFill>
                <a:effectLst/>
              </a:rPr>
              <a:t>次指定字符</a:t>
            </a:r>
            <a:endParaRPr lang="en-US" altLang="zh-CN" dirty="0" smtClean="0">
              <a:solidFill>
                <a:srgbClr val="3333FF"/>
              </a:solidFill>
              <a:effectLst/>
            </a:endParaRPr>
          </a:p>
          <a:p>
            <a:pPr marL="608013" lvl="1" indent="-342900"/>
            <a:r>
              <a:rPr lang="zh-CN" altLang="en-US" dirty="0" smtClean="0">
                <a:solidFill>
                  <a:srgbClr val="3333FF"/>
                </a:solidFill>
                <a:effectLst/>
              </a:rPr>
              <a:t>需要传递的函数参数：</a:t>
            </a:r>
            <a:r>
              <a:rPr lang="en-US" altLang="zh-CN" dirty="0" smtClean="0">
                <a:solidFill>
                  <a:srgbClr val="3333FF"/>
                </a:solidFill>
                <a:effectLst/>
              </a:rPr>
              <a:t>char </a:t>
            </a:r>
            <a:r>
              <a:rPr lang="en-US" altLang="zh-CN" dirty="0" err="1" smtClean="0">
                <a:solidFill>
                  <a:srgbClr val="3333FF"/>
                </a:solidFill>
                <a:effectLst/>
              </a:rPr>
              <a:t>ch,int</a:t>
            </a:r>
            <a:r>
              <a:rPr lang="en-US" altLang="zh-CN" dirty="0" smtClean="0">
                <a:solidFill>
                  <a:srgbClr val="3333FF"/>
                </a:solidFill>
                <a:effectLst/>
              </a:rPr>
              <a:t> m</a:t>
            </a:r>
            <a:endParaRPr lang="zh-CN" altLang="zh-CN" dirty="0">
              <a:solidFill>
                <a:srgbClr val="3333FF"/>
              </a:solidFill>
              <a:effectLst/>
            </a:endParaRPr>
          </a:p>
        </p:txBody>
      </p:sp>
    </p:spTree>
    <p:extLst>
      <p:ext uri="{BB962C8B-B14F-4D97-AF65-F5344CB8AC3E}">
        <p14:creationId xmlns:p14="http://schemas.microsoft.com/office/powerpoint/2010/main" val="4166719134"/>
      </p:ext>
    </p:extLst>
  </p:cSld>
  <p:clrMapOvr>
    <a:masterClrMapping/>
  </p:clrMapOvr>
  <p:transition spd="med">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p:txBody>
          <a:bodyPr/>
          <a:lstStyle/>
          <a:p>
            <a:pPr marL="0" indent="0">
              <a:buNone/>
            </a:pPr>
            <a:r>
              <a:rPr lang="en-US" altLang="zh-CN" sz="1800" dirty="0">
                <a:effectLst/>
              </a:rPr>
              <a:t>#include &lt;stdio.h&gt;</a:t>
            </a:r>
            <a:endParaRPr lang="zh-CN" altLang="zh-CN" sz="1800" dirty="0">
              <a:effectLst/>
            </a:endParaRPr>
          </a:p>
          <a:p>
            <a:pPr marL="0" indent="0">
              <a:buNone/>
            </a:pPr>
            <a:r>
              <a:rPr lang="en-US" altLang="zh-CN" sz="1800" dirty="0">
                <a:effectLst/>
              </a:rPr>
              <a:t>void printchar(char c,int n);    //</a:t>
            </a:r>
            <a:r>
              <a:rPr lang="zh-CN" altLang="zh-CN" sz="1800" dirty="0">
                <a:effectLst/>
              </a:rPr>
              <a:t>函数声明</a:t>
            </a:r>
          </a:p>
          <a:p>
            <a:pPr marL="0" indent="0">
              <a:buNone/>
            </a:pPr>
            <a:r>
              <a:rPr lang="en-US" altLang="zh-CN" sz="1800" dirty="0">
                <a:effectLst/>
              </a:rPr>
              <a:t>int main()  //</a:t>
            </a:r>
            <a:r>
              <a:rPr lang="zh-CN" altLang="zh-CN" sz="1800" dirty="0">
                <a:effectLst/>
              </a:rPr>
              <a:t>主调函数</a:t>
            </a:r>
            <a:r>
              <a:rPr lang="en-US" altLang="zh-CN" sz="1800" dirty="0">
                <a:effectLst/>
              </a:rPr>
              <a:t>                     </a:t>
            </a:r>
            <a:endParaRPr lang="zh-CN" altLang="zh-CN" sz="1800" dirty="0">
              <a:effectLst/>
            </a:endParaRPr>
          </a:p>
          <a:p>
            <a:pPr marL="0" indent="0">
              <a:buNone/>
            </a:pPr>
            <a:r>
              <a:rPr lang="en-US" altLang="zh-CN" sz="1800" dirty="0">
                <a:effectLst/>
              </a:rPr>
              <a:t>{                                       </a:t>
            </a:r>
            <a:endParaRPr lang="zh-CN" altLang="zh-CN" sz="1800" dirty="0">
              <a:effectLst/>
            </a:endParaRPr>
          </a:p>
          <a:p>
            <a:pPr marL="0" indent="0">
              <a:buNone/>
            </a:pPr>
            <a:r>
              <a:rPr lang="en-US" altLang="zh-CN" sz="1800" dirty="0">
                <a:effectLst/>
              </a:rPr>
              <a:t>    int n;                               </a:t>
            </a:r>
            <a:endParaRPr lang="zh-CN" altLang="zh-CN" sz="1800" dirty="0">
              <a:effectLst/>
            </a:endParaRPr>
          </a:p>
          <a:p>
            <a:pPr marL="0" indent="0">
              <a:buNone/>
            </a:pPr>
            <a:r>
              <a:rPr lang="en-US" altLang="zh-CN" sz="1800" dirty="0">
                <a:effectLst/>
              </a:rPr>
              <a:t>    char ch;                             </a:t>
            </a:r>
            <a:r>
              <a:rPr lang="en-US" altLang="zh-CN" sz="1800" dirty="0" smtClean="0">
                <a:effectLst/>
              </a:rPr>
              <a:t>          void </a:t>
            </a:r>
            <a:r>
              <a:rPr lang="en-US" altLang="zh-CN" sz="1800" dirty="0">
                <a:effectLst/>
              </a:rPr>
              <a:t>printchar(char </a:t>
            </a:r>
            <a:r>
              <a:rPr lang="en-US" altLang="zh-CN" sz="1800" dirty="0" err="1">
                <a:effectLst/>
              </a:rPr>
              <a:t>c,int</a:t>
            </a:r>
            <a:r>
              <a:rPr lang="en-US" altLang="zh-CN" sz="1800" dirty="0">
                <a:effectLst/>
              </a:rPr>
              <a:t> </a:t>
            </a:r>
            <a:r>
              <a:rPr lang="en-US" altLang="zh-CN" sz="1800" dirty="0" smtClean="0">
                <a:effectLst/>
              </a:rPr>
              <a:t>m)   </a:t>
            </a:r>
            <a:r>
              <a:rPr lang="en-US" altLang="zh-CN" sz="1800" dirty="0">
                <a:effectLst/>
              </a:rPr>
              <a:t>//</a:t>
            </a:r>
            <a:r>
              <a:rPr lang="zh-CN" altLang="zh-CN" sz="1800" dirty="0">
                <a:effectLst/>
              </a:rPr>
              <a:t>被调函数</a:t>
            </a:r>
          </a:p>
          <a:p>
            <a:pPr marL="0" indent="0">
              <a:buNone/>
            </a:pPr>
            <a:r>
              <a:rPr lang="en-US" altLang="zh-CN" sz="1800" dirty="0">
                <a:effectLst/>
              </a:rPr>
              <a:t>    printf("Enter a character:");              {</a:t>
            </a:r>
            <a:endParaRPr lang="zh-CN" altLang="zh-CN" sz="1800" dirty="0">
              <a:effectLst/>
            </a:endParaRPr>
          </a:p>
          <a:p>
            <a:pPr marL="0" indent="0">
              <a:buNone/>
            </a:pPr>
            <a:r>
              <a:rPr lang="en-US" altLang="zh-CN" sz="1800" dirty="0">
                <a:effectLst/>
              </a:rPr>
              <a:t>    ch=getchar();                             </a:t>
            </a:r>
            <a:r>
              <a:rPr lang="en-US" altLang="zh-CN" sz="1800" dirty="0" smtClean="0">
                <a:effectLst/>
              </a:rPr>
              <a:t>            int </a:t>
            </a:r>
            <a:r>
              <a:rPr lang="en-US" altLang="zh-CN" sz="1800" dirty="0">
                <a:effectLst/>
              </a:rPr>
              <a:t>i;</a:t>
            </a:r>
            <a:endParaRPr lang="zh-CN" altLang="zh-CN" sz="1800" dirty="0">
              <a:effectLst/>
            </a:endParaRPr>
          </a:p>
          <a:p>
            <a:pPr marL="0" indent="0">
              <a:buNone/>
            </a:pPr>
            <a:r>
              <a:rPr lang="en-US" altLang="zh-CN" sz="1800" dirty="0">
                <a:effectLst/>
              </a:rPr>
              <a:t>    printf("Enter print times");                 </a:t>
            </a:r>
            <a:r>
              <a:rPr lang="en-US" altLang="zh-CN" sz="1800" dirty="0" smtClean="0">
                <a:effectLst/>
              </a:rPr>
              <a:t>  </a:t>
            </a:r>
            <a:r>
              <a:rPr lang="en-US" altLang="zh-CN" sz="1800" dirty="0">
                <a:effectLst/>
              </a:rPr>
              <a:t>for(</a:t>
            </a:r>
            <a:r>
              <a:rPr lang="en-US" altLang="zh-CN" sz="1800" dirty="0" err="1">
                <a:effectLst/>
              </a:rPr>
              <a:t>i</a:t>
            </a:r>
            <a:r>
              <a:rPr lang="en-US" altLang="zh-CN" sz="1800" dirty="0">
                <a:effectLst/>
              </a:rPr>
              <a:t>=1;i</a:t>
            </a:r>
            <a:r>
              <a:rPr lang="en-US" altLang="zh-CN" sz="1800" dirty="0" smtClean="0">
                <a:effectLst/>
              </a:rPr>
              <a:t>&lt;=</a:t>
            </a:r>
            <a:r>
              <a:rPr lang="en-US" altLang="zh-CN" sz="1800" dirty="0" err="1" smtClean="0">
                <a:effectLst/>
              </a:rPr>
              <a:t>m;i</a:t>
            </a:r>
            <a:r>
              <a:rPr lang="en-US" altLang="zh-CN" sz="1800" dirty="0">
                <a:effectLst/>
              </a:rPr>
              <a:t>++)</a:t>
            </a:r>
            <a:endParaRPr lang="zh-CN" altLang="zh-CN" sz="1800" dirty="0">
              <a:effectLst/>
            </a:endParaRPr>
          </a:p>
          <a:p>
            <a:pPr marL="0" indent="0">
              <a:buNone/>
            </a:pPr>
            <a:r>
              <a:rPr lang="en-US" altLang="zh-CN" sz="1800" dirty="0">
                <a:effectLst/>
              </a:rPr>
              <a:t>    scanf("%d",&amp;n);                           </a:t>
            </a:r>
            <a:r>
              <a:rPr lang="en-US" altLang="zh-CN" sz="1800" dirty="0" smtClean="0">
                <a:effectLst/>
              </a:rPr>
              <a:t>             </a:t>
            </a:r>
            <a:r>
              <a:rPr lang="en-US" altLang="zh-CN" sz="1800" dirty="0">
                <a:effectLst/>
              </a:rPr>
              <a:t>putchar(c);</a:t>
            </a:r>
            <a:endParaRPr lang="zh-CN" altLang="zh-CN" sz="1800" dirty="0">
              <a:effectLst/>
            </a:endParaRPr>
          </a:p>
          <a:p>
            <a:pPr marL="0" indent="0">
              <a:buNone/>
            </a:pPr>
            <a:r>
              <a:rPr lang="en-US" altLang="zh-CN" sz="1800" dirty="0">
                <a:effectLst/>
              </a:rPr>
              <a:t>    printchar(ch,n); //</a:t>
            </a:r>
            <a:r>
              <a:rPr lang="zh-CN" altLang="zh-CN" sz="1800" dirty="0">
                <a:effectLst/>
              </a:rPr>
              <a:t>函数调用</a:t>
            </a:r>
            <a:r>
              <a:rPr lang="en-US" altLang="zh-CN" sz="1800" dirty="0">
                <a:effectLst/>
              </a:rPr>
              <a:t>                  </a:t>
            </a:r>
            <a:r>
              <a:rPr lang="en-US" altLang="zh-CN" sz="1800" dirty="0" smtClean="0">
                <a:effectLst/>
              </a:rPr>
              <a:t>  </a:t>
            </a:r>
            <a:r>
              <a:rPr lang="en-US" altLang="zh-CN" sz="1800" dirty="0" err="1" smtClean="0">
                <a:effectLst/>
              </a:rPr>
              <a:t>printf</a:t>
            </a:r>
            <a:r>
              <a:rPr lang="en-US" altLang="zh-CN" sz="1800" dirty="0">
                <a:effectLst/>
              </a:rPr>
              <a:t>("\n");</a:t>
            </a:r>
            <a:endParaRPr lang="zh-CN" altLang="zh-CN" sz="1800" dirty="0">
              <a:effectLst/>
            </a:endParaRPr>
          </a:p>
          <a:p>
            <a:pPr marL="0" indent="0">
              <a:buNone/>
            </a:pPr>
            <a:r>
              <a:rPr lang="en-US" altLang="zh-CN" sz="1800" dirty="0">
                <a:effectLst/>
              </a:rPr>
              <a:t>    return 0;                            </a:t>
            </a:r>
            <a:r>
              <a:rPr lang="en-US" altLang="zh-CN" sz="1800" dirty="0" smtClean="0">
                <a:effectLst/>
              </a:rPr>
              <a:t>                 </a:t>
            </a:r>
            <a:r>
              <a:rPr lang="en-US" altLang="zh-CN" sz="1800" dirty="0">
                <a:effectLst/>
              </a:rPr>
              <a:t>}</a:t>
            </a:r>
            <a:endParaRPr lang="zh-CN" altLang="zh-CN" sz="1800" dirty="0">
              <a:effectLst/>
            </a:endParaRPr>
          </a:p>
          <a:p>
            <a:pPr marL="0" indent="0">
              <a:buNone/>
            </a:pPr>
            <a:r>
              <a:rPr lang="en-US" altLang="zh-CN" sz="1800" dirty="0">
                <a:effectLst/>
              </a:rPr>
              <a:t>}</a:t>
            </a:r>
            <a:endParaRPr lang="zh-CN" altLang="zh-CN" sz="1800" dirty="0">
              <a:effectLst/>
            </a:endParaRP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24</a:t>
            </a:fld>
            <a:endParaRPr lang="en-US" altLang="zh-CN" dirty="0"/>
          </a:p>
        </p:txBody>
      </p:sp>
      <p:cxnSp>
        <p:nvCxnSpPr>
          <p:cNvPr id="7" name="直接箭头连接符 6"/>
          <p:cNvCxnSpPr/>
          <p:nvPr/>
        </p:nvCxnSpPr>
        <p:spPr bwMode="auto">
          <a:xfrm flipH="1">
            <a:off x="3995936" y="2636912"/>
            <a:ext cx="72008" cy="324036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flipV="1">
            <a:off x="4067944" y="3933056"/>
            <a:ext cx="576064" cy="1944216"/>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箭头连接符 10"/>
          <p:cNvCxnSpPr/>
          <p:nvPr/>
        </p:nvCxnSpPr>
        <p:spPr bwMode="auto">
          <a:xfrm>
            <a:off x="4644008" y="3933056"/>
            <a:ext cx="0" cy="2232248"/>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箭头连接符 12"/>
          <p:cNvCxnSpPr/>
          <p:nvPr/>
        </p:nvCxnSpPr>
        <p:spPr bwMode="auto">
          <a:xfrm flipH="1" flipV="1">
            <a:off x="4031940" y="5877272"/>
            <a:ext cx="612068" cy="28803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700850"/>
            <a:ext cx="2777463" cy="833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bwMode="auto">
          <a:xfrm>
            <a:off x="5076056" y="1772816"/>
            <a:ext cx="4072953" cy="12241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1800" kern="0" dirty="0" smtClean="0">
                <a:solidFill>
                  <a:srgbClr val="0066FF"/>
                </a:solidFill>
                <a:effectLst/>
              </a:rPr>
              <a:t>主函数：读入指定字符和打印次数</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子函数：输出</a:t>
            </a:r>
            <a:r>
              <a:rPr lang="en-US" altLang="zh-CN" sz="1800" kern="0" dirty="0" smtClean="0">
                <a:solidFill>
                  <a:srgbClr val="0066FF"/>
                </a:solidFill>
                <a:effectLst/>
              </a:rPr>
              <a:t>n</a:t>
            </a:r>
            <a:r>
              <a:rPr lang="zh-CN" altLang="en-US" sz="1800" kern="0" dirty="0" smtClean="0">
                <a:solidFill>
                  <a:srgbClr val="0066FF"/>
                </a:solidFill>
                <a:effectLst/>
              </a:rPr>
              <a:t>次指定字符</a:t>
            </a:r>
            <a:endParaRPr lang="en-US" altLang="zh-CN" sz="1800" kern="0" dirty="0" smtClean="0">
              <a:solidFill>
                <a:srgbClr val="0066FF"/>
              </a:solidFill>
              <a:effectLst/>
            </a:endParaRPr>
          </a:p>
          <a:p>
            <a:pPr marL="265113" lvl="1" indent="0">
              <a:buNone/>
            </a:pPr>
            <a:r>
              <a:rPr lang="zh-CN" altLang="en-US" sz="1800" kern="0" dirty="0" smtClean="0">
                <a:solidFill>
                  <a:srgbClr val="0066FF"/>
                </a:solidFill>
                <a:effectLst/>
              </a:rPr>
              <a:t>需要传递的函数参数：</a:t>
            </a:r>
            <a:r>
              <a:rPr lang="en-US" altLang="zh-CN" sz="1800" kern="0" dirty="0" smtClean="0">
                <a:solidFill>
                  <a:srgbClr val="0066FF"/>
                </a:solidFill>
                <a:effectLst/>
              </a:rPr>
              <a:t>char </a:t>
            </a:r>
            <a:r>
              <a:rPr lang="en-US" altLang="zh-CN" sz="1800" kern="0" dirty="0" err="1" smtClean="0">
                <a:solidFill>
                  <a:srgbClr val="0066FF"/>
                </a:solidFill>
                <a:effectLst/>
              </a:rPr>
              <a:t>ch,int</a:t>
            </a:r>
            <a:r>
              <a:rPr lang="en-US" altLang="zh-CN" sz="1800" kern="0" dirty="0" smtClean="0">
                <a:solidFill>
                  <a:srgbClr val="0066FF"/>
                </a:solidFill>
                <a:effectLst/>
              </a:rPr>
              <a:t> m</a:t>
            </a:r>
            <a:endParaRPr lang="zh-CN" altLang="zh-CN" sz="1800" kern="0" dirty="0">
              <a:solidFill>
                <a:srgbClr val="0066FF"/>
              </a:solidFill>
              <a:effectLst/>
            </a:endParaRPr>
          </a:p>
        </p:txBody>
      </p:sp>
    </p:spTree>
    <p:extLst>
      <p:ext uri="{BB962C8B-B14F-4D97-AF65-F5344CB8AC3E}">
        <p14:creationId xmlns:p14="http://schemas.microsoft.com/office/powerpoint/2010/main" val="299752156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1+#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a:xfrm>
            <a:off x="755650" y="1700213"/>
            <a:ext cx="7993063" cy="5030787"/>
          </a:xfrm>
        </p:spPr>
        <p:txBody>
          <a:bodyPr/>
          <a:lstStyle/>
          <a:p>
            <a:r>
              <a:rPr lang="zh-CN" altLang="zh-CN" dirty="0">
                <a:effectLst/>
              </a:rPr>
              <a:t>函数调用</a:t>
            </a:r>
            <a:r>
              <a:rPr lang="zh-CN" altLang="zh-CN" dirty="0" smtClean="0">
                <a:effectLst/>
              </a:rPr>
              <a:t>方式</a:t>
            </a:r>
            <a:endParaRPr lang="en-US" altLang="zh-CN" dirty="0" smtClean="0">
              <a:effectLst/>
            </a:endParaRPr>
          </a:p>
          <a:p>
            <a:pPr lvl="1"/>
            <a:r>
              <a:rPr lang="zh-CN" altLang="zh-CN" dirty="0" smtClean="0">
                <a:solidFill>
                  <a:srgbClr val="0066FF"/>
                </a:solidFill>
                <a:effectLst/>
              </a:rPr>
              <a:t>函数</a:t>
            </a:r>
            <a:r>
              <a:rPr lang="zh-CN" altLang="zh-CN" dirty="0">
                <a:solidFill>
                  <a:srgbClr val="0066FF"/>
                </a:solidFill>
                <a:effectLst/>
              </a:rPr>
              <a:t>语句</a:t>
            </a:r>
          </a:p>
          <a:p>
            <a:pPr marL="271463" lvl="1" indent="0">
              <a:buNone/>
            </a:pPr>
            <a:r>
              <a:rPr lang="en-US" altLang="zh-CN" dirty="0" smtClean="0">
                <a:effectLst/>
              </a:rPr>
              <a:t>  </a:t>
            </a:r>
            <a:r>
              <a:rPr lang="en-US" altLang="zh-CN" dirty="0" err="1" smtClean="0">
                <a:effectLst/>
              </a:rPr>
              <a:t>printchar</a:t>
            </a:r>
            <a:r>
              <a:rPr lang="en-US" altLang="zh-CN" dirty="0" smtClean="0">
                <a:effectLst/>
              </a:rPr>
              <a:t>(</a:t>
            </a:r>
            <a:r>
              <a:rPr lang="en-US" altLang="zh-CN" dirty="0" err="1" smtClean="0">
                <a:effectLst/>
              </a:rPr>
              <a:t>ch,n</a:t>
            </a:r>
            <a:r>
              <a:rPr lang="en-US" altLang="zh-CN" dirty="0" smtClean="0">
                <a:effectLst/>
              </a:rPr>
              <a:t>);</a:t>
            </a:r>
          </a:p>
          <a:p>
            <a:pPr marL="271463" lvl="1" indent="0">
              <a:buNone/>
            </a:pPr>
            <a:r>
              <a:rPr lang="zh-CN" altLang="zh-CN" dirty="0" smtClean="0">
                <a:effectLst/>
              </a:rPr>
              <a:t>该</a:t>
            </a:r>
            <a:r>
              <a:rPr lang="zh-CN" altLang="zh-CN" dirty="0">
                <a:effectLst/>
              </a:rPr>
              <a:t>类型调用方式不要求函数带返回值，只要求函数完成一定功能。</a:t>
            </a:r>
          </a:p>
          <a:p>
            <a:pPr lvl="1"/>
            <a:r>
              <a:rPr lang="zh-CN" altLang="zh-CN" dirty="0" smtClean="0">
                <a:solidFill>
                  <a:srgbClr val="3333FF"/>
                </a:solidFill>
                <a:effectLst/>
              </a:rPr>
              <a:t>函数</a:t>
            </a:r>
            <a:r>
              <a:rPr lang="zh-CN" altLang="zh-CN" dirty="0">
                <a:solidFill>
                  <a:srgbClr val="3333FF"/>
                </a:solidFill>
                <a:effectLst/>
              </a:rPr>
              <a:t>表达式</a:t>
            </a:r>
          </a:p>
          <a:p>
            <a:pPr marL="271463" lvl="1" indent="0">
              <a:buNone/>
            </a:pPr>
            <a:r>
              <a:rPr lang="zh-CN" altLang="zh-CN" dirty="0">
                <a:effectLst/>
              </a:rPr>
              <a:t>函数出现在一个表达式中，这种表达式称为函数表达式。这时要求函数带回一个确定的值</a:t>
            </a:r>
            <a:r>
              <a:rPr lang="zh-CN" altLang="zh-CN" dirty="0" smtClean="0">
                <a:effectLst/>
              </a:rPr>
              <a:t>。 </a:t>
            </a:r>
            <a:r>
              <a:rPr lang="en-US" altLang="zh-CN" dirty="0" err="1" smtClean="0">
                <a:effectLst/>
              </a:rPr>
              <a:t>str</a:t>
            </a:r>
            <a:r>
              <a:rPr lang="en-US" altLang="zh-CN" dirty="0" smtClean="0">
                <a:effectLst/>
              </a:rPr>
              <a:t>[</a:t>
            </a:r>
            <a:r>
              <a:rPr lang="en-US" altLang="zh-CN" dirty="0" err="1" smtClean="0">
                <a:effectLst/>
              </a:rPr>
              <a:t>i</a:t>
            </a:r>
            <a:r>
              <a:rPr lang="en-US" altLang="zh-CN" dirty="0">
                <a:effectLst/>
              </a:rPr>
              <a:t>]=</a:t>
            </a:r>
            <a:r>
              <a:rPr lang="en-US" altLang="zh-CN" dirty="0" err="1">
                <a:effectLst/>
              </a:rPr>
              <a:t>low_to_upper</a:t>
            </a:r>
            <a:r>
              <a:rPr lang="en-US" altLang="zh-CN" dirty="0">
                <a:effectLst/>
              </a:rPr>
              <a:t>(</a:t>
            </a:r>
            <a:r>
              <a:rPr lang="en-US" altLang="zh-CN" dirty="0" err="1">
                <a:effectLst/>
              </a:rPr>
              <a:t>str</a:t>
            </a:r>
            <a:r>
              <a:rPr lang="en-US" altLang="zh-CN" dirty="0">
                <a:effectLst/>
              </a:rPr>
              <a:t>[</a:t>
            </a:r>
            <a:r>
              <a:rPr lang="en-US" altLang="zh-CN" dirty="0" err="1">
                <a:effectLst/>
              </a:rPr>
              <a:t>i</a:t>
            </a:r>
            <a:r>
              <a:rPr lang="en-US" altLang="zh-CN" dirty="0" smtClean="0">
                <a:effectLst/>
              </a:rPr>
              <a:t>]);</a:t>
            </a:r>
          </a:p>
          <a:p>
            <a:pPr marL="271463" lvl="1" indent="0">
              <a:buNone/>
            </a:pPr>
            <a:r>
              <a:rPr lang="zh-CN" altLang="zh-CN" dirty="0" smtClean="0">
                <a:effectLst/>
              </a:rPr>
              <a:t>将</a:t>
            </a:r>
            <a:r>
              <a:rPr lang="en-US" altLang="zh-CN" dirty="0" err="1" smtClean="0">
                <a:effectLst/>
              </a:rPr>
              <a:t>low_to_upper</a:t>
            </a:r>
            <a:r>
              <a:rPr lang="zh-CN" altLang="zh-CN" dirty="0">
                <a:effectLst/>
              </a:rPr>
              <a:t>的返回值赋给</a:t>
            </a:r>
            <a:r>
              <a:rPr lang="en-US" altLang="zh-CN" dirty="0">
                <a:effectLst/>
              </a:rPr>
              <a:t>str[i]</a:t>
            </a:r>
            <a:r>
              <a:rPr lang="zh-CN" altLang="zh-CN" dirty="0">
                <a:effectLst/>
              </a:rPr>
              <a:t>。</a:t>
            </a: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25</a:t>
            </a:fld>
            <a:endParaRPr lang="en-US" altLang="zh-CN" dirty="0"/>
          </a:p>
        </p:txBody>
      </p:sp>
    </p:spTree>
    <p:extLst>
      <p:ext uri="{BB962C8B-B14F-4D97-AF65-F5344CB8AC3E}">
        <p14:creationId xmlns:p14="http://schemas.microsoft.com/office/powerpoint/2010/main" val="42210654"/>
      </p:ext>
    </p:extLst>
  </p:cSld>
  <p:clrMapOvr>
    <a:masterClrMapping/>
  </p:clrMapOvr>
  <p:transition spd="med">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a:xfrm>
            <a:off x="755651" y="1700213"/>
            <a:ext cx="7272734" cy="2736899"/>
          </a:xfrm>
        </p:spPr>
        <p:txBody>
          <a:bodyPr/>
          <a:lstStyle/>
          <a:p>
            <a:pPr lvl="1"/>
            <a:r>
              <a:rPr lang="zh-CN" altLang="zh-CN" dirty="0" smtClean="0">
                <a:effectLst/>
              </a:rPr>
              <a:t>函数参数</a:t>
            </a:r>
            <a:r>
              <a:rPr lang="en-US" altLang="zh-CN" dirty="0" smtClean="0">
                <a:effectLst/>
              </a:rPr>
              <a:t>:</a:t>
            </a:r>
            <a:r>
              <a:rPr lang="zh-CN" altLang="zh-CN" dirty="0" smtClean="0">
                <a:effectLst/>
              </a:rPr>
              <a:t>函数</a:t>
            </a:r>
            <a:r>
              <a:rPr lang="zh-CN" altLang="zh-CN" dirty="0">
                <a:effectLst/>
              </a:rPr>
              <a:t>调用作为一个函数的</a:t>
            </a:r>
            <a:r>
              <a:rPr lang="zh-CN" altLang="zh-CN" dirty="0" smtClean="0">
                <a:effectLst/>
              </a:rPr>
              <a:t>实参</a:t>
            </a:r>
            <a:endParaRPr lang="en-US" altLang="zh-CN" dirty="0" smtClean="0">
              <a:effectLst/>
            </a:endParaRPr>
          </a:p>
          <a:p>
            <a:pPr marL="271463" lvl="1" indent="0">
              <a:buNone/>
            </a:pPr>
            <a:r>
              <a:rPr lang="en-US" altLang="zh-CN" dirty="0" smtClean="0">
                <a:effectLst/>
              </a:rPr>
              <a:t>      m=max(</a:t>
            </a:r>
            <a:r>
              <a:rPr lang="en-US" altLang="zh-CN" dirty="0" err="1" smtClean="0">
                <a:effectLst/>
              </a:rPr>
              <a:t>x,max</a:t>
            </a:r>
            <a:r>
              <a:rPr lang="en-US" altLang="zh-CN" dirty="0" smtClean="0">
                <a:effectLst/>
              </a:rPr>
              <a:t>(</a:t>
            </a:r>
            <a:r>
              <a:rPr lang="en-US" altLang="zh-CN" dirty="0" err="1" smtClean="0">
                <a:effectLst/>
              </a:rPr>
              <a:t>y,z</a:t>
            </a:r>
            <a:r>
              <a:rPr lang="en-US" altLang="zh-CN" dirty="0">
                <a:effectLst/>
              </a:rPr>
              <a:t>));</a:t>
            </a:r>
            <a:endParaRPr lang="zh-CN" altLang="zh-CN" dirty="0">
              <a:effectLst/>
            </a:endParaRPr>
          </a:p>
          <a:p>
            <a:pPr marL="271463" lvl="1" indent="0">
              <a:buNone/>
            </a:pPr>
            <a:r>
              <a:rPr lang="zh-CN" altLang="zh-CN" dirty="0">
                <a:effectLst/>
              </a:rPr>
              <a:t>其中</a:t>
            </a:r>
            <a:r>
              <a:rPr lang="en-US" altLang="zh-CN" dirty="0">
                <a:effectLst/>
              </a:rPr>
              <a:t>max(y,z)</a:t>
            </a:r>
            <a:r>
              <a:rPr lang="zh-CN" altLang="zh-CN" dirty="0">
                <a:effectLst/>
              </a:rPr>
              <a:t>是一次函数调用，它的返回值作为</a:t>
            </a:r>
            <a:r>
              <a:rPr lang="en-US" altLang="zh-CN" dirty="0">
                <a:effectLst/>
              </a:rPr>
              <a:t>max</a:t>
            </a:r>
            <a:r>
              <a:rPr lang="zh-CN" altLang="zh-CN" dirty="0">
                <a:effectLst/>
              </a:rPr>
              <a:t>另一次调用的实参。</a:t>
            </a:r>
            <a:r>
              <a:rPr lang="en-US" altLang="zh-CN" dirty="0">
                <a:effectLst/>
              </a:rPr>
              <a:t>M</a:t>
            </a:r>
            <a:r>
              <a:rPr lang="zh-CN" altLang="zh-CN" dirty="0">
                <a:effectLst/>
              </a:rPr>
              <a:t>的值是</a:t>
            </a:r>
            <a:r>
              <a:rPr lang="en-US" altLang="zh-CN" dirty="0">
                <a:effectLst/>
              </a:rPr>
              <a:t>x,y,z</a:t>
            </a:r>
            <a:r>
              <a:rPr lang="zh-CN" altLang="zh-CN" dirty="0">
                <a:effectLst/>
              </a:rPr>
              <a:t>三者中的最大者</a:t>
            </a:r>
            <a:r>
              <a:rPr lang="zh-CN" altLang="zh-CN" dirty="0" smtClean="0">
                <a:effectLst/>
              </a:rPr>
              <a:t>。</a:t>
            </a:r>
            <a:endParaRPr lang="en-US" altLang="zh-CN" dirty="0" smtClean="0">
              <a:effectLst/>
            </a:endParaRPr>
          </a:p>
          <a:p>
            <a:pPr marL="271463" lvl="1" indent="0">
              <a:buNone/>
            </a:pPr>
            <a:endParaRPr lang="zh-CN" altLang="zh-CN" dirty="0">
              <a:effectLst/>
            </a:endParaRP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26</a:t>
            </a:fld>
            <a:endParaRPr lang="en-US" altLang="zh-CN" dirty="0"/>
          </a:p>
        </p:txBody>
      </p:sp>
    </p:spTree>
    <p:extLst>
      <p:ext uri="{BB962C8B-B14F-4D97-AF65-F5344CB8AC3E}">
        <p14:creationId xmlns:p14="http://schemas.microsoft.com/office/powerpoint/2010/main" val="623341545"/>
      </p:ext>
    </p:extLst>
  </p:cSld>
  <p:clrMapOvr>
    <a:masterClrMapping/>
  </p:clrMapOvr>
  <p:transition spd="med">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p:txBody>
          <a:bodyPr/>
          <a:lstStyle/>
          <a:p>
            <a:pPr marL="463550" indent="-457200"/>
            <a:r>
              <a:rPr lang="zh-CN" altLang="zh-CN" dirty="0">
                <a:effectLst/>
              </a:rPr>
              <a:t>参数传递</a:t>
            </a:r>
            <a:endParaRPr lang="en-US" altLang="zh-CN" dirty="0">
              <a:effectLst/>
            </a:endParaRPr>
          </a:p>
          <a:p>
            <a:pPr marL="271463" lvl="1" indent="0">
              <a:buNone/>
            </a:pPr>
            <a:r>
              <a:rPr lang="zh-CN" altLang="zh-CN" dirty="0">
                <a:effectLst/>
              </a:rPr>
              <a:t>函数调用时，会发生以下操作：</a:t>
            </a:r>
          </a:p>
          <a:p>
            <a:pPr marL="271463" lvl="1" indent="0">
              <a:buNone/>
            </a:pPr>
            <a:r>
              <a:rPr lang="zh-CN" altLang="zh-CN" dirty="0">
                <a:effectLst/>
              </a:rPr>
              <a:t>（</a:t>
            </a:r>
            <a:r>
              <a:rPr lang="en-US" altLang="zh-CN" dirty="0">
                <a:effectLst/>
              </a:rPr>
              <a:t>1</a:t>
            </a:r>
            <a:r>
              <a:rPr lang="zh-CN" altLang="zh-CN" dirty="0">
                <a:effectLst/>
              </a:rPr>
              <a:t>）形参会从系统获得</a:t>
            </a:r>
            <a:r>
              <a:rPr lang="zh-CN" altLang="zh-CN" dirty="0">
                <a:solidFill>
                  <a:srgbClr val="FF0000"/>
                </a:solidFill>
                <a:effectLst/>
              </a:rPr>
              <a:t>临时</a:t>
            </a:r>
            <a:r>
              <a:rPr lang="zh-CN" altLang="zh-CN" dirty="0">
                <a:effectLst/>
              </a:rPr>
              <a:t>的</a:t>
            </a:r>
            <a:r>
              <a:rPr lang="zh-CN" altLang="zh-CN" dirty="0">
                <a:solidFill>
                  <a:srgbClr val="FF0000"/>
                </a:solidFill>
                <a:effectLst/>
              </a:rPr>
              <a:t>存储空间</a:t>
            </a:r>
            <a:r>
              <a:rPr lang="zh-CN" altLang="zh-CN" dirty="0">
                <a:effectLst/>
              </a:rPr>
              <a:t>，进而可以接受相应的实参的值。</a:t>
            </a:r>
          </a:p>
          <a:p>
            <a:pPr marL="271463" lvl="1" indent="0">
              <a:buNone/>
            </a:pPr>
            <a:r>
              <a:rPr lang="zh-CN" altLang="zh-CN" dirty="0">
                <a:effectLst/>
              </a:rPr>
              <a:t>（</a:t>
            </a:r>
            <a:r>
              <a:rPr lang="en-US" altLang="zh-CN" dirty="0">
                <a:effectLst/>
              </a:rPr>
              <a:t>2</a:t>
            </a:r>
            <a:r>
              <a:rPr lang="zh-CN" altLang="zh-CN" dirty="0">
                <a:effectLst/>
              </a:rPr>
              <a:t>）已经有确定值的实参把值传递给形参所获得的临时存储空间，这个操作称为</a:t>
            </a:r>
            <a:r>
              <a:rPr lang="zh-CN" altLang="zh-CN" dirty="0">
                <a:solidFill>
                  <a:srgbClr val="FF0000"/>
                </a:solidFill>
                <a:effectLst/>
              </a:rPr>
              <a:t>值传递</a:t>
            </a:r>
            <a:r>
              <a:rPr lang="zh-CN" altLang="zh-CN" dirty="0">
                <a:effectLst/>
              </a:rPr>
              <a:t>。</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27</a:t>
            </a:fld>
            <a:endParaRPr lang="en-US" altLang="zh-CN" dirty="0"/>
          </a:p>
        </p:txBody>
      </p:sp>
    </p:spTree>
    <p:extLst>
      <p:ext uri="{BB962C8B-B14F-4D97-AF65-F5344CB8AC3E}">
        <p14:creationId xmlns:p14="http://schemas.microsoft.com/office/powerpoint/2010/main" val="4179342598"/>
      </p:ext>
    </p:extLst>
  </p:cSld>
  <p:clrMapOvr>
    <a:masterClrMapping/>
  </p:clrMapOvr>
  <p:transition spd="med">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p:txBody>
          <a:bodyPr/>
          <a:lstStyle/>
          <a:p>
            <a:pPr marL="271463" lvl="1" indent="0">
              <a:buNone/>
            </a:pPr>
            <a:r>
              <a:rPr lang="zh-CN" altLang="zh-CN" dirty="0">
                <a:effectLst/>
              </a:rPr>
              <a:t>实参与形参的使用过程中要注意以下事项：</a:t>
            </a:r>
          </a:p>
          <a:p>
            <a:pPr marL="271463" lvl="1" indent="0">
              <a:buNone/>
            </a:pPr>
            <a:r>
              <a:rPr lang="zh-CN" altLang="zh-CN" dirty="0">
                <a:effectLst/>
              </a:rPr>
              <a:t>（</a:t>
            </a:r>
            <a:r>
              <a:rPr lang="en-US" altLang="zh-CN" dirty="0">
                <a:effectLst/>
              </a:rPr>
              <a:t>1</a:t>
            </a:r>
            <a:r>
              <a:rPr lang="zh-CN" altLang="zh-CN" dirty="0">
                <a:effectLst/>
              </a:rPr>
              <a:t>）</a:t>
            </a:r>
            <a:r>
              <a:rPr lang="zh-CN" altLang="zh-CN" dirty="0">
                <a:solidFill>
                  <a:srgbClr val="FF3300"/>
                </a:solidFill>
                <a:effectLst/>
              </a:rPr>
              <a:t>形参必须为变量</a:t>
            </a:r>
            <a:r>
              <a:rPr lang="zh-CN" altLang="zh-CN" dirty="0">
                <a:effectLst/>
              </a:rPr>
              <a:t>，因为它要接受实参传过来的值。在未出现函数调用之前，形参并不占用内存空间，只以在发生函数调用时，系统才能给形参分配内存单元，在调作结束后，形参所占的内存单元也被释放。</a:t>
            </a:r>
          </a:p>
          <a:p>
            <a:pPr marL="271463" lvl="1" indent="0">
              <a:buNone/>
            </a:pPr>
            <a:r>
              <a:rPr lang="zh-CN" altLang="zh-CN" dirty="0">
                <a:effectLst/>
              </a:rPr>
              <a:t>（</a:t>
            </a:r>
            <a:r>
              <a:rPr lang="en-US" altLang="zh-CN" dirty="0">
                <a:effectLst/>
              </a:rPr>
              <a:t>2</a:t>
            </a:r>
            <a:r>
              <a:rPr lang="zh-CN" altLang="zh-CN" dirty="0">
                <a:effectLst/>
              </a:rPr>
              <a:t>）</a:t>
            </a:r>
            <a:r>
              <a:rPr lang="zh-CN" altLang="zh-CN" dirty="0">
                <a:solidFill>
                  <a:srgbClr val="FF3300"/>
                </a:solidFill>
                <a:effectLst/>
              </a:rPr>
              <a:t>实参可以是常量、变量、表达式，也可以其他函数的调用，但要求参数有明确的值</a:t>
            </a:r>
            <a:r>
              <a:rPr lang="zh-CN" altLang="zh-CN" dirty="0">
                <a:effectLst/>
              </a:rPr>
              <a:t>。</a:t>
            </a:r>
          </a:p>
          <a:p>
            <a:pPr marL="271463" lvl="1" indent="0">
              <a:buNone/>
            </a:pPr>
            <a:r>
              <a:rPr lang="zh-CN" altLang="zh-CN" dirty="0">
                <a:effectLst/>
              </a:rPr>
              <a:t>（</a:t>
            </a:r>
            <a:r>
              <a:rPr lang="en-US" altLang="zh-CN" dirty="0">
                <a:effectLst/>
              </a:rPr>
              <a:t>3</a:t>
            </a:r>
            <a:r>
              <a:rPr lang="zh-CN" altLang="zh-CN" dirty="0">
                <a:effectLst/>
              </a:rPr>
              <a:t>）如果函数的参数超过一个，则要求实参和形参在数目、类型及次序上保持一致。其中类型一致要求实参与形参的数据类型保持赋值兼容。</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28</a:t>
            </a:fld>
            <a:endParaRPr lang="en-US" altLang="zh-CN" dirty="0"/>
          </a:p>
        </p:txBody>
      </p:sp>
    </p:spTree>
    <p:extLst>
      <p:ext uri="{BB962C8B-B14F-4D97-AF65-F5344CB8AC3E}">
        <p14:creationId xmlns:p14="http://schemas.microsoft.com/office/powerpoint/2010/main" val="1733546864"/>
      </p:ext>
    </p:extLst>
  </p:cSld>
  <p:clrMapOvr>
    <a:masterClrMapping/>
  </p:clrMapOvr>
  <p:transition spd="med">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sz="half" idx="1"/>
          </p:nvPr>
        </p:nvSpPr>
        <p:spPr>
          <a:xfrm>
            <a:off x="755650" y="1700213"/>
            <a:ext cx="3919538" cy="5030787"/>
          </a:xfrm>
        </p:spPr>
        <p:txBody>
          <a:bodyPr/>
          <a:lstStyle/>
          <a:p>
            <a:pPr marL="271463" lvl="1" indent="0">
              <a:buNone/>
            </a:pPr>
            <a:r>
              <a:rPr lang="zh-CN" altLang="zh-CN" sz="1800" dirty="0">
                <a:effectLst/>
              </a:rPr>
              <a:t>【例</a:t>
            </a:r>
            <a:r>
              <a:rPr lang="en-US" altLang="zh-CN" sz="1800" dirty="0">
                <a:effectLst/>
              </a:rPr>
              <a:t>5-5</a:t>
            </a:r>
            <a:r>
              <a:rPr lang="zh-CN" altLang="zh-CN" sz="1800" dirty="0">
                <a:effectLst/>
              </a:rPr>
              <a:t>】参数的传递和函数值的返回</a:t>
            </a:r>
            <a:r>
              <a:rPr lang="zh-CN" altLang="zh-CN" sz="1800" dirty="0" smtClean="0">
                <a:effectLst/>
              </a:rPr>
              <a:t>。</a:t>
            </a:r>
            <a:endParaRPr lang="en-US" altLang="zh-CN" sz="1800" dirty="0" smtClean="0">
              <a:effectLst/>
            </a:endParaRPr>
          </a:p>
          <a:p>
            <a:pPr marL="271463" lvl="1" indent="0">
              <a:buNone/>
            </a:pPr>
            <a:r>
              <a:rPr lang="zh-CN" altLang="zh-CN" sz="1800" dirty="0">
                <a:effectLst/>
              </a:rPr>
              <a:t>此程序的运行结果如下图所示：</a:t>
            </a:r>
          </a:p>
          <a:p>
            <a:pPr marL="271463" lvl="1" indent="0">
              <a:buNone/>
            </a:pPr>
            <a:endParaRPr lang="zh-CN" altLang="zh-CN" sz="1800" dirty="0">
              <a:effectLst/>
            </a:endParaRPr>
          </a:p>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solidFill>
                  <a:srgbClr val="FF0000"/>
                </a:solidFill>
                <a:effectLst/>
              </a:rPr>
              <a:t>int</a:t>
            </a:r>
            <a:r>
              <a:rPr lang="en-US" altLang="zh-CN" sz="1800" dirty="0">
                <a:effectLst/>
              </a:rPr>
              <a:t> fun1(float a);   //</a:t>
            </a:r>
            <a:r>
              <a:rPr lang="zh-CN" altLang="zh-CN" sz="1800" dirty="0">
                <a:effectLst/>
              </a:rPr>
              <a:t>函数声明</a:t>
            </a: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smtClean="0">
                <a:effectLst/>
              </a:rPr>
              <a:t>{</a:t>
            </a:r>
          </a:p>
          <a:p>
            <a:pPr marL="271463" lvl="1" indent="0">
              <a:buNone/>
            </a:pPr>
            <a:r>
              <a:rPr lang="en-US" altLang="zh-CN" sz="1800" dirty="0">
                <a:effectLst/>
              </a:rPr>
              <a:t> </a:t>
            </a:r>
            <a:r>
              <a:rPr lang="en-US" altLang="zh-CN" sz="1800" dirty="0" smtClean="0">
                <a:effectLst/>
              </a:rPr>
              <a:t>   </a:t>
            </a:r>
            <a:r>
              <a:rPr lang="en-US" altLang="zh-CN" sz="1800" dirty="0" err="1" smtClean="0">
                <a:effectLst/>
              </a:rPr>
              <a:t>int</a:t>
            </a:r>
            <a:r>
              <a:rPr lang="en-US" altLang="zh-CN" sz="1800" dirty="0" smtClean="0">
                <a:effectLst/>
              </a:rPr>
              <a:t> x=1;float y;</a:t>
            </a:r>
            <a:endParaRPr lang="zh-CN" altLang="zh-CN" sz="1800" dirty="0" smtClean="0">
              <a:effectLst/>
            </a:endParaRPr>
          </a:p>
          <a:p>
            <a:pPr marL="271463" lvl="1" indent="0">
              <a:buNone/>
            </a:pPr>
            <a:r>
              <a:rPr lang="en-US" altLang="zh-CN" sz="1800" dirty="0" smtClean="0">
                <a:effectLst/>
              </a:rPr>
              <a:t>    </a:t>
            </a:r>
            <a:r>
              <a:rPr lang="en-US" altLang="zh-CN" sz="1800" dirty="0">
                <a:effectLst/>
              </a:rPr>
              <a:t>y=fun1(x);       //</a:t>
            </a:r>
            <a:r>
              <a:rPr lang="zh-CN" altLang="zh-CN" sz="1800" dirty="0">
                <a:effectLst/>
              </a:rPr>
              <a:t>函数调用</a:t>
            </a:r>
          </a:p>
          <a:p>
            <a:pPr marL="271463" lvl="1" indent="0">
              <a:buNone/>
            </a:pPr>
            <a:r>
              <a:rPr lang="en-US" altLang="zh-CN" sz="1800" dirty="0">
                <a:effectLst/>
              </a:rPr>
              <a:t>    printf("%f\n",y);</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5" name="内容占位符 4"/>
          <p:cNvSpPr>
            <a:spLocks noGrp="1"/>
          </p:cNvSpPr>
          <p:nvPr>
            <p:ph sz="half" idx="2"/>
          </p:nvPr>
        </p:nvSpPr>
        <p:spPr/>
        <p:txBody>
          <a:bodyPr/>
          <a:lstStyle/>
          <a:p>
            <a:pPr marL="271463" lvl="1" indent="0">
              <a:buNone/>
            </a:pPr>
            <a:r>
              <a:rPr lang="en-US" altLang="zh-CN" sz="1800" dirty="0">
                <a:solidFill>
                  <a:srgbClr val="FF3300"/>
                </a:solidFill>
                <a:effectLst/>
              </a:rPr>
              <a:t>int fun1(float a)   //</a:t>
            </a:r>
            <a:r>
              <a:rPr lang="zh-CN" altLang="zh-CN" sz="1800" dirty="0">
                <a:solidFill>
                  <a:srgbClr val="FF3300"/>
                </a:solidFill>
                <a:effectLst/>
              </a:rPr>
              <a:t>函数定义</a:t>
            </a:r>
          </a:p>
          <a:p>
            <a:pPr marL="271463" lvl="1" indent="0">
              <a:buNone/>
            </a:pPr>
            <a:r>
              <a:rPr lang="en-US" altLang="zh-CN" sz="1800" dirty="0">
                <a:solidFill>
                  <a:srgbClr val="FF3300"/>
                </a:solidFill>
                <a:effectLst/>
              </a:rPr>
              <a:t>{</a:t>
            </a:r>
            <a:endParaRPr lang="zh-CN" altLang="zh-CN" sz="1800" dirty="0">
              <a:solidFill>
                <a:srgbClr val="FF3300"/>
              </a:solidFill>
              <a:effectLst/>
            </a:endParaRPr>
          </a:p>
          <a:p>
            <a:pPr marL="271463" lvl="1" indent="0">
              <a:buNone/>
            </a:pPr>
            <a:r>
              <a:rPr lang="en-US" altLang="zh-CN" sz="1800" dirty="0">
                <a:solidFill>
                  <a:srgbClr val="FF3300"/>
                </a:solidFill>
                <a:effectLst/>
              </a:rPr>
              <a:t>    return 2*a+3.5;</a:t>
            </a:r>
            <a:endParaRPr lang="zh-CN" altLang="zh-CN" sz="1800" dirty="0">
              <a:solidFill>
                <a:srgbClr val="FF3300"/>
              </a:solidFill>
              <a:effectLst/>
            </a:endParaRPr>
          </a:p>
          <a:p>
            <a:pPr marL="271463" lvl="1" indent="0">
              <a:buNone/>
            </a:pPr>
            <a:r>
              <a:rPr lang="en-US" altLang="zh-CN" sz="1800" dirty="0" smtClean="0">
                <a:solidFill>
                  <a:srgbClr val="FF3300"/>
                </a:solidFill>
                <a:effectLst/>
              </a:rPr>
              <a:t>}</a:t>
            </a:r>
          </a:p>
          <a:p>
            <a:pPr marL="271463" lvl="1" indent="457200">
              <a:buNone/>
            </a:pPr>
            <a:endParaRPr lang="en-US" altLang="zh-CN" sz="1800" dirty="0" smtClean="0">
              <a:effectLst/>
            </a:endParaRPr>
          </a:p>
          <a:p>
            <a:pPr marL="271463" lvl="1" indent="457200">
              <a:buNone/>
            </a:pPr>
            <a:r>
              <a:rPr lang="zh-CN" altLang="zh-CN" sz="1800" dirty="0" smtClean="0">
                <a:effectLst/>
              </a:rPr>
              <a:t>在</a:t>
            </a:r>
            <a:r>
              <a:rPr lang="en-US" altLang="zh-CN" sz="1800" dirty="0">
                <a:effectLst/>
              </a:rPr>
              <a:t>C</a:t>
            </a:r>
            <a:r>
              <a:rPr lang="zh-CN" altLang="zh-CN" sz="1800" dirty="0">
                <a:effectLst/>
              </a:rPr>
              <a:t>语言中，实参向形参的数据传递是“值传递”，单向传递，只将实参将值复制给形参，而不能由形参传回来给实参。形参的值即使在函数中改变了，也不会影响实参。</a:t>
            </a:r>
            <a:endParaRPr lang="zh-CN" altLang="zh-CN" sz="1800" dirty="0">
              <a:solidFill>
                <a:srgbClr val="FF3300"/>
              </a:solidFill>
              <a:effectLst/>
            </a:endParaRP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29</a:t>
            </a:fld>
            <a:endParaRPr lang="en-US" altLang="zh-C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780928"/>
            <a:ext cx="1595254"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1741252"/>
      </p:ext>
    </p:extLst>
  </p:cSld>
  <p:clrMapOvr>
    <a:masterClrMapping/>
  </p:clrMapOvr>
  <p:transition spd="med">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sz="half" idx="1"/>
          </p:nvPr>
        </p:nvSpPr>
        <p:spPr>
          <a:xfrm>
            <a:off x="467544" y="1628800"/>
            <a:ext cx="5430336" cy="5102200"/>
          </a:xfrm>
        </p:spPr>
        <p:txBody>
          <a:bodyPr/>
          <a:lstStyle/>
          <a:p>
            <a:pPr marL="271463" lvl="1" indent="0">
              <a:buNone/>
            </a:pPr>
            <a:r>
              <a:rPr lang="zh-CN" altLang="zh-CN" sz="1600" dirty="0">
                <a:effectLst/>
              </a:rPr>
              <a:t>【例</a:t>
            </a:r>
            <a:r>
              <a:rPr lang="en-US" altLang="zh-CN" sz="1600" dirty="0">
                <a:effectLst/>
              </a:rPr>
              <a:t>5-6</a:t>
            </a:r>
            <a:r>
              <a:rPr lang="zh-CN" altLang="zh-CN" sz="1600" dirty="0">
                <a:effectLst/>
              </a:rPr>
              <a:t>】通过函数调用交换两个变量的值</a:t>
            </a:r>
            <a:r>
              <a:rPr lang="zh-CN" altLang="zh-CN" sz="1600" dirty="0" smtClean="0">
                <a:effectLst/>
              </a:rPr>
              <a:t>。</a:t>
            </a:r>
            <a:endParaRPr lang="en-US" altLang="zh-CN" sz="1600" dirty="0" smtClean="0">
              <a:effectLst/>
            </a:endParaRPr>
          </a:p>
          <a:p>
            <a:pPr marL="271463" lvl="1" indent="0">
              <a:buNone/>
            </a:pPr>
            <a:r>
              <a:rPr lang="zh-CN" altLang="zh-CN" sz="1600" dirty="0">
                <a:effectLst/>
              </a:rPr>
              <a:t>此程序的运行结果如下图所示</a:t>
            </a:r>
            <a:r>
              <a:rPr lang="zh-CN" altLang="zh-CN" sz="1600" dirty="0" smtClean="0">
                <a:effectLst/>
              </a:rPr>
              <a:t>：</a:t>
            </a:r>
            <a:endParaRPr lang="en-US" altLang="zh-CN" sz="1600" dirty="0" smtClean="0">
              <a:effectLst/>
            </a:endParaRPr>
          </a:p>
          <a:p>
            <a:pPr marL="271463" lvl="1" indent="0">
              <a:buNone/>
            </a:pPr>
            <a:endParaRPr lang="en-US" altLang="zh-CN" sz="1600" dirty="0">
              <a:effectLst/>
            </a:endParaRPr>
          </a:p>
          <a:p>
            <a:pPr marL="271463" lvl="1" indent="0">
              <a:buNone/>
            </a:pPr>
            <a:endParaRPr lang="en-US" altLang="zh-CN" sz="1600" dirty="0">
              <a:effectLst/>
            </a:endParaRPr>
          </a:p>
          <a:p>
            <a:pPr marL="271463" lvl="1" indent="0">
              <a:buNone/>
            </a:pPr>
            <a:endParaRPr lang="en-US" altLang="zh-CN" sz="1600" dirty="0" smtClean="0">
              <a:effectLst/>
            </a:endParaRPr>
          </a:p>
          <a:p>
            <a:pPr marL="271463" lvl="1" indent="0">
              <a:buNone/>
            </a:pPr>
            <a:endParaRPr lang="en-US" altLang="zh-CN" sz="1600" dirty="0" smtClean="0">
              <a:effectLst/>
            </a:endParaRPr>
          </a:p>
          <a:p>
            <a:pPr marL="271463" lvl="1" indent="0">
              <a:buNone/>
            </a:pPr>
            <a:r>
              <a:rPr lang="en-US" altLang="zh-CN" sz="1600" dirty="0" smtClean="0">
                <a:effectLst/>
              </a:rPr>
              <a:t>#</a:t>
            </a:r>
            <a:r>
              <a:rPr lang="en-US" altLang="zh-CN" sz="1600" dirty="0">
                <a:effectLst/>
              </a:rPr>
              <a:t>include &lt;stdio.h&gt;</a:t>
            </a:r>
            <a:endParaRPr lang="zh-CN" altLang="zh-CN" sz="1600" dirty="0">
              <a:effectLst/>
            </a:endParaRPr>
          </a:p>
          <a:p>
            <a:pPr marL="271463" lvl="1" indent="0">
              <a:buNone/>
            </a:pPr>
            <a:r>
              <a:rPr lang="en-US" altLang="zh-CN" sz="1600" dirty="0">
                <a:effectLst/>
              </a:rPr>
              <a:t>void swap(int x,int y</a:t>
            </a:r>
            <a:r>
              <a:rPr lang="en-US" altLang="zh-CN" sz="1600" dirty="0" smtClean="0">
                <a:effectLst/>
              </a:rPr>
              <a:t>);</a:t>
            </a:r>
          </a:p>
          <a:p>
            <a:pPr marL="271463" lvl="1" indent="0">
              <a:buNone/>
            </a:pPr>
            <a:r>
              <a:rPr lang="en-US" altLang="zh-CN" sz="1600" dirty="0">
                <a:effectLst/>
              </a:rPr>
              <a:t>int main()</a:t>
            </a:r>
            <a:endParaRPr lang="zh-CN" altLang="zh-CN" sz="1600" dirty="0">
              <a:effectLst/>
            </a:endParaRPr>
          </a:p>
          <a:p>
            <a:pPr marL="271463" lvl="1" indent="0">
              <a:buNone/>
            </a:pPr>
            <a:r>
              <a:rPr lang="en-US" altLang="zh-CN" sz="1600" dirty="0" smtClean="0">
                <a:effectLst/>
              </a:rPr>
              <a:t>{    </a:t>
            </a:r>
            <a:r>
              <a:rPr lang="en-US" altLang="zh-CN" sz="1600" dirty="0">
                <a:effectLst/>
              </a:rPr>
              <a:t>int </a:t>
            </a:r>
            <a:r>
              <a:rPr lang="en-US" altLang="zh-CN" sz="1600" dirty="0" smtClean="0">
                <a:effectLst/>
              </a:rPr>
              <a:t>a=2,b=3;</a:t>
            </a:r>
          </a:p>
          <a:p>
            <a:pPr marL="271463" lvl="1" indent="0">
              <a:buNone/>
            </a:pPr>
            <a:r>
              <a:rPr lang="en-US" altLang="zh-CN" sz="1600" dirty="0" smtClean="0">
                <a:effectLst/>
              </a:rPr>
              <a:t>     </a:t>
            </a:r>
            <a:r>
              <a:rPr lang="en-US" altLang="zh-CN" sz="1600" dirty="0" err="1" smtClean="0">
                <a:effectLst/>
              </a:rPr>
              <a:t>printf</a:t>
            </a:r>
            <a:r>
              <a:rPr lang="en-US" altLang="zh-CN" sz="1600" dirty="0">
                <a:effectLst/>
              </a:rPr>
              <a:t>("</a:t>
            </a:r>
            <a:r>
              <a:rPr lang="en-US" altLang="zh-CN" sz="1600" dirty="0" smtClean="0">
                <a:effectLst/>
              </a:rPr>
              <a:t>before </a:t>
            </a:r>
            <a:r>
              <a:rPr lang="en-US" altLang="zh-CN" sz="1600" dirty="0" err="1" smtClean="0">
                <a:effectLst/>
              </a:rPr>
              <a:t>swap:a</a:t>
            </a:r>
            <a:r>
              <a:rPr lang="en-US" altLang="zh-CN" sz="1600" dirty="0">
                <a:effectLst/>
              </a:rPr>
              <a:t>=%d,b=%d\n",a,b);</a:t>
            </a:r>
            <a:endParaRPr lang="zh-CN" altLang="zh-CN" sz="1600" dirty="0">
              <a:effectLst/>
            </a:endParaRPr>
          </a:p>
          <a:p>
            <a:pPr marL="271463" lvl="1" indent="0">
              <a:buNone/>
            </a:pPr>
            <a:r>
              <a:rPr lang="en-US" altLang="zh-CN" sz="1600" dirty="0">
                <a:effectLst/>
              </a:rPr>
              <a:t>    swap(</a:t>
            </a:r>
            <a:r>
              <a:rPr lang="en-US" altLang="zh-CN" sz="1600" dirty="0" err="1">
                <a:effectLst/>
              </a:rPr>
              <a:t>a,b</a:t>
            </a:r>
            <a:r>
              <a:rPr lang="en-US" altLang="zh-CN" sz="1600" dirty="0" smtClean="0">
                <a:effectLst/>
              </a:rPr>
              <a:t>);</a:t>
            </a:r>
          </a:p>
          <a:p>
            <a:pPr marL="271463" lvl="1" indent="0">
              <a:buNone/>
            </a:pPr>
            <a:r>
              <a:rPr lang="en-US" altLang="zh-CN" sz="1600" dirty="0" smtClean="0">
                <a:effectLst/>
              </a:rPr>
              <a:t>    </a:t>
            </a:r>
            <a:r>
              <a:rPr lang="en-US" altLang="zh-CN" sz="1600" dirty="0" err="1" smtClean="0">
                <a:effectLst/>
              </a:rPr>
              <a:t>printf</a:t>
            </a:r>
            <a:r>
              <a:rPr lang="en-US" altLang="zh-CN" sz="1600" dirty="0">
                <a:effectLst/>
              </a:rPr>
              <a:t>("after </a:t>
            </a:r>
            <a:r>
              <a:rPr lang="en-US" altLang="zh-CN" sz="1600" dirty="0" err="1">
                <a:effectLst/>
              </a:rPr>
              <a:t>swap:a</a:t>
            </a:r>
            <a:r>
              <a:rPr lang="en-US" altLang="zh-CN" sz="1600" dirty="0">
                <a:effectLst/>
              </a:rPr>
              <a:t>=%</a:t>
            </a:r>
            <a:r>
              <a:rPr lang="en-US" altLang="zh-CN" sz="1600" dirty="0" err="1">
                <a:effectLst/>
              </a:rPr>
              <a:t>d,b</a:t>
            </a:r>
            <a:r>
              <a:rPr lang="en-US" altLang="zh-CN" sz="1600" dirty="0">
                <a:effectLst/>
              </a:rPr>
              <a:t>=%d\n",</a:t>
            </a:r>
            <a:r>
              <a:rPr lang="en-US" altLang="zh-CN" sz="1600" dirty="0" err="1">
                <a:effectLst/>
              </a:rPr>
              <a:t>a,b</a:t>
            </a:r>
            <a:r>
              <a:rPr lang="en-US" altLang="zh-CN" sz="1600" dirty="0">
                <a:effectLst/>
              </a:rPr>
              <a:t>);</a:t>
            </a:r>
            <a:endParaRPr lang="zh-CN" altLang="zh-CN" sz="1600" dirty="0">
              <a:effectLst/>
            </a:endParaRPr>
          </a:p>
          <a:p>
            <a:pPr marL="271463" lvl="1" indent="0">
              <a:buNone/>
            </a:pPr>
            <a:r>
              <a:rPr lang="en-US" altLang="zh-CN" sz="1600" dirty="0">
                <a:effectLst/>
              </a:rPr>
              <a:t>    </a:t>
            </a:r>
            <a:r>
              <a:rPr lang="en-US" altLang="zh-CN" sz="1600" dirty="0" err="1">
                <a:effectLst/>
              </a:rPr>
              <a:t>printf</a:t>
            </a:r>
            <a:r>
              <a:rPr lang="en-US" altLang="zh-CN" sz="1600" dirty="0">
                <a:effectLst/>
              </a:rPr>
              <a:t>("address of a ,b:%</a:t>
            </a:r>
            <a:r>
              <a:rPr lang="en-US" altLang="zh-CN" sz="1600" dirty="0" err="1">
                <a:effectLst/>
              </a:rPr>
              <a:t>p,%p</a:t>
            </a:r>
            <a:r>
              <a:rPr lang="en-US" altLang="zh-CN" sz="1600" dirty="0">
                <a:effectLst/>
              </a:rPr>
              <a:t>\</a:t>
            </a:r>
            <a:r>
              <a:rPr lang="en-US" altLang="zh-CN" sz="1600" dirty="0" err="1">
                <a:effectLst/>
              </a:rPr>
              <a:t>n",&amp;a,&amp;b</a:t>
            </a:r>
            <a:r>
              <a:rPr lang="en-US" altLang="zh-CN" sz="1600" dirty="0">
                <a:effectLst/>
              </a:rPr>
              <a:t>);</a:t>
            </a:r>
            <a:endParaRPr lang="zh-CN" altLang="zh-CN" sz="1600" dirty="0">
              <a:effectLst/>
            </a:endParaRPr>
          </a:p>
          <a:p>
            <a:pPr marL="271463" lvl="1" indent="0">
              <a:buNone/>
            </a:pPr>
            <a:r>
              <a:rPr lang="en-US" altLang="zh-CN" sz="1600" dirty="0">
                <a:effectLst/>
              </a:rPr>
              <a:t>    return 0;}</a:t>
            </a:r>
            <a:endParaRPr lang="zh-CN" altLang="zh-CN" sz="1600" dirty="0">
              <a:effectLst/>
            </a:endParaRPr>
          </a:p>
          <a:p>
            <a:pPr marL="271463" lvl="1" indent="0">
              <a:buNone/>
            </a:pPr>
            <a:endParaRPr lang="zh-CN" altLang="zh-CN" sz="1600" dirty="0">
              <a:effectLst/>
            </a:endParaRPr>
          </a:p>
          <a:p>
            <a:pPr marL="271463" lvl="1" indent="0">
              <a:buNone/>
            </a:pPr>
            <a:endParaRPr lang="zh-CN" altLang="zh-CN" sz="1600" dirty="0">
              <a:effectLst/>
            </a:endParaRPr>
          </a:p>
          <a:p>
            <a:pPr marL="271463" lvl="1" indent="0">
              <a:buNone/>
            </a:pPr>
            <a:endParaRPr lang="zh-CN" altLang="zh-CN" sz="1600" dirty="0">
              <a:effectLst/>
            </a:endParaRPr>
          </a:p>
          <a:p>
            <a:pPr marL="271463" lvl="1" indent="0">
              <a:buNone/>
            </a:pPr>
            <a:endParaRPr lang="zh-CN" altLang="zh-CN" sz="1600" dirty="0">
              <a:effectLst/>
            </a:endParaRPr>
          </a:p>
          <a:p>
            <a:pPr marL="271463" lvl="1" indent="0">
              <a:buNone/>
            </a:pPr>
            <a:endParaRPr lang="zh-CN" altLang="zh-CN" sz="1600" dirty="0">
              <a:effectLst/>
            </a:endParaRPr>
          </a:p>
          <a:p>
            <a:endParaRPr lang="zh-CN" altLang="en-US" sz="1600" dirty="0"/>
          </a:p>
        </p:txBody>
      </p:sp>
      <p:sp>
        <p:nvSpPr>
          <p:cNvPr id="5" name="内容占位符 4"/>
          <p:cNvSpPr>
            <a:spLocks noGrp="1"/>
          </p:cNvSpPr>
          <p:nvPr>
            <p:ph sz="half" idx="2"/>
          </p:nvPr>
        </p:nvSpPr>
        <p:spPr>
          <a:xfrm>
            <a:off x="4477646" y="2060848"/>
            <a:ext cx="4536504" cy="2310309"/>
          </a:xfrm>
        </p:spPr>
        <p:txBody>
          <a:bodyPr/>
          <a:lstStyle/>
          <a:p>
            <a:pPr marL="265113" lvl="1" indent="0">
              <a:buNone/>
            </a:pPr>
            <a:r>
              <a:rPr lang="en-US" altLang="zh-CN" sz="1600" dirty="0" smtClean="0">
                <a:solidFill>
                  <a:srgbClr val="FF0000"/>
                </a:solidFill>
                <a:effectLst/>
              </a:rPr>
              <a:t>void </a:t>
            </a:r>
            <a:r>
              <a:rPr lang="en-US" altLang="zh-CN" sz="1600" dirty="0">
                <a:solidFill>
                  <a:srgbClr val="FF0000"/>
                </a:solidFill>
                <a:effectLst/>
              </a:rPr>
              <a:t>swap(int x,int y)</a:t>
            </a:r>
            <a:endParaRPr lang="zh-CN" altLang="zh-CN" sz="1600" dirty="0">
              <a:solidFill>
                <a:srgbClr val="FF0000"/>
              </a:solidFill>
              <a:effectLst/>
            </a:endParaRPr>
          </a:p>
          <a:p>
            <a:pPr marL="265113" lvl="1" indent="0">
              <a:buNone/>
            </a:pPr>
            <a:r>
              <a:rPr lang="en-US" altLang="zh-CN" sz="1600" dirty="0" smtClean="0">
                <a:solidFill>
                  <a:srgbClr val="FF0000"/>
                </a:solidFill>
                <a:effectLst/>
              </a:rPr>
              <a:t>{   </a:t>
            </a:r>
            <a:r>
              <a:rPr lang="en-US" altLang="zh-CN" sz="1600" dirty="0" err="1" smtClean="0">
                <a:solidFill>
                  <a:srgbClr val="FF0000"/>
                </a:solidFill>
                <a:effectLst/>
              </a:rPr>
              <a:t>int</a:t>
            </a:r>
            <a:r>
              <a:rPr lang="en-US" altLang="zh-CN" sz="1600" dirty="0" smtClean="0">
                <a:solidFill>
                  <a:srgbClr val="FF0000"/>
                </a:solidFill>
                <a:effectLst/>
              </a:rPr>
              <a:t> </a:t>
            </a:r>
            <a:r>
              <a:rPr lang="en-US" altLang="zh-CN" sz="1600" dirty="0">
                <a:solidFill>
                  <a:srgbClr val="FF0000"/>
                </a:solidFill>
                <a:effectLst/>
              </a:rPr>
              <a:t>t;</a:t>
            </a:r>
            <a:endParaRPr lang="zh-CN" altLang="zh-CN" sz="1600" dirty="0">
              <a:solidFill>
                <a:srgbClr val="FF0000"/>
              </a:solidFill>
              <a:effectLst/>
            </a:endParaRPr>
          </a:p>
          <a:p>
            <a:pPr marL="265113" lvl="1" indent="0">
              <a:buNone/>
            </a:pPr>
            <a:r>
              <a:rPr lang="en-US" altLang="zh-CN" sz="1600" dirty="0">
                <a:solidFill>
                  <a:srgbClr val="FF0000"/>
                </a:solidFill>
                <a:effectLst/>
              </a:rPr>
              <a:t>    t=x;x=y;y=t;</a:t>
            </a:r>
            <a:endParaRPr lang="zh-CN" altLang="zh-CN" sz="1600" dirty="0">
              <a:solidFill>
                <a:srgbClr val="FF0000"/>
              </a:solidFill>
              <a:effectLst/>
            </a:endParaRPr>
          </a:p>
          <a:p>
            <a:pPr marL="265113" lvl="1" indent="0">
              <a:buNone/>
            </a:pPr>
            <a:r>
              <a:rPr lang="en-US" altLang="zh-CN" sz="1600" dirty="0">
                <a:solidFill>
                  <a:srgbClr val="FF0000"/>
                </a:solidFill>
                <a:effectLst/>
              </a:rPr>
              <a:t>    printf("in swap:x=%d,y=%d\n",x,y);</a:t>
            </a:r>
            <a:endParaRPr lang="zh-CN" altLang="zh-CN" sz="1600" dirty="0">
              <a:solidFill>
                <a:srgbClr val="FF0000"/>
              </a:solidFill>
              <a:effectLst/>
            </a:endParaRPr>
          </a:p>
          <a:p>
            <a:pPr marL="265113" lvl="1" indent="0">
              <a:buNone/>
            </a:pPr>
            <a:r>
              <a:rPr lang="en-US" altLang="zh-CN" sz="1600" dirty="0">
                <a:solidFill>
                  <a:srgbClr val="FF0000"/>
                </a:solidFill>
                <a:effectLst/>
              </a:rPr>
              <a:t>    printf("address of x,y:%p,%p\n",&amp;x,&amp;y);</a:t>
            </a:r>
            <a:endParaRPr lang="zh-CN" altLang="zh-CN" sz="1600" dirty="0">
              <a:solidFill>
                <a:srgbClr val="FF0000"/>
              </a:solidFill>
              <a:effectLst/>
            </a:endParaRPr>
          </a:p>
          <a:p>
            <a:pPr marL="265113" lvl="1" indent="0">
              <a:buNone/>
            </a:pPr>
            <a:r>
              <a:rPr lang="en-US" altLang="zh-CN" sz="1600" dirty="0">
                <a:solidFill>
                  <a:srgbClr val="FF0000"/>
                </a:solidFill>
                <a:effectLst/>
              </a:rPr>
              <a:t>}</a:t>
            </a:r>
            <a:endParaRPr lang="zh-CN" altLang="zh-CN" sz="1600" dirty="0">
              <a:solidFill>
                <a:srgbClr val="FF0000"/>
              </a:solidFill>
              <a:effectLst/>
            </a:endParaRPr>
          </a:p>
          <a:p>
            <a:endParaRPr lang="zh-CN" altLang="en-US" sz="1600"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30</a:t>
            </a:fld>
            <a:endParaRPr lang="en-US" altLang="zh-CN" dirty="0"/>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9718"/>
          <a:stretch/>
        </p:blipFill>
        <p:spPr bwMode="auto">
          <a:xfrm>
            <a:off x="755650" y="2276872"/>
            <a:ext cx="3721996"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4005064"/>
            <a:ext cx="3580596" cy="118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组合 7"/>
          <p:cNvGrpSpPr/>
          <p:nvPr/>
        </p:nvGrpSpPr>
        <p:grpSpPr>
          <a:xfrm>
            <a:off x="5011488" y="5511120"/>
            <a:ext cx="3763583" cy="947273"/>
            <a:chOff x="1816529" y="5077569"/>
            <a:chExt cx="4893834" cy="1231751"/>
          </a:xfrm>
        </p:grpSpPr>
        <p:sp>
          <p:nvSpPr>
            <p:cNvPr id="9" name="矩形 8"/>
            <p:cNvSpPr/>
            <p:nvPr/>
          </p:nvSpPr>
          <p:spPr bwMode="auto">
            <a:xfrm>
              <a:off x="3131840" y="5085184"/>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2</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0" name="矩形 9"/>
            <p:cNvSpPr/>
            <p:nvPr/>
          </p:nvSpPr>
          <p:spPr bwMode="auto">
            <a:xfrm>
              <a:off x="5774259" y="5077569"/>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3</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1" name="矩形 10"/>
            <p:cNvSpPr/>
            <p:nvPr/>
          </p:nvSpPr>
          <p:spPr bwMode="auto">
            <a:xfrm>
              <a:off x="1816529" y="5092799"/>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Arial" charset="0"/>
                  <a:ea typeface="宋体" pitchFamily="2" charset="-122"/>
                </a:rPr>
                <a:t>实参    </a:t>
              </a:r>
              <a:r>
                <a:rPr kumimoji="0" lang="en-US" altLang="zh-CN" sz="1200" b="0" i="0" u="none" strike="noStrike" cap="none" normalizeH="0" baseline="0" dirty="0" smtClean="0">
                  <a:ln>
                    <a:noFill/>
                  </a:ln>
                  <a:solidFill>
                    <a:schemeClr val="tx1"/>
                  </a:solidFill>
                  <a:effectLst/>
                  <a:latin typeface="Arial" charset="0"/>
                  <a:ea typeface="宋体" pitchFamily="2" charset="-122"/>
                </a:rPr>
                <a:t>a</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2" name="矩形 11"/>
            <p:cNvSpPr/>
            <p:nvPr/>
          </p:nvSpPr>
          <p:spPr bwMode="auto">
            <a:xfrm>
              <a:off x="3131840" y="6020693"/>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3</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3" name="矩形 12"/>
            <p:cNvSpPr/>
            <p:nvPr/>
          </p:nvSpPr>
          <p:spPr bwMode="auto">
            <a:xfrm>
              <a:off x="5774259" y="6020693"/>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2</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4" name="矩形 13"/>
            <p:cNvSpPr/>
            <p:nvPr/>
          </p:nvSpPr>
          <p:spPr bwMode="auto">
            <a:xfrm>
              <a:off x="1818004" y="6021288"/>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t>形参</a:t>
              </a:r>
              <a:r>
                <a:rPr kumimoji="0" lang="zh-CN" altLang="en-US" sz="1200" b="0" i="0" u="none" strike="noStrike" cap="none" normalizeH="0" baseline="0" dirty="0" smtClean="0">
                  <a:ln>
                    <a:noFill/>
                  </a:ln>
                  <a:solidFill>
                    <a:schemeClr val="tx1"/>
                  </a:solidFill>
                  <a:effectLst/>
                  <a:latin typeface="Arial" charset="0"/>
                  <a:ea typeface="宋体" pitchFamily="2" charset="-122"/>
                </a:rPr>
                <a:t>    </a:t>
              </a:r>
              <a:r>
                <a:rPr kumimoji="0" lang="en-US" altLang="zh-CN" sz="1200" b="0" i="0" u="none" strike="noStrike" cap="none" normalizeH="0" baseline="0" dirty="0" smtClean="0">
                  <a:ln>
                    <a:noFill/>
                  </a:ln>
                  <a:solidFill>
                    <a:schemeClr val="tx1"/>
                  </a:solidFill>
                  <a:effectLst/>
                  <a:latin typeface="Arial" charset="0"/>
                  <a:ea typeface="宋体" pitchFamily="2" charset="-122"/>
                </a:rPr>
                <a:t>x</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5" name="矩形 14"/>
            <p:cNvSpPr/>
            <p:nvPr/>
          </p:nvSpPr>
          <p:spPr bwMode="auto">
            <a:xfrm>
              <a:off x="4572000" y="5077569"/>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b</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6" name="矩形 15"/>
            <p:cNvSpPr/>
            <p:nvPr/>
          </p:nvSpPr>
          <p:spPr bwMode="auto">
            <a:xfrm>
              <a:off x="4572000" y="6020693"/>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y</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grpSp>
      <p:cxnSp>
        <p:nvCxnSpPr>
          <p:cNvPr id="17" name="直接连接符 16"/>
          <p:cNvCxnSpPr/>
          <p:nvPr/>
        </p:nvCxnSpPr>
        <p:spPr bwMode="auto">
          <a:xfrm>
            <a:off x="5011488" y="5373216"/>
            <a:ext cx="400266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64177199"/>
      </p:ext>
    </p:extLst>
  </p:cSld>
  <p:clrMapOvr>
    <a:masterClrMapping/>
  </p:clrMapOvr>
  <p:transition spd="med">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a:xfrm>
            <a:off x="755650" y="1700213"/>
            <a:ext cx="7993063" cy="3168947"/>
          </a:xfrm>
        </p:spPr>
        <p:txBody>
          <a:bodyPr/>
          <a:lstStyle/>
          <a:p>
            <a:pPr marL="271463" lvl="1" indent="0">
              <a:buNone/>
            </a:pPr>
            <a:r>
              <a:rPr lang="zh-CN" altLang="zh-CN" dirty="0">
                <a:effectLst/>
              </a:rPr>
              <a:t>调用</a:t>
            </a:r>
            <a:r>
              <a:rPr lang="en-US" altLang="zh-CN" dirty="0">
                <a:effectLst/>
              </a:rPr>
              <a:t>swap</a:t>
            </a:r>
            <a:r>
              <a:rPr lang="zh-CN" altLang="zh-CN" dirty="0">
                <a:effectLst/>
              </a:rPr>
              <a:t>函数，在</a:t>
            </a:r>
            <a:r>
              <a:rPr lang="en-US" altLang="zh-CN" dirty="0">
                <a:effectLst/>
              </a:rPr>
              <a:t>x,y</a:t>
            </a:r>
            <a:r>
              <a:rPr lang="zh-CN" altLang="zh-CN" dirty="0">
                <a:effectLst/>
              </a:rPr>
              <a:t>交换前，实参与形参的</a:t>
            </a:r>
            <a:r>
              <a:rPr lang="zh-CN" altLang="zh-CN" dirty="0" smtClean="0">
                <a:effectLst/>
              </a:rPr>
              <a:t>状态</a:t>
            </a:r>
            <a:r>
              <a:rPr lang="zh-CN" altLang="en-US" dirty="0" smtClean="0">
                <a:effectLst/>
              </a:rPr>
              <a:t>下</a:t>
            </a:r>
            <a:r>
              <a:rPr lang="zh-CN" altLang="zh-CN" dirty="0" smtClean="0">
                <a:effectLst/>
              </a:rPr>
              <a:t>图 所</a:t>
            </a:r>
            <a:r>
              <a:rPr lang="zh-CN" altLang="zh-CN" dirty="0">
                <a:effectLst/>
              </a:rPr>
              <a:t>示</a:t>
            </a:r>
            <a:r>
              <a:rPr lang="zh-CN" altLang="zh-CN" dirty="0" smtClean="0">
                <a:effectLst/>
              </a:rPr>
              <a:t>。</a:t>
            </a:r>
            <a:endParaRPr lang="en-US" altLang="zh-CN" dirty="0" smtClean="0">
              <a:effectLst/>
            </a:endParaRPr>
          </a:p>
          <a:p>
            <a:pPr marL="271463" lvl="1" indent="0">
              <a:buNone/>
            </a:pPr>
            <a:endParaRPr lang="zh-CN" altLang="zh-CN" dirty="0">
              <a:effectLst/>
            </a:endParaRPr>
          </a:p>
          <a:p>
            <a:endParaRPr lang="en-US" altLang="zh-CN" dirty="0" smtClean="0"/>
          </a:p>
          <a:p>
            <a:endParaRPr lang="en-US" altLang="zh-CN" dirty="0"/>
          </a:p>
          <a:p>
            <a:pPr marL="271463" lvl="1" indent="0">
              <a:buNone/>
            </a:pPr>
            <a:r>
              <a:rPr lang="zh-CN" altLang="zh-CN" dirty="0">
                <a:effectLst/>
              </a:rPr>
              <a:t>在</a:t>
            </a:r>
            <a:r>
              <a:rPr lang="en-US" altLang="zh-CN" dirty="0">
                <a:effectLst/>
              </a:rPr>
              <a:t>x,y</a:t>
            </a:r>
            <a:r>
              <a:rPr lang="zh-CN" altLang="zh-CN" dirty="0">
                <a:effectLst/>
              </a:rPr>
              <a:t>交换后，实参与形参的状态</a:t>
            </a:r>
            <a:r>
              <a:rPr lang="zh-CN" altLang="zh-CN" dirty="0" smtClean="0">
                <a:effectLst/>
              </a:rPr>
              <a:t>如</a:t>
            </a:r>
            <a:r>
              <a:rPr lang="zh-CN" altLang="en-US" dirty="0" smtClean="0">
                <a:effectLst/>
              </a:rPr>
              <a:t>下</a:t>
            </a:r>
            <a:r>
              <a:rPr lang="zh-CN" altLang="zh-CN" dirty="0" smtClean="0">
                <a:effectLst/>
              </a:rPr>
              <a:t>图 所</a:t>
            </a:r>
            <a:r>
              <a:rPr lang="zh-CN" altLang="zh-CN" dirty="0">
                <a:effectLst/>
              </a:rPr>
              <a:t>示。</a:t>
            </a: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31</a:t>
            </a:fld>
            <a:endParaRPr lang="en-US" altLang="zh-C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520" y="2564904"/>
            <a:ext cx="4759843" cy="1568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组合 10"/>
          <p:cNvGrpSpPr/>
          <p:nvPr/>
        </p:nvGrpSpPr>
        <p:grpSpPr>
          <a:xfrm>
            <a:off x="1816529" y="5077569"/>
            <a:ext cx="4893834" cy="1231751"/>
            <a:chOff x="1816529" y="5077569"/>
            <a:chExt cx="4893834" cy="1231751"/>
          </a:xfrm>
        </p:grpSpPr>
        <p:sp>
          <p:nvSpPr>
            <p:cNvPr id="10" name="矩形 9"/>
            <p:cNvSpPr/>
            <p:nvPr/>
          </p:nvSpPr>
          <p:spPr bwMode="auto">
            <a:xfrm>
              <a:off x="3131840" y="5085184"/>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2</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3" name="矩形 12"/>
            <p:cNvSpPr/>
            <p:nvPr/>
          </p:nvSpPr>
          <p:spPr bwMode="auto">
            <a:xfrm>
              <a:off x="5774259" y="5077569"/>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3</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4" name="矩形 13"/>
            <p:cNvSpPr/>
            <p:nvPr/>
          </p:nvSpPr>
          <p:spPr bwMode="auto">
            <a:xfrm>
              <a:off x="1816529" y="5092799"/>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Arial" charset="0"/>
                  <a:ea typeface="宋体" pitchFamily="2" charset="-122"/>
                </a:rPr>
                <a:t>实参    </a:t>
              </a:r>
              <a:r>
                <a:rPr kumimoji="0" lang="en-US" altLang="zh-CN" sz="1200" b="0" i="0" u="none" strike="noStrike" cap="none" normalizeH="0" baseline="0" dirty="0" smtClean="0">
                  <a:ln>
                    <a:noFill/>
                  </a:ln>
                  <a:solidFill>
                    <a:schemeClr val="tx1"/>
                  </a:solidFill>
                  <a:effectLst/>
                  <a:latin typeface="Arial" charset="0"/>
                  <a:ea typeface="宋体" pitchFamily="2" charset="-122"/>
                </a:rPr>
                <a:t>a</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5" name="矩形 14"/>
            <p:cNvSpPr/>
            <p:nvPr/>
          </p:nvSpPr>
          <p:spPr bwMode="auto">
            <a:xfrm>
              <a:off x="3131840" y="6020693"/>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3</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6" name="矩形 15"/>
            <p:cNvSpPr/>
            <p:nvPr/>
          </p:nvSpPr>
          <p:spPr bwMode="auto">
            <a:xfrm>
              <a:off x="5774259" y="6020693"/>
              <a:ext cx="936104" cy="28803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2</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7" name="矩形 16"/>
            <p:cNvSpPr/>
            <p:nvPr/>
          </p:nvSpPr>
          <p:spPr bwMode="auto">
            <a:xfrm>
              <a:off x="1818004" y="6021288"/>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t>形参</a:t>
              </a:r>
              <a:r>
                <a:rPr kumimoji="0" lang="zh-CN" altLang="en-US" sz="1200" b="0" i="0" u="none" strike="noStrike" cap="none" normalizeH="0" baseline="0" dirty="0" smtClean="0">
                  <a:ln>
                    <a:noFill/>
                  </a:ln>
                  <a:solidFill>
                    <a:schemeClr val="tx1"/>
                  </a:solidFill>
                  <a:effectLst/>
                  <a:latin typeface="Arial" charset="0"/>
                  <a:ea typeface="宋体" pitchFamily="2" charset="-122"/>
                </a:rPr>
                <a:t>    </a:t>
              </a:r>
              <a:r>
                <a:rPr kumimoji="0" lang="en-US" altLang="zh-CN" sz="1200" b="0" i="0" u="none" strike="noStrike" cap="none" normalizeH="0" baseline="0" dirty="0" smtClean="0">
                  <a:ln>
                    <a:noFill/>
                  </a:ln>
                  <a:solidFill>
                    <a:schemeClr val="tx1"/>
                  </a:solidFill>
                  <a:effectLst/>
                  <a:latin typeface="Arial" charset="0"/>
                  <a:ea typeface="宋体" pitchFamily="2" charset="-122"/>
                </a:rPr>
                <a:t>x</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8" name="矩形 17"/>
            <p:cNvSpPr/>
            <p:nvPr/>
          </p:nvSpPr>
          <p:spPr bwMode="auto">
            <a:xfrm>
              <a:off x="4572000" y="5077569"/>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b</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sp>
          <p:nvSpPr>
            <p:cNvPr id="19" name="矩形 18"/>
            <p:cNvSpPr/>
            <p:nvPr/>
          </p:nvSpPr>
          <p:spPr bwMode="auto">
            <a:xfrm>
              <a:off x="4572000" y="6020693"/>
              <a:ext cx="936104" cy="288032"/>
            </a:xfrm>
            <a:prstGeom prst="rect">
              <a:avLst/>
            </a:prstGeom>
            <a:no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Arial" charset="0"/>
                  <a:ea typeface="宋体" pitchFamily="2" charset="-122"/>
                </a:rPr>
                <a:t>y</a:t>
              </a:r>
              <a:endParaRPr kumimoji="0" lang="zh-CN" altLang="en-US" sz="1200" b="0" i="0" u="none" strike="noStrike" cap="none" normalizeH="0" baseline="0" dirty="0" smtClean="0">
                <a:ln>
                  <a:noFill/>
                </a:ln>
                <a:solidFill>
                  <a:schemeClr val="tx1"/>
                </a:solidFill>
                <a:effectLst/>
                <a:latin typeface="Arial" charset="0"/>
                <a:ea typeface="宋体" pitchFamily="2" charset="-122"/>
              </a:endParaRPr>
            </a:p>
          </p:txBody>
        </p:sp>
      </p:grpSp>
      <p:pic>
        <p:nvPicPr>
          <p:cNvPr id="2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9718"/>
          <a:stretch/>
        </p:blipFill>
        <p:spPr bwMode="auto">
          <a:xfrm>
            <a:off x="4849365" y="252438"/>
            <a:ext cx="3721996"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5762467"/>
      </p:ext>
    </p:extLst>
  </p:cSld>
  <p:clrMapOvr>
    <a:masterClrMapping/>
  </p:clrMapOvr>
  <p:transition spd="med">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p:txBody>
          <a:bodyPr/>
          <a:lstStyle/>
          <a:p>
            <a:r>
              <a:rPr lang="zh-CN" altLang="zh-CN" dirty="0">
                <a:effectLst/>
              </a:rPr>
              <a:t>函数原型</a:t>
            </a:r>
            <a:r>
              <a:rPr lang="zh-CN" altLang="zh-CN" dirty="0" smtClean="0">
                <a:effectLst/>
              </a:rPr>
              <a:t>声明</a:t>
            </a:r>
            <a:endParaRPr lang="en-US" altLang="zh-CN" dirty="0" smtClean="0">
              <a:effectLst/>
            </a:endParaRPr>
          </a:p>
          <a:p>
            <a:pPr marL="271463" lvl="1" indent="0">
              <a:buNone/>
            </a:pPr>
            <a:r>
              <a:rPr lang="zh-CN" altLang="zh-CN" dirty="0">
                <a:effectLst/>
              </a:rPr>
              <a:t>函数声明的一般格式如下：</a:t>
            </a:r>
          </a:p>
          <a:p>
            <a:pPr marL="271463" lvl="1" indent="0">
              <a:buNone/>
            </a:pPr>
            <a:r>
              <a:rPr lang="zh-CN" altLang="zh-CN" dirty="0">
                <a:solidFill>
                  <a:srgbClr val="FF0000"/>
                </a:solidFill>
                <a:effectLst/>
              </a:rPr>
              <a:t>函数类型 函数名（参数表）</a:t>
            </a:r>
            <a:r>
              <a:rPr lang="en-US" altLang="zh-CN" dirty="0">
                <a:solidFill>
                  <a:srgbClr val="FF0000"/>
                </a:solidFill>
                <a:effectLst/>
              </a:rPr>
              <a:t>;</a:t>
            </a:r>
            <a:endParaRPr lang="zh-CN" altLang="zh-CN" dirty="0">
              <a:solidFill>
                <a:srgbClr val="FF0000"/>
              </a:solidFill>
              <a:effectLst/>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32</a:t>
            </a:fld>
            <a:endParaRPr lang="en-US" altLang="zh-CN" dirty="0"/>
          </a:p>
        </p:txBody>
      </p:sp>
    </p:spTree>
    <p:extLst>
      <p:ext uri="{BB962C8B-B14F-4D97-AF65-F5344CB8AC3E}">
        <p14:creationId xmlns:p14="http://schemas.microsoft.com/office/powerpoint/2010/main" val="1771689096"/>
      </p:ext>
    </p:extLst>
  </p:cSld>
  <p:clrMapOvr>
    <a:masterClrMapping/>
  </p:clrMapOvr>
  <p:transition spd="med">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函数的调用</a:t>
            </a:r>
            <a:endParaRPr lang="zh-CN" altLang="en-US" dirty="0"/>
          </a:p>
        </p:txBody>
      </p:sp>
      <p:sp>
        <p:nvSpPr>
          <p:cNvPr id="3" name="内容占位符 2"/>
          <p:cNvSpPr>
            <a:spLocks noGrp="1"/>
          </p:cNvSpPr>
          <p:nvPr>
            <p:ph idx="1"/>
          </p:nvPr>
        </p:nvSpPr>
        <p:spPr>
          <a:xfrm>
            <a:off x="755650" y="1700213"/>
            <a:ext cx="7993063" cy="4825131"/>
          </a:xfrm>
        </p:spPr>
        <p:txBody>
          <a:bodyPr/>
          <a:lstStyle/>
          <a:p>
            <a:r>
              <a:rPr lang="zh-CN" altLang="zh-CN" dirty="0" smtClean="0">
                <a:effectLst/>
              </a:rPr>
              <a:t>函数</a:t>
            </a:r>
            <a:r>
              <a:rPr lang="zh-CN" altLang="zh-CN" dirty="0">
                <a:effectLst/>
              </a:rPr>
              <a:t>先定义后</a:t>
            </a:r>
            <a:r>
              <a:rPr lang="zh-CN" altLang="zh-CN" dirty="0" smtClean="0">
                <a:effectLst/>
              </a:rPr>
              <a:t>调用</a:t>
            </a:r>
            <a:endParaRPr lang="en-US" altLang="zh-CN" dirty="0" smtClean="0">
              <a:effectLst/>
            </a:endParaRPr>
          </a:p>
          <a:p>
            <a:r>
              <a:rPr lang="zh-CN" altLang="zh-CN" dirty="0" smtClean="0">
                <a:effectLst/>
              </a:rPr>
              <a:t>如果</a:t>
            </a:r>
            <a:r>
              <a:rPr lang="zh-CN" altLang="zh-CN" dirty="0">
                <a:effectLst/>
              </a:rPr>
              <a:t>自定义函数被放在主调函数的后面，就需要在函数调用前，加上函数声明（或称函数原型</a:t>
            </a:r>
            <a:r>
              <a:rPr lang="zh-CN" altLang="zh-CN" dirty="0" smtClean="0">
                <a:effectLst/>
              </a:rPr>
              <a:t>）</a:t>
            </a:r>
            <a:endParaRPr lang="en-US" altLang="zh-CN" dirty="0" smtClean="0">
              <a:effectLst/>
            </a:endParaRPr>
          </a:p>
          <a:p>
            <a:r>
              <a:rPr lang="zh-CN" altLang="zh-CN" dirty="0" smtClean="0">
                <a:effectLst/>
              </a:rPr>
              <a:t>函数</a:t>
            </a:r>
            <a:r>
              <a:rPr lang="zh-CN" altLang="zh-CN" dirty="0">
                <a:effectLst/>
              </a:rPr>
              <a:t>声明的目的主要是把函数名、函数参数的个数和参数类型等信息通知编译系统，以便在遇到函数调用时，编译系统能正确识别函数并检查函数调用是否合法</a:t>
            </a:r>
            <a:r>
              <a:rPr lang="zh-CN" altLang="zh-CN" dirty="0" smtClean="0">
                <a:effectLst/>
              </a:rPr>
              <a:t>。</a:t>
            </a:r>
            <a:endParaRPr lang="en-US" altLang="zh-CN" dirty="0" smtClean="0">
              <a:effectLst/>
            </a:endParaRPr>
          </a:p>
          <a:p>
            <a:r>
              <a:rPr lang="zh-CN" altLang="zh-CN" dirty="0">
                <a:effectLst/>
              </a:rPr>
              <a:t>函数声明中的函数名后圆括号中的参数表中的参数名是可以省略的</a:t>
            </a:r>
            <a:r>
              <a:rPr lang="zh-CN" altLang="zh-CN" dirty="0" smtClean="0">
                <a:effectLst/>
              </a:rPr>
              <a:t>。</a:t>
            </a:r>
            <a:endParaRPr lang="zh-CN" altLang="zh-CN" dirty="0">
              <a:effectLst/>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33</a:t>
            </a:fld>
            <a:endParaRPr lang="en-US" altLang="zh-CN" dirty="0"/>
          </a:p>
        </p:txBody>
      </p:sp>
    </p:spTree>
    <p:extLst>
      <p:ext uri="{BB962C8B-B14F-4D97-AF65-F5344CB8AC3E}">
        <p14:creationId xmlns:p14="http://schemas.microsoft.com/office/powerpoint/2010/main" val="56650758"/>
      </p:ext>
    </p:extLst>
  </p:cSld>
  <p:clrMapOvr>
    <a:masterClrMapping/>
  </p:clrMapOvr>
  <p:transition spd="med">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a:t>
            </a:r>
            <a:r>
              <a:rPr lang="zh-CN" altLang="zh-CN" dirty="0" smtClean="0">
                <a:effectLst/>
              </a:rPr>
              <a:t>调用</a:t>
            </a:r>
            <a:r>
              <a:rPr lang="en-US" altLang="zh-CN" dirty="0" smtClean="0">
                <a:effectLst/>
              </a:rPr>
              <a:t>  P118</a:t>
            </a:r>
            <a:r>
              <a:rPr lang="zh-CN" altLang="en-US" dirty="0" smtClean="0">
                <a:effectLst/>
              </a:rPr>
              <a:t>例</a:t>
            </a:r>
            <a:endParaRPr lang="zh-CN" altLang="en-US" dirty="0"/>
          </a:p>
        </p:txBody>
      </p:sp>
      <p:sp>
        <p:nvSpPr>
          <p:cNvPr id="3" name="内容占位符 2"/>
          <p:cNvSpPr>
            <a:spLocks noGrp="1"/>
          </p:cNvSpPr>
          <p:nvPr>
            <p:ph sz="half" idx="1"/>
          </p:nvPr>
        </p:nvSpPr>
        <p:spPr>
          <a:xfrm>
            <a:off x="755650" y="1700213"/>
            <a:ext cx="7272734" cy="2016819"/>
          </a:xfrm>
        </p:spPr>
        <p:txBody>
          <a:bodyPr/>
          <a:lstStyle/>
          <a:p>
            <a:pPr marL="271463" lvl="1" indent="0">
              <a:buNone/>
            </a:pPr>
            <a:r>
              <a:rPr lang="zh-CN" altLang="zh-CN" sz="3200" dirty="0">
                <a:effectLst/>
              </a:rPr>
              <a:t>【例</a:t>
            </a:r>
            <a:r>
              <a:rPr lang="en-US" altLang="zh-CN" sz="3200" dirty="0">
                <a:effectLst/>
              </a:rPr>
              <a:t>5-7</a:t>
            </a:r>
            <a:r>
              <a:rPr lang="zh-CN" altLang="zh-CN" sz="3200" dirty="0">
                <a:effectLst/>
              </a:rPr>
              <a:t>】求</a:t>
            </a:r>
            <a:r>
              <a:rPr lang="en-US" altLang="zh-CN" sz="3200" dirty="0">
                <a:effectLst/>
              </a:rPr>
              <a:t>100</a:t>
            </a:r>
            <a:r>
              <a:rPr lang="zh-CN" altLang="zh-CN" sz="3200" dirty="0">
                <a:effectLst/>
              </a:rPr>
              <a:t>以内的全部素数，每行输出</a:t>
            </a:r>
            <a:r>
              <a:rPr lang="en-US" altLang="zh-CN" sz="3200" dirty="0">
                <a:effectLst/>
              </a:rPr>
              <a:t>10</a:t>
            </a:r>
            <a:r>
              <a:rPr lang="zh-CN" altLang="zh-CN" sz="3200" dirty="0">
                <a:effectLst/>
              </a:rPr>
              <a:t>个数。要求定义和调用函数</a:t>
            </a:r>
            <a:r>
              <a:rPr lang="en-US" altLang="zh-CN" sz="3200" dirty="0">
                <a:effectLst/>
              </a:rPr>
              <a:t>prime(n)</a:t>
            </a:r>
            <a:r>
              <a:rPr lang="zh-CN" altLang="zh-CN" sz="3200" dirty="0">
                <a:effectLst/>
              </a:rPr>
              <a:t>判断</a:t>
            </a:r>
            <a:r>
              <a:rPr lang="en-US" altLang="zh-CN" sz="3200" dirty="0">
                <a:effectLst/>
              </a:rPr>
              <a:t>n</a:t>
            </a:r>
            <a:r>
              <a:rPr lang="zh-CN" altLang="zh-CN" sz="3200" dirty="0">
                <a:effectLst/>
              </a:rPr>
              <a:t>是否为素数</a:t>
            </a:r>
            <a:r>
              <a:rPr lang="zh-CN" altLang="zh-CN" sz="3200" dirty="0" smtClean="0">
                <a:effectLst/>
              </a:rPr>
              <a:t>。</a:t>
            </a:r>
            <a:endParaRPr lang="en-US" altLang="zh-CN" sz="3200" dirty="0" smtClean="0">
              <a:effectLst/>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34</a:t>
            </a:fld>
            <a:endParaRPr lang="en-US" altLang="zh-CN" dirty="0"/>
          </a:p>
        </p:txBody>
      </p:sp>
      <p:sp>
        <p:nvSpPr>
          <p:cNvPr id="6" name="内容占位符 2"/>
          <p:cNvSpPr txBox="1">
            <a:spLocks/>
          </p:cNvSpPr>
          <p:nvPr/>
        </p:nvSpPr>
        <p:spPr bwMode="auto">
          <a:xfrm>
            <a:off x="1187624" y="3933056"/>
            <a:ext cx="7200800" cy="194421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kern="0" dirty="0" smtClean="0">
                <a:effectLst/>
              </a:rPr>
              <a:t>主函数</a:t>
            </a:r>
            <a:r>
              <a:rPr lang="zh-CN" altLang="en-US" kern="0" dirty="0" smtClean="0">
                <a:solidFill>
                  <a:srgbClr val="0066FF"/>
                </a:solidFill>
                <a:effectLst/>
              </a:rPr>
              <a:t>：利用循环将</a:t>
            </a:r>
            <a:r>
              <a:rPr lang="en-US" altLang="zh-CN" kern="0" dirty="0" smtClean="0">
                <a:solidFill>
                  <a:srgbClr val="0066FF"/>
                </a:solidFill>
                <a:effectLst/>
              </a:rPr>
              <a:t>100</a:t>
            </a:r>
            <a:r>
              <a:rPr lang="zh-CN" altLang="en-US" kern="0" dirty="0" smtClean="0">
                <a:solidFill>
                  <a:srgbClr val="0066FF"/>
                </a:solidFill>
                <a:effectLst/>
              </a:rPr>
              <a:t>以内的数遍历，</a:t>
            </a:r>
            <a:r>
              <a:rPr lang="zh-CN" altLang="en-US" kern="0" dirty="0">
                <a:solidFill>
                  <a:srgbClr val="0066FF"/>
                </a:solidFill>
                <a:effectLst/>
              </a:rPr>
              <a:t>是素数，则输出，</a:t>
            </a:r>
            <a:r>
              <a:rPr lang="zh-CN" altLang="en-US" kern="0" dirty="0" smtClean="0">
                <a:solidFill>
                  <a:srgbClr val="0066FF"/>
                </a:solidFill>
                <a:effectLst/>
              </a:rPr>
              <a:t>每行输出</a:t>
            </a:r>
            <a:r>
              <a:rPr lang="en-US" altLang="zh-CN" kern="0" dirty="0" smtClean="0">
                <a:solidFill>
                  <a:srgbClr val="0066FF"/>
                </a:solidFill>
                <a:effectLst/>
              </a:rPr>
              <a:t>10</a:t>
            </a:r>
            <a:r>
              <a:rPr lang="zh-CN" altLang="en-US" kern="0" dirty="0" smtClean="0">
                <a:solidFill>
                  <a:srgbClr val="0066FF"/>
                </a:solidFill>
                <a:effectLst/>
              </a:rPr>
              <a:t>个素数</a:t>
            </a:r>
            <a:endParaRPr lang="en-US" altLang="zh-CN" kern="0" dirty="0" smtClean="0">
              <a:solidFill>
                <a:srgbClr val="0066FF"/>
              </a:solidFill>
              <a:effectLst/>
            </a:endParaRPr>
          </a:p>
          <a:p>
            <a:pPr marL="265113" lvl="1" indent="0">
              <a:buNone/>
            </a:pPr>
            <a:r>
              <a:rPr lang="zh-CN" altLang="en-US" kern="0" dirty="0" smtClean="0">
                <a:effectLst/>
              </a:rPr>
              <a:t>子函数</a:t>
            </a:r>
            <a:r>
              <a:rPr lang="zh-CN" altLang="en-US" kern="0" dirty="0" smtClean="0">
                <a:solidFill>
                  <a:srgbClr val="0066FF"/>
                </a:solidFill>
                <a:effectLst/>
              </a:rPr>
              <a:t>：确定某数是否为素数</a:t>
            </a:r>
            <a:endParaRPr lang="en-US" altLang="zh-CN" kern="0" dirty="0" smtClean="0">
              <a:solidFill>
                <a:srgbClr val="0066FF"/>
              </a:solidFill>
              <a:effectLst/>
            </a:endParaRPr>
          </a:p>
          <a:p>
            <a:pPr marL="265113" lvl="1" indent="0">
              <a:buNone/>
            </a:pPr>
            <a:r>
              <a:rPr lang="zh-CN" altLang="en-US" kern="0" dirty="0" smtClean="0">
                <a:solidFill>
                  <a:srgbClr val="0066FF"/>
                </a:solidFill>
                <a:effectLst/>
              </a:rPr>
              <a:t>需要传递的函数</a:t>
            </a:r>
            <a:r>
              <a:rPr lang="zh-CN" altLang="en-US" kern="0" dirty="0" smtClean="0">
                <a:effectLst/>
              </a:rPr>
              <a:t>参数</a:t>
            </a:r>
            <a:r>
              <a:rPr lang="zh-CN" altLang="en-US" kern="0" dirty="0" smtClean="0">
                <a:solidFill>
                  <a:srgbClr val="0066FF"/>
                </a:solidFill>
                <a:effectLst/>
              </a:rPr>
              <a:t>：一次传递一个数值，</a:t>
            </a:r>
            <a:r>
              <a:rPr lang="en-US" altLang="zh-CN" kern="0" dirty="0" err="1" smtClean="0">
                <a:solidFill>
                  <a:srgbClr val="0066FF"/>
                </a:solidFill>
                <a:effectLst/>
              </a:rPr>
              <a:t>int</a:t>
            </a:r>
            <a:r>
              <a:rPr lang="en-US" altLang="zh-CN" kern="0" dirty="0" smtClean="0">
                <a:solidFill>
                  <a:srgbClr val="0066FF"/>
                </a:solidFill>
                <a:effectLst/>
              </a:rPr>
              <a:t> m</a:t>
            </a:r>
            <a:endParaRPr lang="zh-CN" altLang="zh-CN" kern="0" dirty="0">
              <a:solidFill>
                <a:srgbClr val="0066FF"/>
              </a:solidFill>
              <a:effectLst/>
            </a:endParaRPr>
          </a:p>
        </p:txBody>
      </p:sp>
    </p:spTree>
    <p:extLst>
      <p:ext uri="{BB962C8B-B14F-4D97-AF65-F5344CB8AC3E}">
        <p14:creationId xmlns:p14="http://schemas.microsoft.com/office/powerpoint/2010/main" val="4188223129"/>
      </p:ext>
    </p:extLst>
  </p:cSld>
  <p:clrMapOvr>
    <a:masterClrMapping/>
  </p:clrMapOvr>
  <p:transition spd="med">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764704"/>
            <a:ext cx="7924800" cy="784225"/>
          </a:xfrm>
        </p:spPr>
        <p:txBody>
          <a:bodyPr/>
          <a:lstStyle/>
          <a:p>
            <a:r>
              <a:rPr lang="zh-CN" altLang="zh-CN" dirty="0">
                <a:effectLst/>
              </a:rPr>
              <a:t>函数的</a:t>
            </a:r>
            <a:r>
              <a:rPr lang="zh-CN" altLang="zh-CN" dirty="0" smtClean="0">
                <a:effectLst/>
              </a:rPr>
              <a:t>调用</a:t>
            </a:r>
            <a:r>
              <a:rPr lang="en-US" altLang="zh-CN" dirty="0" smtClean="0">
                <a:effectLst/>
              </a:rPr>
              <a:t>  P118</a:t>
            </a:r>
            <a:r>
              <a:rPr lang="zh-CN" altLang="en-US" dirty="0" smtClean="0">
                <a:effectLst/>
              </a:rPr>
              <a:t>例</a:t>
            </a:r>
            <a:endParaRPr lang="zh-CN" altLang="en-US" dirty="0"/>
          </a:p>
        </p:txBody>
      </p:sp>
      <p:sp>
        <p:nvSpPr>
          <p:cNvPr id="3" name="内容占位符 2"/>
          <p:cNvSpPr>
            <a:spLocks noGrp="1"/>
          </p:cNvSpPr>
          <p:nvPr>
            <p:ph sz="half" idx="1"/>
          </p:nvPr>
        </p:nvSpPr>
        <p:spPr>
          <a:xfrm>
            <a:off x="539626" y="1556792"/>
            <a:ext cx="4464422" cy="5157787"/>
          </a:xfrm>
        </p:spPr>
        <p:txBody>
          <a:bodyPr/>
          <a:lstStyle/>
          <a:p>
            <a:pPr marL="271463" lvl="1" indent="0">
              <a:buNone/>
            </a:pPr>
            <a:r>
              <a:rPr lang="en-US" altLang="zh-CN" sz="1800" dirty="0" smtClean="0">
                <a:effectLst/>
              </a:rPr>
              <a:t>#</a:t>
            </a:r>
            <a:r>
              <a:rPr lang="en-US" altLang="zh-CN" sz="1800" dirty="0">
                <a:effectLst/>
              </a:rPr>
              <a:t>include &lt;stdio.h&gt;</a:t>
            </a:r>
            <a:endParaRPr lang="zh-CN" altLang="zh-CN" sz="1800" dirty="0">
              <a:effectLst/>
            </a:endParaRPr>
          </a:p>
          <a:p>
            <a:pPr marL="271463" lvl="1" indent="0">
              <a:buNone/>
            </a:pPr>
            <a:r>
              <a:rPr lang="en-US" altLang="zh-CN" sz="1800" dirty="0">
                <a:effectLst/>
              </a:rPr>
              <a:t>int </a:t>
            </a:r>
            <a:r>
              <a:rPr lang="en-US" altLang="zh-CN" sz="1800" dirty="0" smtClean="0">
                <a:effectLst/>
              </a:rPr>
              <a:t>prime(int n);    </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a:t>
            </a:r>
            <a:r>
              <a:rPr lang="en-US" altLang="zh-CN" sz="1800" dirty="0" smtClean="0">
                <a:effectLst/>
              </a:rPr>
              <a:t> int </a:t>
            </a:r>
            <a:r>
              <a:rPr lang="en-US" altLang="zh-CN" sz="1800" dirty="0">
                <a:effectLst/>
              </a:rPr>
              <a:t>count=0,i;</a:t>
            </a:r>
            <a:endParaRPr lang="zh-CN" altLang="zh-CN" sz="1800" dirty="0">
              <a:effectLst/>
            </a:endParaRPr>
          </a:p>
          <a:p>
            <a:pPr marL="271463" lvl="1" indent="0">
              <a:buNone/>
            </a:pPr>
            <a:r>
              <a:rPr lang="en-US" altLang="zh-CN" sz="1800" dirty="0">
                <a:effectLst/>
              </a:rPr>
              <a:t>   </a:t>
            </a:r>
            <a:r>
              <a:rPr lang="en-US" altLang="zh-CN" sz="1800" dirty="0" smtClean="0">
                <a:effectLst/>
              </a:rPr>
              <a:t> for(i=2;i</a:t>
            </a:r>
            <a:r>
              <a:rPr lang="en-US" altLang="zh-CN" sz="1800" dirty="0">
                <a:effectLst/>
              </a:rPr>
              <a:t>&lt;=100;i++)</a:t>
            </a:r>
            <a:endParaRPr lang="zh-CN" altLang="zh-CN" sz="1800" dirty="0">
              <a:effectLst/>
            </a:endParaRPr>
          </a:p>
          <a:p>
            <a:pPr marL="271463" lvl="1" indent="0">
              <a:buNone/>
            </a:pPr>
            <a:r>
              <a:rPr lang="en-US" altLang="zh-CN" sz="1800" dirty="0">
                <a:effectLst/>
              </a:rPr>
              <a:t>    if(prime(i))</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a:t>
            </a:r>
            <a:r>
              <a:rPr lang="en-US" altLang="zh-CN" sz="1800" dirty="0" smtClean="0">
                <a:effectLst/>
              </a:rPr>
              <a:t>  printf</a:t>
            </a:r>
            <a:r>
              <a:rPr lang="en-US" altLang="zh-CN" sz="1800" dirty="0">
                <a:effectLst/>
              </a:rPr>
              <a:t>("%6d",i);</a:t>
            </a:r>
            <a:endParaRPr lang="zh-CN" altLang="zh-CN" sz="1800" dirty="0">
              <a:effectLst/>
            </a:endParaRPr>
          </a:p>
          <a:p>
            <a:pPr marL="271463" lvl="1" indent="0">
              <a:buNone/>
            </a:pPr>
            <a:r>
              <a:rPr lang="en-US" altLang="zh-CN" sz="1800" dirty="0">
                <a:effectLst/>
              </a:rPr>
              <a:t>        </a:t>
            </a:r>
            <a:r>
              <a:rPr lang="en-US" altLang="zh-CN" sz="1800" dirty="0" smtClean="0">
                <a:effectLst/>
              </a:rPr>
              <a:t>  count</a:t>
            </a:r>
            <a:r>
              <a:rPr lang="en-US" altLang="zh-CN" sz="1800" dirty="0">
                <a:effectLst/>
              </a:rPr>
              <a:t>++;</a:t>
            </a:r>
            <a:endParaRPr lang="zh-CN" altLang="zh-CN" sz="1800" dirty="0">
              <a:effectLst/>
            </a:endParaRPr>
          </a:p>
          <a:p>
            <a:pPr marL="271463" lvl="1" indent="0">
              <a:buNone/>
            </a:pPr>
            <a:r>
              <a:rPr lang="en-US" altLang="zh-CN" sz="1800" dirty="0">
                <a:effectLst/>
              </a:rPr>
              <a:t>        </a:t>
            </a:r>
            <a:r>
              <a:rPr lang="en-US" altLang="zh-CN" sz="1800" dirty="0" smtClean="0">
                <a:effectLst/>
              </a:rPr>
              <a:t>  if(count%10</a:t>
            </a:r>
            <a:r>
              <a:rPr lang="en-US" altLang="zh-CN" sz="1800" dirty="0">
                <a:effectLst/>
              </a:rPr>
              <a:t>==0) printf("\n");</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endParaRPr lang="en-US" altLang="zh-CN" dirty="0" smtClean="0">
              <a:effectLst/>
            </a:endParaRPr>
          </a:p>
          <a:p>
            <a:pPr marL="271463" lvl="1" indent="0">
              <a:buNone/>
            </a:pPr>
            <a:endParaRPr lang="zh-CN" altLang="zh-CN" dirty="0">
              <a:effectLst/>
            </a:endParaRPr>
          </a:p>
          <a:p>
            <a:endParaRPr lang="zh-CN" altLang="en-US" dirty="0"/>
          </a:p>
        </p:txBody>
      </p:sp>
      <p:sp>
        <p:nvSpPr>
          <p:cNvPr id="5" name="内容占位符 4"/>
          <p:cNvSpPr>
            <a:spLocks noGrp="1"/>
          </p:cNvSpPr>
          <p:nvPr>
            <p:ph sz="half" idx="2"/>
          </p:nvPr>
        </p:nvSpPr>
        <p:spPr>
          <a:xfrm>
            <a:off x="4067944" y="1573043"/>
            <a:ext cx="3532312" cy="2592288"/>
          </a:xfrm>
        </p:spPr>
        <p:txBody>
          <a:bodyPr/>
          <a:lstStyle/>
          <a:p>
            <a:pPr marL="0" lvl="0" indent="0">
              <a:buNone/>
            </a:pPr>
            <a:r>
              <a:rPr lang="en-US" altLang="zh-CN" sz="2000" dirty="0" err="1">
                <a:solidFill>
                  <a:srgbClr val="003366"/>
                </a:solidFill>
              </a:rPr>
              <a:t>int</a:t>
            </a:r>
            <a:r>
              <a:rPr lang="en-US" altLang="zh-CN" sz="2000" dirty="0">
                <a:solidFill>
                  <a:srgbClr val="003366"/>
                </a:solidFill>
              </a:rPr>
              <a:t> prime (</a:t>
            </a:r>
            <a:r>
              <a:rPr lang="en-US" altLang="zh-CN" sz="2000" dirty="0" err="1">
                <a:solidFill>
                  <a:srgbClr val="003366"/>
                </a:solidFill>
              </a:rPr>
              <a:t>int</a:t>
            </a:r>
            <a:r>
              <a:rPr lang="en-US" altLang="zh-CN" sz="2000" dirty="0">
                <a:solidFill>
                  <a:srgbClr val="003366"/>
                </a:solidFill>
              </a:rPr>
              <a:t> n)</a:t>
            </a:r>
          </a:p>
          <a:p>
            <a:pPr marL="0" lvl="0" indent="0">
              <a:buNone/>
            </a:pPr>
            <a:r>
              <a:rPr lang="en-US" altLang="zh-CN" sz="2000" dirty="0">
                <a:solidFill>
                  <a:srgbClr val="003366"/>
                </a:solidFill>
              </a:rPr>
              <a:t>{   </a:t>
            </a:r>
            <a:r>
              <a:rPr lang="en-US" altLang="zh-CN" sz="2000" dirty="0" err="1">
                <a:solidFill>
                  <a:srgbClr val="003366"/>
                </a:solidFill>
              </a:rPr>
              <a:t>int</a:t>
            </a:r>
            <a:r>
              <a:rPr lang="en-US" altLang="zh-CN" sz="2000" dirty="0">
                <a:solidFill>
                  <a:srgbClr val="003366"/>
                </a:solidFill>
              </a:rPr>
              <a:t> </a:t>
            </a:r>
            <a:r>
              <a:rPr lang="en-US" altLang="zh-CN" sz="2000" dirty="0" err="1">
                <a:solidFill>
                  <a:srgbClr val="003366"/>
                </a:solidFill>
              </a:rPr>
              <a:t>i</a:t>
            </a:r>
            <a:r>
              <a:rPr lang="en-US" altLang="zh-CN" sz="2000" dirty="0">
                <a:solidFill>
                  <a:srgbClr val="003366"/>
                </a:solidFill>
              </a:rPr>
              <a:t>;</a:t>
            </a:r>
          </a:p>
          <a:p>
            <a:pPr marL="0" lvl="0" indent="0">
              <a:buNone/>
            </a:pPr>
            <a:r>
              <a:rPr lang="en-US" altLang="zh-CN" sz="2000" dirty="0" smtClean="0">
                <a:solidFill>
                  <a:srgbClr val="003366"/>
                </a:solidFill>
              </a:rPr>
              <a:t>    for(</a:t>
            </a:r>
            <a:r>
              <a:rPr lang="en-US" altLang="zh-CN" sz="2000" dirty="0" err="1" smtClean="0">
                <a:solidFill>
                  <a:srgbClr val="003366"/>
                </a:solidFill>
              </a:rPr>
              <a:t>i</a:t>
            </a:r>
            <a:r>
              <a:rPr lang="en-US" altLang="zh-CN" sz="2000" dirty="0" smtClean="0">
                <a:solidFill>
                  <a:srgbClr val="003366"/>
                </a:solidFill>
              </a:rPr>
              <a:t>=2;i</a:t>
            </a:r>
            <a:r>
              <a:rPr lang="en-US" altLang="zh-CN" sz="2000" dirty="0">
                <a:solidFill>
                  <a:srgbClr val="003366"/>
                </a:solidFill>
              </a:rPr>
              <a:t>&lt;=n/2;i++)</a:t>
            </a:r>
          </a:p>
          <a:p>
            <a:pPr marL="0" lvl="0" indent="0">
              <a:buNone/>
            </a:pPr>
            <a:r>
              <a:rPr lang="en-US" altLang="zh-CN" sz="2000" dirty="0">
                <a:solidFill>
                  <a:srgbClr val="003366"/>
                </a:solidFill>
              </a:rPr>
              <a:t>        if (</a:t>
            </a:r>
            <a:r>
              <a:rPr lang="en-US" altLang="zh-CN" sz="2000" dirty="0" err="1">
                <a:solidFill>
                  <a:srgbClr val="003366"/>
                </a:solidFill>
              </a:rPr>
              <a:t>n%i</a:t>
            </a:r>
            <a:r>
              <a:rPr lang="en-US" altLang="zh-CN" sz="2000" dirty="0">
                <a:solidFill>
                  <a:srgbClr val="003366"/>
                </a:solidFill>
              </a:rPr>
              <a:t>==0) return 0;</a:t>
            </a:r>
          </a:p>
          <a:p>
            <a:pPr marL="0" lvl="0" indent="0">
              <a:buNone/>
            </a:pPr>
            <a:r>
              <a:rPr lang="en-US" altLang="zh-CN" sz="2000" dirty="0">
                <a:solidFill>
                  <a:srgbClr val="003366"/>
                </a:solidFill>
              </a:rPr>
              <a:t>    return 1;</a:t>
            </a:r>
          </a:p>
          <a:p>
            <a:pPr marL="0" lvl="0" indent="0">
              <a:buNone/>
            </a:pPr>
            <a:r>
              <a:rPr lang="en-US" altLang="zh-CN" sz="2000" dirty="0">
                <a:solidFill>
                  <a:srgbClr val="003366"/>
                </a:solidFill>
              </a:rPr>
              <a:t>}</a:t>
            </a:r>
            <a:endParaRPr lang="zh-CN" altLang="en-US" sz="2000" dirty="0">
              <a:solidFill>
                <a:srgbClr val="003366"/>
              </a:solidFill>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35</a:t>
            </a:fld>
            <a:endParaRPr lang="en-US" altLang="zh-CN" dirty="0"/>
          </a:p>
        </p:txBody>
      </p:sp>
      <p:sp>
        <p:nvSpPr>
          <p:cNvPr id="6" name="内容占位符 2"/>
          <p:cNvSpPr txBox="1">
            <a:spLocks/>
          </p:cNvSpPr>
          <p:nvPr/>
        </p:nvSpPr>
        <p:spPr bwMode="auto">
          <a:xfrm>
            <a:off x="4319464" y="3933056"/>
            <a:ext cx="4824536" cy="140851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1600" kern="0" dirty="0" smtClean="0">
                <a:solidFill>
                  <a:srgbClr val="0066FF"/>
                </a:solidFill>
                <a:effectLst/>
              </a:rPr>
              <a:t>主函数：利用循环将</a:t>
            </a:r>
            <a:r>
              <a:rPr lang="en-US" altLang="zh-CN" sz="1600" kern="0" dirty="0" smtClean="0">
                <a:solidFill>
                  <a:srgbClr val="0066FF"/>
                </a:solidFill>
                <a:effectLst/>
              </a:rPr>
              <a:t>100</a:t>
            </a:r>
            <a:r>
              <a:rPr lang="zh-CN" altLang="en-US" sz="1600" kern="0" dirty="0" smtClean="0">
                <a:solidFill>
                  <a:srgbClr val="0066FF"/>
                </a:solidFill>
                <a:effectLst/>
              </a:rPr>
              <a:t>以内的数遍历，是素数，则输出，每行输出</a:t>
            </a:r>
            <a:r>
              <a:rPr lang="en-US" altLang="zh-CN" sz="1600" kern="0" dirty="0" smtClean="0">
                <a:solidFill>
                  <a:srgbClr val="0066FF"/>
                </a:solidFill>
                <a:effectLst/>
              </a:rPr>
              <a:t>10</a:t>
            </a:r>
            <a:r>
              <a:rPr lang="zh-CN" altLang="en-US" sz="1600" kern="0" dirty="0" smtClean="0">
                <a:solidFill>
                  <a:srgbClr val="0066FF"/>
                </a:solidFill>
                <a:effectLst/>
              </a:rPr>
              <a:t>个素数</a:t>
            </a:r>
            <a:endParaRPr lang="en-US" altLang="zh-CN" sz="1600" kern="0" dirty="0" smtClean="0">
              <a:solidFill>
                <a:srgbClr val="0066FF"/>
              </a:solidFill>
              <a:effectLst/>
            </a:endParaRPr>
          </a:p>
          <a:p>
            <a:pPr marL="265113" lvl="1" indent="0">
              <a:buNone/>
            </a:pPr>
            <a:r>
              <a:rPr lang="zh-CN" altLang="en-US" sz="1600" kern="0" dirty="0" smtClean="0">
                <a:solidFill>
                  <a:srgbClr val="0066FF"/>
                </a:solidFill>
                <a:effectLst/>
              </a:rPr>
              <a:t>子函数：确定某数是否为素数</a:t>
            </a:r>
            <a:endParaRPr lang="en-US" altLang="zh-CN" sz="1600" kern="0" dirty="0" smtClean="0">
              <a:solidFill>
                <a:srgbClr val="0066FF"/>
              </a:solidFill>
              <a:effectLst/>
            </a:endParaRPr>
          </a:p>
          <a:p>
            <a:pPr marL="265113" lvl="1" indent="0">
              <a:buNone/>
            </a:pPr>
            <a:r>
              <a:rPr lang="zh-CN" altLang="en-US" sz="1600" kern="0" dirty="0" smtClean="0">
                <a:solidFill>
                  <a:srgbClr val="0066FF"/>
                </a:solidFill>
                <a:effectLst/>
              </a:rPr>
              <a:t>需要传递的函数参数：一次传递一个数值，</a:t>
            </a:r>
            <a:r>
              <a:rPr lang="en-US" altLang="zh-CN" sz="1600" kern="0" dirty="0" err="1" smtClean="0">
                <a:solidFill>
                  <a:srgbClr val="0066FF"/>
                </a:solidFill>
                <a:effectLst/>
              </a:rPr>
              <a:t>int</a:t>
            </a:r>
            <a:r>
              <a:rPr lang="en-US" altLang="zh-CN" sz="1600" kern="0" dirty="0" smtClean="0">
                <a:solidFill>
                  <a:srgbClr val="0066FF"/>
                </a:solidFill>
                <a:effectLst/>
              </a:rPr>
              <a:t> m</a:t>
            </a:r>
            <a:endParaRPr lang="zh-CN" altLang="zh-CN" sz="1600" kern="0" dirty="0">
              <a:solidFill>
                <a:srgbClr val="0066FF"/>
              </a:solidFill>
              <a:effectLst/>
            </a:endParaRPr>
          </a:p>
        </p:txBody>
      </p:sp>
    </p:spTree>
    <p:extLst>
      <p:ext uri="{BB962C8B-B14F-4D97-AF65-F5344CB8AC3E}">
        <p14:creationId xmlns:p14="http://schemas.microsoft.com/office/powerpoint/2010/main" val="3512769391"/>
      </p:ext>
    </p:extLst>
  </p:cSld>
  <p:clrMapOvr>
    <a:masterClrMapping/>
  </p:clrMapOvr>
  <p:transition spd="med">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数组名作为函数的参数</a:t>
            </a:r>
          </a:p>
        </p:txBody>
      </p:sp>
      <p:sp>
        <p:nvSpPr>
          <p:cNvPr id="3" name="内容占位符 2"/>
          <p:cNvSpPr>
            <a:spLocks noGrp="1"/>
          </p:cNvSpPr>
          <p:nvPr>
            <p:ph idx="1"/>
          </p:nvPr>
        </p:nvSpPr>
        <p:spPr/>
        <p:txBody>
          <a:bodyPr/>
          <a:lstStyle/>
          <a:p>
            <a:pPr marL="271463" lvl="1" indent="457200">
              <a:buNone/>
            </a:pPr>
            <a:r>
              <a:rPr lang="zh-CN" altLang="zh-CN" dirty="0">
                <a:effectLst/>
              </a:rPr>
              <a:t>在</a:t>
            </a:r>
            <a:r>
              <a:rPr lang="en-US" altLang="zh-CN" dirty="0">
                <a:effectLst/>
              </a:rPr>
              <a:t>C</a:t>
            </a:r>
            <a:r>
              <a:rPr lang="zh-CN" altLang="zh-CN" dirty="0">
                <a:effectLst/>
              </a:rPr>
              <a:t>语言中，也可以用数组名作为函数的参数，由于数组名代表数组的首地址，因此实参只是将数组的首地址传递给所对应的形参，因此形参应为</a:t>
            </a:r>
            <a:r>
              <a:rPr lang="zh-CN" altLang="zh-CN" dirty="0">
                <a:solidFill>
                  <a:srgbClr val="FF0000"/>
                </a:solidFill>
                <a:effectLst/>
              </a:rPr>
              <a:t>数组名</a:t>
            </a:r>
            <a:r>
              <a:rPr lang="zh-CN" altLang="zh-CN" dirty="0">
                <a:effectLst/>
              </a:rPr>
              <a:t>或</a:t>
            </a:r>
            <a:r>
              <a:rPr lang="zh-CN" altLang="zh-CN" dirty="0">
                <a:solidFill>
                  <a:srgbClr val="FF0000"/>
                </a:solidFill>
                <a:effectLst/>
              </a:rPr>
              <a:t>指针</a:t>
            </a:r>
            <a:r>
              <a:rPr lang="zh-CN" altLang="zh-CN" dirty="0" smtClean="0">
                <a:effectLst/>
              </a:rPr>
              <a:t>。</a:t>
            </a:r>
            <a:endParaRPr lang="en-US" altLang="zh-CN" dirty="0" smtClean="0">
              <a:effectLst/>
            </a:endParaRPr>
          </a:p>
          <a:p>
            <a:pPr marL="271463" lvl="1" indent="457200">
              <a:buNone/>
            </a:pPr>
            <a:endParaRPr lang="zh-CN" altLang="zh-CN" dirty="0">
              <a:effectLst/>
            </a:endParaRP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36</a:t>
            </a:fld>
            <a:endParaRPr lang="en-US" altLang="zh-CN" dirty="0"/>
          </a:p>
        </p:txBody>
      </p:sp>
    </p:spTree>
    <p:extLst>
      <p:ext uri="{BB962C8B-B14F-4D97-AF65-F5344CB8AC3E}">
        <p14:creationId xmlns:p14="http://schemas.microsoft.com/office/powerpoint/2010/main" val="1755491561"/>
      </p:ext>
    </p:extLst>
  </p:cSld>
  <p:clrMapOvr>
    <a:masterClrMapping/>
  </p:clrMapOvr>
  <p:transition spd="med">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数组名作为函数的参数</a:t>
            </a:r>
          </a:p>
        </p:txBody>
      </p:sp>
      <p:sp>
        <p:nvSpPr>
          <p:cNvPr id="3" name="内容占位符 2"/>
          <p:cNvSpPr>
            <a:spLocks noGrp="1"/>
          </p:cNvSpPr>
          <p:nvPr>
            <p:ph idx="1"/>
          </p:nvPr>
        </p:nvSpPr>
        <p:spPr>
          <a:xfrm>
            <a:off x="755650" y="1700213"/>
            <a:ext cx="7993063" cy="1440755"/>
          </a:xfrm>
        </p:spPr>
        <p:txBody>
          <a:bodyPr/>
          <a:lstStyle/>
          <a:p>
            <a:pPr marL="271463" lvl="1" indent="457200">
              <a:buNone/>
            </a:pPr>
            <a:r>
              <a:rPr lang="zh-CN" altLang="zh-CN" dirty="0" smtClean="0">
                <a:effectLst/>
              </a:rPr>
              <a:t>【例</a:t>
            </a:r>
            <a:r>
              <a:rPr lang="en-US" altLang="zh-CN" dirty="0">
                <a:effectLst/>
              </a:rPr>
              <a:t>5-8</a:t>
            </a:r>
            <a:r>
              <a:rPr lang="zh-CN" altLang="zh-CN" dirty="0">
                <a:effectLst/>
              </a:rPr>
              <a:t>】输入</a:t>
            </a:r>
            <a:r>
              <a:rPr lang="en-US" altLang="zh-CN" dirty="0">
                <a:effectLst/>
              </a:rPr>
              <a:t>n</a:t>
            </a:r>
            <a:r>
              <a:rPr lang="zh-CN" altLang="zh-CN" dirty="0">
                <a:effectLst/>
              </a:rPr>
              <a:t>个整数存放在数组中，通过函数的方法将该数组中的元素逆序存放</a:t>
            </a:r>
            <a:r>
              <a:rPr lang="zh-CN" altLang="zh-CN" dirty="0" smtClean="0">
                <a:effectLst/>
              </a:rPr>
              <a:t>。</a:t>
            </a:r>
            <a:endParaRPr lang="en-US" altLang="zh-CN" dirty="0" smtClean="0">
              <a:effectLst/>
            </a:endParaRPr>
          </a:p>
          <a:p>
            <a:pPr marL="271463" lvl="1" indent="457200">
              <a:buNone/>
            </a:pPr>
            <a:r>
              <a:rPr lang="zh-CN" altLang="zh-CN" dirty="0">
                <a:effectLst/>
              </a:rPr>
              <a:t>此程序的运行结果如下图所示：</a:t>
            </a:r>
          </a:p>
          <a:p>
            <a:pPr marL="271463" lvl="1" indent="457200">
              <a:buNone/>
            </a:pPr>
            <a:endParaRPr lang="en-US" altLang="zh-CN" dirty="0" smtClean="0">
              <a:effectLst/>
            </a:endParaRPr>
          </a:p>
          <a:p>
            <a:pPr marL="271463" lvl="1" indent="457200">
              <a:buNone/>
            </a:pPr>
            <a:endParaRPr lang="zh-CN" altLang="zh-CN" dirty="0">
              <a:effectLst/>
            </a:endParaRP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37</a:t>
            </a:fld>
            <a:endParaRPr lang="en-US" altLang="zh-C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140968"/>
            <a:ext cx="4251901"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a:spLocks/>
          </p:cNvSpPr>
          <p:nvPr/>
        </p:nvSpPr>
        <p:spPr bwMode="auto">
          <a:xfrm>
            <a:off x="1475656" y="4797152"/>
            <a:ext cx="6192688" cy="140851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2000" kern="0" dirty="0" smtClean="0">
                <a:solidFill>
                  <a:srgbClr val="0066FF"/>
                </a:solidFill>
                <a:effectLst/>
              </a:rPr>
              <a:t>主函数：输入</a:t>
            </a:r>
            <a:r>
              <a:rPr lang="en-US" altLang="zh-CN" sz="2000" kern="0" dirty="0" smtClean="0">
                <a:solidFill>
                  <a:srgbClr val="0066FF"/>
                </a:solidFill>
                <a:effectLst/>
              </a:rPr>
              <a:t>n</a:t>
            </a:r>
            <a:r>
              <a:rPr lang="zh-CN" altLang="en-US" sz="2000" kern="0" dirty="0" smtClean="0">
                <a:solidFill>
                  <a:srgbClr val="0066FF"/>
                </a:solidFill>
                <a:effectLst/>
              </a:rPr>
              <a:t>和</a:t>
            </a:r>
            <a:r>
              <a:rPr lang="en-US" altLang="zh-CN" sz="2000" kern="0" dirty="0" smtClean="0">
                <a:solidFill>
                  <a:srgbClr val="0066FF"/>
                </a:solidFill>
                <a:effectLst/>
              </a:rPr>
              <a:t>n</a:t>
            </a:r>
            <a:r>
              <a:rPr lang="zh-CN" altLang="en-US" sz="2000" kern="0" dirty="0" smtClean="0">
                <a:solidFill>
                  <a:srgbClr val="0066FF"/>
                </a:solidFill>
                <a:effectLst/>
              </a:rPr>
              <a:t>个整数值</a:t>
            </a:r>
            <a:endParaRPr lang="en-US" altLang="zh-CN" sz="2000" kern="0" dirty="0" smtClean="0">
              <a:solidFill>
                <a:srgbClr val="0066FF"/>
              </a:solidFill>
              <a:effectLst/>
            </a:endParaRPr>
          </a:p>
          <a:p>
            <a:pPr marL="265113" lvl="1" indent="0">
              <a:buNone/>
            </a:pPr>
            <a:r>
              <a:rPr lang="zh-CN" altLang="en-US" sz="2000" kern="0" dirty="0" smtClean="0">
                <a:solidFill>
                  <a:srgbClr val="0066FF"/>
                </a:solidFill>
                <a:effectLst/>
              </a:rPr>
              <a:t>子函数：将数组元素逆序</a:t>
            </a:r>
            <a:endParaRPr lang="en-US" altLang="zh-CN" sz="2000" kern="0" dirty="0" smtClean="0">
              <a:solidFill>
                <a:srgbClr val="0066FF"/>
              </a:solidFill>
              <a:effectLst/>
            </a:endParaRPr>
          </a:p>
          <a:p>
            <a:pPr marL="265113" lvl="1" indent="0">
              <a:buNone/>
            </a:pPr>
            <a:r>
              <a:rPr lang="zh-CN" altLang="en-US" sz="2000" kern="0" dirty="0" smtClean="0">
                <a:solidFill>
                  <a:srgbClr val="0066FF"/>
                </a:solidFill>
                <a:effectLst/>
              </a:rPr>
              <a:t>需要传递的函数参数：数组首地址和数组长度 </a:t>
            </a:r>
            <a:endParaRPr lang="zh-CN" altLang="zh-CN" sz="2000" kern="0" dirty="0">
              <a:solidFill>
                <a:srgbClr val="0066FF"/>
              </a:solidFill>
              <a:effectLst/>
            </a:endParaRPr>
          </a:p>
        </p:txBody>
      </p:sp>
    </p:spTree>
    <p:extLst>
      <p:ext uri="{BB962C8B-B14F-4D97-AF65-F5344CB8AC3E}">
        <p14:creationId xmlns:p14="http://schemas.microsoft.com/office/powerpoint/2010/main" val="3513863789"/>
      </p:ext>
    </p:extLst>
  </p:cSld>
  <p:clrMapOvr>
    <a:masterClrMapping/>
  </p:clrMapOvr>
  <p:transition spd="med">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数组名作为函数的参数</a:t>
            </a:r>
            <a:endParaRPr lang="zh-CN" altLang="en-US" dirty="0"/>
          </a:p>
        </p:txBody>
      </p:sp>
      <p:sp>
        <p:nvSpPr>
          <p:cNvPr id="5" name="内容占位符 4"/>
          <p:cNvSpPr>
            <a:spLocks noGrp="1"/>
          </p:cNvSpPr>
          <p:nvPr>
            <p:ph sz="half" idx="1"/>
          </p:nvPr>
        </p:nvSpPr>
        <p:spPr>
          <a:xfrm>
            <a:off x="755650" y="1628800"/>
            <a:ext cx="3919538" cy="5229200"/>
          </a:xfrm>
        </p:spPr>
        <p:txBody>
          <a:bodyPr/>
          <a:lstStyle/>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void reverse(int </a:t>
            </a:r>
            <a:r>
              <a:rPr lang="en-US" altLang="zh-CN" sz="1800" dirty="0">
                <a:solidFill>
                  <a:srgbClr val="FF0000"/>
                </a:solidFill>
                <a:effectLst/>
              </a:rPr>
              <a:t>b[]</a:t>
            </a:r>
            <a:r>
              <a:rPr lang="en-US" altLang="zh-CN" sz="1800" dirty="0">
                <a:effectLst/>
              </a:rPr>
              <a:t>,</a:t>
            </a:r>
            <a:r>
              <a:rPr lang="en-US" altLang="zh-CN" sz="1800" dirty="0" err="1">
                <a:effectLst/>
              </a:rPr>
              <a:t>int</a:t>
            </a:r>
            <a:r>
              <a:rPr lang="en-US" altLang="zh-CN" sz="1800" dirty="0">
                <a:effectLst/>
              </a:rPr>
              <a:t> </a:t>
            </a:r>
            <a:r>
              <a:rPr lang="en-US" altLang="zh-CN" sz="1800" dirty="0" smtClean="0">
                <a:effectLst/>
              </a:rPr>
              <a:t>m);</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smtClean="0">
                <a:effectLst/>
              </a:rPr>
              <a:t>{    </a:t>
            </a:r>
            <a:r>
              <a:rPr lang="en-US" altLang="zh-CN" sz="1800" dirty="0">
                <a:effectLst/>
              </a:rPr>
              <a:t>int a[30],i,n;</a:t>
            </a:r>
            <a:endParaRPr lang="zh-CN" altLang="zh-CN" sz="1800" dirty="0">
              <a:effectLst/>
            </a:endParaRPr>
          </a:p>
          <a:p>
            <a:pPr marL="271463" lvl="1" indent="0">
              <a:buNone/>
            </a:pPr>
            <a:r>
              <a:rPr lang="en-US" altLang="zh-CN" sz="1800" dirty="0">
                <a:effectLst/>
              </a:rPr>
              <a:t>    printf("Enter n:");</a:t>
            </a:r>
            <a:endParaRPr lang="zh-CN" altLang="zh-CN" sz="1800" dirty="0">
              <a:effectLst/>
            </a:endParaRPr>
          </a:p>
          <a:p>
            <a:pPr marL="271463" lvl="1" indent="0">
              <a:buNone/>
            </a:pPr>
            <a:r>
              <a:rPr lang="en-US" altLang="zh-CN" sz="1800" dirty="0">
                <a:effectLst/>
              </a:rPr>
              <a:t>    scanf("%d",&amp;n);</a:t>
            </a:r>
            <a:endParaRPr lang="zh-CN" altLang="zh-CN" sz="1800" dirty="0">
              <a:effectLst/>
            </a:endParaRPr>
          </a:p>
          <a:p>
            <a:pPr marL="271463" lvl="1" indent="0">
              <a:buNone/>
            </a:pPr>
            <a:r>
              <a:rPr lang="en-US" altLang="zh-CN" sz="1800" dirty="0">
                <a:effectLst/>
              </a:rPr>
              <a:t>    printf("Enter %d integers:",n);</a:t>
            </a:r>
            <a:endParaRPr lang="zh-CN" altLang="zh-CN" sz="1800" dirty="0">
              <a:effectLst/>
            </a:endParaRPr>
          </a:p>
          <a:p>
            <a:pPr marL="271463" lvl="1" indent="0">
              <a:buNone/>
            </a:pPr>
            <a:r>
              <a:rPr lang="en-US" altLang="zh-CN" sz="1800" dirty="0">
                <a:effectLst/>
              </a:rPr>
              <a:t>    </a:t>
            </a:r>
            <a:r>
              <a:rPr lang="en-US" altLang="zh-CN" sz="1800" dirty="0" smtClean="0">
                <a:effectLst/>
              </a:rPr>
              <a:t>for(i=0;i&lt;n;i</a:t>
            </a:r>
            <a:r>
              <a:rPr lang="en-US" altLang="zh-CN" sz="1800" dirty="0">
                <a:effectLst/>
              </a:rPr>
              <a:t>++)</a:t>
            </a:r>
            <a:endParaRPr lang="zh-CN" altLang="zh-CN" sz="1800" dirty="0">
              <a:effectLst/>
            </a:endParaRPr>
          </a:p>
          <a:p>
            <a:pPr marL="271463" lvl="1" indent="0">
              <a:buNone/>
            </a:pPr>
            <a:r>
              <a:rPr lang="en-US" altLang="zh-CN" sz="1800" dirty="0">
                <a:effectLst/>
              </a:rPr>
              <a:t>        scanf("%d",&amp;a[i]);</a:t>
            </a:r>
            <a:endParaRPr lang="zh-CN" altLang="zh-CN" sz="1800" dirty="0">
              <a:effectLst/>
            </a:endParaRPr>
          </a:p>
          <a:p>
            <a:pPr marL="271463" lvl="1" indent="0">
              <a:buNone/>
            </a:pPr>
            <a:r>
              <a:rPr lang="en-US" altLang="zh-CN" sz="1800" dirty="0">
                <a:effectLst/>
              </a:rPr>
              <a:t>    reverse(</a:t>
            </a:r>
            <a:r>
              <a:rPr lang="en-US" altLang="zh-CN" sz="1800" dirty="0">
                <a:solidFill>
                  <a:srgbClr val="FF0000"/>
                </a:solidFill>
                <a:effectLst/>
              </a:rPr>
              <a:t>a</a:t>
            </a:r>
            <a:r>
              <a:rPr lang="en-US" altLang="zh-CN" sz="1800" dirty="0">
                <a:effectLst/>
              </a:rPr>
              <a:t>,n</a:t>
            </a:r>
            <a:r>
              <a:rPr lang="en-US" altLang="zh-CN" sz="1800" dirty="0" smtClean="0">
                <a:effectLst/>
              </a:rPr>
              <a:t>);</a:t>
            </a:r>
          </a:p>
          <a:p>
            <a:pPr marL="271463" lvl="1" indent="0">
              <a:buNone/>
            </a:pPr>
            <a:r>
              <a:rPr lang="en-US" altLang="zh-CN" sz="1800" dirty="0" smtClean="0">
                <a:effectLst/>
              </a:rPr>
              <a:t>    for(</a:t>
            </a:r>
            <a:r>
              <a:rPr lang="en-US" altLang="zh-CN" sz="1800" dirty="0" err="1" smtClean="0">
                <a:effectLst/>
              </a:rPr>
              <a:t>i</a:t>
            </a:r>
            <a:r>
              <a:rPr lang="en-US" altLang="zh-CN" sz="1800" dirty="0" smtClean="0">
                <a:effectLst/>
              </a:rPr>
              <a:t>=0;i&lt;</a:t>
            </a:r>
            <a:r>
              <a:rPr lang="en-US" altLang="zh-CN" sz="1800" dirty="0" err="1" smtClean="0">
                <a:effectLst/>
              </a:rPr>
              <a:t>n;i</a:t>
            </a:r>
            <a:r>
              <a:rPr lang="en-US" altLang="zh-CN" sz="1800" dirty="0">
                <a:effectLst/>
              </a:rPr>
              <a:t>++)</a:t>
            </a:r>
            <a:endParaRPr lang="zh-CN" altLang="zh-CN" sz="1800" dirty="0">
              <a:effectLst/>
            </a:endParaRPr>
          </a:p>
          <a:p>
            <a:pPr marL="271463" lvl="1" indent="0">
              <a:buNone/>
            </a:pPr>
            <a:r>
              <a:rPr lang="en-US" altLang="zh-CN" sz="1800" dirty="0">
                <a:effectLst/>
              </a:rPr>
              <a:t>        printf("%3d",a[i</a:t>
            </a:r>
            <a:r>
              <a:rPr lang="en-US" altLang="zh-CN" sz="1800" dirty="0" smtClean="0">
                <a:effectLst/>
              </a:rPr>
              <a:t>]);</a:t>
            </a:r>
          </a:p>
          <a:p>
            <a:pPr marL="271463" lvl="1" indent="0">
              <a:buNone/>
            </a:pPr>
            <a:r>
              <a:rPr lang="en-US" altLang="zh-CN" sz="1800" dirty="0">
                <a:effectLst/>
              </a:rPr>
              <a:t>printf("\naddress of a[]:%p\n",a); //</a:t>
            </a:r>
            <a:r>
              <a:rPr lang="zh-CN" altLang="zh-CN" sz="1800" dirty="0">
                <a:effectLst/>
              </a:rPr>
              <a:t>实参数组</a:t>
            </a:r>
            <a:r>
              <a:rPr lang="en-US" altLang="zh-CN" sz="1800" dirty="0">
                <a:effectLst/>
              </a:rPr>
              <a:t>a</a:t>
            </a:r>
            <a:r>
              <a:rPr lang="zh-CN" altLang="zh-CN" sz="1800" dirty="0">
                <a:effectLst/>
              </a:rPr>
              <a:t>的首地址</a:t>
            </a:r>
          </a:p>
          <a:p>
            <a:pPr marL="271463" lvl="1" indent="0">
              <a:buNone/>
            </a:pPr>
            <a:endParaRPr lang="zh-CN" altLang="zh-CN" sz="1800" dirty="0">
              <a:effectLst/>
            </a:endParaRPr>
          </a:p>
          <a:p>
            <a:pPr marL="271463" lvl="1" indent="0">
              <a:buNone/>
            </a:pPr>
            <a:endParaRPr lang="zh-CN" altLang="zh-CN" sz="1800" dirty="0">
              <a:effectLst/>
            </a:endParaRPr>
          </a:p>
          <a:p>
            <a:pPr marL="271463" lvl="1" indent="0">
              <a:buNone/>
            </a:pPr>
            <a:r>
              <a:rPr lang="en-US" altLang="zh-CN" sz="1800" dirty="0">
                <a:effectLst/>
              </a:rPr>
              <a:t>    </a:t>
            </a:r>
            <a:endParaRPr lang="zh-CN" altLang="en-US" dirty="0"/>
          </a:p>
        </p:txBody>
      </p:sp>
      <p:sp>
        <p:nvSpPr>
          <p:cNvPr id="6" name="内容占位符 5"/>
          <p:cNvSpPr>
            <a:spLocks noGrp="1"/>
          </p:cNvSpPr>
          <p:nvPr>
            <p:ph sz="half" idx="2"/>
          </p:nvPr>
        </p:nvSpPr>
        <p:spPr/>
        <p:txBody>
          <a:bodyPr/>
          <a:lstStyle/>
          <a:p>
            <a:pPr marL="271463" lvl="1" indent="0">
              <a:buNone/>
            </a:pPr>
            <a:r>
              <a:rPr lang="en-US" altLang="zh-CN" sz="1800" dirty="0" smtClean="0">
                <a:effectLst/>
              </a:rPr>
              <a:t>return </a:t>
            </a:r>
            <a:r>
              <a:rPr lang="en-US" altLang="zh-CN" sz="1800" dirty="0">
                <a:effectLst/>
              </a:rPr>
              <a:t>0;</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void reverse(int</a:t>
            </a:r>
            <a:r>
              <a:rPr lang="en-US" altLang="zh-CN" sz="1800" dirty="0">
                <a:solidFill>
                  <a:srgbClr val="FF0000"/>
                </a:solidFill>
                <a:effectLst/>
              </a:rPr>
              <a:t> b[]</a:t>
            </a:r>
            <a:r>
              <a:rPr lang="en-US" altLang="zh-CN" sz="1800" dirty="0">
                <a:effectLst/>
              </a:rPr>
              <a:t>,</a:t>
            </a:r>
            <a:r>
              <a:rPr lang="en-US" altLang="zh-CN" sz="1800" dirty="0" err="1">
                <a:effectLst/>
              </a:rPr>
              <a:t>int</a:t>
            </a:r>
            <a:r>
              <a:rPr lang="en-US" altLang="zh-CN" sz="1800" dirty="0">
                <a:effectLst/>
              </a:rPr>
              <a:t> </a:t>
            </a:r>
            <a:r>
              <a:rPr lang="en-US" altLang="zh-CN" sz="1800" dirty="0" smtClean="0">
                <a:effectLst/>
              </a:rPr>
              <a:t>m)</a:t>
            </a:r>
            <a:endParaRPr lang="zh-CN" altLang="zh-CN" sz="1800" dirty="0">
              <a:effectLst/>
            </a:endParaRPr>
          </a:p>
          <a:p>
            <a:pPr marL="271463" lvl="1" indent="0">
              <a:buNone/>
            </a:pPr>
            <a:r>
              <a:rPr lang="en-US" altLang="zh-CN" sz="1800" dirty="0" smtClean="0">
                <a:effectLst/>
              </a:rPr>
              <a:t>{    </a:t>
            </a:r>
            <a:r>
              <a:rPr lang="en-US" altLang="zh-CN" sz="1800" dirty="0">
                <a:effectLst/>
              </a:rPr>
              <a:t>int i,j,t;</a:t>
            </a:r>
            <a:endParaRPr lang="zh-CN" altLang="zh-CN" sz="1800" dirty="0">
              <a:effectLst/>
            </a:endParaRPr>
          </a:p>
          <a:p>
            <a:pPr marL="271463" lvl="1" indent="0">
              <a:buNone/>
            </a:pPr>
            <a:r>
              <a:rPr lang="en-US" altLang="zh-CN" sz="1800" dirty="0">
                <a:effectLst/>
              </a:rPr>
              <a:t>    </a:t>
            </a:r>
            <a:r>
              <a:rPr lang="en-US" altLang="zh-CN" sz="1800" dirty="0" smtClean="0">
                <a:effectLst/>
              </a:rPr>
              <a:t>for(</a:t>
            </a:r>
            <a:r>
              <a:rPr lang="en-US" altLang="zh-CN" sz="1800" dirty="0" err="1" smtClean="0">
                <a:effectLst/>
              </a:rPr>
              <a:t>i</a:t>
            </a:r>
            <a:r>
              <a:rPr lang="en-US" altLang="zh-CN" sz="1800" dirty="0" smtClean="0">
                <a:effectLst/>
              </a:rPr>
              <a:t>=0,j=m-1;i&lt;</a:t>
            </a:r>
            <a:r>
              <a:rPr lang="en-US" altLang="zh-CN" sz="1800" dirty="0" err="1" smtClean="0">
                <a:effectLst/>
              </a:rPr>
              <a:t>j;i</a:t>
            </a:r>
            <a:r>
              <a:rPr lang="en-US" altLang="zh-CN" sz="1800" dirty="0">
                <a:effectLst/>
              </a:rPr>
              <a:t>++,j--)</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t=b[i];</a:t>
            </a:r>
            <a:endParaRPr lang="zh-CN" altLang="zh-CN" sz="1800" dirty="0">
              <a:effectLst/>
            </a:endParaRPr>
          </a:p>
          <a:p>
            <a:pPr marL="271463" lvl="1" indent="0">
              <a:buNone/>
            </a:pPr>
            <a:r>
              <a:rPr lang="en-US" altLang="zh-CN" sz="1800" dirty="0">
                <a:effectLst/>
              </a:rPr>
              <a:t>        b[i]=b[j];</a:t>
            </a:r>
            <a:endParaRPr lang="zh-CN" altLang="zh-CN" sz="1800" dirty="0">
              <a:effectLst/>
            </a:endParaRPr>
          </a:p>
          <a:p>
            <a:pPr marL="271463" lvl="1" indent="0">
              <a:buNone/>
            </a:pPr>
            <a:r>
              <a:rPr lang="en-US" altLang="zh-CN" sz="1800" dirty="0">
                <a:effectLst/>
              </a:rPr>
              <a:t>        b[j]=t;</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printf("address of b[]:%p\n",b); //</a:t>
            </a:r>
            <a:r>
              <a:rPr lang="zh-CN" altLang="zh-CN" sz="1800" dirty="0">
                <a:effectLst/>
              </a:rPr>
              <a:t>形参数组</a:t>
            </a:r>
            <a:r>
              <a:rPr lang="en-US" altLang="zh-CN" sz="1800" dirty="0">
                <a:effectLst/>
              </a:rPr>
              <a:t>b</a:t>
            </a:r>
            <a:r>
              <a:rPr lang="zh-CN" altLang="zh-CN" sz="1800" dirty="0">
                <a:effectLst/>
              </a:rPr>
              <a:t>的首地址</a:t>
            </a:r>
          </a:p>
          <a:p>
            <a:pPr marL="271463" lvl="1" indent="0">
              <a:buNone/>
            </a:pPr>
            <a:r>
              <a:rPr lang="en-US" altLang="zh-CN" sz="1800" dirty="0">
                <a:effectLst/>
              </a:rPr>
              <a:t>}</a:t>
            </a:r>
            <a:endParaRPr lang="zh-CN" altLang="zh-CN" sz="1800" dirty="0">
              <a:effectLst/>
            </a:endParaRPr>
          </a:p>
          <a:p>
            <a:endParaRPr lang="zh-CN" altLang="en-US" dirty="0">
              <a:solidFill>
                <a:schemeClr val="tx1"/>
              </a:solidFill>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38</a:t>
            </a:fld>
            <a:endParaRPr lang="en-US" altLang="zh-CN"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350056"/>
            <a:ext cx="3503122" cy="1186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0800588"/>
      </p:ext>
    </p:extLst>
  </p:cSld>
  <p:clrMapOvr>
    <a:masterClrMapping/>
  </p:clrMapOvr>
  <p:transition spd="med">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数组名作为函数的参数</a:t>
            </a: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39</a:t>
            </a:fld>
            <a:endParaRPr lang="en-US" altLang="zh-CN"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1916832"/>
            <a:ext cx="6982930"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3556939"/>
      </p:ext>
    </p:extLst>
  </p:cSld>
  <p:clrMapOvr>
    <a:masterClrMapping/>
  </p:clrMapOvr>
  <p:transition spd="med">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数组名作为函数的参数</a:t>
            </a:r>
            <a:endParaRPr lang="zh-CN" altLang="en-US" dirty="0"/>
          </a:p>
        </p:txBody>
      </p:sp>
      <p:sp>
        <p:nvSpPr>
          <p:cNvPr id="3" name="内容占位符 2"/>
          <p:cNvSpPr>
            <a:spLocks noGrp="1"/>
          </p:cNvSpPr>
          <p:nvPr>
            <p:ph idx="1"/>
          </p:nvPr>
        </p:nvSpPr>
        <p:spPr/>
        <p:txBody>
          <a:bodyPr/>
          <a:lstStyle/>
          <a:p>
            <a:pPr marL="271463" lvl="1" indent="457200">
              <a:buNone/>
            </a:pPr>
            <a:r>
              <a:rPr lang="zh-CN" altLang="zh-CN" dirty="0">
                <a:effectLst/>
              </a:rPr>
              <a:t>用数组名作为函数实参时，不是把实参中数组元素的值传递给形参，而是把实参数组中第一个元素（下标为</a:t>
            </a:r>
            <a:r>
              <a:rPr lang="en-US" altLang="zh-CN" dirty="0">
                <a:effectLst/>
              </a:rPr>
              <a:t>0</a:t>
            </a:r>
            <a:r>
              <a:rPr lang="zh-CN" altLang="zh-CN" dirty="0">
                <a:effectLst/>
              </a:rPr>
              <a:t>）的地址</a:t>
            </a:r>
            <a:r>
              <a:rPr lang="zh-CN" altLang="zh-CN" dirty="0" smtClean="0">
                <a:effectLst/>
              </a:rPr>
              <a:t>传递</a:t>
            </a:r>
            <a:r>
              <a:rPr lang="zh-CN" altLang="en-US" dirty="0">
                <a:effectLst/>
              </a:rPr>
              <a:t>给</a:t>
            </a:r>
            <a:r>
              <a:rPr lang="zh-CN" altLang="zh-CN" dirty="0" smtClean="0">
                <a:effectLst/>
              </a:rPr>
              <a:t>形参</a:t>
            </a:r>
            <a:r>
              <a:rPr lang="zh-CN" altLang="zh-CN" dirty="0">
                <a:effectLst/>
              </a:rPr>
              <a:t>数组，这样两个数组就共享同一段内存单元。这种函数参数传递方式称作为</a:t>
            </a:r>
            <a:r>
              <a:rPr lang="zh-CN" altLang="zh-CN" dirty="0">
                <a:solidFill>
                  <a:srgbClr val="FF0000"/>
                </a:solidFill>
                <a:effectLst/>
              </a:rPr>
              <a:t>按地址传递方式</a:t>
            </a:r>
            <a:r>
              <a:rPr lang="zh-CN" altLang="zh-CN" dirty="0">
                <a:effectLst/>
              </a:rPr>
              <a:t>（或称为按名传递），</a:t>
            </a:r>
            <a:r>
              <a:rPr lang="zh-CN" altLang="zh-CN" dirty="0">
                <a:solidFill>
                  <a:srgbClr val="FF0000"/>
                </a:solidFill>
                <a:effectLst/>
              </a:rPr>
              <a:t>形参值的改变直接影响实参</a:t>
            </a:r>
            <a:r>
              <a:rPr lang="zh-CN" altLang="zh-CN" dirty="0" smtClean="0">
                <a:effectLst/>
              </a:rPr>
              <a:t>。</a:t>
            </a:r>
            <a:endParaRPr lang="en-US" altLang="zh-CN" dirty="0" smtClean="0">
              <a:effectLst/>
            </a:endParaRPr>
          </a:p>
          <a:p>
            <a:pPr marL="271463" lvl="1" indent="457200">
              <a:buNone/>
            </a:pPr>
            <a:r>
              <a:rPr lang="zh-CN" altLang="zh-CN" dirty="0">
                <a:effectLst/>
              </a:rPr>
              <a:t>本例中，实参数组</a:t>
            </a:r>
            <a:r>
              <a:rPr lang="en-US" altLang="zh-CN" dirty="0">
                <a:effectLst/>
              </a:rPr>
              <a:t>a</a:t>
            </a:r>
            <a:r>
              <a:rPr lang="zh-CN" altLang="zh-CN" dirty="0">
                <a:effectLst/>
              </a:rPr>
              <a:t>与形参数组</a:t>
            </a:r>
            <a:r>
              <a:rPr lang="en-US" altLang="zh-CN" dirty="0">
                <a:effectLst/>
              </a:rPr>
              <a:t>b</a:t>
            </a:r>
            <a:r>
              <a:rPr lang="zh-CN" altLang="zh-CN" dirty="0">
                <a:effectLst/>
              </a:rPr>
              <a:t>共享一段内存单元，形参数组</a:t>
            </a:r>
            <a:r>
              <a:rPr lang="en-US" altLang="zh-CN" dirty="0">
                <a:effectLst/>
              </a:rPr>
              <a:t>b</a:t>
            </a:r>
            <a:r>
              <a:rPr lang="zh-CN" altLang="zh-CN" dirty="0">
                <a:effectLst/>
              </a:rPr>
              <a:t>中的元素逆序存放后，实参数组</a:t>
            </a:r>
            <a:r>
              <a:rPr lang="en-US" altLang="zh-CN" dirty="0">
                <a:effectLst/>
              </a:rPr>
              <a:t>a</a:t>
            </a:r>
            <a:r>
              <a:rPr lang="zh-CN" altLang="zh-CN" dirty="0">
                <a:effectLst/>
              </a:rPr>
              <a:t>中的元素也逆序存放了</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40</a:t>
            </a:fld>
            <a:endParaRPr lang="en-US" altLang="zh-CN" dirty="0"/>
          </a:p>
        </p:txBody>
      </p:sp>
    </p:spTree>
    <p:extLst>
      <p:ext uri="{BB962C8B-B14F-4D97-AF65-F5344CB8AC3E}">
        <p14:creationId xmlns:p14="http://schemas.microsoft.com/office/powerpoint/2010/main" val="1782735181"/>
      </p:ext>
    </p:extLst>
  </p:cSld>
  <p:clrMapOvr>
    <a:masterClrMapping/>
  </p:clrMapOvr>
  <p:transition spd="med">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函数的</a:t>
            </a:r>
            <a:r>
              <a:rPr lang="zh-CN" altLang="zh-CN" dirty="0" smtClean="0">
                <a:effectLst/>
              </a:rPr>
              <a:t>应用</a:t>
            </a:r>
            <a:endParaRPr lang="zh-CN" altLang="en-US" dirty="0"/>
          </a:p>
        </p:txBody>
      </p:sp>
      <p:sp>
        <p:nvSpPr>
          <p:cNvPr id="3" name="内容占位符 2"/>
          <p:cNvSpPr>
            <a:spLocks noGrp="1"/>
          </p:cNvSpPr>
          <p:nvPr>
            <p:ph idx="1"/>
          </p:nvPr>
        </p:nvSpPr>
        <p:spPr/>
        <p:txBody>
          <a:bodyPr/>
          <a:lstStyle/>
          <a:p>
            <a:pPr marL="271463" lvl="1" indent="0">
              <a:buNone/>
            </a:pPr>
            <a:r>
              <a:rPr lang="zh-CN" altLang="zh-CN" dirty="0">
                <a:effectLst/>
              </a:rPr>
              <a:t>【例</a:t>
            </a:r>
            <a:r>
              <a:rPr lang="en-US" altLang="zh-CN" dirty="0">
                <a:effectLst/>
              </a:rPr>
              <a:t>5-9</a:t>
            </a:r>
            <a:r>
              <a:rPr lang="zh-CN" altLang="zh-CN" dirty="0">
                <a:effectLst/>
              </a:rPr>
              <a:t>】输入</a:t>
            </a:r>
            <a:r>
              <a:rPr lang="en-US" altLang="zh-CN" dirty="0">
                <a:effectLst/>
              </a:rPr>
              <a:t>2 </a:t>
            </a:r>
            <a:r>
              <a:rPr lang="zh-CN" altLang="zh-CN" dirty="0">
                <a:effectLst/>
              </a:rPr>
              <a:t>个正整数</a:t>
            </a:r>
            <a:r>
              <a:rPr lang="en-US" altLang="zh-CN" dirty="0">
                <a:effectLst/>
              </a:rPr>
              <a:t>m </a:t>
            </a:r>
            <a:r>
              <a:rPr lang="zh-CN" altLang="zh-CN" dirty="0">
                <a:effectLst/>
              </a:rPr>
              <a:t>和</a:t>
            </a:r>
            <a:r>
              <a:rPr lang="en-US" altLang="zh-CN" dirty="0">
                <a:effectLst/>
              </a:rPr>
              <a:t>n(m</a:t>
            </a:r>
            <a:r>
              <a:rPr lang="zh-CN" altLang="zh-CN" dirty="0">
                <a:effectLst/>
              </a:rPr>
              <a:t>≥</a:t>
            </a:r>
            <a:r>
              <a:rPr lang="en-US" altLang="zh-CN" dirty="0">
                <a:effectLst/>
              </a:rPr>
              <a:t>1,n</a:t>
            </a:r>
            <a:r>
              <a:rPr lang="zh-CN" altLang="zh-CN" dirty="0">
                <a:effectLst/>
              </a:rPr>
              <a:t>≤</a:t>
            </a:r>
            <a:r>
              <a:rPr lang="en-US" altLang="zh-CN" dirty="0">
                <a:effectLst/>
              </a:rPr>
              <a:t>1 000)</a:t>
            </a:r>
            <a:r>
              <a:rPr lang="zh-CN" altLang="zh-CN" dirty="0">
                <a:effectLst/>
              </a:rPr>
              <a:t>，输出</a:t>
            </a:r>
            <a:r>
              <a:rPr lang="en-US" altLang="zh-CN" dirty="0">
                <a:effectLst/>
              </a:rPr>
              <a:t>m ~n </a:t>
            </a:r>
            <a:r>
              <a:rPr lang="zh-CN" altLang="zh-CN" dirty="0">
                <a:effectLst/>
              </a:rPr>
              <a:t>之间的所有完数，完数</a:t>
            </a:r>
            <a:r>
              <a:rPr lang="zh-CN" altLang="zh-CN" dirty="0" smtClean="0">
                <a:effectLst/>
              </a:rPr>
              <a:t>就是</a:t>
            </a:r>
            <a:r>
              <a:rPr lang="zh-CN" altLang="en-US" dirty="0" smtClean="0">
                <a:solidFill>
                  <a:srgbClr val="FF0000"/>
                </a:solidFill>
                <a:effectLst/>
              </a:rPr>
              <a:t>真</a:t>
            </a:r>
            <a:r>
              <a:rPr lang="zh-CN" altLang="zh-CN" dirty="0" smtClean="0">
                <a:effectLst/>
              </a:rPr>
              <a:t>因子</a:t>
            </a:r>
            <a:r>
              <a:rPr lang="zh-CN" altLang="zh-CN" dirty="0">
                <a:effectLst/>
              </a:rPr>
              <a:t>和与它本身相等的数。要求定义并调用函数</a:t>
            </a:r>
            <a:r>
              <a:rPr lang="en-US" altLang="zh-CN" dirty="0">
                <a:effectLst/>
              </a:rPr>
              <a:t>factorsum(number)</a:t>
            </a:r>
            <a:r>
              <a:rPr lang="zh-CN" altLang="zh-CN" dirty="0">
                <a:effectLst/>
              </a:rPr>
              <a:t>，它的功能是返回</a:t>
            </a:r>
            <a:r>
              <a:rPr lang="en-US" altLang="zh-CN" dirty="0">
                <a:effectLst/>
              </a:rPr>
              <a:t>number </a:t>
            </a:r>
            <a:r>
              <a:rPr lang="zh-CN" altLang="zh-CN" dirty="0">
                <a:effectLst/>
              </a:rPr>
              <a:t>的因子和｡</a:t>
            </a:r>
          </a:p>
          <a:p>
            <a:pPr marL="271463" lvl="1" indent="0">
              <a:buNone/>
            </a:pPr>
            <a:r>
              <a:rPr lang="zh-CN" altLang="zh-CN" dirty="0">
                <a:effectLst/>
              </a:rPr>
              <a:t>例如，</a:t>
            </a:r>
            <a:r>
              <a:rPr lang="en-US" altLang="zh-CN" dirty="0">
                <a:effectLst/>
              </a:rPr>
              <a:t>factorsum(12)</a:t>
            </a:r>
            <a:r>
              <a:rPr lang="zh-CN" altLang="zh-CN" dirty="0">
                <a:effectLst/>
              </a:rPr>
              <a:t>的返回值是</a:t>
            </a:r>
            <a:r>
              <a:rPr lang="en-US" altLang="zh-CN" dirty="0">
                <a:effectLst/>
              </a:rPr>
              <a:t>16(1 +2 +3 +4 +6)</a:t>
            </a:r>
            <a:r>
              <a:rPr lang="zh-CN" altLang="zh-CN" dirty="0">
                <a:effectLst/>
              </a:rPr>
              <a:t>｡</a:t>
            </a: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41</a:t>
            </a:fld>
            <a:endParaRPr lang="en-US" altLang="zh-CN" dirty="0"/>
          </a:p>
        </p:txBody>
      </p:sp>
      <p:sp>
        <p:nvSpPr>
          <p:cNvPr id="5" name="内容占位符 2"/>
          <p:cNvSpPr txBox="1">
            <a:spLocks/>
          </p:cNvSpPr>
          <p:nvPr/>
        </p:nvSpPr>
        <p:spPr bwMode="auto">
          <a:xfrm>
            <a:off x="1187624" y="4221088"/>
            <a:ext cx="6768752" cy="1800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00" tIns="10800" rIns="18000" bIns="10800" numCol="1" anchor="t" anchorCtr="0" compatLnSpc="1">
            <a:prstTxWarp prst="textNoShape">
              <a:avLst/>
            </a:prstTxWarp>
          </a:bodyPr>
          <a:lstStyle>
            <a:lvl1pPr marL="92075" indent="-92075" algn="l" rtl="0" eaLnBrk="0" fontAlgn="base" hangingPunct="0">
              <a:lnSpc>
                <a:spcPct val="120000"/>
              </a:lnSpc>
              <a:spcBef>
                <a:spcPct val="20000"/>
              </a:spcBef>
              <a:spcAft>
                <a:spcPct val="0"/>
              </a:spcAft>
              <a:buClr>
                <a:srgbClr val="A50021"/>
              </a:buClr>
              <a:buSzPct val="75000"/>
              <a:buFont typeface="Webdings" pitchFamily="18" charset="2"/>
              <a:buChar char="·"/>
              <a:defRPr sz="2800" b="1">
                <a:solidFill>
                  <a:schemeClr val="tx1"/>
                </a:solidFill>
                <a:effectLst>
                  <a:outerShdw blurRad="38100" dist="38100" dir="2700000" algn="tl">
                    <a:srgbClr val="C0C0C0"/>
                  </a:outerShdw>
                </a:effectLst>
                <a:latin typeface="+mn-lt"/>
                <a:ea typeface="+mn-ea"/>
                <a:cs typeface="+mn-cs"/>
              </a:defRPr>
            </a:lvl1pPr>
            <a:lvl2pPr marL="357188" indent="-85725" algn="l" rtl="0" eaLnBrk="0" fontAlgn="base" hangingPunct="0">
              <a:lnSpc>
                <a:spcPct val="120000"/>
              </a:lnSpc>
              <a:spcBef>
                <a:spcPct val="20000"/>
              </a:spcBef>
              <a:spcAft>
                <a:spcPct val="0"/>
              </a:spcAft>
              <a:buClr>
                <a:srgbClr val="996633"/>
              </a:buClr>
              <a:buSzPct val="75000"/>
              <a:buFont typeface="Wingdings" pitchFamily="2" charset="2"/>
              <a:buChar char="]"/>
              <a:defRPr sz="2400" b="1">
                <a:solidFill>
                  <a:schemeClr val="tx1"/>
                </a:solidFill>
                <a:effectLst>
                  <a:outerShdw blurRad="38100" dist="38100" dir="2700000" algn="tl">
                    <a:srgbClr val="C0C0C0"/>
                  </a:outerShdw>
                </a:effectLst>
                <a:latin typeface="+mn-lt"/>
                <a:ea typeface="+mn-ea"/>
              </a:defRPr>
            </a:lvl2pPr>
            <a:lvl3pPr marL="622300" indent="-85725" algn="l" rtl="0" eaLnBrk="0" fontAlgn="base" hangingPunct="0">
              <a:lnSpc>
                <a:spcPct val="120000"/>
              </a:lnSpc>
              <a:spcBef>
                <a:spcPct val="20000"/>
              </a:spcBef>
              <a:spcAft>
                <a:spcPct val="0"/>
              </a:spcAft>
              <a:buClr>
                <a:srgbClr val="800080"/>
              </a:buClr>
              <a:buSzPct val="75000"/>
              <a:buFont typeface="Wingdings" pitchFamily="2" charset="2"/>
              <a:buChar char="µ"/>
              <a:defRPr sz="2200" b="1">
                <a:solidFill>
                  <a:schemeClr val="tx1"/>
                </a:solidFill>
                <a:effectLst>
                  <a:outerShdw blurRad="38100" dist="38100" dir="2700000" algn="tl">
                    <a:srgbClr val="C0C0C0"/>
                  </a:outerShdw>
                </a:effectLst>
                <a:latin typeface="+mn-lt"/>
                <a:ea typeface="+mn-ea"/>
              </a:defRPr>
            </a:lvl3pPr>
            <a:lvl4pPr marL="808038" indent="-6350" algn="l" rtl="0" eaLnBrk="0" fontAlgn="base" hangingPunct="0">
              <a:lnSpc>
                <a:spcPct val="120000"/>
              </a:lnSpc>
              <a:spcBef>
                <a:spcPct val="20000"/>
              </a:spcBef>
              <a:spcAft>
                <a:spcPct val="0"/>
              </a:spcAft>
              <a:buClr>
                <a:schemeClr val="tx1"/>
              </a:buClr>
              <a:buSzPct val="80000"/>
              <a:buChar char="–"/>
              <a:defRPr b="1">
                <a:solidFill>
                  <a:schemeClr val="tx1"/>
                </a:solidFill>
                <a:effectLst>
                  <a:outerShdw blurRad="38100" dist="38100" dir="2700000" algn="tl">
                    <a:srgbClr val="C0C0C0"/>
                  </a:outerShdw>
                </a:effectLst>
                <a:latin typeface="+mn-lt"/>
                <a:ea typeface="+mn-ea"/>
              </a:defRPr>
            </a:lvl4pPr>
            <a:lvl5pPr marL="987425" indent="841375" algn="l" rtl="0" eaLnBrk="0" fontAlgn="base" hangingPunct="0">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5pPr>
            <a:lvl6pPr marL="14446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6pPr>
            <a:lvl7pPr marL="19018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7pPr>
            <a:lvl8pPr marL="23590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8pPr>
            <a:lvl9pPr marL="2816225" algn="l" rtl="0" fontAlgn="base">
              <a:lnSpc>
                <a:spcPct val="120000"/>
              </a:lnSpc>
              <a:spcBef>
                <a:spcPct val="20000"/>
              </a:spcBef>
              <a:spcAft>
                <a:spcPct val="0"/>
              </a:spcAft>
              <a:buClr>
                <a:schemeClr val="tx1"/>
              </a:buClr>
              <a:buSzPct val="65000"/>
              <a:buFont typeface="Wingdings" pitchFamily="2" charset="2"/>
              <a:buChar char="l"/>
              <a:defRPr b="1">
                <a:solidFill>
                  <a:schemeClr val="tx1"/>
                </a:solidFill>
                <a:effectLst>
                  <a:outerShdw blurRad="38100" dist="38100" dir="2700000" algn="tl">
                    <a:srgbClr val="C0C0C0"/>
                  </a:outerShdw>
                </a:effectLst>
                <a:latin typeface="+mn-lt"/>
                <a:ea typeface="+mn-ea"/>
              </a:defRPr>
            </a:lvl9pPr>
          </a:lstStyle>
          <a:p>
            <a:pPr marL="265113" lvl="1" indent="0">
              <a:buNone/>
            </a:pPr>
            <a:r>
              <a:rPr lang="zh-CN" altLang="en-US" sz="2000" kern="0" dirty="0" smtClean="0">
                <a:solidFill>
                  <a:srgbClr val="0066FF"/>
                </a:solidFill>
                <a:effectLst/>
              </a:rPr>
              <a:t>主函数：输入</a:t>
            </a:r>
            <a:r>
              <a:rPr lang="en-US" altLang="zh-CN" sz="2000" kern="0" dirty="0" smtClean="0">
                <a:solidFill>
                  <a:srgbClr val="0066FF"/>
                </a:solidFill>
                <a:effectLst/>
              </a:rPr>
              <a:t>m</a:t>
            </a:r>
            <a:r>
              <a:rPr lang="zh-CN" altLang="en-US" sz="2000" kern="0" dirty="0" smtClean="0">
                <a:solidFill>
                  <a:srgbClr val="0066FF"/>
                </a:solidFill>
                <a:effectLst/>
              </a:rPr>
              <a:t>和</a:t>
            </a:r>
            <a:r>
              <a:rPr lang="en-US" altLang="zh-CN" sz="2000" kern="0" dirty="0" smtClean="0">
                <a:solidFill>
                  <a:srgbClr val="0066FF"/>
                </a:solidFill>
                <a:effectLst/>
              </a:rPr>
              <a:t>n</a:t>
            </a:r>
            <a:r>
              <a:rPr lang="zh-CN" altLang="en-US" sz="2000" kern="0" dirty="0" smtClean="0">
                <a:solidFill>
                  <a:srgbClr val="0066FF"/>
                </a:solidFill>
                <a:effectLst/>
              </a:rPr>
              <a:t>的整数值；判断子函数返回的值和原数是否相等，相等则为完数并输出，每行输出</a:t>
            </a:r>
            <a:r>
              <a:rPr lang="en-US" altLang="zh-CN" sz="2000" kern="0" dirty="0" smtClean="0">
                <a:solidFill>
                  <a:srgbClr val="0066FF"/>
                </a:solidFill>
                <a:effectLst/>
              </a:rPr>
              <a:t>5</a:t>
            </a:r>
            <a:r>
              <a:rPr lang="zh-CN" altLang="en-US" sz="2000" kern="0" dirty="0" smtClean="0">
                <a:solidFill>
                  <a:srgbClr val="0066FF"/>
                </a:solidFill>
                <a:effectLst/>
              </a:rPr>
              <a:t>个数</a:t>
            </a:r>
            <a:endParaRPr lang="en-US" altLang="zh-CN" sz="2000" kern="0" dirty="0" smtClean="0">
              <a:solidFill>
                <a:srgbClr val="0066FF"/>
              </a:solidFill>
              <a:effectLst/>
            </a:endParaRPr>
          </a:p>
          <a:p>
            <a:pPr marL="265113" lvl="1" indent="0">
              <a:buNone/>
            </a:pPr>
            <a:r>
              <a:rPr lang="zh-CN" altLang="en-US" sz="2000" kern="0" dirty="0" smtClean="0">
                <a:solidFill>
                  <a:srgbClr val="0066FF"/>
                </a:solidFill>
                <a:effectLst/>
              </a:rPr>
              <a:t>子函数：求某数的因子和</a:t>
            </a:r>
            <a:endParaRPr lang="en-US" altLang="zh-CN" sz="2000" kern="0" dirty="0" smtClean="0">
              <a:solidFill>
                <a:srgbClr val="0066FF"/>
              </a:solidFill>
              <a:effectLst/>
            </a:endParaRPr>
          </a:p>
          <a:p>
            <a:pPr marL="265113" lvl="1" indent="0">
              <a:buNone/>
            </a:pPr>
            <a:r>
              <a:rPr lang="zh-CN" altLang="en-US" sz="2000" kern="0" dirty="0" smtClean="0">
                <a:solidFill>
                  <a:srgbClr val="0066FF"/>
                </a:solidFill>
                <a:effectLst/>
              </a:rPr>
              <a:t>需要传递的函数参数：某数</a:t>
            </a:r>
            <a:r>
              <a:rPr lang="en-US" altLang="zh-CN" sz="2000" kern="0" dirty="0" smtClean="0">
                <a:solidFill>
                  <a:srgbClr val="0066FF"/>
                </a:solidFill>
                <a:effectLst/>
              </a:rPr>
              <a:t>number  </a:t>
            </a:r>
            <a:r>
              <a:rPr lang="en-US" altLang="zh-CN" sz="2000" kern="0" dirty="0" err="1" smtClean="0">
                <a:solidFill>
                  <a:srgbClr val="0066FF"/>
                </a:solidFill>
                <a:effectLst/>
              </a:rPr>
              <a:t>int</a:t>
            </a:r>
            <a:r>
              <a:rPr lang="en-US" altLang="zh-CN" sz="2000" kern="0" dirty="0" smtClean="0">
                <a:solidFill>
                  <a:srgbClr val="0066FF"/>
                </a:solidFill>
                <a:effectLst/>
              </a:rPr>
              <a:t> number</a:t>
            </a:r>
            <a:endParaRPr lang="zh-CN" altLang="zh-CN" sz="2000" kern="0" dirty="0">
              <a:solidFill>
                <a:srgbClr val="0066FF"/>
              </a:solidFill>
              <a:effectLst/>
            </a:endParaRPr>
          </a:p>
        </p:txBody>
      </p:sp>
    </p:spTree>
    <p:extLst>
      <p:ext uri="{BB962C8B-B14F-4D97-AF65-F5344CB8AC3E}">
        <p14:creationId xmlns:p14="http://schemas.microsoft.com/office/powerpoint/2010/main" val="2262262571"/>
      </p:ext>
    </p:extLst>
  </p:cSld>
  <p:clrMapOvr>
    <a:masterClrMapping/>
  </p:clrMapOvr>
  <p:transition spd="med">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3" name="内容占位符 2"/>
          <p:cNvSpPr>
            <a:spLocks noGrp="1"/>
          </p:cNvSpPr>
          <p:nvPr>
            <p:ph sz="half" idx="1"/>
          </p:nvPr>
        </p:nvSpPr>
        <p:spPr>
          <a:xfrm>
            <a:off x="755576" y="1565921"/>
            <a:ext cx="3919538" cy="5257179"/>
          </a:xfrm>
        </p:spPr>
        <p:txBody>
          <a:bodyPr/>
          <a:lstStyle/>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int factorsum(int number);</a:t>
            </a:r>
            <a:endParaRPr lang="zh-CN" altLang="zh-CN" sz="1800" dirty="0">
              <a:effectLst/>
            </a:endParaRPr>
          </a:p>
          <a:p>
            <a:pPr marL="271463" lvl="1" indent="0">
              <a:buNone/>
            </a:pPr>
            <a:r>
              <a:rPr lang="en-US" altLang="zh-CN" sz="1800" dirty="0" err="1">
                <a:effectLst/>
              </a:rPr>
              <a:t>int</a:t>
            </a:r>
            <a:r>
              <a:rPr lang="en-US" altLang="zh-CN" sz="1800" dirty="0">
                <a:effectLst/>
              </a:rPr>
              <a:t> </a:t>
            </a:r>
            <a:r>
              <a:rPr lang="en-US" altLang="zh-CN" sz="1800" dirty="0" smtClean="0">
                <a:effectLst/>
              </a:rPr>
              <a:t>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int i,m,n;</a:t>
            </a:r>
            <a:endParaRPr lang="zh-CN" altLang="zh-CN" sz="1800" dirty="0">
              <a:effectLst/>
            </a:endParaRPr>
          </a:p>
          <a:p>
            <a:pPr marL="271463" lvl="1" indent="0">
              <a:buNone/>
            </a:pPr>
            <a:r>
              <a:rPr lang="en-US" altLang="zh-CN" sz="1800" dirty="0">
                <a:effectLst/>
              </a:rPr>
              <a:t>	printf("Input m: ");</a:t>
            </a:r>
            <a:endParaRPr lang="zh-CN" altLang="zh-CN" sz="1800" dirty="0">
              <a:effectLst/>
            </a:endParaRPr>
          </a:p>
          <a:p>
            <a:pPr marL="271463" lvl="1" indent="0">
              <a:buNone/>
            </a:pPr>
            <a:r>
              <a:rPr lang="en-US" altLang="zh-CN" sz="1800" dirty="0">
                <a:effectLst/>
              </a:rPr>
              <a:t>	scanf("%d",&amp;m);</a:t>
            </a:r>
            <a:endParaRPr lang="zh-CN" altLang="zh-CN" sz="1800" dirty="0">
              <a:effectLst/>
            </a:endParaRPr>
          </a:p>
          <a:p>
            <a:pPr marL="271463" lvl="1" indent="0">
              <a:buNone/>
            </a:pPr>
            <a:r>
              <a:rPr lang="en-US" altLang="zh-CN" sz="1800" dirty="0">
                <a:effectLst/>
              </a:rPr>
              <a:t>	printf("Input n: ");</a:t>
            </a:r>
            <a:endParaRPr lang="zh-CN" altLang="zh-CN" sz="1800" dirty="0">
              <a:effectLst/>
            </a:endParaRPr>
          </a:p>
          <a:p>
            <a:pPr marL="271463" lvl="1" indent="0">
              <a:buNone/>
            </a:pPr>
            <a:r>
              <a:rPr lang="en-US" altLang="zh-CN" sz="1800" dirty="0">
                <a:effectLst/>
              </a:rPr>
              <a:t>	scanf("%d",&amp;n);</a:t>
            </a:r>
            <a:endParaRPr lang="zh-CN" altLang="zh-CN" sz="1800" dirty="0">
              <a:effectLst/>
            </a:endParaRPr>
          </a:p>
          <a:p>
            <a:pPr marL="271463" lvl="1" indent="0">
              <a:buNone/>
            </a:pPr>
            <a:r>
              <a:rPr lang="en-US" altLang="zh-CN" sz="1800" dirty="0">
                <a:effectLst/>
              </a:rPr>
              <a:t>	for(i=m;i&lt;=n;i++)</a:t>
            </a:r>
            <a:endParaRPr lang="zh-CN" altLang="zh-CN" sz="1800" dirty="0">
              <a:effectLst/>
            </a:endParaRPr>
          </a:p>
          <a:p>
            <a:pPr marL="271463" lvl="1" indent="0">
              <a:buNone/>
            </a:pPr>
            <a:r>
              <a:rPr lang="en-US" altLang="zh-CN" sz="1800" dirty="0">
                <a:effectLst/>
              </a:rPr>
              <a:t>	</a:t>
            </a:r>
            <a:r>
              <a:rPr lang="en-US" altLang="zh-CN" sz="1800" dirty="0" smtClean="0">
                <a:effectLst/>
              </a:rPr>
              <a:t>    if(factorsum(i</a:t>
            </a:r>
            <a:r>
              <a:rPr lang="en-US" altLang="zh-CN" sz="1800" dirty="0">
                <a:effectLst/>
              </a:rPr>
              <a:t>)==i</a:t>
            </a:r>
            <a:r>
              <a:rPr lang="en-US" altLang="zh-CN" sz="1800" dirty="0" smtClean="0">
                <a:effectLst/>
              </a:rPr>
              <a:t>)</a:t>
            </a:r>
          </a:p>
          <a:p>
            <a:pPr marL="271463" lvl="1" indent="0">
              <a:buNone/>
            </a:pPr>
            <a:r>
              <a:rPr lang="en-US" altLang="zh-CN" sz="1800" dirty="0" smtClean="0">
                <a:effectLst/>
              </a:rPr>
              <a:t>                   printf</a:t>
            </a:r>
            <a:r>
              <a:rPr lang="en-US" altLang="zh-CN" sz="1800" dirty="0">
                <a:effectLst/>
              </a:rPr>
              <a:t>("%5d",i);</a:t>
            </a:r>
            <a:endParaRPr lang="zh-CN" altLang="zh-CN" sz="1800" dirty="0">
              <a:effectLst/>
            </a:endParaRPr>
          </a:p>
          <a:p>
            <a:pPr marL="271463" lvl="1" indent="0">
              <a:buNone/>
            </a:pPr>
            <a:r>
              <a:rPr lang="en-US" altLang="zh-CN" sz="1800" dirty="0">
                <a:effectLst/>
              </a:rPr>
              <a:t>	return 0</a:t>
            </a:r>
            <a:r>
              <a:rPr lang="en-US" altLang="zh-CN" sz="1800" dirty="0" smtClean="0">
                <a:effectLst/>
              </a:rPr>
              <a:t>;</a:t>
            </a:r>
          </a:p>
          <a:p>
            <a:pPr marL="271463" lvl="1" indent="0">
              <a:buNone/>
            </a:pPr>
            <a:r>
              <a:rPr lang="en-US" altLang="zh-CN" sz="1800" dirty="0" smtClean="0">
                <a:effectLst/>
              </a:rPr>
              <a:t>}</a:t>
            </a:r>
            <a:endParaRPr lang="zh-CN" altLang="zh-CN" sz="1800" dirty="0">
              <a:effectLst/>
            </a:endParaRPr>
          </a:p>
          <a:p>
            <a:pPr marL="271463" lvl="1" indent="0">
              <a:buNone/>
            </a:pPr>
            <a:endParaRPr lang="zh-CN" altLang="zh-CN" sz="1800" dirty="0">
              <a:effectLst/>
            </a:endParaRPr>
          </a:p>
          <a:p>
            <a:pPr marL="271463" lvl="1" indent="0">
              <a:buNone/>
            </a:pPr>
            <a:r>
              <a:rPr lang="en-US" altLang="zh-CN" sz="1800" dirty="0">
                <a:effectLst/>
              </a:rPr>
              <a:t>			</a:t>
            </a:r>
            <a:endParaRPr lang="zh-CN" altLang="en-US" sz="1800" dirty="0"/>
          </a:p>
        </p:txBody>
      </p:sp>
      <p:sp>
        <p:nvSpPr>
          <p:cNvPr id="4" name="内容占位符 3"/>
          <p:cNvSpPr>
            <a:spLocks noGrp="1"/>
          </p:cNvSpPr>
          <p:nvPr>
            <p:ph sz="half" idx="2"/>
          </p:nvPr>
        </p:nvSpPr>
        <p:spPr/>
        <p:txBody>
          <a:bodyPr/>
          <a:lstStyle/>
          <a:p>
            <a:pPr marL="271463" lvl="1" indent="0">
              <a:buNone/>
            </a:pPr>
            <a:r>
              <a:rPr lang="en-US" altLang="zh-CN" sz="1800" dirty="0" smtClean="0">
                <a:solidFill>
                  <a:srgbClr val="FF0000"/>
                </a:solidFill>
                <a:effectLst/>
              </a:rPr>
              <a:t>int </a:t>
            </a:r>
            <a:r>
              <a:rPr lang="en-US" altLang="zh-CN" sz="1800" dirty="0">
                <a:solidFill>
                  <a:srgbClr val="FF0000"/>
                </a:solidFill>
                <a:effectLst/>
              </a:rPr>
              <a:t>factorsum(int number)</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int sum,i;</a:t>
            </a:r>
            <a:endParaRPr lang="zh-CN" altLang="zh-CN" sz="1800" dirty="0">
              <a:solidFill>
                <a:srgbClr val="FF0000"/>
              </a:solidFill>
              <a:effectLst/>
            </a:endParaRPr>
          </a:p>
          <a:p>
            <a:pPr marL="271463" lvl="1" indent="0">
              <a:buNone/>
            </a:pPr>
            <a:r>
              <a:rPr lang="en-US" altLang="zh-CN" sz="1800" dirty="0">
                <a:solidFill>
                  <a:srgbClr val="FF0000"/>
                </a:solidFill>
                <a:effectLst/>
              </a:rPr>
              <a:t>	if(number==1)</a:t>
            </a:r>
            <a:endParaRPr lang="zh-CN" altLang="zh-CN" sz="1800" dirty="0">
              <a:solidFill>
                <a:srgbClr val="FF0000"/>
              </a:solidFill>
              <a:effectLst/>
            </a:endParaRPr>
          </a:p>
          <a:p>
            <a:pPr marL="271463" lvl="1" indent="0">
              <a:buNone/>
            </a:pPr>
            <a:r>
              <a:rPr lang="en-US" altLang="zh-CN" sz="1800" dirty="0">
                <a:solidFill>
                  <a:srgbClr val="FF0000"/>
                </a:solidFill>
                <a:effectLst/>
              </a:rPr>
              <a:t>		return 1;</a:t>
            </a:r>
            <a:endParaRPr lang="zh-CN" altLang="zh-CN" sz="1800" dirty="0">
              <a:solidFill>
                <a:srgbClr val="FF0000"/>
              </a:solidFill>
              <a:effectLst/>
            </a:endParaRPr>
          </a:p>
          <a:p>
            <a:pPr marL="271463" lvl="1" indent="0">
              <a:buNone/>
            </a:pPr>
            <a:r>
              <a:rPr lang="en-US" altLang="zh-CN" sz="1800" dirty="0">
                <a:solidFill>
                  <a:srgbClr val="FF0000"/>
                </a:solidFill>
                <a:effectLst/>
              </a:rPr>
              <a:t>	sum=0;</a:t>
            </a:r>
            <a:endParaRPr lang="zh-CN" altLang="zh-CN" sz="1800" dirty="0">
              <a:solidFill>
                <a:srgbClr val="FF0000"/>
              </a:solidFill>
              <a:effectLst/>
            </a:endParaRPr>
          </a:p>
          <a:p>
            <a:pPr marL="271463" lvl="1" indent="0">
              <a:buNone/>
            </a:pPr>
            <a:r>
              <a:rPr lang="en-US" altLang="zh-CN" sz="1800" dirty="0">
                <a:solidFill>
                  <a:srgbClr val="FF0000"/>
                </a:solidFill>
                <a:effectLst/>
              </a:rPr>
              <a:t>	for(i=1;i&lt;=number-1;i++)</a:t>
            </a:r>
            <a:endParaRPr lang="zh-CN" altLang="zh-CN" sz="1800" dirty="0">
              <a:solidFill>
                <a:srgbClr val="FF0000"/>
              </a:solidFill>
              <a:effectLst/>
            </a:endParaRPr>
          </a:p>
          <a:p>
            <a:pPr marL="271463" lvl="1" indent="0">
              <a:buNone/>
            </a:pPr>
            <a:r>
              <a:rPr lang="en-US" altLang="zh-CN" sz="1800" dirty="0">
                <a:solidFill>
                  <a:srgbClr val="FF0000"/>
                </a:solidFill>
                <a:effectLst/>
              </a:rPr>
              <a:t>	</a:t>
            </a:r>
            <a:r>
              <a:rPr lang="en-US" altLang="zh-CN" sz="1800" dirty="0" smtClean="0">
                <a:solidFill>
                  <a:srgbClr val="FF0000"/>
                </a:solidFill>
                <a:effectLst/>
              </a:rPr>
              <a:t>  if(number%i</a:t>
            </a:r>
            <a:r>
              <a:rPr lang="en-US" altLang="zh-CN" sz="1800" dirty="0">
                <a:solidFill>
                  <a:srgbClr val="FF0000"/>
                </a:solidFill>
                <a:effectLst/>
              </a:rPr>
              <a:t>==0</a:t>
            </a:r>
            <a:r>
              <a:rPr lang="en-US" altLang="zh-CN" sz="1800" dirty="0" smtClean="0">
                <a:solidFill>
                  <a:srgbClr val="FF0000"/>
                </a:solidFill>
                <a:effectLst/>
              </a:rPr>
              <a:t>)</a:t>
            </a:r>
            <a:r>
              <a:rPr lang="en-US" altLang="zh-CN" sz="1800" dirty="0">
                <a:solidFill>
                  <a:srgbClr val="FF0000"/>
                </a:solidFill>
                <a:effectLst/>
              </a:rPr>
              <a:t>			sum=sum+i;</a:t>
            </a:r>
            <a:endParaRPr lang="zh-CN" altLang="zh-CN" sz="1800" dirty="0">
              <a:solidFill>
                <a:srgbClr val="FF0000"/>
              </a:solidFill>
              <a:effectLst/>
            </a:endParaRPr>
          </a:p>
          <a:p>
            <a:pPr marL="271463" lvl="1" indent="0">
              <a:buNone/>
            </a:pPr>
            <a:r>
              <a:rPr lang="en-US" altLang="zh-CN" sz="1800" dirty="0">
                <a:solidFill>
                  <a:srgbClr val="FF0000"/>
                </a:solidFill>
                <a:effectLst/>
              </a:rPr>
              <a:t>	return sum;</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en-US" sz="1800" dirty="0">
              <a:solidFill>
                <a:srgbClr val="FF0000"/>
              </a:solidFill>
            </a:endParaRPr>
          </a:p>
          <a:p>
            <a:pPr marL="271463" lvl="1" indent="0">
              <a:buNone/>
            </a:pPr>
            <a:endParaRPr lang="zh-CN" altLang="en-US" dirty="0"/>
          </a:p>
        </p:txBody>
      </p:sp>
      <p:sp>
        <p:nvSpPr>
          <p:cNvPr id="5" name="灯片编号占位符 4"/>
          <p:cNvSpPr>
            <a:spLocks noGrp="1"/>
          </p:cNvSpPr>
          <p:nvPr>
            <p:ph type="sldNum" sz="quarter" idx="11"/>
          </p:nvPr>
        </p:nvSpPr>
        <p:spPr/>
        <p:txBody>
          <a:bodyPr/>
          <a:lstStyle/>
          <a:p>
            <a:pPr>
              <a:defRPr/>
            </a:pPr>
            <a:fld id="{883631AF-0BB6-41EF-8F20-F2D0D077CE60}" type="slidenum">
              <a:rPr lang="en-US" altLang="zh-CN" smtClean="0"/>
              <a:pPr>
                <a:defRPr/>
              </a:pPr>
              <a:t>42</a:t>
            </a:fld>
            <a:endParaRPr lang="en-US" altLang="zh-CN" dirty="0"/>
          </a:p>
        </p:txBody>
      </p:sp>
      <p:sp>
        <p:nvSpPr>
          <p:cNvPr id="9" name="TextBox 8"/>
          <p:cNvSpPr txBox="1"/>
          <p:nvPr/>
        </p:nvSpPr>
        <p:spPr>
          <a:xfrm>
            <a:off x="4499992" y="836712"/>
            <a:ext cx="4320480" cy="707886"/>
          </a:xfrm>
          <a:prstGeom prst="rect">
            <a:avLst/>
          </a:prstGeom>
          <a:noFill/>
        </p:spPr>
        <p:txBody>
          <a:bodyPr wrap="square" rtlCol="0">
            <a:spAutoFit/>
          </a:bodyPr>
          <a:lstStyle/>
          <a:p>
            <a:r>
              <a:rPr lang="zh-CN" altLang="en-US" sz="2000" b="1" dirty="0">
                <a:latin typeface="+mn-ea"/>
                <a:ea typeface="+mn-ea"/>
              </a:rPr>
              <a:t>某自然数除它本身以外的所有因子之和等于该数，则该数被称为完数</a:t>
            </a:r>
          </a:p>
        </p:txBody>
      </p:sp>
    </p:spTree>
    <p:extLst>
      <p:ext uri="{BB962C8B-B14F-4D97-AF65-F5344CB8AC3E}">
        <p14:creationId xmlns:p14="http://schemas.microsoft.com/office/powerpoint/2010/main" val="2691907219"/>
      </p:ext>
    </p:extLst>
  </p:cSld>
  <p:clrMapOvr>
    <a:masterClrMapping/>
  </p:clrMapOvr>
  <p:transition spd="med">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3" name="内容占位符 2"/>
          <p:cNvSpPr>
            <a:spLocks noGrp="1"/>
          </p:cNvSpPr>
          <p:nvPr>
            <p:ph idx="1"/>
          </p:nvPr>
        </p:nvSpPr>
        <p:spPr/>
        <p:txBody>
          <a:bodyPr/>
          <a:lstStyle/>
          <a:p>
            <a:pPr marL="271463" lvl="1" indent="0">
              <a:buNone/>
            </a:pPr>
            <a:r>
              <a:rPr lang="zh-CN" altLang="zh-CN" dirty="0">
                <a:effectLst/>
              </a:rPr>
              <a:t>【例</a:t>
            </a:r>
            <a:r>
              <a:rPr lang="en-US" altLang="zh-CN" dirty="0">
                <a:effectLst/>
              </a:rPr>
              <a:t>5-10</a:t>
            </a:r>
            <a:r>
              <a:rPr lang="zh-CN" altLang="zh-CN" dirty="0">
                <a:effectLst/>
              </a:rPr>
              <a:t>】从键盘输入一行</a:t>
            </a:r>
            <a:r>
              <a:rPr lang="en-US" altLang="zh-CN" dirty="0">
                <a:effectLst/>
              </a:rPr>
              <a:t>16</a:t>
            </a:r>
            <a:r>
              <a:rPr lang="zh-CN" altLang="zh-CN" dirty="0">
                <a:effectLst/>
              </a:rPr>
              <a:t>进制字符串（无空格，字母必须大写），调用</a:t>
            </a:r>
            <a:r>
              <a:rPr lang="en-US" altLang="zh-CN" dirty="0">
                <a:effectLst/>
              </a:rPr>
              <a:t>hexvalue</a:t>
            </a:r>
            <a:r>
              <a:rPr lang="zh-CN" altLang="zh-CN" dirty="0">
                <a:effectLst/>
              </a:rPr>
              <a:t>函数转换为</a:t>
            </a:r>
            <a:r>
              <a:rPr lang="en-US" altLang="zh-CN" dirty="0">
                <a:effectLst/>
              </a:rPr>
              <a:t>10</a:t>
            </a:r>
            <a:r>
              <a:rPr lang="zh-CN" altLang="zh-CN" dirty="0">
                <a:effectLst/>
              </a:rPr>
              <a:t>进制（遇到非</a:t>
            </a:r>
            <a:r>
              <a:rPr lang="en-US" altLang="zh-CN" dirty="0">
                <a:effectLst/>
              </a:rPr>
              <a:t>16</a:t>
            </a:r>
            <a:r>
              <a:rPr lang="zh-CN" altLang="zh-CN" dirty="0">
                <a:effectLst/>
              </a:rPr>
              <a:t>进制字符结束</a:t>
            </a:r>
            <a:r>
              <a:rPr lang="zh-CN" altLang="zh-CN" dirty="0" smtClean="0">
                <a:effectLst/>
              </a:rPr>
              <a:t>）</a:t>
            </a:r>
            <a:r>
              <a:rPr lang="zh-CN" altLang="en-US" dirty="0" smtClean="0">
                <a:effectLst/>
              </a:rPr>
              <a:t>；主函数中</a:t>
            </a:r>
            <a:r>
              <a:rPr lang="zh-CN" altLang="zh-CN" dirty="0" smtClean="0">
                <a:effectLst/>
              </a:rPr>
              <a:t>输出</a:t>
            </a:r>
            <a:r>
              <a:rPr lang="zh-CN" altLang="zh-CN" dirty="0">
                <a:effectLst/>
              </a:rPr>
              <a:t>转换结果。</a:t>
            </a:r>
          </a:p>
          <a:p>
            <a:pPr marL="271463" lvl="1" indent="0">
              <a:buNone/>
            </a:pPr>
            <a:r>
              <a:rPr lang="zh-CN" altLang="zh-CN" dirty="0">
                <a:effectLst/>
              </a:rPr>
              <a:t>此程序的运行结果如下图所示</a:t>
            </a:r>
            <a:r>
              <a:rPr lang="zh-CN" altLang="zh-CN" dirty="0" smtClean="0">
                <a:effectLst/>
              </a:rPr>
              <a:t>：</a:t>
            </a:r>
            <a:endParaRPr lang="en-US" altLang="zh-CN" dirty="0" smtClean="0">
              <a:effectLst/>
            </a:endParaRPr>
          </a:p>
          <a:p>
            <a:pPr marL="271463" lvl="1" indent="0">
              <a:buNone/>
            </a:pPr>
            <a:endParaRPr lang="en-US" altLang="zh-CN" dirty="0">
              <a:effectLst/>
            </a:endParaRPr>
          </a:p>
          <a:p>
            <a:pPr marL="271463" lvl="1" indent="0">
              <a:buNone/>
            </a:pPr>
            <a:endParaRPr lang="en-US" altLang="zh-CN" dirty="0" smtClean="0">
              <a:effectLst/>
            </a:endParaRPr>
          </a:p>
          <a:p>
            <a:pPr marL="271463" lvl="1" indent="0">
              <a:buNone/>
            </a:pPr>
            <a:endParaRPr lang="en-US" altLang="zh-CN" dirty="0">
              <a:effectLst/>
            </a:endParaRPr>
          </a:p>
          <a:p>
            <a:pPr marL="271463" lvl="1" indent="0">
              <a:buNone/>
            </a:pPr>
            <a:r>
              <a:rPr lang="zh-CN" altLang="en-US" dirty="0" smtClean="0">
                <a:effectLst/>
              </a:rPr>
              <a:t>改进程序：输入任意字符串，满足</a:t>
            </a:r>
            <a:r>
              <a:rPr lang="en-US" altLang="zh-CN" dirty="0" smtClean="0">
                <a:effectLst/>
              </a:rPr>
              <a:t>16</a:t>
            </a:r>
            <a:r>
              <a:rPr lang="zh-CN" altLang="en-US" dirty="0" smtClean="0">
                <a:effectLst/>
              </a:rPr>
              <a:t>进制数（大小写）</a:t>
            </a:r>
            <a:endParaRPr lang="en-US" altLang="zh-CN" dirty="0" smtClean="0">
              <a:effectLst/>
            </a:endParaRP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43</a:t>
            </a:fld>
            <a:endParaRPr lang="en-US" altLang="zh-CN"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789040"/>
            <a:ext cx="7182798"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9639885"/>
      </p:ext>
    </p:extLst>
  </p:cSld>
  <p:clrMapOvr>
    <a:masterClrMapping/>
  </p:clrMapOvr>
  <p:transition spd="med">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5" name="内容占位符 4"/>
          <p:cNvSpPr>
            <a:spLocks noGrp="1"/>
          </p:cNvSpPr>
          <p:nvPr>
            <p:ph sz="half" idx="1"/>
          </p:nvPr>
        </p:nvSpPr>
        <p:spPr>
          <a:xfrm>
            <a:off x="508372" y="1700213"/>
            <a:ext cx="4567684" cy="4537075"/>
          </a:xfrm>
        </p:spPr>
        <p:txBody>
          <a:bodyPr/>
          <a:lstStyle/>
          <a:p>
            <a:pPr marL="271463" lvl="1" indent="0">
              <a:buNone/>
            </a:pPr>
            <a:r>
              <a:rPr lang="en-US" altLang="zh-CN" sz="1800" dirty="0">
                <a:effectLst/>
              </a:rPr>
              <a:t>#include &lt;</a:t>
            </a:r>
            <a:r>
              <a:rPr lang="en-US" altLang="zh-CN" sz="1800" dirty="0" err="1">
                <a:effectLst/>
              </a:rPr>
              <a:t>stdio.h</a:t>
            </a:r>
            <a:r>
              <a:rPr lang="en-US" altLang="zh-CN" sz="1800" dirty="0" smtClean="0">
                <a:effectLst/>
              </a:rPr>
              <a:t>&gt;</a:t>
            </a:r>
          </a:p>
          <a:p>
            <a:pPr marL="271463" lvl="1" indent="0">
              <a:buNone/>
            </a:pPr>
            <a:r>
              <a:rPr lang="en-US" altLang="zh-CN" sz="1800" dirty="0" smtClean="0">
                <a:effectLst/>
              </a:rPr>
              <a:t>#include &lt;</a:t>
            </a:r>
            <a:r>
              <a:rPr lang="en-US" altLang="zh-CN" sz="1800" dirty="0" err="1" smtClean="0">
                <a:effectLst/>
              </a:rPr>
              <a:t>string.h</a:t>
            </a:r>
            <a:r>
              <a:rPr lang="en-US" altLang="zh-CN" sz="1800" dirty="0" smtClean="0">
                <a:effectLst/>
              </a:rPr>
              <a:t>&gt;</a:t>
            </a:r>
            <a:endParaRPr lang="zh-CN" altLang="zh-CN" sz="1800" dirty="0">
              <a:effectLst/>
            </a:endParaRPr>
          </a:p>
          <a:p>
            <a:pPr marL="271463" lvl="1" indent="0">
              <a:buNone/>
            </a:pPr>
            <a:r>
              <a:rPr lang="en-US" altLang="zh-CN" sz="1800" dirty="0">
                <a:effectLst/>
              </a:rPr>
              <a:t>int hexvalue(char str[]) ;</a:t>
            </a:r>
            <a:endParaRPr lang="zh-CN" altLang="zh-CN" sz="1800" dirty="0">
              <a:effectLst/>
            </a:endParaRPr>
          </a:p>
          <a:p>
            <a:pPr marL="271463" lvl="1" indent="0">
              <a:buNone/>
            </a:pPr>
            <a:r>
              <a:rPr lang="en-US" altLang="zh-CN" sz="1800" dirty="0" smtClean="0">
                <a:effectLst/>
              </a:rPr>
              <a:t>int </a:t>
            </a:r>
            <a:r>
              <a:rPr lang="en-US" altLang="zh-CN" sz="1800" dirty="0">
                <a:effectLst/>
              </a:rPr>
              <a:t>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char s[80];</a:t>
            </a:r>
            <a:endParaRPr lang="zh-CN" altLang="zh-CN" sz="1800" dirty="0">
              <a:effectLst/>
            </a:endParaRPr>
          </a:p>
          <a:p>
            <a:pPr marL="271463" lvl="1" indent="0">
              <a:buNone/>
            </a:pPr>
            <a:r>
              <a:rPr lang="en-US" altLang="zh-CN" sz="1800" dirty="0">
                <a:effectLst/>
              </a:rPr>
              <a:t>    printf("Enter a string(hex</a:t>
            </a:r>
            <a:r>
              <a:rPr lang="en-US" altLang="zh-CN" sz="1800" dirty="0" smtClean="0">
                <a:effectLst/>
              </a:rPr>
              <a:t>):");</a:t>
            </a:r>
            <a:endParaRPr lang="zh-CN" altLang="zh-CN" sz="1800" dirty="0">
              <a:effectLst/>
            </a:endParaRPr>
          </a:p>
          <a:p>
            <a:pPr marL="271463" lvl="1" indent="0">
              <a:buNone/>
            </a:pPr>
            <a:r>
              <a:rPr lang="en-US" altLang="zh-CN" sz="1800" dirty="0">
                <a:effectLst/>
              </a:rPr>
              <a:t>    gets(s);</a:t>
            </a:r>
            <a:endParaRPr lang="zh-CN" altLang="zh-CN" sz="1800" dirty="0">
              <a:effectLst/>
            </a:endParaRPr>
          </a:p>
          <a:p>
            <a:pPr marL="271463" lvl="1" indent="0">
              <a:buNone/>
            </a:pPr>
            <a:r>
              <a:rPr lang="en-US" altLang="zh-CN" sz="1800" dirty="0">
                <a:effectLst/>
              </a:rPr>
              <a:t>    </a:t>
            </a:r>
            <a:r>
              <a:rPr lang="en-US" altLang="zh-CN" sz="1800" dirty="0" err="1" smtClean="0">
                <a:effectLst/>
              </a:rPr>
              <a:t>printf</a:t>
            </a:r>
            <a:r>
              <a:rPr lang="en-US" altLang="zh-CN" sz="1800" dirty="0">
                <a:effectLst/>
              </a:rPr>
              <a:t>("%sH=%dD\n",s,hexvalue(s));</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6" name="内容占位符 5"/>
          <p:cNvSpPr>
            <a:spLocks noGrp="1"/>
          </p:cNvSpPr>
          <p:nvPr>
            <p:ph sz="half" idx="2"/>
          </p:nvPr>
        </p:nvSpPr>
        <p:spPr>
          <a:xfrm>
            <a:off x="4716016" y="1628800"/>
            <a:ext cx="4280916" cy="5229200"/>
          </a:xfrm>
        </p:spPr>
        <p:txBody>
          <a:bodyPr/>
          <a:lstStyle/>
          <a:p>
            <a:pPr marL="271463" lvl="1" indent="0">
              <a:buNone/>
            </a:pPr>
            <a:r>
              <a:rPr lang="en-US" altLang="zh-CN" sz="1800" dirty="0" err="1" smtClean="0">
                <a:solidFill>
                  <a:srgbClr val="FF0000"/>
                </a:solidFill>
                <a:effectLst/>
              </a:rPr>
              <a:t>int</a:t>
            </a:r>
            <a:r>
              <a:rPr lang="en-US" altLang="zh-CN" sz="1800" dirty="0" smtClean="0">
                <a:solidFill>
                  <a:srgbClr val="FF0000"/>
                </a:solidFill>
                <a:effectLst/>
              </a:rPr>
              <a:t> </a:t>
            </a:r>
            <a:r>
              <a:rPr lang="en-US" altLang="zh-CN" sz="1800" dirty="0" err="1" smtClean="0">
                <a:solidFill>
                  <a:srgbClr val="FF0000"/>
                </a:solidFill>
                <a:effectLst/>
              </a:rPr>
              <a:t>hexvalue</a:t>
            </a:r>
            <a:r>
              <a:rPr lang="en-US" altLang="zh-CN" sz="1800" dirty="0" smtClean="0">
                <a:solidFill>
                  <a:srgbClr val="FF0000"/>
                </a:solidFill>
                <a:effectLst/>
              </a:rPr>
              <a:t>(char </a:t>
            </a:r>
            <a:r>
              <a:rPr lang="en-US" altLang="zh-CN" sz="1800" dirty="0" err="1" smtClean="0">
                <a:solidFill>
                  <a:srgbClr val="FF0000"/>
                </a:solidFill>
                <a:effectLst/>
              </a:rPr>
              <a:t>str</a:t>
            </a:r>
            <a:r>
              <a:rPr lang="en-US" altLang="zh-CN" sz="1800" dirty="0" smtClean="0">
                <a:solidFill>
                  <a:srgbClr val="FF0000"/>
                </a:solidFill>
                <a:effectLst/>
              </a:rPr>
              <a:t>[])</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a:t>
            </a:r>
            <a:r>
              <a:rPr lang="en-US" altLang="zh-CN" sz="1800" dirty="0" err="1" smtClean="0">
                <a:solidFill>
                  <a:srgbClr val="FF0000"/>
                </a:solidFill>
                <a:effectLst/>
              </a:rPr>
              <a:t>int</a:t>
            </a:r>
            <a:r>
              <a:rPr lang="en-US" altLang="zh-CN" sz="1800" dirty="0" smtClean="0">
                <a:solidFill>
                  <a:srgbClr val="FF0000"/>
                </a:solidFill>
                <a:effectLst/>
              </a:rPr>
              <a:t> </a:t>
            </a:r>
            <a:r>
              <a:rPr lang="en-US" altLang="zh-CN" sz="1800" dirty="0" err="1" smtClean="0">
                <a:solidFill>
                  <a:srgbClr val="FF0000"/>
                </a:solidFill>
                <a:effectLst/>
              </a:rPr>
              <a:t>n,i,data</a:t>
            </a:r>
            <a:r>
              <a:rPr lang="en-US" altLang="zh-CN" sz="1800" dirty="0" smtClean="0">
                <a:solidFill>
                  <a:srgbClr val="FF0000"/>
                </a:solidFill>
                <a:effectLst/>
              </a:rPr>
              <a:t>=0;</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for (</a:t>
            </a:r>
            <a:r>
              <a:rPr lang="en-US" altLang="zh-CN" sz="1800" dirty="0" err="1" smtClean="0">
                <a:solidFill>
                  <a:srgbClr val="FF0000"/>
                </a:solidFill>
                <a:effectLst/>
              </a:rPr>
              <a:t>i</a:t>
            </a:r>
            <a:r>
              <a:rPr lang="en-US" altLang="zh-CN" sz="1800" dirty="0" smtClean="0">
                <a:solidFill>
                  <a:srgbClr val="FF0000"/>
                </a:solidFill>
                <a:effectLst/>
              </a:rPr>
              <a:t>=0;str[</a:t>
            </a:r>
            <a:r>
              <a:rPr lang="en-US" altLang="zh-CN" sz="1800" dirty="0" err="1" smtClean="0">
                <a:solidFill>
                  <a:srgbClr val="FF0000"/>
                </a:solidFill>
                <a:effectLst/>
              </a:rPr>
              <a:t>i</a:t>
            </a:r>
            <a:r>
              <a:rPr lang="en-US" altLang="zh-CN" sz="1800" dirty="0" smtClean="0">
                <a:solidFill>
                  <a:srgbClr val="FF0000"/>
                </a:solidFill>
                <a:effectLst/>
              </a:rPr>
              <a:t>]!='\0';i++)</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if (</a:t>
            </a:r>
            <a:r>
              <a:rPr lang="en-US" altLang="zh-CN" sz="1800" dirty="0" err="1" smtClean="0">
                <a:solidFill>
                  <a:srgbClr val="FF0000"/>
                </a:solidFill>
                <a:effectLst/>
              </a:rPr>
              <a:t>str</a:t>
            </a:r>
            <a:r>
              <a:rPr lang="en-US" altLang="zh-CN" sz="1800" dirty="0" smtClean="0">
                <a:solidFill>
                  <a:srgbClr val="FF0000"/>
                </a:solidFill>
                <a:effectLst/>
              </a:rPr>
              <a:t>[</a:t>
            </a:r>
            <a:r>
              <a:rPr lang="en-US" altLang="zh-CN" sz="1800" dirty="0" err="1" smtClean="0">
                <a:solidFill>
                  <a:srgbClr val="FF0000"/>
                </a:solidFill>
                <a:effectLst/>
              </a:rPr>
              <a:t>i</a:t>
            </a:r>
            <a:r>
              <a:rPr lang="en-US" altLang="zh-CN" sz="1800" dirty="0" smtClean="0">
                <a:solidFill>
                  <a:srgbClr val="FF0000"/>
                </a:solidFill>
                <a:effectLst/>
              </a:rPr>
              <a:t>]&gt;='0' &amp;&amp; </a:t>
            </a:r>
            <a:r>
              <a:rPr lang="en-US" altLang="zh-CN" sz="1800" dirty="0" err="1" smtClean="0">
                <a:solidFill>
                  <a:srgbClr val="FF0000"/>
                </a:solidFill>
                <a:effectLst/>
              </a:rPr>
              <a:t>str</a:t>
            </a:r>
            <a:r>
              <a:rPr lang="en-US" altLang="zh-CN" sz="1800" dirty="0" smtClean="0">
                <a:solidFill>
                  <a:srgbClr val="FF0000"/>
                </a:solidFill>
                <a:effectLst/>
              </a:rPr>
              <a:t>[</a:t>
            </a:r>
            <a:r>
              <a:rPr lang="en-US" altLang="zh-CN" sz="1800" dirty="0" err="1" smtClean="0">
                <a:solidFill>
                  <a:srgbClr val="FF0000"/>
                </a:solidFill>
                <a:effectLst/>
              </a:rPr>
              <a:t>i</a:t>
            </a:r>
            <a:r>
              <a:rPr lang="en-US" altLang="zh-CN" sz="1800" dirty="0" smtClean="0">
                <a:solidFill>
                  <a:srgbClr val="FF0000"/>
                </a:solidFill>
                <a:effectLst/>
              </a:rPr>
              <a:t>]&lt;='9')</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n=</a:t>
            </a:r>
            <a:r>
              <a:rPr lang="en-US" altLang="zh-CN" sz="1800" dirty="0" err="1" smtClean="0">
                <a:solidFill>
                  <a:srgbClr val="FF0000"/>
                </a:solidFill>
                <a:effectLst/>
              </a:rPr>
              <a:t>str</a:t>
            </a:r>
            <a:r>
              <a:rPr lang="en-US" altLang="zh-CN" sz="1800" dirty="0" smtClean="0">
                <a:solidFill>
                  <a:srgbClr val="FF0000"/>
                </a:solidFill>
                <a:effectLst/>
              </a:rPr>
              <a:t>[</a:t>
            </a:r>
            <a:r>
              <a:rPr lang="en-US" altLang="zh-CN" sz="1800" dirty="0" err="1" smtClean="0">
                <a:solidFill>
                  <a:srgbClr val="FF0000"/>
                </a:solidFill>
                <a:effectLst/>
              </a:rPr>
              <a:t>i</a:t>
            </a:r>
            <a:r>
              <a:rPr lang="en-US" altLang="zh-CN" sz="1800" dirty="0" smtClean="0">
                <a:solidFill>
                  <a:srgbClr val="FF0000"/>
                </a:solidFill>
                <a:effectLst/>
              </a:rPr>
              <a:t>]-'0';</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else if (</a:t>
            </a:r>
            <a:r>
              <a:rPr lang="en-US" altLang="zh-CN" sz="1800" dirty="0" err="1" smtClean="0">
                <a:solidFill>
                  <a:srgbClr val="FF0000"/>
                </a:solidFill>
                <a:effectLst/>
              </a:rPr>
              <a:t>str</a:t>
            </a:r>
            <a:r>
              <a:rPr lang="en-US" altLang="zh-CN" sz="1800" dirty="0" smtClean="0">
                <a:solidFill>
                  <a:srgbClr val="FF0000"/>
                </a:solidFill>
                <a:effectLst/>
              </a:rPr>
              <a:t>[</a:t>
            </a:r>
            <a:r>
              <a:rPr lang="en-US" altLang="zh-CN" sz="1800" dirty="0" err="1" smtClean="0">
                <a:solidFill>
                  <a:srgbClr val="FF0000"/>
                </a:solidFill>
                <a:effectLst/>
              </a:rPr>
              <a:t>i</a:t>
            </a:r>
            <a:r>
              <a:rPr lang="en-US" altLang="zh-CN" sz="1800" dirty="0" smtClean="0">
                <a:solidFill>
                  <a:srgbClr val="FF0000"/>
                </a:solidFill>
                <a:effectLst/>
              </a:rPr>
              <a:t>]&gt;='A' &amp;&amp; </a:t>
            </a:r>
            <a:r>
              <a:rPr lang="en-US" altLang="zh-CN" sz="1800" dirty="0" err="1" smtClean="0">
                <a:solidFill>
                  <a:srgbClr val="FF0000"/>
                </a:solidFill>
                <a:effectLst/>
              </a:rPr>
              <a:t>str</a:t>
            </a:r>
            <a:r>
              <a:rPr lang="en-US" altLang="zh-CN" sz="1800" dirty="0" smtClean="0">
                <a:solidFill>
                  <a:srgbClr val="FF0000"/>
                </a:solidFill>
                <a:effectLst/>
              </a:rPr>
              <a:t>[</a:t>
            </a:r>
            <a:r>
              <a:rPr lang="en-US" altLang="zh-CN" sz="1800" dirty="0" err="1" smtClean="0">
                <a:solidFill>
                  <a:srgbClr val="FF0000"/>
                </a:solidFill>
                <a:effectLst/>
              </a:rPr>
              <a:t>i</a:t>
            </a:r>
            <a:r>
              <a:rPr lang="en-US" altLang="zh-CN" sz="1800" dirty="0" smtClean="0">
                <a:solidFill>
                  <a:srgbClr val="FF0000"/>
                </a:solidFill>
                <a:effectLst/>
              </a:rPr>
              <a:t>]&lt;='F')</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n=</a:t>
            </a:r>
            <a:r>
              <a:rPr lang="en-US" altLang="zh-CN" sz="1800" dirty="0" err="1" smtClean="0">
                <a:solidFill>
                  <a:srgbClr val="FF0000"/>
                </a:solidFill>
                <a:effectLst/>
              </a:rPr>
              <a:t>str</a:t>
            </a:r>
            <a:r>
              <a:rPr lang="en-US" altLang="zh-CN" sz="1800" dirty="0" smtClean="0">
                <a:solidFill>
                  <a:srgbClr val="FF0000"/>
                </a:solidFill>
                <a:effectLst/>
              </a:rPr>
              <a:t>[</a:t>
            </a:r>
            <a:r>
              <a:rPr lang="en-US" altLang="zh-CN" sz="1800" dirty="0" err="1" smtClean="0">
                <a:solidFill>
                  <a:srgbClr val="FF0000"/>
                </a:solidFill>
                <a:effectLst/>
              </a:rPr>
              <a:t>i</a:t>
            </a:r>
            <a:r>
              <a:rPr lang="en-US" altLang="zh-CN" sz="1800" dirty="0" smtClean="0">
                <a:solidFill>
                  <a:srgbClr val="FF0000"/>
                </a:solidFill>
                <a:effectLst/>
              </a:rPr>
              <a:t>]-'A'+10;</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else</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break;</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data=data*16+n;    }</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    return data;</a:t>
            </a:r>
            <a:endParaRPr lang="zh-CN" altLang="zh-CN" sz="1800" dirty="0" smtClean="0">
              <a:solidFill>
                <a:srgbClr val="FF0000"/>
              </a:solidFill>
              <a:effectLst/>
            </a:endParaRPr>
          </a:p>
          <a:p>
            <a:pPr marL="271463" lvl="1" indent="0">
              <a:buNone/>
            </a:pPr>
            <a:r>
              <a:rPr lang="en-US" altLang="zh-CN" sz="1800" dirty="0" smtClean="0">
                <a:solidFill>
                  <a:srgbClr val="FF0000"/>
                </a:solidFill>
                <a:effectLst/>
              </a:rPr>
              <a:t>}</a:t>
            </a:r>
            <a:endParaRPr lang="zh-CN" altLang="zh-CN" sz="1800" dirty="0" smtClean="0">
              <a:solidFill>
                <a:srgbClr val="FF0000"/>
              </a:solidFill>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44</a:t>
            </a:fld>
            <a:endParaRPr lang="en-US" altLang="zh-CN"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835" y="614362"/>
            <a:ext cx="5736211" cy="86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7783096"/>
      </p:ext>
    </p:extLst>
  </p:cSld>
  <p:clrMapOvr>
    <a:masterClrMapping/>
  </p:clrMapOvr>
  <p:transition spd="med">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3" name="内容占位符 2"/>
          <p:cNvSpPr>
            <a:spLocks noGrp="1"/>
          </p:cNvSpPr>
          <p:nvPr>
            <p:ph idx="1"/>
          </p:nvPr>
        </p:nvSpPr>
        <p:spPr/>
        <p:txBody>
          <a:bodyPr/>
          <a:lstStyle/>
          <a:p>
            <a:pPr marL="271463" lvl="1" indent="0">
              <a:buNone/>
            </a:pPr>
            <a:r>
              <a:rPr lang="zh-CN" altLang="zh-CN" dirty="0">
                <a:effectLst/>
              </a:rPr>
              <a:t>【例</a:t>
            </a:r>
            <a:r>
              <a:rPr lang="en-US" altLang="zh-CN" dirty="0">
                <a:effectLst/>
              </a:rPr>
              <a:t>5-11</a:t>
            </a:r>
            <a:r>
              <a:rPr lang="zh-CN" altLang="zh-CN" dirty="0">
                <a:effectLst/>
              </a:rPr>
              <a:t>】从键盘输入一行字符，所有字符依次向右循环移动</a:t>
            </a:r>
            <a:r>
              <a:rPr lang="pt-BR" altLang="zh-CN" dirty="0">
                <a:effectLst/>
              </a:rPr>
              <a:t>m</a:t>
            </a:r>
            <a:r>
              <a:rPr lang="zh-CN" altLang="zh-CN" dirty="0">
                <a:effectLst/>
              </a:rPr>
              <a:t>个位置并输出，移出的字符循环到最左边</a:t>
            </a:r>
            <a:r>
              <a:rPr lang="zh-CN" altLang="zh-CN" dirty="0" smtClean="0">
                <a:effectLst/>
              </a:rPr>
              <a:t>。</a:t>
            </a:r>
            <a:endParaRPr lang="en-US" altLang="zh-CN" dirty="0" smtClean="0">
              <a:effectLst/>
            </a:endParaRPr>
          </a:p>
          <a:p>
            <a:pPr marL="271463" lvl="1" indent="0">
              <a:buNone/>
            </a:pPr>
            <a:r>
              <a:rPr lang="zh-CN" altLang="zh-CN" dirty="0">
                <a:effectLst/>
              </a:rPr>
              <a:t>此程序的运行结果如下图所示：</a:t>
            </a:r>
          </a:p>
          <a:p>
            <a:pPr marL="271463" lvl="1" indent="0">
              <a:buNone/>
            </a:pPr>
            <a:endParaRPr lang="zh-CN" altLang="zh-CN"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45</a:t>
            </a:fld>
            <a:endParaRPr lang="en-US" altLang="zh-C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356992"/>
            <a:ext cx="6837249" cy="120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5371019"/>
      </p:ext>
    </p:extLst>
  </p:cSld>
  <p:clrMapOvr>
    <a:masterClrMapping/>
  </p:clrMapOvr>
  <p:transition spd="med">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5" name="内容占位符 4"/>
          <p:cNvSpPr>
            <a:spLocks noGrp="1"/>
          </p:cNvSpPr>
          <p:nvPr>
            <p:ph sz="half" idx="1"/>
          </p:nvPr>
        </p:nvSpPr>
        <p:spPr/>
        <p:txBody>
          <a:bodyPr/>
          <a:lstStyle/>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#include &lt;string.h&gt;</a:t>
            </a:r>
            <a:endParaRPr lang="zh-CN" altLang="zh-CN" sz="1800" dirty="0">
              <a:effectLst/>
            </a:endParaRPr>
          </a:p>
          <a:p>
            <a:pPr marL="271463" lvl="1" indent="0">
              <a:buNone/>
            </a:pPr>
            <a:r>
              <a:rPr lang="en-US" altLang="zh-CN" sz="1800" dirty="0">
                <a:effectLst/>
              </a:rPr>
              <a:t>void shift_s(char a[],int n,int m) ;</a:t>
            </a:r>
            <a:endParaRPr lang="zh-CN" altLang="zh-CN" sz="1800" dirty="0">
              <a:effectLst/>
            </a:endParaRPr>
          </a:p>
          <a:p>
            <a:pPr marL="271463" lvl="1" indent="0">
              <a:buNone/>
            </a:pPr>
            <a:r>
              <a:rPr lang="en-US" altLang="zh-CN" sz="1800" dirty="0" err="1" smtClean="0">
                <a:effectLst/>
              </a:rPr>
              <a:t>int</a:t>
            </a:r>
            <a:r>
              <a:rPr lang="en-US" altLang="zh-CN" sz="1800" dirty="0" smtClean="0">
                <a:effectLst/>
              </a:rPr>
              <a:t> 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char  stra[80];</a:t>
            </a:r>
            <a:endParaRPr lang="zh-CN" altLang="zh-CN" sz="1800" dirty="0">
              <a:effectLst/>
            </a:endParaRPr>
          </a:p>
          <a:p>
            <a:pPr marL="271463" lvl="1" indent="0">
              <a:buNone/>
            </a:pPr>
            <a:r>
              <a:rPr lang="en-US" altLang="zh-CN" sz="1800" dirty="0">
                <a:effectLst/>
              </a:rPr>
              <a:t>    int  n,m;</a:t>
            </a:r>
            <a:endParaRPr lang="zh-CN" altLang="zh-CN" sz="1800" dirty="0">
              <a:effectLst/>
            </a:endParaRPr>
          </a:p>
          <a:p>
            <a:pPr marL="271463" lvl="1" indent="0">
              <a:buNone/>
            </a:pPr>
            <a:r>
              <a:rPr lang="en-US" altLang="zh-CN" sz="1800" dirty="0">
                <a:effectLst/>
              </a:rPr>
              <a:t>    printf("Enter a string:");</a:t>
            </a:r>
            <a:endParaRPr lang="zh-CN" altLang="zh-CN" sz="1800" dirty="0">
              <a:effectLst/>
            </a:endParaRPr>
          </a:p>
          <a:p>
            <a:pPr marL="271463" lvl="1" indent="0">
              <a:buNone/>
            </a:pPr>
            <a:r>
              <a:rPr lang="en-US" altLang="zh-CN" sz="1800" dirty="0">
                <a:effectLst/>
              </a:rPr>
              <a:t>    gets(stra);</a:t>
            </a:r>
            <a:endParaRPr lang="zh-CN" altLang="zh-CN" sz="1800" dirty="0">
              <a:effectLst/>
            </a:endParaRPr>
          </a:p>
          <a:p>
            <a:pPr marL="271463" lvl="1" indent="0">
              <a:buNone/>
            </a:pPr>
            <a:r>
              <a:rPr lang="en-US" altLang="zh-CN" sz="1800" dirty="0">
                <a:effectLst/>
              </a:rPr>
              <a:t>    n = strlen(stra);</a:t>
            </a:r>
            <a:endParaRPr lang="zh-CN" altLang="zh-CN" sz="1800" dirty="0">
              <a:effectLst/>
            </a:endParaRPr>
          </a:p>
          <a:p>
            <a:pPr marL="271463" lvl="1" indent="0">
              <a:buNone/>
            </a:pPr>
            <a:r>
              <a:rPr lang="en-US" altLang="zh-CN" sz="1800" dirty="0">
                <a:effectLst/>
              </a:rPr>
              <a:t>    printf("Enter m:");</a:t>
            </a:r>
            <a:endParaRPr lang="zh-CN" altLang="zh-CN" sz="1800" dirty="0">
              <a:effectLst/>
            </a:endParaRPr>
          </a:p>
          <a:p>
            <a:endParaRPr lang="zh-CN" altLang="en-US" dirty="0"/>
          </a:p>
        </p:txBody>
      </p:sp>
      <p:sp>
        <p:nvSpPr>
          <p:cNvPr id="6" name="内容占位符 5"/>
          <p:cNvSpPr>
            <a:spLocks noGrp="1"/>
          </p:cNvSpPr>
          <p:nvPr>
            <p:ph sz="half" idx="2"/>
          </p:nvPr>
        </p:nvSpPr>
        <p:spPr>
          <a:xfrm>
            <a:off x="4319464" y="3068960"/>
            <a:ext cx="4824536" cy="2592883"/>
          </a:xfrm>
        </p:spPr>
        <p:txBody>
          <a:bodyPr/>
          <a:lstStyle/>
          <a:p>
            <a:pPr marL="271463" lvl="1" indent="0">
              <a:buNone/>
            </a:pPr>
            <a:r>
              <a:rPr lang="en-US" altLang="zh-CN" sz="1800" dirty="0" smtClean="0">
                <a:effectLst/>
              </a:rPr>
              <a:t>    </a:t>
            </a:r>
            <a:r>
              <a:rPr lang="en-US" altLang="zh-CN" sz="1800" dirty="0" err="1" smtClean="0">
                <a:effectLst/>
              </a:rPr>
              <a:t>scanf</a:t>
            </a:r>
            <a:r>
              <a:rPr lang="en-US" altLang="zh-CN" sz="1800" dirty="0">
                <a:effectLst/>
              </a:rPr>
              <a:t>("%d",&amp;m);</a:t>
            </a:r>
            <a:endParaRPr lang="zh-CN" altLang="zh-CN" sz="1800" dirty="0">
              <a:effectLst/>
            </a:endParaRPr>
          </a:p>
          <a:p>
            <a:pPr marL="271463" lvl="1" indent="0">
              <a:buNone/>
            </a:pPr>
            <a:r>
              <a:rPr lang="en-US" altLang="zh-CN" sz="1800" dirty="0">
                <a:effectLst/>
              </a:rPr>
              <a:t>    shift_s(stra,n,m);</a:t>
            </a:r>
            <a:endParaRPr lang="zh-CN" altLang="zh-CN" sz="1800" dirty="0">
              <a:effectLst/>
            </a:endParaRPr>
          </a:p>
          <a:p>
            <a:pPr marL="271463" lvl="1" indent="0">
              <a:buNone/>
            </a:pPr>
            <a:r>
              <a:rPr lang="en-US" altLang="zh-CN" sz="1800" dirty="0">
                <a:effectLst/>
              </a:rPr>
              <a:t>    printf("After rotate right %d bits:",m);</a:t>
            </a:r>
            <a:endParaRPr lang="zh-CN" altLang="zh-CN" sz="1800" dirty="0">
              <a:effectLst/>
            </a:endParaRPr>
          </a:p>
          <a:p>
            <a:pPr marL="271463" lvl="1" indent="0">
              <a:buNone/>
            </a:pPr>
            <a:r>
              <a:rPr lang="en-US" altLang="zh-CN" sz="1800" dirty="0">
                <a:effectLst/>
              </a:rPr>
              <a:t>    puts(stra);</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46</a:t>
            </a:fld>
            <a:endParaRPr lang="en-US" altLang="zh-CN"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607815"/>
            <a:ext cx="5341684" cy="941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6800578"/>
      </p:ext>
    </p:extLst>
  </p:cSld>
  <p:clrMapOvr>
    <a:masterClrMapping/>
  </p:clrMapOvr>
  <p:transition spd="med">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3" name="内容占位符 2"/>
          <p:cNvSpPr>
            <a:spLocks noGrp="1"/>
          </p:cNvSpPr>
          <p:nvPr>
            <p:ph idx="1"/>
          </p:nvPr>
        </p:nvSpPr>
        <p:spPr/>
        <p:txBody>
          <a:bodyPr/>
          <a:lstStyle/>
          <a:p>
            <a:pPr marL="271463" lvl="1" indent="0">
              <a:buNone/>
            </a:pPr>
            <a:r>
              <a:rPr lang="en-US" altLang="zh-CN" sz="1800" dirty="0">
                <a:solidFill>
                  <a:srgbClr val="FF0000"/>
                </a:solidFill>
                <a:effectLst/>
              </a:rPr>
              <a:t>void shift_s(char a[],int n,int m)  /*a</a:t>
            </a:r>
            <a:r>
              <a:rPr lang="zh-CN" altLang="zh-CN" sz="1800" dirty="0" smtClean="0">
                <a:solidFill>
                  <a:srgbClr val="FF0000"/>
                </a:solidFill>
                <a:effectLst/>
              </a:rPr>
              <a:t>数组右移</a:t>
            </a:r>
            <a:r>
              <a:rPr lang="en-US" altLang="zh-CN" sz="1800" dirty="0">
                <a:solidFill>
                  <a:srgbClr val="FF0000"/>
                </a:solidFill>
                <a:effectLst/>
              </a:rPr>
              <a:t>m</a:t>
            </a:r>
            <a:r>
              <a:rPr lang="zh-CN" altLang="zh-CN" sz="1800" dirty="0">
                <a:solidFill>
                  <a:srgbClr val="FF0000"/>
                </a:solidFill>
                <a:effectLst/>
              </a:rPr>
              <a:t>个位置</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int  i,j;</a:t>
            </a:r>
            <a:endParaRPr lang="zh-CN" altLang="zh-CN" sz="1800" dirty="0">
              <a:solidFill>
                <a:srgbClr val="FF0000"/>
              </a:solidFill>
              <a:effectLst/>
            </a:endParaRPr>
          </a:p>
          <a:p>
            <a:pPr marL="271463" lvl="1" indent="0">
              <a:buNone/>
            </a:pPr>
            <a:r>
              <a:rPr lang="en-US" altLang="zh-CN" sz="1800" dirty="0">
                <a:solidFill>
                  <a:srgbClr val="FF0000"/>
                </a:solidFill>
                <a:effectLst/>
              </a:rPr>
              <a:t> </a:t>
            </a:r>
            <a:r>
              <a:rPr lang="en-US" altLang="zh-CN" sz="1800" dirty="0" smtClean="0">
                <a:solidFill>
                  <a:srgbClr val="FF0000"/>
                </a:solidFill>
                <a:effectLst/>
              </a:rPr>
              <a:t>   char </a:t>
            </a:r>
            <a:r>
              <a:rPr lang="en-US" altLang="zh-CN" sz="1800" dirty="0">
                <a:solidFill>
                  <a:srgbClr val="FF0000"/>
                </a:solidFill>
                <a:effectLst/>
              </a:rPr>
              <a:t>t;</a:t>
            </a:r>
            <a:endParaRPr lang="zh-CN" altLang="zh-CN" sz="1800" dirty="0">
              <a:solidFill>
                <a:srgbClr val="FF0000"/>
              </a:solidFill>
              <a:effectLst/>
            </a:endParaRPr>
          </a:p>
          <a:p>
            <a:pPr marL="271463" lvl="1" indent="0">
              <a:buNone/>
            </a:pPr>
            <a:r>
              <a:rPr lang="en-US" altLang="zh-CN" sz="1800" dirty="0">
                <a:solidFill>
                  <a:srgbClr val="FF0000"/>
                </a:solidFill>
                <a:effectLst/>
              </a:rPr>
              <a:t>    for(i=1;i&lt;=m;i++)</a:t>
            </a:r>
            <a:endParaRPr lang="zh-CN" altLang="zh-CN" sz="1800" dirty="0">
              <a:solidFill>
                <a:srgbClr val="FF0000"/>
              </a:solidFill>
              <a:effectLst/>
            </a:endParaRPr>
          </a:p>
          <a:p>
            <a:pPr marL="271463" lvl="1" indent="0">
              <a:buNone/>
            </a:pPr>
            <a:r>
              <a:rPr lang="en-US" altLang="zh-CN" sz="1800" dirty="0">
                <a:solidFill>
                  <a:srgbClr val="FF0000"/>
                </a:solidFill>
                <a:effectLst/>
              </a:rPr>
              <a:t>    {</a:t>
            </a:r>
            <a:endParaRPr lang="zh-CN" altLang="zh-CN" sz="1800" dirty="0">
              <a:solidFill>
                <a:srgbClr val="FF0000"/>
              </a:solidFill>
              <a:effectLst/>
            </a:endParaRPr>
          </a:p>
          <a:p>
            <a:pPr marL="271463" lvl="1" indent="0">
              <a:buNone/>
            </a:pPr>
            <a:r>
              <a:rPr lang="en-US" altLang="zh-CN" sz="1800" dirty="0">
                <a:solidFill>
                  <a:srgbClr val="FF0000"/>
                </a:solidFill>
                <a:effectLst/>
              </a:rPr>
              <a:t>        t=a[n-1];  /*</a:t>
            </a:r>
            <a:r>
              <a:rPr lang="zh-CN" altLang="zh-CN" sz="1800" dirty="0">
                <a:solidFill>
                  <a:srgbClr val="FF0000"/>
                </a:solidFill>
                <a:effectLst/>
              </a:rPr>
              <a:t>暂存末位字符</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smtClean="0">
                <a:solidFill>
                  <a:srgbClr val="FF0000"/>
                </a:solidFill>
                <a:effectLst/>
              </a:rPr>
              <a:t>        for </a:t>
            </a:r>
            <a:r>
              <a:rPr lang="en-US" altLang="zh-CN" sz="1800" dirty="0">
                <a:solidFill>
                  <a:srgbClr val="FF0000"/>
                </a:solidFill>
                <a:effectLst/>
              </a:rPr>
              <a:t>(j=n-2;j&gt;=0;j--)   /*</a:t>
            </a:r>
            <a:r>
              <a:rPr lang="zh-CN" altLang="zh-CN" sz="1800" dirty="0">
                <a:solidFill>
                  <a:srgbClr val="FF0000"/>
                </a:solidFill>
                <a:effectLst/>
              </a:rPr>
              <a:t>字符右移</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a[j+1] = a[j] ;</a:t>
            </a:r>
            <a:endParaRPr lang="zh-CN" altLang="zh-CN" sz="1800" dirty="0">
              <a:solidFill>
                <a:srgbClr val="FF0000"/>
              </a:solidFill>
              <a:effectLst/>
            </a:endParaRPr>
          </a:p>
          <a:p>
            <a:pPr marL="271463" lvl="1" indent="0">
              <a:buNone/>
            </a:pPr>
            <a:r>
              <a:rPr lang="en-US" altLang="zh-CN" sz="1800" dirty="0">
                <a:solidFill>
                  <a:srgbClr val="FF0000"/>
                </a:solidFill>
                <a:effectLst/>
              </a:rPr>
              <a:t>        a[0]=t;   /*</a:t>
            </a:r>
            <a:r>
              <a:rPr lang="zh-CN" altLang="zh-CN" sz="1800" dirty="0">
                <a:solidFill>
                  <a:srgbClr val="FF0000"/>
                </a:solidFill>
                <a:effectLst/>
              </a:rPr>
              <a:t>末位字符放在首位</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endParaRPr lang="zh-CN" altLang="en-US" dirty="0">
              <a:solidFill>
                <a:srgbClr val="FF0000"/>
              </a:solidFill>
            </a:endParaRP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47</a:t>
            </a:fld>
            <a:endParaRPr lang="en-US" altLang="zh-CN" dirty="0"/>
          </a:p>
        </p:txBody>
      </p:sp>
    </p:spTree>
    <p:extLst>
      <p:ext uri="{BB962C8B-B14F-4D97-AF65-F5344CB8AC3E}">
        <p14:creationId xmlns:p14="http://schemas.microsoft.com/office/powerpoint/2010/main" val="1124880373"/>
      </p:ext>
    </p:extLst>
  </p:cSld>
  <p:clrMapOvr>
    <a:masterClrMapping/>
  </p:clrMapOvr>
  <p:transition spd="med">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函数的应用</a:t>
            </a:r>
            <a:endParaRPr lang="zh-CN" altLang="en-US" dirty="0"/>
          </a:p>
        </p:txBody>
      </p:sp>
      <p:sp>
        <p:nvSpPr>
          <p:cNvPr id="3" name="内容占位符 2"/>
          <p:cNvSpPr>
            <a:spLocks noGrp="1"/>
          </p:cNvSpPr>
          <p:nvPr>
            <p:ph idx="1"/>
          </p:nvPr>
        </p:nvSpPr>
        <p:spPr/>
        <p:txBody>
          <a:bodyPr/>
          <a:lstStyle/>
          <a:p>
            <a:pPr marL="271463" lvl="1" indent="0">
              <a:buNone/>
            </a:pPr>
            <a:r>
              <a:rPr lang="zh-CN" altLang="en-US" dirty="0" smtClean="0">
                <a:solidFill>
                  <a:srgbClr val="FF0000"/>
                </a:solidFill>
                <a:effectLst/>
              </a:rPr>
              <a:t>拓展</a:t>
            </a:r>
            <a:r>
              <a:rPr lang="en-US" altLang="zh-CN" dirty="0" smtClean="0">
                <a:solidFill>
                  <a:srgbClr val="FF0000"/>
                </a:solidFill>
                <a:effectLst/>
              </a:rPr>
              <a:t>5-11</a:t>
            </a:r>
            <a:r>
              <a:rPr lang="zh-CN" altLang="en-US" dirty="0" smtClean="0">
                <a:effectLst/>
              </a:rPr>
              <a:t>，</a:t>
            </a:r>
            <a:r>
              <a:rPr lang="zh-CN" altLang="zh-CN" dirty="0" smtClean="0">
                <a:effectLst/>
              </a:rPr>
              <a:t>从</a:t>
            </a:r>
            <a:r>
              <a:rPr lang="zh-CN" altLang="zh-CN" dirty="0">
                <a:effectLst/>
              </a:rPr>
              <a:t>键盘输入一行字符，所有字符依次</a:t>
            </a:r>
            <a:r>
              <a:rPr lang="zh-CN" altLang="zh-CN" dirty="0" smtClean="0">
                <a:effectLst/>
              </a:rPr>
              <a:t>向</a:t>
            </a:r>
            <a:r>
              <a:rPr lang="zh-CN" altLang="en-US" dirty="0" smtClean="0">
                <a:solidFill>
                  <a:srgbClr val="FF0000"/>
                </a:solidFill>
                <a:effectLst/>
              </a:rPr>
              <a:t>左</a:t>
            </a:r>
            <a:r>
              <a:rPr lang="zh-CN" altLang="zh-CN" dirty="0" smtClean="0">
                <a:effectLst/>
              </a:rPr>
              <a:t>循环</a:t>
            </a:r>
            <a:r>
              <a:rPr lang="zh-CN" altLang="zh-CN" dirty="0">
                <a:effectLst/>
              </a:rPr>
              <a:t>移动</a:t>
            </a:r>
            <a:r>
              <a:rPr lang="pt-BR" altLang="zh-CN" dirty="0">
                <a:effectLst/>
              </a:rPr>
              <a:t>m</a:t>
            </a:r>
            <a:r>
              <a:rPr lang="zh-CN" altLang="zh-CN" dirty="0">
                <a:effectLst/>
              </a:rPr>
              <a:t>个位置并输出，移出的字符循环到</a:t>
            </a:r>
            <a:r>
              <a:rPr lang="zh-CN" altLang="zh-CN" dirty="0" smtClean="0">
                <a:effectLst/>
              </a:rPr>
              <a:t>最</a:t>
            </a:r>
            <a:r>
              <a:rPr lang="zh-CN" altLang="en-US" dirty="0">
                <a:solidFill>
                  <a:srgbClr val="FF0000"/>
                </a:solidFill>
                <a:effectLst/>
              </a:rPr>
              <a:t>右</a:t>
            </a:r>
            <a:r>
              <a:rPr lang="zh-CN" altLang="zh-CN" dirty="0" smtClean="0">
                <a:effectLst/>
              </a:rPr>
              <a:t>边。</a:t>
            </a:r>
            <a:endParaRPr lang="en-US" altLang="zh-CN" dirty="0" smtClean="0">
              <a:effectLst/>
            </a:endParaRPr>
          </a:p>
          <a:p>
            <a:pPr marL="271463" lvl="1" indent="0">
              <a:buNone/>
            </a:pPr>
            <a:r>
              <a:rPr lang="zh-CN" altLang="zh-CN" dirty="0">
                <a:effectLst/>
              </a:rPr>
              <a:t>此程序的运行结果如下图所示</a:t>
            </a:r>
            <a:r>
              <a:rPr lang="zh-CN" altLang="zh-CN" dirty="0" smtClean="0">
                <a:effectLst/>
              </a:rPr>
              <a:t>：</a:t>
            </a:r>
            <a:endParaRPr lang="en-US" altLang="zh-CN" dirty="0" smtClean="0">
              <a:effectLst/>
            </a:endParaRPr>
          </a:p>
          <a:p>
            <a:pPr marL="271463" lvl="1" indent="0">
              <a:buNone/>
            </a:pPr>
            <a:endParaRPr lang="en-US" altLang="zh-CN" dirty="0" smtClean="0">
              <a:effectLst/>
            </a:endParaRPr>
          </a:p>
          <a:p>
            <a:pPr marL="271463" lvl="1" indent="0">
              <a:buNone/>
            </a:pPr>
            <a:endParaRPr lang="en-US" altLang="zh-CN" dirty="0">
              <a:effectLst/>
            </a:endParaRPr>
          </a:p>
          <a:p>
            <a:pPr marL="271463" lvl="1" indent="0">
              <a:buNone/>
            </a:pPr>
            <a:endParaRPr lang="zh-CN" altLang="zh-CN" dirty="0">
              <a:effectLst/>
            </a:endParaRPr>
          </a:p>
          <a:p>
            <a:pPr marL="271463" lvl="1" indent="0">
              <a:buNone/>
            </a:pPr>
            <a:endParaRPr lang="zh-CN" altLang="zh-CN"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48</a:t>
            </a:fld>
            <a:endParaRPr lang="en-US" altLang="zh-CN" dirty="0"/>
          </a:p>
        </p:txBody>
      </p:sp>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4005064"/>
            <a:ext cx="6624736" cy="1584176"/>
          </a:xfrm>
          <a:prstGeom prst="rect">
            <a:avLst/>
          </a:prstGeom>
        </p:spPr>
      </p:pic>
    </p:spTree>
    <p:extLst>
      <p:ext uri="{BB962C8B-B14F-4D97-AF65-F5344CB8AC3E}">
        <p14:creationId xmlns:p14="http://schemas.microsoft.com/office/powerpoint/2010/main" val="1461521622"/>
      </p:ext>
    </p:extLst>
  </p:cSld>
  <p:clrMapOvr>
    <a:masterClrMapping/>
  </p:clrMapOvr>
  <p:transition spd="med">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200883"/>
            <a:ext cx="4572000" cy="6540485"/>
          </a:xfrm>
        </p:spPr>
        <p:txBody>
          <a:bodyPr/>
          <a:lstStyle/>
          <a:p>
            <a:pPr marL="0" indent="0">
              <a:buNone/>
            </a:pPr>
            <a:r>
              <a:rPr lang="en-US" altLang="zh-CN" sz="1800" kern="1200" dirty="0">
                <a:solidFill>
                  <a:schemeClr val="tx1"/>
                </a:solidFill>
                <a:latin typeface="Arial" charset="0"/>
                <a:ea typeface="宋体" pitchFamily="2" charset="-122"/>
              </a:rPr>
              <a:t>#include &lt;stdio.h&gt;</a:t>
            </a:r>
          </a:p>
          <a:p>
            <a:pPr marL="0" indent="0">
              <a:buNone/>
            </a:pPr>
            <a:r>
              <a:rPr lang="en-US" altLang="zh-CN" sz="1800" kern="1200" dirty="0">
                <a:solidFill>
                  <a:schemeClr val="tx1"/>
                </a:solidFill>
                <a:latin typeface="Arial" charset="0"/>
                <a:ea typeface="宋体" pitchFamily="2" charset="-122"/>
              </a:rPr>
              <a:t>#include &lt;string.h&gt;</a:t>
            </a:r>
          </a:p>
          <a:p>
            <a:pPr marL="0" indent="0">
              <a:buNone/>
            </a:pPr>
            <a:r>
              <a:rPr lang="en-US" altLang="zh-CN" sz="1800" kern="1200" dirty="0">
                <a:solidFill>
                  <a:schemeClr val="tx1"/>
                </a:solidFill>
                <a:latin typeface="Arial" charset="0"/>
                <a:ea typeface="宋体" pitchFamily="2" charset="-122"/>
              </a:rPr>
              <a:t>void shift_s(char a[],int n,int m) ;</a:t>
            </a:r>
          </a:p>
          <a:p>
            <a:pPr marL="0" indent="0">
              <a:buNone/>
            </a:pPr>
            <a:r>
              <a:rPr lang="en-US" altLang="zh-CN" sz="1800" kern="1200" dirty="0">
                <a:solidFill>
                  <a:schemeClr val="tx1"/>
                </a:solidFill>
                <a:latin typeface="Arial" charset="0"/>
                <a:ea typeface="宋体" pitchFamily="2" charset="-122"/>
              </a:rPr>
              <a:t>int main(void)</a:t>
            </a:r>
          </a:p>
          <a:p>
            <a:pPr marL="0" indent="0">
              <a:buNone/>
            </a:pPr>
            <a:r>
              <a:rPr lang="en-US" altLang="zh-CN" sz="1800" kern="1200" dirty="0">
                <a:solidFill>
                  <a:schemeClr val="tx1"/>
                </a:solidFill>
                <a:latin typeface="Arial" charset="0"/>
                <a:ea typeface="宋体" pitchFamily="2" charset="-122"/>
              </a:rPr>
              <a:t>{</a:t>
            </a:r>
          </a:p>
          <a:p>
            <a:pPr marL="0" indent="0">
              <a:buNone/>
            </a:pPr>
            <a:r>
              <a:rPr lang="en-US" altLang="zh-CN" sz="1800" kern="1200" dirty="0">
                <a:solidFill>
                  <a:schemeClr val="tx1"/>
                </a:solidFill>
                <a:latin typeface="Arial" charset="0"/>
                <a:ea typeface="宋体" pitchFamily="2" charset="-122"/>
              </a:rPr>
              <a:t>    char  stra[80];</a:t>
            </a:r>
          </a:p>
          <a:p>
            <a:pPr marL="0" indent="0">
              <a:buNone/>
            </a:pPr>
            <a:r>
              <a:rPr lang="en-US" altLang="zh-CN" sz="1800" kern="1200" dirty="0">
                <a:solidFill>
                  <a:schemeClr val="tx1"/>
                </a:solidFill>
                <a:latin typeface="Arial" charset="0"/>
                <a:ea typeface="宋体" pitchFamily="2" charset="-122"/>
              </a:rPr>
              <a:t>    int  n,m;</a:t>
            </a:r>
          </a:p>
          <a:p>
            <a:pPr marL="0" indent="0">
              <a:buNone/>
            </a:pPr>
            <a:r>
              <a:rPr lang="en-US" altLang="zh-CN" sz="1800" kern="1200" dirty="0">
                <a:solidFill>
                  <a:schemeClr val="tx1"/>
                </a:solidFill>
                <a:latin typeface="Arial" charset="0"/>
                <a:ea typeface="宋体" pitchFamily="2" charset="-122"/>
              </a:rPr>
              <a:t>    printf("Enter a string:");</a:t>
            </a:r>
          </a:p>
          <a:p>
            <a:pPr marL="0" indent="0">
              <a:buNone/>
            </a:pPr>
            <a:r>
              <a:rPr lang="en-US" altLang="zh-CN" sz="1800" kern="1200" dirty="0">
                <a:solidFill>
                  <a:schemeClr val="tx1"/>
                </a:solidFill>
                <a:latin typeface="Arial" charset="0"/>
                <a:ea typeface="宋体" pitchFamily="2" charset="-122"/>
              </a:rPr>
              <a:t>    gets(stra);</a:t>
            </a:r>
          </a:p>
          <a:p>
            <a:pPr marL="0" indent="0">
              <a:buNone/>
            </a:pPr>
            <a:r>
              <a:rPr lang="en-US" altLang="zh-CN" sz="1800" kern="1200" dirty="0">
                <a:solidFill>
                  <a:schemeClr val="tx1"/>
                </a:solidFill>
                <a:latin typeface="Arial" charset="0"/>
                <a:ea typeface="宋体" pitchFamily="2" charset="-122"/>
              </a:rPr>
              <a:t>    n = strlen(stra);</a:t>
            </a:r>
          </a:p>
          <a:p>
            <a:pPr marL="0" indent="0">
              <a:buNone/>
            </a:pPr>
            <a:r>
              <a:rPr lang="en-US" altLang="zh-CN" sz="1800" kern="1200" dirty="0">
                <a:solidFill>
                  <a:schemeClr val="tx1"/>
                </a:solidFill>
                <a:latin typeface="Arial" charset="0"/>
                <a:ea typeface="宋体" pitchFamily="2" charset="-122"/>
              </a:rPr>
              <a:t>    printf("Enter m:");</a:t>
            </a:r>
          </a:p>
          <a:p>
            <a:pPr marL="0" indent="0">
              <a:buNone/>
            </a:pPr>
            <a:r>
              <a:rPr lang="en-US" altLang="zh-CN" sz="1800" kern="1200" dirty="0">
                <a:solidFill>
                  <a:schemeClr val="tx1"/>
                </a:solidFill>
                <a:latin typeface="Arial" charset="0"/>
                <a:ea typeface="宋体" pitchFamily="2" charset="-122"/>
              </a:rPr>
              <a:t>    scanf("%d",&amp;m);</a:t>
            </a:r>
          </a:p>
          <a:p>
            <a:pPr marL="0" indent="0">
              <a:buNone/>
            </a:pPr>
            <a:r>
              <a:rPr lang="en-US" altLang="zh-CN" sz="1800" kern="1200" dirty="0">
                <a:solidFill>
                  <a:schemeClr val="tx1"/>
                </a:solidFill>
                <a:latin typeface="Arial" charset="0"/>
                <a:ea typeface="宋体" pitchFamily="2" charset="-122"/>
              </a:rPr>
              <a:t>    shift_s(stra,n,m);</a:t>
            </a:r>
          </a:p>
          <a:p>
            <a:pPr marL="0" indent="0">
              <a:buNone/>
            </a:pPr>
            <a:r>
              <a:rPr lang="en-US" altLang="zh-CN" sz="1800" kern="1200" dirty="0">
                <a:solidFill>
                  <a:schemeClr val="tx1"/>
                </a:solidFill>
                <a:latin typeface="Arial" charset="0"/>
                <a:ea typeface="宋体" pitchFamily="2" charset="-122"/>
              </a:rPr>
              <a:t>    printf("After rotate right %d bits:",m);</a:t>
            </a:r>
          </a:p>
          <a:p>
            <a:pPr marL="0" indent="0">
              <a:buNone/>
            </a:pPr>
            <a:r>
              <a:rPr lang="en-US" altLang="zh-CN" sz="1800" kern="1200" dirty="0">
                <a:solidFill>
                  <a:schemeClr val="tx1"/>
                </a:solidFill>
                <a:latin typeface="Arial" charset="0"/>
                <a:ea typeface="宋体" pitchFamily="2" charset="-122"/>
              </a:rPr>
              <a:t>    puts(stra);</a:t>
            </a:r>
          </a:p>
          <a:p>
            <a:pPr marL="0" indent="0">
              <a:buNone/>
            </a:pPr>
            <a:r>
              <a:rPr lang="en-US" altLang="zh-CN" sz="1800" kern="1200" dirty="0">
                <a:solidFill>
                  <a:schemeClr val="tx1"/>
                </a:solidFill>
                <a:latin typeface="Arial" charset="0"/>
                <a:ea typeface="宋体" pitchFamily="2" charset="-122"/>
              </a:rPr>
              <a:t>    return 0;</a:t>
            </a:r>
          </a:p>
          <a:p>
            <a:pPr marL="0" indent="0">
              <a:buNone/>
            </a:pPr>
            <a:r>
              <a:rPr lang="en-US" altLang="zh-CN" sz="1800" kern="1200" dirty="0">
                <a:solidFill>
                  <a:schemeClr val="tx1"/>
                </a:solidFill>
                <a:latin typeface="Arial" charset="0"/>
                <a:ea typeface="宋体" pitchFamily="2" charset="-122"/>
              </a:rPr>
              <a:t>}</a:t>
            </a:r>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49</a:t>
            </a:fld>
            <a:endParaRPr lang="en-US" altLang="zh-CN" dirty="0"/>
          </a:p>
        </p:txBody>
      </p:sp>
      <p:sp>
        <p:nvSpPr>
          <p:cNvPr id="6" name="矩形 5"/>
          <p:cNvSpPr/>
          <p:nvPr/>
        </p:nvSpPr>
        <p:spPr>
          <a:xfrm>
            <a:off x="4572000" y="836712"/>
            <a:ext cx="4464496" cy="3785652"/>
          </a:xfrm>
          <a:prstGeom prst="rect">
            <a:avLst/>
          </a:prstGeom>
        </p:spPr>
        <p:txBody>
          <a:bodyPr wrap="square">
            <a:spAutoFit/>
          </a:bodyPr>
          <a:lstStyle/>
          <a:p>
            <a:r>
              <a:rPr lang="en-US" altLang="zh-CN" sz="2000" b="1" dirty="0"/>
              <a:t>void shift_s(char a[],int n,int m) </a:t>
            </a:r>
            <a:endParaRPr lang="en-US" altLang="zh-CN" sz="2000" b="1" dirty="0" smtClean="0"/>
          </a:p>
          <a:p>
            <a:r>
              <a:rPr lang="en-US" altLang="zh-CN" sz="2000" b="1" dirty="0" smtClean="0"/>
              <a:t>{</a:t>
            </a:r>
            <a:endParaRPr lang="en-US" altLang="zh-CN" sz="2000" b="1" dirty="0"/>
          </a:p>
          <a:p>
            <a:r>
              <a:rPr lang="en-US" altLang="zh-CN" sz="2000" b="1" dirty="0"/>
              <a:t>    int  i,j;</a:t>
            </a:r>
          </a:p>
          <a:p>
            <a:r>
              <a:rPr lang="en-US" altLang="zh-CN" sz="2000" b="1" dirty="0" smtClean="0"/>
              <a:t>    char </a:t>
            </a:r>
            <a:r>
              <a:rPr lang="en-US" altLang="zh-CN" sz="2000" b="1" dirty="0"/>
              <a:t>t;</a:t>
            </a:r>
          </a:p>
          <a:p>
            <a:r>
              <a:rPr lang="en-US" altLang="zh-CN" sz="2000" b="1" dirty="0"/>
              <a:t>    for(i=1;i&lt;=m;i++)</a:t>
            </a:r>
          </a:p>
          <a:p>
            <a:r>
              <a:rPr lang="en-US" altLang="zh-CN" sz="2000" b="1" dirty="0"/>
              <a:t>    {</a:t>
            </a:r>
          </a:p>
          <a:p>
            <a:r>
              <a:rPr lang="en-US" altLang="zh-CN" sz="2000" b="1" dirty="0"/>
              <a:t>        t=a[0];  </a:t>
            </a:r>
          </a:p>
          <a:p>
            <a:r>
              <a:rPr lang="en-US" altLang="zh-CN" sz="2000" b="1" dirty="0" smtClean="0"/>
              <a:t>        for </a:t>
            </a:r>
            <a:r>
              <a:rPr lang="en-US" altLang="zh-CN" sz="2000" b="1" dirty="0"/>
              <a:t>(j=0;j&lt;n-1;j</a:t>
            </a:r>
            <a:r>
              <a:rPr lang="en-US" altLang="zh-CN" sz="2000" b="1" dirty="0" smtClean="0"/>
              <a:t>++)</a:t>
            </a:r>
            <a:endParaRPr lang="en-US" altLang="zh-CN" sz="2000" b="1" dirty="0"/>
          </a:p>
          <a:p>
            <a:r>
              <a:rPr lang="en-US" altLang="zh-CN" sz="2000" b="1" dirty="0"/>
              <a:t>        </a:t>
            </a:r>
            <a:r>
              <a:rPr lang="en-US" altLang="zh-CN" sz="2000" b="1" dirty="0" smtClean="0"/>
              <a:t>    a[j</a:t>
            </a:r>
            <a:r>
              <a:rPr lang="en-US" altLang="zh-CN" sz="2000" b="1" dirty="0"/>
              <a:t>] = a[j+1] ;</a:t>
            </a:r>
          </a:p>
          <a:p>
            <a:r>
              <a:rPr lang="en-US" altLang="zh-CN" sz="2000" b="1" dirty="0"/>
              <a:t>        a[n-1]=t;   </a:t>
            </a:r>
          </a:p>
          <a:p>
            <a:r>
              <a:rPr lang="en-US" altLang="zh-CN" sz="2000" b="1" dirty="0"/>
              <a:t>    }</a:t>
            </a:r>
          </a:p>
          <a:p>
            <a:r>
              <a:rPr lang="en-US" altLang="zh-CN" sz="2000" b="1" dirty="0"/>
              <a:t>}</a:t>
            </a:r>
          </a:p>
        </p:txBody>
      </p:sp>
    </p:spTree>
    <p:extLst>
      <p:ext uri="{BB962C8B-B14F-4D97-AF65-F5344CB8AC3E}">
        <p14:creationId xmlns:p14="http://schemas.microsoft.com/office/powerpoint/2010/main" val="770506716"/>
      </p:ext>
    </p:extLst>
  </p:cSld>
  <p:clrMapOvr>
    <a:masterClrMapping/>
  </p:clrMapOvr>
  <p:transition spd="med">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函数的嵌套与</a:t>
            </a:r>
            <a:r>
              <a:rPr lang="zh-CN" altLang="zh-CN" dirty="0" smtClean="0">
                <a:effectLst/>
              </a:rPr>
              <a:t>递归</a:t>
            </a:r>
            <a:endParaRPr lang="zh-CN" altLang="en-US" dirty="0"/>
          </a:p>
        </p:txBody>
      </p:sp>
      <p:sp>
        <p:nvSpPr>
          <p:cNvPr id="3" name="内容占位符 2"/>
          <p:cNvSpPr>
            <a:spLocks noGrp="1"/>
          </p:cNvSpPr>
          <p:nvPr>
            <p:ph idx="1"/>
          </p:nvPr>
        </p:nvSpPr>
        <p:spPr/>
        <p:txBody>
          <a:bodyPr/>
          <a:lstStyle/>
          <a:p>
            <a:pPr marL="92075" lvl="2" indent="-92075">
              <a:buClr>
                <a:srgbClr val="A50021"/>
              </a:buClr>
              <a:buFont typeface="Webdings" pitchFamily="18" charset="2"/>
              <a:buChar char="·"/>
            </a:pPr>
            <a:r>
              <a:rPr lang="zh-CN" altLang="zh-CN" sz="2400" dirty="0">
                <a:effectLst/>
              </a:rPr>
              <a:t>函数的嵌套调用</a:t>
            </a:r>
          </a:p>
          <a:p>
            <a:pPr marL="271463" lvl="1" indent="457200">
              <a:buNone/>
            </a:pPr>
            <a:r>
              <a:rPr lang="zh-CN" altLang="zh-CN" dirty="0">
                <a:effectLst/>
              </a:rPr>
              <a:t>在较为复杂的</a:t>
            </a:r>
            <a:r>
              <a:rPr lang="en-US" altLang="zh-CN" dirty="0">
                <a:effectLst/>
              </a:rPr>
              <a:t>C</a:t>
            </a:r>
            <a:r>
              <a:rPr lang="zh-CN" altLang="zh-CN" dirty="0">
                <a:effectLst/>
              </a:rPr>
              <a:t>源程序中，通常有多个函数组成，每个函数完成某一特定功能，而在这些函数中，可能存在</a:t>
            </a:r>
            <a:r>
              <a:rPr lang="en-US" altLang="zh-CN" dirty="0">
                <a:effectLst/>
              </a:rPr>
              <a:t>A</a:t>
            </a:r>
            <a:r>
              <a:rPr lang="zh-CN" altLang="zh-CN" dirty="0">
                <a:effectLst/>
              </a:rPr>
              <a:t>函数调用</a:t>
            </a:r>
            <a:r>
              <a:rPr lang="en-US" altLang="zh-CN" dirty="0">
                <a:effectLst/>
              </a:rPr>
              <a:t>B</a:t>
            </a:r>
            <a:r>
              <a:rPr lang="zh-CN" altLang="zh-CN" dirty="0">
                <a:effectLst/>
              </a:rPr>
              <a:t>函数，</a:t>
            </a:r>
            <a:r>
              <a:rPr lang="en-US" altLang="zh-CN" dirty="0">
                <a:effectLst/>
              </a:rPr>
              <a:t>B</a:t>
            </a:r>
            <a:r>
              <a:rPr lang="zh-CN" altLang="zh-CN" dirty="0">
                <a:effectLst/>
              </a:rPr>
              <a:t>函数调用</a:t>
            </a:r>
            <a:r>
              <a:rPr lang="en-US" altLang="zh-CN" dirty="0">
                <a:effectLst/>
              </a:rPr>
              <a:t>C</a:t>
            </a:r>
            <a:r>
              <a:rPr lang="zh-CN" altLang="zh-CN" dirty="0">
                <a:effectLst/>
              </a:rPr>
              <a:t>函数的情况，这就是函数的嵌套调用。</a:t>
            </a:r>
          </a:p>
          <a:p>
            <a:pPr marL="271463" lvl="1" indent="0">
              <a:buNone/>
            </a:pPr>
            <a:r>
              <a:rPr lang="zh-CN" altLang="zh-CN" dirty="0">
                <a:effectLst/>
              </a:rPr>
              <a:t>【例</a:t>
            </a:r>
            <a:r>
              <a:rPr lang="en-US" altLang="zh-CN" dirty="0">
                <a:effectLst/>
              </a:rPr>
              <a:t>5-12</a:t>
            </a:r>
            <a:r>
              <a:rPr lang="zh-CN" altLang="zh-CN" dirty="0">
                <a:effectLst/>
              </a:rPr>
              <a:t>】输入一个正整数</a:t>
            </a:r>
            <a:r>
              <a:rPr lang="en-US" altLang="zh-CN" dirty="0">
                <a:effectLst/>
              </a:rPr>
              <a:t>n</a:t>
            </a:r>
            <a:r>
              <a:rPr lang="zh-CN" altLang="zh-CN" dirty="0">
                <a:effectLst/>
              </a:rPr>
              <a:t>，将其转化成等价的数字字符串</a:t>
            </a:r>
            <a:r>
              <a:rPr lang="zh-CN" altLang="zh-CN" dirty="0" smtClean="0">
                <a:effectLst/>
              </a:rPr>
              <a:t>。</a:t>
            </a:r>
            <a:endParaRPr lang="en-US" altLang="zh-CN" dirty="0" smtClean="0">
              <a:effectLst/>
            </a:endParaRPr>
          </a:p>
          <a:p>
            <a:pPr marL="271463" lvl="1" indent="0">
              <a:buNone/>
            </a:pPr>
            <a:r>
              <a:rPr lang="zh-CN" altLang="zh-CN" dirty="0">
                <a:effectLst/>
              </a:rPr>
              <a:t>此程序的运行结果如下图所示：</a:t>
            </a:r>
          </a:p>
          <a:p>
            <a:pPr marL="271463" lvl="1" indent="0">
              <a:buNone/>
            </a:pPr>
            <a:endParaRPr lang="zh-CN" altLang="zh-CN"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50</a:t>
            </a:fld>
            <a:endParaRPr lang="en-US" altLang="zh-CN"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5607496"/>
            <a:ext cx="2435180"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5579741"/>
      </p:ext>
    </p:extLst>
  </p:cSld>
  <p:clrMapOvr>
    <a:masterClrMapping/>
  </p:clrMapOvr>
  <p:transition spd="med">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3" name="内容占位符 2"/>
          <p:cNvSpPr>
            <a:spLocks noGrp="1"/>
          </p:cNvSpPr>
          <p:nvPr>
            <p:ph idx="1"/>
          </p:nvPr>
        </p:nvSpPr>
        <p:spPr>
          <a:xfrm>
            <a:off x="755576" y="1556792"/>
            <a:ext cx="7993063" cy="4537075"/>
          </a:xfrm>
        </p:spPr>
        <p:txBody>
          <a:bodyPr/>
          <a:lstStyle/>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#include &lt;string.h&gt;</a:t>
            </a:r>
            <a:endParaRPr lang="zh-CN" altLang="zh-CN" sz="1800" dirty="0">
              <a:effectLst/>
            </a:endParaRPr>
          </a:p>
          <a:p>
            <a:pPr marL="271463" lvl="1" indent="0">
              <a:buNone/>
            </a:pPr>
            <a:r>
              <a:rPr lang="en-US" altLang="zh-CN" sz="1800" dirty="0">
                <a:effectLst/>
              </a:rPr>
              <a:t>void itos(int n,char s[]);</a:t>
            </a:r>
            <a:endParaRPr lang="zh-CN" altLang="zh-CN" sz="1800" dirty="0">
              <a:effectLst/>
            </a:endParaRPr>
          </a:p>
          <a:p>
            <a:pPr marL="271463" lvl="1" indent="0">
              <a:buNone/>
            </a:pPr>
            <a:r>
              <a:rPr lang="en-US" altLang="zh-CN" sz="1800" dirty="0">
                <a:effectLst/>
              </a:rPr>
              <a:t>void reverse(char s[]);</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int n;</a:t>
            </a:r>
            <a:endParaRPr lang="zh-CN" altLang="zh-CN" sz="1800" dirty="0">
              <a:effectLst/>
            </a:endParaRPr>
          </a:p>
          <a:p>
            <a:pPr marL="271463" lvl="1" indent="0">
              <a:buNone/>
            </a:pPr>
            <a:r>
              <a:rPr lang="en-US" altLang="zh-CN" sz="1800" dirty="0">
                <a:effectLst/>
              </a:rPr>
              <a:t>    char a[30];</a:t>
            </a:r>
            <a:endParaRPr lang="zh-CN" altLang="zh-CN" sz="1800" dirty="0">
              <a:effectLst/>
            </a:endParaRPr>
          </a:p>
          <a:p>
            <a:pPr marL="271463" lvl="1" indent="0">
              <a:buNone/>
            </a:pPr>
            <a:r>
              <a:rPr lang="en-US" altLang="zh-CN" sz="1800" dirty="0">
                <a:effectLst/>
              </a:rPr>
              <a:t>    printf("Enter n:");</a:t>
            </a:r>
            <a:endParaRPr lang="zh-CN" altLang="zh-CN" sz="1800" dirty="0">
              <a:effectLst/>
            </a:endParaRPr>
          </a:p>
          <a:p>
            <a:pPr marL="271463" lvl="1" indent="0">
              <a:buNone/>
            </a:pPr>
            <a:r>
              <a:rPr lang="en-US" altLang="zh-CN" sz="1800" dirty="0">
                <a:effectLst/>
              </a:rPr>
              <a:t>    scanf("%d",&amp;n);</a:t>
            </a:r>
            <a:endParaRPr lang="zh-CN" altLang="zh-CN" sz="1800" dirty="0">
              <a:effectLst/>
            </a:endParaRPr>
          </a:p>
          <a:p>
            <a:pPr marL="271463" lvl="1" indent="0">
              <a:buNone/>
            </a:pPr>
            <a:r>
              <a:rPr lang="en-US" altLang="zh-CN" sz="1800" dirty="0">
                <a:effectLst/>
              </a:rPr>
              <a:t>    </a:t>
            </a:r>
            <a:r>
              <a:rPr lang="en-US" altLang="zh-CN" sz="1800" dirty="0" smtClean="0">
                <a:effectLst/>
              </a:rPr>
              <a:t>itos(n,a</a:t>
            </a:r>
            <a:r>
              <a:rPr lang="en-US" altLang="zh-CN" sz="1800" dirty="0">
                <a:effectLst/>
              </a:rPr>
              <a:t>);</a:t>
            </a:r>
            <a:endParaRPr lang="zh-CN" altLang="zh-CN" sz="1800" dirty="0">
              <a:effectLst/>
            </a:endParaRPr>
          </a:p>
          <a:p>
            <a:pPr marL="271463" lvl="1" indent="0">
              <a:buNone/>
            </a:pPr>
            <a:r>
              <a:rPr lang="en-US" altLang="zh-CN" sz="1800" dirty="0">
                <a:effectLst/>
              </a:rPr>
              <a:t>    puts(a);</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51</a:t>
            </a:fld>
            <a:endParaRPr lang="en-US" altLang="zh-CN" dirty="0"/>
          </a:p>
        </p:txBody>
      </p:sp>
    </p:spTree>
    <p:extLst>
      <p:ext uri="{BB962C8B-B14F-4D97-AF65-F5344CB8AC3E}">
        <p14:creationId xmlns:p14="http://schemas.microsoft.com/office/powerpoint/2010/main" val="1297166736"/>
      </p:ext>
    </p:extLst>
  </p:cSld>
  <p:clrMapOvr>
    <a:masterClrMapping/>
  </p:clrMapOvr>
  <p:transition spd="med">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5" name="内容占位符 4"/>
          <p:cNvSpPr>
            <a:spLocks noGrp="1"/>
          </p:cNvSpPr>
          <p:nvPr>
            <p:ph sz="half" idx="1"/>
          </p:nvPr>
        </p:nvSpPr>
        <p:spPr>
          <a:xfrm>
            <a:off x="755650" y="1700213"/>
            <a:ext cx="3919538" cy="5041155"/>
          </a:xfrm>
        </p:spPr>
        <p:txBody>
          <a:bodyPr/>
          <a:lstStyle/>
          <a:p>
            <a:pPr marL="265113" lvl="1" indent="0">
              <a:buNone/>
            </a:pPr>
            <a:r>
              <a:rPr lang="en-US" altLang="zh-CN" sz="1800" dirty="0">
                <a:effectLst/>
              </a:rPr>
              <a:t>void itos(int n,char s[])               //</a:t>
            </a:r>
            <a:r>
              <a:rPr lang="zh-CN" altLang="zh-CN" sz="1800" dirty="0">
                <a:effectLst/>
              </a:rPr>
              <a:t>将正整数</a:t>
            </a:r>
            <a:r>
              <a:rPr lang="en-US" altLang="zh-CN" sz="1800" dirty="0">
                <a:effectLst/>
              </a:rPr>
              <a:t>n</a:t>
            </a:r>
            <a:r>
              <a:rPr lang="zh-CN" altLang="zh-CN" sz="1800" dirty="0">
                <a:effectLst/>
              </a:rPr>
              <a:t>转化成字符串，存放在数组</a:t>
            </a:r>
            <a:r>
              <a:rPr lang="en-US" altLang="zh-CN" sz="1800" dirty="0">
                <a:effectLst/>
              </a:rPr>
              <a:t>s</a:t>
            </a:r>
            <a:r>
              <a:rPr lang="zh-CN" altLang="zh-CN" sz="1800" dirty="0">
                <a:effectLst/>
              </a:rPr>
              <a:t>中</a:t>
            </a:r>
          </a:p>
          <a:p>
            <a:pPr marL="265113" lvl="1" indent="0">
              <a:buNone/>
            </a:pPr>
            <a:r>
              <a:rPr lang="en-US" altLang="zh-CN" sz="1800" dirty="0">
                <a:effectLst/>
              </a:rPr>
              <a:t>{</a:t>
            </a:r>
            <a:endParaRPr lang="zh-CN" altLang="zh-CN" sz="1800" dirty="0">
              <a:effectLst/>
            </a:endParaRPr>
          </a:p>
          <a:p>
            <a:pPr marL="265113" lvl="1" indent="0">
              <a:buNone/>
            </a:pPr>
            <a:r>
              <a:rPr lang="en-US" altLang="zh-CN" sz="1800" dirty="0">
                <a:effectLst/>
              </a:rPr>
              <a:t>    int i;</a:t>
            </a:r>
            <a:endParaRPr lang="zh-CN" altLang="zh-CN" sz="1800" dirty="0">
              <a:effectLst/>
            </a:endParaRPr>
          </a:p>
          <a:p>
            <a:pPr marL="265113" lvl="1" indent="0">
              <a:buNone/>
            </a:pPr>
            <a:r>
              <a:rPr lang="en-US" altLang="zh-CN" sz="1800" dirty="0">
                <a:effectLst/>
              </a:rPr>
              <a:t>    for(i=0;n;i++)</a:t>
            </a:r>
            <a:endParaRPr lang="zh-CN" altLang="zh-CN" sz="1800" dirty="0">
              <a:effectLst/>
            </a:endParaRPr>
          </a:p>
          <a:p>
            <a:pPr marL="265113" lvl="1" indent="0">
              <a:buNone/>
            </a:pPr>
            <a:r>
              <a:rPr lang="en-US" altLang="zh-CN" sz="1800" dirty="0">
                <a:effectLst/>
              </a:rPr>
              <a:t>    {</a:t>
            </a:r>
            <a:endParaRPr lang="zh-CN" altLang="zh-CN" sz="1800" dirty="0">
              <a:effectLst/>
            </a:endParaRPr>
          </a:p>
          <a:p>
            <a:pPr marL="265113" lvl="1" indent="0">
              <a:buNone/>
            </a:pPr>
            <a:r>
              <a:rPr lang="en-US" altLang="zh-CN" sz="1800" dirty="0">
                <a:effectLst/>
              </a:rPr>
              <a:t>        s[i]=n%10+'0';</a:t>
            </a:r>
            <a:endParaRPr lang="zh-CN" altLang="zh-CN" sz="1800" dirty="0">
              <a:effectLst/>
            </a:endParaRPr>
          </a:p>
          <a:p>
            <a:pPr marL="265113" lvl="1" indent="0">
              <a:buNone/>
            </a:pPr>
            <a:r>
              <a:rPr lang="en-US" altLang="zh-CN" sz="1800" dirty="0">
                <a:effectLst/>
              </a:rPr>
              <a:t>        n/=10;</a:t>
            </a:r>
            <a:endParaRPr lang="zh-CN" altLang="zh-CN" sz="1800" dirty="0">
              <a:effectLst/>
            </a:endParaRPr>
          </a:p>
          <a:p>
            <a:pPr marL="265113" lvl="1" indent="0">
              <a:buNone/>
            </a:pPr>
            <a:r>
              <a:rPr lang="en-US" altLang="zh-CN" sz="1800" dirty="0">
                <a:effectLst/>
              </a:rPr>
              <a:t>    }</a:t>
            </a:r>
            <a:endParaRPr lang="zh-CN" altLang="zh-CN" sz="1800" dirty="0">
              <a:effectLst/>
            </a:endParaRPr>
          </a:p>
          <a:p>
            <a:pPr marL="265113" lvl="1" indent="0">
              <a:buNone/>
            </a:pPr>
            <a:r>
              <a:rPr lang="en-US" altLang="zh-CN" sz="1800" dirty="0">
                <a:effectLst/>
              </a:rPr>
              <a:t>    s[i]='\0';</a:t>
            </a:r>
            <a:endParaRPr lang="zh-CN" altLang="zh-CN" sz="1800" dirty="0">
              <a:effectLst/>
            </a:endParaRPr>
          </a:p>
          <a:p>
            <a:pPr marL="265113" lvl="1" indent="0">
              <a:buNone/>
            </a:pPr>
            <a:r>
              <a:rPr lang="en-US" altLang="zh-CN" sz="1800" dirty="0">
                <a:effectLst/>
              </a:rPr>
              <a:t>    reverse(s);</a:t>
            </a:r>
            <a:endParaRPr lang="zh-CN" altLang="zh-CN" sz="1800" dirty="0">
              <a:effectLst/>
            </a:endParaRPr>
          </a:p>
          <a:p>
            <a:pPr marL="265113" lvl="1" indent="0">
              <a:buNone/>
            </a:pPr>
            <a:r>
              <a:rPr lang="en-US" altLang="zh-CN" sz="1800" dirty="0">
                <a:effectLst/>
              </a:rPr>
              <a:t>}</a:t>
            </a:r>
            <a:endParaRPr lang="zh-CN" altLang="zh-CN" sz="1800" dirty="0">
              <a:effectLst/>
            </a:endParaRPr>
          </a:p>
          <a:p>
            <a:pPr marL="265113" lvl="1" indent="0">
              <a:buNone/>
            </a:pPr>
            <a:endParaRPr lang="zh-CN" altLang="zh-CN" sz="1800" dirty="0">
              <a:effectLst/>
            </a:endParaRPr>
          </a:p>
          <a:p>
            <a:endParaRPr lang="zh-CN" altLang="en-US" dirty="0"/>
          </a:p>
        </p:txBody>
      </p:sp>
      <p:sp>
        <p:nvSpPr>
          <p:cNvPr id="6" name="内容占位符 5"/>
          <p:cNvSpPr>
            <a:spLocks noGrp="1"/>
          </p:cNvSpPr>
          <p:nvPr>
            <p:ph sz="half" idx="2"/>
          </p:nvPr>
        </p:nvSpPr>
        <p:spPr>
          <a:xfrm>
            <a:off x="4827588" y="1700213"/>
            <a:ext cx="3921125" cy="5041155"/>
          </a:xfrm>
        </p:spPr>
        <p:txBody>
          <a:bodyPr/>
          <a:lstStyle/>
          <a:p>
            <a:pPr marL="265113" lvl="1" indent="0">
              <a:buNone/>
            </a:pPr>
            <a:r>
              <a:rPr lang="en-US" altLang="zh-CN" sz="1800" dirty="0">
                <a:effectLst/>
              </a:rPr>
              <a:t>void reverse(char s[])                 //</a:t>
            </a:r>
            <a:r>
              <a:rPr lang="zh-CN" altLang="zh-CN" sz="1800" dirty="0">
                <a:effectLst/>
              </a:rPr>
              <a:t>数组中的字符首尾颠倒</a:t>
            </a:r>
          </a:p>
          <a:p>
            <a:pPr marL="265113" lvl="1" indent="0">
              <a:buNone/>
            </a:pPr>
            <a:r>
              <a:rPr lang="en-US" altLang="zh-CN" sz="1800" dirty="0">
                <a:effectLst/>
              </a:rPr>
              <a:t>{</a:t>
            </a:r>
            <a:endParaRPr lang="zh-CN" altLang="zh-CN" sz="1800" dirty="0">
              <a:effectLst/>
            </a:endParaRPr>
          </a:p>
          <a:p>
            <a:pPr marL="265113" lvl="1" indent="0">
              <a:buNone/>
            </a:pPr>
            <a:r>
              <a:rPr lang="en-US" altLang="zh-CN" sz="1800" dirty="0">
                <a:effectLst/>
              </a:rPr>
              <a:t>    int i,j,t;</a:t>
            </a:r>
            <a:endParaRPr lang="zh-CN" altLang="zh-CN" sz="1800" dirty="0">
              <a:effectLst/>
            </a:endParaRPr>
          </a:p>
          <a:p>
            <a:pPr marL="265113" lvl="1" indent="0">
              <a:buNone/>
            </a:pPr>
            <a:r>
              <a:rPr lang="en-US" altLang="zh-CN" sz="1800" dirty="0">
                <a:effectLst/>
              </a:rPr>
              <a:t>    for(i=0,j=strlen(s)-1;i&lt;j;i++,j--)</a:t>
            </a:r>
            <a:endParaRPr lang="zh-CN" altLang="zh-CN" sz="1800" dirty="0">
              <a:effectLst/>
            </a:endParaRPr>
          </a:p>
          <a:p>
            <a:pPr marL="265113" lvl="1" indent="0">
              <a:buNone/>
            </a:pPr>
            <a:r>
              <a:rPr lang="en-US" altLang="zh-CN" sz="1800" dirty="0">
                <a:effectLst/>
              </a:rPr>
              <a:t>    {</a:t>
            </a:r>
            <a:endParaRPr lang="zh-CN" altLang="zh-CN" sz="1800" dirty="0">
              <a:effectLst/>
            </a:endParaRPr>
          </a:p>
          <a:p>
            <a:pPr marL="265113" lvl="1" indent="0">
              <a:buNone/>
            </a:pPr>
            <a:r>
              <a:rPr lang="en-US" altLang="zh-CN" sz="1800" dirty="0">
                <a:effectLst/>
              </a:rPr>
              <a:t>        t=s[i];</a:t>
            </a:r>
            <a:endParaRPr lang="zh-CN" altLang="zh-CN" sz="1800" dirty="0">
              <a:effectLst/>
            </a:endParaRPr>
          </a:p>
          <a:p>
            <a:pPr marL="265113" lvl="1" indent="0">
              <a:buNone/>
            </a:pPr>
            <a:r>
              <a:rPr lang="en-US" altLang="zh-CN" sz="1800" dirty="0">
                <a:effectLst/>
              </a:rPr>
              <a:t>        s[i]=s[j];</a:t>
            </a:r>
            <a:endParaRPr lang="zh-CN" altLang="zh-CN" sz="1800" dirty="0">
              <a:effectLst/>
            </a:endParaRPr>
          </a:p>
          <a:p>
            <a:pPr marL="265113" lvl="1" indent="0">
              <a:buNone/>
            </a:pPr>
            <a:r>
              <a:rPr lang="en-US" altLang="zh-CN" sz="1800" dirty="0">
                <a:effectLst/>
              </a:rPr>
              <a:t>        s[j]=t;</a:t>
            </a:r>
            <a:endParaRPr lang="zh-CN" altLang="zh-CN" sz="1800" dirty="0">
              <a:effectLst/>
            </a:endParaRPr>
          </a:p>
          <a:p>
            <a:pPr marL="265113" lvl="1" indent="0">
              <a:buNone/>
            </a:pPr>
            <a:r>
              <a:rPr lang="en-US" altLang="zh-CN" sz="1800" dirty="0">
                <a:effectLst/>
              </a:rPr>
              <a:t>    </a:t>
            </a:r>
            <a:r>
              <a:rPr lang="en-US" altLang="zh-CN" sz="1800" dirty="0" smtClean="0">
                <a:effectLst/>
              </a:rPr>
              <a:t>}</a:t>
            </a:r>
          </a:p>
          <a:p>
            <a:pPr marL="265113" lvl="1" indent="0">
              <a:buNone/>
            </a:pPr>
            <a:r>
              <a:rPr lang="en-US" altLang="zh-CN" sz="1800" dirty="0">
                <a:effectLst/>
              </a:rPr>
              <a:t>}</a:t>
            </a:r>
            <a:endParaRPr lang="zh-CN" altLang="zh-CN" sz="1800"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52</a:t>
            </a:fld>
            <a:endParaRPr lang="en-US" altLang="zh-CN" dirty="0"/>
          </a:p>
        </p:txBody>
      </p:sp>
    </p:spTree>
    <p:extLst>
      <p:ext uri="{BB962C8B-B14F-4D97-AF65-F5344CB8AC3E}">
        <p14:creationId xmlns:p14="http://schemas.microsoft.com/office/powerpoint/2010/main" val="1280356992"/>
      </p:ext>
    </p:extLst>
  </p:cSld>
  <p:clrMapOvr>
    <a:masterClrMapping/>
  </p:clrMapOvr>
  <p:transition spd="med">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53</a:t>
            </a:fld>
            <a:endParaRPr lang="en-US" altLang="zh-CN" dirty="0"/>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8" y="1844824"/>
            <a:ext cx="7272808" cy="486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7005761"/>
      </p:ext>
    </p:extLst>
  </p:cSld>
  <p:clrMapOvr>
    <a:masterClrMapping/>
  </p:clrMapOvr>
  <p:transition spd="med">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3" name="内容占位符 2"/>
          <p:cNvSpPr>
            <a:spLocks noGrp="1"/>
          </p:cNvSpPr>
          <p:nvPr>
            <p:ph idx="1"/>
          </p:nvPr>
        </p:nvSpPr>
        <p:spPr>
          <a:xfrm>
            <a:off x="755650" y="1700213"/>
            <a:ext cx="7993063" cy="5041155"/>
          </a:xfrm>
        </p:spPr>
        <p:txBody>
          <a:bodyPr/>
          <a:lstStyle/>
          <a:p>
            <a:pPr marL="92075" lvl="2" indent="-92075">
              <a:buClr>
                <a:srgbClr val="A50021"/>
              </a:buClr>
              <a:buFont typeface="Webdings" pitchFamily="18" charset="2"/>
              <a:buChar char="·"/>
            </a:pPr>
            <a:r>
              <a:rPr lang="zh-CN" altLang="zh-CN" sz="2400" dirty="0">
                <a:effectLst/>
              </a:rPr>
              <a:t>函数的递归调用</a:t>
            </a:r>
          </a:p>
          <a:p>
            <a:pPr lvl="1"/>
            <a:r>
              <a:rPr lang="zh-CN" altLang="zh-CN" dirty="0">
                <a:effectLst/>
              </a:rPr>
              <a:t>递归</a:t>
            </a:r>
            <a:r>
              <a:rPr lang="zh-CN" altLang="zh-CN" dirty="0" smtClean="0">
                <a:effectLst/>
              </a:rPr>
              <a:t>调用</a:t>
            </a:r>
            <a:endParaRPr lang="en-US" altLang="zh-CN" dirty="0" smtClean="0">
              <a:effectLst/>
            </a:endParaRPr>
          </a:p>
          <a:p>
            <a:pPr marL="271463" lvl="1" indent="457200">
              <a:buNone/>
            </a:pPr>
            <a:r>
              <a:rPr lang="zh-CN" altLang="zh-CN" dirty="0">
                <a:effectLst/>
              </a:rPr>
              <a:t>所谓函数的递归调用就是指</a:t>
            </a:r>
            <a:r>
              <a:rPr lang="zh-CN" altLang="zh-CN" dirty="0">
                <a:solidFill>
                  <a:srgbClr val="FF0000"/>
                </a:solidFill>
                <a:effectLst/>
              </a:rPr>
              <a:t>一个函数直接调用自己</a:t>
            </a:r>
            <a:r>
              <a:rPr lang="zh-CN" altLang="zh-CN" dirty="0">
                <a:effectLst/>
              </a:rPr>
              <a:t>（即直接递归调用）或通过其它函数</a:t>
            </a:r>
            <a:r>
              <a:rPr lang="zh-CN" altLang="zh-CN" dirty="0">
                <a:solidFill>
                  <a:srgbClr val="FF0000"/>
                </a:solidFill>
                <a:effectLst/>
              </a:rPr>
              <a:t>间接地调用自己</a:t>
            </a:r>
            <a:r>
              <a:rPr lang="zh-CN" altLang="zh-CN" dirty="0">
                <a:effectLst/>
              </a:rPr>
              <a:t>（即间接递归调用），直接递归与间接递归调用过程</a:t>
            </a:r>
            <a:r>
              <a:rPr lang="zh-CN" altLang="zh-CN" dirty="0" smtClean="0">
                <a:effectLst/>
              </a:rPr>
              <a:t>如</a:t>
            </a:r>
            <a:r>
              <a:rPr lang="zh-CN" altLang="en-US" dirty="0" smtClean="0">
                <a:effectLst/>
              </a:rPr>
              <a:t>下</a:t>
            </a:r>
            <a:r>
              <a:rPr lang="zh-CN" altLang="zh-CN" dirty="0" smtClean="0">
                <a:effectLst/>
              </a:rPr>
              <a:t>图 所</a:t>
            </a:r>
            <a:r>
              <a:rPr lang="zh-CN" altLang="zh-CN" dirty="0">
                <a:effectLst/>
              </a:rPr>
              <a:t>示</a:t>
            </a: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54</a:t>
            </a:fld>
            <a:endParaRPr lang="en-US" altLang="zh-CN"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712" y="4005064"/>
            <a:ext cx="6753068"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3619621"/>
      </p:ext>
    </p:extLst>
  </p:cSld>
  <p:clrMapOvr>
    <a:masterClrMapping/>
  </p:clrMapOvr>
  <p:transition spd="med">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3" name="内容占位符 2"/>
          <p:cNvSpPr>
            <a:spLocks noGrp="1"/>
          </p:cNvSpPr>
          <p:nvPr>
            <p:ph idx="1"/>
          </p:nvPr>
        </p:nvSpPr>
        <p:spPr/>
        <p:txBody>
          <a:bodyPr/>
          <a:lstStyle/>
          <a:p>
            <a:pPr lvl="1"/>
            <a:r>
              <a:rPr lang="zh-CN" altLang="zh-CN" dirty="0">
                <a:effectLst/>
              </a:rPr>
              <a:t>递归</a:t>
            </a:r>
            <a:r>
              <a:rPr lang="zh-CN" altLang="zh-CN" dirty="0" smtClean="0">
                <a:effectLst/>
              </a:rPr>
              <a:t>条件</a:t>
            </a:r>
            <a:endParaRPr lang="en-US" altLang="zh-CN" dirty="0" smtClean="0">
              <a:effectLst/>
            </a:endParaRPr>
          </a:p>
          <a:p>
            <a:pPr marL="271463" lvl="1" indent="0">
              <a:buNone/>
            </a:pPr>
            <a:r>
              <a:rPr lang="zh-CN" altLang="zh-CN" dirty="0">
                <a:effectLst/>
              </a:rPr>
              <a:t>（</a:t>
            </a:r>
            <a:r>
              <a:rPr lang="en-US" altLang="zh-CN" dirty="0">
                <a:effectLst/>
              </a:rPr>
              <a:t>1</a:t>
            </a:r>
            <a:r>
              <a:rPr lang="zh-CN" altLang="zh-CN" dirty="0">
                <a:effectLst/>
              </a:rPr>
              <a:t>）可以把要解决的问题转化为一个新问题，而这个新的问题的解决方法仍与原来的解决方法相同，只是所处理的对象有规律地递增或递减。</a:t>
            </a:r>
          </a:p>
          <a:p>
            <a:pPr marL="271463" lvl="1" indent="0">
              <a:buNone/>
            </a:pPr>
            <a:r>
              <a:rPr lang="zh-CN" altLang="zh-CN" dirty="0">
                <a:effectLst/>
              </a:rPr>
              <a:t>说明：解决问题的方法相同，调用函数的参数每次不同（有规律的递增或递减），如果没有规律也就不能适用递归调用。</a:t>
            </a:r>
          </a:p>
          <a:p>
            <a:pPr marL="271463" lvl="1" indent="0">
              <a:buNone/>
            </a:pPr>
            <a:r>
              <a:rPr lang="zh-CN" altLang="zh-CN" dirty="0">
                <a:effectLst/>
              </a:rPr>
              <a:t>（</a:t>
            </a:r>
            <a:r>
              <a:rPr lang="en-US" altLang="zh-CN" dirty="0">
                <a:effectLst/>
              </a:rPr>
              <a:t>2</a:t>
            </a:r>
            <a:r>
              <a:rPr lang="zh-CN" altLang="zh-CN" dirty="0">
                <a:effectLst/>
              </a:rPr>
              <a:t>）可以应用这个转化过程使问题得到解决。</a:t>
            </a:r>
          </a:p>
          <a:p>
            <a:pPr marL="271463" lvl="1" indent="0">
              <a:buNone/>
            </a:pPr>
            <a:r>
              <a:rPr lang="zh-CN" altLang="zh-CN" dirty="0">
                <a:effectLst/>
              </a:rPr>
              <a:t>说明：使用其他的办法比较麻烦或很难解决，而使用递归的方法可以很好地解决问题。</a:t>
            </a:r>
          </a:p>
          <a:p>
            <a:pPr marL="271463" lvl="1" indent="0">
              <a:buNone/>
            </a:pPr>
            <a:r>
              <a:rPr lang="zh-CN" altLang="zh-CN" dirty="0">
                <a:effectLst/>
              </a:rPr>
              <a:t>（</a:t>
            </a:r>
            <a:r>
              <a:rPr lang="en-US" altLang="zh-CN" dirty="0">
                <a:effectLst/>
              </a:rPr>
              <a:t>3</a:t>
            </a:r>
            <a:r>
              <a:rPr lang="zh-CN" altLang="zh-CN" dirty="0">
                <a:effectLst/>
              </a:rPr>
              <a:t>）必定要有一个明确的结束递归的条件。</a:t>
            </a: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55</a:t>
            </a:fld>
            <a:endParaRPr lang="en-US" altLang="zh-CN" dirty="0"/>
          </a:p>
        </p:txBody>
      </p:sp>
    </p:spTree>
    <p:extLst>
      <p:ext uri="{BB962C8B-B14F-4D97-AF65-F5344CB8AC3E}">
        <p14:creationId xmlns:p14="http://schemas.microsoft.com/office/powerpoint/2010/main" val="560243630"/>
      </p:ext>
    </p:extLst>
  </p:cSld>
  <p:clrMapOvr>
    <a:masterClrMapping/>
  </p:clrMapOvr>
  <p:transition spd="med">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3" name="内容占位符 2"/>
          <p:cNvSpPr>
            <a:spLocks noGrp="1"/>
          </p:cNvSpPr>
          <p:nvPr>
            <p:ph idx="1"/>
          </p:nvPr>
        </p:nvSpPr>
        <p:spPr>
          <a:xfrm>
            <a:off x="755650" y="1700213"/>
            <a:ext cx="7993063" cy="4897139"/>
          </a:xfrm>
        </p:spPr>
        <p:txBody>
          <a:bodyPr/>
          <a:lstStyle/>
          <a:p>
            <a:pPr marL="271463" lvl="1" indent="0">
              <a:buNone/>
            </a:pPr>
            <a:r>
              <a:rPr lang="zh-CN" altLang="zh-CN" dirty="0">
                <a:effectLst/>
              </a:rPr>
              <a:t>【例</a:t>
            </a:r>
            <a:r>
              <a:rPr lang="en-US" altLang="zh-CN" dirty="0">
                <a:effectLst/>
              </a:rPr>
              <a:t>5-13</a:t>
            </a:r>
            <a:r>
              <a:rPr lang="zh-CN" altLang="zh-CN" dirty="0">
                <a:effectLst/>
              </a:rPr>
              <a:t>】使用递归的方法求</a:t>
            </a:r>
            <a:r>
              <a:rPr lang="en-US" altLang="zh-CN" dirty="0">
                <a:effectLst/>
              </a:rPr>
              <a:t>n!</a:t>
            </a:r>
            <a:r>
              <a:rPr lang="zh-CN" altLang="zh-CN" dirty="0">
                <a:effectLst/>
              </a:rPr>
              <a:t>。</a:t>
            </a:r>
          </a:p>
          <a:p>
            <a:pPr marL="271463" lvl="1" indent="0">
              <a:buNone/>
            </a:pPr>
            <a:r>
              <a:rPr lang="zh-CN" altLang="zh-CN" dirty="0">
                <a:effectLst/>
              </a:rPr>
              <a:t>当</a:t>
            </a:r>
            <a:r>
              <a:rPr lang="en-US" altLang="zh-CN" dirty="0">
                <a:effectLst/>
              </a:rPr>
              <a:t>n&gt;1</a:t>
            </a:r>
            <a:r>
              <a:rPr lang="zh-CN" altLang="zh-CN" dirty="0">
                <a:effectLst/>
              </a:rPr>
              <a:t>时，求</a:t>
            </a:r>
            <a:r>
              <a:rPr lang="en-US" altLang="zh-CN" dirty="0">
                <a:effectLst/>
              </a:rPr>
              <a:t>n!</a:t>
            </a:r>
            <a:r>
              <a:rPr lang="zh-CN" altLang="zh-CN" dirty="0">
                <a:effectLst/>
              </a:rPr>
              <a:t>的问题可以转化为</a:t>
            </a:r>
            <a:r>
              <a:rPr lang="en-US" altLang="zh-CN" dirty="0">
                <a:effectLst/>
              </a:rPr>
              <a:t>n*(n-1)!</a:t>
            </a:r>
            <a:r>
              <a:rPr lang="zh-CN" altLang="zh-CN" dirty="0">
                <a:effectLst/>
              </a:rPr>
              <a:t>的新问题。</a:t>
            </a:r>
          </a:p>
          <a:p>
            <a:pPr marL="271463" lvl="1" indent="0">
              <a:buNone/>
            </a:pPr>
            <a:r>
              <a:rPr lang="zh-CN" altLang="zh-CN" dirty="0">
                <a:effectLst/>
              </a:rPr>
              <a:t>比如</a:t>
            </a:r>
            <a:r>
              <a:rPr lang="en-US" altLang="zh-CN" dirty="0">
                <a:effectLst/>
              </a:rPr>
              <a:t>n=5</a:t>
            </a:r>
            <a:r>
              <a:rPr lang="zh-CN" altLang="zh-CN" dirty="0">
                <a:effectLst/>
              </a:rPr>
              <a:t>：</a:t>
            </a:r>
          </a:p>
          <a:p>
            <a:pPr marL="271463" lvl="1" indent="0">
              <a:buNone/>
            </a:pPr>
            <a:r>
              <a:rPr lang="zh-CN" altLang="zh-CN" dirty="0">
                <a:effectLst/>
              </a:rPr>
              <a:t>第一部分：</a:t>
            </a:r>
            <a:r>
              <a:rPr lang="en-US" altLang="zh-CN" dirty="0">
                <a:effectLst/>
              </a:rPr>
              <a:t>5*4*3*2*1 n*(n-1)!</a:t>
            </a:r>
            <a:endParaRPr lang="zh-CN" altLang="zh-CN" dirty="0">
              <a:effectLst/>
            </a:endParaRPr>
          </a:p>
          <a:p>
            <a:pPr marL="271463" lvl="1" indent="0">
              <a:buNone/>
            </a:pPr>
            <a:r>
              <a:rPr lang="zh-CN" altLang="zh-CN" dirty="0">
                <a:effectLst/>
              </a:rPr>
              <a:t>第二部分：</a:t>
            </a:r>
            <a:r>
              <a:rPr lang="en-US" altLang="zh-CN" dirty="0">
                <a:effectLst/>
              </a:rPr>
              <a:t>4*3*2*1 (n-1)*(n-2)!</a:t>
            </a:r>
            <a:endParaRPr lang="zh-CN" altLang="zh-CN" dirty="0">
              <a:effectLst/>
            </a:endParaRPr>
          </a:p>
          <a:p>
            <a:pPr marL="271463" lvl="1" indent="0">
              <a:buNone/>
            </a:pPr>
            <a:r>
              <a:rPr lang="zh-CN" altLang="zh-CN" dirty="0">
                <a:effectLst/>
              </a:rPr>
              <a:t>第三部分：</a:t>
            </a:r>
            <a:r>
              <a:rPr lang="en-US" altLang="zh-CN" dirty="0">
                <a:effectLst/>
              </a:rPr>
              <a:t>3*2*1 (n-2)(n-3)!</a:t>
            </a:r>
            <a:endParaRPr lang="zh-CN" altLang="zh-CN" dirty="0">
              <a:effectLst/>
            </a:endParaRPr>
          </a:p>
          <a:p>
            <a:pPr marL="271463" lvl="1" indent="0">
              <a:buNone/>
            </a:pPr>
            <a:r>
              <a:rPr lang="zh-CN" altLang="zh-CN" dirty="0">
                <a:effectLst/>
              </a:rPr>
              <a:t>第四部分：</a:t>
            </a:r>
            <a:r>
              <a:rPr lang="en-US" altLang="zh-CN" dirty="0">
                <a:effectLst/>
              </a:rPr>
              <a:t>2*1 (n-3)(n-4)!</a:t>
            </a:r>
            <a:endParaRPr lang="zh-CN" altLang="zh-CN" dirty="0">
              <a:effectLst/>
            </a:endParaRPr>
          </a:p>
          <a:p>
            <a:pPr marL="271463" lvl="1" indent="0">
              <a:buNone/>
            </a:pPr>
            <a:r>
              <a:rPr lang="zh-CN" altLang="zh-CN" dirty="0">
                <a:effectLst/>
              </a:rPr>
              <a:t>第五部分：</a:t>
            </a:r>
            <a:r>
              <a:rPr lang="en-US" altLang="zh-CN" dirty="0">
                <a:effectLst/>
              </a:rPr>
              <a:t>1 </a:t>
            </a:r>
            <a:r>
              <a:rPr lang="zh-CN" altLang="zh-CN" dirty="0">
                <a:effectLst/>
              </a:rPr>
              <a:t>（</a:t>
            </a:r>
            <a:r>
              <a:rPr lang="en-US" altLang="zh-CN" dirty="0">
                <a:effectLst/>
              </a:rPr>
              <a:t>n-5</a:t>
            </a:r>
            <a:r>
              <a:rPr lang="zh-CN" altLang="zh-CN" dirty="0">
                <a:effectLst/>
              </a:rPr>
              <a:t>）</a:t>
            </a:r>
            <a:r>
              <a:rPr lang="en-US" altLang="zh-CN" dirty="0">
                <a:effectLst/>
              </a:rPr>
              <a:t>! </a:t>
            </a:r>
            <a:r>
              <a:rPr lang="en-US" altLang="zh-CN" dirty="0" smtClean="0">
                <a:effectLst/>
              </a:rPr>
              <a:t>       </a:t>
            </a:r>
            <a:r>
              <a:rPr lang="zh-CN" altLang="en-US" dirty="0" smtClean="0">
                <a:effectLst/>
              </a:rPr>
              <a:t>即</a:t>
            </a:r>
            <a:r>
              <a:rPr lang="en-US" altLang="zh-CN" dirty="0" smtClean="0">
                <a:effectLst/>
              </a:rPr>
              <a:t>0</a:t>
            </a:r>
            <a:r>
              <a:rPr lang="zh-CN" altLang="en-US" dirty="0" smtClean="0">
                <a:effectLst/>
              </a:rPr>
              <a:t>！</a:t>
            </a:r>
            <a:r>
              <a:rPr lang="zh-CN" altLang="zh-CN" dirty="0" smtClean="0">
                <a:effectLst/>
              </a:rPr>
              <a:t>，</a:t>
            </a:r>
            <a:r>
              <a:rPr lang="zh-CN" altLang="zh-CN" dirty="0">
                <a:effectLst/>
              </a:rPr>
              <a:t>得到值</a:t>
            </a:r>
            <a:r>
              <a:rPr lang="en-US" altLang="zh-CN" dirty="0">
                <a:effectLst/>
              </a:rPr>
              <a:t>1</a:t>
            </a:r>
            <a:r>
              <a:rPr lang="zh-CN" altLang="zh-CN" dirty="0">
                <a:effectLst/>
              </a:rPr>
              <a:t>，结束递归。</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56</a:t>
            </a:fld>
            <a:endParaRPr lang="en-US" altLang="zh-CN" dirty="0"/>
          </a:p>
        </p:txBody>
      </p:sp>
    </p:spTree>
    <p:extLst>
      <p:ext uri="{BB962C8B-B14F-4D97-AF65-F5344CB8AC3E}">
        <p14:creationId xmlns:p14="http://schemas.microsoft.com/office/powerpoint/2010/main" val="3877994210"/>
      </p:ext>
    </p:extLst>
  </p:cSld>
  <p:clrMapOvr>
    <a:masterClrMapping/>
  </p:clrMapOvr>
  <p:transition spd="med">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7924800" cy="784225"/>
          </a:xfrm>
        </p:spPr>
        <p:txBody>
          <a:bodyPr/>
          <a:lstStyle/>
          <a:p>
            <a:r>
              <a:rPr lang="zh-CN" altLang="zh-CN" dirty="0">
                <a:effectLst/>
              </a:rPr>
              <a:t>函数的嵌套与递归</a:t>
            </a:r>
            <a:endParaRPr lang="zh-CN" altLang="en-US" dirty="0"/>
          </a:p>
        </p:txBody>
      </p:sp>
      <p:sp>
        <p:nvSpPr>
          <p:cNvPr id="5" name="内容占位符 4"/>
          <p:cNvSpPr>
            <a:spLocks noGrp="1"/>
          </p:cNvSpPr>
          <p:nvPr>
            <p:ph sz="half" idx="1"/>
          </p:nvPr>
        </p:nvSpPr>
        <p:spPr>
          <a:xfrm>
            <a:off x="0" y="1628800"/>
            <a:ext cx="4067944" cy="4537075"/>
          </a:xfrm>
        </p:spPr>
        <p:txBody>
          <a:bodyPr/>
          <a:lstStyle/>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int fact(int n);</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int n;</a:t>
            </a:r>
            <a:endParaRPr lang="zh-CN" altLang="zh-CN" sz="1800" dirty="0">
              <a:effectLst/>
            </a:endParaRPr>
          </a:p>
          <a:p>
            <a:pPr marL="271463" lvl="1" indent="0">
              <a:buNone/>
            </a:pPr>
            <a:r>
              <a:rPr lang="en-US" altLang="zh-CN" sz="1800" dirty="0">
                <a:effectLst/>
              </a:rPr>
              <a:t>    printf("Enter n:");</a:t>
            </a:r>
            <a:endParaRPr lang="zh-CN" altLang="zh-CN" sz="1800" dirty="0">
              <a:effectLst/>
            </a:endParaRPr>
          </a:p>
          <a:p>
            <a:pPr marL="271463" lvl="1" indent="0">
              <a:buNone/>
            </a:pPr>
            <a:r>
              <a:rPr lang="en-US" altLang="zh-CN" sz="1800" dirty="0">
                <a:effectLst/>
              </a:rPr>
              <a:t>    scanf("%d",&amp;n);</a:t>
            </a:r>
            <a:endParaRPr lang="zh-CN" altLang="zh-CN" sz="1800" dirty="0">
              <a:effectLst/>
            </a:endParaRPr>
          </a:p>
          <a:p>
            <a:pPr marL="271463" lvl="1" indent="0">
              <a:buNone/>
            </a:pPr>
            <a:r>
              <a:rPr lang="en-US" altLang="zh-CN" sz="1800" dirty="0">
                <a:effectLst/>
              </a:rPr>
              <a:t>    if(n&gt;=0)</a:t>
            </a:r>
            <a:endParaRPr lang="zh-CN" altLang="zh-CN" sz="1800" dirty="0">
              <a:effectLst/>
            </a:endParaRPr>
          </a:p>
          <a:p>
            <a:pPr marL="271463" lvl="1" indent="0">
              <a:buNone/>
            </a:pPr>
            <a:r>
              <a:rPr lang="en-US" altLang="zh-CN" sz="1800" dirty="0">
                <a:effectLst/>
              </a:rPr>
              <a:t>        printf("%d!=%d\n",n,fact(n));</a:t>
            </a:r>
            <a:endParaRPr lang="zh-CN" altLang="zh-CN" sz="1800" dirty="0">
              <a:effectLst/>
            </a:endParaRPr>
          </a:p>
          <a:p>
            <a:pPr marL="271463" lvl="1" indent="0">
              <a:buNone/>
            </a:pPr>
            <a:r>
              <a:rPr lang="en-US" altLang="zh-CN" sz="1800" dirty="0">
                <a:effectLst/>
              </a:rPr>
              <a:t>    else</a:t>
            </a:r>
            <a:endParaRPr lang="zh-CN" altLang="zh-CN" sz="1800" dirty="0">
              <a:effectLst/>
            </a:endParaRPr>
          </a:p>
          <a:p>
            <a:pPr marL="271463" lvl="1" indent="0">
              <a:buNone/>
            </a:pPr>
            <a:r>
              <a:rPr lang="en-US" altLang="zh-CN" sz="1800" dirty="0">
                <a:effectLst/>
              </a:rPr>
              <a:t>        printf("input data error!\n");</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6" name="内容占位符 5"/>
          <p:cNvSpPr>
            <a:spLocks noGrp="1"/>
          </p:cNvSpPr>
          <p:nvPr>
            <p:ph sz="half" idx="2"/>
          </p:nvPr>
        </p:nvSpPr>
        <p:spPr>
          <a:xfrm>
            <a:off x="3707904" y="1412776"/>
            <a:ext cx="5328592" cy="4608512"/>
          </a:xfrm>
        </p:spPr>
        <p:txBody>
          <a:bodyPr/>
          <a:lstStyle/>
          <a:p>
            <a:pPr marL="271463" lvl="1" indent="0">
              <a:buNone/>
            </a:pPr>
            <a:r>
              <a:rPr lang="en-US" altLang="zh-CN" sz="1800" dirty="0">
                <a:solidFill>
                  <a:srgbClr val="FF0000"/>
                </a:solidFill>
                <a:effectLst/>
              </a:rPr>
              <a:t>int fact(int n)          /*</a:t>
            </a:r>
            <a:r>
              <a:rPr lang="zh-CN" altLang="zh-CN" sz="1800" dirty="0">
                <a:solidFill>
                  <a:srgbClr val="FF0000"/>
                </a:solidFill>
                <a:effectLst/>
              </a:rPr>
              <a:t>每次调用使用不同的参数</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int t;               /*</a:t>
            </a:r>
            <a:r>
              <a:rPr lang="zh-CN" altLang="zh-CN" sz="1800" dirty="0">
                <a:solidFill>
                  <a:srgbClr val="FF0000"/>
                </a:solidFill>
                <a:effectLst/>
              </a:rPr>
              <a:t>每次调用都会为变量</a:t>
            </a:r>
            <a:r>
              <a:rPr lang="en-US" altLang="zh-CN" sz="1800" dirty="0">
                <a:solidFill>
                  <a:srgbClr val="FF0000"/>
                </a:solidFill>
                <a:effectLst/>
              </a:rPr>
              <a:t>t</a:t>
            </a:r>
            <a:r>
              <a:rPr lang="zh-CN" altLang="zh-CN" sz="1800" dirty="0">
                <a:solidFill>
                  <a:srgbClr val="FF0000"/>
                </a:solidFill>
                <a:effectLst/>
              </a:rPr>
              <a:t>开辟不同的内存空间</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if(n==0 || n==1)     /*</a:t>
            </a:r>
            <a:r>
              <a:rPr lang="zh-CN" altLang="zh-CN" sz="1800" dirty="0">
                <a:solidFill>
                  <a:srgbClr val="FF0000"/>
                </a:solidFill>
                <a:effectLst/>
              </a:rPr>
              <a:t>当满足这些条件返回</a:t>
            </a:r>
            <a:r>
              <a:rPr lang="en-US" altLang="zh-CN" sz="1800" dirty="0">
                <a:solidFill>
                  <a:srgbClr val="FF0000"/>
                </a:solidFill>
                <a:effectLst/>
              </a:rPr>
              <a:t>1 */</a:t>
            </a:r>
            <a:endParaRPr lang="zh-CN" altLang="zh-CN" sz="1800" dirty="0">
              <a:solidFill>
                <a:srgbClr val="FF0000"/>
              </a:solidFill>
              <a:effectLst/>
            </a:endParaRPr>
          </a:p>
          <a:p>
            <a:pPr marL="271463" lvl="1" indent="0">
              <a:buNone/>
            </a:pPr>
            <a:r>
              <a:rPr lang="en-US" altLang="zh-CN" sz="1800" dirty="0">
                <a:solidFill>
                  <a:srgbClr val="FF0000"/>
                </a:solidFill>
                <a:effectLst/>
              </a:rPr>
              <a:t>        t=1;</a:t>
            </a:r>
            <a:endParaRPr lang="zh-CN" altLang="zh-CN" sz="1800" dirty="0">
              <a:solidFill>
                <a:srgbClr val="FF0000"/>
              </a:solidFill>
              <a:effectLst/>
            </a:endParaRPr>
          </a:p>
          <a:p>
            <a:pPr marL="271463" lvl="1" indent="0">
              <a:buNone/>
            </a:pPr>
            <a:r>
              <a:rPr lang="en-US" altLang="zh-CN" sz="1800" dirty="0">
                <a:solidFill>
                  <a:srgbClr val="FF0000"/>
                </a:solidFill>
                <a:effectLst/>
              </a:rPr>
              <a:t>    else</a:t>
            </a:r>
            <a:endParaRPr lang="zh-CN" altLang="zh-CN" sz="1800" dirty="0">
              <a:solidFill>
                <a:srgbClr val="FF0000"/>
              </a:solidFill>
              <a:effectLst/>
            </a:endParaRPr>
          </a:p>
          <a:p>
            <a:pPr marL="271463" lvl="1" indent="0">
              <a:buNone/>
            </a:pPr>
            <a:r>
              <a:rPr lang="en-US" altLang="zh-CN" sz="1800" dirty="0">
                <a:solidFill>
                  <a:srgbClr val="FF0000"/>
                </a:solidFill>
                <a:effectLst/>
              </a:rPr>
              <a:t>        t=n*fact(n-1);   /*</a:t>
            </a:r>
            <a:r>
              <a:rPr lang="zh-CN" altLang="zh-CN" sz="1800" dirty="0">
                <a:solidFill>
                  <a:srgbClr val="FF0000"/>
                </a:solidFill>
                <a:effectLst/>
              </a:rPr>
              <a:t>每次程序运行到此处就会用</a:t>
            </a:r>
            <a:r>
              <a:rPr lang="en-US" altLang="zh-CN" sz="1800" dirty="0">
                <a:solidFill>
                  <a:srgbClr val="FF0000"/>
                </a:solidFill>
                <a:effectLst/>
              </a:rPr>
              <a:t>n-1</a:t>
            </a:r>
            <a:r>
              <a:rPr lang="zh-CN" altLang="zh-CN" sz="1800" dirty="0">
                <a:solidFill>
                  <a:srgbClr val="FF0000"/>
                </a:solidFill>
                <a:effectLst/>
              </a:rPr>
              <a:t>作为参数再调用一次本函数</a:t>
            </a:r>
            <a:r>
              <a:rPr lang="en-US" altLang="zh-CN" sz="1800" dirty="0">
                <a:solidFill>
                  <a:srgbClr val="FF0000"/>
                </a:solidFill>
                <a:effectLst/>
              </a:rPr>
              <a:t>,</a:t>
            </a:r>
            <a:r>
              <a:rPr lang="zh-CN" altLang="zh-CN" sz="1800" dirty="0">
                <a:solidFill>
                  <a:srgbClr val="FF0000"/>
                </a:solidFill>
                <a:effectLst/>
              </a:rPr>
              <a:t>此处是调用点</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return t;            /*</a:t>
            </a:r>
            <a:r>
              <a:rPr lang="zh-CN" altLang="zh-CN" sz="1800" dirty="0">
                <a:solidFill>
                  <a:srgbClr val="FF0000"/>
                </a:solidFill>
                <a:effectLst/>
              </a:rPr>
              <a:t>只有在上一句调用的所有过程全部结束时才运行到此处。</a:t>
            </a: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57</a:t>
            </a:fld>
            <a:endParaRPr lang="en-US" altLang="zh-CN" dirty="0"/>
          </a:p>
        </p:txBody>
      </p:sp>
    </p:spTree>
    <p:extLst>
      <p:ext uri="{BB962C8B-B14F-4D97-AF65-F5344CB8AC3E}">
        <p14:creationId xmlns:p14="http://schemas.microsoft.com/office/powerpoint/2010/main" val="686193869"/>
      </p:ext>
    </p:extLst>
  </p:cSld>
  <p:clrMapOvr>
    <a:masterClrMapping/>
  </p:clrMapOvr>
  <p:transition spd="med">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58</a:t>
            </a:fld>
            <a:endParaRPr lang="en-US" altLang="zh-CN" dirty="0"/>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4" y="2636912"/>
            <a:ext cx="9184019" cy="2171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139082"/>
      </p:ext>
    </p:extLst>
  </p:cSld>
  <p:clrMapOvr>
    <a:masterClrMapping/>
  </p:clrMapOvr>
  <p:transition spd="med">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3" name="内容占位符 2"/>
          <p:cNvSpPr>
            <a:spLocks noGrp="1"/>
          </p:cNvSpPr>
          <p:nvPr>
            <p:ph idx="1"/>
          </p:nvPr>
        </p:nvSpPr>
        <p:spPr/>
        <p:txBody>
          <a:bodyPr/>
          <a:lstStyle/>
          <a:p>
            <a:r>
              <a:rPr lang="zh-CN" altLang="zh-CN" dirty="0" smtClean="0">
                <a:effectLst/>
              </a:rPr>
              <a:t>递归说明</a:t>
            </a:r>
            <a:endParaRPr lang="en-US" altLang="zh-CN" dirty="0" smtClean="0">
              <a:effectLst/>
            </a:endParaRPr>
          </a:p>
          <a:p>
            <a:pPr marL="271463" lvl="1" indent="0">
              <a:buNone/>
            </a:pPr>
            <a:r>
              <a:rPr lang="zh-CN" altLang="zh-CN" dirty="0">
                <a:effectLst/>
              </a:rPr>
              <a:t>（</a:t>
            </a:r>
            <a:r>
              <a:rPr lang="en-US" altLang="zh-CN" dirty="0">
                <a:effectLst/>
              </a:rPr>
              <a:t>1</a:t>
            </a:r>
            <a:r>
              <a:rPr lang="zh-CN" altLang="zh-CN" dirty="0">
                <a:effectLst/>
              </a:rPr>
              <a:t>）当函数自己调用自己时，系统将自动把函数中当前的变量和形参暂时保留起来，在新一轮的调用过程中，系统为新调用的函数所用到的变量和形参开辟另外的存储单元（内存空间）。每次调用函数所使用的变量在不同的内存空间。</a:t>
            </a:r>
          </a:p>
          <a:p>
            <a:pPr marL="271463" lvl="1" indent="0">
              <a:buNone/>
            </a:pPr>
            <a:r>
              <a:rPr lang="zh-CN" altLang="zh-CN" dirty="0">
                <a:effectLst/>
              </a:rPr>
              <a:t>（</a:t>
            </a:r>
            <a:r>
              <a:rPr lang="en-US" altLang="zh-CN" dirty="0">
                <a:effectLst/>
              </a:rPr>
              <a:t>2</a:t>
            </a:r>
            <a:r>
              <a:rPr lang="zh-CN" altLang="zh-CN" dirty="0">
                <a:effectLst/>
              </a:rPr>
              <a:t>）递归调用的层次越多，同名</a:t>
            </a:r>
            <a:r>
              <a:rPr lang="zh-CN" altLang="zh-CN" dirty="0" smtClean="0">
                <a:effectLst/>
              </a:rPr>
              <a:t>变量占用</a:t>
            </a:r>
            <a:r>
              <a:rPr lang="zh-CN" altLang="zh-CN" dirty="0">
                <a:effectLst/>
              </a:rPr>
              <a:t>的存储单元也就越多。一定要记住，每次函数的调用，系统都会为该函数的变量开辟新的内存空间。</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59</a:t>
            </a:fld>
            <a:endParaRPr lang="en-US" altLang="zh-CN" dirty="0"/>
          </a:p>
        </p:txBody>
      </p:sp>
    </p:spTree>
    <p:extLst>
      <p:ext uri="{BB962C8B-B14F-4D97-AF65-F5344CB8AC3E}">
        <p14:creationId xmlns:p14="http://schemas.microsoft.com/office/powerpoint/2010/main" val="4051329389"/>
      </p:ext>
    </p:extLst>
  </p:cSld>
  <p:clrMapOvr>
    <a:masterClrMapping/>
  </p:clrMapOvr>
  <p:transition spd="med">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3" name="内容占位符 2"/>
          <p:cNvSpPr>
            <a:spLocks noGrp="1"/>
          </p:cNvSpPr>
          <p:nvPr>
            <p:ph idx="1"/>
          </p:nvPr>
        </p:nvSpPr>
        <p:spPr/>
        <p:txBody>
          <a:bodyPr/>
          <a:lstStyle/>
          <a:p>
            <a:pPr marL="271463" lvl="1" indent="0">
              <a:buNone/>
            </a:pPr>
            <a:r>
              <a:rPr lang="zh-CN" altLang="zh-CN" dirty="0">
                <a:effectLst/>
              </a:rPr>
              <a:t>（</a:t>
            </a:r>
            <a:r>
              <a:rPr lang="en-US" altLang="zh-CN" dirty="0">
                <a:effectLst/>
              </a:rPr>
              <a:t>3</a:t>
            </a:r>
            <a:r>
              <a:rPr lang="zh-CN" altLang="zh-CN" dirty="0">
                <a:effectLst/>
              </a:rPr>
              <a:t>）当本次调用的函数运行结束时，系统将释放本次调用时所占用的内存空间。程序的流程返回到上一层的调用点，同时取得当初进入该层时，函数中的变量和形参所占用的内存空间的数据。</a:t>
            </a:r>
          </a:p>
          <a:p>
            <a:pPr marL="271463" lvl="1" indent="0">
              <a:buNone/>
            </a:pPr>
            <a:r>
              <a:rPr lang="zh-CN" altLang="zh-CN" dirty="0">
                <a:effectLst/>
              </a:rPr>
              <a:t>（</a:t>
            </a:r>
            <a:r>
              <a:rPr lang="en-US" altLang="zh-CN" dirty="0">
                <a:effectLst/>
              </a:rPr>
              <a:t>4</a:t>
            </a:r>
            <a:r>
              <a:rPr lang="zh-CN" altLang="zh-CN" dirty="0">
                <a:effectLst/>
              </a:rPr>
              <a:t>）所有递归问题都可以用非递归的方法来解决，但对于一些比较复杂的递归问题用非递归的方法往往使程序变得十分复杂难以读懂，而函数的递归调用在解决这类问题时能使程序简洁明了有较好的可读性；但由于递归调用过程中，系统要为每一层调用中的变量开辟内存空间、要记住每一层调用后的返回点、要增加许多额外的开销，因此函数的递归调用通常会降低程序的运行效率。</a:t>
            </a: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60</a:t>
            </a:fld>
            <a:endParaRPr lang="en-US" altLang="zh-CN" dirty="0"/>
          </a:p>
        </p:txBody>
      </p:sp>
    </p:spTree>
    <p:extLst>
      <p:ext uri="{BB962C8B-B14F-4D97-AF65-F5344CB8AC3E}">
        <p14:creationId xmlns:p14="http://schemas.microsoft.com/office/powerpoint/2010/main" val="2013245043"/>
      </p:ext>
    </p:extLst>
  </p:cSld>
  <p:clrMapOvr>
    <a:masterClrMapping/>
  </p:clrMapOvr>
  <p:transition spd="med">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函数的嵌套与递归</a:t>
            </a:r>
            <a:endParaRPr lang="zh-CN" altLang="en-US" dirty="0"/>
          </a:p>
        </p:txBody>
      </p:sp>
      <p:sp>
        <p:nvSpPr>
          <p:cNvPr id="5" name="内容占位符 4"/>
          <p:cNvSpPr>
            <a:spLocks noGrp="1"/>
          </p:cNvSpPr>
          <p:nvPr>
            <p:ph sz="half" idx="1"/>
          </p:nvPr>
        </p:nvSpPr>
        <p:spPr>
          <a:xfrm>
            <a:off x="611560" y="1700213"/>
            <a:ext cx="4392414" cy="4537075"/>
          </a:xfrm>
        </p:spPr>
        <p:txBody>
          <a:bodyPr/>
          <a:lstStyle/>
          <a:p>
            <a:pPr marL="271463" lvl="1" indent="0">
              <a:buNone/>
            </a:pPr>
            <a:r>
              <a:rPr lang="zh-CN" altLang="zh-CN" sz="1800" dirty="0">
                <a:effectLst/>
              </a:rPr>
              <a:t>【例</a:t>
            </a:r>
            <a:r>
              <a:rPr lang="en-US" altLang="zh-CN" sz="1800" dirty="0">
                <a:effectLst/>
              </a:rPr>
              <a:t>5-15</a:t>
            </a:r>
            <a:r>
              <a:rPr lang="zh-CN" altLang="zh-CN" sz="1800" dirty="0">
                <a:effectLst/>
              </a:rPr>
              <a:t>】用递归的方法求</a:t>
            </a:r>
            <a:r>
              <a:rPr lang="en-US" altLang="zh-CN" sz="1800" dirty="0">
                <a:effectLst/>
              </a:rPr>
              <a:t>1+2+3+……+n</a:t>
            </a:r>
            <a:r>
              <a:rPr lang="zh-CN" altLang="zh-CN" sz="1800" dirty="0">
                <a:effectLst/>
              </a:rPr>
              <a:t>。</a:t>
            </a:r>
          </a:p>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int sum(int n);</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int n;</a:t>
            </a:r>
            <a:endParaRPr lang="zh-CN" altLang="zh-CN" sz="1800" dirty="0">
              <a:effectLst/>
            </a:endParaRPr>
          </a:p>
          <a:p>
            <a:pPr marL="271463" lvl="1" indent="0">
              <a:buNone/>
            </a:pPr>
            <a:r>
              <a:rPr lang="en-US" altLang="zh-CN" sz="1800" dirty="0">
                <a:effectLst/>
              </a:rPr>
              <a:t>    printf("Enter n:");</a:t>
            </a:r>
            <a:endParaRPr lang="zh-CN" altLang="zh-CN" sz="1800" dirty="0">
              <a:effectLst/>
            </a:endParaRPr>
          </a:p>
          <a:p>
            <a:pPr marL="271463" lvl="1" indent="0">
              <a:buNone/>
            </a:pPr>
            <a:r>
              <a:rPr lang="en-US" altLang="zh-CN" sz="1800" dirty="0">
                <a:effectLst/>
              </a:rPr>
              <a:t>    scanf("%d",&amp;n);</a:t>
            </a:r>
            <a:endParaRPr lang="zh-CN" altLang="zh-CN" sz="1800" dirty="0">
              <a:effectLst/>
            </a:endParaRPr>
          </a:p>
          <a:p>
            <a:pPr marL="271463" lvl="1" indent="0">
              <a:buNone/>
            </a:pPr>
            <a:r>
              <a:rPr lang="en-US" altLang="zh-CN" sz="1800" dirty="0">
                <a:effectLst/>
              </a:rPr>
              <a:t>    printf("1+2+3+...+n=%d\n",sum(n));</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6" name="内容占位符 5"/>
          <p:cNvSpPr>
            <a:spLocks noGrp="1"/>
          </p:cNvSpPr>
          <p:nvPr>
            <p:ph sz="half" idx="2"/>
          </p:nvPr>
        </p:nvSpPr>
        <p:spPr/>
        <p:txBody>
          <a:bodyPr/>
          <a:lstStyle/>
          <a:p>
            <a:pPr marL="271463" lvl="1" indent="0">
              <a:buNone/>
            </a:pPr>
            <a:r>
              <a:rPr lang="en-US" altLang="zh-CN" sz="1800" dirty="0">
                <a:solidFill>
                  <a:srgbClr val="FF0000"/>
                </a:solidFill>
                <a:effectLst/>
              </a:rPr>
              <a:t>int sum(int n)</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int s;</a:t>
            </a:r>
            <a:endParaRPr lang="zh-CN" altLang="zh-CN" sz="1800" dirty="0">
              <a:solidFill>
                <a:srgbClr val="FF0000"/>
              </a:solidFill>
              <a:effectLst/>
            </a:endParaRPr>
          </a:p>
          <a:p>
            <a:pPr marL="271463" lvl="1" indent="0">
              <a:buNone/>
            </a:pPr>
            <a:r>
              <a:rPr lang="en-US" altLang="zh-CN" sz="1800" dirty="0">
                <a:solidFill>
                  <a:srgbClr val="FF0000"/>
                </a:solidFill>
                <a:effectLst/>
              </a:rPr>
              <a:t>    if(n</a:t>
            </a:r>
            <a:r>
              <a:rPr lang="en-US" altLang="zh-CN" sz="1800" dirty="0" smtClean="0">
                <a:solidFill>
                  <a:srgbClr val="FF0000"/>
                </a:solidFill>
                <a:effectLst/>
              </a:rPr>
              <a:t>==1)</a:t>
            </a:r>
            <a:endParaRPr lang="zh-CN" altLang="zh-CN" sz="1800" dirty="0">
              <a:solidFill>
                <a:srgbClr val="FF0000"/>
              </a:solidFill>
              <a:effectLst/>
            </a:endParaRPr>
          </a:p>
          <a:p>
            <a:pPr marL="271463" lvl="1" indent="0">
              <a:buNone/>
            </a:pPr>
            <a:r>
              <a:rPr lang="en-US" altLang="zh-CN" sz="1800" dirty="0">
                <a:solidFill>
                  <a:srgbClr val="FF0000"/>
                </a:solidFill>
                <a:effectLst/>
              </a:rPr>
              <a:t>        </a:t>
            </a:r>
            <a:r>
              <a:rPr lang="en-US" altLang="zh-CN" sz="1800" dirty="0" smtClean="0">
                <a:solidFill>
                  <a:srgbClr val="FF0000"/>
                </a:solidFill>
                <a:effectLst/>
              </a:rPr>
              <a:t>s=1;</a:t>
            </a:r>
            <a:endParaRPr lang="zh-CN" altLang="zh-CN" sz="1800" dirty="0">
              <a:solidFill>
                <a:srgbClr val="FF0000"/>
              </a:solidFill>
              <a:effectLst/>
            </a:endParaRPr>
          </a:p>
          <a:p>
            <a:pPr marL="271463" lvl="1" indent="0">
              <a:buNone/>
            </a:pPr>
            <a:r>
              <a:rPr lang="en-US" altLang="zh-CN" sz="1800" dirty="0">
                <a:solidFill>
                  <a:srgbClr val="FF0000"/>
                </a:solidFill>
                <a:effectLst/>
              </a:rPr>
              <a:t>    else</a:t>
            </a:r>
            <a:endParaRPr lang="zh-CN" altLang="zh-CN" sz="1800" dirty="0">
              <a:solidFill>
                <a:srgbClr val="FF0000"/>
              </a:solidFill>
              <a:effectLst/>
            </a:endParaRPr>
          </a:p>
          <a:p>
            <a:pPr marL="271463" lvl="1" indent="0">
              <a:buNone/>
            </a:pPr>
            <a:r>
              <a:rPr lang="en-US" altLang="zh-CN" sz="1800" dirty="0">
                <a:solidFill>
                  <a:srgbClr val="FF0000"/>
                </a:solidFill>
                <a:effectLst/>
              </a:rPr>
              <a:t>       s=n+sum(n-1);</a:t>
            </a:r>
            <a:endParaRPr lang="zh-CN" altLang="zh-CN" sz="1800" dirty="0">
              <a:solidFill>
                <a:srgbClr val="FF0000"/>
              </a:solidFill>
              <a:effectLst/>
            </a:endParaRPr>
          </a:p>
          <a:p>
            <a:pPr marL="271463" lvl="1" indent="0">
              <a:buNone/>
            </a:pPr>
            <a:r>
              <a:rPr lang="en-US" altLang="zh-CN" sz="1800" dirty="0">
                <a:solidFill>
                  <a:srgbClr val="FF0000"/>
                </a:solidFill>
                <a:effectLst/>
              </a:rPr>
              <a:t>     return s;</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61</a:t>
            </a:fld>
            <a:endParaRPr lang="en-US" altLang="zh-CN" dirty="0"/>
          </a:p>
        </p:txBody>
      </p:sp>
    </p:spTree>
    <p:extLst>
      <p:ext uri="{BB962C8B-B14F-4D97-AF65-F5344CB8AC3E}">
        <p14:creationId xmlns:p14="http://schemas.microsoft.com/office/powerpoint/2010/main" val="1450910478"/>
      </p:ext>
    </p:extLst>
  </p:cSld>
  <p:clrMapOvr>
    <a:masterClrMapping/>
  </p:clrMapOvr>
  <p:transition spd="med">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局部变量与</a:t>
            </a:r>
            <a:r>
              <a:rPr lang="zh-CN" altLang="zh-CN" dirty="0" smtClean="0">
                <a:effectLst/>
              </a:rPr>
              <a:t>全局变量</a:t>
            </a:r>
            <a:endParaRPr lang="zh-CN" altLang="en-US" dirty="0"/>
          </a:p>
        </p:txBody>
      </p:sp>
      <p:sp>
        <p:nvSpPr>
          <p:cNvPr id="3" name="内容占位符 2"/>
          <p:cNvSpPr>
            <a:spLocks noGrp="1"/>
          </p:cNvSpPr>
          <p:nvPr>
            <p:ph idx="1"/>
          </p:nvPr>
        </p:nvSpPr>
        <p:spPr/>
        <p:txBody>
          <a:bodyPr/>
          <a:lstStyle/>
          <a:p>
            <a:pPr marL="271463" lvl="1" indent="457200">
              <a:buNone/>
            </a:pPr>
            <a:r>
              <a:rPr lang="zh-CN" altLang="zh-CN" dirty="0">
                <a:effectLst/>
              </a:rPr>
              <a:t>在前面介绍函数参数传递中提到，形参变量要等到函数被调用时才分配内存，调用结束后立即释放内存。这说明形参变量的作用域非常有限，只能在被调函数内部使用，离开该函数就无效了。</a:t>
            </a:r>
            <a:r>
              <a:rPr lang="zh-CN" altLang="zh-CN" dirty="0">
                <a:solidFill>
                  <a:srgbClr val="FF0000"/>
                </a:solidFill>
                <a:effectLst/>
              </a:rPr>
              <a:t>所谓</a:t>
            </a:r>
            <a:r>
              <a:rPr lang="zh-CN" altLang="zh-CN" dirty="0" smtClean="0">
                <a:solidFill>
                  <a:srgbClr val="FF0000"/>
                </a:solidFill>
                <a:effectLst/>
              </a:rPr>
              <a:t>作用域</a:t>
            </a:r>
            <a:r>
              <a:rPr lang="zh-CN" altLang="en-US" dirty="0" smtClean="0">
                <a:solidFill>
                  <a:srgbClr val="FF0000"/>
                </a:solidFill>
                <a:effectLst/>
              </a:rPr>
              <a:t>，</a:t>
            </a:r>
            <a:r>
              <a:rPr lang="zh-CN" altLang="zh-CN" dirty="0" smtClean="0">
                <a:solidFill>
                  <a:srgbClr val="FF0000"/>
                </a:solidFill>
                <a:effectLst/>
              </a:rPr>
              <a:t>就是</a:t>
            </a:r>
            <a:r>
              <a:rPr lang="zh-CN" altLang="zh-CN" dirty="0">
                <a:solidFill>
                  <a:srgbClr val="FF0000"/>
                </a:solidFill>
                <a:effectLst/>
              </a:rPr>
              <a:t>变量的有效范围</a:t>
            </a:r>
            <a:r>
              <a:rPr lang="zh-CN" altLang="zh-CN" dirty="0" smtClean="0">
                <a:solidFill>
                  <a:srgbClr val="FF0000"/>
                </a:solidFill>
                <a:effectLst/>
              </a:rPr>
              <a:t>。</a:t>
            </a:r>
            <a:endParaRPr lang="en-US" altLang="zh-CN" dirty="0" smtClean="0">
              <a:solidFill>
                <a:srgbClr val="FF0000"/>
              </a:solidFill>
              <a:effectLst/>
            </a:endParaRPr>
          </a:p>
          <a:p>
            <a:pPr marL="271463" lvl="1" indent="457200">
              <a:buNone/>
            </a:pPr>
            <a:r>
              <a:rPr lang="zh-CN" altLang="zh-CN" dirty="0" smtClean="0">
                <a:effectLst/>
              </a:rPr>
              <a:t>不仅</a:t>
            </a:r>
            <a:r>
              <a:rPr lang="zh-CN" altLang="zh-CN" dirty="0">
                <a:effectLst/>
              </a:rPr>
              <a:t>对于形参变量，</a:t>
            </a:r>
            <a:r>
              <a:rPr lang="en-US" altLang="zh-CN" dirty="0">
                <a:effectLst/>
              </a:rPr>
              <a:t>C</a:t>
            </a:r>
            <a:r>
              <a:rPr lang="zh-CN" altLang="zh-CN" dirty="0">
                <a:effectLst/>
              </a:rPr>
              <a:t>语言中所有的变量都有自己的作用域。</a:t>
            </a:r>
            <a:r>
              <a:rPr lang="zh-CN" altLang="zh-CN" dirty="0">
                <a:solidFill>
                  <a:srgbClr val="FF0000"/>
                </a:solidFill>
                <a:effectLst/>
              </a:rPr>
              <a:t>决定变量作用域的是变量的定义位置</a:t>
            </a:r>
            <a:r>
              <a:rPr lang="zh-CN" altLang="zh-CN" dirty="0">
                <a:effectLst/>
              </a:rPr>
              <a:t>。</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62</a:t>
            </a:fld>
            <a:endParaRPr lang="en-US" altLang="zh-CN" dirty="0"/>
          </a:p>
        </p:txBody>
      </p:sp>
    </p:spTree>
    <p:extLst>
      <p:ext uri="{BB962C8B-B14F-4D97-AF65-F5344CB8AC3E}">
        <p14:creationId xmlns:p14="http://schemas.microsoft.com/office/powerpoint/2010/main" val="448302433"/>
      </p:ext>
    </p:extLst>
  </p:cSld>
  <p:clrMapOvr>
    <a:masterClrMapping/>
  </p:clrMapOvr>
  <p:transition spd="med">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3" name="内容占位符 2"/>
          <p:cNvSpPr>
            <a:spLocks noGrp="1"/>
          </p:cNvSpPr>
          <p:nvPr>
            <p:ph idx="1"/>
          </p:nvPr>
        </p:nvSpPr>
        <p:spPr>
          <a:xfrm>
            <a:off x="755650" y="1700213"/>
            <a:ext cx="8136830" cy="4537075"/>
          </a:xfrm>
        </p:spPr>
        <p:txBody>
          <a:bodyPr/>
          <a:lstStyle/>
          <a:p>
            <a:pPr marL="92075" lvl="2" indent="-92075">
              <a:buClr>
                <a:srgbClr val="A50021"/>
              </a:buClr>
              <a:buFont typeface="Webdings" pitchFamily="18" charset="2"/>
              <a:buChar char="·"/>
            </a:pPr>
            <a:r>
              <a:rPr lang="zh-CN" altLang="zh-CN" sz="2400" dirty="0">
                <a:effectLst/>
              </a:rPr>
              <a:t>局部变量</a:t>
            </a:r>
          </a:p>
          <a:p>
            <a:pPr marL="271463" lvl="1" indent="0">
              <a:buNone/>
            </a:pPr>
            <a:r>
              <a:rPr lang="zh-CN" altLang="zh-CN" dirty="0">
                <a:effectLst/>
              </a:rPr>
              <a:t>定义在函数内部的变量称为</a:t>
            </a:r>
            <a:r>
              <a:rPr lang="zh-CN" altLang="zh-CN" dirty="0" smtClean="0">
                <a:effectLst/>
              </a:rPr>
              <a:t>局部变量，</a:t>
            </a:r>
            <a:r>
              <a:rPr lang="zh-CN" altLang="zh-CN" dirty="0">
                <a:effectLst/>
              </a:rPr>
              <a:t>它的作用域仅限于函数内部， 离开该函数后就是无效的，再使用就会报错</a:t>
            </a:r>
            <a:r>
              <a:rPr lang="zh-CN" altLang="zh-CN" dirty="0" smtClean="0">
                <a:effectLst/>
              </a:rPr>
              <a:t>。</a:t>
            </a:r>
            <a:endParaRPr lang="en-US" altLang="zh-CN" dirty="0" smtClean="0">
              <a:effectLst/>
            </a:endParaRPr>
          </a:p>
          <a:p>
            <a:pPr marL="271463" lvl="1" indent="0">
              <a:buNone/>
            </a:pPr>
            <a:r>
              <a:rPr lang="zh-CN" altLang="zh-CN" dirty="0">
                <a:effectLst/>
              </a:rPr>
              <a:t>【例</a:t>
            </a:r>
            <a:r>
              <a:rPr lang="en-US" altLang="zh-CN" dirty="0">
                <a:effectLst/>
              </a:rPr>
              <a:t>5-16</a:t>
            </a:r>
            <a:r>
              <a:rPr lang="zh-CN" altLang="zh-CN" dirty="0">
                <a:effectLst/>
              </a:rPr>
              <a:t>】试分析下列程序的运行结果。</a:t>
            </a:r>
          </a:p>
          <a:p>
            <a:pPr marL="271463" lvl="1" indent="0">
              <a:buNone/>
            </a:pPr>
            <a:endParaRPr lang="zh-CN" altLang="zh-CN"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63</a:t>
            </a:fld>
            <a:endParaRPr lang="en-US" altLang="zh-CN" dirty="0"/>
          </a:p>
        </p:txBody>
      </p:sp>
    </p:spTree>
    <p:extLst>
      <p:ext uri="{BB962C8B-B14F-4D97-AF65-F5344CB8AC3E}">
        <p14:creationId xmlns:p14="http://schemas.microsoft.com/office/powerpoint/2010/main" val="372508003"/>
      </p:ext>
    </p:extLst>
  </p:cSld>
  <p:clrMapOvr>
    <a:masterClrMapping/>
  </p:clrMapOvr>
  <p:transition spd="med">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3" name="内容占位符 2"/>
          <p:cNvSpPr>
            <a:spLocks noGrp="1"/>
          </p:cNvSpPr>
          <p:nvPr>
            <p:ph idx="1"/>
          </p:nvPr>
        </p:nvSpPr>
        <p:spPr>
          <a:xfrm>
            <a:off x="755576" y="1556792"/>
            <a:ext cx="7993063" cy="5301208"/>
          </a:xfrm>
        </p:spPr>
        <p:txBody>
          <a:bodyPr/>
          <a:lstStyle/>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a:effectLst/>
              </a:rPr>
              <a:t>{</a:t>
            </a:r>
            <a:endParaRPr lang="zh-CN" altLang="zh-CN" sz="1800" dirty="0">
              <a:effectLst/>
            </a:endParaRPr>
          </a:p>
          <a:p>
            <a:pPr marL="271463" lvl="1" indent="0">
              <a:buNone/>
            </a:pPr>
            <a:r>
              <a:rPr lang="en-US" altLang="zh-CN" sz="1800" dirty="0">
                <a:effectLst/>
              </a:rPr>
              <a:t>    int a;         //a</a:t>
            </a:r>
            <a:r>
              <a:rPr lang="zh-CN" altLang="zh-CN" sz="1800" dirty="0">
                <a:effectLst/>
              </a:rPr>
              <a:t>仅在</a:t>
            </a:r>
            <a:r>
              <a:rPr lang="en-US" altLang="zh-CN" sz="1800" dirty="0">
                <a:effectLst/>
              </a:rPr>
              <a:t>main</a:t>
            </a:r>
            <a:r>
              <a:rPr lang="zh-CN" altLang="zh-CN" sz="1800" dirty="0">
                <a:effectLst/>
              </a:rPr>
              <a:t>中有效</a:t>
            </a:r>
          </a:p>
          <a:p>
            <a:pPr marL="271463" lvl="1" indent="0">
              <a:buNone/>
            </a:pPr>
            <a:r>
              <a:rPr lang="en-US" altLang="zh-CN" sz="1800" dirty="0">
                <a:effectLst/>
              </a:rPr>
              <a:t>    a=1;</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int b=0;   //b</a:t>
            </a:r>
            <a:r>
              <a:rPr lang="zh-CN" altLang="zh-CN" sz="1800" dirty="0">
                <a:effectLst/>
              </a:rPr>
              <a:t>仅在第</a:t>
            </a:r>
            <a:r>
              <a:rPr lang="en-US" altLang="zh-CN" sz="1800" dirty="0">
                <a:effectLst/>
              </a:rPr>
              <a:t>6~</a:t>
            </a:r>
            <a:r>
              <a:rPr lang="zh-CN" altLang="zh-CN" sz="1800" dirty="0">
                <a:effectLst/>
              </a:rPr>
              <a:t>第</a:t>
            </a:r>
            <a:r>
              <a:rPr lang="en-US" altLang="zh-CN" sz="1800" dirty="0">
                <a:effectLst/>
              </a:rPr>
              <a:t>10</a:t>
            </a:r>
            <a:r>
              <a:rPr lang="zh-CN" altLang="zh-CN" sz="1800" dirty="0">
                <a:effectLst/>
              </a:rPr>
              <a:t>行的复合语句中有效</a:t>
            </a:r>
          </a:p>
          <a:p>
            <a:pPr marL="271463" lvl="1" indent="0">
              <a:buNone/>
            </a:pPr>
            <a:r>
              <a:rPr lang="en-US" altLang="zh-CN" sz="1800" dirty="0">
                <a:effectLst/>
              </a:rPr>
              <a:t>        b=a+b;</a:t>
            </a:r>
            <a:endParaRPr lang="zh-CN" altLang="zh-CN" sz="1800" dirty="0">
              <a:effectLst/>
            </a:endParaRPr>
          </a:p>
          <a:p>
            <a:pPr marL="271463" lvl="1" indent="0">
              <a:buNone/>
            </a:pPr>
            <a:r>
              <a:rPr lang="en-US" altLang="zh-CN" sz="1800" dirty="0">
                <a:effectLst/>
              </a:rPr>
              <a:t>        a=a+b;</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printf("%</a:t>
            </a:r>
            <a:r>
              <a:rPr lang="en-US" altLang="zh-CN" sz="1800" dirty="0" smtClean="0">
                <a:effectLst/>
              </a:rPr>
              <a:t>d\</a:t>
            </a:r>
            <a:r>
              <a:rPr lang="en-US" altLang="zh-CN" sz="1800" dirty="0" err="1" smtClean="0">
                <a:effectLst/>
              </a:rPr>
              <a:t>n",</a:t>
            </a:r>
            <a:r>
              <a:rPr lang="en-US" altLang="zh-CN" sz="1800" dirty="0" err="1">
                <a:effectLst/>
              </a:rPr>
              <a:t>a</a:t>
            </a:r>
            <a:r>
              <a:rPr lang="en-US" altLang="zh-CN" sz="1800" dirty="0">
                <a:effectLst/>
              </a:rPr>
              <a:t>);</a:t>
            </a:r>
            <a:endParaRPr lang="zh-CN" altLang="zh-CN" sz="1800" dirty="0">
              <a:effectLst/>
            </a:endParaRPr>
          </a:p>
          <a:p>
            <a:pPr marL="271463" lvl="1" indent="0">
              <a:buNone/>
            </a:pPr>
            <a:r>
              <a:rPr lang="en-US" altLang="zh-CN" sz="1800" dirty="0">
                <a:effectLst/>
              </a:rPr>
              <a:t>    printf("%</a:t>
            </a:r>
            <a:r>
              <a:rPr lang="en-US" altLang="zh-CN" sz="1800" dirty="0" smtClean="0">
                <a:effectLst/>
              </a:rPr>
              <a:t>d\</a:t>
            </a:r>
            <a:r>
              <a:rPr lang="en-US" altLang="zh-CN" sz="1800" dirty="0" err="1" smtClean="0">
                <a:effectLst/>
              </a:rPr>
              <a:t>n",</a:t>
            </a:r>
            <a:r>
              <a:rPr lang="en-US" altLang="zh-CN" sz="1800" dirty="0" err="1">
                <a:effectLst/>
              </a:rPr>
              <a:t>b</a:t>
            </a:r>
            <a:r>
              <a:rPr lang="en-US" altLang="zh-CN" sz="1800" dirty="0">
                <a:effectLst/>
              </a:rPr>
              <a:t>); //</a:t>
            </a:r>
            <a:r>
              <a:rPr lang="zh-CN" altLang="zh-CN" sz="1800" dirty="0">
                <a:effectLst/>
              </a:rPr>
              <a:t>系统会报错</a:t>
            </a: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64</a:t>
            </a:fld>
            <a:endParaRPr lang="en-US" altLang="zh-CN" dirty="0"/>
          </a:p>
        </p:txBody>
      </p:sp>
    </p:spTree>
    <p:extLst>
      <p:ext uri="{BB962C8B-B14F-4D97-AF65-F5344CB8AC3E}">
        <p14:creationId xmlns:p14="http://schemas.microsoft.com/office/powerpoint/2010/main" val="4143781672"/>
      </p:ext>
    </p:extLst>
  </p:cSld>
  <p:clrMapOvr>
    <a:masterClrMapping/>
  </p:clrMapOvr>
  <p:transition spd="med">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3" name="内容占位符 2"/>
          <p:cNvSpPr>
            <a:spLocks noGrp="1"/>
          </p:cNvSpPr>
          <p:nvPr>
            <p:ph idx="1"/>
          </p:nvPr>
        </p:nvSpPr>
        <p:spPr>
          <a:xfrm>
            <a:off x="755650" y="1700213"/>
            <a:ext cx="7993063" cy="4321075"/>
          </a:xfrm>
        </p:spPr>
        <p:txBody>
          <a:bodyPr/>
          <a:lstStyle/>
          <a:p>
            <a:pPr marL="271463" lvl="1" indent="0">
              <a:buNone/>
            </a:pPr>
            <a:r>
              <a:rPr lang="zh-CN" altLang="zh-CN" sz="2200" dirty="0">
                <a:effectLst/>
              </a:rPr>
              <a:t>说明：</a:t>
            </a:r>
          </a:p>
          <a:p>
            <a:pPr marL="271463" lvl="1" indent="0">
              <a:buNone/>
            </a:pPr>
            <a:r>
              <a:rPr lang="zh-CN" altLang="zh-CN" sz="2200" dirty="0">
                <a:effectLst/>
              </a:rPr>
              <a:t>（</a:t>
            </a:r>
            <a:r>
              <a:rPr lang="en-US" altLang="zh-CN" sz="2200" dirty="0">
                <a:effectLst/>
              </a:rPr>
              <a:t>1</a:t>
            </a:r>
            <a:r>
              <a:rPr lang="zh-CN" altLang="zh-CN" sz="2200" dirty="0">
                <a:effectLst/>
              </a:rPr>
              <a:t>）在</a:t>
            </a:r>
            <a:r>
              <a:rPr lang="en-US" altLang="zh-CN" sz="2200" dirty="0">
                <a:effectLst/>
              </a:rPr>
              <a:t> main </a:t>
            </a:r>
            <a:r>
              <a:rPr lang="zh-CN" altLang="zh-CN" sz="2200" dirty="0">
                <a:effectLst/>
              </a:rPr>
              <a:t>函数中定义的变量也是局部变量，只能在</a:t>
            </a:r>
            <a:r>
              <a:rPr lang="en-US" altLang="zh-CN" sz="2200" dirty="0">
                <a:effectLst/>
              </a:rPr>
              <a:t> main </a:t>
            </a:r>
            <a:r>
              <a:rPr lang="zh-CN" altLang="zh-CN" sz="2200" dirty="0">
                <a:effectLst/>
              </a:rPr>
              <a:t>函数中使用；同时，</a:t>
            </a:r>
            <a:r>
              <a:rPr lang="en-US" altLang="zh-CN" sz="2200" dirty="0">
                <a:effectLst/>
              </a:rPr>
              <a:t>main </a:t>
            </a:r>
            <a:r>
              <a:rPr lang="zh-CN" altLang="zh-CN" sz="2200" dirty="0">
                <a:effectLst/>
              </a:rPr>
              <a:t>函数中也不能使用其它函数中定义的变量。</a:t>
            </a:r>
            <a:r>
              <a:rPr lang="en-US" altLang="zh-CN" sz="2200" dirty="0">
                <a:effectLst/>
              </a:rPr>
              <a:t>main </a:t>
            </a:r>
            <a:r>
              <a:rPr lang="zh-CN" altLang="zh-CN" sz="2200" dirty="0">
                <a:effectLst/>
              </a:rPr>
              <a:t>函数也是一个函数，与其它函数地位平等</a:t>
            </a:r>
            <a:r>
              <a:rPr lang="zh-CN" altLang="zh-CN" sz="2200" dirty="0" smtClean="0">
                <a:effectLst/>
              </a:rPr>
              <a:t>。</a:t>
            </a:r>
            <a:endParaRPr lang="en-US" altLang="zh-CN" sz="2200" dirty="0" smtClean="0">
              <a:effectLst/>
            </a:endParaRPr>
          </a:p>
          <a:p>
            <a:pPr marL="271463" lvl="1" indent="0">
              <a:buNone/>
            </a:pPr>
            <a:r>
              <a:rPr lang="zh-CN" altLang="zh-CN" sz="2200" dirty="0" smtClean="0">
                <a:effectLst/>
              </a:rPr>
              <a:t>（</a:t>
            </a:r>
            <a:r>
              <a:rPr lang="en-US" altLang="zh-CN" sz="2200" dirty="0">
                <a:effectLst/>
              </a:rPr>
              <a:t>2</a:t>
            </a:r>
            <a:r>
              <a:rPr lang="zh-CN" altLang="zh-CN" sz="2200" dirty="0">
                <a:effectLst/>
              </a:rPr>
              <a:t>）形参变量、在函数体内定义的变量都是局部变量。实参给形参传值的过程也就是给局部变量赋值的过程</a:t>
            </a:r>
            <a:r>
              <a:rPr lang="zh-CN" altLang="zh-CN" sz="2200" dirty="0" smtClean="0">
                <a:effectLst/>
              </a:rPr>
              <a:t>。</a:t>
            </a:r>
            <a:endParaRPr lang="en-US" altLang="zh-CN" sz="2200" dirty="0" smtClean="0">
              <a:effectLst/>
            </a:endParaRPr>
          </a:p>
          <a:p>
            <a:pPr marL="271463" lvl="1" indent="0">
              <a:buNone/>
            </a:pPr>
            <a:r>
              <a:rPr lang="zh-CN" altLang="zh-CN" sz="2200" dirty="0" smtClean="0">
                <a:effectLst/>
              </a:rPr>
              <a:t>（</a:t>
            </a:r>
            <a:r>
              <a:rPr lang="en-US" altLang="zh-CN" sz="2200" dirty="0">
                <a:effectLst/>
              </a:rPr>
              <a:t>3</a:t>
            </a:r>
            <a:r>
              <a:rPr lang="zh-CN" altLang="zh-CN" sz="2200" dirty="0">
                <a:effectLst/>
              </a:rPr>
              <a:t>）可以在不同的函数中使用相同的变量名，它们表示不同的数据，分配不同的内存，互不干扰，也不会发生混淆</a:t>
            </a:r>
            <a:r>
              <a:rPr lang="zh-CN" altLang="zh-CN" sz="2200" dirty="0" smtClean="0">
                <a:effectLst/>
              </a:rPr>
              <a:t>。</a:t>
            </a:r>
            <a:endParaRPr lang="en-US" altLang="zh-CN" sz="2200" dirty="0" smtClean="0">
              <a:effectLst/>
            </a:endParaRPr>
          </a:p>
          <a:p>
            <a:pPr marL="271463" lvl="1" indent="0">
              <a:buNone/>
            </a:pPr>
            <a:r>
              <a:rPr lang="zh-CN" altLang="zh-CN" sz="2200" dirty="0" smtClean="0">
                <a:effectLst/>
              </a:rPr>
              <a:t>（</a:t>
            </a:r>
            <a:r>
              <a:rPr lang="en-US" altLang="zh-CN" sz="2200" dirty="0">
                <a:effectLst/>
              </a:rPr>
              <a:t>4</a:t>
            </a:r>
            <a:r>
              <a:rPr lang="zh-CN" altLang="zh-CN" sz="2200" dirty="0">
                <a:effectLst/>
              </a:rPr>
              <a:t>）在语句块中也可定义变量，它的作用域只限于当前语句块。</a:t>
            </a:r>
            <a:endParaRPr lang="zh-CN" altLang="en-US" sz="2200"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65</a:t>
            </a:fld>
            <a:endParaRPr lang="en-US" altLang="zh-CN" dirty="0"/>
          </a:p>
        </p:txBody>
      </p:sp>
    </p:spTree>
    <p:extLst>
      <p:ext uri="{BB962C8B-B14F-4D97-AF65-F5344CB8AC3E}">
        <p14:creationId xmlns:p14="http://schemas.microsoft.com/office/powerpoint/2010/main" val="2647186633"/>
      </p:ext>
    </p:extLst>
  </p:cSld>
  <p:clrMapOvr>
    <a:masterClrMapping/>
  </p:clrMapOvr>
  <p:transition spd="med">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3" name="内容占位符 2"/>
          <p:cNvSpPr>
            <a:spLocks noGrp="1"/>
          </p:cNvSpPr>
          <p:nvPr>
            <p:ph idx="1"/>
          </p:nvPr>
        </p:nvSpPr>
        <p:spPr/>
        <p:txBody>
          <a:bodyPr/>
          <a:lstStyle/>
          <a:p>
            <a:pPr marL="92075" lvl="2" indent="-92075">
              <a:buClr>
                <a:srgbClr val="A50021"/>
              </a:buClr>
              <a:buFont typeface="Webdings" pitchFamily="18" charset="2"/>
              <a:buChar char="·"/>
            </a:pPr>
            <a:r>
              <a:rPr lang="zh-CN" altLang="zh-CN" sz="2400" dirty="0">
                <a:effectLst/>
              </a:rPr>
              <a:t>全局变量</a:t>
            </a:r>
          </a:p>
          <a:p>
            <a:pPr marL="271463" lvl="1" indent="0">
              <a:buNone/>
            </a:pPr>
            <a:r>
              <a:rPr lang="zh-CN" altLang="zh-CN" dirty="0">
                <a:effectLst/>
              </a:rPr>
              <a:t>在所有函数外部定义的变量称为</a:t>
            </a:r>
            <a:r>
              <a:rPr lang="zh-CN" altLang="zh-CN" dirty="0" smtClean="0">
                <a:effectLst/>
              </a:rPr>
              <a:t>全局变量，</a:t>
            </a:r>
            <a:r>
              <a:rPr lang="zh-CN" altLang="zh-CN" dirty="0">
                <a:effectLst/>
              </a:rPr>
              <a:t>它的有效范围从定义变量的位置开始到本源文件结束。</a:t>
            </a:r>
          </a:p>
          <a:p>
            <a:pPr marL="271463" lvl="1" indent="0">
              <a:buNone/>
            </a:pPr>
            <a:r>
              <a:rPr lang="zh-CN" altLang="zh-CN" dirty="0">
                <a:effectLst/>
              </a:rPr>
              <a:t>【例</a:t>
            </a:r>
            <a:r>
              <a:rPr lang="en-US" altLang="zh-CN" dirty="0">
                <a:effectLst/>
              </a:rPr>
              <a:t>5-17</a:t>
            </a:r>
            <a:r>
              <a:rPr lang="zh-CN" altLang="zh-CN" dirty="0">
                <a:effectLst/>
              </a:rPr>
              <a:t>】试分析下列程序的运行结果。</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66</a:t>
            </a:fld>
            <a:endParaRPr lang="en-US" altLang="zh-CN" dirty="0"/>
          </a:p>
        </p:txBody>
      </p:sp>
    </p:spTree>
    <p:extLst>
      <p:ext uri="{BB962C8B-B14F-4D97-AF65-F5344CB8AC3E}">
        <p14:creationId xmlns:p14="http://schemas.microsoft.com/office/powerpoint/2010/main" val="706498602"/>
      </p:ext>
    </p:extLst>
  </p:cSld>
  <p:clrMapOvr>
    <a:masterClrMapping/>
  </p:clrMapOvr>
  <p:transition spd="med">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3" name="内容占位符 2"/>
          <p:cNvSpPr>
            <a:spLocks noGrp="1"/>
          </p:cNvSpPr>
          <p:nvPr>
            <p:ph sz="half" idx="1"/>
          </p:nvPr>
        </p:nvSpPr>
        <p:spPr>
          <a:xfrm>
            <a:off x="755650" y="1700213"/>
            <a:ext cx="3919538" cy="4969147"/>
          </a:xfrm>
        </p:spPr>
        <p:txBody>
          <a:bodyPr/>
          <a:lstStyle/>
          <a:p>
            <a:pPr marL="265113" lvl="1" indent="0">
              <a:buNone/>
            </a:pPr>
            <a:r>
              <a:rPr lang="en-US" altLang="zh-CN" sz="1800" dirty="0">
                <a:effectLst/>
              </a:rPr>
              <a:t>#include &lt;stdio.h&gt;</a:t>
            </a:r>
            <a:endParaRPr lang="zh-CN" altLang="zh-CN" sz="1800" dirty="0">
              <a:effectLst/>
            </a:endParaRPr>
          </a:p>
          <a:p>
            <a:pPr marL="265113" lvl="1" indent="0">
              <a:buNone/>
            </a:pPr>
            <a:r>
              <a:rPr lang="en-US" altLang="zh-CN" sz="1800" dirty="0">
                <a:effectLst/>
              </a:rPr>
              <a:t>int a,b;    //</a:t>
            </a:r>
            <a:r>
              <a:rPr lang="zh-CN" altLang="zh-CN" sz="1800" dirty="0">
                <a:effectLst/>
              </a:rPr>
              <a:t>全局变量</a:t>
            </a:r>
          </a:p>
          <a:p>
            <a:pPr marL="265113" lvl="1" indent="0">
              <a:buNone/>
            </a:pPr>
            <a:r>
              <a:rPr lang="en-US" altLang="zh-CN" sz="1800" dirty="0">
                <a:effectLst/>
              </a:rPr>
              <a:t>void func1()</a:t>
            </a:r>
            <a:endParaRPr lang="zh-CN" altLang="zh-CN" sz="1800" dirty="0">
              <a:effectLst/>
            </a:endParaRPr>
          </a:p>
          <a:p>
            <a:pPr marL="265113" lvl="1" indent="0">
              <a:buNone/>
            </a:pPr>
            <a:r>
              <a:rPr lang="en-US" altLang="zh-CN" sz="1800" dirty="0" smtClean="0">
                <a:effectLst/>
              </a:rPr>
              <a:t>{  </a:t>
            </a:r>
            <a:r>
              <a:rPr lang="en-US" altLang="zh-CN" sz="1800" dirty="0">
                <a:effectLst/>
              </a:rPr>
              <a:t>a=2;</a:t>
            </a:r>
            <a:endParaRPr lang="zh-CN" altLang="zh-CN" sz="1800" dirty="0">
              <a:effectLst/>
            </a:endParaRPr>
          </a:p>
          <a:p>
            <a:pPr marL="265113" lvl="1" indent="0">
              <a:buNone/>
            </a:pPr>
            <a:r>
              <a:rPr lang="en-US" altLang="zh-CN" sz="1800" dirty="0">
                <a:effectLst/>
              </a:rPr>
              <a:t>  </a:t>
            </a:r>
            <a:r>
              <a:rPr lang="en-US" altLang="zh-CN" sz="1800" dirty="0" smtClean="0">
                <a:effectLst/>
              </a:rPr>
              <a:t> b=3</a:t>
            </a:r>
            <a:r>
              <a:rPr lang="en-US" altLang="zh-CN" sz="1800" dirty="0">
                <a:effectLst/>
              </a:rPr>
              <a:t>;</a:t>
            </a:r>
            <a:endParaRPr lang="zh-CN" altLang="zh-CN" sz="1800" dirty="0">
              <a:effectLst/>
            </a:endParaRPr>
          </a:p>
          <a:p>
            <a:pPr marL="265113" lvl="1" indent="0">
              <a:buNone/>
            </a:pPr>
            <a:r>
              <a:rPr lang="en-US" altLang="zh-CN" sz="1800" dirty="0">
                <a:effectLst/>
              </a:rPr>
              <a:t>  </a:t>
            </a:r>
            <a:r>
              <a:rPr lang="en-US" altLang="zh-CN" sz="1800" dirty="0" smtClean="0">
                <a:effectLst/>
              </a:rPr>
              <a:t> </a:t>
            </a:r>
            <a:r>
              <a:rPr lang="en-US" altLang="zh-CN" sz="1800" dirty="0" err="1" smtClean="0">
                <a:effectLst/>
              </a:rPr>
              <a:t>printf</a:t>
            </a:r>
            <a:r>
              <a:rPr lang="en-US" altLang="zh-CN" sz="1800" dirty="0">
                <a:effectLst/>
              </a:rPr>
              <a:t>("a+b=%d\n",a+b);</a:t>
            </a:r>
            <a:endParaRPr lang="zh-CN" altLang="zh-CN" sz="1800" dirty="0">
              <a:effectLst/>
            </a:endParaRPr>
          </a:p>
          <a:p>
            <a:pPr marL="265113" lvl="1" indent="0">
              <a:buNone/>
            </a:pPr>
            <a:r>
              <a:rPr lang="en-US" altLang="zh-CN" sz="1800" dirty="0">
                <a:effectLst/>
              </a:rPr>
              <a:t>}</a:t>
            </a:r>
            <a:endParaRPr lang="zh-CN" altLang="zh-CN" sz="1800" dirty="0">
              <a:effectLst/>
            </a:endParaRPr>
          </a:p>
          <a:p>
            <a:pPr marL="265113" lvl="1" indent="0">
              <a:buNone/>
            </a:pPr>
            <a:r>
              <a:rPr lang="en-US" altLang="zh-CN" sz="1800" dirty="0">
                <a:effectLst/>
              </a:rPr>
              <a:t>int x,y;  //</a:t>
            </a:r>
            <a:r>
              <a:rPr lang="zh-CN" altLang="zh-CN" sz="1800" dirty="0">
                <a:effectLst/>
              </a:rPr>
              <a:t>全局变量</a:t>
            </a:r>
          </a:p>
          <a:p>
            <a:pPr marL="265113" lvl="1" indent="0">
              <a:buNone/>
            </a:pPr>
            <a:r>
              <a:rPr lang="en-US" altLang="zh-CN" sz="1800" dirty="0">
                <a:effectLst/>
              </a:rPr>
              <a:t>int func2()</a:t>
            </a:r>
            <a:endParaRPr lang="zh-CN" altLang="zh-CN" sz="1800" dirty="0">
              <a:effectLst/>
            </a:endParaRPr>
          </a:p>
          <a:p>
            <a:pPr marL="265113" lvl="1" indent="0">
              <a:buNone/>
            </a:pPr>
            <a:r>
              <a:rPr lang="en-US" altLang="zh-CN" sz="1800" dirty="0" smtClean="0">
                <a:effectLst/>
              </a:rPr>
              <a:t>{   </a:t>
            </a:r>
            <a:r>
              <a:rPr lang="en-US" altLang="zh-CN" sz="1800" dirty="0">
                <a:effectLst/>
              </a:rPr>
              <a:t>x=2;</a:t>
            </a:r>
            <a:endParaRPr lang="zh-CN" altLang="zh-CN" sz="1800" dirty="0">
              <a:effectLst/>
            </a:endParaRPr>
          </a:p>
          <a:p>
            <a:pPr marL="265113" lvl="1" indent="0">
              <a:buNone/>
            </a:pPr>
            <a:r>
              <a:rPr lang="en-US" altLang="zh-CN" sz="1800" dirty="0">
                <a:effectLst/>
              </a:rPr>
              <a:t>   </a:t>
            </a:r>
            <a:r>
              <a:rPr lang="en-US" altLang="zh-CN" sz="1800" dirty="0" smtClean="0">
                <a:effectLst/>
              </a:rPr>
              <a:t> y</a:t>
            </a:r>
            <a:r>
              <a:rPr lang="en-US" altLang="zh-CN" sz="1800" dirty="0">
                <a:effectLst/>
              </a:rPr>
              <a:t>= x+a;</a:t>
            </a:r>
            <a:endParaRPr lang="zh-CN" altLang="zh-CN" sz="1800" dirty="0">
              <a:effectLst/>
            </a:endParaRPr>
          </a:p>
          <a:p>
            <a:pPr marL="265113" lvl="1" indent="0">
              <a:buNone/>
            </a:pPr>
            <a:r>
              <a:rPr lang="en-US" altLang="zh-CN" sz="1800" dirty="0">
                <a:effectLst/>
              </a:rPr>
              <a:t>   </a:t>
            </a:r>
            <a:r>
              <a:rPr lang="en-US" altLang="zh-CN" sz="1800" dirty="0" smtClean="0">
                <a:effectLst/>
              </a:rPr>
              <a:t> return </a:t>
            </a:r>
            <a:r>
              <a:rPr lang="en-US" altLang="zh-CN" sz="1800" dirty="0">
                <a:effectLst/>
              </a:rPr>
              <a:t>y;</a:t>
            </a:r>
            <a:endParaRPr lang="zh-CN" altLang="zh-CN" sz="1800" dirty="0">
              <a:effectLst/>
            </a:endParaRPr>
          </a:p>
          <a:p>
            <a:pPr marL="265113" lvl="1" indent="0">
              <a:buNone/>
            </a:pPr>
            <a:r>
              <a:rPr lang="en-US" altLang="zh-CN" sz="1800" dirty="0">
                <a:effectLst/>
              </a:rPr>
              <a:t>}</a:t>
            </a:r>
            <a:endParaRPr lang="zh-CN" altLang="zh-CN" sz="1800" dirty="0">
              <a:effectLst/>
            </a:endParaRPr>
          </a:p>
          <a:p>
            <a:endParaRPr lang="zh-CN" altLang="en-US" dirty="0"/>
          </a:p>
        </p:txBody>
      </p:sp>
      <p:sp>
        <p:nvSpPr>
          <p:cNvPr id="5" name="灯片编号占位符 4"/>
          <p:cNvSpPr>
            <a:spLocks noGrp="1"/>
          </p:cNvSpPr>
          <p:nvPr>
            <p:ph type="sldNum" sz="quarter" idx="11"/>
          </p:nvPr>
        </p:nvSpPr>
        <p:spPr/>
        <p:txBody>
          <a:bodyPr/>
          <a:lstStyle/>
          <a:p>
            <a:pPr>
              <a:defRPr/>
            </a:pPr>
            <a:fld id="{883631AF-0BB6-41EF-8F20-F2D0D077CE60}" type="slidenum">
              <a:rPr lang="en-US" altLang="zh-CN" smtClean="0"/>
              <a:pPr>
                <a:defRPr/>
              </a:pPr>
              <a:t>67</a:t>
            </a:fld>
            <a:endParaRPr lang="en-US" altLang="zh-CN" dirty="0"/>
          </a:p>
        </p:txBody>
      </p:sp>
      <p:sp>
        <p:nvSpPr>
          <p:cNvPr id="6" name="矩形 5"/>
          <p:cNvSpPr/>
          <p:nvPr/>
        </p:nvSpPr>
        <p:spPr>
          <a:xfrm>
            <a:off x="4753446" y="1772816"/>
            <a:ext cx="3768215" cy="3170099"/>
          </a:xfrm>
          <a:prstGeom prst="rect">
            <a:avLst/>
          </a:prstGeom>
        </p:spPr>
        <p:txBody>
          <a:bodyPr wrap="square">
            <a:spAutoFit/>
          </a:bodyPr>
          <a:lstStyle/>
          <a:p>
            <a:r>
              <a:rPr lang="zh-CN" altLang="en-US" sz="2000" b="1" dirty="0"/>
              <a:t>int main()</a:t>
            </a:r>
          </a:p>
          <a:p>
            <a:r>
              <a:rPr lang="zh-CN" altLang="en-US" sz="2000" b="1" dirty="0"/>
              <a:t>{</a:t>
            </a:r>
          </a:p>
          <a:p>
            <a:r>
              <a:rPr lang="zh-CN" altLang="en-US" sz="2000" b="1" dirty="0"/>
              <a:t>    func1();</a:t>
            </a:r>
          </a:p>
          <a:p>
            <a:r>
              <a:rPr lang="zh-CN" altLang="en-US" sz="2000" b="1" dirty="0"/>
              <a:t>    printf("y=%d\n",func2());</a:t>
            </a:r>
          </a:p>
          <a:p>
            <a:r>
              <a:rPr lang="zh-CN" altLang="en-US" sz="2000" b="1" dirty="0"/>
              <a:t>    printf("a=%d\n",a);</a:t>
            </a:r>
          </a:p>
          <a:p>
            <a:r>
              <a:rPr lang="zh-CN" altLang="en-US" sz="2000" b="1" dirty="0"/>
              <a:t>    printf("b=%d\n",b);</a:t>
            </a:r>
          </a:p>
          <a:p>
            <a:r>
              <a:rPr lang="zh-CN" altLang="en-US" sz="2000" b="1" dirty="0"/>
              <a:t>    printf("x=%d\n",x);</a:t>
            </a:r>
          </a:p>
          <a:p>
            <a:r>
              <a:rPr lang="zh-CN" altLang="en-US" sz="2000" b="1" dirty="0"/>
              <a:t>    printf("y=%d\n",y);</a:t>
            </a:r>
          </a:p>
          <a:p>
            <a:r>
              <a:rPr lang="zh-CN" altLang="en-US" sz="2000" b="1" dirty="0"/>
              <a:t>    return 0;</a:t>
            </a:r>
          </a:p>
          <a:p>
            <a:r>
              <a:rPr lang="zh-CN" altLang="en-US" sz="2000" b="1" dirty="0"/>
              <a:t>}</a:t>
            </a:r>
          </a:p>
        </p:txBody>
      </p:sp>
      <p:pic>
        <p:nvPicPr>
          <p:cNvPr id="4" name="图片 3"/>
          <p:cNvPicPr>
            <a:picLocks noChangeAspect="1"/>
          </p:cNvPicPr>
          <p:nvPr/>
        </p:nvPicPr>
        <p:blipFill>
          <a:blip r:embed="rId2"/>
          <a:stretch>
            <a:fillRect/>
          </a:stretch>
        </p:blipFill>
        <p:spPr>
          <a:xfrm>
            <a:off x="5580112" y="5166331"/>
            <a:ext cx="695325" cy="1371600"/>
          </a:xfrm>
          <a:prstGeom prst="rect">
            <a:avLst/>
          </a:prstGeom>
        </p:spPr>
      </p:pic>
    </p:spTree>
    <p:extLst>
      <p:ext uri="{BB962C8B-B14F-4D97-AF65-F5344CB8AC3E}">
        <p14:creationId xmlns:p14="http://schemas.microsoft.com/office/powerpoint/2010/main" val="2581157924"/>
      </p:ext>
    </p:extLst>
  </p:cSld>
  <p:clrMapOvr>
    <a:masterClrMapping/>
  </p:clrMapOvr>
  <p:transition spd="med">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5" name="内容占位符 4"/>
          <p:cNvSpPr>
            <a:spLocks noGrp="1"/>
          </p:cNvSpPr>
          <p:nvPr>
            <p:ph sz="half" idx="1"/>
          </p:nvPr>
        </p:nvSpPr>
        <p:spPr>
          <a:xfrm>
            <a:off x="755576" y="1628800"/>
            <a:ext cx="3919538" cy="5157787"/>
          </a:xfrm>
        </p:spPr>
        <p:txBody>
          <a:bodyPr/>
          <a:lstStyle/>
          <a:p>
            <a:pPr marL="271463" lvl="1" indent="0">
              <a:buNone/>
            </a:pPr>
            <a:r>
              <a:rPr lang="zh-CN" altLang="zh-CN" sz="1800" dirty="0">
                <a:effectLst/>
              </a:rPr>
              <a:t>【例</a:t>
            </a:r>
            <a:r>
              <a:rPr lang="en-US" altLang="zh-CN" sz="1800" dirty="0">
                <a:effectLst/>
              </a:rPr>
              <a:t>5-18</a:t>
            </a:r>
            <a:r>
              <a:rPr lang="zh-CN" altLang="zh-CN" sz="1800" dirty="0">
                <a:effectLst/>
              </a:rPr>
              <a:t>】试分析下列程序的运行结果。</a:t>
            </a:r>
          </a:p>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    int </a:t>
            </a:r>
            <a:r>
              <a:rPr lang="en-US" altLang="zh-CN" sz="1800" dirty="0">
                <a:solidFill>
                  <a:srgbClr val="FF0000"/>
                </a:solidFill>
                <a:effectLst/>
              </a:rPr>
              <a:t>n</a:t>
            </a:r>
            <a:r>
              <a:rPr lang="en-US" altLang="zh-CN" sz="1800" dirty="0">
                <a:effectLst/>
              </a:rPr>
              <a:t> = 10;  //</a:t>
            </a:r>
            <a:r>
              <a:rPr lang="zh-CN" altLang="zh-CN" sz="1800" dirty="0">
                <a:effectLst/>
              </a:rPr>
              <a:t>全局变量</a:t>
            </a:r>
          </a:p>
          <a:p>
            <a:pPr marL="271463" lvl="1" indent="0">
              <a:buNone/>
            </a:pPr>
            <a:r>
              <a:rPr lang="en-US" altLang="zh-CN" sz="1800" dirty="0">
                <a:effectLst/>
              </a:rPr>
              <a:t>    void func1(){</a:t>
            </a:r>
            <a:endParaRPr lang="zh-CN" altLang="zh-CN" sz="1800" dirty="0">
              <a:effectLst/>
            </a:endParaRPr>
          </a:p>
          <a:p>
            <a:pPr marL="271463" lvl="1" indent="0">
              <a:buNone/>
            </a:pPr>
            <a:r>
              <a:rPr lang="en-US" altLang="zh-CN" sz="1800" dirty="0">
                <a:effectLst/>
              </a:rPr>
              <a:t>        int </a:t>
            </a:r>
            <a:r>
              <a:rPr lang="en-US" altLang="zh-CN" sz="1800" dirty="0">
                <a:solidFill>
                  <a:srgbClr val="FF0000"/>
                </a:solidFill>
                <a:effectLst/>
              </a:rPr>
              <a:t>n</a:t>
            </a:r>
            <a:r>
              <a:rPr lang="en-US" altLang="zh-CN" sz="1800" dirty="0">
                <a:effectLst/>
              </a:rPr>
              <a:t> = 20;  //</a:t>
            </a:r>
            <a:r>
              <a:rPr lang="zh-CN" altLang="zh-CN" sz="1800" dirty="0">
                <a:effectLst/>
              </a:rPr>
              <a:t>局部变量</a:t>
            </a:r>
          </a:p>
          <a:p>
            <a:pPr marL="271463" lvl="1" indent="0">
              <a:buNone/>
            </a:pPr>
            <a:r>
              <a:rPr lang="en-US" altLang="zh-CN" sz="1800" dirty="0">
                <a:effectLst/>
              </a:rPr>
              <a:t>        printf("func1 n: %d\n", n);</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void func2(int </a:t>
            </a:r>
            <a:r>
              <a:rPr lang="en-US" altLang="zh-CN" sz="1800" dirty="0">
                <a:solidFill>
                  <a:srgbClr val="FF0000"/>
                </a:solidFill>
                <a:effectLst/>
              </a:rPr>
              <a:t>n</a:t>
            </a:r>
            <a:r>
              <a:rPr lang="en-US" altLang="zh-CN" sz="1800" dirty="0">
                <a:effectLst/>
              </a:rPr>
              <a:t>){</a:t>
            </a:r>
            <a:endParaRPr lang="zh-CN" altLang="zh-CN" sz="1800" dirty="0">
              <a:effectLst/>
            </a:endParaRPr>
          </a:p>
          <a:p>
            <a:pPr marL="271463" lvl="1" indent="0">
              <a:buNone/>
            </a:pPr>
            <a:r>
              <a:rPr lang="en-US" altLang="zh-CN" sz="1800" dirty="0">
                <a:effectLst/>
              </a:rPr>
              <a:t>        printf("func2 n: %d\n", n);</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void func3(){</a:t>
            </a:r>
            <a:endParaRPr lang="zh-CN" altLang="zh-CN" sz="1800" dirty="0">
              <a:effectLst/>
            </a:endParaRPr>
          </a:p>
          <a:p>
            <a:pPr marL="271463" lvl="1" indent="0">
              <a:buNone/>
            </a:pPr>
            <a:r>
              <a:rPr lang="en-US" altLang="zh-CN" sz="1800" dirty="0">
                <a:effectLst/>
              </a:rPr>
              <a:t>        printf("func3 n: %d\n", </a:t>
            </a:r>
            <a:r>
              <a:rPr lang="en-US" altLang="zh-CN" sz="1800" dirty="0">
                <a:solidFill>
                  <a:srgbClr val="FF0000"/>
                </a:solidFill>
                <a:effectLst/>
              </a:rPr>
              <a:t>n</a:t>
            </a:r>
            <a:r>
              <a:rPr lang="en-US" altLang="zh-CN" sz="1800" dirty="0">
                <a:effectLst/>
              </a:rPr>
              <a:t>);</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endParaRPr lang="zh-CN" altLang="en-US" dirty="0"/>
          </a:p>
        </p:txBody>
      </p:sp>
      <p:sp>
        <p:nvSpPr>
          <p:cNvPr id="6" name="内容占位符 5"/>
          <p:cNvSpPr>
            <a:spLocks noGrp="1"/>
          </p:cNvSpPr>
          <p:nvPr>
            <p:ph sz="half" idx="2"/>
          </p:nvPr>
        </p:nvSpPr>
        <p:spPr/>
        <p:txBody>
          <a:bodyPr/>
          <a:lstStyle/>
          <a:p>
            <a:pPr marL="271463" lvl="1" indent="0">
              <a:buNone/>
            </a:pPr>
            <a:r>
              <a:rPr lang="en-US" altLang="zh-CN" sz="1800" dirty="0" smtClean="0">
                <a:effectLst/>
              </a:rPr>
              <a:t>int </a:t>
            </a:r>
            <a:r>
              <a:rPr lang="en-US" altLang="zh-CN" sz="1800" dirty="0">
                <a:effectLst/>
              </a:rPr>
              <a:t>main(){</a:t>
            </a:r>
            <a:endParaRPr lang="zh-CN" altLang="zh-CN" sz="1800" dirty="0">
              <a:effectLst/>
            </a:endParaRPr>
          </a:p>
          <a:p>
            <a:pPr marL="271463" lvl="1" indent="0">
              <a:buNone/>
            </a:pPr>
            <a:r>
              <a:rPr lang="en-US" altLang="zh-CN" sz="1800" dirty="0">
                <a:effectLst/>
              </a:rPr>
              <a:t>        int </a:t>
            </a:r>
            <a:r>
              <a:rPr lang="en-US" altLang="zh-CN" sz="1800" dirty="0">
                <a:solidFill>
                  <a:srgbClr val="FF0000"/>
                </a:solidFill>
                <a:effectLst/>
              </a:rPr>
              <a:t>n</a:t>
            </a:r>
            <a:r>
              <a:rPr lang="en-US" altLang="zh-CN" sz="1800" dirty="0">
                <a:effectLst/>
              </a:rPr>
              <a:t> = 30;  //</a:t>
            </a:r>
            <a:r>
              <a:rPr lang="zh-CN" altLang="zh-CN" sz="1800" dirty="0">
                <a:effectLst/>
              </a:rPr>
              <a:t>局部变量</a:t>
            </a:r>
          </a:p>
          <a:p>
            <a:pPr marL="271463" lvl="1" indent="0">
              <a:buNone/>
            </a:pPr>
            <a:r>
              <a:rPr lang="en-US" altLang="zh-CN" sz="1800" dirty="0">
                <a:effectLst/>
              </a:rPr>
              <a:t>        func1();</a:t>
            </a:r>
            <a:endParaRPr lang="zh-CN" altLang="zh-CN" sz="1800" dirty="0">
              <a:effectLst/>
            </a:endParaRPr>
          </a:p>
          <a:p>
            <a:pPr marL="271463" lvl="1" indent="0">
              <a:buNone/>
            </a:pPr>
            <a:r>
              <a:rPr lang="en-US" altLang="zh-CN" sz="1800" dirty="0">
                <a:effectLst/>
              </a:rPr>
              <a:t>        func2(n);</a:t>
            </a:r>
            <a:endParaRPr lang="zh-CN" altLang="zh-CN" sz="1800" dirty="0">
              <a:effectLst/>
            </a:endParaRPr>
          </a:p>
          <a:p>
            <a:pPr marL="271463" lvl="1" indent="0">
              <a:buNone/>
            </a:pPr>
            <a:r>
              <a:rPr lang="en-US" altLang="zh-CN" sz="1800" dirty="0">
                <a:effectLst/>
              </a:rPr>
              <a:t>        func3();</a:t>
            </a:r>
            <a:endParaRPr lang="zh-CN" altLang="zh-CN" sz="1800" dirty="0">
              <a:effectLst/>
            </a:endParaRPr>
          </a:p>
          <a:p>
            <a:pPr marL="271463" lvl="1" indent="0">
              <a:buNone/>
            </a:pPr>
            <a:r>
              <a:rPr lang="en-US" altLang="zh-CN" sz="1800" dirty="0">
                <a:effectLst/>
              </a:rPr>
              <a:t>        //</a:t>
            </a:r>
            <a:r>
              <a:rPr lang="zh-CN" altLang="zh-CN" sz="1800" dirty="0">
                <a:effectLst/>
              </a:rPr>
              <a:t>代码块由</a:t>
            </a:r>
            <a:r>
              <a:rPr lang="en-US" altLang="zh-CN" sz="1800" dirty="0">
                <a:effectLst/>
              </a:rPr>
              <a:t>{}</a:t>
            </a:r>
            <a:r>
              <a:rPr lang="zh-CN" altLang="zh-CN" sz="1800" dirty="0">
                <a:effectLst/>
              </a:rPr>
              <a:t>包围</a:t>
            </a: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int </a:t>
            </a:r>
            <a:r>
              <a:rPr lang="en-US" altLang="zh-CN" sz="1800" dirty="0">
                <a:solidFill>
                  <a:srgbClr val="FF0000"/>
                </a:solidFill>
                <a:effectLst/>
              </a:rPr>
              <a:t>n</a:t>
            </a:r>
            <a:r>
              <a:rPr lang="en-US" altLang="zh-CN" sz="1800" dirty="0">
                <a:effectLst/>
              </a:rPr>
              <a:t> = 40;  //</a:t>
            </a:r>
            <a:r>
              <a:rPr lang="zh-CN" altLang="zh-CN" sz="1800" dirty="0">
                <a:effectLst/>
              </a:rPr>
              <a:t>局部变量</a:t>
            </a:r>
          </a:p>
          <a:p>
            <a:pPr marL="271463" lvl="1" indent="0">
              <a:buNone/>
            </a:pPr>
            <a:r>
              <a:rPr lang="en-US" altLang="zh-CN" sz="1800" dirty="0">
                <a:effectLst/>
              </a:rPr>
              <a:t>            printf("block n: %d\n", </a:t>
            </a:r>
            <a:r>
              <a:rPr lang="en-US" altLang="zh-CN" sz="1800" dirty="0">
                <a:solidFill>
                  <a:srgbClr val="FF0000"/>
                </a:solidFill>
                <a:effectLst/>
              </a:rPr>
              <a:t>n</a:t>
            </a:r>
            <a:r>
              <a:rPr lang="en-US" altLang="zh-CN" sz="1800" dirty="0">
                <a:effectLst/>
              </a:rPr>
              <a:t>);</a:t>
            </a:r>
            <a:endParaRPr lang="zh-CN" altLang="zh-CN" sz="1800" dirty="0">
              <a:effectLst/>
            </a:endParaRPr>
          </a:p>
          <a:p>
            <a:pPr marL="271463" lvl="1" indent="0">
              <a:buNone/>
            </a:pPr>
            <a:r>
              <a:rPr lang="en-US" altLang="zh-CN" sz="1800" dirty="0">
                <a:effectLst/>
              </a:rPr>
              <a:t>        }</a:t>
            </a:r>
            <a:endParaRPr lang="zh-CN" altLang="zh-CN" sz="1800" dirty="0">
              <a:effectLst/>
            </a:endParaRPr>
          </a:p>
          <a:p>
            <a:pPr marL="271463" lvl="1" indent="0">
              <a:buNone/>
            </a:pPr>
            <a:r>
              <a:rPr lang="en-US" altLang="zh-CN" sz="1800" dirty="0">
                <a:effectLst/>
              </a:rPr>
              <a:t>        printf("main n: %d\n", </a:t>
            </a:r>
            <a:r>
              <a:rPr lang="en-US" altLang="zh-CN" sz="1800" dirty="0">
                <a:solidFill>
                  <a:srgbClr val="FF0000"/>
                </a:solidFill>
                <a:effectLst/>
              </a:rPr>
              <a:t>n</a:t>
            </a:r>
            <a:r>
              <a:rPr lang="en-US" altLang="zh-CN" sz="1800" dirty="0">
                <a:effectLst/>
              </a:rPr>
              <a:t>);</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    }</a:t>
            </a:r>
            <a:endParaRPr lang="zh-CN" altLang="zh-CN" sz="1800" dirty="0">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68</a:t>
            </a:fld>
            <a:endParaRPr lang="en-US" altLang="zh-CN"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6296" y="5877963"/>
            <a:ext cx="1728192" cy="99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2304775"/>
      </p:ext>
    </p:extLst>
  </p:cSld>
  <p:clrMapOvr>
    <a:masterClrMapping/>
  </p:clrMapOvr>
  <p:transition spd="med">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5" name="内容占位符 4"/>
          <p:cNvSpPr>
            <a:spLocks noGrp="1"/>
          </p:cNvSpPr>
          <p:nvPr>
            <p:ph sz="half" idx="1"/>
          </p:nvPr>
        </p:nvSpPr>
        <p:spPr>
          <a:xfrm>
            <a:off x="539552" y="1700213"/>
            <a:ext cx="8424936" cy="5157787"/>
          </a:xfrm>
        </p:spPr>
        <p:txBody>
          <a:bodyPr/>
          <a:lstStyle/>
          <a:p>
            <a:pPr marL="271463" lvl="1" indent="0">
              <a:buNone/>
            </a:pPr>
            <a:r>
              <a:rPr lang="zh-CN" altLang="zh-CN" dirty="0">
                <a:effectLst/>
              </a:rPr>
              <a:t>【例</a:t>
            </a:r>
            <a:r>
              <a:rPr lang="en-US" altLang="zh-CN" dirty="0">
                <a:effectLst/>
              </a:rPr>
              <a:t>5-19</a:t>
            </a:r>
            <a:r>
              <a:rPr lang="zh-CN" altLang="zh-CN" dirty="0">
                <a:effectLst/>
              </a:rPr>
              <a:t>】根据长方体的长宽高求它的体积以及三个面的面积</a:t>
            </a:r>
            <a:r>
              <a:rPr lang="zh-CN" altLang="zh-CN" dirty="0" smtClean="0">
                <a:effectLst/>
              </a:rPr>
              <a:t>。</a:t>
            </a:r>
            <a:endParaRPr lang="en-US" altLang="zh-CN" dirty="0" smtClean="0">
              <a:effectLst/>
            </a:endParaRPr>
          </a:p>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    int s1, s2, s3;  //</a:t>
            </a:r>
            <a:r>
              <a:rPr lang="zh-CN" altLang="zh-CN" sz="1800" dirty="0">
                <a:effectLst/>
              </a:rPr>
              <a:t>面积</a:t>
            </a:r>
          </a:p>
          <a:p>
            <a:pPr marL="271463" lvl="1" indent="0">
              <a:buNone/>
            </a:pPr>
            <a:r>
              <a:rPr lang="en-US" altLang="zh-CN" sz="1800" dirty="0">
                <a:solidFill>
                  <a:srgbClr val="FF0000"/>
                </a:solidFill>
                <a:effectLst/>
              </a:rPr>
              <a:t>    int vs(int a, int b, int c){</a:t>
            </a:r>
            <a:endParaRPr lang="zh-CN" altLang="zh-CN" sz="1800" dirty="0">
              <a:solidFill>
                <a:srgbClr val="FF0000"/>
              </a:solidFill>
              <a:effectLst/>
            </a:endParaRPr>
          </a:p>
          <a:p>
            <a:pPr marL="271463" lvl="1" indent="0">
              <a:buNone/>
            </a:pPr>
            <a:r>
              <a:rPr lang="en-US" altLang="zh-CN" sz="1800" dirty="0">
                <a:solidFill>
                  <a:srgbClr val="FF0000"/>
                </a:solidFill>
                <a:effectLst/>
              </a:rPr>
              <a:t>        int v;  //</a:t>
            </a:r>
            <a:r>
              <a:rPr lang="zh-CN" altLang="zh-CN" sz="1800" dirty="0">
                <a:solidFill>
                  <a:srgbClr val="FF0000"/>
                </a:solidFill>
                <a:effectLst/>
              </a:rPr>
              <a:t>体积</a:t>
            </a:r>
          </a:p>
          <a:p>
            <a:pPr marL="271463" lvl="1" indent="0">
              <a:buNone/>
            </a:pPr>
            <a:r>
              <a:rPr lang="en-US" altLang="zh-CN" sz="1800" dirty="0">
                <a:solidFill>
                  <a:srgbClr val="FF0000"/>
                </a:solidFill>
                <a:effectLst/>
              </a:rPr>
              <a:t>        v = a * b * c;</a:t>
            </a:r>
            <a:endParaRPr lang="zh-CN" altLang="zh-CN" sz="1800" dirty="0">
              <a:solidFill>
                <a:srgbClr val="FF0000"/>
              </a:solidFill>
              <a:effectLst/>
            </a:endParaRPr>
          </a:p>
          <a:p>
            <a:pPr marL="271463" lvl="1" indent="0">
              <a:buNone/>
            </a:pPr>
            <a:r>
              <a:rPr lang="en-US" altLang="zh-CN" sz="1800" dirty="0">
                <a:solidFill>
                  <a:srgbClr val="FF0000"/>
                </a:solidFill>
                <a:effectLst/>
              </a:rPr>
              <a:t>        s1 = a * b;</a:t>
            </a:r>
            <a:endParaRPr lang="zh-CN" altLang="zh-CN" sz="1800" dirty="0">
              <a:solidFill>
                <a:srgbClr val="FF0000"/>
              </a:solidFill>
              <a:effectLst/>
            </a:endParaRPr>
          </a:p>
          <a:p>
            <a:pPr marL="271463" lvl="1" indent="0">
              <a:buNone/>
            </a:pPr>
            <a:r>
              <a:rPr lang="en-US" altLang="zh-CN" sz="1800" dirty="0">
                <a:solidFill>
                  <a:srgbClr val="FF0000"/>
                </a:solidFill>
                <a:effectLst/>
              </a:rPr>
              <a:t>        s2 = b * c;</a:t>
            </a:r>
            <a:endParaRPr lang="zh-CN" altLang="zh-CN" sz="1800" dirty="0">
              <a:solidFill>
                <a:srgbClr val="FF0000"/>
              </a:solidFill>
              <a:effectLst/>
            </a:endParaRPr>
          </a:p>
          <a:p>
            <a:pPr marL="271463" lvl="1" indent="0">
              <a:buNone/>
            </a:pPr>
            <a:r>
              <a:rPr lang="en-US" altLang="zh-CN" sz="1800" dirty="0">
                <a:solidFill>
                  <a:srgbClr val="FF0000"/>
                </a:solidFill>
                <a:effectLst/>
              </a:rPr>
              <a:t>        s3 = a * c;</a:t>
            </a:r>
            <a:endParaRPr lang="zh-CN" altLang="zh-CN" sz="1800" dirty="0">
              <a:solidFill>
                <a:srgbClr val="FF0000"/>
              </a:solidFill>
              <a:effectLst/>
            </a:endParaRPr>
          </a:p>
          <a:p>
            <a:pPr marL="271463" lvl="1" indent="0">
              <a:buNone/>
            </a:pPr>
            <a:r>
              <a:rPr lang="en-US" altLang="zh-CN" sz="1800" dirty="0">
                <a:solidFill>
                  <a:srgbClr val="FF0000"/>
                </a:solidFill>
                <a:effectLst/>
              </a:rPr>
              <a:t>        return v;</a:t>
            </a:r>
            <a:endParaRPr lang="zh-CN" altLang="zh-CN" sz="1800" dirty="0">
              <a:solidFill>
                <a:srgbClr val="FF0000"/>
              </a:solidFill>
              <a:effectLst/>
            </a:endParaRPr>
          </a:p>
          <a:p>
            <a:pPr marL="271463" lvl="1" indent="0">
              <a:buNone/>
            </a:pPr>
            <a:r>
              <a:rPr lang="en-US" altLang="zh-CN" sz="1800" dirty="0">
                <a:solidFill>
                  <a:srgbClr val="FF0000"/>
                </a:solidFill>
                <a:effectLst/>
              </a:rPr>
              <a:t>    }</a:t>
            </a:r>
            <a:endParaRPr lang="zh-CN" altLang="zh-CN" sz="1800" dirty="0">
              <a:solidFill>
                <a:srgbClr val="FF0000"/>
              </a:solidFill>
              <a:effectLst/>
            </a:endParaRPr>
          </a:p>
          <a:p>
            <a:pPr marL="271463" lvl="1" indent="0">
              <a:buNone/>
            </a:pPr>
            <a:endParaRPr lang="zh-CN" altLang="zh-CN" dirty="0">
              <a:effectLst/>
            </a:endParaRPr>
          </a:p>
          <a:p>
            <a:endParaRPr lang="zh-CN" altLang="en-US" dirty="0"/>
          </a:p>
        </p:txBody>
      </p:sp>
      <p:sp>
        <p:nvSpPr>
          <p:cNvPr id="6" name="内容占位符 5"/>
          <p:cNvSpPr>
            <a:spLocks noGrp="1"/>
          </p:cNvSpPr>
          <p:nvPr>
            <p:ph sz="half" idx="2"/>
          </p:nvPr>
        </p:nvSpPr>
        <p:spPr>
          <a:xfrm>
            <a:off x="3131840" y="2636913"/>
            <a:ext cx="6012160" cy="2808312"/>
          </a:xfrm>
        </p:spPr>
        <p:txBody>
          <a:bodyPr/>
          <a:lstStyle/>
          <a:p>
            <a:pPr marL="271463" lvl="1" indent="0">
              <a:buNone/>
            </a:pPr>
            <a:r>
              <a:rPr lang="en-US" altLang="zh-CN" sz="1600" dirty="0">
                <a:effectLst/>
              </a:rPr>
              <a:t> int main(){</a:t>
            </a:r>
            <a:endParaRPr lang="zh-CN" altLang="zh-CN" sz="1600" dirty="0">
              <a:effectLst/>
            </a:endParaRPr>
          </a:p>
          <a:p>
            <a:pPr marL="271463" lvl="1" indent="0">
              <a:buNone/>
            </a:pPr>
            <a:r>
              <a:rPr lang="en-US" altLang="zh-CN" sz="1600" dirty="0">
                <a:effectLst/>
              </a:rPr>
              <a:t>        int v, length, width, height;</a:t>
            </a:r>
            <a:endParaRPr lang="zh-CN" altLang="zh-CN" sz="1600" dirty="0">
              <a:effectLst/>
            </a:endParaRPr>
          </a:p>
          <a:p>
            <a:pPr marL="271463" lvl="1" indent="0">
              <a:buNone/>
            </a:pPr>
            <a:r>
              <a:rPr lang="en-US" altLang="zh-CN" sz="1600" dirty="0">
                <a:effectLst/>
              </a:rPr>
              <a:t>        printf("Input length, width and height: ");</a:t>
            </a:r>
            <a:endParaRPr lang="zh-CN" altLang="zh-CN" sz="1600" dirty="0">
              <a:effectLst/>
            </a:endParaRPr>
          </a:p>
          <a:p>
            <a:pPr marL="271463" lvl="1" indent="0">
              <a:buNone/>
            </a:pPr>
            <a:r>
              <a:rPr lang="en-US" altLang="zh-CN" sz="1600" dirty="0">
                <a:effectLst/>
              </a:rPr>
              <a:t>        scanf("%</a:t>
            </a:r>
            <a:r>
              <a:rPr lang="en-US" altLang="zh-CN" sz="1600" dirty="0" err="1" smtClean="0">
                <a:effectLst/>
              </a:rPr>
              <a:t>d%d%d</a:t>
            </a:r>
            <a:r>
              <a:rPr lang="en-US" altLang="zh-CN" sz="1600" dirty="0">
                <a:effectLst/>
              </a:rPr>
              <a:t>", &amp;length, &amp;width, &amp;height);</a:t>
            </a:r>
            <a:endParaRPr lang="zh-CN" altLang="zh-CN" sz="1600" dirty="0">
              <a:effectLst/>
            </a:endParaRPr>
          </a:p>
          <a:p>
            <a:pPr marL="271463" lvl="1" indent="0">
              <a:buNone/>
            </a:pPr>
            <a:r>
              <a:rPr lang="en-US" altLang="zh-CN" sz="1600" dirty="0">
                <a:effectLst/>
              </a:rPr>
              <a:t>        v = vs(length, width, height);</a:t>
            </a:r>
            <a:endParaRPr lang="zh-CN" altLang="zh-CN" sz="1600" dirty="0">
              <a:effectLst/>
            </a:endParaRPr>
          </a:p>
          <a:p>
            <a:pPr marL="271463" lvl="1" indent="0">
              <a:buNone/>
            </a:pPr>
            <a:r>
              <a:rPr lang="en-US" altLang="zh-CN" sz="1600" dirty="0">
                <a:effectLst/>
              </a:rPr>
              <a:t>        printf("v=%d, s1=%d, s2=%d, s3=%d\n", v, s1, s2, s3);</a:t>
            </a:r>
            <a:endParaRPr lang="zh-CN" altLang="zh-CN" sz="1600" dirty="0">
              <a:effectLst/>
            </a:endParaRPr>
          </a:p>
          <a:p>
            <a:pPr marL="271463" lvl="1" indent="0">
              <a:buNone/>
            </a:pPr>
            <a:r>
              <a:rPr lang="en-US" altLang="zh-CN" sz="1600" dirty="0">
                <a:effectLst/>
              </a:rPr>
              <a:t>        return 0;</a:t>
            </a:r>
            <a:endParaRPr lang="zh-CN" altLang="zh-CN" sz="1600" dirty="0">
              <a:effectLst/>
            </a:endParaRPr>
          </a:p>
          <a:p>
            <a:pPr marL="271463" lvl="1" indent="0">
              <a:buNone/>
            </a:pPr>
            <a:r>
              <a:rPr lang="en-US" altLang="zh-CN" sz="1600" dirty="0">
                <a:effectLst/>
              </a:rPr>
              <a:t>    }</a:t>
            </a:r>
            <a:endParaRPr lang="zh-CN" altLang="en-US" sz="1600"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69</a:t>
            </a:fld>
            <a:endParaRPr lang="en-US" altLang="zh-C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5984924"/>
            <a:ext cx="5625096"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2977375"/>
      </p:ext>
    </p:extLst>
  </p:cSld>
  <p:clrMapOvr>
    <a:masterClrMapping/>
  </p:clrMapOvr>
  <p:transition spd="med">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局部变量与全局变量</a:t>
            </a:r>
            <a:endParaRPr lang="zh-CN" altLang="en-US" dirty="0"/>
          </a:p>
        </p:txBody>
      </p:sp>
      <p:sp>
        <p:nvSpPr>
          <p:cNvPr id="3" name="内容占位符 2"/>
          <p:cNvSpPr>
            <a:spLocks noGrp="1"/>
          </p:cNvSpPr>
          <p:nvPr>
            <p:ph idx="1"/>
          </p:nvPr>
        </p:nvSpPr>
        <p:spPr/>
        <p:txBody>
          <a:bodyPr/>
          <a:lstStyle/>
          <a:p>
            <a:pPr lvl="1"/>
            <a:r>
              <a:rPr lang="zh-CN" altLang="zh-CN" dirty="0">
                <a:effectLst/>
              </a:rPr>
              <a:t>说明：</a:t>
            </a:r>
          </a:p>
          <a:p>
            <a:pPr marL="271463" lvl="1" indent="0">
              <a:buNone/>
            </a:pPr>
            <a:r>
              <a:rPr lang="zh-CN" altLang="zh-CN" sz="2000" dirty="0">
                <a:effectLst/>
              </a:rPr>
              <a:t>（</a:t>
            </a:r>
            <a:r>
              <a:rPr lang="en-US" altLang="zh-CN" sz="2000" dirty="0">
                <a:effectLst/>
              </a:rPr>
              <a:t>1</a:t>
            </a:r>
            <a:r>
              <a:rPr lang="zh-CN" altLang="zh-CN" sz="2000" dirty="0">
                <a:effectLst/>
              </a:rPr>
              <a:t>）虽然使用全局变量可以增加各个函数之间数据的传输渠道，即在某个函数中改变一个全局变量的值，就可能影响到其他函数的执行结果，但过多使用全局变量会带来副作用，</a:t>
            </a:r>
            <a:r>
              <a:rPr lang="zh-CN" altLang="zh-CN" sz="2000" dirty="0">
                <a:solidFill>
                  <a:srgbClr val="FF0000"/>
                </a:solidFill>
                <a:effectLst/>
              </a:rPr>
              <a:t>导致各函数间相互干扰</a:t>
            </a:r>
            <a:r>
              <a:rPr lang="zh-CN" altLang="zh-CN" sz="2000" dirty="0">
                <a:effectLst/>
              </a:rPr>
              <a:t>。</a:t>
            </a:r>
          </a:p>
          <a:p>
            <a:pPr marL="271463" lvl="1" indent="0">
              <a:buNone/>
            </a:pPr>
            <a:r>
              <a:rPr lang="zh-CN" altLang="zh-CN" sz="2000" dirty="0">
                <a:effectLst/>
              </a:rPr>
              <a:t>（</a:t>
            </a:r>
            <a:r>
              <a:rPr lang="en-US" altLang="zh-CN" sz="2000" dirty="0">
                <a:effectLst/>
              </a:rPr>
              <a:t>2</a:t>
            </a:r>
            <a:r>
              <a:rPr lang="zh-CN" altLang="zh-CN" sz="2000" dirty="0">
                <a:effectLst/>
              </a:rPr>
              <a:t>）定义在函数体内的局部变量会随着函数被调用而获得内存单元，函数调用结束后自动释放所占的内存单元，而全局变量在程序执行过程中一直占用内存单元，所以定义的</a:t>
            </a:r>
            <a:r>
              <a:rPr lang="zh-CN" altLang="zh-CN" sz="2000" dirty="0">
                <a:solidFill>
                  <a:srgbClr val="FF0000"/>
                </a:solidFill>
                <a:effectLst/>
              </a:rPr>
              <a:t>全局变量越多，内存消耗越大</a:t>
            </a:r>
            <a:r>
              <a:rPr lang="zh-CN" altLang="zh-CN" sz="2000" dirty="0">
                <a:effectLst/>
              </a:rPr>
              <a:t>。</a:t>
            </a:r>
          </a:p>
          <a:p>
            <a:pPr marL="271463" lvl="1" indent="0">
              <a:buNone/>
            </a:pPr>
            <a:r>
              <a:rPr lang="zh-CN" altLang="zh-CN" sz="2000" dirty="0">
                <a:effectLst/>
              </a:rPr>
              <a:t>（</a:t>
            </a:r>
            <a:r>
              <a:rPr lang="en-US" altLang="zh-CN" sz="2000" dirty="0">
                <a:effectLst/>
              </a:rPr>
              <a:t>3</a:t>
            </a:r>
            <a:r>
              <a:rPr lang="zh-CN" altLang="zh-CN" sz="2000" dirty="0">
                <a:effectLst/>
              </a:rPr>
              <a:t>）全局变量降低了函数的通用性、可靠性和可移植性，所以在一般情况下，</a:t>
            </a:r>
            <a:r>
              <a:rPr lang="zh-CN" altLang="zh-CN" sz="2000" dirty="0">
                <a:solidFill>
                  <a:srgbClr val="FF0000"/>
                </a:solidFill>
                <a:effectLst/>
              </a:rPr>
              <a:t>应慎用全局变量，尽可能使用局部变量和函数参数</a:t>
            </a:r>
            <a:r>
              <a:rPr lang="zh-CN" altLang="zh-CN" sz="2000" dirty="0">
                <a:effectLst/>
              </a:rPr>
              <a:t>。</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70</a:t>
            </a:fld>
            <a:endParaRPr lang="en-US" altLang="zh-CN" dirty="0"/>
          </a:p>
        </p:txBody>
      </p:sp>
    </p:spTree>
    <p:extLst>
      <p:ext uri="{BB962C8B-B14F-4D97-AF65-F5344CB8AC3E}">
        <p14:creationId xmlns:p14="http://schemas.microsoft.com/office/powerpoint/2010/main" val="1539974236"/>
      </p:ext>
    </p:extLst>
  </p:cSld>
  <p:clrMapOvr>
    <a:masterClrMapping/>
  </p:clrMapOvr>
  <p:transition spd="med">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zh-CN" dirty="0">
                <a:effectLst/>
              </a:rPr>
              <a:t>变量的存储</a:t>
            </a:r>
            <a:r>
              <a:rPr lang="zh-CN" altLang="zh-CN" dirty="0" smtClean="0">
                <a:effectLst/>
              </a:rPr>
              <a:t>方式</a:t>
            </a:r>
            <a:endParaRPr lang="zh-CN" altLang="en-US" dirty="0"/>
          </a:p>
        </p:txBody>
      </p:sp>
      <p:sp>
        <p:nvSpPr>
          <p:cNvPr id="3" name="内容占位符 2"/>
          <p:cNvSpPr>
            <a:spLocks noGrp="1"/>
          </p:cNvSpPr>
          <p:nvPr>
            <p:ph idx="1"/>
          </p:nvPr>
        </p:nvSpPr>
        <p:spPr/>
        <p:txBody>
          <a:bodyPr/>
          <a:lstStyle/>
          <a:p>
            <a:pPr marL="271463" lvl="1" indent="457200">
              <a:buNone/>
            </a:pPr>
            <a:r>
              <a:rPr lang="zh-CN" altLang="zh-CN" dirty="0">
                <a:effectLst/>
              </a:rPr>
              <a:t>从</a:t>
            </a:r>
            <a:r>
              <a:rPr lang="zh-CN" altLang="zh-CN" dirty="0">
                <a:solidFill>
                  <a:srgbClr val="FF0000"/>
                </a:solidFill>
                <a:effectLst/>
              </a:rPr>
              <a:t>作用域的角度</a:t>
            </a:r>
            <a:r>
              <a:rPr lang="zh-CN" altLang="zh-CN" dirty="0">
                <a:effectLst/>
              </a:rPr>
              <a:t>来分，变量可以分为</a:t>
            </a:r>
            <a:r>
              <a:rPr lang="zh-CN" altLang="zh-CN" dirty="0">
                <a:solidFill>
                  <a:srgbClr val="FF0000"/>
                </a:solidFill>
                <a:effectLst/>
              </a:rPr>
              <a:t>全局变量</a:t>
            </a:r>
            <a:r>
              <a:rPr lang="zh-CN" altLang="zh-CN" dirty="0">
                <a:effectLst/>
              </a:rPr>
              <a:t>和</a:t>
            </a:r>
            <a:r>
              <a:rPr lang="zh-CN" altLang="zh-CN" dirty="0">
                <a:solidFill>
                  <a:srgbClr val="FF0000"/>
                </a:solidFill>
                <a:effectLst/>
              </a:rPr>
              <a:t>局部变量</a:t>
            </a:r>
            <a:r>
              <a:rPr lang="zh-CN" altLang="zh-CN" dirty="0" smtClean="0">
                <a:effectLst/>
              </a:rPr>
              <a:t>。</a:t>
            </a:r>
            <a:endParaRPr lang="en-US" altLang="zh-CN" dirty="0" smtClean="0">
              <a:effectLst/>
            </a:endParaRPr>
          </a:p>
          <a:p>
            <a:pPr marL="271463" lvl="1" indent="457200">
              <a:buNone/>
            </a:pPr>
            <a:r>
              <a:rPr lang="zh-CN" altLang="zh-CN" dirty="0">
                <a:effectLst/>
              </a:rPr>
              <a:t>从</a:t>
            </a:r>
            <a:r>
              <a:rPr lang="zh-CN" altLang="zh-CN" dirty="0">
                <a:solidFill>
                  <a:srgbClr val="FF0000"/>
                </a:solidFill>
                <a:effectLst/>
              </a:rPr>
              <a:t>变量存在时间</a:t>
            </a:r>
            <a:r>
              <a:rPr lang="zh-CN" altLang="zh-CN" dirty="0">
                <a:effectLst/>
              </a:rPr>
              <a:t>的角度来分，变量又可以分为</a:t>
            </a:r>
            <a:r>
              <a:rPr lang="zh-CN" altLang="zh-CN" dirty="0">
                <a:solidFill>
                  <a:srgbClr val="FF0000"/>
                </a:solidFill>
                <a:effectLst/>
              </a:rPr>
              <a:t>静态存储方式</a:t>
            </a:r>
            <a:r>
              <a:rPr lang="zh-CN" altLang="zh-CN" dirty="0">
                <a:effectLst/>
              </a:rPr>
              <a:t>和</a:t>
            </a:r>
            <a:r>
              <a:rPr lang="zh-CN" altLang="zh-CN" dirty="0">
                <a:solidFill>
                  <a:srgbClr val="FF0000"/>
                </a:solidFill>
                <a:effectLst/>
              </a:rPr>
              <a:t>动态方式</a:t>
            </a:r>
            <a:r>
              <a:rPr lang="zh-CN" altLang="zh-CN" dirty="0" smtClean="0">
                <a:effectLst/>
              </a:rPr>
              <a:t>。</a:t>
            </a:r>
            <a:endParaRPr lang="en-US" altLang="zh-CN" dirty="0" smtClean="0">
              <a:effectLst/>
            </a:endParaRPr>
          </a:p>
          <a:p>
            <a:pPr lvl="1"/>
            <a:r>
              <a:rPr lang="zh-CN" altLang="zh-CN" dirty="0" smtClean="0">
                <a:effectLst/>
              </a:rPr>
              <a:t>静态</a:t>
            </a:r>
            <a:r>
              <a:rPr lang="zh-CN" altLang="zh-CN" dirty="0">
                <a:effectLst/>
              </a:rPr>
              <a:t>方式是指在程序运行期间</a:t>
            </a:r>
            <a:r>
              <a:rPr lang="zh-CN" altLang="zh-CN" dirty="0">
                <a:solidFill>
                  <a:srgbClr val="FF0000"/>
                </a:solidFill>
                <a:effectLst/>
              </a:rPr>
              <a:t>分配固定</a:t>
            </a:r>
            <a:r>
              <a:rPr lang="zh-CN" altLang="zh-CN" dirty="0">
                <a:effectLst/>
              </a:rPr>
              <a:t>的存储空间的</a:t>
            </a:r>
            <a:r>
              <a:rPr lang="zh-CN" altLang="zh-CN" dirty="0" smtClean="0">
                <a:effectLst/>
              </a:rPr>
              <a:t>方式</a:t>
            </a:r>
            <a:endParaRPr lang="en-US" altLang="zh-CN" dirty="0">
              <a:effectLst/>
            </a:endParaRPr>
          </a:p>
          <a:p>
            <a:pPr lvl="1"/>
            <a:r>
              <a:rPr lang="zh-CN" altLang="zh-CN" dirty="0" smtClean="0">
                <a:effectLst/>
              </a:rPr>
              <a:t>动态</a:t>
            </a:r>
            <a:r>
              <a:rPr lang="zh-CN" altLang="zh-CN" dirty="0">
                <a:effectLst/>
              </a:rPr>
              <a:t>方式是指在程序运行期间根据需要</a:t>
            </a:r>
            <a:r>
              <a:rPr lang="zh-CN" altLang="zh-CN" dirty="0">
                <a:solidFill>
                  <a:srgbClr val="FF0000"/>
                </a:solidFill>
                <a:effectLst/>
              </a:rPr>
              <a:t>动态分配</a:t>
            </a:r>
            <a:r>
              <a:rPr lang="zh-CN" altLang="zh-CN" dirty="0">
                <a:effectLst/>
              </a:rPr>
              <a:t>存储空间的</a:t>
            </a:r>
            <a:r>
              <a:rPr lang="zh-CN" altLang="zh-CN" dirty="0" smtClean="0">
                <a:effectLst/>
              </a:rPr>
              <a:t>方式</a:t>
            </a:r>
            <a:endParaRPr lang="zh-CN" altLang="zh-CN" dirty="0">
              <a:effectLst/>
            </a:endParaRPr>
          </a:p>
          <a:p>
            <a:pPr marL="271463" lvl="1" indent="45720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71</a:t>
            </a:fld>
            <a:endParaRPr lang="en-US" altLang="zh-CN" dirty="0"/>
          </a:p>
        </p:txBody>
      </p:sp>
    </p:spTree>
    <p:extLst>
      <p:ext uri="{BB962C8B-B14F-4D97-AF65-F5344CB8AC3E}">
        <p14:creationId xmlns:p14="http://schemas.microsoft.com/office/powerpoint/2010/main" val="777366767"/>
      </p:ext>
    </p:extLst>
  </p:cSld>
  <p:clrMapOvr>
    <a:masterClrMapping/>
  </p:clrMapOvr>
  <p:transition spd="med">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变量的存储方式</a:t>
            </a:r>
            <a:endParaRPr lang="zh-CN" altLang="en-US" dirty="0"/>
          </a:p>
        </p:txBody>
      </p:sp>
      <p:sp>
        <p:nvSpPr>
          <p:cNvPr id="3" name="内容占位符 2"/>
          <p:cNvSpPr>
            <a:spLocks noGrp="1"/>
          </p:cNvSpPr>
          <p:nvPr>
            <p:ph idx="1"/>
          </p:nvPr>
        </p:nvSpPr>
        <p:spPr/>
        <p:txBody>
          <a:bodyPr/>
          <a:lstStyle/>
          <a:p>
            <a:pPr marL="92075" lvl="2" indent="-92075">
              <a:buClr>
                <a:srgbClr val="A50021"/>
              </a:buClr>
              <a:buFont typeface="Webdings" pitchFamily="18" charset="2"/>
              <a:buChar char="·"/>
            </a:pPr>
            <a:r>
              <a:rPr lang="zh-CN" altLang="zh-CN" sz="2400" dirty="0">
                <a:effectLst/>
              </a:rPr>
              <a:t>变量存储的内存</a:t>
            </a:r>
            <a:r>
              <a:rPr lang="zh-CN" altLang="zh-CN" sz="2400" dirty="0" smtClean="0">
                <a:effectLst/>
              </a:rPr>
              <a:t>分布</a:t>
            </a:r>
            <a:endParaRPr lang="en-US" altLang="zh-CN" sz="2400" dirty="0" smtClean="0">
              <a:effectLst/>
            </a:endParaRPr>
          </a:p>
          <a:p>
            <a:pPr marL="365125" lvl="4" indent="0">
              <a:buClr>
                <a:srgbClr val="A50021"/>
              </a:buClr>
              <a:buNone/>
            </a:pPr>
            <a:r>
              <a:rPr lang="zh-CN" altLang="zh-CN" sz="2000" dirty="0">
                <a:effectLst/>
              </a:rPr>
              <a:t>内存中供用户使用的存储空间通常分为三个部分：程序区、静态存储区和动态存储区</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72</a:t>
            </a:fld>
            <a:endParaRPr lang="en-US" altLang="zh-C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996952"/>
            <a:ext cx="7126462" cy="3529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5652120" y="4942329"/>
            <a:ext cx="1872208" cy="430887"/>
          </a:xfrm>
          <a:prstGeom prst="rect">
            <a:avLst/>
          </a:prstGeom>
          <a:solidFill>
            <a:schemeClr val="accent3"/>
          </a:solidFill>
          <a:ln>
            <a:noFill/>
          </a:ln>
        </p:spPr>
        <p:txBody>
          <a:bodyPr wrap="square" rtlCol="0">
            <a:spAutoFit/>
          </a:bodyPr>
          <a:lstStyle/>
          <a:p>
            <a:r>
              <a:rPr lang="zh-CN" altLang="en-US" sz="2200" b="1" dirty="0" smtClean="0">
                <a:solidFill>
                  <a:srgbClr val="000000"/>
                </a:solidFill>
              </a:rPr>
              <a:t>动态局部变量</a:t>
            </a:r>
            <a:endParaRPr lang="zh-CN" altLang="en-US" sz="2200" b="1" dirty="0">
              <a:solidFill>
                <a:srgbClr val="000000"/>
              </a:solidFill>
            </a:endParaRPr>
          </a:p>
        </p:txBody>
      </p:sp>
    </p:spTree>
    <p:extLst>
      <p:ext uri="{BB962C8B-B14F-4D97-AF65-F5344CB8AC3E}">
        <p14:creationId xmlns:p14="http://schemas.microsoft.com/office/powerpoint/2010/main" val="1418185997"/>
      </p:ext>
    </p:extLst>
  </p:cSld>
  <p:clrMapOvr>
    <a:masterClrMapping/>
  </p:clrMapOvr>
  <p:transition spd="med">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变量的存储方式</a:t>
            </a:r>
            <a:endParaRPr lang="zh-CN" altLang="en-US" dirty="0"/>
          </a:p>
        </p:txBody>
      </p:sp>
      <p:sp>
        <p:nvSpPr>
          <p:cNvPr id="3" name="内容占位符 2"/>
          <p:cNvSpPr>
            <a:spLocks noGrp="1"/>
          </p:cNvSpPr>
          <p:nvPr>
            <p:ph idx="1"/>
          </p:nvPr>
        </p:nvSpPr>
        <p:spPr/>
        <p:txBody>
          <a:bodyPr/>
          <a:lstStyle/>
          <a:p>
            <a:r>
              <a:rPr lang="zh-CN" altLang="zh-CN" dirty="0">
                <a:effectLst/>
              </a:rPr>
              <a:t>变量存储</a:t>
            </a:r>
            <a:r>
              <a:rPr lang="zh-CN" altLang="zh-CN" dirty="0" smtClean="0">
                <a:effectLst/>
              </a:rPr>
              <a:t>类别</a:t>
            </a:r>
            <a:endParaRPr lang="en-US" altLang="zh-CN" dirty="0" smtClean="0">
              <a:effectLst/>
            </a:endParaRPr>
          </a:p>
          <a:p>
            <a:pPr lvl="1"/>
            <a:r>
              <a:rPr lang="en-US" altLang="zh-CN" dirty="0">
                <a:solidFill>
                  <a:srgbClr val="FF0000"/>
                </a:solidFill>
                <a:effectLst/>
              </a:rPr>
              <a:t>auto</a:t>
            </a:r>
            <a:r>
              <a:rPr lang="zh-CN" altLang="zh-CN" dirty="0" smtClean="0">
                <a:solidFill>
                  <a:srgbClr val="FF0000"/>
                </a:solidFill>
                <a:effectLst/>
              </a:rPr>
              <a:t>变量</a:t>
            </a:r>
            <a:r>
              <a:rPr lang="en-US" altLang="zh-CN" dirty="0" smtClean="0">
                <a:effectLst/>
              </a:rPr>
              <a:t>:</a:t>
            </a:r>
          </a:p>
          <a:p>
            <a:pPr marL="271463" lvl="1" indent="457200">
              <a:buNone/>
            </a:pPr>
            <a:r>
              <a:rPr lang="zh-CN" altLang="zh-CN" dirty="0">
                <a:effectLst/>
              </a:rPr>
              <a:t>在函数内部定义的变量，包括函数的形式参数，都属于</a:t>
            </a:r>
            <a:r>
              <a:rPr lang="en-US" altLang="zh-CN" dirty="0">
                <a:effectLst/>
              </a:rPr>
              <a:t>auto</a:t>
            </a:r>
            <a:r>
              <a:rPr lang="zh-CN" altLang="zh-CN" dirty="0">
                <a:effectLst/>
              </a:rPr>
              <a:t>变量，都是动态分配存储空间，数据存储在动态存储区中。此类变量在调用所在函数时系统会给它们分配存储空间，在函数调用结束时自动释放这些存储空间。这类变量称作为自动变量，定义时可用关键字</a:t>
            </a:r>
            <a:r>
              <a:rPr lang="en-US" altLang="zh-CN" dirty="0">
                <a:effectLst/>
              </a:rPr>
              <a:t>auto</a:t>
            </a:r>
            <a:r>
              <a:rPr lang="zh-CN" altLang="zh-CN" dirty="0">
                <a:effectLst/>
              </a:rPr>
              <a:t>说明 ，关键字</a:t>
            </a:r>
            <a:r>
              <a:rPr lang="en-US" altLang="zh-CN" dirty="0">
                <a:effectLst/>
              </a:rPr>
              <a:t>auto</a:t>
            </a:r>
            <a:r>
              <a:rPr lang="zh-CN" altLang="zh-CN" dirty="0">
                <a:effectLst/>
              </a:rPr>
              <a:t>可以省略。</a:t>
            </a: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73</a:t>
            </a:fld>
            <a:endParaRPr lang="en-US" altLang="zh-CN" dirty="0"/>
          </a:p>
        </p:txBody>
      </p:sp>
    </p:spTree>
    <p:extLst>
      <p:ext uri="{BB962C8B-B14F-4D97-AF65-F5344CB8AC3E}">
        <p14:creationId xmlns:p14="http://schemas.microsoft.com/office/powerpoint/2010/main" val="1755142628"/>
      </p:ext>
    </p:extLst>
  </p:cSld>
  <p:clrMapOvr>
    <a:masterClrMapping/>
  </p:clrMapOvr>
  <p:transition spd="med">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变量的存储方式</a:t>
            </a:r>
            <a:endParaRPr lang="zh-CN" altLang="en-US" dirty="0"/>
          </a:p>
        </p:txBody>
      </p:sp>
      <p:sp>
        <p:nvSpPr>
          <p:cNvPr id="3" name="内容占位符 2"/>
          <p:cNvSpPr>
            <a:spLocks noGrp="1"/>
          </p:cNvSpPr>
          <p:nvPr>
            <p:ph idx="1"/>
          </p:nvPr>
        </p:nvSpPr>
        <p:spPr/>
        <p:txBody>
          <a:bodyPr/>
          <a:lstStyle/>
          <a:p>
            <a:pPr lvl="1"/>
            <a:r>
              <a:rPr lang="en-US" altLang="zh-CN" dirty="0">
                <a:solidFill>
                  <a:srgbClr val="FF0000"/>
                </a:solidFill>
                <a:effectLst/>
              </a:rPr>
              <a:t>static</a:t>
            </a:r>
            <a:r>
              <a:rPr lang="zh-CN" altLang="zh-CN" dirty="0" smtClean="0">
                <a:solidFill>
                  <a:srgbClr val="FF0000"/>
                </a:solidFill>
                <a:effectLst/>
              </a:rPr>
              <a:t>变量</a:t>
            </a:r>
            <a:r>
              <a:rPr lang="en-US" altLang="zh-CN" dirty="0" smtClean="0">
                <a:effectLst/>
              </a:rPr>
              <a:t>:</a:t>
            </a:r>
          </a:p>
          <a:p>
            <a:pPr marL="271463" lvl="1" indent="457200">
              <a:buNone/>
            </a:pPr>
            <a:r>
              <a:rPr lang="zh-CN" altLang="zh-CN" dirty="0">
                <a:effectLst/>
              </a:rPr>
              <a:t>在静态存储区，除了全局变量外，还有一种特殊的局部变量——</a:t>
            </a:r>
            <a:r>
              <a:rPr lang="zh-CN" altLang="zh-CN" dirty="0">
                <a:solidFill>
                  <a:srgbClr val="FF0000"/>
                </a:solidFill>
                <a:effectLst/>
              </a:rPr>
              <a:t>静态局部变量</a:t>
            </a:r>
            <a:r>
              <a:rPr lang="zh-CN" altLang="zh-CN" dirty="0">
                <a:effectLst/>
              </a:rPr>
              <a:t>。此变量存放在静态存储区，其所占的存储空间不像自动变量一样会随着函数调用结束而被系统收回。其生命周期而是会持续到程序运行结束，如果该函数再次被调用，则静态局部变量将使用上次调用结束时的值</a:t>
            </a:r>
            <a:r>
              <a:rPr lang="zh-CN" altLang="zh-CN" dirty="0" smtClean="0">
                <a:effectLst/>
              </a:rPr>
              <a:t>。</a:t>
            </a:r>
            <a:endParaRPr lang="en-US" altLang="zh-CN" dirty="0" smtClean="0">
              <a:effectLst/>
            </a:endParaRPr>
          </a:p>
          <a:p>
            <a:pPr marL="271463" lvl="1" indent="0">
              <a:buNone/>
            </a:pPr>
            <a:r>
              <a:rPr lang="zh-CN" altLang="zh-CN" dirty="0">
                <a:effectLst/>
              </a:rPr>
              <a:t>定义格式如下：</a:t>
            </a:r>
          </a:p>
          <a:p>
            <a:pPr marL="271463" lvl="1" indent="0">
              <a:buNone/>
            </a:pPr>
            <a:r>
              <a:rPr lang="en-US" altLang="zh-CN" dirty="0">
                <a:solidFill>
                  <a:srgbClr val="FF0000"/>
                </a:solidFill>
                <a:effectLst/>
              </a:rPr>
              <a:t>static </a:t>
            </a:r>
            <a:r>
              <a:rPr lang="zh-CN" altLang="zh-CN" dirty="0">
                <a:effectLst/>
              </a:rPr>
              <a:t>类型名</a:t>
            </a:r>
            <a:r>
              <a:rPr lang="en-US" altLang="zh-CN" dirty="0">
                <a:effectLst/>
              </a:rPr>
              <a:t>  </a:t>
            </a:r>
            <a:r>
              <a:rPr lang="zh-CN" altLang="zh-CN" dirty="0">
                <a:effectLst/>
              </a:rPr>
              <a:t>变量名</a:t>
            </a:r>
          </a:p>
          <a:p>
            <a:pPr marL="271463" lvl="1" indent="457200">
              <a:buNone/>
            </a:pPr>
            <a:endParaRPr lang="en-US" altLang="zh-CN" dirty="0" smtClean="0">
              <a:effectLst/>
            </a:endParaRPr>
          </a:p>
          <a:p>
            <a:pPr lvl="1"/>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74</a:t>
            </a:fld>
            <a:endParaRPr lang="en-US" altLang="zh-CN" dirty="0"/>
          </a:p>
        </p:txBody>
      </p:sp>
    </p:spTree>
    <p:extLst>
      <p:ext uri="{BB962C8B-B14F-4D97-AF65-F5344CB8AC3E}">
        <p14:creationId xmlns:p14="http://schemas.microsoft.com/office/powerpoint/2010/main" val="3428626449"/>
      </p:ext>
    </p:extLst>
  </p:cSld>
  <p:clrMapOvr>
    <a:masterClrMapping/>
  </p:clrMapOvr>
  <p:transition spd="med">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变量的存储方式</a:t>
            </a:r>
            <a:endParaRPr lang="zh-CN" altLang="en-US" dirty="0"/>
          </a:p>
        </p:txBody>
      </p:sp>
      <p:sp>
        <p:nvSpPr>
          <p:cNvPr id="5" name="内容占位符 4"/>
          <p:cNvSpPr>
            <a:spLocks noGrp="1"/>
          </p:cNvSpPr>
          <p:nvPr>
            <p:ph sz="half" idx="1"/>
          </p:nvPr>
        </p:nvSpPr>
        <p:spPr>
          <a:xfrm>
            <a:off x="755650" y="1700213"/>
            <a:ext cx="4176390" cy="5157787"/>
          </a:xfrm>
        </p:spPr>
        <p:txBody>
          <a:bodyPr/>
          <a:lstStyle/>
          <a:p>
            <a:pPr marL="271463" lvl="1" indent="0">
              <a:buNone/>
            </a:pPr>
            <a:r>
              <a:rPr lang="zh-CN" altLang="zh-CN" sz="2000" dirty="0">
                <a:effectLst/>
              </a:rPr>
              <a:t>【例</a:t>
            </a:r>
            <a:r>
              <a:rPr lang="en-US" altLang="zh-CN" sz="2000" dirty="0">
                <a:effectLst/>
              </a:rPr>
              <a:t>5-20</a:t>
            </a:r>
            <a:r>
              <a:rPr lang="zh-CN" altLang="zh-CN" sz="2000" dirty="0">
                <a:effectLst/>
              </a:rPr>
              <a:t>】输入一个正整数</a:t>
            </a:r>
            <a:r>
              <a:rPr lang="en-US" altLang="zh-CN" sz="2000" dirty="0">
                <a:effectLst/>
              </a:rPr>
              <a:t>n</a:t>
            </a:r>
            <a:r>
              <a:rPr lang="zh-CN" altLang="zh-CN" sz="2000" dirty="0">
                <a:effectLst/>
              </a:rPr>
              <a:t>，求</a:t>
            </a:r>
            <a:r>
              <a:rPr lang="en-US" altLang="zh-CN" sz="2000" dirty="0">
                <a:effectLst/>
              </a:rPr>
              <a:t>1!~n!</a:t>
            </a:r>
            <a:r>
              <a:rPr lang="zh-CN" altLang="zh-CN" sz="2000" dirty="0">
                <a:effectLst/>
              </a:rPr>
              <a:t>的值。要求定义并调用含有静态变量的函数</a:t>
            </a:r>
            <a:r>
              <a:rPr lang="en-US" altLang="zh-CN" sz="2000" dirty="0">
                <a:effectLst/>
              </a:rPr>
              <a:t>fact(n)</a:t>
            </a:r>
            <a:r>
              <a:rPr lang="zh-CN" altLang="zh-CN" sz="2000" dirty="0">
                <a:effectLst/>
              </a:rPr>
              <a:t>计算</a:t>
            </a:r>
            <a:r>
              <a:rPr lang="en-US" altLang="zh-CN" sz="2000" dirty="0">
                <a:effectLst/>
              </a:rPr>
              <a:t>n!</a:t>
            </a:r>
            <a:r>
              <a:rPr lang="zh-CN" altLang="zh-CN" sz="2000" dirty="0">
                <a:effectLst/>
              </a:rPr>
              <a:t>。</a:t>
            </a:r>
          </a:p>
          <a:p>
            <a:pPr marL="271463" lvl="1" indent="0">
              <a:buNone/>
            </a:pPr>
            <a:r>
              <a:rPr lang="en-US" altLang="zh-CN" sz="1800" dirty="0">
                <a:effectLst/>
              </a:rPr>
              <a:t>#include &lt;stdio.h&gt;</a:t>
            </a:r>
            <a:endParaRPr lang="zh-CN" altLang="zh-CN" sz="1800" dirty="0">
              <a:effectLst/>
            </a:endParaRPr>
          </a:p>
          <a:p>
            <a:pPr marL="271463" lvl="1" indent="0">
              <a:buNone/>
            </a:pPr>
            <a:r>
              <a:rPr lang="en-US" altLang="zh-CN" sz="1800" dirty="0">
                <a:effectLst/>
              </a:rPr>
              <a:t>long fact(int n);</a:t>
            </a:r>
            <a:endParaRPr lang="zh-CN" altLang="zh-CN" sz="1800" dirty="0">
              <a:effectLst/>
            </a:endParaRPr>
          </a:p>
          <a:p>
            <a:pPr marL="271463" lvl="1" indent="0">
              <a:buNone/>
            </a:pPr>
            <a:r>
              <a:rPr lang="en-US" altLang="zh-CN" sz="1800" dirty="0">
                <a:effectLst/>
              </a:rPr>
              <a:t>int main()</a:t>
            </a:r>
            <a:endParaRPr lang="zh-CN" altLang="zh-CN" sz="1800" dirty="0">
              <a:effectLst/>
            </a:endParaRPr>
          </a:p>
          <a:p>
            <a:pPr marL="271463" lvl="1" indent="0">
              <a:buNone/>
            </a:pPr>
            <a:r>
              <a:rPr lang="en-US" altLang="zh-CN" sz="1800" dirty="0" smtClean="0">
                <a:effectLst/>
              </a:rPr>
              <a:t>{    </a:t>
            </a:r>
            <a:r>
              <a:rPr lang="en-US" altLang="zh-CN" sz="1800" dirty="0">
                <a:effectLst/>
              </a:rPr>
              <a:t>int i,n;</a:t>
            </a:r>
            <a:endParaRPr lang="zh-CN" altLang="zh-CN" sz="1800" dirty="0">
              <a:effectLst/>
            </a:endParaRPr>
          </a:p>
          <a:p>
            <a:pPr marL="271463" lvl="1" indent="0">
              <a:buNone/>
            </a:pPr>
            <a:r>
              <a:rPr lang="en-US" altLang="zh-CN" sz="1800" dirty="0">
                <a:effectLst/>
              </a:rPr>
              <a:t>    printf("Enter n:");</a:t>
            </a:r>
            <a:endParaRPr lang="zh-CN" altLang="zh-CN" sz="1800" dirty="0">
              <a:effectLst/>
            </a:endParaRPr>
          </a:p>
          <a:p>
            <a:pPr marL="271463" lvl="1" indent="0">
              <a:buNone/>
            </a:pPr>
            <a:r>
              <a:rPr lang="en-US" altLang="zh-CN" sz="1800" dirty="0">
                <a:effectLst/>
              </a:rPr>
              <a:t>    scanf("%d",&amp;n);</a:t>
            </a:r>
            <a:endParaRPr lang="zh-CN" altLang="zh-CN" sz="1800" dirty="0">
              <a:effectLst/>
            </a:endParaRPr>
          </a:p>
          <a:p>
            <a:pPr marL="271463" lvl="1" indent="0">
              <a:buNone/>
            </a:pPr>
            <a:r>
              <a:rPr lang="en-US" altLang="zh-CN" sz="1800" dirty="0">
                <a:effectLst/>
              </a:rPr>
              <a:t>    for(i=1;i&lt;=n;i++)</a:t>
            </a:r>
            <a:endParaRPr lang="zh-CN" altLang="zh-CN" sz="1800" dirty="0">
              <a:effectLst/>
            </a:endParaRPr>
          </a:p>
          <a:p>
            <a:pPr marL="271463" lvl="1" indent="0">
              <a:buNone/>
            </a:pPr>
            <a:r>
              <a:rPr lang="en-US" altLang="zh-CN" sz="1800" dirty="0">
                <a:effectLst/>
              </a:rPr>
              <a:t>     </a:t>
            </a:r>
            <a:r>
              <a:rPr lang="en-US" altLang="zh-CN" sz="1800" dirty="0" smtClean="0">
                <a:effectLst/>
              </a:rPr>
              <a:t>printf</a:t>
            </a:r>
            <a:r>
              <a:rPr lang="en-US" altLang="zh-CN" sz="1800" dirty="0">
                <a:effectLst/>
              </a:rPr>
              <a:t>("%3d!=%4ld\n",i,fact(i));</a:t>
            </a:r>
            <a:endParaRPr lang="zh-CN" altLang="zh-CN" sz="1800" dirty="0">
              <a:effectLst/>
            </a:endParaRPr>
          </a:p>
          <a:p>
            <a:pPr marL="271463" lvl="1" indent="0">
              <a:buNone/>
            </a:pPr>
            <a:r>
              <a:rPr lang="en-US" altLang="zh-CN" sz="1800" dirty="0">
                <a:effectLst/>
              </a:rPr>
              <a:t>    return 0;</a:t>
            </a:r>
            <a:endParaRPr lang="zh-CN" altLang="zh-CN" sz="1800" dirty="0">
              <a:effectLst/>
            </a:endParaRPr>
          </a:p>
          <a:p>
            <a:pPr marL="271463" lvl="1" indent="0">
              <a:buNone/>
            </a:pPr>
            <a:r>
              <a:rPr lang="en-US" altLang="zh-CN" sz="1800" dirty="0">
                <a:effectLst/>
              </a:rPr>
              <a:t>}</a:t>
            </a:r>
            <a:endParaRPr lang="zh-CN" altLang="zh-CN" sz="1800" dirty="0">
              <a:effectLst/>
            </a:endParaRPr>
          </a:p>
          <a:p>
            <a:endParaRPr lang="zh-CN" altLang="en-US" dirty="0"/>
          </a:p>
        </p:txBody>
      </p:sp>
      <p:sp>
        <p:nvSpPr>
          <p:cNvPr id="6" name="内容占位符 5"/>
          <p:cNvSpPr>
            <a:spLocks noGrp="1"/>
          </p:cNvSpPr>
          <p:nvPr>
            <p:ph sz="half" idx="2"/>
          </p:nvPr>
        </p:nvSpPr>
        <p:spPr>
          <a:xfrm>
            <a:off x="5508104" y="1700213"/>
            <a:ext cx="3240609" cy="4537075"/>
          </a:xfrm>
        </p:spPr>
        <p:txBody>
          <a:bodyPr/>
          <a:lstStyle/>
          <a:p>
            <a:pPr marL="271463" lvl="1" indent="0">
              <a:buNone/>
            </a:pPr>
            <a:r>
              <a:rPr lang="en-US" altLang="zh-CN" sz="1800" dirty="0">
                <a:solidFill>
                  <a:srgbClr val="FF0000"/>
                </a:solidFill>
                <a:effectLst/>
              </a:rPr>
              <a:t>long fact(int n)</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pPr marL="271463" lvl="1" indent="0">
              <a:buNone/>
            </a:pPr>
            <a:r>
              <a:rPr lang="en-US" altLang="zh-CN" sz="1800" dirty="0">
                <a:solidFill>
                  <a:srgbClr val="FF0000"/>
                </a:solidFill>
                <a:effectLst/>
              </a:rPr>
              <a:t>    static long f=1;</a:t>
            </a:r>
            <a:endParaRPr lang="zh-CN" altLang="zh-CN" sz="1800" dirty="0">
              <a:solidFill>
                <a:srgbClr val="FF0000"/>
              </a:solidFill>
              <a:effectLst/>
            </a:endParaRPr>
          </a:p>
          <a:p>
            <a:pPr marL="271463" lvl="1" indent="0">
              <a:buNone/>
            </a:pPr>
            <a:r>
              <a:rPr lang="en-US" altLang="zh-CN" sz="1800" dirty="0">
                <a:solidFill>
                  <a:srgbClr val="FF0000"/>
                </a:solidFill>
                <a:effectLst/>
              </a:rPr>
              <a:t>    f=f*n;</a:t>
            </a:r>
            <a:endParaRPr lang="zh-CN" altLang="zh-CN" sz="1800" dirty="0">
              <a:solidFill>
                <a:srgbClr val="FF0000"/>
              </a:solidFill>
              <a:effectLst/>
            </a:endParaRPr>
          </a:p>
          <a:p>
            <a:pPr marL="271463" lvl="1" indent="0">
              <a:buNone/>
            </a:pPr>
            <a:r>
              <a:rPr lang="en-US" altLang="zh-CN" sz="1800" dirty="0">
                <a:solidFill>
                  <a:srgbClr val="FF0000"/>
                </a:solidFill>
                <a:effectLst/>
              </a:rPr>
              <a:t>    return f;</a:t>
            </a:r>
            <a:endParaRPr lang="zh-CN" altLang="zh-CN" sz="1800" dirty="0">
              <a:solidFill>
                <a:srgbClr val="FF0000"/>
              </a:solidFill>
              <a:effectLst/>
            </a:endParaRPr>
          </a:p>
          <a:p>
            <a:pPr marL="271463" lvl="1" indent="0">
              <a:buNone/>
            </a:pPr>
            <a:r>
              <a:rPr lang="en-US" altLang="zh-CN" sz="1800" dirty="0">
                <a:solidFill>
                  <a:srgbClr val="FF0000"/>
                </a:solidFill>
                <a:effectLst/>
              </a:rPr>
              <a:t>}</a:t>
            </a:r>
            <a:endParaRPr lang="zh-CN" altLang="zh-CN" sz="1800" dirty="0">
              <a:solidFill>
                <a:srgbClr val="FF0000"/>
              </a:solidFill>
              <a:effectLst/>
            </a:endParaRP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75</a:t>
            </a:fld>
            <a:endParaRPr lang="en-US" altLang="zh-C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4293096"/>
            <a:ext cx="1944216" cy="1913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5895812"/>
      </p:ext>
    </p:extLst>
  </p:cSld>
  <p:clrMapOvr>
    <a:masterClrMapping/>
  </p:clrMapOvr>
  <p:transition spd="med">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变量的存储方式</a:t>
            </a:r>
            <a:endParaRPr lang="zh-CN" altLang="en-US" dirty="0"/>
          </a:p>
        </p:txBody>
      </p:sp>
      <p:sp>
        <p:nvSpPr>
          <p:cNvPr id="3" name="内容占位符 2"/>
          <p:cNvSpPr>
            <a:spLocks noGrp="1"/>
          </p:cNvSpPr>
          <p:nvPr>
            <p:ph idx="1"/>
          </p:nvPr>
        </p:nvSpPr>
        <p:spPr>
          <a:xfrm>
            <a:off x="755650" y="1700213"/>
            <a:ext cx="7993063" cy="4969147"/>
          </a:xfrm>
        </p:spPr>
        <p:txBody>
          <a:bodyPr/>
          <a:lstStyle/>
          <a:p>
            <a:pPr marL="271463" lvl="1" indent="0">
              <a:buNone/>
            </a:pPr>
            <a:r>
              <a:rPr lang="zh-CN" altLang="zh-CN" dirty="0">
                <a:effectLst/>
              </a:rPr>
              <a:t>说明：</a:t>
            </a:r>
          </a:p>
          <a:p>
            <a:pPr marL="271463" lvl="1" indent="0">
              <a:buNone/>
            </a:pPr>
            <a:r>
              <a:rPr lang="zh-CN" altLang="zh-CN" dirty="0">
                <a:effectLst/>
              </a:rPr>
              <a:t>（</a:t>
            </a:r>
            <a:r>
              <a:rPr lang="en-US" altLang="zh-CN" dirty="0">
                <a:effectLst/>
              </a:rPr>
              <a:t>1</a:t>
            </a:r>
            <a:r>
              <a:rPr lang="zh-CN" altLang="zh-CN" dirty="0">
                <a:effectLst/>
              </a:rPr>
              <a:t>）静态局部变量</a:t>
            </a:r>
            <a:r>
              <a:rPr lang="zh-CN" altLang="zh-CN" dirty="0" smtClean="0">
                <a:effectLst/>
              </a:rPr>
              <a:t>属于静态</a:t>
            </a:r>
            <a:r>
              <a:rPr lang="zh-CN" altLang="zh-CN" dirty="0">
                <a:effectLst/>
              </a:rPr>
              <a:t>存储类别，在静态存储区内分配存储单元。在整个程序运行期间都不释放。而自动变量属于动态存储类别，占用动态存储空间，函数调用结束后所占空间即被释放。</a:t>
            </a:r>
          </a:p>
          <a:p>
            <a:pPr marL="271463" lvl="1" indent="0">
              <a:buNone/>
            </a:pPr>
            <a:r>
              <a:rPr lang="zh-CN" altLang="zh-CN" dirty="0">
                <a:effectLst/>
              </a:rPr>
              <a:t>（</a:t>
            </a:r>
            <a:r>
              <a:rPr lang="en-US" altLang="zh-CN" dirty="0">
                <a:effectLst/>
              </a:rPr>
              <a:t>2</a:t>
            </a:r>
            <a:r>
              <a:rPr lang="zh-CN" altLang="zh-CN" dirty="0">
                <a:effectLst/>
              </a:rPr>
              <a:t>）在第一次调用函数时，系统给静态局部变量分配存储空间、赋初值，而函数再次被调用时，系统不再给静态局部变量分配存储空间，也不再赋初值，即只赋初值一次，其值就是上次调用结束时的结果。而自动变量则每次被调用时，系统分配存储空间、赋初值，调用结束后，系统会收回所占用的空间，也就是每调用一次，赋初值一次。</a:t>
            </a:r>
          </a:p>
          <a:p>
            <a:pPr marL="271463" lvl="1"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76</a:t>
            </a:fld>
            <a:endParaRPr lang="en-US" altLang="zh-CN" dirty="0"/>
          </a:p>
        </p:txBody>
      </p:sp>
    </p:spTree>
    <p:extLst>
      <p:ext uri="{BB962C8B-B14F-4D97-AF65-F5344CB8AC3E}">
        <p14:creationId xmlns:p14="http://schemas.microsoft.com/office/powerpoint/2010/main" val="2664111408"/>
      </p:ext>
    </p:extLst>
  </p:cSld>
  <p:clrMapOvr>
    <a:masterClrMapping/>
  </p:clrMapOvr>
  <p:transition spd="med">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变量的存储方式</a:t>
            </a:r>
            <a:endParaRPr lang="zh-CN" altLang="en-US" dirty="0"/>
          </a:p>
        </p:txBody>
      </p:sp>
      <p:sp>
        <p:nvSpPr>
          <p:cNvPr id="3" name="内容占位符 2"/>
          <p:cNvSpPr>
            <a:spLocks noGrp="1"/>
          </p:cNvSpPr>
          <p:nvPr>
            <p:ph idx="1"/>
          </p:nvPr>
        </p:nvSpPr>
        <p:spPr/>
        <p:txBody>
          <a:bodyPr/>
          <a:lstStyle/>
          <a:p>
            <a:pPr marL="271463" lvl="1" indent="0">
              <a:buNone/>
            </a:pPr>
            <a:r>
              <a:rPr lang="zh-CN" altLang="zh-CN" dirty="0">
                <a:effectLst/>
              </a:rPr>
              <a:t>（</a:t>
            </a:r>
            <a:r>
              <a:rPr lang="en-US" altLang="zh-CN" dirty="0">
                <a:effectLst/>
              </a:rPr>
              <a:t>3</a:t>
            </a:r>
            <a:r>
              <a:rPr lang="zh-CN" altLang="zh-CN" dirty="0">
                <a:effectLst/>
              </a:rPr>
              <a:t>）如果在定义静态局部变量时没有赋初值，则系统自动赋</a:t>
            </a:r>
            <a:r>
              <a:rPr lang="en-US" altLang="zh-CN" dirty="0">
                <a:effectLst/>
              </a:rPr>
              <a:t>0</a:t>
            </a:r>
            <a:r>
              <a:rPr lang="zh-CN" altLang="zh-CN" dirty="0">
                <a:effectLst/>
              </a:rPr>
              <a:t>（对数值型变量）或空字符串（对字符型变量）。而对自动变量来讲，如果在定义时没有赋初值，则它的值是一个不确定的值。</a:t>
            </a:r>
          </a:p>
          <a:p>
            <a:pPr marL="271463" lvl="1" indent="0">
              <a:buNone/>
            </a:pPr>
            <a:r>
              <a:rPr lang="zh-CN" altLang="zh-CN" dirty="0">
                <a:effectLst/>
              </a:rPr>
              <a:t>（</a:t>
            </a:r>
            <a:r>
              <a:rPr lang="en-US" altLang="zh-CN" dirty="0">
                <a:effectLst/>
              </a:rPr>
              <a:t>4</a:t>
            </a:r>
            <a:r>
              <a:rPr lang="zh-CN" altLang="zh-CN" dirty="0">
                <a:effectLst/>
              </a:rPr>
              <a:t>）虽然静态局部变量在函数调用结束后仍然存在，但其它函数是不能引用它的。这是因为它还是一个局部变量，只能在本函数中引用，不能被其他函数引用。</a:t>
            </a:r>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77</a:t>
            </a:fld>
            <a:endParaRPr lang="en-US" altLang="zh-CN" dirty="0"/>
          </a:p>
        </p:txBody>
      </p:sp>
    </p:spTree>
    <p:extLst>
      <p:ext uri="{BB962C8B-B14F-4D97-AF65-F5344CB8AC3E}">
        <p14:creationId xmlns:p14="http://schemas.microsoft.com/office/powerpoint/2010/main" val="1854273862"/>
      </p:ext>
    </p:extLst>
  </p:cSld>
  <p:clrMapOvr>
    <a:masterClrMapping/>
  </p:clrMapOvr>
  <p:transition spd="med">
    <p:rand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P63 </a:t>
            </a:r>
            <a:r>
              <a:rPr lang="zh-CN" altLang="en-US" dirty="0"/>
              <a:t>例</a:t>
            </a:r>
            <a:r>
              <a:rPr lang="en-US" altLang="zh-CN" dirty="0" smtClean="0"/>
              <a:t>3-13</a:t>
            </a:r>
            <a:endParaRPr lang="zh-CN" altLang="en-US" dirty="0"/>
          </a:p>
        </p:txBody>
      </p:sp>
      <p:sp>
        <p:nvSpPr>
          <p:cNvPr id="3" name="内容占位符 2"/>
          <p:cNvSpPr>
            <a:spLocks noGrp="1"/>
          </p:cNvSpPr>
          <p:nvPr>
            <p:ph idx="1"/>
          </p:nvPr>
        </p:nvSpPr>
        <p:spPr>
          <a:xfrm>
            <a:off x="755576" y="1556792"/>
            <a:ext cx="7993063" cy="5157787"/>
          </a:xfrm>
        </p:spPr>
        <p:txBody>
          <a:bodyPr/>
          <a:lstStyle/>
          <a:p>
            <a:r>
              <a:rPr lang="zh-CN" altLang="en-US" dirty="0" smtClean="0"/>
              <a:t>验证</a:t>
            </a:r>
            <a:r>
              <a:rPr lang="zh-CN" altLang="en-US" dirty="0"/>
              <a:t>哥德巴赫猜想</a:t>
            </a:r>
            <a:r>
              <a:rPr lang="en-US" altLang="zh-CN" dirty="0"/>
              <a:t>:</a:t>
            </a:r>
            <a:r>
              <a:rPr lang="zh-CN" altLang="en-US" dirty="0"/>
              <a:t>任何一个大于</a:t>
            </a:r>
            <a:r>
              <a:rPr lang="en-US" altLang="zh-CN" dirty="0"/>
              <a:t>6</a:t>
            </a:r>
            <a:r>
              <a:rPr lang="zh-CN" altLang="en-US" dirty="0"/>
              <a:t>的偶数均可表示为</a:t>
            </a:r>
            <a:r>
              <a:rPr lang="en-US" altLang="zh-CN" dirty="0"/>
              <a:t>2</a:t>
            </a:r>
            <a:r>
              <a:rPr lang="zh-CN" altLang="en-US" dirty="0"/>
              <a:t>个素数之和</a:t>
            </a:r>
            <a:r>
              <a:rPr lang="en-US" altLang="zh-CN" dirty="0"/>
              <a:t>｡</a:t>
            </a:r>
            <a:r>
              <a:rPr lang="zh-CN" altLang="en-US" dirty="0"/>
              <a:t>例如</a:t>
            </a:r>
            <a:r>
              <a:rPr lang="en-US" altLang="zh-CN" dirty="0"/>
              <a:t>6=3+3,8=3+5,…,18=5+13｡</a:t>
            </a:r>
            <a:r>
              <a:rPr lang="zh-CN" altLang="en-US" dirty="0"/>
              <a:t>将</a:t>
            </a:r>
            <a:r>
              <a:rPr lang="en-US" altLang="zh-CN" dirty="0"/>
              <a:t>6~100</a:t>
            </a:r>
            <a:r>
              <a:rPr lang="zh-CN" altLang="en-US" dirty="0"/>
              <a:t>之间的偶数都表示成</a:t>
            </a:r>
            <a:r>
              <a:rPr lang="en-US" altLang="zh-CN" dirty="0"/>
              <a:t>2</a:t>
            </a:r>
            <a:r>
              <a:rPr lang="zh-CN" altLang="en-US" dirty="0"/>
              <a:t>个素数之和，打印时一行打印</a:t>
            </a:r>
            <a:r>
              <a:rPr lang="en-US" altLang="zh-CN" dirty="0"/>
              <a:t>5</a:t>
            </a:r>
            <a:r>
              <a:rPr lang="zh-CN" altLang="en-US" dirty="0"/>
              <a:t>组</a:t>
            </a:r>
            <a:r>
              <a:rPr lang="en-US" altLang="zh-CN" dirty="0"/>
              <a:t>｡</a:t>
            </a:r>
            <a:r>
              <a:rPr lang="zh-CN" altLang="en-US" dirty="0"/>
              <a:t>素数就是只能被</a:t>
            </a:r>
            <a:r>
              <a:rPr lang="en-US" altLang="zh-CN" dirty="0"/>
              <a:t>1</a:t>
            </a:r>
            <a:r>
              <a:rPr lang="zh-CN" altLang="en-US" dirty="0"/>
              <a:t>和自身整除的正整数，最小的素数是</a:t>
            </a:r>
            <a:r>
              <a:rPr lang="en-US" altLang="zh-CN" dirty="0"/>
              <a:t>2｡</a:t>
            </a:r>
            <a:r>
              <a:rPr lang="zh-CN" altLang="en-US" dirty="0"/>
              <a:t>要求定义并调用函数</a:t>
            </a:r>
            <a:r>
              <a:rPr lang="en-US" altLang="zh-CN" dirty="0"/>
              <a:t>prime(m)</a:t>
            </a:r>
            <a:r>
              <a:rPr lang="zh-CN" altLang="en-US" dirty="0"/>
              <a:t>判断</a:t>
            </a:r>
            <a:r>
              <a:rPr lang="en-US" altLang="zh-CN" dirty="0"/>
              <a:t>m</a:t>
            </a:r>
            <a:r>
              <a:rPr lang="zh-CN" altLang="en-US" dirty="0"/>
              <a:t>是否为素数</a:t>
            </a:r>
            <a:r>
              <a:rPr lang="en-US" altLang="zh-CN" dirty="0"/>
              <a:t>,</a:t>
            </a:r>
            <a:r>
              <a:rPr lang="zh-CN" altLang="en-US" dirty="0"/>
              <a:t>当</a:t>
            </a:r>
            <a:r>
              <a:rPr lang="en-US" altLang="zh-CN" dirty="0"/>
              <a:t>m</a:t>
            </a:r>
            <a:r>
              <a:rPr lang="zh-CN" altLang="en-US" dirty="0"/>
              <a:t>为素数时返回</a:t>
            </a:r>
            <a:r>
              <a:rPr lang="en-US" altLang="zh-CN" dirty="0"/>
              <a:t>1</a:t>
            </a:r>
            <a:r>
              <a:rPr lang="zh-CN" altLang="en-US" dirty="0"/>
              <a:t>，否则返回</a:t>
            </a:r>
            <a:r>
              <a:rPr lang="en-US" altLang="zh-CN" dirty="0"/>
              <a:t>0</a:t>
            </a:r>
            <a:r>
              <a:rPr lang="en-US" altLang="zh-CN" dirty="0" smtClean="0"/>
              <a:t>｡</a:t>
            </a:r>
          </a:p>
          <a:p>
            <a:r>
              <a:rPr lang="zh-CN" altLang="en-US" dirty="0"/>
              <a:t>输出要求</a:t>
            </a:r>
            <a:endParaRPr lang="en-US" altLang="zh-CN" dirty="0"/>
          </a:p>
          <a:p>
            <a:r>
              <a:rPr lang="zh-CN" altLang="en-US" dirty="0"/>
              <a:t>按从小到大、每组五行。</a:t>
            </a:r>
          </a:p>
          <a:p>
            <a:r>
              <a:rPr lang="zh-CN" altLang="en-US" dirty="0"/>
              <a:t>每组的格式为：</a:t>
            </a:r>
            <a:r>
              <a:rPr lang="en-US" altLang="zh-CN" dirty="0"/>
              <a:t>%4d=%2d+%</a:t>
            </a:r>
            <a:r>
              <a:rPr lang="en-US" altLang="zh-CN" dirty="0" smtClean="0"/>
              <a:t>2d</a:t>
            </a: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78</a:t>
            </a:fld>
            <a:endParaRPr lang="en-US" altLang="zh-CN" dirty="0"/>
          </a:p>
        </p:txBody>
      </p:sp>
    </p:spTree>
    <p:extLst>
      <p:ext uri="{BB962C8B-B14F-4D97-AF65-F5344CB8AC3E}">
        <p14:creationId xmlns:p14="http://schemas.microsoft.com/office/powerpoint/2010/main" val="3510986177"/>
      </p:ext>
    </p:extLst>
  </p:cSld>
  <p:clrMapOvr>
    <a:masterClrMapping/>
  </p:clrMapOvr>
  <p:transition spd="med">
    <p:random/>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79</a:t>
            </a:fld>
            <a:endParaRPr lang="en-US" altLang="zh-CN" dirty="0"/>
          </a:p>
        </p:txBody>
      </p:sp>
      <p:sp>
        <p:nvSpPr>
          <p:cNvPr id="5" name="TextBox 4"/>
          <p:cNvSpPr txBox="1"/>
          <p:nvPr/>
        </p:nvSpPr>
        <p:spPr>
          <a:xfrm>
            <a:off x="0" y="31666"/>
            <a:ext cx="5220072" cy="6555641"/>
          </a:xfrm>
          <a:prstGeom prst="rect">
            <a:avLst/>
          </a:prstGeom>
          <a:noFill/>
        </p:spPr>
        <p:txBody>
          <a:bodyPr wrap="square" rtlCol="0">
            <a:spAutoFit/>
          </a:bodyPr>
          <a:lstStyle/>
          <a:p>
            <a:r>
              <a:rPr lang="en-US" altLang="zh-CN" sz="2000" b="1" dirty="0"/>
              <a:t>#</a:t>
            </a:r>
            <a:r>
              <a:rPr lang="en-US" altLang="zh-CN" sz="2000" b="1" dirty="0" smtClean="0"/>
              <a:t>include &lt;</a:t>
            </a:r>
            <a:r>
              <a:rPr lang="en-US" altLang="zh-CN" sz="2000" b="1" dirty="0"/>
              <a:t>stdio.h&gt;</a:t>
            </a:r>
          </a:p>
          <a:p>
            <a:r>
              <a:rPr lang="en-US" altLang="zh-CN" sz="2000" b="1" dirty="0"/>
              <a:t>#</a:t>
            </a:r>
            <a:r>
              <a:rPr lang="en-US" altLang="zh-CN" sz="2000" b="1" dirty="0" smtClean="0"/>
              <a:t>include &lt;</a:t>
            </a:r>
            <a:r>
              <a:rPr lang="en-US" altLang="zh-CN" sz="2000" b="1" dirty="0"/>
              <a:t>math.h&gt;</a:t>
            </a:r>
          </a:p>
          <a:p>
            <a:r>
              <a:rPr lang="en-US" altLang="zh-CN" sz="2000" b="1" dirty="0" err="1"/>
              <a:t>i</a:t>
            </a:r>
            <a:r>
              <a:rPr lang="en-US" altLang="zh-CN" sz="2000" b="1" dirty="0" err="1" smtClean="0"/>
              <a:t>nt</a:t>
            </a:r>
            <a:r>
              <a:rPr lang="en-US" altLang="zh-CN" sz="2000" b="1" dirty="0" smtClean="0"/>
              <a:t> prime(</a:t>
            </a:r>
            <a:r>
              <a:rPr lang="en-US" altLang="zh-CN" sz="2000" b="1" dirty="0" err="1" smtClean="0"/>
              <a:t>int</a:t>
            </a:r>
            <a:r>
              <a:rPr lang="en-US" altLang="zh-CN" sz="2000" b="1" dirty="0" smtClean="0"/>
              <a:t> m);</a:t>
            </a:r>
          </a:p>
          <a:p>
            <a:r>
              <a:rPr lang="en-US" altLang="zh-CN" sz="2000" b="1" dirty="0" err="1" smtClean="0"/>
              <a:t>int</a:t>
            </a:r>
            <a:r>
              <a:rPr lang="en-US" altLang="zh-CN" sz="2000" b="1" dirty="0" smtClean="0"/>
              <a:t> main()</a:t>
            </a:r>
            <a:endParaRPr lang="en-US" altLang="zh-CN" sz="2000" b="1" dirty="0"/>
          </a:p>
          <a:p>
            <a:r>
              <a:rPr lang="en-US" altLang="zh-CN" sz="2000" b="1" dirty="0"/>
              <a:t>{</a:t>
            </a:r>
          </a:p>
          <a:p>
            <a:r>
              <a:rPr lang="en-US" altLang="zh-CN" sz="2000" b="1" dirty="0" smtClean="0"/>
              <a:t>    int </a:t>
            </a:r>
            <a:r>
              <a:rPr lang="en-US" altLang="zh-CN" sz="2000" b="1" dirty="0"/>
              <a:t>i,j,count=0;</a:t>
            </a:r>
          </a:p>
          <a:p>
            <a:r>
              <a:rPr lang="en-US" altLang="zh-CN" sz="2000" b="1" dirty="0" smtClean="0"/>
              <a:t>    for(i=6;i</a:t>
            </a:r>
            <a:r>
              <a:rPr lang="en-US" altLang="zh-CN" sz="2000" b="1" dirty="0"/>
              <a:t>&lt;=100;i+=2)</a:t>
            </a:r>
          </a:p>
          <a:p>
            <a:r>
              <a:rPr lang="en-US" altLang="zh-CN" sz="2000" b="1" dirty="0" smtClean="0"/>
              <a:t>    {</a:t>
            </a:r>
            <a:endParaRPr lang="en-US" altLang="zh-CN" sz="2000" b="1" dirty="0"/>
          </a:p>
          <a:p>
            <a:r>
              <a:rPr lang="en-US" altLang="zh-CN" sz="2000" b="1" dirty="0" smtClean="0"/>
              <a:t>        for(j=2;j&lt;</a:t>
            </a:r>
            <a:r>
              <a:rPr lang="en-US" altLang="zh-CN" sz="2000" b="1" dirty="0" err="1" smtClean="0"/>
              <a:t>i;j</a:t>
            </a:r>
            <a:r>
              <a:rPr lang="en-US" altLang="zh-CN" sz="2000" b="1" dirty="0"/>
              <a:t>++)</a:t>
            </a:r>
          </a:p>
          <a:p>
            <a:r>
              <a:rPr lang="en-US" altLang="zh-CN" sz="2000" b="1" dirty="0" smtClean="0"/>
              <a:t>           if(prime(j</a:t>
            </a:r>
            <a:r>
              <a:rPr lang="en-US" altLang="zh-CN" sz="2000" b="1" dirty="0"/>
              <a:t>)==1&amp;&amp;prime(i-j)==1)</a:t>
            </a:r>
          </a:p>
          <a:p>
            <a:r>
              <a:rPr lang="en-US" altLang="zh-CN" sz="2000" b="1" dirty="0" smtClean="0"/>
              <a:t>          {</a:t>
            </a:r>
            <a:endParaRPr lang="en-US" altLang="zh-CN" sz="2000" b="1" dirty="0"/>
          </a:p>
          <a:p>
            <a:r>
              <a:rPr lang="en-US" altLang="zh-CN" sz="2000" b="1" dirty="0"/>
              <a:t>				printf("%4d=%2d+%2d",i,j,i-j);</a:t>
            </a:r>
          </a:p>
          <a:p>
            <a:r>
              <a:rPr lang="en-US" altLang="zh-CN" sz="2000" b="1" dirty="0"/>
              <a:t>	</a:t>
            </a:r>
            <a:r>
              <a:rPr lang="en-US" altLang="zh-CN" sz="2000" b="1" dirty="0" smtClean="0"/>
              <a:t>count</a:t>
            </a:r>
            <a:r>
              <a:rPr lang="en-US" altLang="zh-CN" sz="2000" b="1" dirty="0"/>
              <a:t>++;</a:t>
            </a:r>
          </a:p>
          <a:p>
            <a:r>
              <a:rPr lang="en-US" altLang="zh-CN" sz="2000" b="1" dirty="0"/>
              <a:t>				if(count%5==0)printf("\n"); </a:t>
            </a:r>
          </a:p>
          <a:p>
            <a:r>
              <a:rPr lang="en-US" altLang="zh-CN" sz="2000" b="1" dirty="0"/>
              <a:t>	</a:t>
            </a:r>
            <a:r>
              <a:rPr lang="en-US" altLang="zh-CN" sz="2000" b="1" dirty="0" smtClean="0"/>
              <a:t>break</a:t>
            </a:r>
            <a:r>
              <a:rPr lang="en-US" altLang="zh-CN" sz="2000" b="1" dirty="0"/>
              <a:t>;</a:t>
            </a:r>
          </a:p>
          <a:p>
            <a:r>
              <a:rPr lang="en-US" altLang="zh-CN" sz="2000" b="1" dirty="0" smtClean="0"/>
              <a:t>          }</a:t>
            </a:r>
            <a:endParaRPr lang="en-US" altLang="zh-CN" sz="2000" b="1" dirty="0"/>
          </a:p>
          <a:p>
            <a:r>
              <a:rPr lang="en-US" altLang="zh-CN" sz="2000" b="1" dirty="0"/>
              <a:t>    }</a:t>
            </a:r>
          </a:p>
          <a:p>
            <a:r>
              <a:rPr lang="en-US" altLang="zh-CN" sz="2000" b="1" dirty="0" smtClean="0"/>
              <a:t>    return </a:t>
            </a:r>
            <a:r>
              <a:rPr lang="en-US" altLang="zh-CN" sz="2000" b="1" dirty="0"/>
              <a:t>0;</a:t>
            </a:r>
          </a:p>
          <a:p>
            <a:r>
              <a:rPr lang="en-US" altLang="zh-CN" sz="2000" b="1" dirty="0"/>
              <a:t>}</a:t>
            </a:r>
          </a:p>
        </p:txBody>
      </p:sp>
      <p:sp>
        <p:nvSpPr>
          <p:cNvPr id="6" name="TextBox 5"/>
          <p:cNvSpPr txBox="1"/>
          <p:nvPr/>
        </p:nvSpPr>
        <p:spPr>
          <a:xfrm>
            <a:off x="5364088" y="260648"/>
            <a:ext cx="3456384" cy="2246769"/>
          </a:xfrm>
          <a:prstGeom prst="rect">
            <a:avLst/>
          </a:prstGeom>
          <a:noFill/>
          <a:ln>
            <a:solidFill>
              <a:srgbClr val="FF0000"/>
            </a:solidFill>
          </a:ln>
        </p:spPr>
        <p:txBody>
          <a:bodyPr wrap="square" rtlCol="0">
            <a:spAutoFit/>
          </a:bodyPr>
          <a:lstStyle/>
          <a:p>
            <a:r>
              <a:rPr lang="en-US" altLang="zh-CN" sz="2000" b="1" dirty="0"/>
              <a:t>int prime(int m)</a:t>
            </a:r>
          </a:p>
          <a:p>
            <a:r>
              <a:rPr lang="en-US" altLang="zh-CN" sz="2000" b="1" dirty="0"/>
              <a:t>{</a:t>
            </a:r>
          </a:p>
          <a:p>
            <a:r>
              <a:rPr lang="en-US" altLang="zh-CN" sz="2000" b="1" dirty="0" smtClean="0"/>
              <a:t>    int </a:t>
            </a:r>
            <a:r>
              <a:rPr lang="en-US" altLang="zh-CN" sz="2000" b="1" dirty="0" err="1"/>
              <a:t>i</a:t>
            </a:r>
            <a:r>
              <a:rPr lang="en-US" altLang="zh-CN" sz="2000" b="1" dirty="0" smtClean="0"/>
              <a:t>;</a:t>
            </a:r>
            <a:endParaRPr lang="en-US" altLang="zh-CN" sz="2000" b="1" dirty="0"/>
          </a:p>
          <a:p>
            <a:r>
              <a:rPr lang="en-US" altLang="zh-CN" sz="2000" b="1" dirty="0" smtClean="0"/>
              <a:t>    for(i=2;i</a:t>
            </a:r>
            <a:r>
              <a:rPr lang="en-US" altLang="zh-CN" sz="2000" b="1" dirty="0"/>
              <a:t>&lt;=sqrt(m);i++)</a:t>
            </a:r>
          </a:p>
          <a:p>
            <a:r>
              <a:rPr lang="en-US" altLang="zh-CN" sz="2000" b="1" dirty="0" smtClean="0"/>
              <a:t>        if(m%i</a:t>
            </a:r>
            <a:r>
              <a:rPr lang="en-US" altLang="zh-CN" sz="2000" b="1" dirty="0"/>
              <a:t>==0</a:t>
            </a:r>
            <a:r>
              <a:rPr lang="en-US" altLang="zh-CN" sz="2000" b="1" dirty="0" smtClean="0"/>
              <a:t>) return </a:t>
            </a:r>
            <a:r>
              <a:rPr lang="en-US" altLang="zh-CN" sz="2000" b="1" dirty="0"/>
              <a:t>0;</a:t>
            </a:r>
          </a:p>
          <a:p>
            <a:r>
              <a:rPr lang="en-US" altLang="zh-CN" sz="2000" b="1" dirty="0" smtClean="0"/>
              <a:t>    return </a:t>
            </a:r>
            <a:r>
              <a:rPr lang="en-US" altLang="zh-CN" sz="2000" b="1" dirty="0"/>
              <a:t>1;</a:t>
            </a:r>
          </a:p>
          <a:p>
            <a:r>
              <a:rPr lang="en-US" altLang="zh-CN" sz="2000" b="1" dirty="0"/>
              <a:t>}</a:t>
            </a:r>
          </a:p>
        </p:txBody>
      </p:sp>
    </p:spTree>
    <p:extLst>
      <p:ext uri="{BB962C8B-B14F-4D97-AF65-F5344CB8AC3E}">
        <p14:creationId xmlns:p14="http://schemas.microsoft.com/office/powerpoint/2010/main" val="3526118188"/>
      </p:ext>
    </p:extLst>
  </p:cSld>
  <p:clrMapOvr>
    <a:masterClrMapping/>
  </p:clrMapOvr>
  <p:transition spd="med">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323528" y="116632"/>
            <a:ext cx="5257800" cy="685800"/>
          </a:xfrm>
        </p:spPr>
        <p:txBody>
          <a:bodyPr/>
          <a:lstStyle/>
          <a:p>
            <a:pPr eaLnBrk="1" hangingPunct="1"/>
            <a:r>
              <a:rPr lang="zh-CN" altLang="en-US" dirty="0" smtClean="0">
                <a:solidFill>
                  <a:srgbClr val="FF0000"/>
                </a:solidFill>
                <a:latin typeface="Times New Roman" pitchFamily="18" charset="0"/>
              </a:rPr>
              <a:t>例</a:t>
            </a:r>
            <a:r>
              <a:rPr lang="en-US" altLang="zh-CN" dirty="0" smtClean="0">
                <a:solidFill>
                  <a:srgbClr val="FF0000"/>
                </a:solidFill>
                <a:latin typeface="Times New Roman" pitchFamily="18" charset="0"/>
              </a:rPr>
              <a:t>: </a:t>
            </a:r>
            <a:r>
              <a:rPr lang="zh-CN" altLang="en-US" dirty="0" smtClean="0">
                <a:solidFill>
                  <a:srgbClr val="3333FF"/>
                </a:solidFill>
                <a:latin typeface="Times New Roman" pitchFamily="18" charset="0"/>
              </a:rPr>
              <a:t>日期计算</a:t>
            </a:r>
            <a:endParaRPr lang="zh-CN" altLang="en-US" dirty="0" smtClean="0">
              <a:solidFill>
                <a:srgbClr val="3333FF"/>
              </a:solidFill>
            </a:endParaRPr>
          </a:p>
        </p:txBody>
      </p:sp>
      <p:sp>
        <p:nvSpPr>
          <p:cNvPr id="61443" name="Rectangle 3"/>
          <p:cNvSpPr>
            <a:spLocks noGrp="1" noChangeArrowheads="1"/>
          </p:cNvSpPr>
          <p:nvPr>
            <p:ph type="body" idx="4294967295"/>
          </p:nvPr>
        </p:nvSpPr>
        <p:spPr>
          <a:xfrm>
            <a:off x="251520" y="692696"/>
            <a:ext cx="8659813" cy="6165304"/>
          </a:xfrm>
        </p:spPr>
        <p:txBody>
          <a:bodyPr/>
          <a:lstStyle/>
          <a:p>
            <a:pPr algn="just" eaLnBrk="1" hangingPunct="1"/>
            <a:r>
              <a:rPr lang="zh-CN" altLang="en-US" sz="2800" dirty="0" smtClean="0">
                <a:latin typeface="宋体" charset="-122"/>
              </a:rPr>
              <a:t>自定义</a:t>
            </a:r>
            <a:r>
              <a:rPr lang="zh-CN" altLang="en-US" sz="2800" dirty="0" smtClean="0"/>
              <a:t>1</a:t>
            </a:r>
            <a:r>
              <a:rPr lang="zh-CN" altLang="en-US" sz="2800" dirty="0" smtClean="0">
                <a:latin typeface="宋体" charset="-122"/>
              </a:rPr>
              <a:t>个函数</a:t>
            </a:r>
            <a:r>
              <a:rPr lang="en-US" altLang="zh-CN" sz="2800" dirty="0" smtClean="0"/>
              <a:t>day_of_year(year, month, day)</a:t>
            </a:r>
            <a:r>
              <a:rPr lang="en-US" altLang="zh-CN" sz="2800" dirty="0" smtClean="0">
                <a:latin typeface="宋体" charset="-122"/>
              </a:rPr>
              <a:t>，</a:t>
            </a:r>
            <a:r>
              <a:rPr lang="zh-CN" altLang="en-US" sz="2800" dirty="0" smtClean="0">
                <a:latin typeface="宋体" charset="-122"/>
              </a:rPr>
              <a:t>计算并返回年</a:t>
            </a:r>
            <a:r>
              <a:rPr lang="en-US" altLang="zh-CN" sz="2800" dirty="0" smtClean="0"/>
              <a:t>year</a:t>
            </a:r>
            <a:r>
              <a:rPr lang="zh-CN" altLang="en-US" sz="2800" dirty="0" smtClean="0">
                <a:latin typeface="宋体" charset="-122"/>
              </a:rPr>
              <a:t>、月</a:t>
            </a:r>
            <a:r>
              <a:rPr lang="en-US" altLang="zh-CN" sz="2800" dirty="0" smtClean="0"/>
              <a:t>month</a:t>
            </a:r>
            <a:r>
              <a:rPr lang="zh-CN" altLang="en-US" sz="2800" dirty="0" smtClean="0">
                <a:latin typeface="宋体" charset="-122"/>
              </a:rPr>
              <a:t>和日</a:t>
            </a:r>
            <a:r>
              <a:rPr lang="en-US" altLang="zh-CN" sz="2800" dirty="0" smtClean="0"/>
              <a:t>day</a:t>
            </a:r>
            <a:r>
              <a:rPr lang="zh-CN" altLang="en-US" sz="2800" dirty="0" smtClean="0">
                <a:latin typeface="宋体" charset="-122"/>
              </a:rPr>
              <a:t>对应的是该年的第几天。</a:t>
            </a:r>
            <a:r>
              <a:rPr lang="zh-CN" altLang="en-US" sz="2800" dirty="0" smtClean="0"/>
              <a:t> </a:t>
            </a:r>
          </a:p>
          <a:p>
            <a:pPr lvl="1" algn="just" eaLnBrk="1" hangingPunct="1">
              <a:buFont typeface="Wingdings" pitchFamily="2" charset="2"/>
              <a:buNone/>
            </a:pPr>
            <a:r>
              <a:rPr lang="en-US" altLang="zh-CN" sz="2400" dirty="0" smtClean="0"/>
              <a:t>day_of_year(2000, 3, 1) </a:t>
            </a:r>
            <a:r>
              <a:rPr lang="zh-CN" altLang="en-US" sz="2400" dirty="0" smtClean="0"/>
              <a:t>返回61</a:t>
            </a:r>
          </a:p>
          <a:p>
            <a:pPr lvl="1" algn="just" eaLnBrk="1" hangingPunct="1">
              <a:buFont typeface="Wingdings" pitchFamily="2" charset="2"/>
              <a:buNone/>
            </a:pPr>
            <a:r>
              <a:rPr lang="en-US" altLang="zh-CN" sz="2400" dirty="0" smtClean="0"/>
              <a:t>day_of_year(1981, 3, 1) </a:t>
            </a:r>
            <a:r>
              <a:rPr lang="zh-CN" altLang="en-US" sz="2400" dirty="0" smtClean="0"/>
              <a:t>返回60</a:t>
            </a:r>
          </a:p>
          <a:p>
            <a:pPr lvl="1" algn="just" eaLnBrk="1" hangingPunct="1">
              <a:buFont typeface="Wingdings" pitchFamily="2" charset="2"/>
              <a:buNone/>
            </a:pPr>
            <a:r>
              <a:rPr lang="zh-CN" altLang="en-US" sz="2400" dirty="0" smtClean="0"/>
              <a:t>分析：</a:t>
            </a:r>
          </a:p>
          <a:p>
            <a:pPr lvl="2" algn="just" eaLnBrk="1" hangingPunct="1">
              <a:buFont typeface="Wingdings" pitchFamily="2" charset="2"/>
              <a:buNone/>
            </a:pPr>
            <a:r>
              <a:rPr lang="zh-CN" altLang="en-US" sz="2000" dirty="0" smtClean="0"/>
              <a:t>   月        0   1   2     3 ……  11    12</a:t>
            </a:r>
          </a:p>
          <a:p>
            <a:pPr lvl="2" algn="just" eaLnBrk="1" hangingPunct="1">
              <a:buFont typeface="Wingdings" pitchFamily="2" charset="2"/>
              <a:buNone/>
            </a:pPr>
            <a:r>
              <a:rPr lang="zh-CN" altLang="en-US" sz="2000" dirty="0" smtClean="0"/>
              <a:t>非闰年    0  31  28  31         30    31</a:t>
            </a:r>
          </a:p>
          <a:p>
            <a:pPr lvl="2" algn="just" eaLnBrk="1" hangingPunct="1">
              <a:buFont typeface="Wingdings" pitchFamily="2" charset="2"/>
              <a:buNone/>
            </a:pPr>
            <a:r>
              <a:rPr lang="zh-CN" altLang="en-US" sz="2000" dirty="0" smtClean="0"/>
              <a:t>闰 年       0  31  29  31         30    31</a:t>
            </a:r>
          </a:p>
        </p:txBody>
      </p:sp>
      <p:sp>
        <p:nvSpPr>
          <p:cNvPr id="61444" name="Text Box 4"/>
          <p:cNvSpPr txBox="1">
            <a:spLocks noChangeArrowheads="1"/>
          </p:cNvSpPr>
          <p:nvPr/>
        </p:nvSpPr>
        <p:spPr bwMode="auto">
          <a:xfrm>
            <a:off x="985912" y="5124450"/>
            <a:ext cx="6629400" cy="179344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20000"/>
              </a:spcBef>
            </a:pPr>
            <a:r>
              <a:rPr kumimoji="1" lang="en-US" altLang="zh-CN" sz="2400" b="1" dirty="0">
                <a:ea typeface="仿宋_GB2312" pitchFamily="49" charset="-122"/>
              </a:rPr>
              <a:t>int tab[2][13]={</a:t>
            </a:r>
          </a:p>
          <a:p>
            <a:pPr eaLnBrk="1" hangingPunct="1">
              <a:spcBef>
                <a:spcPct val="20000"/>
              </a:spcBef>
            </a:pPr>
            <a:r>
              <a:rPr kumimoji="1" lang="en-US" altLang="zh-CN" sz="2400" b="1" dirty="0">
                <a:ea typeface="仿宋_GB2312" pitchFamily="49" charset="-122"/>
              </a:rPr>
              <a:t>   {0, 31, 28, 31, 30,31,30,31,31,30,31, 30,31</a:t>
            </a:r>
            <a:r>
              <a:rPr kumimoji="1" lang="en-US" altLang="zh-CN" sz="2400" b="1" dirty="0" smtClean="0">
                <a:ea typeface="仿宋_GB2312" pitchFamily="49" charset="-122"/>
              </a:rPr>
              <a:t>},</a:t>
            </a:r>
            <a:endParaRPr kumimoji="1" lang="en-US" altLang="zh-CN" sz="2400" b="1" dirty="0">
              <a:ea typeface="仿宋_GB2312" pitchFamily="49" charset="-122"/>
            </a:endParaRPr>
          </a:p>
          <a:p>
            <a:pPr eaLnBrk="1" hangingPunct="1">
              <a:spcBef>
                <a:spcPct val="20000"/>
              </a:spcBef>
            </a:pPr>
            <a:r>
              <a:rPr kumimoji="1" lang="en-US" altLang="zh-CN" sz="2400" b="1" dirty="0">
                <a:ea typeface="仿宋_GB2312" pitchFamily="49" charset="-122"/>
              </a:rPr>
              <a:t>   {0, 31, 29, 31, 30,31,30,31,31,30,31, 30,31}</a:t>
            </a:r>
          </a:p>
          <a:p>
            <a:pPr eaLnBrk="1" hangingPunct="1">
              <a:spcBef>
                <a:spcPct val="20000"/>
              </a:spcBef>
            </a:pPr>
            <a:r>
              <a:rPr kumimoji="1" lang="en-US" altLang="zh-CN" sz="2400" b="1" dirty="0">
                <a:ea typeface="仿宋_GB2312" pitchFamily="49" charset="-122"/>
              </a:rPr>
              <a:t>}</a:t>
            </a:r>
          </a:p>
        </p:txBody>
      </p:sp>
      <p:sp>
        <p:nvSpPr>
          <p:cNvPr id="61445" name="Line 5"/>
          <p:cNvSpPr>
            <a:spLocks noChangeShapeType="1"/>
          </p:cNvSpPr>
          <p:nvPr/>
        </p:nvSpPr>
        <p:spPr bwMode="auto">
          <a:xfrm>
            <a:off x="611560" y="4221163"/>
            <a:ext cx="480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61446" name="Line 6"/>
          <p:cNvSpPr>
            <a:spLocks noChangeShapeType="1"/>
          </p:cNvSpPr>
          <p:nvPr/>
        </p:nvSpPr>
        <p:spPr bwMode="auto">
          <a:xfrm>
            <a:off x="1619672" y="3851276"/>
            <a:ext cx="0" cy="1219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transition spd="med">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7" name="Rectangle 3"/>
          <p:cNvSpPr>
            <a:spLocks noGrp="1" noChangeArrowheads="1"/>
          </p:cNvSpPr>
          <p:nvPr>
            <p:ph type="body" idx="4294967295"/>
          </p:nvPr>
        </p:nvSpPr>
        <p:spPr>
          <a:xfrm>
            <a:off x="323528" y="620688"/>
            <a:ext cx="8382000" cy="5760640"/>
          </a:xfrm>
        </p:spPr>
        <p:txBody>
          <a:bodyPr/>
          <a:lstStyle/>
          <a:p>
            <a:pPr algn="just" eaLnBrk="1" hangingPunct="1">
              <a:buFont typeface="Wingdings" pitchFamily="2" charset="2"/>
              <a:buNone/>
            </a:pPr>
            <a:r>
              <a:rPr lang="en-US" altLang="zh-CN" sz="2400" dirty="0">
                <a:solidFill>
                  <a:schemeClr val="tx1"/>
                </a:solidFill>
              </a:rPr>
              <a:t>int day_of_year(int year, int month, int day)</a:t>
            </a:r>
          </a:p>
          <a:p>
            <a:pPr algn="just" eaLnBrk="1" hangingPunct="1">
              <a:buFont typeface="Wingdings" pitchFamily="2" charset="2"/>
              <a:buNone/>
            </a:pPr>
            <a:r>
              <a:rPr lang="en-US" altLang="zh-CN" sz="2400" dirty="0">
                <a:solidFill>
                  <a:schemeClr val="tx1"/>
                </a:solidFill>
              </a:rPr>
              <a:t>{    int k, leap;</a:t>
            </a:r>
          </a:p>
          <a:p>
            <a:pPr eaLnBrk="1" hangingPunct="1">
              <a:buClrTx/>
              <a:buSzTx/>
              <a:buFontTx/>
              <a:buNone/>
            </a:pPr>
            <a:r>
              <a:rPr lang="en-US" altLang="zh-CN" sz="2400" dirty="0">
                <a:solidFill>
                  <a:schemeClr val="tx1"/>
                </a:solidFill>
              </a:rPr>
              <a:t>     int tab[2][13]={</a:t>
            </a:r>
          </a:p>
          <a:p>
            <a:pPr eaLnBrk="1" hangingPunct="1">
              <a:buClrTx/>
              <a:buSzTx/>
              <a:buFontTx/>
              <a:buNone/>
            </a:pPr>
            <a:r>
              <a:rPr lang="en-US" altLang="zh-CN" sz="2400" dirty="0">
                <a:solidFill>
                  <a:schemeClr val="tx1"/>
                </a:solidFill>
              </a:rPr>
              <a:t>        {0, 31, 28, 31, 30,31,30,31,31,30,31, 30,31},</a:t>
            </a:r>
          </a:p>
          <a:p>
            <a:pPr eaLnBrk="1" hangingPunct="1">
              <a:buClrTx/>
              <a:buSzTx/>
              <a:buFontTx/>
              <a:buNone/>
            </a:pPr>
            <a:r>
              <a:rPr lang="en-US" altLang="zh-CN" sz="2400" dirty="0">
                <a:solidFill>
                  <a:schemeClr val="tx1"/>
                </a:solidFill>
              </a:rPr>
              <a:t>        {0, 31, 29, 31, 30,31,30,31,31,30,31, 30,31}</a:t>
            </a:r>
          </a:p>
          <a:p>
            <a:pPr eaLnBrk="1" hangingPunct="1">
              <a:buClrTx/>
              <a:buSzTx/>
              <a:buFontTx/>
              <a:buNone/>
            </a:pPr>
            <a:r>
              <a:rPr lang="en-US" altLang="zh-CN" sz="2400" dirty="0">
                <a:solidFill>
                  <a:schemeClr val="tx1"/>
                </a:solidFill>
              </a:rPr>
              <a:t>     };</a:t>
            </a:r>
          </a:p>
          <a:p>
            <a:pPr eaLnBrk="1" hangingPunct="1">
              <a:buClrTx/>
              <a:buSzTx/>
              <a:buFontTx/>
              <a:buNone/>
            </a:pPr>
            <a:r>
              <a:rPr lang="en-US" altLang="zh-CN" sz="2400" dirty="0" smtClean="0">
                <a:solidFill>
                  <a:schemeClr val="tx1"/>
                </a:solidFill>
              </a:rPr>
              <a:t>     </a:t>
            </a:r>
            <a:r>
              <a:rPr lang="en-US" altLang="zh-CN" sz="2400" dirty="0">
                <a:solidFill>
                  <a:schemeClr val="tx1"/>
                </a:solidFill>
              </a:rPr>
              <a:t>leap = (year%4==0&amp;&amp;year%100!=0) </a:t>
            </a:r>
            <a:r>
              <a:rPr lang="en-US" altLang="zh-CN" sz="2400" dirty="0" smtClean="0">
                <a:solidFill>
                  <a:schemeClr val="tx1"/>
                </a:solidFill>
              </a:rPr>
              <a:t>|| (year </a:t>
            </a:r>
            <a:r>
              <a:rPr lang="en-US" altLang="zh-CN" sz="2400" dirty="0">
                <a:solidFill>
                  <a:schemeClr val="tx1"/>
                </a:solidFill>
              </a:rPr>
              <a:t>%400==</a:t>
            </a:r>
            <a:r>
              <a:rPr lang="en-US" altLang="zh-CN" sz="2400" dirty="0" smtClean="0">
                <a:solidFill>
                  <a:schemeClr val="tx1"/>
                </a:solidFill>
              </a:rPr>
              <a:t>0);</a:t>
            </a:r>
            <a:endParaRPr lang="en-US" altLang="zh-CN" sz="2400" dirty="0">
              <a:solidFill>
                <a:schemeClr val="tx1"/>
              </a:solidFill>
            </a:endParaRPr>
          </a:p>
          <a:p>
            <a:pPr eaLnBrk="1" hangingPunct="1">
              <a:buClrTx/>
              <a:buSzTx/>
              <a:buFontTx/>
              <a:buNone/>
            </a:pPr>
            <a:r>
              <a:rPr lang="en-US" altLang="zh-CN" sz="2400" dirty="0">
                <a:solidFill>
                  <a:schemeClr val="tx1"/>
                </a:solidFill>
              </a:rPr>
              <a:t>     for (k=1; k&lt;month; k++)</a:t>
            </a:r>
          </a:p>
          <a:p>
            <a:pPr eaLnBrk="1" hangingPunct="1">
              <a:buClrTx/>
              <a:buSzTx/>
              <a:buFontTx/>
              <a:buNone/>
            </a:pPr>
            <a:r>
              <a:rPr lang="en-US" altLang="zh-CN" sz="2400" dirty="0">
                <a:solidFill>
                  <a:schemeClr val="tx1"/>
                </a:solidFill>
              </a:rPr>
              <a:t>          day = day + tab[leap][k];</a:t>
            </a:r>
          </a:p>
          <a:p>
            <a:pPr eaLnBrk="1" hangingPunct="1">
              <a:buClrTx/>
              <a:buSzTx/>
              <a:buFontTx/>
              <a:buNone/>
            </a:pPr>
            <a:r>
              <a:rPr lang="en-US" altLang="zh-CN" sz="2400" dirty="0">
                <a:solidFill>
                  <a:schemeClr val="tx1"/>
                </a:solidFill>
              </a:rPr>
              <a:t>  </a:t>
            </a:r>
            <a:r>
              <a:rPr lang="en-US" altLang="zh-CN" sz="2400" dirty="0" smtClean="0">
                <a:solidFill>
                  <a:schemeClr val="tx1"/>
                </a:solidFill>
              </a:rPr>
              <a:t>   </a:t>
            </a:r>
            <a:r>
              <a:rPr lang="en-US" altLang="zh-CN" sz="2400" dirty="0">
                <a:solidFill>
                  <a:schemeClr val="tx1"/>
                </a:solidFill>
              </a:rPr>
              <a:t>return day;</a:t>
            </a:r>
          </a:p>
          <a:p>
            <a:pPr algn="just" eaLnBrk="1" hangingPunct="1">
              <a:buFont typeface="Wingdings" pitchFamily="2" charset="2"/>
              <a:buNone/>
            </a:pPr>
            <a:r>
              <a:rPr lang="en-US" altLang="zh-CN" sz="2400" dirty="0">
                <a:solidFill>
                  <a:schemeClr val="tx1"/>
                </a:solidFill>
              </a:rPr>
              <a:t>}</a:t>
            </a:r>
          </a:p>
        </p:txBody>
      </p:sp>
    </p:spTree>
  </p:cSld>
  <p:clrMapOvr>
    <a:masterClrMapping/>
  </p:clrMapOvr>
  <p:transition spd="med">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323528" y="188640"/>
            <a:ext cx="8229600" cy="6480001"/>
          </a:xfrm>
        </p:spPr>
        <p:txBody>
          <a:bodyPr/>
          <a:lstStyle/>
          <a:p>
            <a:pPr>
              <a:lnSpc>
                <a:spcPct val="80000"/>
              </a:lnSpc>
              <a:buFont typeface="Wingdings" pitchFamily="2" charset="2"/>
              <a:buNone/>
            </a:pPr>
            <a:r>
              <a:rPr lang="en-US" altLang="zh-CN" sz="2000" dirty="0"/>
              <a:t>#include &lt;</a:t>
            </a:r>
            <a:r>
              <a:rPr lang="en-US" altLang="zh-CN" sz="2000" dirty="0" err="1"/>
              <a:t>stdio.h</a:t>
            </a:r>
            <a:r>
              <a:rPr lang="en-US" altLang="zh-CN" sz="2000" dirty="0"/>
              <a:t>&gt;</a:t>
            </a:r>
          </a:p>
          <a:p>
            <a:pPr>
              <a:lnSpc>
                <a:spcPct val="80000"/>
              </a:lnSpc>
              <a:buFont typeface="Wingdings" pitchFamily="2" charset="2"/>
              <a:buNone/>
            </a:pPr>
            <a:r>
              <a:rPr lang="en-US" altLang="zh-CN" sz="2000" dirty="0" err="1"/>
              <a:t>int</a:t>
            </a:r>
            <a:r>
              <a:rPr lang="en-US" altLang="zh-CN" sz="2000" dirty="0"/>
              <a:t> </a:t>
            </a:r>
            <a:r>
              <a:rPr lang="en-US" altLang="zh-CN" sz="2000" dirty="0" err="1"/>
              <a:t>day_of_year</a:t>
            </a:r>
            <a:r>
              <a:rPr lang="en-US" altLang="zh-CN" sz="2000" dirty="0"/>
              <a:t>(</a:t>
            </a:r>
            <a:r>
              <a:rPr lang="en-US" altLang="zh-CN" sz="2000" dirty="0" err="1"/>
              <a:t>int,int,int</a:t>
            </a:r>
            <a:r>
              <a:rPr lang="en-US" altLang="zh-CN" sz="2000" dirty="0"/>
              <a:t>);</a:t>
            </a:r>
          </a:p>
          <a:p>
            <a:pPr>
              <a:lnSpc>
                <a:spcPct val="80000"/>
              </a:lnSpc>
              <a:buFont typeface="Wingdings" pitchFamily="2" charset="2"/>
              <a:buNone/>
            </a:pPr>
            <a:r>
              <a:rPr lang="en-US" altLang="zh-CN" sz="2000" dirty="0" err="1"/>
              <a:t>int</a:t>
            </a:r>
            <a:r>
              <a:rPr lang="en-US" altLang="zh-CN" sz="2000" dirty="0"/>
              <a:t> main()</a:t>
            </a:r>
          </a:p>
          <a:p>
            <a:pPr>
              <a:lnSpc>
                <a:spcPct val="80000"/>
              </a:lnSpc>
              <a:buFont typeface="Wingdings" pitchFamily="2" charset="2"/>
              <a:buNone/>
            </a:pPr>
            <a:r>
              <a:rPr lang="en-US" altLang="zh-CN" sz="2000" dirty="0"/>
              <a:t>{</a:t>
            </a:r>
          </a:p>
          <a:p>
            <a:pPr>
              <a:lnSpc>
                <a:spcPct val="80000"/>
              </a:lnSpc>
              <a:buFont typeface="Wingdings" pitchFamily="2" charset="2"/>
              <a:buNone/>
            </a:pPr>
            <a:r>
              <a:rPr lang="en-US" altLang="zh-CN" sz="2000" dirty="0"/>
              <a:t>	</a:t>
            </a:r>
            <a:r>
              <a:rPr lang="en-US" altLang="zh-CN" sz="2000" dirty="0" smtClean="0"/>
              <a:t> </a:t>
            </a:r>
            <a:r>
              <a:rPr lang="en-US" altLang="zh-CN" sz="2000" dirty="0" err="1" smtClean="0"/>
              <a:t>int</a:t>
            </a:r>
            <a:r>
              <a:rPr lang="en-US" altLang="zh-CN" sz="2000" dirty="0" smtClean="0"/>
              <a:t> </a:t>
            </a:r>
            <a:r>
              <a:rPr lang="en-US" altLang="zh-CN" sz="2000" dirty="0" err="1"/>
              <a:t>year,month,day</a:t>
            </a:r>
            <a:r>
              <a:rPr lang="en-US" altLang="zh-CN" sz="2000" dirty="0"/>
              <a:t>;</a:t>
            </a:r>
          </a:p>
          <a:p>
            <a:pPr>
              <a:lnSpc>
                <a:spcPct val="80000"/>
              </a:lnSpc>
              <a:buFont typeface="Wingdings" pitchFamily="2" charset="2"/>
              <a:buNone/>
            </a:pPr>
            <a:r>
              <a:rPr lang="en-US" altLang="zh-CN" sz="2000" dirty="0"/>
              <a:t>	</a:t>
            </a:r>
            <a:r>
              <a:rPr lang="en-US" altLang="zh-CN" sz="2000" dirty="0" smtClean="0"/>
              <a:t> </a:t>
            </a:r>
            <a:r>
              <a:rPr lang="en-US" altLang="zh-CN" sz="2000" dirty="0" err="1" smtClean="0"/>
              <a:t>printf</a:t>
            </a:r>
            <a:r>
              <a:rPr lang="en-US" altLang="zh-CN" sz="2000" dirty="0"/>
              <a:t>("Enter year moth day:");</a:t>
            </a:r>
          </a:p>
          <a:p>
            <a:pPr>
              <a:lnSpc>
                <a:spcPct val="80000"/>
              </a:lnSpc>
              <a:buFont typeface="Wingdings" pitchFamily="2" charset="2"/>
              <a:buNone/>
            </a:pPr>
            <a:r>
              <a:rPr lang="en-US" altLang="zh-CN" sz="2000" dirty="0"/>
              <a:t>	</a:t>
            </a:r>
            <a:r>
              <a:rPr lang="en-US" altLang="zh-CN" sz="2000" dirty="0" smtClean="0"/>
              <a:t> </a:t>
            </a:r>
            <a:r>
              <a:rPr lang="en-US" altLang="zh-CN" sz="2000" dirty="0" err="1" smtClean="0"/>
              <a:t>scanf</a:t>
            </a:r>
            <a:r>
              <a:rPr lang="en-US" altLang="zh-CN" sz="2000" dirty="0"/>
              <a:t>("%</a:t>
            </a:r>
            <a:r>
              <a:rPr lang="en-US" altLang="zh-CN" sz="2000" dirty="0" err="1"/>
              <a:t>d%d%d</a:t>
            </a:r>
            <a:r>
              <a:rPr lang="en-US" altLang="zh-CN" sz="2000" dirty="0"/>
              <a:t>",&amp;</a:t>
            </a:r>
            <a:r>
              <a:rPr lang="en-US" altLang="zh-CN" sz="2000" dirty="0" err="1"/>
              <a:t>year,&amp;month,&amp;day</a:t>
            </a:r>
            <a:r>
              <a:rPr lang="en-US" altLang="zh-CN" sz="2000" dirty="0"/>
              <a:t>);</a:t>
            </a:r>
          </a:p>
          <a:p>
            <a:pPr>
              <a:lnSpc>
                <a:spcPct val="80000"/>
              </a:lnSpc>
              <a:buFont typeface="Wingdings" pitchFamily="2" charset="2"/>
              <a:buNone/>
            </a:pPr>
            <a:r>
              <a:rPr lang="en-US" altLang="zh-CN" sz="2000" dirty="0"/>
              <a:t>	</a:t>
            </a:r>
            <a:r>
              <a:rPr lang="en-US" altLang="zh-CN" sz="2000" dirty="0" smtClean="0"/>
              <a:t> </a:t>
            </a:r>
            <a:r>
              <a:rPr lang="en-US" altLang="zh-CN" sz="2000" dirty="0" err="1" smtClean="0"/>
              <a:t>printf</a:t>
            </a:r>
            <a:r>
              <a:rPr lang="en-US" altLang="zh-CN" sz="2000" dirty="0"/>
              <a:t>("day of year is %d",</a:t>
            </a:r>
            <a:r>
              <a:rPr lang="en-US" altLang="zh-CN" sz="2000" dirty="0" err="1"/>
              <a:t>day_of_year</a:t>
            </a:r>
            <a:r>
              <a:rPr lang="en-US" altLang="zh-CN" sz="2000" dirty="0"/>
              <a:t>(</a:t>
            </a:r>
            <a:r>
              <a:rPr lang="en-US" altLang="zh-CN" sz="2000" dirty="0" err="1"/>
              <a:t>year,month,day</a:t>
            </a:r>
            <a:r>
              <a:rPr lang="en-US" altLang="zh-CN" sz="2000" dirty="0"/>
              <a:t>));</a:t>
            </a:r>
          </a:p>
          <a:p>
            <a:pPr>
              <a:lnSpc>
                <a:spcPct val="80000"/>
              </a:lnSpc>
              <a:buFont typeface="Wingdings" pitchFamily="2" charset="2"/>
              <a:buNone/>
            </a:pPr>
            <a:r>
              <a:rPr lang="en-US" altLang="zh-CN" sz="2000" dirty="0"/>
              <a:t>  </a:t>
            </a:r>
            <a:r>
              <a:rPr lang="en-US" altLang="zh-CN" sz="2000" dirty="0" smtClean="0"/>
              <a:t>return </a:t>
            </a:r>
            <a:r>
              <a:rPr lang="en-US" altLang="zh-CN" sz="2000" dirty="0"/>
              <a:t>0;</a:t>
            </a:r>
          </a:p>
          <a:p>
            <a:pPr>
              <a:lnSpc>
                <a:spcPct val="80000"/>
              </a:lnSpc>
              <a:buFont typeface="Wingdings" pitchFamily="2" charset="2"/>
              <a:buNone/>
            </a:pPr>
            <a:r>
              <a:rPr lang="en-US" altLang="zh-CN" sz="2000" dirty="0"/>
              <a:t>}</a:t>
            </a:r>
          </a:p>
          <a:p>
            <a:pPr>
              <a:lnSpc>
                <a:spcPct val="80000"/>
              </a:lnSpc>
              <a:buFont typeface="Wingdings" pitchFamily="2" charset="2"/>
              <a:buNone/>
            </a:pPr>
            <a:r>
              <a:rPr lang="en-US" altLang="zh-CN" sz="2000" dirty="0" err="1"/>
              <a:t>int</a:t>
            </a:r>
            <a:r>
              <a:rPr lang="en-US" altLang="zh-CN" sz="2000" dirty="0"/>
              <a:t> </a:t>
            </a:r>
            <a:r>
              <a:rPr lang="en-US" altLang="zh-CN" sz="2000" dirty="0" err="1"/>
              <a:t>day_of_year</a:t>
            </a:r>
            <a:r>
              <a:rPr lang="en-US" altLang="zh-CN" sz="2000" dirty="0"/>
              <a:t>(</a:t>
            </a:r>
            <a:r>
              <a:rPr lang="en-US" altLang="zh-CN" sz="2000" dirty="0" err="1"/>
              <a:t>int</a:t>
            </a:r>
            <a:r>
              <a:rPr lang="en-US" altLang="zh-CN" sz="2000" dirty="0"/>
              <a:t> </a:t>
            </a:r>
            <a:r>
              <a:rPr lang="en-US" altLang="zh-CN" sz="2000" dirty="0" err="1"/>
              <a:t>year,int</a:t>
            </a:r>
            <a:r>
              <a:rPr lang="en-US" altLang="zh-CN" sz="2000" dirty="0"/>
              <a:t> </a:t>
            </a:r>
            <a:r>
              <a:rPr lang="en-US" altLang="zh-CN" sz="2000" dirty="0" err="1"/>
              <a:t>month,int</a:t>
            </a:r>
            <a:r>
              <a:rPr lang="en-US" altLang="zh-CN" sz="2000" dirty="0"/>
              <a:t> day)</a:t>
            </a:r>
          </a:p>
          <a:p>
            <a:pPr>
              <a:lnSpc>
                <a:spcPct val="80000"/>
              </a:lnSpc>
              <a:buFont typeface="Wingdings" pitchFamily="2" charset="2"/>
              <a:buNone/>
            </a:pPr>
            <a:r>
              <a:rPr lang="en-US" altLang="zh-CN" sz="2000" dirty="0"/>
              <a:t>{</a:t>
            </a:r>
          </a:p>
          <a:p>
            <a:pPr>
              <a:lnSpc>
                <a:spcPct val="80000"/>
              </a:lnSpc>
              <a:buFont typeface="Wingdings" pitchFamily="2" charset="2"/>
              <a:buNone/>
            </a:pPr>
            <a:r>
              <a:rPr lang="en-US" altLang="zh-CN" sz="2000" dirty="0"/>
              <a:t>	</a:t>
            </a:r>
            <a:r>
              <a:rPr lang="en-US" altLang="zh-CN" sz="2000" dirty="0" err="1"/>
              <a:t>int</a:t>
            </a:r>
            <a:r>
              <a:rPr lang="en-US" altLang="zh-CN" sz="2000" dirty="0"/>
              <a:t> </a:t>
            </a:r>
            <a:r>
              <a:rPr lang="en-US" altLang="zh-CN" sz="2000" dirty="0" err="1"/>
              <a:t>k,leap</a:t>
            </a:r>
            <a:r>
              <a:rPr lang="en-US" altLang="zh-CN" sz="2000" dirty="0"/>
              <a:t>;</a:t>
            </a:r>
          </a:p>
          <a:p>
            <a:pPr>
              <a:lnSpc>
                <a:spcPct val="80000"/>
              </a:lnSpc>
              <a:buFont typeface="Wingdings" pitchFamily="2" charset="2"/>
              <a:buNone/>
            </a:pPr>
            <a:r>
              <a:rPr lang="en-US" altLang="zh-CN" sz="2000" dirty="0"/>
              <a:t>	</a:t>
            </a:r>
            <a:r>
              <a:rPr lang="en-US" altLang="zh-CN" sz="2000" dirty="0" err="1"/>
              <a:t>int</a:t>
            </a:r>
            <a:r>
              <a:rPr lang="en-US" altLang="zh-CN" sz="2000" dirty="0"/>
              <a:t> a[2][13]={{0,31,28,31,30,31,30,31,31,30,31,30,31},{0,31,29,31,30,31,30,31,31,30,31,30,31}};</a:t>
            </a:r>
          </a:p>
          <a:p>
            <a:pPr>
              <a:lnSpc>
                <a:spcPct val="80000"/>
              </a:lnSpc>
              <a:buFont typeface="Wingdings" pitchFamily="2" charset="2"/>
              <a:buNone/>
            </a:pPr>
            <a:r>
              <a:rPr lang="en-US" altLang="zh-CN" sz="2000" dirty="0"/>
              <a:t>	leap=(((year%4==0)&amp;&amp;(year%100!=0))||year%400==0);</a:t>
            </a:r>
          </a:p>
          <a:p>
            <a:pPr>
              <a:lnSpc>
                <a:spcPct val="80000"/>
              </a:lnSpc>
              <a:buFont typeface="Wingdings" pitchFamily="2" charset="2"/>
              <a:buNone/>
            </a:pPr>
            <a:r>
              <a:rPr lang="en-US" altLang="zh-CN" sz="2000" dirty="0"/>
              <a:t>	for(k=1;k&lt;</a:t>
            </a:r>
            <a:r>
              <a:rPr lang="en-US" altLang="zh-CN" sz="2000" dirty="0" err="1"/>
              <a:t>month;k</a:t>
            </a:r>
            <a:r>
              <a:rPr lang="en-US" altLang="zh-CN" sz="2000" dirty="0"/>
              <a:t>++)</a:t>
            </a:r>
          </a:p>
          <a:p>
            <a:pPr>
              <a:lnSpc>
                <a:spcPct val="80000"/>
              </a:lnSpc>
              <a:buFont typeface="Wingdings" pitchFamily="2" charset="2"/>
              <a:buNone/>
            </a:pPr>
            <a:r>
              <a:rPr lang="en-US" altLang="zh-CN" sz="2000" dirty="0"/>
              <a:t>	</a:t>
            </a:r>
            <a:r>
              <a:rPr lang="en-US" altLang="zh-CN" sz="2000" dirty="0" smtClean="0"/>
              <a:t>    day=</a:t>
            </a:r>
            <a:r>
              <a:rPr lang="en-US" altLang="zh-CN" sz="2000" dirty="0" err="1" smtClean="0"/>
              <a:t>day+a</a:t>
            </a:r>
            <a:r>
              <a:rPr lang="en-US" altLang="zh-CN" sz="2000" dirty="0" smtClean="0"/>
              <a:t>[leap</a:t>
            </a:r>
            <a:r>
              <a:rPr lang="en-US" altLang="zh-CN" sz="2000" dirty="0"/>
              <a:t>][k];</a:t>
            </a:r>
          </a:p>
          <a:p>
            <a:pPr>
              <a:lnSpc>
                <a:spcPct val="80000"/>
              </a:lnSpc>
              <a:buFont typeface="Wingdings" pitchFamily="2" charset="2"/>
              <a:buNone/>
            </a:pPr>
            <a:r>
              <a:rPr lang="en-US" altLang="zh-CN" sz="2000" dirty="0"/>
              <a:t>	</a:t>
            </a:r>
            <a:r>
              <a:rPr lang="en-US" altLang="zh-CN" sz="2000" dirty="0" smtClean="0"/>
              <a:t>return </a:t>
            </a:r>
            <a:r>
              <a:rPr lang="en-US" altLang="zh-CN" sz="2000" dirty="0"/>
              <a:t>day;</a:t>
            </a:r>
          </a:p>
          <a:p>
            <a:pPr>
              <a:lnSpc>
                <a:spcPct val="80000"/>
              </a:lnSpc>
              <a:buFont typeface="Wingdings" pitchFamily="2" charset="2"/>
              <a:buNone/>
            </a:pPr>
            <a:r>
              <a:rPr lang="en-US" altLang="zh-CN" sz="2000" dirty="0" smtClean="0"/>
              <a:t>}</a:t>
            </a:r>
            <a:endParaRPr lang="en-US" altLang="zh-CN" sz="2000" dirty="0"/>
          </a:p>
        </p:txBody>
      </p:sp>
    </p:spTree>
  </p:cSld>
  <p:clrMapOvr>
    <a:masterClrMapping/>
  </p:clrMapOvr>
  <p:transition spd="med">
    <p:random/>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3"/>
          <p:cNvSpPr>
            <a:spLocks noGrp="1" noChangeArrowheads="1"/>
          </p:cNvSpPr>
          <p:nvPr>
            <p:ph type="body" idx="1"/>
          </p:nvPr>
        </p:nvSpPr>
        <p:spPr>
          <a:xfrm>
            <a:off x="107504" y="332656"/>
            <a:ext cx="8928992" cy="6308725"/>
          </a:xfrm>
        </p:spPr>
        <p:txBody>
          <a:bodyPr/>
          <a:lstStyle/>
          <a:p>
            <a:pPr>
              <a:buFont typeface="Wingdings" pitchFamily="2" charset="2"/>
              <a:buNone/>
            </a:pPr>
            <a:r>
              <a:rPr lang="zh-CN" altLang="en-US" dirty="0" smtClean="0"/>
              <a:t>补充</a:t>
            </a:r>
            <a:r>
              <a:rPr lang="en-US" altLang="zh-CN" dirty="0" smtClean="0"/>
              <a:t>1</a:t>
            </a:r>
            <a:r>
              <a:rPr lang="zh-CN" altLang="en-US" dirty="0" smtClean="0"/>
              <a:t>：从键盘上输入整数</a:t>
            </a:r>
            <a:r>
              <a:rPr lang="en-US" altLang="zh-CN" dirty="0" smtClean="0"/>
              <a:t>n</a:t>
            </a:r>
            <a:r>
              <a:rPr lang="zh-CN" altLang="en-US" dirty="0" smtClean="0"/>
              <a:t>（设</a:t>
            </a:r>
            <a:r>
              <a:rPr lang="en-US" altLang="zh-CN" dirty="0" smtClean="0"/>
              <a:t>2≤n≤9</a:t>
            </a:r>
            <a:r>
              <a:rPr lang="zh-CN" altLang="en-US" dirty="0" smtClean="0"/>
              <a:t>）按示例格式输出一个由数字组成的三角形图案</a:t>
            </a:r>
            <a:r>
              <a:rPr lang="zh-CN" altLang="en-US" dirty="0" smtClean="0"/>
              <a:t>。（每个数字占两位）</a:t>
            </a:r>
            <a:endParaRPr lang="zh-CN" altLang="en-US" dirty="0" smtClean="0"/>
          </a:p>
          <a:p>
            <a:pPr>
              <a:buFont typeface="Wingdings" pitchFamily="2" charset="2"/>
              <a:buNone/>
            </a:pPr>
            <a:r>
              <a:rPr lang="zh-CN" altLang="en-US" dirty="0" smtClean="0"/>
              <a:t>如输入：   </a:t>
            </a:r>
            <a:r>
              <a:rPr lang="en-US" altLang="zh-CN" dirty="0" smtClean="0"/>
              <a:t>4</a:t>
            </a:r>
          </a:p>
          <a:p>
            <a:pPr>
              <a:buFont typeface="Wingdings" pitchFamily="2" charset="2"/>
              <a:buNone/>
            </a:pPr>
            <a:r>
              <a:rPr lang="zh-CN" altLang="en-US" dirty="0" smtClean="0"/>
              <a:t>则输出（输出共</a:t>
            </a:r>
            <a:r>
              <a:rPr lang="en-US" altLang="zh-CN" dirty="0" smtClean="0"/>
              <a:t>4</a:t>
            </a:r>
            <a:r>
              <a:rPr lang="zh-CN" altLang="en-US" dirty="0" smtClean="0"/>
              <a:t>行，数字之间、每行末尾含空格）：</a:t>
            </a:r>
          </a:p>
          <a:p>
            <a:pPr algn="just">
              <a:buFont typeface="Wingdings" pitchFamily="2" charset="2"/>
              <a:buNone/>
            </a:pPr>
            <a:r>
              <a:rPr lang="zh-CN" altLang="en-US" dirty="0" smtClean="0"/>
              <a:t> </a:t>
            </a:r>
          </a:p>
        </p:txBody>
      </p:sp>
      <p:sp>
        <p:nvSpPr>
          <p:cNvPr id="54275" name="Rectangle 5"/>
          <p:cNvSpPr>
            <a:spLocks noChangeArrowheads="1"/>
          </p:cNvSpPr>
          <p:nvPr/>
        </p:nvSpPr>
        <p:spPr bwMode="auto">
          <a:xfrm>
            <a:off x="0" y="2943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4276" name="Object 4"/>
          <p:cNvGraphicFramePr>
            <a:graphicFrameLocks noChangeAspect="1"/>
          </p:cNvGraphicFramePr>
          <p:nvPr/>
        </p:nvGraphicFramePr>
        <p:xfrm>
          <a:off x="2124075" y="3641725"/>
          <a:ext cx="3743325" cy="3154363"/>
        </p:xfrm>
        <a:graphic>
          <a:graphicData uri="http://schemas.openxmlformats.org/presentationml/2006/ole">
            <mc:AlternateContent xmlns:mc="http://schemas.openxmlformats.org/markup-compatibility/2006">
              <mc:Choice xmlns:v="urn:schemas-microsoft-com:vml" Requires="v">
                <p:oleObj spid="_x0000_s1259" name="位图图像" r:id="rId3" imgW="1324158" imgH="971686" progId="Paint.Picture">
                  <p:embed/>
                </p:oleObj>
              </mc:Choice>
              <mc:Fallback>
                <p:oleObj name="位图图像" r:id="rId3" imgW="1324158" imgH="97168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3641725"/>
                        <a:ext cx="374332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a:t>
            </a:r>
            <a:r>
              <a:rPr lang="en-US" altLang="zh-CN" dirty="0"/>
              <a:t>(</a:t>
            </a:r>
            <a:r>
              <a:rPr lang="zh-CN" altLang="en-US" dirty="0" smtClean="0"/>
              <a:t>以</a:t>
            </a:r>
            <a:r>
              <a:rPr lang="en-US" altLang="zh-CN" dirty="0" smtClean="0"/>
              <a:t>n=4</a:t>
            </a:r>
            <a:r>
              <a:rPr lang="zh-CN" altLang="en-US" dirty="0" smtClean="0"/>
              <a:t>为例</a:t>
            </a:r>
            <a:r>
              <a:rPr lang="en-US" altLang="zh-CN" dirty="0" smtClean="0"/>
              <a:t>)</a:t>
            </a:r>
            <a:endParaRPr lang="zh-CN" altLang="en-US" dirty="0"/>
          </a:p>
        </p:txBody>
      </p:sp>
      <p:sp>
        <p:nvSpPr>
          <p:cNvPr id="3" name="内容占位符 2"/>
          <p:cNvSpPr>
            <a:spLocks noGrp="1"/>
          </p:cNvSpPr>
          <p:nvPr>
            <p:ph idx="1"/>
          </p:nvPr>
        </p:nvSpPr>
        <p:spPr>
          <a:xfrm>
            <a:off x="755650" y="1700213"/>
            <a:ext cx="7993063" cy="5041155"/>
          </a:xfrm>
        </p:spPr>
        <p:txBody>
          <a:bodyPr/>
          <a:lstStyle/>
          <a:p>
            <a:r>
              <a:rPr lang="zh-CN" altLang="en-US" dirty="0" smtClean="0"/>
              <a:t>左边空格数：</a:t>
            </a:r>
            <a:endParaRPr lang="en-US" altLang="zh-CN" dirty="0" smtClean="0"/>
          </a:p>
          <a:p>
            <a:pPr marL="0" indent="0">
              <a:buNone/>
            </a:pPr>
            <a:r>
              <a:rPr lang="zh-CN" altLang="en-US" dirty="0"/>
              <a:t>第</a:t>
            </a:r>
            <a:r>
              <a:rPr lang="en-US" altLang="zh-CN" dirty="0"/>
              <a:t>1</a:t>
            </a:r>
            <a:r>
              <a:rPr lang="zh-CN" altLang="en-US" dirty="0" smtClean="0"/>
              <a:t>行：</a:t>
            </a:r>
            <a:r>
              <a:rPr lang="en-US" altLang="zh-CN" dirty="0" smtClean="0"/>
              <a:t>6=2</a:t>
            </a:r>
            <a:r>
              <a:rPr lang="zh-CN" altLang="en-US" dirty="0" smtClean="0"/>
              <a:t>*（</a:t>
            </a:r>
            <a:r>
              <a:rPr lang="en-US" altLang="zh-CN" dirty="0" smtClean="0"/>
              <a:t>4-1</a:t>
            </a:r>
            <a:r>
              <a:rPr lang="zh-CN" altLang="en-US" dirty="0" smtClean="0"/>
              <a:t>）</a:t>
            </a:r>
            <a:endParaRPr lang="en-US" altLang="zh-CN" dirty="0" smtClean="0"/>
          </a:p>
          <a:p>
            <a:pPr marL="0" indent="0">
              <a:buNone/>
            </a:pPr>
            <a:r>
              <a:rPr lang="zh-CN" altLang="en-US" dirty="0" smtClean="0"/>
              <a:t>第</a:t>
            </a:r>
            <a:r>
              <a:rPr lang="en-US" altLang="zh-CN" dirty="0" smtClean="0"/>
              <a:t>2</a:t>
            </a:r>
            <a:r>
              <a:rPr lang="zh-CN" altLang="en-US" dirty="0" smtClean="0"/>
              <a:t>行：</a:t>
            </a:r>
            <a:r>
              <a:rPr lang="en-US" altLang="zh-CN" dirty="0" smtClean="0"/>
              <a:t>4=2</a:t>
            </a:r>
            <a:r>
              <a:rPr lang="zh-CN" altLang="en-US" dirty="0"/>
              <a:t>*（</a:t>
            </a:r>
            <a:r>
              <a:rPr lang="en-US" altLang="zh-CN" dirty="0" smtClean="0"/>
              <a:t>4-2</a:t>
            </a:r>
            <a:r>
              <a:rPr lang="zh-CN" altLang="en-US" dirty="0" smtClean="0"/>
              <a:t>）</a:t>
            </a:r>
            <a:endParaRPr lang="en-US" altLang="zh-CN" dirty="0" smtClean="0"/>
          </a:p>
          <a:p>
            <a:pPr marL="0" indent="0">
              <a:buNone/>
            </a:pPr>
            <a:r>
              <a:rPr lang="zh-CN" altLang="en-US" dirty="0" smtClean="0"/>
              <a:t>第</a:t>
            </a:r>
            <a:r>
              <a:rPr lang="en-US" altLang="zh-CN" dirty="0" smtClean="0"/>
              <a:t>3</a:t>
            </a:r>
            <a:r>
              <a:rPr lang="zh-CN" altLang="en-US" dirty="0" smtClean="0"/>
              <a:t>行：</a:t>
            </a:r>
            <a:r>
              <a:rPr lang="en-US" altLang="zh-CN" dirty="0" smtClean="0"/>
              <a:t>2=2</a:t>
            </a:r>
            <a:r>
              <a:rPr lang="zh-CN" altLang="en-US" dirty="0"/>
              <a:t>*（</a:t>
            </a:r>
            <a:r>
              <a:rPr lang="en-US" altLang="zh-CN" dirty="0" smtClean="0"/>
              <a:t>4-3</a:t>
            </a:r>
            <a:r>
              <a:rPr lang="zh-CN" altLang="en-US" dirty="0" smtClean="0"/>
              <a:t>）</a:t>
            </a:r>
            <a:endParaRPr lang="en-US" altLang="zh-CN" dirty="0" smtClean="0"/>
          </a:p>
          <a:p>
            <a:pPr marL="0" indent="0">
              <a:buNone/>
            </a:pPr>
            <a:r>
              <a:rPr lang="zh-CN" altLang="en-US" dirty="0" smtClean="0"/>
              <a:t>第</a:t>
            </a:r>
            <a:r>
              <a:rPr lang="en-US" altLang="zh-CN" dirty="0" smtClean="0"/>
              <a:t>4</a:t>
            </a:r>
            <a:r>
              <a:rPr lang="zh-CN" altLang="en-US" dirty="0" smtClean="0"/>
              <a:t>行：</a:t>
            </a:r>
            <a:r>
              <a:rPr lang="en-US" altLang="zh-CN" dirty="0" smtClean="0"/>
              <a:t>0=2</a:t>
            </a:r>
            <a:r>
              <a:rPr lang="zh-CN" altLang="en-US" dirty="0"/>
              <a:t>*（</a:t>
            </a:r>
            <a:r>
              <a:rPr lang="en-US" altLang="zh-CN" dirty="0" smtClean="0"/>
              <a:t>4-4</a:t>
            </a:r>
            <a:r>
              <a:rPr lang="zh-CN" altLang="en-US" dirty="0" smtClean="0"/>
              <a:t>）</a:t>
            </a:r>
            <a:endParaRPr lang="en-US" altLang="zh-CN" dirty="0" smtClean="0"/>
          </a:p>
          <a:p>
            <a:pPr marL="0" indent="0">
              <a:buNone/>
            </a:pPr>
            <a:r>
              <a:rPr lang="zh-CN" altLang="en-US" dirty="0"/>
              <a:t>由此得第</a:t>
            </a:r>
            <a:r>
              <a:rPr lang="en-US" altLang="zh-CN" dirty="0"/>
              <a:t>i</a:t>
            </a:r>
            <a:r>
              <a:rPr lang="zh-CN" altLang="en-US" dirty="0" smtClean="0"/>
              <a:t>行 </a:t>
            </a:r>
            <a:r>
              <a:rPr lang="en-US" altLang="zh-CN" dirty="0" smtClean="0"/>
              <a:t>2</a:t>
            </a:r>
            <a:r>
              <a:rPr lang="zh-CN" altLang="en-US" dirty="0" smtClean="0"/>
              <a:t>*</a:t>
            </a:r>
            <a:r>
              <a:rPr lang="en-US" altLang="zh-CN" dirty="0" smtClean="0"/>
              <a:t>(n-i)</a:t>
            </a:r>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84</a:t>
            </a:fld>
            <a:endParaRPr lang="en-US" altLang="zh-CN" dirty="0"/>
          </a:p>
        </p:txBody>
      </p:sp>
      <p:graphicFrame>
        <p:nvGraphicFramePr>
          <p:cNvPr id="5" name="Object 4"/>
          <p:cNvGraphicFramePr>
            <a:graphicFrameLocks noChangeAspect="1"/>
          </p:cNvGraphicFramePr>
          <p:nvPr>
            <p:extLst>
              <p:ext uri="{D42A27DB-BD31-4B8C-83A1-F6EECF244321}">
                <p14:modId xmlns:p14="http://schemas.microsoft.com/office/powerpoint/2010/main" val="1741897007"/>
              </p:ext>
            </p:extLst>
          </p:nvPr>
        </p:nvGraphicFramePr>
        <p:xfrm>
          <a:off x="4756853" y="2060848"/>
          <a:ext cx="3743325" cy="3154363"/>
        </p:xfrm>
        <a:graphic>
          <a:graphicData uri="http://schemas.openxmlformats.org/presentationml/2006/ole">
            <mc:AlternateContent xmlns:mc="http://schemas.openxmlformats.org/markup-compatibility/2006">
              <mc:Choice xmlns:v="urn:schemas-microsoft-com:vml" Requires="v">
                <p:oleObj spid="_x0000_s4099" name="位图图像" r:id="rId3" imgW="1324158" imgH="971686" progId="Paint.Picture">
                  <p:embed/>
                </p:oleObj>
              </mc:Choice>
              <mc:Fallback>
                <p:oleObj name="位图图像" r:id="rId3" imgW="1324158" imgH="971686" progId="Paint.Picture">
                  <p:embed/>
                  <p:pic>
                    <p:nvPicPr>
                      <p:cNvPr id="542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6853" y="2060848"/>
                        <a:ext cx="374332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6209513"/>
      </p:ext>
    </p:extLst>
  </p:cSld>
  <p:clrMapOvr>
    <a:masterClrMapping/>
  </p:clrMapOvr>
  <p:transition spd="med">
    <p:rand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539552" y="116632"/>
            <a:ext cx="7920038"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t>#include&lt;</a:t>
            </a:r>
            <a:r>
              <a:rPr lang="en-US" altLang="zh-CN" sz="2000" b="1" dirty="0" err="1"/>
              <a:t>stdio.h</a:t>
            </a:r>
            <a:r>
              <a:rPr lang="en-US" altLang="zh-CN" sz="2000" b="1" dirty="0"/>
              <a:t>&gt;</a:t>
            </a:r>
          </a:p>
          <a:p>
            <a:r>
              <a:rPr lang="en-US" altLang="zh-CN" sz="2000" b="1" dirty="0"/>
              <a:t>void </a:t>
            </a:r>
            <a:r>
              <a:rPr lang="en-US" altLang="zh-CN" sz="2000" b="1" dirty="0" err="1"/>
              <a:t>szt</a:t>
            </a:r>
            <a:r>
              <a:rPr lang="en-US" altLang="zh-CN" sz="2000" b="1" dirty="0"/>
              <a:t>(</a:t>
            </a:r>
            <a:r>
              <a:rPr lang="en-US" altLang="zh-CN" sz="2000" b="1" dirty="0" err="1"/>
              <a:t>int</a:t>
            </a:r>
            <a:r>
              <a:rPr lang="en-US" altLang="zh-CN" sz="2000" b="1" dirty="0"/>
              <a:t> n);</a:t>
            </a:r>
          </a:p>
          <a:p>
            <a:r>
              <a:rPr lang="en-US" altLang="zh-CN" sz="2000" b="1" dirty="0" err="1"/>
              <a:t>int</a:t>
            </a:r>
            <a:r>
              <a:rPr lang="en-US" altLang="zh-CN" sz="2000" b="1" dirty="0"/>
              <a:t> main()</a:t>
            </a:r>
          </a:p>
          <a:p>
            <a:r>
              <a:rPr lang="en-US" altLang="zh-CN" sz="2000" b="1" dirty="0" smtClean="0"/>
              <a:t>{            </a:t>
            </a:r>
            <a:r>
              <a:rPr lang="en-US" altLang="zh-CN" sz="2000" b="1" dirty="0" err="1" smtClean="0"/>
              <a:t>int</a:t>
            </a:r>
            <a:r>
              <a:rPr lang="en-US" altLang="zh-CN" sz="2000" b="1" dirty="0" smtClean="0"/>
              <a:t> </a:t>
            </a:r>
            <a:r>
              <a:rPr lang="en-US" altLang="zh-CN" sz="2000" b="1" dirty="0"/>
              <a:t>n;</a:t>
            </a:r>
          </a:p>
          <a:p>
            <a:r>
              <a:rPr lang="en-US" altLang="zh-CN" sz="2000" b="1" dirty="0"/>
              <a:t>	</a:t>
            </a:r>
            <a:r>
              <a:rPr lang="en-US" altLang="zh-CN" sz="2000" b="1" dirty="0" err="1"/>
              <a:t>printf</a:t>
            </a:r>
            <a:r>
              <a:rPr lang="en-US" altLang="zh-CN" sz="2000" b="1" dirty="0"/>
              <a:t>("Enter n:");</a:t>
            </a:r>
          </a:p>
          <a:p>
            <a:r>
              <a:rPr lang="en-US" altLang="zh-CN" sz="2000" b="1" dirty="0"/>
              <a:t>	</a:t>
            </a:r>
            <a:r>
              <a:rPr lang="en-US" altLang="zh-CN" sz="2000" b="1" dirty="0" err="1"/>
              <a:t>scanf</a:t>
            </a:r>
            <a:r>
              <a:rPr lang="en-US" altLang="zh-CN" sz="2000" b="1" dirty="0"/>
              <a:t>("%</a:t>
            </a:r>
            <a:r>
              <a:rPr lang="en-US" altLang="zh-CN" sz="2000" b="1" dirty="0" err="1"/>
              <a:t>d",&amp;n</a:t>
            </a:r>
            <a:r>
              <a:rPr lang="en-US" altLang="zh-CN" sz="2000" b="1" dirty="0"/>
              <a:t>);</a:t>
            </a:r>
          </a:p>
          <a:p>
            <a:r>
              <a:rPr lang="en-US" altLang="zh-CN" sz="2000" b="1" dirty="0"/>
              <a:t>	</a:t>
            </a:r>
            <a:r>
              <a:rPr lang="en-US" altLang="zh-CN" sz="2000" b="1" dirty="0" err="1"/>
              <a:t>szt</a:t>
            </a:r>
            <a:r>
              <a:rPr lang="en-US" altLang="zh-CN" sz="2000" b="1" dirty="0"/>
              <a:t>(n);</a:t>
            </a:r>
          </a:p>
          <a:p>
            <a:r>
              <a:rPr lang="en-US" altLang="zh-CN" sz="2000" b="1" dirty="0"/>
              <a:t>	return 0;</a:t>
            </a:r>
          </a:p>
          <a:p>
            <a:r>
              <a:rPr lang="en-US" altLang="zh-CN" sz="2000" b="1" dirty="0"/>
              <a:t>}</a:t>
            </a:r>
          </a:p>
          <a:p>
            <a:r>
              <a:rPr lang="en-US" altLang="zh-CN" sz="2000" b="1" dirty="0"/>
              <a:t>void </a:t>
            </a:r>
            <a:r>
              <a:rPr lang="en-US" altLang="zh-CN" sz="2000" b="1" dirty="0" err="1"/>
              <a:t>szt</a:t>
            </a:r>
            <a:r>
              <a:rPr lang="en-US" altLang="zh-CN" sz="2000" b="1" dirty="0"/>
              <a:t>(</a:t>
            </a:r>
            <a:r>
              <a:rPr lang="en-US" altLang="zh-CN" sz="2000" b="1" dirty="0" err="1"/>
              <a:t>int</a:t>
            </a:r>
            <a:r>
              <a:rPr lang="en-US" altLang="zh-CN" sz="2000" b="1" dirty="0"/>
              <a:t> n)</a:t>
            </a:r>
          </a:p>
          <a:p>
            <a:r>
              <a:rPr lang="en-US" altLang="zh-CN" sz="2000" b="1" dirty="0" smtClean="0"/>
              <a:t>{</a:t>
            </a:r>
            <a:r>
              <a:rPr lang="en-US" altLang="zh-CN" sz="2000" b="1" dirty="0"/>
              <a:t>	</a:t>
            </a:r>
            <a:r>
              <a:rPr lang="en-US" altLang="zh-CN" sz="2000" b="1" dirty="0" err="1"/>
              <a:t>int</a:t>
            </a:r>
            <a:r>
              <a:rPr lang="en-US" altLang="zh-CN" sz="2000" b="1" dirty="0"/>
              <a:t> </a:t>
            </a:r>
            <a:r>
              <a:rPr lang="en-US" altLang="zh-CN" sz="2000" b="1" dirty="0" err="1"/>
              <a:t>i,j</a:t>
            </a:r>
            <a:r>
              <a:rPr lang="en-US" altLang="zh-CN" sz="2000" b="1" dirty="0"/>
              <a:t>;</a:t>
            </a:r>
          </a:p>
          <a:p>
            <a:r>
              <a:rPr lang="en-US" altLang="zh-CN" sz="2000" b="1" dirty="0"/>
              <a:t>	for(</a:t>
            </a:r>
            <a:r>
              <a:rPr lang="en-US" altLang="zh-CN" sz="2000" b="1" dirty="0" err="1"/>
              <a:t>i</a:t>
            </a:r>
            <a:r>
              <a:rPr lang="en-US" altLang="zh-CN" sz="2000" b="1" dirty="0"/>
              <a:t>=1;i&lt;=</a:t>
            </a:r>
            <a:r>
              <a:rPr lang="en-US" altLang="zh-CN" sz="2000" b="1" dirty="0" err="1"/>
              <a:t>n;i</a:t>
            </a:r>
            <a:r>
              <a:rPr lang="en-US" altLang="zh-CN" sz="2000" b="1" dirty="0" smtClean="0"/>
              <a:t>++){</a:t>
            </a:r>
            <a:endParaRPr lang="en-US" altLang="zh-CN" sz="2000" b="1" dirty="0"/>
          </a:p>
          <a:p>
            <a:r>
              <a:rPr lang="en-US" altLang="zh-CN" sz="2000" b="1" dirty="0" smtClean="0"/>
              <a:t>                 for(j=1;j</a:t>
            </a:r>
            <a:r>
              <a:rPr lang="en-US" altLang="zh-CN" sz="2000" b="1" dirty="0"/>
              <a:t>&lt;=2*(n-</a:t>
            </a:r>
            <a:r>
              <a:rPr lang="en-US" altLang="zh-CN" sz="2000" b="1" dirty="0" err="1"/>
              <a:t>i</a:t>
            </a:r>
            <a:r>
              <a:rPr lang="en-US" altLang="zh-CN" sz="2000" b="1" dirty="0"/>
              <a:t>);</a:t>
            </a:r>
            <a:r>
              <a:rPr lang="en-US" altLang="zh-CN" sz="2000" b="1" dirty="0" err="1"/>
              <a:t>j++</a:t>
            </a:r>
            <a:r>
              <a:rPr lang="en-US" altLang="zh-CN" sz="2000" b="1" dirty="0"/>
              <a:t>)</a:t>
            </a:r>
          </a:p>
          <a:p>
            <a:r>
              <a:rPr lang="en-US" altLang="zh-CN" sz="2000" b="1" dirty="0"/>
              <a:t>            </a:t>
            </a:r>
            <a:r>
              <a:rPr lang="en-US" altLang="zh-CN" sz="2000" b="1" dirty="0" smtClean="0"/>
              <a:t>           </a:t>
            </a:r>
            <a:r>
              <a:rPr lang="en-US" altLang="zh-CN" sz="2000" b="1" dirty="0" err="1" smtClean="0"/>
              <a:t>printf</a:t>
            </a:r>
            <a:r>
              <a:rPr lang="en-US" altLang="zh-CN" sz="2000" b="1" dirty="0"/>
              <a:t>("%c",' ');</a:t>
            </a:r>
          </a:p>
          <a:p>
            <a:r>
              <a:rPr lang="en-US" altLang="zh-CN" sz="2000" b="1" dirty="0"/>
              <a:t>	</a:t>
            </a:r>
            <a:r>
              <a:rPr lang="en-US" altLang="zh-CN" sz="2000" b="1" dirty="0" smtClean="0"/>
              <a:t>    for(j=1;j</a:t>
            </a:r>
            <a:r>
              <a:rPr lang="en-US" altLang="zh-CN" sz="2000" b="1" dirty="0"/>
              <a:t>&lt;=</a:t>
            </a:r>
            <a:r>
              <a:rPr lang="en-US" altLang="zh-CN" sz="2000" b="1" dirty="0" err="1"/>
              <a:t>i;j</a:t>
            </a:r>
            <a:r>
              <a:rPr lang="en-US" altLang="zh-CN" sz="2000" b="1" dirty="0"/>
              <a:t>++)</a:t>
            </a:r>
          </a:p>
          <a:p>
            <a:r>
              <a:rPr lang="en-US" altLang="zh-CN" sz="2000" b="1" dirty="0"/>
              <a:t>	</a:t>
            </a:r>
            <a:r>
              <a:rPr lang="en-US" altLang="zh-CN" sz="2000" b="1" dirty="0" smtClean="0"/>
              <a:t>          </a:t>
            </a:r>
            <a:r>
              <a:rPr lang="en-US" altLang="zh-CN" sz="2000" b="1" dirty="0" err="1"/>
              <a:t>printf</a:t>
            </a:r>
            <a:r>
              <a:rPr lang="en-US" altLang="zh-CN" sz="2000" b="1" dirty="0"/>
              <a:t>("%-2d",j);</a:t>
            </a:r>
          </a:p>
          <a:p>
            <a:r>
              <a:rPr lang="en-US" altLang="zh-CN" sz="2000" b="1" dirty="0"/>
              <a:t>	</a:t>
            </a:r>
            <a:r>
              <a:rPr lang="en-US" altLang="zh-CN" sz="2000" b="1" dirty="0" smtClean="0"/>
              <a:t>    for(j=i-1;j</a:t>
            </a:r>
            <a:r>
              <a:rPr lang="en-US" altLang="zh-CN" sz="2000" b="1" dirty="0"/>
              <a:t>&gt;=1;j--)</a:t>
            </a:r>
          </a:p>
          <a:p>
            <a:r>
              <a:rPr lang="en-US" altLang="zh-CN" sz="2000" b="1" dirty="0"/>
              <a:t>	</a:t>
            </a:r>
            <a:r>
              <a:rPr lang="en-US" altLang="zh-CN" sz="2000" b="1" dirty="0" smtClean="0"/>
              <a:t>          </a:t>
            </a:r>
            <a:r>
              <a:rPr lang="en-US" altLang="zh-CN" sz="2000" b="1" dirty="0" err="1" smtClean="0"/>
              <a:t>printf</a:t>
            </a:r>
            <a:r>
              <a:rPr lang="en-US" altLang="zh-CN" sz="2000" b="1" dirty="0"/>
              <a:t>("%-2d",j);</a:t>
            </a:r>
          </a:p>
          <a:p>
            <a:r>
              <a:rPr lang="en-US" altLang="zh-CN" sz="2000" b="1" dirty="0"/>
              <a:t>        </a:t>
            </a:r>
            <a:r>
              <a:rPr lang="en-US" altLang="zh-CN" sz="2000" b="1" dirty="0" smtClean="0"/>
              <a:t>         </a:t>
            </a:r>
            <a:r>
              <a:rPr lang="en-US" altLang="zh-CN" sz="2000" b="1" dirty="0" err="1" smtClean="0"/>
              <a:t>printf</a:t>
            </a:r>
            <a:r>
              <a:rPr lang="en-US" altLang="zh-CN" sz="2000" b="1" dirty="0"/>
              <a:t>("\n");</a:t>
            </a:r>
          </a:p>
          <a:p>
            <a:r>
              <a:rPr lang="en-US" altLang="zh-CN" sz="2000" b="1" dirty="0"/>
              <a:t>	}</a:t>
            </a:r>
          </a:p>
          <a:p>
            <a:r>
              <a:rPr lang="en-US" altLang="zh-CN" sz="2000" b="1" dirty="0" smtClean="0"/>
              <a:t>}</a:t>
            </a:r>
            <a:endParaRPr lang="en-US" altLang="zh-CN" sz="2000" b="1" dirty="0"/>
          </a:p>
        </p:txBody>
      </p:sp>
      <p:graphicFrame>
        <p:nvGraphicFramePr>
          <p:cNvPr id="3" name="Object 4"/>
          <p:cNvGraphicFramePr>
            <a:graphicFrameLocks noChangeAspect="1"/>
          </p:cNvGraphicFramePr>
          <p:nvPr>
            <p:extLst>
              <p:ext uri="{D42A27DB-BD31-4B8C-83A1-F6EECF244321}">
                <p14:modId xmlns:p14="http://schemas.microsoft.com/office/powerpoint/2010/main" val="629391045"/>
              </p:ext>
            </p:extLst>
          </p:nvPr>
        </p:nvGraphicFramePr>
        <p:xfrm>
          <a:off x="4572000" y="107201"/>
          <a:ext cx="3743325" cy="3154363"/>
        </p:xfrm>
        <a:graphic>
          <a:graphicData uri="http://schemas.openxmlformats.org/presentationml/2006/ole">
            <mc:AlternateContent xmlns:mc="http://schemas.openxmlformats.org/markup-compatibility/2006">
              <mc:Choice xmlns:v="urn:schemas-microsoft-com:vml" Requires="v">
                <p:oleObj spid="_x0000_s3114" name="位图图像" r:id="rId3" imgW="1324158" imgH="971686" progId="Paint.Picture">
                  <p:embed/>
                </p:oleObj>
              </mc:Choice>
              <mc:Fallback>
                <p:oleObj name="位图图像" r:id="rId3" imgW="1324158" imgH="971686" progId="Paint.Picture">
                  <p:embed/>
                  <p:pic>
                    <p:nvPicPr>
                      <p:cNvPr id="542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07201"/>
                        <a:ext cx="374332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3"/>
          <p:cNvSpPr>
            <a:spLocks noGrp="1" noChangeArrowheads="1"/>
          </p:cNvSpPr>
          <p:nvPr>
            <p:ph type="body" idx="1"/>
          </p:nvPr>
        </p:nvSpPr>
        <p:spPr>
          <a:xfrm>
            <a:off x="457200" y="549275"/>
            <a:ext cx="8686800" cy="5318125"/>
          </a:xfrm>
        </p:spPr>
        <p:txBody>
          <a:bodyPr/>
          <a:lstStyle/>
          <a:p>
            <a:pPr>
              <a:buFont typeface="Wingdings" pitchFamily="2" charset="2"/>
              <a:buNone/>
            </a:pPr>
            <a:r>
              <a:rPr lang="zh-CN" altLang="en-US" smtClean="0"/>
              <a:t>补充</a:t>
            </a:r>
            <a:r>
              <a:rPr lang="en-US" altLang="zh-CN" dirty="0" smtClean="0"/>
              <a:t>2</a:t>
            </a:r>
            <a:r>
              <a:rPr lang="zh-CN" altLang="en-US" smtClean="0"/>
              <a:t>：从键盘上输入整数</a:t>
            </a:r>
            <a:r>
              <a:rPr lang="en-US" altLang="zh-CN" dirty="0" smtClean="0"/>
              <a:t>n</a:t>
            </a:r>
            <a:r>
              <a:rPr lang="zh-CN" altLang="en-US" smtClean="0"/>
              <a:t>，按以下格式输出</a:t>
            </a:r>
            <a:r>
              <a:rPr lang="en-US" altLang="zh-CN" dirty="0" smtClean="0"/>
              <a:t>n</a:t>
            </a:r>
            <a:r>
              <a:rPr lang="zh-CN" altLang="en-US" smtClean="0"/>
              <a:t>行</a:t>
            </a:r>
            <a:r>
              <a:rPr lang="en-US" altLang="zh-CN" dirty="0" smtClean="0"/>
              <a:t>2n-1</a:t>
            </a:r>
            <a:r>
              <a:rPr lang="zh-CN" altLang="en-US" smtClean="0"/>
              <a:t>列的图案（锯齿波波形图）。</a:t>
            </a:r>
          </a:p>
          <a:p>
            <a:pPr>
              <a:buFont typeface="Wingdings" pitchFamily="2" charset="2"/>
              <a:buNone/>
            </a:pPr>
            <a:r>
              <a:rPr lang="zh-CN" altLang="en-US" smtClean="0"/>
              <a:t>行下标取</a:t>
            </a:r>
            <a:r>
              <a:rPr lang="en-US" altLang="zh-CN" dirty="0" smtClean="0"/>
              <a:t>1</a:t>
            </a:r>
            <a:r>
              <a:rPr lang="zh-CN" altLang="en-US" smtClean="0"/>
              <a:t>到</a:t>
            </a:r>
            <a:r>
              <a:rPr lang="en-US" altLang="zh-CN" dirty="0" smtClean="0"/>
              <a:t>n</a:t>
            </a:r>
            <a:r>
              <a:rPr lang="zh-CN" altLang="en-US" smtClean="0"/>
              <a:t>，列下标取</a:t>
            </a:r>
            <a:r>
              <a:rPr lang="en-US" altLang="zh-CN" dirty="0" smtClean="0"/>
              <a:t>1</a:t>
            </a:r>
            <a:r>
              <a:rPr lang="zh-CN" altLang="en-US" smtClean="0"/>
              <a:t>到</a:t>
            </a:r>
            <a:r>
              <a:rPr lang="en-US" altLang="zh-CN" dirty="0" smtClean="0"/>
              <a:t>2n-1</a:t>
            </a:r>
            <a:r>
              <a:rPr lang="zh-CN" altLang="en-US" smtClean="0"/>
              <a:t>，输出图形的主要下标位置：</a:t>
            </a:r>
          </a:p>
        </p:txBody>
      </p:sp>
      <p:sp>
        <p:nvSpPr>
          <p:cNvPr id="56323" name="Rectangle 5"/>
          <p:cNvSpPr>
            <a:spLocks noChangeArrowheads="1"/>
          </p:cNvSpPr>
          <p:nvPr/>
        </p:nvSpPr>
        <p:spPr bwMode="auto">
          <a:xfrm>
            <a:off x="0" y="2143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pic>
        <p:nvPicPr>
          <p:cNvPr id="5632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2924175"/>
            <a:ext cx="6169025"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3"/>
          <p:cNvSpPr>
            <a:spLocks noGrp="1" noChangeArrowheads="1"/>
          </p:cNvSpPr>
          <p:nvPr>
            <p:ph type="body" idx="1"/>
          </p:nvPr>
        </p:nvSpPr>
        <p:spPr>
          <a:xfrm>
            <a:off x="107504" y="116632"/>
            <a:ext cx="8435975" cy="6408712"/>
          </a:xfrm>
        </p:spPr>
        <p:txBody>
          <a:bodyPr/>
          <a:lstStyle/>
          <a:p>
            <a:pPr>
              <a:lnSpc>
                <a:spcPct val="80000"/>
              </a:lnSpc>
              <a:buFont typeface="Wingdings" pitchFamily="2" charset="2"/>
              <a:buNone/>
            </a:pPr>
            <a:r>
              <a:rPr lang="en-US" altLang="zh-CN" sz="1800" dirty="0" smtClean="0">
                <a:solidFill>
                  <a:schemeClr val="tx1"/>
                </a:solidFill>
              </a:rPr>
              <a:t>#include &lt;</a:t>
            </a:r>
            <a:r>
              <a:rPr lang="en-US" altLang="zh-CN" sz="1800" dirty="0" err="1" smtClean="0">
                <a:solidFill>
                  <a:schemeClr val="tx1"/>
                </a:solidFill>
              </a:rPr>
              <a:t>stdio.h</a:t>
            </a:r>
            <a:r>
              <a:rPr lang="en-US" altLang="zh-CN" sz="1800" dirty="0" smtClean="0">
                <a:solidFill>
                  <a:schemeClr val="tx1"/>
                </a:solidFill>
              </a:rPr>
              <a:t>&gt;</a:t>
            </a:r>
          </a:p>
          <a:p>
            <a:pPr>
              <a:lnSpc>
                <a:spcPct val="80000"/>
              </a:lnSpc>
              <a:buFont typeface="Wingdings" pitchFamily="2" charset="2"/>
              <a:buNone/>
            </a:pPr>
            <a:r>
              <a:rPr lang="en-US" altLang="zh-CN" sz="1800" dirty="0"/>
              <a:t>void </a:t>
            </a:r>
            <a:r>
              <a:rPr lang="en-US" altLang="zh-CN" sz="1800" dirty="0" err="1"/>
              <a:t>tx</a:t>
            </a:r>
            <a:r>
              <a:rPr lang="en-US" altLang="zh-CN" sz="1800" dirty="0"/>
              <a:t>(</a:t>
            </a:r>
            <a:r>
              <a:rPr lang="en-US" altLang="zh-CN" sz="1800" dirty="0" err="1"/>
              <a:t>int</a:t>
            </a:r>
            <a:r>
              <a:rPr lang="en-US" altLang="zh-CN" sz="1800" dirty="0"/>
              <a:t> n);</a:t>
            </a:r>
            <a:endParaRPr lang="en-US" altLang="zh-CN" sz="1800" dirty="0" smtClean="0">
              <a:solidFill>
                <a:schemeClr val="tx1"/>
              </a:solidFill>
            </a:endParaRPr>
          </a:p>
          <a:p>
            <a:pPr>
              <a:lnSpc>
                <a:spcPct val="80000"/>
              </a:lnSpc>
              <a:buFont typeface="Wingdings" pitchFamily="2" charset="2"/>
              <a:buNone/>
            </a:pPr>
            <a:r>
              <a:rPr lang="en-US" altLang="zh-CN" sz="1800" dirty="0" err="1" smtClean="0">
                <a:solidFill>
                  <a:schemeClr val="tx1"/>
                </a:solidFill>
              </a:rPr>
              <a:t>int</a:t>
            </a:r>
            <a:r>
              <a:rPr lang="en-US" altLang="zh-CN" sz="1800" dirty="0" smtClean="0">
                <a:solidFill>
                  <a:schemeClr val="tx1"/>
                </a:solidFill>
              </a:rPr>
              <a:t> main()</a:t>
            </a:r>
          </a:p>
          <a:p>
            <a:pPr>
              <a:lnSpc>
                <a:spcPct val="80000"/>
              </a:lnSpc>
              <a:buFont typeface="Wingdings" pitchFamily="2" charset="2"/>
              <a:buNone/>
            </a:pPr>
            <a:r>
              <a:rPr lang="en-US" altLang="zh-CN" sz="1800" dirty="0" smtClean="0">
                <a:solidFill>
                  <a:schemeClr val="tx1"/>
                </a:solidFill>
              </a:rPr>
              <a:t>{  </a:t>
            </a:r>
            <a:r>
              <a:rPr lang="en-US" altLang="zh-CN" sz="1800" dirty="0" err="1" smtClean="0">
                <a:solidFill>
                  <a:schemeClr val="tx1"/>
                </a:solidFill>
              </a:rPr>
              <a:t>int</a:t>
            </a:r>
            <a:r>
              <a:rPr lang="en-US" altLang="zh-CN" sz="1800" dirty="0" smtClean="0">
                <a:solidFill>
                  <a:schemeClr val="tx1"/>
                </a:solidFill>
              </a:rPr>
              <a:t> n;</a:t>
            </a:r>
          </a:p>
          <a:p>
            <a:pPr>
              <a:lnSpc>
                <a:spcPct val="80000"/>
              </a:lnSpc>
              <a:buFont typeface="Wingdings" pitchFamily="2" charset="2"/>
              <a:buNone/>
            </a:pPr>
            <a:r>
              <a:rPr lang="en-US" altLang="zh-CN" sz="1800" dirty="0" smtClean="0">
                <a:solidFill>
                  <a:schemeClr val="tx1"/>
                </a:solidFill>
              </a:rPr>
              <a:t>	  </a:t>
            </a:r>
            <a:r>
              <a:rPr lang="en-US" altLang="zh-CN" sz="1800" dirty="0" err="1" smtClean="0">
                <a:solidFill>
                  <a:schemeClr val="tx1"/>
                </a:solidFill>
              </a:rPr>
              <a:t>printf</a:t>
            </a:r>
            <a:r>
              <a:rPr lang="en-US" altLang="zh-CN" sz="1800" dirty="0" smtClean="0">
                <a:solidFill>
                  <a:schemeClr val="tx1"/>
                </a:solidFill>
              </a:rPr>
              <a:t>("Enter n:");</a:t>
            </a:r>
          </a:p>
          <a:p>
            <a:pPr>
              <a:lnSpc>
                <a:spcPct val="80000"/>
              </a:lnSpc>
              <a:buFont typeface="Wingdings" pitchFamily="2" charset="2"/>
              <a:buNone/>
            </a:pPr>
            <a:r>
              <a:rPr lang="en-US" altLang="zh-CN" sz="1800" dirty="0" smtClean="0">
                <a:solidFill>
                  <a:schemeClr val="tx1"/>
                </a:solidFill>
              </a:rPr>
              <a:t>	  </a:t>
            </a:r>
            <a:r>
              <a:rPr lang="en-US" altLang="zh-CN" sz="1800" dirty="0" err="1" smtClean="0">
                <a:solidFill>
                  <a:schemeClr val="tx1"/>
                </a:solidFill>
              </a:rPr>
              <a:t>scanf</a:t>
            </a:r>
            <a:r>
              <a:rPr lang="en-US" altLang="zh-CN" sz="1800" dirty="0" smtClean="0">
                <a:solidFill>
                  <a:schemeClr val="tx1"/>
                </a:solidFill>
              </a:rPr>
              <a:t>("%d",&amp;n);</a:t>
            </a:r>
          </a:p>
          <a:p>
            <a:pPr>
              <a:lnSpc>
                <a:spcPct val="80000"/>
              </a:lnSpc>
              <a:buFont typeface="Wingdings" pitchFamily="2" charset="2"/>
              <a:buNone/>
            </a:pPr>
            <a:r>
              <a:rPr lang="en-US" altLang="zh-CN" sz="1800" dirty="0" smtClean="0">
                <a:solidFill>
                  <a:schemeClr val="tx1"/>
                </a:solidFill>
              </a:rPr>
              <a:t>	  </a:t>
            </a:r>
            <a:r>
              <a:rPr lang="en-US" altLang="zh-CN" sz="1800" dirty="0" err="1" smtClean="0">
                <a:solidFill>
                  <a:schemeClr val="tx1"/>
                </a:solidFill>
              </a:rPr>
              <a:t>tx</a:t>
            </a:r>
            <a:r>
              <a:rPr lang="en-US" altLang="zh-CN" sz="1800" dirty="0" smtClean="0">
                <a:solidFill>
                  <a:schemeClr val="tx1"/>
                </a:solidFill>
              </a:rPr>
              <a:t>(n);</a:t>
            </a:r>
          </a:p>
          <a:p>
            <a:pPr>
              <a:lnSpc>
                <a:spcPct val="80000"/>
              </a:lnSpc>
              <a:buFont typeface="Wingdings" pitchFamily="2" charset="2"/>
              <a:buNone/>
            </a:pPr>
            <a:r>
              <a:rPr lang="en-US" altLang="zh-CN" sz="1800" dirty="0" smtClean="0">
                <a:solidFill>
                  <a:schemeClr val="tx1"/>
                </a:solidFill>
              </a:rPr>
              <a:t>	  return 0;</a:t>
            </a:r>
          </a:p>
          <a:p>
            <a:pPr>
              <a:lnSpc>
                <a:spcPct val="80000"/>
              </a:lnSpc>
              <a:buFont typeface="Wingdings" pitchFamily="2" charset="2"/>
              <a:buNone/>
            </a:pPr>
            <a:r>
              <a:rPr lang="en-US" altLang="zh-CN" sz="1800" dirty="0" smtClean="0">
                <a:solidFill>
                  <a:schemeClr val="tx1"/>
                </a:solidFill>
              </a:rPr>
              <a:t>}	</a:t>
            </a:r>
          </a:p>
          <a:p>
            <a:pPr>
              <a:lnSpc>
                <a:spcPct val="80000"/>
              </a:lnSpc>
              <a:buFont typeface="Wingdings" pitchFamily="2" charset="2"/>
              <a:buNone/>
            </a:pPr>
            <a:r>
              <a:rPr lang="en-US" altLang="zh-CN" sz="1800" dirty="0" smtClean="0">
                <a:solidFill>
                  <a:schemeClr val="tx1"/>
                </a:solidFill>
              </a:rPr>
              <a:t>void tx(int n)</a:t>
            </a:r>
          </a:p>
          <a:p>
            <a:pPr>
              <a:lnSpc>
                <a:spcPct val="80000"/>
              </a:lnSpc>
              <a:buFont typeface="Wingdings" pitchFamily="2" charset="2"/>
              <a:buNone/>
            </a:pPr>
            <a:r>
              <a:rPr lang="en-US" altLang="zh-CN" sz="1800" dirty="0" smtClean="0">
                <a:solidFill>
                  <a:schemeClr val="tx1"/>
                </a:solidFill>
              </a:rPr>
              <a:t>{</a:t>
            </a:r>
          </a:p>
          <a:p>
            <a:pPr>
              <a:lnSpc>
                <a:spcPct val="80000"/>
              </a:lnSpc>
              <a:buFont typeface="Wingdings" pitchFamily="2" charset="2"/>
              <a:buNone/>
            </a:pPr>
            <a:r>
              <a:rPr lang="en-US" altLang="zh-CN" sz="1800" dirty="0" smtClean="0">
                <a:solidFill>
                  <a:schemeClr val="tx1"/>
                </a:solidFill>
              </a:rPr>
              <a:t>	int i,j;</a:t>
            </a:r>
          </a:p>
          <a:p>
            <a:pPr>
              <a:lnSpc>
                <a:spcPct val="80000"/>
              </a:lnSpc>
              <a:buFont typeface="Wingdings" pitchFamily="2" charset="2"/>
              <a:buNone/>
            </a:pPr>
            <a:r>
              <a:rPr lang="en-US" altLang="zh-CN" sz="1800" dirty="0" smtClean="0">
                <a:solidFill>
                  <a:schemeClr val="tx1"/>
                </a:solidFill>
              </a:rPr>
              <a:t>	for(i=1;i&lt;=n;i++){</a:t>
            </a:r>
          </a:p>
          <a:p>
            <a:pPr>
              <a:lnSpc>
                <a:spcPct val="80000"/>
              </a:lnSpc>
              <a:buFont typeface="Wingdings" pitchFamily="2" charset="2"/>
              <a:buNone/>
            </a:pPr>
            <a:r>
              <a:rPr lang="en-US" altLang="zh-CN" sz="1800" dirty="0" smtClean="0">
                <a:solidFill>
                  <a:schemeClr val="tx1"/>
                </a:solidFill>
              </a:rPr>
              <a:t>	    for(j=1;j&lt;=2*n-1;j++)</a:t>
            </a:r>
          </a:p>
          <a:p>
            <a:pPr>
              <a:lnSpc>
                <a:spcPct val="80000"/>
              </a:lnSpc>
              <a:buFont typeface="Wingdings" pitchFamily="2" charset="2"/>
              <a:buNone/>
            </a:pPr>
            <a:r>
              <a:rPr lang="en-US" altLang="zh-CN" sz="1800" dirty="0" smtClean="0">
                <a:solidFill>
                  <a:schemeClr val="tx1"/>
                </a:solidFill>
              </a:rPr>
              <a:t>	   {</a:t>
            </a:r>
          </a:p>
          <a:p>
            <a:pPr>
              <a:lnSpc>
                <a:spcPct val="80000"/>
              </a:lnSpc>
              <a:buFont typeface="Wingdings" pitchFamily="2" charset="2"/>
              <a:buNone/>
            </a:pPr>
            <a:r>
              <a:rPr lang="en-US" altLang="zh-CN" sz="1800" dirty="0" smtClean="0">
                <a:solidFill>
                  <a:schemeClr val="tx1"/>
                </a:solidFill>
              </a:rPr>
              <a:t>		if((i==j)||(j==1)||(j==n)||(j==2*n-1)||(j==n+i-1))</a:t>
            </a:r>
          </a:p>
          <a:p>
            <a:pPr>
              <a:lnSpc>
                <a:spcPct val="80000"/>
              </a:lnSpc>
              <a:buFont typeface="Wingdings" pitchFamily="2" charset="2"/>
              <a:buNone/>
            </a:pPr>
            <a:r>
              <a:rPr lang="en-US" altLang="zh-CN" sz="1800" dirty="0" smtClean="0">
                <a:solidFill>
                  <a:schemeClr val="tx1"/>
                </a:solidFill>
              </a:rPr>
              <a:t>	                 </a:t>
            </a:r>
            <a:r>
              <a:rPr lang="en-US" altLang="zh-CN" sz="1800" dirty="0" err="1" smtClean="0">
                <a:solidFill>
                  <a:schemeClr val="tx1"/>
                </a:solidFill>
              </a:rPr>
              <a:t>printf</a:t>
            </a:r>
            <a:r>
              <a:rPr lang="en-US" altLang="zh-CN" sz="1800" dirty="0" smtClean="0">
                <a:solidFill>
                  <a:schemeClr val="tx1"/>
                </a:solidFill>
              </a:rPr>
              <a:t>("@");</a:t>
            </a:r>
          </a:p>
          <a:p>
            <a:pPr>
              <a:lnSpc>
                <a:spcPct val="80000"/>
              </a:lnSpc>
              <a:buFont typeface="Wingdings" pitchFamily="2" charset="2"/>
              <a:buNone/>
            </a:pPr>
            <a:r>
              <a:rPr lang="en-US" altLang="zh-CN" sz="1800" dirty="0" smtClean="0">
                <a:solidFill>
                  <a:schemeClr val="tx1"/>
                </a:solidFill>
              </a:rPr>
              <a:t>		else</a:t>
            </a:r>
          </a:p>
          <a:p>
            <a:pPr>
              <a:lnSpc>
                <a:spcPct val="80000"/>
              </a:lnSpc>
              <a:buFont typeface="Wingdings" pitchFamily="2" charset="2"/>
              <a:buNone/>
            </a:pPr>
            <a:r>
              <a:rPr lang="en-US" altLang="zh-CN" sz="1800" dirty="0" smtClean="0">
                <a:solidFill>
                  <a:schemeClr val="tx1"/>
                </a:solidFill>
              </a:rPr>
              <a:t>		    </a:t>
            </a:r>
            <a:r>
              <a:rPr lang="en-US" altLang="zh-CN" sz="1800" dirty="0" err="1" smtClean="0">
                <a:solidFill>
                  <a:schemeClr val="tx1"/>
                </a:solidFill>
              </a:rPr>
              <a:t>printf</a:t>
            </a:r>
            <a:r>
              <a:rPr lang="en-US" altLang="zh-CN" sz="1800" dirty="0" smtClean="0">
                <a:solidFill>
                  <a:schemeClr val="tx1"/>
                </a:solidFill>
              </a:rPr>
              <a:t>(" ");</a:t>
            </a:r>
          </a:p>
          <a:p>
            <a:pPr>
              <a:lnSpc>
                <a:spcPct val="80000"/>
              </a:lnSpc>
              <a:buFont typeface="Wingdings" pitchFamily="2" charset="2"/>
              <a:buNone/>
            </a:pPr>
            <a:r>
              <a:rPr lang="en-US" altLang="zh-CN" sz="1800" dirty="0" smtClean="0">
                <a:solidFill>
                  <a:schemeClr val="tx1"/>
                </a:solidFill>
              </a:rPr>
              <a:t>		}</a:t>
            </a:r>
          </a:p>
          <a:p>
            <a:pPr>
              <a:lnSpc>
                <a:spcPct val="80000"/>
              </a:lnSpc>
              <a:buFont typeface="Wingdings" pitchFamily="2" charset="2"/>
              <a:buNone/>
            </a:pPr>
            <a:r>
              <a:rPr lang="en-US" altLang="zh-CN" sz="1800" dirty="0" smtClean="0">
                <a:solidFill>
                  <a:schemeClr val="tx1"/>
                </a:solidFill>
              </a:rPr>
              <a:t>		printf("\n");</a:t>
            </a:r>
          </a:p>
          <a:p>
            <a:pPr>
              <a:lnSpc>
                <a:spcPct val="80000"/>
              </a:lnSpc>
              <a:buFont typeface="Wingdings" pitchFamily="2" charset="2"/>
              <a:buNone/>
            </a:pPr>
            <a:r>
              <a:rPr lang="en-US" altLang="zh-CN" sz="1800" dirty="0" smtClean="0">
                <a:solidFill>
                  <a:schemeClr val="tx1"/>
                </a:solidFill>
              </a:rPr>
              <a:t>	}	</a:t>
            </a:r>
          </a:p>
          <a:p>
            <a:pPr>
              <a:lnSpc>
                <a:spcPct val="80000"/>
              </a:lnSpc>
              <a:buFont typeface="Wingdings" pitchFamily="2" charset="2"/>
              <a:buNone/>
            </a:pPr>
            <a:r>
              <a:rPr lang="en-US" altLang="zh-CN" sz="1800" dirty="0" smtClean="0">
                <a:solidFill>
                  <a:schemeClr val="tx1"/>
                </a:solidFill>
              </a:rPr>
              <a:t>}</a:t>
            </a:r>
          </a:p>
        </p:txBody>
      </p:sp>
      <p:sp>
        <p:nvSpPr>
          <p:cNvPr id="57347" name="Text Box 4"/>
          <p:cNvSpPr txBox="1">
            <a:spLocks noChangeArrowheads="1"/>
          </p:cNvSpPr>
          <p:nvPr/>
        </p:nvSpPr>
        <p:spPr bwMode="auto">
          <a:xfrm>
            <a:off x="5003800" y="620713"/>
            <a:ext cx="3889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zh-CN" altLang="en-US"/>
          </a:p>
        </p:txBody>
      </p:sp>
      <p:sp>
        <p:nvSpPr>
          <p:cNvPr id="57348" name="Text Box 5"/>
          <p:cNvSpPr txBox="1">
            <a:spLocks noChangeArrowheads="1"/>
          </p:cNvSpPr>
          <p:nvPr/>
        </p:nvSpPr>
        <p:spPr bwMode="auto">
          <a:xfrm>
            <a:off x="4332590" y="4725144"/>
            <a:ext cx="3598863" cy="10763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3200" b="1" dirty="0">
                <a:solidFill>
                  <a:srgbClr val="3333FF"/>
                </a:solidFill>
              </a:rPr>
              <a:t>行下标取</a:t>
            </a:r>
            <a:r>
              <a:rPr lang="en-US" altLang="zh-CN" sz="3200" b="1" dirty="0">
                <a:solidFill>
                  <a:srgbClr val="3333FF"/>
                </a:solidFill>
              </a:rPr>
              <a:t>1</a:t>
            </a:r>
            <a:r>
              <a:rPr lang="zh-CN" altLang="en-US" sz="3200" b="1" dirty="0">
                <a:solidFill>
                  <a:srgbClr val="3333FF"/>
                </a:solidFill>
              </a:rPr>
              <a:t>到</a:t>
            </a:r>
            <a:r>
              <a:rPr lang="en-US" altLang="zh-CN" sz="3200" b="1" dirty="0">
                <a:solidFill>
                  <a:srgbClr val="3333FF"/>
                </a:solidFill>
              </a:rPr>
              <a:t>n</a:t>
            </a:r>
            <a:r>
              <a:rPr lang="zh-CN" altLang="en-US" sz="3200" b="1" dirty="0">
                <a:solidFill>
                  <a:srgbClr val="3333FF"/>
                </a:solidFill>
              </a:rPr>
              <a:t>，</a:t>
            </a:r>
            <a:br>
              <a:rPr lang="zh-CN" altLang="en-US" sz="3200" b="1" dirty="0">
                <a:solidFill>
                  <a:srgbClr val="3333FF"/>
                </a:solidFill>
              </a:rPr>
            </a:br>
            <a:r>
              <a:rPr lang="zh-CN" altLang="en-US" sz="3200" b="1" dirty="0">
                <a:solidFill>
                  <a:srgbClr val="3333FF"/>
                </a:solidFill>
              </a:rPr>
              <a:t>列下标取</a:t>
            </a:r>
            <a:r>
              <a:rPr lang="en-US" altLang="zh-CN" sz="3200" b="1" dirty="0">
                <a:solidFill>
                  <a:srgbClr val="3333FF"/>
                </a:solidFill>
              </a:rPr>
              <a:t>1</a:t>
            </a:r>
            <a:r>
              <a:rPr lang="zh-CN" altLang="en-US" sz="3200" b="1" dirty="0">
                <a:solidFill>
                  <a:srgbClr val="3333FF"/>
                </a:solidFill>
              </a:rPr>
              <a:t>到</a:t>
            </a:r>
            <a:r>
              <a:rPr lang="en-US" altLang="zh-CN" sz="3200" b="1" dirty="0">
                <a:solidFill>
                  <a:srgbClr val="3333FF"/>
                </a:solidFill>
              </a:rPr>
              <a:t>2n-1</a:t>
            </a:r>
            <a:endParaRPr lang="zh-CN" altLang="en-US" sz="3200" b="1" dirty="0">
              <a:solidFill>
                <a:srgbClr val="3333FF"/>
              </a:solidFill>
            </a:endParaRP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370" y="447001"/>
            <a:ext cx="4967957" cy="284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772567"/>
            <a:ext cx="7924800" cy="784225"/>
          </a:xfrm>
        </p:spPr>
        <p:txBody>
          <a:bodyPr/>
          <a:lstStyle/>
          <a:p>
            <a:r>
              <a:rPr lang="zh-CN" altLang="en-US" dirty="0" smtClean="0"/>
              <a:t>本章小结</a:t>
            </a:r>
            <a:endParaRPr lang="zh-CN" altLang="en-US" dirty="0"/>
          </a:p>
        </p:txBody>
      </p:sp>
      <p:sp>
        <p:nvSpPr>
          <p:cNvPr id="3" name="内容占位符 2"/>
          <p:cNvSpPr>
            <a:spLocks noGrp="1"/>
          </p:cNvSpPr>
          <p:nvPr>
            <p:ph idx="1"/>
          </p:nvPr>
        </p:nvSpPr>
        <p:spPr>
          <a:xfrm>
            <a:off x="755576" y="1556792"/>
            <a:ext cx="7993063" cy="5157787"/>
          </a:xfrm>
        </p:spPr>
        <p:txBody>
          <a:bodyPr/>
          <a:lstStyle/>
          <a:p>
            <a:r>
              <a:rPr lang="zh-CN" altLang="en-US" dirty="0" smtClean="0"/>
              <a:t>函数是构成</a:t>
            </a:r>
            <a:r>
              <a:rPr lang="en-US" altLang="zh-CN" dirty="0" smtClean="0"/>
              <a:t>C</a:t>
            </a:r>
            <a:r>
              <a:rPr lang="zh-CN" altLang="en-US" dirty="0" smtClean="0"/>
              <a:t>语言的基本单位</a:t>
            </a:r>
            <a:endParaRPr lang="en-US" altLang="zh-CN" dirty="0" smtClean="0"/>
          </a:p>
          <a:p>
            <a:r>
              <a:rPr lang="zh-CN" altLang="en-US" dirty="0" smtClean="0"/>
              <a:t>使用前先定义后引用</a:t>
            </a:r>
            <a:endParaRPr lang="en-US" altLang="zh-CN" dirty="0" smtClean="0"/>
          </a:p>
          <a:p>
            <a:r>
              <a:rPr lang="zh-CN" altLang="en-US" dirty="0" smtClean="0"/>
              <a:t>通过调用函数方式来使用函数</a:t>
            </a:r>
            <a:endParaRPr lang="en-US" altLang="zh-CN" dirty="0" smtClean="0"/>
          </a:p>
          <a:p>
            <a:r>
              <a:rPr lang="zh-CN" altLang="en-US" dirty="0" smtClean="0"/>
              <a:t>有参函数在调用过程中会发生值的传递，分为单向的值传递和双向的地址传递</a:t>
            </a:r>
            <a:endParaRPr lang="en-US" altLang="zh-CN" dirty="0" smtClean="0"/>
          </a:p>
          <a:p>
            <a:r>
              <a:rPr lang="zh-CN" altLang="en-US" dirty="0" smtClean="0"/>
              <a:t>嵌套调用和递归调用</a:t>
            </a:r>
            <a:endParaRPr lang="en-US" altLang="zh-CN" dirty="0" smtClean="0"/>
          </a:p>
          <a:p>
            <a:r>
              <a:rPr lang="zh-CN" altLang="en-US" dirty="0" smtClean="0"/>
              <a:t>局部变量和全局变量</a:t>
            </a:r>
            <a:endParaRPr lang="en-US" altLang="zh-CN" dirty="0" smtClean="0"/>
          </a:p>
          <a:p>
            <a:r>
              <a:rPr lang="zh-CN" altLang="en-US" dirty="0" smtClean="0"/>
              <a:t>动态存储变量和静态存储变量</a:t>
            </a:r>
            <a:endParaRPr lang="en-US" altLang="zh-CN" dirty="0" smtClean="0"/>
          </a:p>
          <a:p>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1B21A633-576F-46D6-9FAA-ECFADAC6F967}" type="slidenum">
              <a:rPr lang="en-US" altLang="zh-CN" smtClean="0"/>
              <a:pPr>
                <a:defRPr/>
              </a:pPr>
              <a:t>88</a:t>
            </a:fld>
            <a:endParaRPr lang="en-US" altLang="zh-CN" dirty="0"/>
          </a:p>
        </p:txBody>
      </p:sp>
    </p:spTree>
    <p:extLst>
      <p:ext uri="{BB962C8B-B14F-4D97-AF65-F5344CB8AC3E}">
        <p14:creationId xmlns:p14="http://schemas.microsoft.com/office/powerpoint/2010/main" val="2292677616"/>
      </p:ext>
    </p:extLst>
  </p:cSld>
  <p:clrMapOvr>
    <a:masterClrMapping/>
  </p:clrMapOvr>
  <p:transition spd="med">
    <p:random/>
  </p:transition>
</p:sld>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2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2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2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2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7474</TotalTime>
  <Words>8079</Words>
  <Application>Microsoft Office PowerPoint</Application>
  <PresentationFormat>全屏显示(4:3)</PresentationFormat>
  <Paragraphs>1107</Paragraphs>
  <Slides>89</Slides>
  <Notes>1</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89</vt:i4>
      </vt:variant>
    </vt:vector>
  </HeadingPairs>
  <TitlesOfParts>
    <vt:vector size="103" baseType="lpstr">
      <vt:lpstr>Dotum</vt:lpstr>
      <vt:lpstr>Gautami</vt:lpstr>
      <vt:lpstr>方正姚体</vt:lpstr>
      <vt:lpstr>仿宋_GB2312</vt:lpstr>
      <vt:lpstr>黑体</vt:lpstr>
      <vt:lpstr>华文楷体</vt:lpstr>
      <vt:lpstr>宋体</vt:lpstr>
      <vt:lpstr>Arial</vt:lpstr>
      <vt:lpstr>Times New Roman</vt:lpstr>
      <vt:lpstr>Webdings</vt:lpstr>
      <vt:lpstr>Wingdings</vt:lpstr>
      <vt:lpstr>Capsules</vt:lpstr>
      <vt:lpstr>1_Capsules</vt:lpstr>
      <vt:lpstr>位图图像</vt:lpstr>
      <vt:lpstr>第5章 函数</vt:lpstr>
      <vt:lpstr>主要内容</vt:lpstr>
      <vt:lpstr>程序与函数</vt:lpstr>
      <vt:lpstr>程序与函数</vt:lpstr>
      <vt:lpstr>程序与函数</vt:lpstr>
      <vt:lpstr>程序与函数</vt:lpstr>
      <vt:lpstr>PowerPoint 演示文稿</vt:lpstr>
      <vt:lpstr>PowerPoint 演示文稿</vt:lpstr>
      <vt:lpstr>PowerPoint 演示文稿</vt:lpstr>
      <vt:lpstr>PowerPoint 演示文稿</vt:lpstr>
      <vt:lpstr>PowerPoint 演示文稿</vt:lpstr>
      <vt:lpstr>有返回值函数和无返回值函数</vt:lpstr>
      <vt:lpstr>无返回值函数</vt:lpstr>
      <vt:lpstr>无参函数和有参函数</vt:lpstr>
      <vt:lpstr>无参函数</vt:lpstr>
      <vt:lpstr>有参函数</vt:lpstr>
      <vt:lpstr>函数的定义</vt:lpstr>
      <vt:lpstr>函数的定义</vt:lpstr>
      <vt:lpstr>函数的定义</vt:lpstr>
      <vt:lpstr>函数的定义</vt:lpstr>
      <vt:lpstr>函数的定义</vt:lpstr>
      <vt:lpstr>函数的调用</vt:lpstr>
      <vt:lpstr>函数的调用</vt:lpstr>
      <vt:lpstr>函数的调用</vt:lpstr>
      <vt:lpstr>函数的调用</vt:lpstr>
      <vt:lpstr>函数的调用</vt:lpstr>
      <vt:lpstr>函数的调用</vt:lpstr>
      <vt:lpstr>函数的调用</vt:lpstr>
      <vt:lpstr>函数的调用</vt:lpstr>
      <vt:lpstr>函数的调用</vt:lpstr>
      <vt:lpstr>函数的调用</vt:lpstr>
      <vt:lpstr>函数的调用</vt:lpstr>
      <vt:lpstr>函数的调用</vt:lpstr>
      <vt:lpstr>函数的调用</vt:lpstr>
      <vt:lpstr>函数的调用  P118例</vt:lpstr>
      <vt:lpstr>函数的调用  P118例</vt:lpstr>
      <vt:lpstr>数组名作为函数的参数</vt:lpstr>
      <vt:lpstr>数组名作为函数的参数</vt:lpstr>
      <vt:lpstr>数组名作为函数的参数</vt:lpstr>
      <vt:lpstr>数组名作为函数的参数</vt:lpstr>
      <vt:lpstr>数组名作为函数的参数</vt:lpstr>
      <vt:lpstr>函数的应用</vt:lpstr>
      <vt:lpstr>函数的应用</vt:lpstr>
      <vt:lpstr>函数的应用</vt:lpstr>
      <vt:lpstr>函数的应用</vt:lpstr>
      <vt:lpstr>函数的应用</vt:lpstr>
      <vt:lpstr>函数的应用</vt:lpstr>
      <vt:lpstr>函数的应用</vt:lpstr>
      <vt:lpstr>函数的应用</vt:lpstr>
      <vt:lpstr>PowerPoint 演示文稿</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局部变量与全局变量</vt:lpstr>
      <vt:lpstr>局部变量与全局变量</vt:lpstr>
      <vt:lpstr>局部变量与全局变量</vt:lpstr>
      <vt:lpstr>局部变量与全局变量</vt:lpstr>
      <vt:lpstr>局部变量与全局变量</vt:lpstr>
      <vt:lpstr>局部变量与全局变量</vt:lpstr>
      <vt:lpstr>局部变量与全局变量</vt:lpstr>
      <vt:lpstr>局部变量与全局变量</vt:lpstr>
      <vt:lpstr>局部变量与全局变量</vt:lpstr>
      <vt:lpstr>变量的存储方式</vt:lpstr>
      <vt:lpstr>变量的存储方式</vt:lpstr>
      <vt:lpstr>变量的存储方式</vt:lpstr>
      <vt:lpstr>变量的存储方式</vt:lpstr>
      <vt:lpstr>变量的存储方式</vt:lpstr>
      <vt:lpstr>变量的存储方式</vt:lpstr>
      <vt:lpstr>变量的存储方式</vt:lpstr>
      <vt:lpstr>P63 例3-13</vt:lpstr>
      <vt:lpstr>PowerPoint 演示文稿</vt:lpstr>
      <vt:lpstr>例: 日期计算</vt:lpstr>
      <vt:lpstr>PowerPoint 演示文稿</vt:lpstr>
      <vt:lpstr>PowerPoint 演示文稿</vt:lpstr>
      <vt:lpstr>PowerPoint 演示文稿</vt:lpstr>
      <vt:lpstr>分析(以n=4为例)</vt:lpstr>
      <vt:lpstr>PowerPoint 演示文稿</vt:lpstr>
      <vt:lpstr>PowerPoint 演示文稿</vt:lpstr>
      <vt:lpstr>PowerPoint 演示文稿</vt:lpstr>
      <vt:lpstr>本章小结</vt:lpstr>
    </vt:vector>
  </TitlesOfParts>
  <Company>Shanghai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dc:title>
  <dc:creator>Richard M. Lu</dc:creator>
  <dc:description>2007年第五版</dc:description>
  <cp:lastModifiedBy>Windows 用户</cp:lastModifiedBy>
  <cp:revision>1137</cp:revision>
  <dcterms:created xsi:type="dcterms:W3CDTF">2007-07-11T13:28:25Z</dcterms:created>
  <dcterms:modified xsi:type="dcterms:W3CDTF">2020-02-27T15:39:12Z</dcterms:modified>
</cp:coreProperties>
</file>