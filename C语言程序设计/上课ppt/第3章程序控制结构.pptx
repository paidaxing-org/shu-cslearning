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3" r:id="rId1"/>
    <p:sldMasterId id="2147483737" r:id="rId2"/>
  </p:sldMasterIdLst>
  <p:notesMasterIdLst>
    <p:notesMasterId r:id="rId118"/>
  </p:notesMasterIdLst>
  <p:sldIdLst>
    <p:sldId id="955" r:id="rId3"/>
    <p:sldId id="1086" r:id="rId4"/>
    <p:sldId id="1274" r:id="rId5"/>
    <p:sldId id="1088" r:id="rId6"/>
    <p:sldId id="1223" r:id="rId7"/>
    <p:sldId id="1091" r:id="rId8"/>
    <p:sldId id="1275" r:id="rId9"/>
    <p:sldId id="1077" r:id="rId10"/>
    <p:sldId id="1224" r:id="rId11"/>
    <p:sldId id="1225" r:id="rId12"/>
    <p:sldId id="1227" r:id="rId13"/>
    <p:sldId id="1062" r:id="rId14"/>
    <p:sldId id="1226" r:id="rId15"/>
    <p:sldId id="1228" r:id="rId16"/>
    <p:sldId id="1230" r:id="rId17"/>
    <p:sldId id="1069" r:id="rId18"/>
    <p:sldId id="1232" r:id="rId19"/>
    <p:sldId id="1231" r:id="rId20"/>
    <p:sldId id="1233" r:id="rId21"/>
    <p:sldId id="1046" r:id="rId22"/>
    <p:sldId id="1271" r:id="rId23"/>
    <p:sldId id="1076" r:id="rId24"/>
    <p:sldId id="1234" r:id="rId25"/>
    <p:sldId id="1272" r:id="rId26"/>
    <p:sldId id="1235" r:id="rId27"/>
    <p:sldId id="1093" r:id="rId28"/>
    <p:sldId id="1094" r:id="rId29"/>
    <p:sldId id="1052" r:id="rId30"/>
    <p:sldId id="1055" r:id="rId31"/>
    <p:sldId id="1050" r:id="rId32"/>
    <p:sldId id="1095" r:id="rId33"/>
    <p:sldId id="1236" r:id="rId34"/>
    <p:sldId id="1238" r:id="rId35"/>
    <p:sldId id="1083" r:id="rId36"/>
    <p:sldId id="1051" r:id="rId37"/>
    <p:sldId id="1049" r:id="rId38"/>
    <p:sldId id="1085" r:id="rId39"/>
    <p:sldId id="1240" r:id="rId40"/>
    <p:sldId id="1241" r:id="rId41"/>
    <p:sldId id="1276" r:id="rId42"/>
    <p:sldId id="1097" r:id="rId43"/>
    <p:sldId id="1099" r:id="rId44"/>
    <p:sldId id="1100" r:id="rId45"/>
    <p:sldId id="1103" r:id="rId46"/>
    <p:sldId id="1245" r:id="rId47"/>
    <p:sldId id="1242" r:id="rId48"/>
    <p:sldId id="1104" r:id="rId49"/>
    <p:sldId id="1243" r:id="rId50"/>
    <p:sldId id="1111" r:id="rId51"/>
    <p:sldId id="1180" r:id="rId52"/>
    <p:sldId id="1246" r:id="rId53"/>
    <p:sldId id="1182" r:id="rId54"/>
    <p:sldId id="1105" r:id="rId55"/>
    <p:sldId id="1106" r:id="rId56"/>
    <p:sldId id="1221" r:id="rId57"/>
    <p:sldId id="1107" r:id="rId58"/>
    <p:sldId id="1108" r:id="rId59"/>
    <p:sldId id="1273" r:id="rId60"/>
    <p:sldId id="1113" r:id="rId61"/>
    <p:sldId id="1121" r:id="rId62"/>
    <p:sldId id="1186" r:id="rId63"/>
    <p:sldId id="1206" r:id="rId64"/>
    <p:sldId id="1249" r:id="rId65"/>
    <p:sldId id="1207" r:id="rId66"/>
    <p:sldId id="1187" r:id="rId67"/>
    <p:sldId id="1127" r:id="rId68"/>
    <p:sldId id="1128" r:id="rId69"/>
    <p:sldId id="1250" r:id="rId70"/>
    <p:sldId id="1188" r:id="rId71"/>
    <p:sldId id="1208" r:id="rId72"/>
    <p:sldId id="1132" r:id="rId73"/>
    <p:sldId id="1190" r:id="rId74"/>
    <p:sldId id="1133" r:id="rId75"/>
    <p:sldId id="1247" r:id="rId76"/>
    <p:sldId id="1114" r:id="rId77"/>
    <p:sldId id="1118" r:id="rId78"/>
    <p:sldId id="1119" r:id="rId79"/>
    <p:sldId id="1191" r:id="rId80"/>
    <p:sldId id="1252" r:id="rId81"/>
    <p:sldId id="1253" r:id="rId82"/>
    <p:sldId id="1142" r:id="rId83"/>
    <p:sldId id="1143" r:id="rId84"/>
    <p:sldId id="1277" r:id="rId85"/>
    <p:sldId id="1155" r:id="rId86"/>
    <p:sldId id="1156" r:id="rId87"/>
    <p:sldId id="1115" r:id="rId88"/>
    <p:sldId id="1184" r:id="rId89"/>
    <p:sldId id="1116" r:id="rId90"/>
    <p:sldId id="1146" r:id="rId91"/>
    <p:sldId id="1147" r:id="rId92"/>
    <p:sldId id="1157" r:id="rId93"/>
    <p:sldId id="1152" r:id="rId94"/>
    <p:sldId id="1153" r:id="rId95"/>
    <p:sldId id="1154" r:id="rId96"/>
    <p:sldId id="1164" r:id="rId97"/>
    <p:sldId id="1165" r:id="rId98"/>
    <p:sldId id="1166" r:id="rId99"/>
    <p:sldId id="1167" r:id="rId100"/>
    <p:sldId id="1168" r:id="rId101"/>
    <p:sldId id="1169" r:id="rId102"/>
    <p:sldId id="1170" r:id="rId103"/>
    <p:sldId id="1255" r:id="rId104"/>
    <p:sldId id="1270" r:id="rId105"/>
    <p:sldId id="1260" r:id="rId106"/>
    <p:sldId id="1262" r:id="rId107"/>
    <p:sldId id="1263" r:id="rId108"/>
    <p:sldId id="1173" r:id="rId109"/>
    <p:sldId id="1174" r:id="rId110"/>
    <p:sldId id="1175" r:id="rId111"/>
    <p:sldId id="1176" r:id="rId112"/>
    <p:sldId id="1177" r:id="rId113"/>
    <p:sldId id="1178" r:id="rId114"/>
    <p:sldId id="1179" r:id="rId115"/>
    <p:sldId id="1203" r:id="rId116"/>
    <p:sldId id="1204" r:id="rId11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2D1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45" autoAdjust="0"/>
    <p:restoredTop sz="94352" autoAdjust="0"/>
  </p:normalViewPr>
  <p:slideViewPr>
    <p:cSldViewPr>
      <p:cViewPr varScale="1">
        <p:scale>
          <a:sx n="76" d="100"/>
          <a:sy n="76" d="100"/>
        </p:scale>
        <p:origin x="-102" y="-3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51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0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3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33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fld id="{7C6A1E1C-D592-4F5A-BFD1-E17CA2CB65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6849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6A1E1C-D592-4F5A-BFD1-E17CA2CB6521}" type="slidenum">
              <a:rPr lang="en-US" altLang="zh-CN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5434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37394E63-2028-4621-9023-EFE66F111451}" type="slidenum">
              <a:rPr kumimoji="1" lang="zh-CN" altLang="en-US">
                <a:latin typeface="Times New Roman" panose="02020603050405020304" pitchFamily="18" charset="0"/>
              </a:rPr>
              <a:pPr algn="r" eaLnBrk="1" hangingPunct="1"/>
              <a:t>21</a:t>
            </a:fld>
            <a:endParaRPr kumimoji="1" lang="en-US" altLang="zh-CN">
              <a:latin typeface="Times New Roman" panose="0202060305040502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zh-CN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6A1E1C-D592-4F5A-BFD1-E17CA2CB6521}" type="slidenum">
              <a:rPr lang="en-US" altLang="zh-CN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504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>
              <a:latin typeface="Arial" panose="020B0604020202020204" pitchFamily="34" charset="0"/>
            </a:endParaRPr>
          </a:p>
        </p:txBody>
      </p:sp>
      <p:sp>
        <p:nvSpPr>
          <p:cNvPr id="16486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6E1A4F-CA17-46F8-8540-C17629B4443A}" type="slidenum">
              <a:rPr lang="en-US" altLang="zh-CN"/>
              <a:pPr/>
              <a:t>97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upp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406775"/>
            <a:ext cx="7397750" cy="1822450"/>
          </a:xfrm>
        </p:spPr>
        <p:txBody>
          <a:bodyPr lIns="91440" tIns="45720" rIns="91440" bIns="45720" anchor="b"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8340" name="AutoShap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63638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962911553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933B7-A7B3-4473-9BE9-F46830E54F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1410443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08231C-4BBC-4601-8561-8A7684A930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3557750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700213"/>
            <a:ext cx="3919538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700213"/>
            <a:ext cx="392112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FCA51C-D40E-4C02-A08B-1407D86545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0260818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4AA171-6C5B-4C20-8972-A7A5D9E1D0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2457751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B696DC-8491-4D41-992E-E773A7D3B0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343083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50483-904A-4F6F-BCB6-6F6C8048DF2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4172034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97529F-0A7F-4587-9469-8BA5ECCDF3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8257953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8AC497-3166-4C87-939D-F6084D97F8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3101932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4C48C5-6C64-4578-A482-4F8DF88313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2264608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765175"/>
            <a:ext cx="1997075" cy="5472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765175"/>
            <a:ext cx="5843588" cy="5472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13799E-1832-44B9-9909-42B11C298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89865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3193ED-A2BE-4762-9861-8504542B086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41995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upp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406775"/>
            <a:ext cx="7397750" cy="1822450"/>
          </a:xfrm>
        </p:spPr>
        <p:txBody>
          <a:bodyPr lIns="91440" tIns="45720" rIns="91440" bIns="45720" anchor="b"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8340" name="AutoShap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63638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52128636"/>
      </p:ext>
    </p:extLst>
  </p:cSld>
  <p:clrMapOvr>
    <a:masterClrMapping/>
  </p:clrMapOvr>
  <p:transition spd="med">
    <p:rand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E8B96D-C35D-4D96-AF4A-486C334D790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6761363"/>
      </p:ext>
    </p:extLst>
  </p:cSld>
  <p:clrMapOvr>
    <a:masterClrMapping/>
  </p:clrMapOvr>
  <p:transition spd="med">
    <p:rand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71F8C1-0E86-4CCC-95AA-8DF4F426DC8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793205"/>
      </p:ext>
    </p:extLst>
  </p:cSld>
  <p:clrMapOvr>
    <a:masterClrMapping/>
  </p:clrMapOvr>
  <p:transition spd="med">
    <p:random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700213"/>
            <a:ext cx="3919538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700213"/>
            <a:ext cx="392112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1E84E5-6CF2-4D3B-8C8F-888C0FF53E3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4480111"/>
      </p:ext>
    </p:extLst>
  </p:cSld>
  <p:clrMapOvr>
    <a:masterClrMapping/>
  </p:clrMapOvr>
  <p:transition spd="med">
    <p:random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541AD8-7243-4B07-9269-29AC68D6B1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4852494"/>
      </p:ext>
    </p:extLst>
  </p:cSld>
  <p:clrMapOvr>
    <a:masterClrMapping/>
  </p:clrMapOvr>
  <p:transition spd="med">
    <p:random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126BA6-D296-404A-BF2B-3C183FE362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4087388"/>
      </p:ext>
    </p:extLst>
  </p:cSld>
  <p:clrMapOvr>
    <a:masterClrMapping/>
  </p:clrMapOvr>
  <p:transition spd="med">
    <p:random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7A49C0-2A3A-492A-ADA0-270564D64C1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2348557"/>
      </p:ext>
    </p:extLst>
  </p:cSld>
  <p:clrMapOvr>
    <a:masterClrMapping/>
  </p:clrMapOvr>
  <p:transition spd="med">
    <p:random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7BB24A-7D96-4F11-AECF-4AA6B3B33E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4657331"/>
      </p:ext>
    </p:extLst>
  </p:cSld>
  <p:clrMapOvr>
    <a:masterClrMapping/>
  </p:clrMapOvr>
  <p:transition spd="med">
    <p:random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B57D94-ED36-4AFF-8B51-084D5426DCA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4518531"/>
      </p:ext>
    </p:extLst>
  </p:cSld>
  <p:clrMapOvr>
    <a:masterClrMapping/>
  </p:clrMapOvr>
  <p:transition spd="med">
    <p:random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D74946-F504-4628-97AF-861002F4797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3156767"/>
      </p:ext>
    </p:extLst>
  </p:cSld>
  <p:clrMapOvr>
    <a:masterClrMapping/>
  </p:clrMapOvr>
  <p:transition spd="med">
    <p:random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765175"/>
            <a:ext cx="1997075" cy="5472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765175"/>
            <a:ext cx="5843588" cy="5472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806F31-B457-4DEE-ABFB-59DAB98C40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4095830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525" y="1588"/>
            <a:ext cx="76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1027" name="Freeform 3"/>
          <p:cNvSpPr>
            <a:spLocks/>
          </p:cNvSpPr>
          <p:nvPr/>
        </p:nvSpPr>
        <p:spPr bwMode="auto">
          <a:xfrm>
            <a:off x="468313" y="0"/>
            <a:ext cx="2743200" cy="1052513"/>
          </a:xfrm>
          <a:custGeom>
            <a:avLst/>
            <a:gdLst>
              <a:gd name="T0" fmla="*/ 2147483647 w 1728"/>
              <a:gd name="T1" fmla="*/ 0 h 735"/>
              <a:gd name="T2" fmla="*/ 2147483647 w 1728"/>
              <a:gd name="T3" fmla="*/ 2147483647 h 735"/>
              <a:gd name="T4" fmla="*/ 2147483647 w 1728"/>
              <a:gd name="T5" fmla="*/ 2147483647 h 735"/>
              <a:gd name="T6" fmla="*/ 2147483647 w 1728"/>
              <a:gd name="T7" fmla="*/ 2147483647 h 735"/>
              <a:gd name="T8" fmla="*/ 2147483647 w 1728"/>
              <a:gd name="T9" fmla="*/ 2147483647 h 735"/>
              <a:gd name="T10" fmla="*/ 2147483647 w 1728"/>
              <a:gd name="T11" fmla="*/ 2147483647 h 735"/>
              <a:gd name="T12" fmla="*/ 2147483647 w 1728"/>
              <a:gd name="T13" fmla="*/ 2147483647 h 735"/>
              <a:gd name="T14" fmla="*/ 2147483647 w 1728"/>
              <a:gd name="T15" fmla="*/ 2147483647 h 735"/>
              <a:gd name="T16" fmla="*/ 2147483647 w 1728"/>
              <a:gd name="T17" fmla="*/ 2147483647 h 735"/>
              <a:gd name="T18" fmla="*/ 0 w 1728"/>
              <a:gd name="T19" fmla="*/ 2147483647 h 735"/>
              <a:gd name="T20" fmla="*/ 0 w 1728"/>
              <a:gd name="T21" fmla="*/ 2147483647 h 735"/>
              <a:gd name="T22" fmla="*/ 0 w 1728"/>
              <a:gd name="T23" fmla="*/ 0 h 735"/>
              <a:gd name="T24" fmla="*/ 2147483647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C7E8C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250825" y="1557338"/>
            <a:ext cx="7391400" cy="93662"/>
            <a:chOff x="144" y="1248"/>
            <a:chExt cx="4656" cy="201"/>
          </a:xfrm>
        </p:grpSpPr>
        <p:sp>
          <p:nvSpPr>
            <p:cNvPr id="1037" name="AutoShape 5"/>
            <p:cNvSpPr>
              <a:spLocks noChangeArrowheads="1"/>
            </p:cNvSpPr>
            <p:nvPr userDrawn="1"/>
          </p:nvSpPr>
          <p:spPr bwMode="auto">
            <a:xfrm>
              <a:off x="384" y="1248"/>
              <a:ext cx="4416" cy="201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endParaRPr lang="zh-CN" altLang="en-US" smtClean="0"/>
            </a:p>
          </p:txBody>
        </p:sp>
        <p:sp>
          <p:nvSpPr>
            <p:cNvPr id="1038" name="AutoShape 6"/>
            <p:cNvSpPr>
              <a:spLocks noChangeArrowheads="1"/>
            </p:cNvSpPr>
            <p:nvPr userDrawn="1"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endParaRPr lang="zh-CN" altLang="en-US" smtClean="0"/>
            </a:p>
          </p:txBody>
        </p:sp>
      </p:grpSp>
      <p:sp>
        <p:nvSpPr>
          <p:cNvPr id="397319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73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700213"/>
            <a:ext cx="7993063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73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00563" y="6524625"/>
            <a:ext cx="45767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0000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73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08725"/>
            <a:ext cx="58737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fld id="{F46D4BD5-E5E4-47ED-A464-02C2280D2BE7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107950" y="4078288"/>
            <a:ext cx="5492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FFCC"/>
                </a:solidFill>
                <a:ea typeface="方正姚体" pitchFamily="2" charset="-122"/>
              </a:rPr>
              <a:t>计算中心编制</a:t>
            </a:r>
          </a:p>
        </p:txBody>
      </p:sp>
      <p:sp>
        <p:nvSpPr>
          <p:cNvPr id="1034" name="Rectangle 12"/>
          <p:cNvSpPr>
            <a:spLocks noChangeArrowheads="1"/>
          </p:cNvSpPr>
          <p:nvPr/>
        </p:nvSpPr>
        <p:spPr bwMode="auto">
          <a:xfrm>
            <a:off x="3197225" y="4763"/>
            <a:ext cx="3097213" cy="692150"/>
          </a:xfrm>
          <a:prstGeom prst="rect">
            <a:avLst/>
          </a:prstGeom>
          <a:gradFill rotWithShape="1">
            <a:gsLst>
              <a:gs pos="0">
                <a:srgbClr val="C7E8C4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endParaRPr lang="zh-CN" altLang="en-US" smtClean="0"/>
          </a:p>
        </p:txBody>
      </p:sp>
      <p:sp>
        <p:nvSpPr>
          <p:cNvPr id="397325" name="Text Box 13"/>
          <p:cNvSpPr txBox="1">
            <a:spLocks noChangeArrowheads="1"/>
          </p:cNvSpPr>
          <p:nvPr/>
        </p:nvSpPr>
        <p:spPr bwMode="auto">
          <a:xfrm>
            <a:off x="1116013" y="112713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楷体" pitchFamily="2" charset="-122"/>
              </a:rPr>
              <a:t>上海大学</a:t>
            </a:r>
            <a:r>
              <a:rPr lang="zh-CN" altLang="en-US" sz="3200" b="1">
                <a:solidFill>
                  <a:srgbClr val="FFFFCC"/>
                </a:solidFill>
                <a:latin typeface="Arial" charset="0"/>
                <a:ea typeface="华文楷体" pitchFamily="2" charset="-122"/>
              </a:rPr>
              <a:t>    </a:t>
            </a:r>
            <a:r>
              <a:rPr lang="en-US" altLang="zh-CN" sz="2200" b="1" dirty="0">
                <a:solidFill>
                  <a:srgbClr val="339933"/>
                </a:solidFill>
                <a:latin typeface="Gautami" pitchFamily="2"/>
                <a:ea typeface="Dotum" pitchFamily="34" charset="-127"/>
              </a:rPr>
              <a:t>Shanghai University</a:t>
            </a:r>
          </a:p>
        </p:txBody>
      </p:sp>
      <p:pic>
        <p:nvPicPr>
          <p:cNvPr id="1036" name="Picture 14" descr="bg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69850"/>
            <a:ext cx="6000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35" r:id="rId2"/>
    <p:sldLayoutId id="2147484236" r:id="rId3"/>
    <p:sldLayoutId id="2147484237" r:id="rId4"/>
    <p:sldLayoutId id="2147484238" r:id="rId5"/>
    <p:sldLayoutId id="2147484239" r:id="rId6"/>
    <p:sldLayoutId id="2147484240" r:id="rId7"/>
    <p:sldLayoutId id="2147484241" r:id="rId8"/>
    <p:sldLayoutId id="2147484242" r:id="rId9"/>
    <p:sldLayoutId id="2147484243" r:id="rId10"/>
    <p:sldLayoutId id="2147484244" r:id="rId11"/>
    <p:sldLayoutId id="2147484256" r:id="rId12"/>
  </p:sldLayoutIdLst>
  <p:transition spd="med">
    <p:random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9pPr>
    </p:titleStyle>
    <p:bodyStyle>
      <a:lvl1pPr marL="92075" indent="-92075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75000"/>
        <a:buFont typeface="Webdings" panose="05030102010509060703" pitchFamily="18" charset="2"/>
        <a:buChar char="·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57188" indent="-8572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]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622300" indent="-85725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SzPct val="75000"/>
        <a:buFont typeface="Wingdings" panose="05000000000000000000" pitchFamily="2" charset="2"/>
        <a:buChar char="µ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808038" indent="-63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987425" indent="8413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4446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19018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590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8162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9525" y="1588"/>
            <a:ext cx="76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endParaRPr lang="zh-CN" altLang="en-US" smtClean="0">
              <a:solidFill>
                <a:srgbClr val="003366"/>
              </a:solidFill>
            </a:endParaRPr>
          </a:p>
        </p:txBody>
      </p:sp>
      <p:sp>
        <p:nvSpPr>
          <p:cNvPr id="2051" name="Freeform 3"/>
          <p:cNvSpPr>
            <a:spLocks/>
          </p:cNvSpPr>
          <p:nvPr/>
        </p:nvSpPr>
        <p:spPr bwMode="auto">
          <a:xfrm>
            <a:off x="468313" y="0"/>
            <a:ext cx="2743200" cy="1052513"/>
          </a:xfrm>
          <a:custGeom>
            <a:avLst/>
            <a:gdLst>
              <a:gd name="T0" fmla="*/ 2147483647 w 1728"/>
              <a:gd name="T1" fmla="*/ 0 h 735"/>
              <a:gd name="T2" fmla="*/ 2147483647 w 1728"/>
              <a:gd name="T3" fmla="*/ 2147483647 h 735"/>
              <a:gd name="T4" fmla="*/ 2147483647 w 1728"/>
              <a:gd name="T5" fmla="*/ 2147483647 h 735"/>
              <a:gd name="T6" fmla="*/ 2147483647 w 1728"/>
              <a:gd name="T7" fmla="*/ 2147483647 h 735"/>
              <a:gd name="T8" fmla="*/ 2147483647 w 1728"/>
              <a:gd name="T9" fmla="*/ 2147483647 h 735"/>
              <a:gd name="T10" fmla="*/ 2147483647 w 1728"/>
              <a:gd name="T11" fmla="*/ 2147483647 h 735"/>
              <a:gd name="T12" fmla="*/ 2147483647 w 1728"/>
              <a:gd name="T13" fmla="*/ 2147483647 h 735"/>
              <a:gd name="T14" fmla="*/ 2147483647 w 1728"/>
              <a:gd name="T15" fmla="*/ 2147483647 h 735"/>
              <a:gd name="T16" fmla="*/ 2147483647 w 1728"/>
              <a:gd name="T17" fmla="*/ 2147483647 h 735"/>
              <a:gd name="T18" fmla="*/ 0 w 1728"/>
              <a:gd name="T19" fmla="*/ 2147483647 h 735"/>
              <a:gd name="T20" fmla="*/ 0 w 1728"/>
              <a:gd name="T21" fmla="*/ 2147483647 h 735"/>
              <a:gd name="T22" fmla="*/ 0 w 1728"/>
              <a:gd name="T23" fmla="*/ 0 h 735"/>
              <a:gd name="T24" fmla="*/ 2147483647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C7E8C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250825" y="1557338"/>
            <a:ext cx="7391400" cy="93662"/>
            <a:chOff x="144" y="1248"/>
            <a:chExt cx="4656" cy="201"/>
          </a:xfrm>
        </p:grpSpPr>
        <p:sp>
          <p:nvSpPr>
            <p:cNvPr id="2061" name="AutoShape 5"/>
            <p:cNvSpPr>
              <a:spLocks noChangeArrowheads="1"/>
            </p:cNvSpPr>
            <p:nvPr userDrawn="1"/>
          </p:nvSpPr>
          <p:spPr bwMode="auto">
            <a:xfrm>
              <a:off x="384" y="1248"/>
              <a:ext cx="4416" cy="201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endParaRPr lang="zh-CN" altLang="en-US" smtClean="0">
                <a:solidFill>
                  <a:srgbClr val="003366"/>
                </a:solidFill>
              </a:endParaRPr>
            </a:p>
          </p:txBody>
        </p:sp>
        <p:sp>
          <p:nvSpPr>
            <p:cNvPr id="2062" name="AutoShape 6"/>
            <p:cNvSpPr>
              <a:spLocks noChangeArrowheads="1"/>
            </p:cNvSpPr>
            <p:nvPr userDrawn="1"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>
                <a:defRPr/>
              </a:pPr>
              <a:endParaRPr lang="zh-CN" altLang="en-US" smtClean="0">
                <a:solidFill>
                  <a:srgbClr val="003366"/>
                </a:solidFill>
              </a:endParaRPr>
            </a:p>
          </p:txBody>
        </p:sp>
      </p:grpSp>
      <p:sp>
        <p:nvSpPr>
          <p:cNvPr id="397319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73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700213"/>
            <a:ext cx="7993063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73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00563" y="6524625"/>
            <a:ext cx="45767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0000"/>
                </a:solidFill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73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08725"/>
            <a:ext cx="58737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rgbClr val="FFFFFF"/>
                </a:solidFill>
              </a:defRPr>
            </a:lvl1pPr>
          </a:lstStyle>
          <a:p>
            <a:fld id="{31CB3045-F70F-4EF3-8CF1-FCDE94BC41BE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107950" y="4078288"/>
            <a:ext cx="5492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FFCC"/>
                </a:solidFill>
                <a:ea typeface="方正姚体" pitchFamily="2" charset="-122"/>
              </a:rPr>
              <a:t>计算中心编制</a:t>
            </a:r>
          </a:p>
        </p:txBody>
      </p:sp>
      <p:sp>
        <p:nvSpPr>
          <p:cNvPr id="2058" name="Rectangle 12"/>
          <p:cNvSpPr>
            <a:spLocks noChangeArrowheads="1"/>
          </p:cNvSpPr>
          <p:nvPr/>
        </p:nvSpPr>
        <p:spPr bwMode="auto">
          <a:xfrm>
            <a:off x="3197225" y="4763"/>
            <a:ext cx="3097213" cy="692150"/>
          </a:xfrm>
          <a:prstGeom prst="rect">
            <a:avLst/>
          </a:prstGeom>
          <a:gradFill rotWithShape="1">
            <a:gsLst>
              <a:gs pos="0">
                <a:srgbClr val="C7E8C4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defRPr/>
            </a:pPr>
            <a:endParaRPr lang="zh-CN" altLang="en-US" smtClean="0">
              <a:solidFill>
                <a:srgbClr val="003366"/>
              </a:solidFill>
            </a:endParaRPr>
          </a:p>
        </p:txBody>
      </p:sp>
      <p:sp>
        <p:nvSpPr>
          <p:cNvPr id="397325" name="Text Box 13"/>
          <p:cNvSpPr txBox="1">
            <a:spLocks noChangeArrowheads="1"/>
          </p:cNvSpPr>
          <p:nvPr/>
        </p:nvSpPr>
        <p:spPr bwMode="auto">
          <a:xfrm>
            <a:off x="1116013" y="112713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华文楷体" pitchFamily="2" charset="-122"/>
              </a:rPr>
              <a:t>上海大学</a:t>
            </a:r>
            <a:r>
              <a:rPr lang="zh-CN" altLang="en-US" sz="3200" b="1">
                <a:solidFill>
                  <a:srgbClr val="FFFFCC"/>
                </a:solidFill>
                <a:latin typeface="Arial" charset="0"/>
                <a:ea typeface="华文楷体" pitchFamily="2" charset="-122"/>
              </a:rPr>
              <a:t>    </a:t>
            </a:r>
            <a:r>
              <a:rPr lang="en-US" altLang="zh-CN" sz="2200" b="1" dirty="0">
                <a:solidFill>
                  <a:srgbClr val="339933"/>
                </a:solidFill>
                <a:latin typeface="Gautami" pitchFamily="2"/>
                <a:ea typeface="Dotum" pitchFamily="34" charset="-127"/>
              </a:rPr>
              <a:t>Shanghai University</a:t>
            </a:r>
          </a:p>
        </p:txBody>
      </p:sp>
      <p:pic>
        <p:nvPicPr>
          <p:cNvPr id="2060" name="Picture 14" descr="bg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69850"/>
            <a:ext cx="6000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57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transition spd="med">
    <p:random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9pPr>
    </p:titleStyle>
    <p:bodyStyle>
      <a:lvl1pPr marL="92075" indent="-92075" algn="l" rtl="0" eaLnBrk="0" fontAlgn="base" hangingPunct="0">
        <a:spcBef>
          <a:spcPct val="20000"/>
        </a:spcBef>
        <a:spcAft>
          <a:spcPct val="0"/>
        </a:spcAft>
        <a:buClr>
          <a:srgbClr val="A50021"/>
        </a:buClr>
        <a:buSzPct val="75000"/>
        <a:buFont typeface="Webdings" panose="05030102010509060703" pitchFamily="18" charset="2"/>
        <a:buChar char="·"/>
        <a:defRPr sz="28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57188" indent="-85725" algn="l" rtl="0" eaLnBrk="0" fontAlgn="base" hangingPunct="0"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anose="05000000000000000000" pitchFamily="2" charset="2"/>
        <a:buChar char="]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622300" indent="-85725" algn="l" rtl="0" eaLnBrk="0" fontAlgn="base" hangingPunct="0">
        <a:spcBef>
          <a:spcPct val="20000"/>
        </a:spcBef>
        <a:spcAft>
          <a:spcPct val="0"/>
        </a:spcAft>
        <a:buClr>
          <a:srgbClr val="800080"/>
        </a:buClr>
        <a:buSzPct val="75000"/>
        <a:buFont typeface="Wingdings" panose="05000000000000000000" pitchFamily="2" charset="2"/>
        <a:buChar char="µ"/>
        <a:defRPr sz="20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808038" indent="-63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987425" indent="8413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4446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19018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590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816225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AutoShape 2"/>
          <p:cNvSpPr>
            <a:spLocks noGrp="1" noChangeArrowheads="1"/>
          </p:cNvSpPr>
          <p:nvPr>
            <p:ph type="ctrTitle"/>
          </p:nvPr>
        </p:nvSpPr>
        <p:spPr>
          <a:xfrm>
            <a:off x="611188" y="2209800"/>
            <a:ext cx="7772400" cy="213360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800" dirty="0" smtClean="0">
                <a:solidFill>
                  <a:srgbClr val="010000"/>
                </a:solidFill>
                <a:latin typeface="黑体" pitchFamily="49" charset="-122"/>
              </a:rPr>
              <a:t>第</a:t>
            </a:r>
            <a:r>
              <a:rPr lang="en-US" altLang="zh-CN" sz="4800" dirty="0" smtClean="0">
                <a:solidFill>
                  <a:srgbClr val="010000"/>
                </a:solidFill>
                <a:latin typeface="黑体" pitchFamily="49" charset="-122"/>
              </a:rPr>
              <a:t>3</a:t>
            </a:r>
            <a:r>
              <a:rPr lang="zh-CN" altLang="en-US" sz="4800" dirty="0" smtClean="0">
                <a:solidFill>
                  <a:srgbClr val="010000"/>
                </a:solidFill>
                <a:latin typeface="黑体" pitchFamily="49" charset="-122"/>
              </a:rPr>
              <a:t>章  程序控制结构</a:t>
            </a:r>
            <a:endParaRPr lang="en-US" altLang="zh-CN" sz="4800" dirty="0" smtClean="0">
              <a:solidFill>
                <a:srgbClr val="010000"/>
              </a:solidFill>
              <a:latin typeface="黑体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E5C90C-A578-4169-857C-6C92F12157C1}" type="slidenum">
              <a:rPr lang="en-US" altLang="zh-CN" sz="2600">
                <a:solidFill>
                  <a:schemeClr val="bg1"/>
                </a:solidFill>
              </a:rPr>
              <a:pPr/>
              <a:t>1</a:t>
            </a:fld>
            <a:endParaRPr lang="en-US" altLang="zh-CN" sz="2600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27585" y="1700808"/>
            <a:ext cx="6336704" cy="275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2075" indent="-92075"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顺序结构</a:t>
            </a:r>
            <a:endParaRPr lang="en-US" altLang="zh-CN" sz="32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选择结构</a:t>
            </a:r>
            <a:endParaRPr lang="en-US" altLang="zh-CN" sz="32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循环结构</a:t>
            </a:r>
            <a:endParaRPr lang="en-US" altLang="zh-CN" sz="32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 eaLnBrk="1" hangingPunct="1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32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常用算法</a:t>
            </a:r>
            <a:endParaRPr lang="en-US" altLang="zh-CN" sz="32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</p:txBody>
      </p:sp>
      <p:sp>
        <p:nvSpPr>
          <p:cNvPr id="4" name="AutoShape 2"/>
          <p:cNvSpPr txBox="1">
            <a:spLocks noChangeArrowheads="1"/>
          </p:cNvSpPr>
          <p:nvPr/>
        </p:nvSpPr>
        <p:spPr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kern="0" dirty="0" smtClean="0"/>
              <a:t>程序控制结构</a:t>
            </a:r>
          </a:p>
        </p:txBody>
      </p:sp>
    </p:spTree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331640" y="3008362"/>
            <a:ext cx="6172200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</a:t>
            </a: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.1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顺序结构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8272425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6C03A6-48CF-4BB7-A827-DB69904DEFC8}" type="slidenum">
              <a:rPr lang="en-US" altLang="zh-CN" sz="2600">
                <a:solidFill>
                  <a:schemeClr val="bg1"/>
                </a:solidFill>
              </a:rPr>
              <a:pPr/>
              <a:t>3</a:t>
            </a:fld>
            <a:endParaRPr lang="en-US" altLang="zh-CN" sz="2600" dirty="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3.1</a:t>
            </a:r>
            <a:r>
              <a:rPr lang="zh-CN" altLang="en-US" dirty="0" smtClean="0"/>
              <a:t>顺序结构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7993063" cy="515778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顺序结构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主要由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说明语句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表达式语句、空语句以及复合语句组成。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在顺序结构中，各语句（或命令）是按照位置的先后次顺执行的，并且每条语句都会被执行到。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defRPr/>
            </a:pP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defRPr/>
            </a:pP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依次执行具体功能的各条语句，主要包括：①提供数据语句。②运算语句。③输出语句。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3645024"/>
            <a:ext cx="1439863" cy="221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6C03A6-48CF-4BB7-A827-DB69904DEFC8}" type="slidenum">
              <a:rPr lang="en-US" altLang="zh-CN" sz="2600">
                <a:solidFill>
                  <a:schemeClr val="bg1"/>
                </a:solidFill>
              </a:rPr>
              <a:pPr/>
              <a:t>4</a:t>
            </a:fld>
            <a:endParaRPr lang="en-US" altLang="zh-CN" sz="2600" dirty="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smtClean="0"/>
              <a:t>3.1</a:t>
            </a:r>
            <a:r>
              <a:rPr lang="zh-CN" altLang="en-US" dirty="0" smtClean="0"/>
              <a:t>顺序结构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700213"/>
            <a:ext cx="4680445" cy="46937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利用中间数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交换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两数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67242" y="4144248"/>
            <a:ext cx="815216" cy="815216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宋体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2107402" y="3019296"/>
            <a:ext cx="648072" cy="648072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宋体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3691578" y="4095368"/>
            <a:ext cx="808414" cy="808414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宋体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5254" y="3744138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799590" y="3685346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直接箭头连接符 4"/>
          <p:cNvCxnSpPr>
            <a:stCxn id="2" idx="7"/>
          </p:cNvCxnSpPr>
          <p:nvPr/>
        </p:nvCxnSpPr>
        <p:spPr bwMode="auto">
          <a:xfrm flipV="1">
            <a:off x="1363072" y="3519306"/>
            <a:ext cx="744330" cy="74432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文本框 12"/>
          <p:cNvSpPr txBox="1"/>
          <p:nvPr/>
        </p:nvSpPr>
        <p:spPr>
          <a:xfrm>
            <a:off x="2180690" y="2636912"/>
            <a:ext cx="501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63287" y="4343330"/>
            <a:ext cx="432048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191242" y="3125941"/>
            <a:ext cx="501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878701" y="4251572"/>
            <a:ext cx="410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0" name="直接箭头连接符 19"/>
          <p:cNvCxnSpPr>
            <a:endCxn id="8" idx="1"/>
          </p:cNvCxnSpPr>
          <p:nvPr/>
        </p:nvCxnSpPr>
        <p:spPr bwMode="auto">
          <a:xfrm>
            <a:off x="2752268" y="3475178"/>
            <a:ext cx="1057699" cy="738579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直接箭头连接符 24"/>
          <p:cNvCxnSpPr>
            <a:stCxn id="8" idx="2"/>
            <a:endCxn id="2" idx="6"/>
          </p:cNvCxnSpPr>
          <p:nvPr/>
        </p:nvCxnSpPr>
        <p:spPr bwMode="auto">
          <a:xfrm flipH="1">
            <a:off x="1482458" y="4499575"/>
            <a:ext cx="2209120" cy="5228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文本框 15"/>
          <p:cNvSpPr txBox="1"/>
          <p:nvPr/>
        </p:nvSpPr>
        <p:spPr>
          <a:xfrm>
            <a:off x="876391" y="4340730"/>
            <a:ext cx="41894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85869" y="4261484"/>
            <a:ext cx="3960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Rectangle 3"/>
          <p:cNvSpPr txBox="1">
            <a:spLocks noChangeArrowheads="1"/>
          </p:cNvSpPr>
          <p:nvPr/>
        </p:nvSpPr>
        <p:spPr bwMode="auto">
          <a:xfrm>
            <a:off x="4644008" y="2276872"/>
            <a:ext cx="4510752" cy="4069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#include &lt;</a:t>
            </a:r>
            <a:r>
              <a:rPr lang="en-US" altLang="zh-CN" sz="2400" kern="0" dirty="0" err="1" smtClean="0">
                <a:effectLst/>
              </a:rPr>
              <a:t>stdio.h</a:t>
            </a:r>
            <a:r>
              <a:rPr lang="en-US" altLang="zh-CN" sz="2400" kern="0" dirty="0" smtClean="0">
                <a:effectLst/>
              </a:rPr>
              <a:t>&gt;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main()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{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</a:t>
            </a: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</a:t>
            </a:r>
            <a:r>
              <a:rPr lang="en-US" altLang="zh-CN" sz="2400" kern="0" dirty="0" err="1" smtClean="0">
                <a:effectLst/>
              </a:rPr>
              <a:t>a,b,t</a:t>
            </a:r>
            <a:r>
              <a:rPr lang="en-US" altLang="zh-CN" sz="2400" kern="0" dirty="0" smtClean="0">
                <a:effectLst/>
              </a:rPr>
              <a:t>;	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</a:t>
            </a:r>
            <a:r>
              <a:rPr lang="en-US" altLang="zh-CN" sz="2400" kern="0" dirty="0" err="1" smtClean="0">
                <a:effectLst/>
              </a:rPr>
              <a:t>scanf</a:t>
            </a:r>
            <a:r>
              <a:rPr lang="en-US" altLang="zh-CN" sz="2400" kern="0" dirty="0" smtClean="0">
                <a:effectLst/>
              </a:rPr>
              <a:t>("%</a:t>
            </a:r>
            <a:r>
              <a:rPr lang="en-US" altLang="zh-CN" sz="2400" kern="0" dirty="0" err="1" smtClean="0">
                <a:effectLst/>
              </a:rPr>
              <a:t>d%d</a:t>
            </a:r>
            <a:r>
              <a:rPr lang="en-US" altLang="zh-CN" sz="2400" kern="0" dirty="0" smtClean="0">
                <a:effectLst/>
              </a:rPr>
              <a:t>",&amp;</a:t>
            </a:r>
            <a:r>
              <a:rPr lang="en-US" altLang="zh-CN" sz="2400" kern="0" dirty="0" err="1" smtClean="0">
                <a:effectLst/>
              </a:rPr>
              <a:t>a,&amp;b</a:t>
            </a:r>
            <a:r>
              <a:rPr lang="en-US" altLang="zh-CN" sz="2400" kern="0" dirty="0" smtClean="0">
                <a:effectLst/>
              </a:rPr>
              <a:t>);	 </a:t>
            </a:r>
            <a:endParaRPr lang="en-US" altLang="zh-CN" sz="2400" kern="0" dirty="0" smtClean="0">
              <a:solidFill>
                <a:srgbClr val="0D12D1"/>
              </a:solidFill>
              <a:effectLst/>
            </a:endParaRP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t=a;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 a=b;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 b=t;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("a=%d b=%d\n",</a:t>
            </a:r>
            <a:r>
              <a:rPr lang="en-US" altLang="zh-CN" sz="2400" kern="0" dirty="0" err="1" smtClean="0">
                <a:effectLst/>
              </a:rPr>
              <a:t>a,b</a:t>
            </a:r>
            <a:r>
              <a:rPr lang="en-US" altLang="zh-CN" sz="2400" kern="0" dirty="0" smtClean="0">
                <a:effectLst/>
              </a:rPr>
              <a:t>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return 0;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}</a:t>
            </a:r>
          </a:p>
        </p:txBody>
      </p:sp>
      <p:sp>
        <p:nvSpPr>
          <p:cNvPr id="32" name="文本框 31"/>
          <p:cNvSpPr txBox="1"/>
          <p:nvPr/>
        </p:nvSpPr>
        <p:spPr>
          <a:xfrm rot="18865495">
            <a:off x="1243045" y="3456653"/>
            <a:ext cx="809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t=a;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090922" y="4482934"/>
            <a:ext cx="957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a=b;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文本框 38"/>
          <p:cNvSpPr txBox="1"/>
          <p:nvPr/>
        </p:nvSpPr>
        <p:spPr>
          <a:xfrm rot="2232867">
            <a:off x="2960816" y="3476139"/>
            <a:ext cx="779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b=t;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1119539" y="5372788"/>
            <a:ext cx="3027591" cy="1200329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D12D1"/>
                </a:solidFill>
              </a:rPr>
              <a:t>思考</a:t>
            </a:r>
            <a:r>
              <a:rPr lang="zh-CN" altLang="en-US" sz="2400" b="1" dirty="0" smtClean="0">
                <a:solidFill>
                  <a:srgbClr val="0D12D1"/>
                </a:solidFill>
              </a:rPr>
              <a:t>：</a:t>
            </a:r>
            <a:endParaRPr lang="en-US" altLang="zh-CN" sz="2400" b="1" dirty="0" smtClean="0">
              <a:solidFill>
                <a:srgbClr val="0D12D1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400" b="1" dirty="0" smtClean="0">
                <a:solidFill>
                  <a:srgbClr val="0D12D1"/>
                </a:solidFill>
              </a:rPr>
              <a:t>如果</a:t>
            </a:r>
            <a:r>
              <a:rPr lang="zh-CN" altLang="en-US" sz="2400" b="1" dirty="0">
                <a:solidFill>
                  <a:srgbClr val="0D12D1"/>
                </a:solidFill>
              </a:rPr>
              <a:t>不用中间数</a:t>
            </a:r>
            <a:r>
              <a:rPr lang="en-US" altLang="zh-CN" sz="2400" b="1" dirty="0">
                <a:solidFill>
                  <a:srgbClr val="0D12D1"/>
                </a:solidFill>
              </a:rPr>
              <a:t>t</a:t>
            </a:r>
            <a:r>
              <a:rPr lang="zh-CN" altLang="en-US" sz="2400" b="1" dirty="0">
                <a:solidFill>
                  <a:srgbClr val="0D12D1"/>
                </a:solidFill>
              </a:rPr>
              <a:t>，能实现两数交换吗？</a:t>
            </a:r>
          </a:p>
        </p:txBody>
      </p:sp>
    </p:spTree>
    <p:extLst>
      <p:ext uri="{BB962C8B-B14F-4D97-AF65-F5344CB8AC3E}">
        <p14:creationId xmlns:p14="http://schemas.microsoft.com/office/powerpoint/2010/main" val="322506299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03" grpId="0" build="p"/>
      <p:bldP spid="2" grpId="0" animBg="1"/>
      <p:bldP spid="7" grpId="0" animBg="1"/>
      <p:bldP spid="8" grpId="0" animBg="1"/>
      <p:bldP spid="3" grpId="0"/>
      <p:bldP spid="10" grpId="0"/>
      <p:bldP spid="13" grpId="0"/>
      <p:bldP spid="15" grpId="0" animBg="1"/>
      <p:bldP spid="14" grpId="0"/>
      <p:bldP spid="19" grpId="0"/>
      <p:bldP spid="16" grpId="1" animBg="1"/>
      <p:bldP spid="17" grpId="0" animBg="1"/>
      <p:bldP spid="36" grpId="0"/>
      <p:bldP spid="32" grpId="0"/>
      <p:bldP spid="33" grpId="0"/>
      <p:bldP spid="39" grpId="0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effectLst/>
              </a:rPr>
              <a:t>例</a:t>
            </a:r>
            <a:r>
              <a:rPr lang="en-US" altLang="zh-CN" smtClean="0">
                <a:effectLst/>
              </a:rPr>
              <a:t>:</a:t>
            </a:r>
            <a:r>
              <a:rPr lang="zh-CN" altLang="en-US" smtClean="0">
                <a:effectLst/>
              </a:rPr>
              <a:t>交换两个数（不用中间数</a:t>
            </a:r>
            <a:r>
              <a:rPr lang="en-US" altLang="zh-CN" smtClean="0">
                <a:effectLst/>
              </a:rPr>
              <a:t>t</a:t>
            </a:r>
            <a:r>
              <a:rPr lang="zh-CN" altLang="en-US" smtClean="0">
                <a:effectLst/>
              </a:rPr>
              <a:t>）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827088" y="1700213"/>
            <a:ext cx="7993062" cy="4968875"/>
          </a:xfrm>
          <a:noFill/>
        </p:spPr>
        <p:txBody>
          <a:bodyPr/>
          <a:lstStyle/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#include &lt;</a:t>
            </a:r>
            <a:r>
              <a:rPr lang="en-US" altLang="zh-CN" dirty="0" err="1" smtClean="0">
                <a:effectLst/>
              </a:rPr>
              <a:t>stdio.h</a:t>
            </a:r>
            <a:r>
              <a:rPr lang="en-US" altLang="zh-CN" dirty="0" smtClean="0">
                <a:effectLst/>
              </a:rPr>
              <a:t> &gt;          /* </a:t>
            </a:r>
            <a:r>
              <a:rPr lang="zh-CN" altLang="en-US" dirty="0" smtClean="0">
                <a:effectLst/>
              </a:rPr>
              <a:t>实现两数交换 *</a:t>
            </a:r>
            <a:r>
              <a:rPr lang="en-US" altLang="zh-CN" dirty="0" smtClean="0">
                <a:effectLst/>
              </a:rPr>
              <a:t>/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err="1" smtClean="0">
                <a:effectLst/>
              </a:rPr>
              <a:t>int</a:t>
            </a:r>
            <a:r>
              <a:rPr lang="en-US" altLang="zh-CN" dirty="0" smtClean="0">
                <a:effectLst/>
              </a:rPr>
              <a:t> main()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{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	  </a:t>
            </a:r>
            <a:r>
              <a:rPr lang="en-US" altLang="zh-CN" dirty="0" err="1" smtClean="0">
                <a:effectLst/>
              </a:rPr>
              <a:t>int</a:t>
            </a:r>
            <a:r>
              <a:rPr lang="en-US" altLang="zh-CN" dirty="0" smtClean="0">
                <a:effectLst/>
              </a:rPr>
              <a:t> </a:t>
            </a:r>
            <a:r>
              <a:rPr lang="en-US" altLang="zh-CN" dirty="0" err="1" smtClean="0">
                <a:effectLst/>
              </a:rPr>
              <a:t>a,b,t</a:t>
            </a:r>
            <a:r>
              <a:rPr lang="en-US" altLang="zh-CN" dirty="0" smtClean="0">
                <a:effectLst/>
              </a:rPr>
              <a:t>;	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	  </a:t>
            </a:r>
            <a:r>
              <a:rPr lang="en-US" altLang="zh-CN" dirty="0" err="1" smtClean="0">
                <a:effectLst/>
              </a:rPr>
              <a:t>scanf</a:t>
            </a:r>
            <a:r>
              <a:rPr lang="en-US" altLang="zh-CN" dirty="0" smtClean="0">
                <a:effectLst/>
              </a:rPr>
              <a:t>("%</a:t>
            </a:r>
            <a:r>
              <a:rPr lang="en-US" altLang="zh-CN" dirty="0" err="1" smtClean="0">
                <a:effectLst/>
              </a:rPr>
              <a:t>d%d</a:t>
            </a:r>
            <a:r>
              <a:rPr lang="en-US" altLang="zh-CN" dirty="0" smtClean="0">
                <a:effectLst/>
              </a:rPr>
              <a:t>",&amp;</a:t>
            </a:r>
            <a:r>
              <a:rPr lang="en-US" altLang="zh-CN" dirty="0" err="1" smtClean="0">
                <a:effectLst/>
              </a:rPr>
              <a:t>a,&amp;b</a:t>
            </a:r>
            <a:r>
              <a:rPr lang="en-US" altLang="zh-CN" dirty="0" smtClean="0">
                <a:effectLst/>
              </a:rPr>
              <a:t>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	  a=</a:t>
            </a:r>
            <a:r>
              <a:rPr lang="en-US" altLang="zh-CN" dirty="0" err="1" smtClean="0">
                <a:effectLst/>
              </a:rPr>
              <a:t>a+b</a:t>
            </a:r>
            <a:r>
              <a:rPr lang="en-US" altLang="zh-CN" dirty="0" smtClean="0">
                <a:effectLst/>
              </a:rPr>
              <a:t>;  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>
                <a:effectLst/>
              </a:rPr>
              <a:t> </a:t>
            </a:r>
            <a:r>
              <a:rPr lang="en-US" altLang="zh-CN" dirty="0" smtClean="0">
                <a:effectLst/>
              </a:rPr>
              <a:t>  b=a-b;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   a=a-b;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	  </a:t>
            </a:r>
            <a:r>
              <a:rPr lang="en-US" altLang="zh-CN" dirty="0" err="1" smtClean="0">
                <a:effectLst/>
              </a:rPr>
              <a:t>printf</a:t>
            </a:r>
            <a:r>
              <a:rPr lang="en-US" altLang="zh-CN" dirty="0" smtClean="0">
                <a:effectLst/>
              </a:rPr>
              <a:t>("a=%d b=%d\n",</a:t>
            </a:r>
            <a:r>
              <a:rPr lang="en-US" altLang="zh-CN" dirty="0" err="1" smtClean="0">
                <a:effectLst/>
              </a:rPr>
              <a:t>a,b</a:t>
            </a:r>
            <a:r>
              <a:rPr lang="en-US" altLang="zh-CN" dirty="0" smtClean="0">
                <a:effectLst/>
              </a:rPr>
              <a:t>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	  return 0;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dirty="0" smtClean="0">
                <a:effectLst/>
              </a:rPr>
              <a:t>}</a:t>
            </a:r>
          </a:p>
        </p:txBody>
      </p:sp>
      <p:sp>
        <p:nvSpPr>
          <p:cNvPr id="21" name="椭圆 20"/>
          <p:cNvSpPr/>
          <p:nvPr/>
        </p:nvSpPr>
        <p:spPr bwMode="auto">
          <a:xfrm>
            <a:off x="5755860" y="3621896"/>
            <a:ext cx="815216" cy="815216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宋体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2" name="椭圆 21"/>
          <p:cNvSpPr/>
          <p:nvPr/>
        </p:nvSpPr>
        <p:spPr bwMode="auto">
          <a:xfrm>
            <a:off x="7994968" y="3642030"/>
            <a:ext cx="808414" cy="808414"/>
          </a:xfrm>
          <a:prstGeom prst="ellips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0" i="0" u="none" strike="noStrike" cap="none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latin typeface="Arial" charset="0"/>
                <a:ea typeface="宋体" pitchFamily="2" charset="-122"/>
              </a:rPr>
              <a:t> 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accent4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947444" y="3267574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199114" y="3295363"/>
            <a:ext cx="4320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947444" y="3839271"/>
            <a:ext cx="432048" cy="40011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8194003" y="3838105"/>
            <a:ext cx="410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966449" y="3798064"/>
            <a:ext cx="41894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253598" y="3848617"/>
            <a:ext cx="396007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983177" y="3798064"/>
            <a:ext cx="41894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endParaRPr lang="zh-CN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636758" y="4437112"/>
            <a:ext cx="1462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</a:t>
            </a:r>
            <a:r>
              <a:rPr lang="en-US" altLang="zh-CN" sz="2400" b="1" kern="0" dirty="0" err="1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a+b</a:t>
            </a:r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636758" y="4797152"/>
            <a:ext cx="1462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b=a-b;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6636758" y="5157192"/>
            <a:ext cx="1462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0" dirty="0" smtClean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a=a-b;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4" grpId="0"/>
      <p:bldP spid="25" grpId="0" animBg="1"/>
      <p:bldP spid="26" grpId="0"/>
      <p:bldP spid="27" grpId="0" animBg="1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331640" y="3008362"/>
            <a:ext cx="6172200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3.2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选择结构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21956274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ffectLst/>
              </a:rPr>
              <a:t>3.2</a:t>
            </a:r>
            <a:r>
              <a:rPr lang="zh-CN" altLang="en-US" smtClean="0">
                <a:effectLst/>
              </a:rPr>
              <a:t>选择结构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计算机在执行程序时，一般按照语句的书写顺序执行。但在很多情况下需要根据条件进行判断，选择所要执行的语句，这就是选择结构，也称分支结构。</a:t>
            </a:r>
          </a:p>
          <a:p>
            <a:r>
              <a:rPr lang="zh-CN" altLang="en-US" dirty="0">
                <a:effectLst/>
              </a:rPr>
              <a:t>选择</a:t>
            </a:r>
            <a:r>
              <a:rPr lang="zh-CN" altLang="en-US" dirty="0" smtClean="0">
                <a:effectLst/>
              </a:rPr>
              <a:t>结构语句</a:t>
            </a:r>
            <a:endParaRPr lang="en-US" altLang="zh-CN" dirty="0" smtClean="0">
              <a:effectLst/>
            </a:endParaRPr>
          </a:p>
          <a:p>
            <a:pPr lvl="1"/>
            <a:r>
              <a:rPr lang="en-US" altLang="zh-CN" sz="2800" dirty="0" smtClean="0">
                <a:effectLst/>
              </a:rPr>
              <a:t>If</a:t>
            </a:r>
            <a:r>
              <a:rPr lang="zh-CN" altLang="en-US" sz="2800" dirty="0" smtClean="0">
                <a:effectLst/>
              </a:rPr>
              <a:t>语句（</a:t>
            </a:r>
            <a:r>
              <a:rPr lang="en-US" altLang="zh-CN" sz="2800" dirty="0" smtClean="0">
                <a:effectLst/>
              </a:rPr>
              <a:t>3</a:t>
            </a:r>
            <a:r>
              <a:rPr lang="zh-CN" altLang="en-US" sz="2800" dirty="0" smtClean="0">
                <a:effectLst/>
              </a:rPr>
              <a:t>种形式）</a:t>
            </a:r>
          </a:p>
          <a:p>
            <a:pPr lvl="1"/>
            <a:r>
              <a:rPr lang="en-US" altLang="zh-CN" sz="2800" dirty="0" smtClean="0">
                <a:effectLst/>
              </a:rPr>
              <a:t>Switch</a:t>
            </a:r>
            <a:r>
              <a:rPr lang="zh-CN" altLang="en-US" sz="2800" dirty="0" smtClean="0">
                <a:effectLst/>
              </a:rPr>
              <a:t>语句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简单的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55650" y="1844824"/>
            <a:ext cx="4532094" cy="86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if (</a:t>
            </a:r>
            <a:r>
              <a:rPr lang="zh-CN" altLang="en-US" sz="4000" kern="0" dirty="0" smtClean="0">
                <a:solidFill>
                  <a:srgbClr val="0000FF"/>
                </a:solidFill>
                <a:effectLst/>
              </a:rPr>
              <a:t>表达式</a:t>
            </a: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)  </a:t>
            </a:r>
            <a:r>
              <a:rPr lang="zh-CN" altLang="en-US" sz="4000" kern="0" dirty="0" smtClean="0">
                <a:solidFill>
                  <a:srgbClr val="FF3300"/>
                </a:solidFill>
                <a:effectLst/>
              </a:rPr>
              <a:t>语句</a:t>
            </a: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;</a:t>
            </a:r>
          </a:p>
          <a:p>
            <a:pPr marL="609600" indent="-609600">
              <a:buFont typeface="Wingdings" panose="05000000000000000000" pitchFamily="2" charset="2"/>
              <a:buNone/>
            </a:pPr>
            <a:r>
              <a:rPr lang="en-US" altLang="zh-CN" sz="4000" kern="0" dirty="0" smtClean="0">
                <a:effectLst/>
              </a:rPr>
              <a:t>          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73202" y="3140968"/>
            <a:ext cx="4391025" cy="259238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表达式的值为非</a:t>
            </a:r>
            <a:r>
              <a:rPr lang="en-US" altLang="zh-CN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</a:p>
          <a:p>
            <a:pPr algn="ctr" eaLnBrk="1" hangingPunct="1"/>
            <a:r>
              <a:rPr lang="zh-CN" altLang="en-US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（真）</a:t>
            </a:r>
            <a:r>
              <a:rPr lang="zh-CN" altLang="en-US" sz="4000" b="1" dirty="0">
                <a:ea typeface="黑体" panose="02010609060101010101" pitchFamily="49" charset="-122"/>
              </a:rPr>
              <a:t>时，执行</a:t>
            </a:r>
          </a:p>
          <a:p>
            <a:pPr algn="ctr" eaLnBrk="1" hangingPunct="1"/>
            <a:r>
              <a:rPr lang="zh-CN" altLang="en-US" sz="4000" b="1" dirty="0">
                <a:ea typeface="黑体" panose="02010609060101010101" pitchFamily="49" charset="-122"/>
              </a:rPr>
              <a:t>指定的语句。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512908" y="1700808"/>
            <a:ext cx="3376875" cy="5040313"/>
            <a:chOff x="5512908" y="1700808"/>
            <a:chExt cx="3376875" cy="5040313"/>
          </a:xfrm>
        </p:grpSpPr>
        <p:grpSp>
          <p:nvGrpSpPr>
            <p:cNvPr id="7" name="Group 4"/>
            <p:cNvGrpSpPr>
              <a:grpSpLocks/>
            </p:cNvGrpSpPr>
            <p:nvPr/>
          </p:nvGrpSpPr>
          <p:grpSpPr bwMode="auto">
            <a:xfrm>
              <a:off x="5576670" y="1700808"/>
              <a:ext cx="3313113" cy="5040313"/>
              <a:chOff x="3334" y="482"/>
              <a:chExt cx="2087" cy="3175"/>
            </a:xfrm>
          </p:grpSpPr>
          <p:sp>
            <p:nvSpPr>
              <p:cNvPr id="18" name="Rectangle 6"/>
              <p:cNvSpPr>
                <a:spLocks noChangeArrowheads="1"/>
              </p:cNvSpPr>
              <p:nvPr/>
            </p:nvSpPr>
            <p:spPr bwMode="auto">
              <a:xfrm>
                <a:off x="3640" y="1046"/>
                <a:ext cx="1044" cy="40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3600" b="1" dirty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表达式</a:t>
                </a:r>
              </a:p>
            </p:txBody>
          </p:sp>
          <p:sp>
            <p:nvSpPr>
              <p:cNvPr id="9" name="Line 11"/>
              <p:cNvSpPr>
                <a:spLocks noChangeShapeType="1"/>
              </p:cNvSpPr>
              <p:nvPr/>
            </p:nvSpPr>
            <p:spPr bwMode="auto">
              <a:xfrm>
                <a:off x="4165" y="482"/>
                <a:ext cx="0" cy="363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2"/>
              <p:cNvSpPr>
                <a:spLocks noChangeShapeType="1"/>
              </p:cNvSpPr>
              <p:nvPr/>
            </p:nvSpPr>
            <p:spPr bwMode="auto">
              <a:xfrm>
                <a:off x="4165" y="1709"/>
                <a:ext cx="0" cy="587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Rectangle 13"/>
              <p:cNvSpPr>
                <a:spLocks noChangeArrowheads="1"/>
              </p:cNvSpPr>
              <p:nvPr/>
            </p:nvSpPr>
            <p:spPr bwMode="auto">
              <a:xfrm>
                <a:off x="3334" y="2341"/>
                <a:ext cx="1588" cy="54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3600" b="1">
                    <a:solidFill>
                      <a:srgbClr val="FF3300"/>
                    </a:solidFill>
                    <a:ea typeface="黑体" panose="02010609060101010101" pitchFamily="49" charset="-122"/>
                  </a:rPr>
                  <a:t>语句</a:t>
                </a:r>
              </a:p>
            </p:txBody>
          </p:sp>
          <p:sp>
            <p:nvSpPr>
              <p:cNvPr id="12" name="Rectangle 14"/>
              <p:cNvSpPr>
                <a:spLocks noChangeArrowheads="1"/>
              </p:cNvSpPr>
              <p:nvPr/>
            </p:nvSpPr>
            <p:spPr bwMode="auto">
              <a:xfrm>
                <a:off x="3334" y="1752"/>
                <a:ext cx="725" cy="4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4400" b="1">
                    <a:solidFill>
                      <a:srgbClr val="FF3300"/>
                    </a:solidFill>
                    <a:ea typeface="黑体" panose="02010609060101010101" pitchFamily="49" charset="-122"/>
                  </a:rPr>
                  <a:t>真</a:t>
                </a:r>
              </a:p>
            </p:txBody>
          </p:sp>
          <p:sp>
            <p:nvSpPr>
              <p:cNvPr id="13" name="Line 15"/>
              <p:cNvSpPr>
                <a:spLocks noChangeShapeType="1"/>
              </p:cNvSpPr>
              <p:nvPr/>
            </p:nvSpPr>
            <p:spPr bwMode="auto">
              <a:xfrm>
                <a:off x="5037" y="1281"/>
                <a:ext cx="384" cy="0"/>
              </a:xfrm>
              <a:prstGeom prst="line">
                <a:avLst/>
              </a:prstGeom>
              <a:noFill/>
              <a:ln w="63500">
                <a:solidFill>
                  <a:srgbClr val="008000"/>
                </a:solidFill>
                <a:round/>
                <a:headEnd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16"/>
              <p:cNvSpPr>
                <a:spLocks noChangeShapeType="1"/>
              </p:cNvSpPr>
              <p:nvPr/>
            </p:nvSpPr>
            <p:spPr bwMode="auto">
              <a:xfrm>
                <a:off x="5420" y="1281"/>
                <a:ext cx="0" cy="2013"/>
              </a:xfrm>
              <a:prstGeom prst="line">
                <a:avLst/>
              </a:prstGeom>
              <a:noFill/>
              <a:ln w="63500">
                <a:solidFill>
                  <a:srgbClr val="008000"/>
                </a:solidFill>
                <a:round/>
                <a:headEnd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17"/>
              <p:cNvSpPr>
                <a:spLocks noChangeShapeType="1"/>
              </p:cNvSpPr>
              <p:nvPr/>
            </p:nvSpPr>
            <p:spPr bwMode="auto">
              <a:xfrm>
                <a:off x="4150" y="2931"/>
                <a:ext cx="0" cy="726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 flipH="1">
                <a:off x="4196" y="3294"/>
                <a:ext cx="1224" cy="0"/>
              </a:xfrm>
              <a:prstGeom prst="line">
                <a:avLst/>
              </a:prstGeom>
              <a:noFill/>
              <a:ln w="63500">
                <a:solidFill>
                  <a:srgbClr val="008000"/>
                </a:solidFill>
                <a:round/>
                <a:headEnd/>
                <a:tailEnd type="triangle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19"/>
              <p:cNvSpPr>
                <a:spLocks noChangeArrowheads="1"/>
              </p:cNvSpPr>
              <p:nvPr/>
            </p:nvSpPr>
            <p:spPr bwMode="auto">
              <a:xfrm>
                <a:off x="4513" y="572"/>
                <a:ext cx="862" cy="4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4400" b="1">
                    <a:solidFill>
                      <a:srgbClr val="008000"/>
                    </a:solidFill>
                    <a:ea typeface="黑体" panose="02010609060101010101" pitchFamily="49" charset="-122"/>
                  </a:rPr>
                  <a:t>假</a:t>
                </a:r>
              </a:p>
            </p:txBody>
          </p:sp>
        </p:grpSp>
        <p:sp>
          <p:nvSpPr>
            <p:cNvPr id="30" name="菱形 29"/>
            <p:cNvSpPr/>
            <p:nvPr/>
          </p:nvSpPr>
          <p:spPr bwMode="auto">
            <a:xfrm>
              <a:off x="5512908" y="2276872"/>
              <a:ext cx="2765948" cy="1371902"/>
            </a:xfrm>
            <a:prstGeom prst="diamond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890609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简单的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73601" y="1700808"/>
            <a:ext cx="5626591" cy="489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533400" indent="-533400">
              <a:buFont typeface="Webdings" panose="05030102010509060703" pitchFamily="18" charset="2"/>
              <a:buNone/>
            </a:pPr>
            <a:r>
              <a:rPr lang="zh-CN" altLang="en-US" kern="0" dirty="0" smtClean="0">
                <a:effectLst/>
              </a:rPr>
              <a:t>  </a:t>
            </a:r>
            <a:r>
              <a:rPr lang="en-US" altLang="zh-CN" kern="0" dirty="0" smtClean="0">
                <a:effectLst/>
              </a:rPr>
              <a:t>#include&lt;</a:t>
            </a:r>
            <a:r>
              <a:rPr lang="en-US" altLang="zh-CN" kern="0" dirty="0" err="1" smtClean="0">
                <a:effectLst/>
              </a:rPr>
              <a:t>stdio.h</a:t>
            </a:r>
            <a:r>
              <a:rPr lang="en-US" altLang="zh-CN" kern="0" dirty="0" smtClean="0">
                <a:effectLst/>
              </a:rPr>
              <a:t>&gt;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 </a:t>
            </a:r>
            <a:r>
              <a:rPr lang="en-US" altLang="zh-CN" kern="0" dirty="0" err="1" smtClean="0">
                <a:effectLst/>
              </a:rPr>
              <a:t>int</a:t>
            </a:r>
            <a:r>
              <a:rPr lang="en-US" altLang="zh-CN" kern="0" dirty="0" smtClean="0">
                <a:effectLst/>
              </a:rPr>
              <a:t>  main()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{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     </a:t>
            </a:r>
            <a:r>
              <a:rPr lang="en-US" altLang="zh-CN" kern="0" dirty="0" err="1" smtClean="0">
                <a:effectLst/>
              </a:rPr>
              <a:t>int</a:t>
            </a:r>
            <a:r>
              <a:rPr lang="en-US" altLang="zh-CN" kern="0" dirty="0" smtClean="0">
                <a:effectLst/>
              </a:rPr>
              <a:t>  a;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     </a:t>
            </a:r>
            <a:r>
              <a:rPr lang="en-US" altLang="zh-CN" kern="0" dirty="0" err="1" smtClean="0">
                <a:effectLst/>
              </a:rPr>
              <a:t>scanf</a:t>
            </a:r>
            <a:r>
              <a:rPr lang="en-US" altLang="zh-CN" kern="0" dirty="0" smtClean="0">
                <a:effectLst/>
              </a:rPr>
              <a:t>("%</a:t>
            </a:r>
            <a:r>
              <a:rPr lang="en-US" altLang="zh-CN" kern="0" dirty="0" err="1" smtClean="0">
                <a:effectLst/>
              </a:rPr>
              <a:t>d",&amp;a</a:t>
            </a:r>
            <a:r>
              <a:rPr lang="en-US" altLang="zh-CN" kern="0" dirty="0" smtClean="0">
                <a:effectLst/>
              </a:rPr>
              <a:t>); 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      </a:t>
            </a:r>
            <a:r>
              <a:rPr lang="en-US" altLang="zh-CN" kern="0" dirty="0" smtClean="0">
                <a:solidFill>
                  <a:srgbClr val="FF3300"/>
                </a:solidFill>
                <a:effectLst/>
              </a:rPr>
              <a:t>if ( a&gt;0 )  </a:t>
            </a:r>
            <a:r>
              <a:rPr lang="en-US" altLang="zh-CN" kern="0" dirty="0" err="1" smtClean="0">
                <a:solidFill>
                  <a:srgbClr val="FF3300"/>
                </a:solidFill>
                <a:effectLst/>
              </a:rPr>
              <a:t>printf</a:t>
            </a:r>
            <a:r>
              <a:rPr lang="en-US" altLang="zh-CN" kern="0" dirty="0" smtClean="0">
                <a:solidFill>
                  <a:srgbClr val="FF3300"/>
                </a:solidFill>
                <a:effectLst/>
              </a:rPr>
              <a:t>("%d\</a:t>
            </a:r>
            <a:r>
              <a:rPr lang="en-US" altLang="zh-CN" kern="0" dirty="0" err="1" smtClean="0">
                <a:solidFill>
                  <a:srgbClr val="FF3300"/>
                </a:solidFill>
                <a:effectLst/>
              </a:rPr>
              <a:t>n",a</a:t>
            </a:r>
            <a:r>
              <a:rPr lang="en-US" altLang="zh-CN" kern="0" dirty="0" smtClean="0">
                <a:solidFill>
                  <a:srgbClr val="FF3300"/>
                </a:solidFill>
                <a:effectLst/>
              </a:rPr>
              <a:t>);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    return 0;</a:t>
            </a:r>
          </a:p>
          <a:p>
            <a:pPr marL="533400" indent="-533400">
              <a:buFont typeface="Webdings" panose="05030102010509060703" pitchFamily="18" charset="2"/>
              <a:buNone/>
            </a:pPr>
            <a:r>
              <a:rPr lang="en-US" altLang="zh-CN" kern="0" dirty="0" smtClean="0">
                <a:effectLst/>
              </a:rPr>
              <a:t> }</a:t>
            </a:r>
          </a:p>
          <a:p>
            <a:pPr marL="533400" indent="-533400">
              <a:buFont typeface="Webdings" panose="05030102010509060703" pitchFamily="18" charset="2"/>
              <a:buNone/>
            </a:pPr>
            <a:endParaRPr lang="en-US" altLang="zh-CN" kern="0" dirty="0" smtClean="0">
              <a:effectLst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8817" y="1962735"/>
            <a:ext cx="2927679" cy="4490601"/>
            <a:chOff x="6047535" y="1706690"/>
            <a:chExt cx="2927679" cy="4490601"/>
          </a:xfrm>
        </p:grpSpPr>
        <p:grpSp>
          <p:nvGrpSpPr>
            <p:cNvPr id="26" name="组合 25"/>
            <p:cNvGrpSpPr/>
            <p:nvPr/>
          </p:nvGrpSpPr>
          <p:grpSpPr>
            <a:xfrm>
              <a:off x="6416603" y="1706690"/>
              <a:ext cx="2558611" cy="4490601"/>
              <a:chOff x="5877046" y="564157"/>
              <a:chExt cx="3242925" cy="5905501"/>
            </a:xfrm>
          </p:grpSpPr>
          <p:grpSp>
            <p:nvGrpSpPr>
              <p:cNvPr id="27" name="Group 4"/>
              <p:cNvGrpSpPr>
                <a:grpSpLocks/>
              </p:cNvGrpSpPr>
              <p:nvPr/>
            </p:nvGrpSpPr>
            <p:grpSpPr bwMode="auto">
              <a:xfrm>
                <a:off x="6035458" y="564157"/>
                <a:ext cx="3084513" cy="5905501"/>
                <a:chOff x="3623" y="-234"/>
                <a:chExt cx="1943" cy="3720"/>
              </a:xfrm>
            </p:grpSpPr>
            <p:sp>
              <p:nvSpPr>
                <p:cNvPr id="29" name="Rectangle 6"/>
                <p:cNvSpPr>
                  <a:spLocks noChangeArrowheads="1"/>
                </p:cNvSpPr>
                <p:nvPr/>
              </p:nvSpPr>
              <p:spPr bwMode="auto">
                <a:xfrm>
                  <a:off x="3665" y="1163"/>
                  <a:ext cx="1044" cy="4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400" b="1" dirty="0" smtClean="0">
                      <a:solidFill>
                        <a:srgbClr val="FF0000"/>
                      </a:solidFill>
                      <a:ea typeface="黑体" panose="02010609060101010101" pitchFamily="49" charset="-122"/>
                    </a:rPr>
                    <a:t>a&gt;0</a:t>
                  </a:r>
                  <a:endParaRPr lang="zh-CN" altLang="en-US" sz="2400" b="1" dirty="0">
                    <a:solidFill>
                      <a:srgbClr val="FF0000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1" name="Line 11"/>
                <p:cNvSpPr>
                  <a:spLocks noChangeShapeType="1"/>
                </p:cNvSpPr>
                <p:nvPr/>
              </p:nvSpPr>
              <p:spPr bwMode="auto">
                <a:xfrm>
                  <a:off x="4158" y="-234"/>
                  <a:ext cx="0" cy="36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2" name="Line 12"/>
                <p:cNvSpPr>
                  <a:spLocks noChangeShapeType="1"/>
                </p:cNvSpPr>
                <p:nvPr/>
              </p:nvSpPr>
              <p:spPr bwMode="auto">
                <a:xfrm>
                  <a:off x="4179" y="1700"/>
                  <a:ext cx="8" cy="525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4" name="Rectangle 14"/>
                <p:cNvSpPr>
                  <a:spLocks noChangeArrowheads="1"/>
                </p:cNvSpPr>
                <p:nvPr/>
              </p:nvSpPr>
              <p:spPr bwMode="auto">
                <a:xfrm>
                  <a:off x="3623" y="1754"/>
                  <a:ext cx="573" cy="45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 b="1" dirty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真</a:t>
                  </a:r>
                </a:p>
              </p:txBody>
            </p:sp>
            <p:sp>
              <p:nvSpPr>
                <p:cNvPr id="35" name="Line 15"/>
                <p:cNvSpPr>
                  <a:spLocks noChangeShapeType="1"/>
                </p:cNvSpPr>
                <p:nvPr/>
              </p:nvSpPr>
              <p:spPr bwMode="auto">
                <a:xfrm>
                  <a:off x="4822" y="1378"/>
                  <a:ext cx="585" cy="9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6" name="Line 16"/>
                <p:cNvSpPr>
                  <a:spLocks noChangeShapeType="1"/>
                </p:cNvSpPr>
                <p:nvPr/>
              </p:nvSpPr>
              <p:spPr bwMode="auto">
                <a:xfrm>
                  <a:off x="5421" y="1387"/>
                  <a:ext cx="0" cy="1655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7" name="Line 17"/>
                <p:cNvSpPr>
                  <a:spLocks noChangeShapeType="1"/>
                </p:cNvSpPr>
                <p:nvPr/>
              </p:nvSpPr>
              <p:spPr bwMode="auto">
                <a:xfrm>
                  <a:off x="4187" y="2760"/>
                  <a:ext cx="0" cy="726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4210" y="3042"/>
                  <a:ext cx="1224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400"/>
                </a:p>
              </p:txBody>
            </p:sp>
            <p:sp>
              <p:nvSpPr>
                <p:cNvPr id="39" name="Rectangle 19"/>
                <p:cNvSpPr>
                  <a:spLocks noChangeArrowheads="1"/>
                </p:cNvSpPr>
                <p:nvPr/>
              </p:nvSpPr>
              <p:spPr bwMode="auto">
                <a:xfrm>
                  <a:off x="4704" y="837"/>
                  <a:ext cx="862" cy="4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400" b="1" dirty="0">
                      <a:solidFill>
                        <a:srgbClr val="008000"/>
                      </a:solidFill>
                      <a:ea typeface="黑体" panose="02010609060101010101" pitchFamily="49" charset="-122"/>
                    </a:rPr>
                    <a:t>假</a:t>
                  </a:r>
                </a:p>
              </p:txBody>
            </p:sp>
          </p:grpSp>
          <p:sp>
            <p:nvSpPr>
              <p:cNvPr id="28" name="菱形 27"/>
              <p:cNvSpPr/>
              <p:nvPr/>
            </p:nvSpPr>
            <p:spPr bwMode="auto">
              <a:xfrm>
                <a:off x="5877046" y="2611723"/>
                <a:ext cx="2061825" cy="1022660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6053303" y="2140469"/>
              <a:ext cx="2308250" cy="645976"/>
              <a:chOff x="6350155" y="2392273"/>
              <a:chExt cx="2308250" cy="645976"/>
            </a:xfrm>
          </p:grpSpPr>
          <p:sp>
            <p:nvSpPr>
              <p:cNvPr id="2" name="流程图: 数据 1"/>
              <p:cNvSpPr/>
              <p:nvPr/>
            </p:nvSpPr>
            <p:spPr bwMode="auto">
              <a:xfrm>
                <a:off x="6350155" y="2392273"/>
                <a:ext cx="2308250" cy="64597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20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" name="文本框 2"/>
              <p:cNvSpPr txBox="1"/>
              <p:nvPr/>
            </p:nvSpPr>
            <p:spPr>
              <a:xfrm>
                <a:off x="6806245" y="2515382"/>
                <a:ext cx="1296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输入</a:t>
                </a:r>
                <a:r>
                  <a:rPr lang="en-US" altLang="zh-CN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a</a:t>
                </a:r>
                <a:r>
                  <a:rPr lang="zh-CN" altLang="en-US" sz="1800" b="1" dirty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的</a:t>
                </a:r>
                <a:r>
                  <a:rPr lang="zh-CN" altLang="en-US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值</a:t>
                </a:r>
                <a:endParaRPr lang="zh-CN" altLang="en-US" sz="1800" dirty="0"/>
              </a:p>
            </p:txBody>
          </p:sp>
        </p:grpSp>
        <p:sp>
          <p:nvSpPr>
            <p:cNvPr id="41" name="Line 11"/>
            <p:cNvSpPr>
              <a:spLocks noChangeShapeType="1"/>
            </p:cNvSpPr>
            <p:nvPr/>
          </p:nvSpPr>
          <p:spPr bwMode="auto">
            <a:xfrm>
              <a:off x="7211680" y="2797309"/>
              <a:ext cx="8767" cy="46637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6047535" y="4674756"/>
              <a:ext cx="2308250" cy="645976"/>
              <a:chOff x="6350155" y="2392273"/>
              <a:chExt cx="2308250" cy="645976"/>
            </a:xfrm>
          </p:grpSpPr>
          <p:sp>
            <p:nvSpPr>
              <p:cNvPr id="43" name="流程图: 数据 42"/>
              <p:cNvSpPr/>
              <p:nvPr/>
            </p:nvSpPr>
            <p:spPr bwMode="auto">
              <a:xfrm>
                <a:off x="6350155" y="2392273"/>
                <a:ext cx="2308250" cy="64597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20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2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6806245" y="2515382"/>
                <a:ext cx="129614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输出</a:t>
                </a:r>
                <a:r>
                  <a:rPr lang="en-US" altLang="zh-CN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a</a:t>
                </a:r>
                <a:r>
                  <a:rPr lang="zh-CN" altLang="en-US" sz="1800" b="1" dirty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的</a:t>
                </a:r>
                <a:r>
                  <a:rPr lang="zh-CN" altLang="en-US" sz="18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值</a:t>
                </a:r>
                <a:endParaRPr lang="zh-CN" alt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77713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5331017" cy="576659"/>
          </a:xfrm>
          <a:noFill/>
        </p:spPr>
        <p:txBody>
          <a:bodyPr/>
          <a:lstStyle/>
          <a:p>
            <a:pPr algn="just" eaLnBrk="1" hangingPunct="1"/>
            <a:r>
              <a:rPr lang="zh-CN" altLang="en-US" dirty="0" smtClean="0">
                <a:effectLst/>
              </a:rPr>
              <a:t>输入一个整数，输出它的绝对值</a:t>
            </a:r>
          </a:p>
        </p:txBody>
      </p:sp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简单的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004806" y="2192266"/>
            <a:ext cx="3528318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#include &lt;</a:t>
            </a:r>
            <a:r>
              <a:rPr lang="en-US" altLang="zh-CN" sz="2400" kern="0" dirty="0" err="1" smtClean="0">
                <a:effectLst/>
              </a:rPr>
              <a:t>stdio.h</a:t>
            </a:r>
            <a:r>
              <a:rPr lang="en-US" altLang="zh-CN" sz="2400" kern="0" dirty="0" smtClean="0">
                <a:effectLst/>
              </a:rPr>
              <a:t>&gt;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</a:t>
            </a: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 main()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{    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>
                <a:effectLst/>
              </a:rPr>
              <a:t> </a:t>
            </a:r>
            <a:r>
              <a:rPr lang="en-US" altLang="zh-CN" sz="2400" kern="0" dirty="0" smtClean="0">
                <a:effectLst/>
              </a:rPr>
              <a:t>      </a:t>
            </a: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  n;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    </a:t>
            </a:r>
            <a:r>
              <a:rPr lang="en-US" altLang="zh-CN" sz="2400" kern="0" dirty="0" err="1" smtClean="0">
                <a:solidFill>
                  <a:srgbClr val="3333FF"/>
                </a:solidFill>
                <a:effectLst/>
              </a:rPr>
              <a:t>scanf</a:t>
            </a:r>
            <a:r>
              <a:rPr lang="en-US" altLang="zh-CN" sz="2400" kern="0" dirty="0" smtClean="0">
                <a:solidFill>
                  <a:srgbClr val="3333FF"/>
                </a:solidFill>
                <a:effectLst/>
              </a:rPr>
              <a:t>("%d", &amp;n);</a:t>
            </a:r>
            <a:r>
              <a:rPr lang="en-US" altLang="zh-CN" sz="2400" kern="0" dirty="0" smtClean="0">
                <a:effectLst/>
              </a:rPr>
              <a:t>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>
                <a:solidFill>
                  <a:srgbClr val="FF0000"/>
                </a:solidFill>
                <a:effectLst/>
              </a:rPr>
              <a:t> </a:t>
            </a:r>
            <a:r>
              <a:rPr lang="en-US" altLang="zh-CN" sz="2400" kern="0" dirty="0" smtClean="0">
                <a:solidFill>
                  <a:srgbClr val="FF0000"/>
                </a:solidFill>
                <a:effectLst/>
              </a:rPr>
              <a:t>      if (n&lt;0)  n=-n;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   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 ("%d\n", n);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     return  0;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  }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174562" y="1700213"/>
            <a:ext cx="2933942" cy="5103835"/>
            <a:chOff x="6176793" y="1700213"/>
            <a:chExt cx="2933942" cy="5103835"/>
          </a:xfrm>
        </p:grpSpPr>
        <p:grpSp>
          <p:nvGrpSpPr>
            <p:cNvPr id="7" name="组合 6"/>
            <p:cNvGrpSpPr/>
            <p:nvPr/>
          </p:nvGrpSpPr>
          <p:grpSpPr>
            <a:xfrm>
              <a:off x="6176793" y="1700213"/>
              <a:ext cx="2933942" cy="5103835"/>
              <a:chOff x="6041272" y="1706690"/>
              <a:chExt cx="2933942" cy="5103835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6416603" y="1706690"/>
                <a:ext cx="2558611" cy="5103835"/>
                <a:chOff x="5877046" y="564157"/>
                <a:chExt cx="3242925" cy="6711952"/>
              </a:xfrm>
            </p:grpSpPr>
            <p:grpSp>
              <p:nvGrpSpPr>
                <p:cNvPr id="16" name="Group 4"/>
                <p:cNvGrpSpPr>
                  <a:grpSpLocks/>
                </p:cNvGrpSpPr>
                <p:nvPr/>
              </p:nvGrpSpPr>
              <p:grpSpPr bwMode="auto">
                <a:xfrm>
                  <a:off x="6057683" y="564157"/>
                  <a:ext cx="3062288" cy="6711952"/>
                  <a:chOff x="3637" y="-234"/>
                  <a:chExt cx="1929" cy="4228"/>
                </a:xfrm>
              </p:grpSpPr>
              <p:sp>
                <p:nvSpPr>
                  <p:cNvPr id="18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665" y="1163"/>
                    <a:ext cx="1044" cy="40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400" b="1" dirty="0" smtClean="0">
                        <a:solidFill>
                          <a:srgbClr val="FF0000"/>
                        </a:solidFill>
                        <a:ea typeface="黑体" panose="02010609060101010101" pitchFamily="49" charset="-122"/>
                      </a:rPr>
                      <a:t>n&lt;0</a:t>
                    </a:r>
                    <a:endParaRPr lang="zh-CN" altLang="en-US" sz="2400" b="1" dirty="0">
                      <a:solidFill>
                        <a:srgbClr val="FF0000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9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4158" y="-234"/>
                    <a:ext cx="0" cy="36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0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179" y="1700"/>
                    <a:ext cx="6" cy="407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1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637" y="1670"/>
                    <a:ext cx="573" cy="45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2400" b="1" dirty="0">
                        <a:solidFill>
                          <a:srgbClr val="FF3300"/>
                        </a:solidFill>
                        <a:ea typeface="黑体" panose="02010609060101010101" pitchFamily="49" charset="-122"/>
                      </a:rPr>
                      <a:t>真</a:t>
                    </a:r>
                  </a:p>
                </p:txBody>
              </p:sp>
              <p:sp>
                <p:nvSpPr>
                  <p:cNvPr id="22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4822" y="1378"/>
                    <a:ext cx="585" cy="9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 type="triangle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5421" y="1387"/>
                    <a:ext cx="0" cy="2376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 type="triangle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4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45" y="3566"/>
                    <a:ext cx="13" cy="42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5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51" y="3703"/>
                    <a:ext cx="1244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 type="triangle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  <p:sp>
                <p:nvSpPr>
                  <p:cNvPr id="26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4704" y="837"/>
                    <a:ext cx="862" cy="45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2400" b="1" dirty="0">
                        <a:solidFill>
                          <a:srgbClr val="008000"/>
                        </a:solidFill>
                        <a:ea typeface="黑体" panose="02010609060101010101" pitchFamily="49" charset="-122"/>
                      </a:rPr>
                      <a:t>假</a:t>
                    </a:r>
                  </a:p>
                </p:txBody>
              </p:sp>
              <p:sp>
                <p:nvSpPr>
                  <p:cNvPr id="29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4178" y="2625"/>
                    <a:ext cx="6" cy="407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400"/>
                  </a:p>
                </p:txBody>
              </p:sp>
            </p:grpSp>
            <p:sp>
              <p:nvSpPr>
                <p:cNvPr id="17" name="菱形 16"/>
                <p:cNvSpPr/>
                <p:nvPr/>
              </p:nvSpPr>
              <p:spPr bwMode="auto">
                <a:xfrm>
                  <a:off x="5877046" y="2611723"/>
                  <a:ext cx="2061825" cy="1022660"/>
                </a:xfrm>
                <a:prstGeom prst="diamond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9" name="组合 8"/>
              <p:cNvGrpSpPr/>
              <p:nvPr/>
            </p:nvGrpSpPr>
            <p:grpSpPr>
              <a:xfrm>
                <a:off x="6053303" y="2140469"/>
                <a:ext cx="2308250" cy="645976"/>
                <a:chOff x="6350155" y="2392273"/>
                <a:chExt cx="2308250" cy="645976"/>
              </a:xfrm>
            </p:grpSpPr>
            <p:sp>
              <p:nvSpPr>
                <p:cNvPr id="14" name="流程图: 数据 13"/>
                <p:cNvSpPr/>
                <p:nvPr/>
              </p:nvSpPr>
              <p:spPr bwMode="auto">
                <a:xfrm>
                  <a:off x="6350155" y="2392273"/>
                  <a:ext cx="2308250" cy="645976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1200"/>
                    </a:spcBef>
                  </a:pPr>
                  <a:endParaRPr lang="en-US" altLang="zh-CN" sz="20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6806245" y="2515382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输入</a:t>
                  </a:r>
                  <a:r>
                    <a:rPr lang="en-US" altLang="zh-CN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n</a:t>
                  </a:r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的值</a:t>
                  </a:r>
                  <a:endParaRPr lang="zh-CN" altLang="en-US" sz="1800" dirty="0"/>
                </a:p>
              </p:txBody>
            </p:sp>
          </p:grpSp>
          <p:sp>
            <p:nvSpPr>
              <p:cNvPr id="10" name="Line 11"/>
              <p:cNvSpPr>
                <a:spLocks noChangeShapeType="1"/>
              </p:cNvSpPr>
              <p:nvPr/>
            </p:nvSpPr>
            <p:spPr bwMode="auto">
              <a:xfrm>
                <a:off x="7211680" y="2797309"/>
                <a:ext cx="8767" cy="466370"/>
              </a:xfrm>
              <a:prstGeom prst="line">
                <a:avLst/>
              </a:prstGeom>
              <a:noFill/>
              <a:ln w="762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400"/>
              </a:p>
            </p:txBody>
          </p:sp>
          <p:grpSp>
            <p:nvGrpSpPr>
              <p:cNvPr id="11" name="组合 10"/>
              <p:cNvGrpSpPr/>
              <p:nvPr/>
            </p:nvGrpSpPr>
            <p:grpSpPr>
              <a:xfrm>
                <a:off x="6041272" y="5649245"/>
                <a:ext cx="2308250" cy="645976"/>
                <a:chOff x="6343892" y="3366762"/>
                <a:chExt cx="2308250" cy="645976"/>
              </a:xfrm>
            </p:grpSpPr>
            <p:sp>
              <p:nvSpPr>
                <p:cNvPr id="12" name="流程图: 数据 11"/>
                <p:cNvSpPr/>
                <p:nvPr/>
              </p:nvSpPr>
              <p:spPr bwMode="auto">
                <a:xfrm>
                  <a:off x="6343892" y="3366762"/>
                  <a:ext cx="2308250" cy="645976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1200"/>
                    </a:spcBef>
                  </a:pPr>
                  <a:endParaRPr lang="en-US" altLang="zh-CN" sz="20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6799982" y="3489871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输出</a:t>
                  </a:r>
                  <a:r>
                    <a:rPr lang="en-US" altLang="zh-CN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n</a:t>
                  </a:r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的值</a:t>
                  </a:r>
                  <a:endParaRPr lang="zh-CN" altLang="en-US" sz="1800" dirty="0"/>
                </a:p>
              </p:txBody>
            </p:sp>
          </p:grpSp>
        </p:grpSp>
        <p:sp>
          <p:nvSpPr>
            <p:cNvPr id="3" name="流程图: 过程 2"/>
            <p:cNvSpPr/>
            <p:nvPr/>
          </p:nvSpPr>
          <p:spPr bwMode="auto">
            <a:xfrm>
              <a:off x="6638712" y="4529160"/>
              <a:ext cx="1512168" cy="633436"/>
            </a:xfrm>
            <a:prstGeom prst="flowChartProcess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746724" y="4640026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8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n</a:t>
              </a:r>
              <a:r>
                <a:rPr lang="zh-CN" altLang="en-US" sz="18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的值取反</a:t>
              </a:r>
              <a:endParaRPr lang="zh-CN" altLang="en-US" sz="1800" dirty="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4676012" y="6215383"/>
            <a:ext cx="12961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D12D1"/>
                </a:solidFill>
                <a:ea typeface="黑体" panose="02010609060101010101" pitchFamily="49" charset="-122"/>
              </a:rPr>
              <a:t>错误？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9403153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简单的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971600" y="1700808"/>
            <a:ext cx="633605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ebdings" panose="05030102010509060703" pitchFamily="18" charset="2"/>
              <a:buNone/>
            </a:pPr>
            <a:r>
              <a:rPr lang="en-US" altLang="zh-CN" sz="2800" b="1" kern="0" dirty="0"/>
              <a:t>#include &lt;</a:t>
            </a:r>
            <a:r>
              <a:rPr lang="en-US" altLang="zh-CN" sz="2800" b="1" kern="0" dirty="0" err="1"/>
              <a:t>stdio.h</a:t>
            </a:r>
            <a:r>
              <a:rPr lang="en-US" altLang="zh-CN" sz="2800" b="1" kern="0" dirty="0"/>
              <a:t>&gt;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800" b="1" kern="0" dirty="0" err="1" smtClean="0"/>
              <a:t>int</a:t>
            </a:r>
            <a:r>
              <a:rPr lang="en-US" altLang="zh-CN" sz="2800" b="1" kern="0" dirty="0" smtClean="0"/>
              <a:t>  </a:t>
            </a:r>
            <a:r>
              <a:rPr lang="en-US" altLang="zh-CN" sz="2800" b="1" kern="0" dirty="0"/>
              <a:t>main()</a:t>
            </a:r>
          </a:p>
          <a:p>
            <a:pPr eaLnBrk="1" hangingPunct="1"/>
            <a:r>
              <a:rPr lang="en-US" altLang="zh-CN" sz="2800" b="1" dirty="0" smtClean="0"/>
              <a:t>{</a:t>
            </a:r>
            <a:r>
              <a:rPr lang="es-ES" altLang="zh-CN" sz="2800" b="1" dirty="0" smtClean="0"/>
              <a:t>   </a:t>
            </a:r>
          </a:p>
          <a:p>
            <a:pPr eaLnBrk="1" hangingPunct="1"/>
            <a:r>
              <a:rPr lang="es-ES" altLang="zh-CN" sz="2800" b="1" dirty="0" smtClean="0"/>
              <a:t>   int  </a:t>
            </a:r>
            <a:r>
              <a:rPr lang="es-ES" altLang="zh-CN" sz="2800" b="1" dirty="0"/>
              <a:t>x, y;</a:t>
            </a:r>
          </a:p>
          <a:p>
            <a:pPr eaLnBrk="1" hangingPunct="1"/>
            <a:r>
              <a:rPr lang="es-ES" altLang="zh-CN" sz="2800" b="1" dirty="0"/>
              <a:t>   scanf("%d",&amp;x); </a:t>
            </a:r>
          </a:p>
          <a:p>
            <a:pPr eaLnBrk="1" hangingPunct="1"/>
            <a:r>
              <a:rPr lang="es-ES" altLang="zh-CN" sz="2800" b="1" dirty="0"/>
              <a:t>   </a:t>
            </a:r>
            <a:r>
              <a:rPr lang="es-ES" altLang="zh-CN" sz="2800" b="1" dirty="0">
                <a:solidFill>
                  <a:srgbClr val="FF0000"/>
                </a:solidFill>
              </a:rPr>
              <a:t>if (x&gt;0)</a:t>
            </a:r>
          </a:p>
          <a:p>
            <a:pPr eaLnBrk="1" hangingPunct="1"/>
            <a:r>
              <a:rPr lang="es-ES" altLang="zh-CN" sz="2800" b="1" dirty="0"/>
              <a:t>   </a:t>
            </a:r>
            <a:r>
              <a:rPr lang="es-ES" altLang="zh-CN" sz="2800" b="1" dirty="0">
                <a:solidFill>
                  <a:srgbClr val="3333FF"/>
                </a:solidFill>
              </a:rPr>
              <a:t>{</a:t>
            </a:r>
          </a:p>
          <a:p>
            <a:pPr eaLnBrk="1" hangingPunct="1"/>
            <a:r>
              <a:rPr lang="es-ES" altLang="zh-CN" sz="2800" b="1" dirty="0"/>
              <a:t>         y=x+10; </a:t>
            </a:r>
          </a:p>
          <a:p>
            <a:pPr eaLnBrk="1" hangingPunct="1"/>
            <a:r>
              <a:rPr lang="es-ES" altLang="zh-CN" sz="2800" b="1" dirty="0"/>
              <a:t>         printf("y=%d\n",y);</a:t>
            </a:r>
          </a:p>
          <a:p>
            <a:pPr eaLnBrk="1" hangingPunct="1"/>
            <a:r>
              <a:rPr lang="es-ES" altLang="zh-CN" sz="2800" b="1" dirty="0"/>
              <a:t>   </a:t>
            </a:r>
            <a:r>
              <a:rPr lang="es-ES" altLang="zh-CN" sz="2800" b="1" dirty="0" smtClean="0">
                <a:solidFill>
                  <a:srgbClr val="3333FF"/>
                </a:solidFill>
              </a:rPr>
              <a:t>}</a:t>
            </a:r>
          </a:p>
          <a:p>
            <a:pPr eaLnBrk="1" hangingPunct="1"/>
            <a:r>
              <a:rPr lang="es-ES" altLang="zh-CN" sz="2800" b="1" dirty="0" smtClean="0"/>
              <a:t>   return 0;</a:t>
            </a:r>
          </a:p>
          <a:p>
            <a:pPr eaLnBrk="1" hangingPunct="1"/>
            <a:r>
              <a:rPr lang="en-US" altLang="zh-CN" sz="2800" b="1" dirty="0"/>
              <a:t>}</a:t>
            </a:r>
            <a:endParaRPr lang="zh-CN" altLang="en-US" sz="2800" b="1" dirty="0"/>
          </a:p>
        </p:txBody>
      </p:sp>
      <p:grpSp>
        <p:nvGrpSpPr>
          <p:cNvPr id="31" name="Group 7"/>
          <p:cNvGrpSpPr>
            <a:grpSpLocks/>
          </p:cNvGrpSpPr>
          <p:nvPr/>
        </p:nvGrpSpPr>
        <p:grpSpPr bwMode="auto">
          <a:xfrm>
            <a:off x="2555776" y="3501008"/>
            <a:ext cx="6481763" cy="1008062"/>
            <a:chOff x="1292" y="1525"/>
            <a:chExt cx="4083" cy="635"/>
          </a:xfrm>
        </p:grpSpPr>
        <p:sp>
          <p:nvSpPr>
            <p:cNvPr id="32" name="Line 5"/>
            <p:cNvSpPr>
              <a:spLocks noChangeShapeType="1"/>
            </p:cNvSpPr>
            <p:nvPr/>
          </p:nvSpPr>
          <p:spPr bwMode="auto">
            <a:xfrm flipH="1">
              <a:off x="1292" y="1888"/>
              <a:ext cx="2313" cy="272"/>
            </a:xfrm>
            <a:prstGeom prst="line">
              <a:avLst/>
            </a:prstGeom>
            <a:noFill/>
            <a:ln w="1016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3288" y="1525"/>
              <a:ext cx="2087" cy="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4400" b="1">
                  <a:solidFill>
                    <a:srgbClr val="3333FF"/>
                  </a:solidFill>
                  <a:ea typeface="黑体" panose="02010609060101010101" pitchFamily="49" charset="-122"/>
                </a:rPr>
                <a:t>复合语句</a:t>
              </a: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if-else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二</a:t>
            </a:r>
            <a:r>
              <a:rPr lang="zh-CN" altLang="en-US" dirty="0">
                <a:effectLst/>
              </a:rPr>
              <a:t>分支</a:t>
            </a:r>
            <a:r>
              <a:rPr lang="zh-CN" altLang="en-US" dirty="0" smtClean="0">
                <a:effectLst/>
              </a:rPr>
              <a:t>结构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731235" y="1700808"/>
            <a:ext cx="4256685" cy="3011587"/>
            <a:chOff x="1186879" y="1850527"/>
            <a:chExt cx="6691313" cy="4734076"/>
          </a:xfrm>
        </p:grpSpPr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4534802" y="1850527"/>
              <a:ext cx="0" cy="46037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1" name="Rectangle 13"/>
            <p:cNvSpPr>
              <a:spLocks noChangeArrowheads="1"/>
            </p:cNvSpPr>
            <p:nvPr/>
          </p:nvSpPr>
          <p:spPr bwMode="auto">
            <a:xfrm>
              <a:off x="1186879" y="4149378"/>
              <a:ext cx="1865313" cy="69056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solidFill>
                    <a:srgbClr val="FF3300"/>
                  </a:solidFill>
                  <a:ea typeface="黑体" panose="02010609060101010101" pitchFamily="49" charset="-122"/>
                </a:rPr>
                <a:t>语句</a:t>
              </a:r>
              <a:r>
                <a:rPr lang="en-US" altLang="zh-CN" sz="2000" b="1">
                  <a:solidFill>
                    <a:srgbClr val="FF3300"/>
                  </a:solidFill>
                  <a:ea typeface="黑体" panose="02010609060101010101" pitchFamily="49" charset="-122"/>
                </a:rPr>
                <a:t>1</a:t>
              </a:r>
            </a:p>
          </p:txBody>
        </p:sp>
        <p:sp>
          <p:nvSpPr>
            <p:cNvPr id="32" name="Rectangle 14"/>
            <p:cNvSpPr>
              <a:spLocks noChangeArrowheads="1"/>
            </p:cNvSpPr>
            <p:nvPr/>
          </p:nvSpPr>
          <p:spPr bwMode="auto">
            <a:xfrm>
              <a:off x="2041382" y="2334148"/>
              <a:ext cx="850900" cy="574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4499992" y="5662265"/>
              <a:ext cx="0" cy="92233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4" name="Rectangle 19"/>
            <p:cNvSpPr>
              <a:spLocks noChangeArrowheads="1"/>
            </p:cNvSpPr>
            <p:nvPr/>
          </p:nvSpPr>
          <p:spPr bwMode="auto">
            <a:xfrm>
              <a:off x="5796185" y="2353625"/>
              <a:ext cx="1012825" cy="5762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8000"/>
                  </a:solidFill>
                  <a:ea typeface="黑体" panose="02010609060101010101" pitchFamily="49" charset="-122"/>
                </a:rPr>
                <a:t>假</a:t>
              </a:r>
            </a:p>
          </p:txBody>
        </p:sp>
        <p:sp>
          <p:nvSpPr>
            <p:cNvPr id="35" name="Line 20"/>
            <p:cNvSpPr>
              <a:spLocks noChangeShapeType="1"/>
            </p:cNvSpPr>
            <p:nvPr/>
          </p:nvSpPr>
          <p:spPr bwMode="auto">
            <a:xfrm>
              <a:off x="5868417" y="2996853"/>
              <a:ext cx="1079500" cy="0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6" name="Line 21"/>
            <p:cNvSpPr>
              <a:spLocks noChangeShapeType="1"/>
            </p:cNvSpPr>
            <p:nvPr/>
          </p:nvSpPr>
          <p:spPr bwMode="auto">
            <a:xfrm>
              <a:off x="6947917" y="2996853"/>
              <a:ext cx="0" cy="1081087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6012879" y="4077940"/>
              <a:ext cx="1865313" cy="690563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solidFill>
                    <a:srgbClr val="008000"/>
                  </a:solidFill>
                  <a:ea typeface="黑体" panose="02010609060101010101" pitchFamily="49" charset="-122"/>
                </a:rPr>
                <a:t>语句</a:t>
              </a:r>
              <a:r>
                <a:rPr lang="en-US" altLang="zh-CN" sz="2000" b="1">
                  <a:solidFill>
                    <a:srgbClr val="008000"/>
                  </a:solidFill>
                  <a:ea typeface="黑体" panose="02010609060101010101" pitchFamily="49" charset="-122"/>
                </a:rPr>
                <a:t>2</a:t>
              </a:r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1979042" y="2996853"/>
              <a:ext cx="1152524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1979042" y="2996853"/>
              <a:ext cx="0" cy="108108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2123504" y="4870103"/>
              <a:ext cx="0" cy="719137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1" name="Line 27"/>
            <p:cNvSpPr>
              <a:spLocks noChangeShapeType="1"/>
            </p:cNvSpPr>
            <p:nvPr/>
          </p:nvSpPr>
          <p:spPr bwMode="auto">
            <a:xfrm flipV="1">
              <a:off x="7092280" y="4768502"/>
              <a:ext cx="0" cy="820738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2" name="Line 28"/>
            <p:cNvSpPr>
              <a:spLocks noChangeShapeType="1"/>
            </p:cNvSpPr>
            <p:nvPr/>
          </p:nvSpPr>
          <p:spPr bwMode="auto">
            <a:xfrm>
              <a:off x="2123504" y="5589240"/>
              <a:ext cx="2376488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3" name="Line 30"/>
            <p:cNvSpPr>
              <a:spLocks noChangeShapeType="1"/>
            </p:cNvSpPr>
            <p:nvPr/>
          </p:nvSpPr>
          <p:spPr bwMode="auto">
            <a:xfrm flipH="1">
              <a:off x="4499992" y="5589240"/>
              <a:ext cx="2592387" cy="0"/>
            </a:xfrm>
            <a:prstGeom prst="line">
              <a:avLst/>
            </a:prstGeom>
            <a:noFill/>
            <a:ln w="635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44" name="菱形 43"/>
            <p:cNvSpPr/>
            <p:nvPr/>
          </p:nvSpPr>
          <p:spPr bwMode="auto">
            <a:xfrm>
              <a:off x="3151828" y="2310902"/>
              <a:ext cx="2765948" cy="1371902"/>
            </a:xfrm>
            <a:prstGeom prst="diamond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45" name="Rectangle 6"/>
            <p:cNvSpPr>
              <a:spLocks noChangeArrowheads="1"/>
            </p:cNvSpPr>
            <p:nvPr/>
          </p:nvSpPr>
          <p:spPr bwMode="auto">
            <a:xfrm>
              <a:off x="3690872" y="2665283"/>
              <a:ext cx="1657350" cy="649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00FF"/>
                  </a:solidFill>
                  <a:ea typeface="黑体" panose="02010609060101010101" pitchFamily="49" charset="-122"/>
                </a:rPr>
                <a:t>表达式</a:t>
              </a:r>
            </a:p>
          </p:txBody>
        </p:sp>
      </p:grpSp>
      <p:sp>
        <p:nvSpPr>
          <p:cNvPr id="47" name="Rectangle 2"/>
          <p:cNvSpPr txBox="1">
            <a:spLocks noChangeArrowheads="1"/>
          </p:cNvSpPr>
          <p:nvPr/>
        </p:nvSpPr>
        <p:spPr bwMode="auto">
          <a:xfrm>
            <a:off x="914534" y="1669725"/>
            <a:ext cx="3454379" cy="333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if (</a:t>
            </a:r>
            <a:r>
              <a:rPr lang="zh-CN" altLang="en-US" sz="4000" kern="0" dirty="0" smtClean="0">
                <a:solidFill>
                  <a:srgbClr val="0000FF"/>
                </a:solidFill>
                <a:effectLst/>
              </a:rPr>
              <a:t>表达式</a:t>
            </a: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)</a:t>
            </a:r>
          </a:p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     </a:t>
            </a:r>
            <a:r>
              <a:rPr lang="zh-CN" altLang="en-US" sz="4000" kern="0" dirty="0" smtClean="0">
                <a:effectLst/>
              </a:rPr>
              <a:t>语句 </a:t>
            </a:r>
            <a:r>
              <a:rPr lang="en-US" altLang="zh-CN" sz="4000" kern="0" dirty="0" smtClean="0">
                <a:effectLst/>
              </a:rPr>
              <a:t>1;</a:t>
            </a:r>
          </a:p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else</a:t>
            </a:r>
          </a:p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      </a:t>
            </a:r>
            <a:r>
              <a:rPr lang="zh-CN" altLang="en-US" sz="4000" kern="0" dirty="0" smtClean="0">
                <a:effectLst/>
              </a:rPr>
              <a:t>语句</a:t>
            </a:r>
            <a:r>
              <a:rPr lang="en-US" altLang="zh-CN" sz="4000" kern="0" dirty="0" smtClean="0">
                <a:effectLst/>
              </a:rPr>
              <a:t>2;</a:t>
            </a:r>
            <a:endParaRPr lang="zh-CN" altLang="en-US" sz="4000" kern="0" dirty="0" smtClean="0">
              <a:effectLst/>
            </a:endParaRPr>
          </a:p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sz="4000" kern="0" dirty="0" smtClean="0">
                <a:solidFill>
                  <a:srgbClr val="FF3300"/>
                </a:solidFill>
                <a:effectLst/>
              </a:rPr>
              <a:t>        </a:t>
            </a:r>
          </a:p>
          <a:p>
            <a:pPr marL="609600" indent="-609600">
              <a:buFont typeface="Webdings" panose="05030102010509060703" pitchFamily="18" charset="2"/>
              <a:buNone/>
            </a:pPr>
            <a:endParaRPr lang="zh-CN" altLang="en-US" kern="0" dirty="0" smtClean="0">
              <a:effectLst/>
            </a:endParaRPr>
          </a:p>
        </p:txBody>
      </p:sp>
      <p:sp>
        <p:nvSpPr>
          <p:cNvPr id="48" name="Rectangle 3"/>
          <p:cNvSpPr>
            <a:spLocks noChangeArrowheads="1"/>
          </p:cNvSpPr>
          <p:nvPr/>
        </p:nvSpPr>
        <p:spPr bwMode="auto">
          <a:xfrm>
            <a:off x="882891" y="4815307"/>
            <a:ext cx="5817706" cy="191023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表达式的值为非</a:t>
            </a:r>
            <a:r>
              <a:rPr lang="en-US" altLang="zh-CN" sz="4000" b="1" dirty="0" smtClean="0">
                <a:solidFill>
                  <a:srgbClr val="0000FF"/>
                </a:solidFill>
                <a:ea typeface="黑体" panose="02010609060101010101" pitchFamily="49" charset="-122"/>
              </a:rPr>
              <a:t>0(</a:t>
            </a:r>
            <a:r>
              <a:rPr lang="zh-CN" altLang="en-US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真</a:t>
            </a:r>
            <a:r>
              <a:rPr lang="en-US" altLang="zh-CN" sz="4000" b="1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  <a:r>
              <a:rPr lang="zh-CN" altLang="en-US" sz="4000" b="1" dirty="0">
                <a:ea typeface="黑体" panose="02010609060101010101" pitchFamily="49" charset="-122"/>
              </a:rPr>
              <a:t>时</a:t>
            </a:r>
            <a:r>
              <a:rPr lang="zh-CN" altLang="en-US" sz="4000" b="1" dirty="0" smtClean="0">
                <a:ea typeface="黑体" panose="02010609060101010101" pitchFamily="49" charset="-122"/>
              </a:rPr>
              <a:t>，</a:t>
            </a:r>
            <a:endParaRPr lang="en-US" altLang="zh-CN" sz="4000" b="1" dirty="0" smtClean="0">
              <a:ea typeface="黑体" panose="02010609060101010101" pitchFamily="49" charset="-122"/>
            </a:endParaRPr>
          </a:p>
          <a:p>
            <a:pPr algn="ctr" eaLnBrk="1" hangingPunct="1"/>
            <a:r>
              <a:rPr lang="zh-CN" altLang="en-US" sz="4000" b="1" dirty="0" smtClean="0">
                <a:ea typeface="黑体" panose="02010609060101010101" pitchFamily="49" charset="-122"/>
              </a:rPr>
              <a:t>执行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语句</a:t>
            </a:r>
            <a:r>
              <a:rPr lang="en-US" altLang="zh-CN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algn="ctr" eaLnBrk="1" hangingPunct="1"/>
            <a:r>
              <a:rPr lang="zh-CN" altLang="en-US" sz="4000" b="1" dirty="0">
                <a:ea typeface="黑体" panose="02010609060101010101" pitchFamily="49" charset="-122"/>
              </a:rPr>
              <a:t>否则执行语句</a:t>
            </a:r>
            <a:r>
              <a:rPr lang="en-US" altLang="zh-CN" sz="4000" b="1" dirty="0">
                <a:ea typeface="黑体" panose="02010609060101010101" pitchFamily="49" charset="-122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5020800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if-else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二</a:t>
            </a:r>
            <a:r>
              <a:rPr lang="zh-CN" altLang="en-US" dirty="0">
                <a:effectLst/>
              </a:rPr>
              <a:t>分支</a:t>
            </a:r>
            <a:r>
              <a:rPr lang="zh-CN" altLang="en-US" dirty="0" smtClean="0">
                <a:effectLst/>
              </a:rPr>
              <a:t>结构</a:t>
            </a:r>
          </a:p>
        </p:txBody>
      </p:sp>
      <p:sp>
        <p:nvSpPr>
          <p:cNvPr id="2" name="矩形 1"/>
          <p:cNvSpPr/>
          <p:nvPr/>
        </p:nvSpPr>
        <p:spPr>
          <a:xfrm>
            <a:off x="802188" y="1735493"/>
            <a:ext cx="3659135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800" b="1" kern="0" dirty="0">
                <a:solidFill>
                  <a:srgbClr val="003366"/>
                </a:solidFill>
              </a:rPr>
              <a:t>#include &lt;</a:t>
            </a:r>
            <a:r>
              <a:rPr lang="en-US" altLang="zh-CN" sz="2800" b="1" kern="0" dirty="0" err="1">
                <a:solidFill>
                  <a:srgbClr val="003366"/>
                </a:solidFill>
              </a:rPr>
              <a:t>stdio.h</a:t>
            </a:r>
            <a:r>
              <a:rPr lang="en-US" altLang="zh-CN" sz="2800" b="1" kern="0" dirty="0">
                <a:solidFill>
                  <a:srgbClr val="003366"/>
                </a:solidFill>
              </a:rPr>
              <a:t>&gt;</a:t>
            </a:r>
          </a:p>
          <a:p>
            <a:pPr lvl="0"/>
            <a:r>
              <a:rPr lang="en-US" altLang="zh-CN" sz="2800" b="1" kern="0" dirty="0" err="1">
                <a:solidFill>
                  <a:srgbClr val="003366"/>
                </a:solidFill>
              </a:rPr>
              <a:t>int</a:t>
            </a:r>
            <a:r>
              <a:rPr lang="en-US" altLang="zh-CN" sz="2800" b="1" kern="0" dirty="0">
                <a:solidFill>
                  <a:srgbClr val="003366"/>
                </a:solidFill>
              </a:rPr>
              <a:t>  main()</a:t>
            </a:r>
          </a:p>
          <a:p>
            <a:pPr lvl="0" eaLnBrk="1" hangingPunct="1"/>
            <a:r>
              <a:rPr lang="en-US" altLang="zh-CN" sz="2800" b="1" dirty="0">
                <a:solidFill>
                  <a:srgbClr val="003366"/>
                </a:solidFill>
              </a:rPr>
              <a:t>{</a:t>
            </a:r>
            <a:r>
              <a:rPr lang="es-ES" altLang="zh-CN" sz="2800" b="1" dirty="0">
                <a:solidFill>
                  <a:srgbClr val="003366"/>
                </a:solidFill>
              </a:rPr>
              <a:t>   </a:t>
            </a: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  int  x, y;</a:t>
            </a:r>
          </a:p>
          <a:p>
            <a:pPr lvl="0" eaLnBrk="1" hangingPunct="1"/>
            <a:r>
              <a:rPr lang="es-ES" altLang="zh-CN" sz="2800" b="1" dirty="0" smtClean="0"/>
              <a:t>   scanf</a:t>
            </a:r>
            <a:r>
              <a:rPr lang="es-ES" altLang="zh-CN" sz="2800" b="1" dirty="0"/>
              <a:t>("%d",&amp;x);</a:t>
            </a:r>
            <a:r>
              <a:rPr lang="es-ES" altLang="zh-CN" sz="2800" b="1" dirty="0" smtClean="0">
                <a:solidFill>
                  <a:srgbClr val="FF0000"/>
                </a:solidFill>
              </a:rPr>
              <a:t>   </a:t>
            </a:r>
          </a:p>
          <a:p>
            <a:pPr lvl="0" eaLnBrk="1" hangingPunct="1"/>
            <a:r>
              <a:rPr lang="es-ES" altLang="zh-CN" sz="2800" b="1" dirty="0" smtClean="0">
                <a:solidFill>
                  <a:srgbClr val="FF0000"/>
                </a:solidFill>
              </a:rPr>
              <a:t>   if </a:t>
            </a:r>
            <a:r>
              <a:rPr lang="es-ES" altLang="zh-CN" sz="2800" b="1" dirty="0">
                <a:solidFill>
                  <a:srgbClr val="FF0000"/>
                </a:solidFill>
              </a:rPr>
              <a:t>(x&gt;0)</a:t>
            </a: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 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   </a:t>
            </a:r>
            <a:r>
              <a:rPr lang="es-ES" altLang="zh-CN" sz="2800" b="1" dirty="0">
                <a:solidFill>
                  <a:srgbClr val="003366"/>
                </a:solidFill>
              </a:rPr>
              <a:t>y=x+10; </a:t>
            </a:r>
            <a:endParaRPr lang="es-ES" altLang="zh-CN" sz="2800" b="1" dirty="0" smtClean="0">
              <a:solidFill>
                <a:srgbClr val="003366"/>
              </a:solidFill>
            </a:endParaRP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  </a:t>
            </a:r>
            <a:r>
              <a:rPr lang="es-ES" altLang="zh-CN" sz="2800" b="1" dirty="0" smtClean="0">
                <a:solidFill>
                  <a:srgbClr val="FF0000"/>
                </a:solidFill>
              </a:rPr>
              <a:t>else</a:t>
            </a:r>
            <a:endParaRPr lang="es-ES" altLang="zh-CN" sz="2800" b="1" dirty="0">
              <a:solidFill>
                <a:srgbClr val="FF0000"/>
              </a:solidFill>
            </a:endParaRP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 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   y=x; </a:t>
            </a:r>
          </a:p>
          <a:p>
            <a:pPr lvl="0" eaLnBrk="1" hangingPunct="1"/>
            <a:r>
              <a:rPr lang="es-ES" altLang="zh-CN" sz="2800" b="1" dirty="0" smtClean="0">
                <a:solidFill>
                  <a:srgbClr val="003366"/>
                </a:solidFill>
              </a:rPr>
              <a:t>   printf</a:t>
            </a:r>
            <a:r>
              <a:rPr lang="es-ES" altLang="zh-CN" sz="2800" b="1" dirty="0">
                <a:solidFill>
                  <a:srgbClr val="003366"/>
                </a:solidFill>
              </a:rPr>
              <a:t>("y=%d\n",y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);</a:t>
            </a: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  return 0;</a:t>
            </a:r>
            <a:endParaRPr lang="es-ES" altLang="zh-CN" sz="28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n-US" altLang="zh-CN" sz="2800" b="1" dirty="0" smtClean="0">
                <a:solidFill>
                  <a:srgbClr val="003366"/>
                </a:solidFill>
              </a:rPr>
              <a:t>}</a:t>
            </a:r>
            <a:endParaRPr lang="zh-CN" altLang="en-US" sz="2800" b="1" dirty="0">
              <a:solidFill>
                <a:srgbClr val="003366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16016" y="1735493"/>
            <a:ext cx="4256685" cy="5007823"/>
            <a:chOff x="4802705" y="1612520"/>
            <a:chExt cx="4256685" cy="5007823"/>
          </a:xfrm>
        </p:grpSpPr>
        <p:grpSp>
          <p:nvGrpSpPr>
            <p:cNvPr id="4" name="组合 3"/>
            <p:cNvGrpSpPr/>
            <p:nvPr/>
          </p:nvGrpSpPr>
          <p:grpSpPr>
            <a:xfrm>
              <a:off x="4802705" y="1612520"/>
              <a:ext cx="4256685" cy="5007823"/>
              <a:chOff x="4731235" y="388384"/>
              <a:chExt cx="4256685" cy="5007823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4731235" y="388384"/>
                <a:ext cx="4256685" cy="4324011"/>
                <a:chOff x="1186879" y="-212543"/>
                <a:chExt cx="6691313" cy="6797146"/>
              </a:xfrm>
            </p:grpSpPr>
            <p:sp>
              <p:nvSpPr>
                <p:cNvPr id="31" name="Rectangle 13"/>
                <p:cNvSpPr>
                  <a:spLocks noChangeArrowheads="1"/>
                </p:cNvSpPr>
                <p:nvPr/>
              </p:nvSpPr>
              <p:spPr bwMode="auto">
                <a:xfrm>
                  <a:off x="1186879" y="4149378"/>
                  <a:ext cx="1865313" cy="69056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 dirty="0" smtClean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y=x+10 </a:t>
                  </a:r>
                  <a:endParaRPr lang="en-US" altLang="zh-CN" sz="2000" b="1" dirty="0">
                    <a:solidFill>
                      <a:srgbClr val="FF3300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2" name="Rectangle 14"/>
                <p:cNvSpPr>
                  <a:spLocks noChangeArrowheads="1"/>
                </p:cNvSpPr>
                <p:nvPr/>
              </p:nvSpPr>
              <p:spPr bwMode="auto">
                <a:xfrm>
                  <a:off x="2041382" y="2334148"/>
                  <a:ext cx="850900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 dirty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真</a:t>
                  </a:r>
                </a:p>
              </p:txBody>
            </p:sp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>
                  <a:off x="4499992" y="5662265"/>
                  <a:ext cx="0" cy="92233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34" name="Rectangle 19"/>
                <p:cNvSpPr>
                  <a:spLocks noChangeArrowheads="1"/>
                </p:cNvSpPr>
                <p:nvPr/>
              </p:nvSpPr>
              <p:spPr bwMode="auto">
                <a:xfrm>
                  <a:off x="5796185" y="2353625"/>
                  <a:ext cx="1012825" cy="576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 dirty="0">
                      <a:solidFill>
                        <a:srgbClr val="008000"/>
                      </a:solidFill>
                      <a:ea typeface="黑体" panose="02010609060101010101" pitchFamily="49" charset="-122"/>
                    </a:rPr>
                    <a:t>假</a:t>
                  </a:r>
                </a:p>
              </p:txBody>
            </p:sp>
            <p:sp>
              <p:nvSpPr>
                <p:cNvPr id="35" name="Line 20"/>
                <p:cNvSpPr>
                  <a:spLocks noChangeShapeType="1"/>
                </p:cNvSpPr>
                <p:nvPr/>
              </p:nvSpPr>
              <p:spPr bwMode="auto">
                <a:xfrm>
                  <a:off x="5868417" y="2996853"/>
                  <a:ext cx="1079500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36" name="Line 21"/>
                <p:cNvSpPr>
                  <a:spLocks noChangeShapeType="1"/>
                </p:cNvSpPr>
                <p:nvPr/>
              </p:nvSpPr>
              <p:spPr bwMode="auto">
                <a:xfrm>
                  <a:off x="6947917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37" name="Rectangle 22"/>
                <p:cNvSpPr>
                  <a:spLocks noChangeArrowheads="1"/>
                </p:cNvSpPr>
                <p:nvPr/>
              </p:nvSpPr>
              <p:spPr bwMode="auto">
                <a:xfrm>
                  <a:off x="6012879" y="4077940"/>
                  <a:ext cx="1865313" cy="690563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 dirty="0" smtClean="0">
                      <a:solidFill>
                        <a:srgbClr val="008000"/>
                      </a:solidFill>
                      <a:ea typeface="黑体" panose="02010609060101010101" pitchFamily="49" charset="-122"/>
                    </a:rPr>
                    <a:t>y=x</a:t>
                  </a:r>
                  <a:endParaRPr lang="en-US" altLang="zh-CN" sz="2000" b="1" dirty="0">
                    <a:solidFill>
                      <a:srgbClr val="008000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8" name="Line 23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1152524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39" name="Line 24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40" name="Line 25"/>
                <p:cNvSpPr>
                  <a:spLocks noChangeShapeType="1"/>
                </p:cNvSpPr>
                <p:nvPr/>
              </p:nvSpPr>
              <p:spPr bwMode="auto">
                <a:xfrm>
                  <a:off x="2123504" y="4870103"/>
                  <a:ext cx="0" cy="719137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41" name="Line 27"/>
                <p:cNvSpPr>
                  <a:spLocks noChangeShapeType="1"/>
                </p:cNvSpPr>
                <p:nvPr/>
              </p:nvSpPr>
              <p:spPr bwMode="auto">
                <a:xfrm flipV="1">
                  <a:off x="7092280" y="4768502"/>
                  <a:ext cx="0" cy="820738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42" name="Line 28"/>
                <p:cNvSpPr>
                  <a:spLocks noChangeShapeType="1"/>
                </p:cNvSpPr>
                <p:nvPr/>
              </p:nvSpPr>
              <p:spPr bwMode="auto">
                <a:xfrm>
                  <a:off x="2123504" y="5589240"/>
                  <a:ext cx="2376488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43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499992" y="5589240"/>
                  <a:ext cx="2592387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44" name="菱形 43"/>
                <p:cNvSpPr/>
                <p:nvPr/>
              </p:nvSpPr>
              <p:spPr bwMode="auto">
                <a:xfrm>
                  <a:off x="3151828" y="2310902"/>
                  <a:ext cx="2765948" cy="1371902"/>
                </a:xfrm>
                <a:prstGeom prst="diamond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5" name="Rectangle 6"/>
                <p:cNvSpPr>
                  <a:spLocks noChangeArrowheads="1"/>
                </p:cNvSpPr>
                <p:nvPr/>
              </p:nvSpPr>
              <p:spPr bwMode="auto">
                <a:xfrm>
                  <a:off x="3690872" y="2665283"/>
                  <a:ext cx="1657350" cy="649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 dirty="0" smtClean="0">
                      <a:solidFill>
                        <a:srgbClr val="0000FF"/>
                      </a:solidFill>
                      <a:ea typeface="黑体" panose="02010609060101010101" pitchFamily="49" charset="-122"/>
                    </a:rPr>
                    <a:t>X&gt;0</a:t>
                  </a:r>
                  <a:endParaRPr lang="zh-CN" altLang="en-US" sz="2000" b="1" dirty="0">
                    <a:solidFill>
                      <a:srgbClr val="0000FF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6" name="Line 17"/>
                <p:cNvSpPr>
                  <a:spLocks noChangeShapeType="1"/>
                </p:cNvSpPr>
                <p:nvPr/>
              </p:nvSpPr>
              <p:spPr bwMode="auto">
                <a:xfrm>
                  <a:off x="4507107" y="-212543"/>
                  <a:ext cx="0" cy="70475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  <p:sp>
              <p:nvSpPr>
                <p:cNvPr id="69" name="Line 17"/>
                <p:cNvSpPr>
                  <a:spLocks noChangeShapeType="1"/>
                </p:cNvSpPr>
                <p:nvPr/>
              </p:nvSpPr>
              <p:spPr bwMode="auto">
                <a:xfrm>
                  <a:off x="4499992" y="1519209"/>
                  <a:ext cx="19554" cy="79169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2000"/>
                </a:p>
              </p:txBody>
            </p:sp>
          </p:grpSp>
          <p:grpSp>
            <p:nvGrpSpPr>
              <p:cNvPr id="3" name="组合 2"/>
              <p:cNvGrpSpPr/>
              <p:nvPr/>
            </p:nvGrpSpPr>
            <p:grpSpPr>
              <a:xfrm>
                <a:off x="5720134" y="4750231"/>
                <a:ext cx="2308250" cy="645976"/>
                <a:chOff x="5720134" y="4750231"/>
                <a:chExt cx="2308250" cy="645976"/>
              </a:xfrm>
            </p:grpSpPr>
            <p:sp>
              <p:nvSpPr>
                <p:cNvPr id="22" name="流程图: 数据 21"/>
                <p:cNvSpPr/>
                <p:nvPr/>
              </p:nvSpPr>
              <p:spPr bwMode="auto">
                <a:xfrm>
                  <a:off x="5720134" y="4750231"/>
                  <a:ext cx="2308250" cy="645976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1200"/>
                    </a:spcBef>
                  </a:pPr>
                  <a:endParaRPr lang="en-US" altLang="zh-CN" sz="20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2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6176224" y="4873340"/>
                  <a:ext cx="129614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输出</a:t>
                  </a:r>
                  <a:r>
                    <a:rPr lang="en-US" altLang="zh-CN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y</a:t>
                  </a:r>
                  <a:r>
                    <a:rPr lang="zh-CN" altLang="en-US" sz="18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的值</a:t>
                  </a:r>
                  <a:endParaRPr lang="zh-CN" altLang="en-US" sz="1800" dirty="0"/>
                </a:p>
              </p:txBody>
            </p:sp>
          </p:grpSp>
        </p:grpSp>
        <p:sp>
          <p:nvSpPr>
            <p:cNvPr id="67" name="流程图: 数据 66"/>
            <p:cNvSpPr/>
            <p:nvPr/>
          </p:nvSpPr>
          <p:spPr bwMode="auto">
            <a:xfrm>
              <a:off x="5776923" y="2068200"/>
              <a:ext cx="2308250" cy="645976"/>
            </a:xfrm>
            <a:prstGeom prst="flowChartInputOutpu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1200"/>
                </a:spcBef>
              </a:pPr>
              <a:endParaRPr lang="en-US" altLang="zh-CN" sz="2000" b="1" dirty="0" smtClean="0">
                <a:solidFill>
                  <a:srgbClr val="0D12D1"/>
                </a:solidFill>
                <a:ea typeface="黑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6233013" y="2191309"/>
              <a:ext cx="12961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8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输入</a:t>
              </a:r>
              <a:r>
                <a:rPr lang="en-US" altLang="zh-CN" sz="1800" b="1" dirty="0">
                  <a:solidFill>
                    <a:srgbClr val="0D12D1"/>
                  </a:solidFill>
                  <a:ea typeface="黑体" panose="02010609060101010101" pitchFamily="49" charset="-122"/>
                </a:rPr>
                <a:t>x</a:t>
              </a:r>
              <a:r>
                <a:rPr lang="zh-CN" altLang="en-US" sz="18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的值</a:t>
              </a:r>
              <a:endParaRPr lang="zh-CN" alt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2748031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if-else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二</a:t>
            </a:r>
            <a:r>
              <a:rPr lang="zh-CN" altLang="en-US" dirty="0">
                <a:effectLst/>
              </a:rPr>
              <a:t>分支</a:t>
            </a:r>
            <a:r>
              <a:rPr lang="zh-CN" altLang="en-US" dirty="0" smtClean="0">
                <a:effectLst/>
              </a:rPr>
              <a:t>结构</a:t>
            </a:r>
          </a:p>
        </p:txBody>
      </p:sp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816846" y="1720989"/>
            <a:ext cx="3611138" cy="1347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r>
              <a:rPr lang="zh-CN" altLang="en-US" sz="2400" kern="0" dirty="0" smtClean="0">
                <a:effectLst/>
              </a:rPr>
              <a:t>输入学生成绩（整数）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2400" kern="0" dirty="0" smtClean="0">
                <a:solidFill>
                  <a:srgbClr val="FF0000"/>
                </a:solidFill>
                <a:effectLst/>
              </a:rPr>
              <a:t>当成绩大于等于</a:t>
            </a:r>
            <a:r>
              <a:rPr lang="en-US" altLang="zh-CN" sz="2400" kern="0" dirty="0" smtClean="0">
                <a:solidFill>
                  <a:srgbClr val="FF0000"/>
                </a:solidFill>
                <a:effectLst/>
              </a:rPr>
              <a:t>60</a:t>
            </a:r>
            <a:r>
              <a:rPr lang="zh-CN" altLang="en-US" sz="2400" kern="0" dirty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2400" kern="0" dirty="0" smtClean="0">
                <a:effectLst/>
              </a:rPr>
              <a:t>，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2400" kern="0" dirty="0" smtClean="0">
                <a:effectLst/>
              </a:rPr>
              <a:t>输出</a:t>
            </a:r>
            <a:r>
              <a:rPr lang="en-US" altLang="zh-CN" sz="2400" kern="0" dirty="0" smtClean="0">
                <a:effectLst/>
              </a:rPr>
              <a:t>pass,  </a:t>
            </a:r>
            <a:r>
              <a:rPr lang="zh-CN" altLang="en-US" sz="2400" kern="0" dirty="0" smtClean="0">
                <a:effectLst/>
              </a:rPr>
              <a:t>否则输出</a:t>
            </a:r>
            <a:r>
              <a:rPr lang="en-US" altLang="zh-CN" sz="2400" kern="0" dirty="0" smtClean="0">
                <a:effectLst/>
              </a:rPr>
              <a:t>fail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467544" y="3140968"/>
            <a:ext cx="3655462" cy="2948382"/>
            <a:chOff x="411408" y="3099793"/>
            <a:chExt cx="3655462" cy="2948382"/>
          </a:xfrm>
        </p:grpSpPr>
        <p:grpSp>
          <p:nvGrpSpPr>
            <p:cNvPr id="6" name="组合 5"/>
            <p:cNvGrpSpPr/>
            <p:nvPr/>
          </p:nvGrpSpPr>
          <p:grpSpPr>
            <a:xfrm>
              <a:off x="1172490" y="3099793"/>
              <a:ext cx="2110769" cy="2948382"/>
              <a:chOff x="5306640" y="1612520"/>
              <a:chExt cx="3200827" cy="4471006"/>
            </a:xfrm>
          </p:grpSpPr>
          <p:grpSp>
            <p:nvGrpSpPr>
              <p:cNvPr id="27" name="组合 26"/>
              <p:cNvGrpSpPr/>
              <p:nvPr/>
            </p:nvGrpSpPr>
            <p:grpSpPr>
              <a:xfrm>
                <a:off x="5306640" y="1612520"/>
                <a:ext cx="3200827" cy="4471006"/>
                <a:chOff x="1979042" y="-212543"/>
                <a:chExt cx="5031553" cy="7028215"/>
              </a:xfrm>
            </p:grpSpPr>
            <p:sp>
              <p:nvSpPr>
                <p:cNvPr id="32" name="Rectangle 14"/>
                <p:cNvSpPr>
                  <a:spLocks noChangeArrowheads="1"/>
                </p:cNvSpPr>
                <p:nvPr/>
              </p:nvSpPr>
              <p:spPr bwMode="auto">
                <a:xfrm>
                  <a:off x="2041382" y="2334148"/>
                  <a:ext cx="850900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b="1" dirty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真</a:t>
                  </a:r>
                </a:p>
              </p:txBody>
            </p:sp>
            <p:sp>
              <p:nvSpPr>
                <p:cNvPr id="33" name="Line 17"/>
                <p:cNvSpPr>
                  <a:spLocks noChangeShapeType="1"/>
                </p:cNvSpPr>
                <p:nvPr/>
              </p:nvSpPr>
              <p:spPr bwMode="auto">
                <a:xfrm>
                  <a:off x="4418208" y="5893334"/>
                  <a:ext cx="0" cy="92233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34" name="Rectangle 19"/>
                <p:cNvSpPr>
                  <a:spLocks noChangeArrowheads="1"/>
                </p:cNvSpPr>
                <p:nvPr/>
              </p:nvSpPr>
              <p:spPr bwMode="auto">
                <a:xfrm>
                  <a:off x="5796185" y="2353625"/>
                  <a:ext cx="1012825" cy="576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b="1" dirty="0">
                      <a:solidFill>
                        <a:srgbClr val="008000"/>
                      </a:solidFill>
                      <a:ea typeface="黑体" panose="02010609060101010101" pitchFamily="49" charset="-122"/>
                    </a:rPr>
                    <a:t>假</a:t>
                  </a:r>
                </a:p>
              </p:txBody>
            </p:sp>
            <p:sp>
              <p:nvSpPr>
                <p:cNvPr id="35" name="Line 20"/>
                <p:cNvSpPr>
                  <a:spLocks noChangeShapeType="1"/>
                </p:cNvSpPr>
                <p:nvPr/>
              </p:nvSpPr>
              <p:spPr bwMode="auto">
                <a:xfrm>
                  <a:off x="5868417" y="2996853"/>
                  <a:ext cx="1079500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36" name="Line 21"/>
                <p:cNvSpPr>
                  <a:spLocks noChangeShapeType="1"/>
                </p:cNvSpPr>
                <p:nvPr/>
              </p:nvSpPr>
              <p:spPr bwMode="auto">
                <a:xfrm>
                  <a:off x="6947917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38" name="Line 23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1152524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39" name="Line 24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0" name="Line 25"/>
                <p:cNvSpPr>
                  <a:spLocks noChangeShapeType="1"/>
                </p:cNvSpPr>
                <p:nvPr/>
              </p:nvSpPr>
              <p:spPr bwMode="auto">
                <a:xfrm>
                  <a:off x="2041720" y="5101172"/>
                  <a:ext cx="0" cy="719138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1" name="Line 27"/>
                <p:cNvSpPr>
                  <a:spLocks noChangeShapeType="1"/>
                </p:cNvSpPr>
                <p:nvPr/>
              </p:nvSpPr>
              <p:spPr bwMode="auto">
                <a:xfrm flipH="1" flipV="1">
                  <a:off x="6991015" y="5009457"/>
                  <a:ext cx="19480" cy="81085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2" name="Line 28"/>
                <p:cNvSpPr>
                  <a:spLocks noChangeShapeType="1"/>
                </p:cNvSpPr>
                <p:nvPr/>
              </p:nvSpPr>
              <p:spPr bwMode="auto">
                <a:xfrm>
                  <a:off x="2041720" y="5820310"/>
                  <a:ext cx="2376488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3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418208" y="5820310"/>
                  <a:ext cx="2592387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44" name="菱形 43"/>
                <p:cNvSpPr/>
                <p:nvPr/>
              </p:nvSpPr>
              <p:spPr bwMode="auto">
                <a:xfrm>
                  <a:off x="3151828" y="2310902"/>
                  <a:ext cx="2765948" cy="1371902"/>
                </a:xfrm>
                <a:prstGeom prst="diamond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45" name="Rectangle 6"/>
                <p:cNvSpPr>
                  <a:spLocks noChangeArrowheads="1"/>
                </p:cNvSpPr>
                <p:nvPr/>
              </p:nvSpPr>
              <p:spPr bwMode="auto">
                <a:xfrm>
                  <a:off x="3690872" y="2665283"/>
                  <a:ext cx="1657350" cy="649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1400" b="1" dirty="0" smtClean="0">
                      <a:solidFill>
                        <a:srgbClr val="0000FF"/>
                      </a:solidFill>
                      <a:ea typeface="黑体" panose="02010609060101010101" pitchFamily="49" charset="-122"/>
                    </a:rPr>
                    <a:t>&gt;=60</a:t>
                  </a:r>
                  <a:endParaRPr lang="zh-CN" altLang="en-US" sz="1400" b="1" dirty="0">
                    <a:solidFill>
                      <a:srgbClr val="0000FF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6" name="Line 17"/>
                <p:cNvSpPr>
                  <a:spLocks noChangeShapeType="1"/>
                </p:cNvSpPr>
                <p:nvPr/>
              </p:nvSpPr>
              <p:spPr bwMode="auto">
                <a:xfrm>
                  <a:off x="4507107" y="-212543"/>
                  <a:ext cx="0" cy="70475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69" name="Line 17"/>
                <p:cNvSpPr>
                  <a:spLocks noChangeShapeType="1"/>
                </p:cNvSpPr>
                <p:nvPr/>
              </p:nvSpPr>
              <p:spPr bwMode="auto">
                <a:xfrm>
                  <a:off x="4499992" y="1519209"/>
                  <a:ext cx="19554" cy="79169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67" name="流程图: 数据 66"/>
              <p:cNvSpPr/>
              <p:nvPr/>
            </p:nvSpPr>
            <p:spPr bwMode="auto">
              <a:xfrm>
                <a:off x="5776923" y="2068200"/>
                <a:ext cx="2308250" cy="64597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8" name="文本框 67"/>
              <p:cNvSpPr txBox="1"/>
              <p:nvPr/>
            </p:nvSpPr>
            <p:spPr>
              <a:xfrm>
                <a:off x="6133154" y="2191308"/>
                <a:ext cx="1579257" cy="46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输入成绩</a:t>
                </a:r>
                <a:endParaRPr lang="zh-CN" altLang="en-US" sz="1400" dirty="0"/>
              </a:p>
            </p:txBody>
          </p:sp>
        </p:grpSp>
        <p:sp>
          <p:nvSpPr>
            <p:cNvPr id="30" name="流程图: 数据 29"/>
            <p:cNvSpPr/>
            <p:nvPr/>
          </p:nvSpPr>
          <p:spPr bwMode="auto">
            <a:xfrm>
              <a:off x="411408" y="4887440"/>
              <a:ext cx="1522164" cy="425986"/>
            </a:xfrm>
            <a:prstGeom prst="flowChartInputOutpu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1200"/>
                </a:spcBef>
              </a:pPr>
              <a:endParaRPr lang="en-US" altLang="zh-CN" sz="1400" b="1" dirty="0" smtClean="0">
                <a:solidFill>
                  <a:srgbClr val="0D12D1"/>
                </a:solidFill>
                <a:ea typeface="黑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606428" y="4925541"/>
              <a:ext cx="1071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pass</a:t>
              </a:r>
              <a:endParaRPr lang="zh-CN" altLang="en-US" sz="1400" dirty="0"/>
            </a:p>
          </p:txBody>
        </p:sp>
        <p:sp>
          <p:nvSpPr>
            <p:cNvPr id="47" name="流程图: 数据 46"/>
            <p:cNvSpPr/>
            <p:nvPr/>
          </p:nvSpPr>
          <p:spPr bwMode="auto">
            <a:xfrm>
              <a:off x="2544706" y="4887440"/>
              <a:ext cx="1522164" cy="425986"/>
            </a:xfrm>
            <a:prstGeom prst="flowChartInputOutput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1200"/>
                </a:spcBef>
              </a:pPr>
              <a:endParaRPr lang="en-US" altLang="zh-CN" sz="1400" b="1" dirty="0" smtClean="0">
                <a:solidFill>
                  <a:srgbClr val="0D12D1"/>
                </a:solidFill>
                <a:ea typeface="黑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739726" y="4925541"/>
              <a:ext cx="10716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fail</a:t>
              </a:r>
              <a:endParaRPr lang="zh-CN" altLang="en-US" sz="1400" dirty="0"/>
            </a:p>
          </p:txBody>
        </p:sp>
      </p:grpSp>
      <p:sp>
        <p:nvSpPr>
          <p:cNvPr id="49" name="矩形 48"/>
          <p:cNvSpPr/>
          <p:nvPr/>
        </p:nvSpPr>
        <p:spPr>
          <a:xfrm>
            <a:off x="4529360" y="1832906"/>
            <a:ext cx="428804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2800" b="1" kern="0" dirty="0">
                <a:solidFill>
                  <a:srgbClr val="003366"/>
                </a:solidFill>
              </a:rPr>
              <a:t>#include &lt;</a:t>
            </a:r>
            <a:r>
              <a:rPr lang="en-US" altLang="zh-CN" sz="2800" b="1" kern="0" dirty="0" err="1">
                <a:solidFill>
                  <a:srgbClr val="003366"/>
                </a:solidFill>
              </a:rPr>
              <a:t>stdio.h</a:t>
            </a:r>
            <a:r>
              <a:rPr lang="en-US" altLang="zh-CN" sz="2800" b="1" kern="0" dirty="0">
                <a:solidFill>
                  <a:srgbClr val="003366"/>
                </a:solidFill>
              </a:rPr>
              <a:t>&gt;</a:t>
            </a:r>
          </a:p>
          <a:p>
            <a:pPr lvl="0"/>
            <a:r>
              <a:rPr lang="en-US" altLang="zh-CN" sz="2800" b="1" kern="0" dirty="0" err="1">
                <a:solidFill>
                  <a:srgbClr val="003366"/>
                </a:solidFill>
              </a:rPr>
              <a:t>int</a:t>
            </a:r>
            <a:r>
              <a:rPr lang="en-US" altLang="zh-CN" sz="2800" b="1" kern="0" dirty="0">
                <a:solidFill>
                  <a:srgbClr val="003366"/>
                </a:solidFill>
              </a:rPr>
              <a:t>  main()</a:t>
            </a:r>
          </a:p>
          <a:p>
            <a:pPr lvl="0" eaLnBrk="1" hangingPunct="1"/>
            <a:r>
              <a:rPr lang="en-US" altLang="zh-CN" sz="2800" b="1" dirty="0">
                <a:solidFill>
                  <a:srgbClr val="003366"/>
                </a:solidFill>
              </a:rPr>
              <a:t>{</a:t>
            </a:r>
            <a:r>
              <a:rPr lang="es-ES" altLang="zh-CN" sz="2800" b="1" dirty="0">
                <a:solidFill>
                  <a:srgbClr val="003366"/>
                </a:solidFill>
              </a:rPr>
              <a:t>   </a:t>
            </a: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  int 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x;</a:t>
            </a:r>
            <a:endParaRPr lang="es-ES" altLang="zh-CN" sz="28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s-ES" altLang="zh-CN" sz="2800" b="1" dirty="0" smtClean="0"/>
              <a:t>   scanf</a:t>
            </a:r>
            <a:r>
              <a:rPr lang="es-ES" altLang="zh-CN" sz="2800" b="1" dirty="0"/>
              <a:t>("%d",&amp;x);</a:t>
            </a:r>
            <a:r>
              <a:rPr lang="es-ES" altLang="zh-CN" sz="2800" b="1" dirty="0" smtClean="0">
                <a:solidFill>
                  <a:srgbClr val="FF0000"/>
                </a:solidFill>
              </a:rPr>
              <a:t>   </a:t>
            </a:r>
          </a:p>
          <a:p>
            <a:pPr lvl="0" eaLnBrk="1" hangingPunct="1"/>
            <a:r>
              <a:rPr lang="es-ES" altLang="zh-CN" sz="2800" b="1" dirty="0" smtClean="0">
                <a:solidFill>
                  <a:srgbClr val="FF0000"/>
                </a:solidFill>
              </a:rPr>
              <a:t>   if </a:t>
            </a:r>
            <a:r>
              <a:rPr lang="es-ES" altLang="zh-CN" sz="2800" b="1" dirty="0">
                <a:solidFill>
                  <a:srgbClr val="FF0000"/>
                </a:solidFill>
              </a:rPr>
              <a:t>(x</a:t>
            </a:r>
            <a:r>
              <a:rPr lang="es-ES" altLang="zh-CN" sz="2800" b="1" dirty="0" smtClean="0">
                <a:solidFill>
                  <a:srgbClr val="FF0000"/>
                </a:solidFill>
              </a:rPr>
              <a:t>&gt;=60</a:t>
            </a:r>
            <a:r>
              <a:rPr lang="es-ES" altLang="zh-CN" sz="2800" b="1" dirty="0">
                <a:solidFill>
                  <a:srgbClr val="FF0000"/>
                </a:solidFill>
              </a:rPr>
              <a:t>)</a:t>
            </a:r>
          </a:p>
          <a:p>
            <a:pPr lvl="0" eaLnBrk="1" hangingPunct="1"/>
            <a:r>
              <a:rPr lang="es-ES" altLang="zh-CN" sz="2800" b="1" dirty="0" smtClean="0">
                <a:solidFill>
                  <a:srgbClr val="003366"/>
                </a:solidFill>
              </a:rPr>
              <a:t>     printf(</a:t>
            </a:r>
            <a:r>
              <a:rPr lang="es-ES" altLang="zh-CN" sz="2800" b="1" dirty="0">
                <a:solidFill>
                  <a:srgbClr val="003366"/>
                </a:solidFill>
              </a:rPr>
              <a:t>"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pass\n");</a:t>
            </a:r>
            <a:endParaRPr lang="es-ES" altLang="zh-CN" sz="28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s-ES" altLang="zh-CN" sz="2800" b="1" dirty="0" smtClean="0">
                <a:solidFill>
                  <a:srgbClr val="003366"/>
                </a:solidFill>
              </a:rPr>
              <a:t>   </a:t>
            </a:r>
            <a:r>
              <a:rPr lang="es-ES" altLang="zh-CN" sz="2800" b="1" dirty="0" smtClean="0">
                <a:solidFill>
                  <a:srgbClr val="FF0000"/>
                </a:solidFill>
              </a:rPr>
              <a:t>else</a:t>
            </a:r>
            <a:endParaRPr lang="es-ES" altLang="zh-CN" sz="2800" b="1" dirty="0">
              <a:solidFill>
                <a:srgbClr val="FF0000"/>
              </a:solidFill>
            </a:endParaRPr>
          </a:p>
          <a:p>
            <a:pPr lvl="0" eaLnBrk="1" hangingPunct="1"/>
            <a:r>
              <a:rPr lang="es-ES" altLang="zh-CN" sz="2800" b="1" dirty="0" smtClean="0">
                <a:solidFill>
                  <a:srgbClr val="003366"/>
                </a:solidFill>
              </a:rPr>
              <a:t>     printf("fail\n");</a:t>
            </a:r>
          </a:p>
          <a:p>
            <a:pPr lvl="0" eaLnBrk="1" hangingPunct="1"/>
            <a:r>
              <a:rPr lang="es-ES" altLang="zh-CN" sz="2800" b="1" dirty="0">
                <a:solidFill>
                  <a:srgbClr val="003366"/>
                </a:solidFill>
              </a:rPr>
              <a:t> </a:t>
            </a:r>
            <a:r>
              <a:rPr lang="es-ES" altLang="zh-CN" sz="2800" b="1" dirty="0" smtClean="0">
                <a:solidFill>
                  <a:srgbClr val="003366"/>
                </a:solidFill>
              </a:rPr>
              <a:t>  return 0;</a:t>
            </a:r>
            <a:endParaRPr lang="es-ES" altLang="zh-CN" sz="28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n-US" altLang="zh-CN" sz="2800" b="1" dirty="0" smtClean="0">
                <a:solidFill>
                  <a:srgbClr val="003366"/>
                </a:solidFill>
              </a:rPr>
              <a:t>}</a:t>
            </a:r>
            <a:endParaRPr lang="zh-CN" altLang="en-US" sz="2800" b="1" dirty="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85696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1225" y="830263"/>
            <a:ext cx="6684963" cy="523875"/>
          </a:xfrm>
          <a:prstGeom prst="roundRect">
            <a:avLst>
              <a:gd name="adj" fmla="val 16667"/>
            </a:avLst>
          </a:prstGeom>
          <a:noFill/>
        </p:spPr>
        <p:txBody>
          <a:bodyPr anchor="ctr"/>
          <a:lstStyle/>
          <a:p>
            <a:pPr eaLnBrk="1" hangingPunct="1"/>
            <a:r>
              <a:rPr lang="zh-CN" altLang="en-US" sz="4400" smtClean="0">
                <a:solidFill>
                  <a:srgbClr val="FF0000"/>
                </a:solidFill>
                <a:effectLst/>
              </a:rPr>
              <a:t>例：</a:t>
            </a:r>
            <a:r>
              <a:rPr lang="zh-CN" altLang="en-US" smtClean="0">
                <a:solidFill>
                  <a:srgbClr val="3333FF"/>
                </a:solidFill>
                <a:effectLst/>
              </a:rPr>
              <a:t>判断数字的奇偶性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49300" y="1828800"/>
            <a:ext cx="8359775" cy="1960563"/>
          </a:xfrm>
          <a:noFill/>
        </p:spPr>
        <p:txBody>
          <a:bodyPr lIns="91440" tIns="45720" rIns="91440" bIns="45720"/>
          <a:lstStyle/>
          <a:p>
            <a:pPr algn="just" eaLnBrk="1" hangingPunct="1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zh-CN" altLang="en-US" sz="3600" dirty="0" smtClean="0">
                <a:effectLst/>
              </a:rPr>
              <a:t>输入一个整数，判断该数是奇数还是偶数。</a:t>
            </a:r>
          </a:p>
        </p:txBody>
      </p:sp>
      <p:sp>
        <p:nvSpPr>
          <p:cNvPr id="169988" name="Rectangle 4"/>
          <p:cNvSpPr>
            <a:spLocks noChangeArrowheads="1"/>
          </p:cNvSpPr>
          <p:nvPr/>
        </p:nvSpPr>
        <p:spPr bwMode="auto">
          <a:xfrm>
            <a:off x="1187450" y="3860800"/>
            <a:ext cx="68405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3333FF"/>
                </a:solidFill>
              </a:rPr>
              <a:t>number % 2 ==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1225" y="830263"/>
            <a:ext cx="6684963" cy="523875"/>
          </a:xfrm>
          <a:prstGeom prst="roundRect">
            <a:avLst>
              <a:gd name="adj" fmla="val 16667"/>
            </a:avLst>
          </a:prstGeom>
          <a:noFill/>
        </p:spPr>
        <p:txBody>
          <a:bodyPr anchor="ctr"/>
          <a:lstStyle/>
          <a:p>
            <a:pPr eaLnBrk="1" hangingPunct="1"/>
            <a:r>
              <a:rPr lang="zh-CN" altLang="en-US" sz="4400" smtClean="0">
                <a:solidFill>
                  <a:srgbClr val="FF0000"/>
                </a:solidFill>
                <a:effectLst/>
              </a:rPr>
              <a:t>例：</a:t>
            </a:r>
            <a:r>
              <a:rPr lang="zh-CN" altLang="en-US" smtClean="0">
                <a:solidFill>
                  <a:srgbClr val="3333FF"/>
                </a:solidFill>
                <a:effectLst/>
              </a:rPr>
              <a:t>判断数字的奇偶性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83568" y="1628800"/>
            <a:ext cx="4897239" cy="424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#include &lt;</a:t>
            </a:r>
            <a:r>
              <a:rPr lang="en-US" altLang="zh-CN" sz="2000" kern="0" dirty="0" err="1" smtClean="0">
                <a:effectLst/>
              </a:rPr>
              <a:t>stdio.h</a:t>
            </a:r>
            <a:r>
              <a:rPr lang="en-US" altLang="zh-CN" sz="2000" kern="0" dirty="0" smtClean="0">
                <a:effectLst/>
              </a:rPr>
              <a:t>&gt; 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err="1" smtClean="0">
                <a:effectLst/>
              </a:rPr>
              <a:t>int</a:t>
            </a:r>
            <a:r>
              <a:rPr lang="en-US" altLang="zh-CN" sz="2000" kern="0" dirty="0" smtClean="0">
                <a:effectLst/>
              </a:rPr>
              <a:t> main()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{   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>
                <a:effectLst/>
              </a:rPr>
              <a:t> </a:t>
            </a:r>
            <a:r>
              <a:rPr lang="en-US" altLang="zh-CN" sz="2000" kern="0" dirty="0" smtClean="0">
                <a:effectLst/>
              </a:rPr>
              <a:t>   </a:t>
            </a:r>
            <a:r>
              <a:rPr lang="en-US" altLang="zh-CN" sz="2000" kern="0" dirty="0" err="1" smtClean="0">
                <a:effectLst/>
              </a:rPr>
              <a:t>int</a:t>
            </a:r>
            <a:r>
              <a:rPr lang="en-US" altLang="zh-CN" sz="2000" kern="0" dirty="0" smtClean="0">
                <a:effectLst/>
              </a:rPr>
              <a:t> number;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</a:t>
            </a:r>
            <a:r>
              <a:rPr lang="en-US" altLang="zh-CN" sz="2000" kern="0" dirty="0" err="1" smtClean="0">
                <a:effectLst/>
              </a:rPr>
              <a:t>printf</a:t>
            </a:r>
            <a:r>
              <a:rPr lang="en-US" altLang="zh-CN" sz="2000" kern="0" dirty="0" smtClean="0">
                <a:effectLst/>
              </a:rPr>
              <a:t>("Enter a number: ");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</a:t>
            </a:r>
            <a:r>
              <a:rPr lang="en-US" altLang="zh-CN" sz="2000" kern="0" dirty="0" err="1" smtClean="0">
                <a:effectLst/>
              </a:rPr>
              <a:t>scanf</a:t>
            </a:r>
            <a:r>
              <a:rPr lang="en-US" altLang="zh-CN" sz="2000" kern="0" dirty="0" smtClean="0">
                <a:effectLst/>
              </a:rPr>
              <a:t>("%d", &amp;number);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</a:t>
            </a:r>
            <a:r>
              <a:rPr lang="en-US" altLang="zh-CN" sz="2000" kern="0" dirty="0" smtClean="0">
                <a:solidFill>
                  <a:srgbClr val="FF0000"/>
                </a:solidFill>
                <a:effectLst/>
              </a:rPr>
              <a:t>if (number % 2 == 0)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    </a:t>
            </a:r>
            <a:r>
              <a:rPr lang="en-US" altLang="zh-CN" sz="2000" kern="0" dirty="0" err="1" smtClean="0">
                <a:effectLst/>
              </a:rPr>
              <a:t>printf</a:t>
            </a:r>
            <a:r>
              <a:rPr lang="en-US" altLang="zh-CN" sz="2000" kern="0" dirty="0" smtClean="0">
                <a:effectLst/>
              </a:rPr>
              <a:t>("The number is even. \n");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</a:t>
            </a:r>
            <a:r>
              <a:rPr lang="en-US" altLang="zh-CN" sz="2000" kern="0" dirty="0" smtClean="0">
                <a:solidFill>
                  <a:srgbClr val="FF0000"/>
                </a:solidFill>
                <a:effectLst/>
              </a:rPr>
              <a:t>else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    </a:t>
            </a:r>
            <a:r>
              <a:rPr lang="en-US" altLang="zh-CN" sz="2000" kern="0" dirty="0" err="1" smtClean="0">
                <a:effectLst/>
              </a:rPr>
              <a:t>printf</a:t>
            </a:r>
            <a:r>
              <a:rPr lang="en-US" altLang="zh-CN" sz="2000" kern="0" dirty="0" smtClean="0">
                <a:effectLst/>
              </a:rPr>
              <a:t>("The number is odd. \n");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    return 0;</a:t>
            </a:r>
          </a:p>
          <a:p>
            <a:pPr eaLnBrk="1" hangingPunct="1">
              <a:buFont typeface="Webdings" panose="05030102010509060703" pitchFamily="18" charset="2"/>
              <a:buNone/>
            </a:pPr>
            <a:r>
              <a:rPr lang="en-US" altLang="zh-CN" sz="2000" kern="0" dirty="0" smtClean="0">
                <a:effectLst/>
              </a:rPr>
              <a:t>}</a:t>
            </a:r>
            <a:endParaRPr lang="zh-CN" altLang="en-US" sz="2000" kern="0" dirty="0" smtClean="0">
              <a:effectLst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176208" y="5810089"/>
            <a:ext cx="3664948" cy="830997"/>
          </a:xfrm>
          <a:prstGeom prst="rect">
            <a:avLst/>
          </a:prstGeom>
          <a:noFill/>
          <a:ln w="508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 dirty="0"/>
              <a:t>Enter a number: </a:t>
            </a:r>
            <a:r>
              <a:rPr kumimoji="1" lang="en-US" altLang="zh-CN" sz="2400" b="1" dirty="0">
                <a:solidFill>
                  <a:srgbClr val="CC0066"/>
                </a:solidFill>
              </a:rPr>
              <a:t>10</a:t>
            </a:r>
          </a:p>
          <a:p>
            <a:pPr eaLnBrk="1" hangingPunct="1"/>
            <a:r>
              <a:rPr kumimoji="1" lang="en-US" altLang="zh-CN" sz="2400" b="1" dirty="0" err="1"/>
              <a:t>Tne</a:t>
            </a:r>
            <a:r>
              <a:rPr kumimoji="1" lang="en-US" altLang="zh-CN" sz="2400" b="1" dirty="0"/>
              <a:t> number is even.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5058984" y="5810090"/>
            <a:ext cx="3600201" cy="830997"/>
          </a:xfrm>
          <a:prstGeom prst="rect">
            <a:avLst/>
          </a:prstGeom>
          <a:noFill/>
          <a:ln w="508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1"/>
              <a:t>Enter a number: </a:t>
            </a:r>
            <a:r>
              <a:rPr kumimoji="1" lang="en-US" altLang="zh-CN" sz="2400" b="1">
                <a:solidFill>
                  <a:srgbClr val="CC0066"/>
                </a:solidFill>
              </a:rPr>
              <a:t>55</a:t>
            </a:r>
            <a:endParaRPr kumimoji="1" lang="en-US" altLang="zh-CN" sz="2400" b="1"/>
          </a:p>
          <a:p>
            <a:pPr eaLnBrk="1" hangingPunct="1"/>
            <a:r>
              <a:rPr kumimoji="1" lang="en-US" altLang="zh-CN" sz="2400" b="1"/>
              <a:t>Tne number is odd.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5252855" y="1646237"/>
            <a:ext cx="3119725" cy="2948382"/>
            <a:chOff x="5252855" y="1646237"/>
            <a:chExt cx="3119725" cy="2948382"/>
          </a:xfrm>
        </p:grpSpPr>
        <p:grpSp>
          <p:nvGrpSpPr>
            <p:cNvPr id="9" name="组合 8"/>
            <p:cNvGrpSpPr/>
            <p:nvPr/>
          </p:nvGrpSpPr>
          <p:grpSpPr>
            <a:xfrm>
              <a:off x="5772341" y="1646237"/>
              <a:ext cx="2110769" cy="2948382"/>
              <a:chOff x="5306640" y="1612520"/>
              <a:chExt cx="3200827" cy="4471006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5306640" y="1612520"/>
                <a:ext cx="3200827" cy="4471006"/>
                <a:chOff x="1979042" y="-212543"/>
                <a:chExt cx="5031553" cy="7028215"/>
              </a:xfrm>
            </p:grpSpPr>
            <p:sp>
              <p:nvSpPr>
                <p:cNvPr id="17" name="Rectangle 14"/>
                <p:cNvSpPr>
                  <a:spLocks noChangeArrowheads="1"/>
                </p:cNvSpPr>
                <p:nvPr/>
              </p:nvSpPr>
              <p:spPr bwMode="auto">
                <a:xfrm>
                  <a:off x="2041382" y="2334148"/>
                  <a:ext cx="850900" cy="5746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b="1" dirty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真</a:t>
                  </a:r>
                </a:p>
              </p:txBody>
            </p:sp>
            <p:sp>
              <p:nvSpPr>
                <p:cNvPr id="18" name="Line 17"/>
                <p:cNvSpPr>
                  <a:spLocks noChangeShapeType="1"/>
                </p:cNvSpPr>
                <p:nvPr/>
              </p:nvSpPr>
              <p:spPr bwMode="auto">
                <a:xfrm>
                  <a:off x="4418208" y="5893334"/>
                  <a:ext cx="0" cy="922338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19" name="Rectangle 19"/>
                <p:cNvSpPr>
                  <a:spLocks noChangeArrowheads="1"/>
                </p:cNvSpPr>
                <p:nvPr/>
              </p:nvSpPr>
              <p:spPr bwMode="auto">
                <a:xfrm>
                  <a:off x="5796185" y="2353625"/>
                  <a:ext cx="1012825" cy="5762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1400" b="1" dirty="0">
                      <a:solidFill>
                        <a:srgbClr val="008000"/>
                      </a:solidFill>
                      <a:ea typeface="黑体" panose="02010609060101010101" pitchFamily="49" charset="-122"/>
                    </a:rPr>
                    <a:t>假</a:t>
                  </a:r>
                </a:p>
              </p:txBody>
            </p:sp>
            <p:sp>
              <p:nvSpPr>
                <p:cNvPr id="20" name="Line 20"/>
                <p:cNvSpPr>
                  <a:spLocks noChangeShapeType="1"/>
                </p:cNvSpPr>
                <p:nvPr/>
              </p:nvSpPr>
              <p:spPr bwMode="auto">
                <a:xfrm>
                  <a:off x="5868417" y="2996853"/>
                  <a:ext cx="1079500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1" name="Line 21"/>
                <p:cNvSpPr>
                  <a:spLocks noChangeShapeType="1"/>
                </p:cNvSpPr>
                <p:nvPr/>
              </p:nvSpPr>
              <p:spPr bwMode="auto">
                <a:xfrm>
                  <a:off x="6947917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2" name="Line 23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1152524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3" name="Line 24"/>
                <p:cNvSpPr>
                  <a:spLocks noChangeShapeType="1"/>
                </p:cNvSpPr>
                <p:nvPr/>
              </p:nvSpPr>
              <p:spPr bwMode="auto">
                <a:xfrm>
                  <a:off x="1979042" y="2996853"/>
                  <a:ext cx="0" cy="1081087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4" name="Line 25"/>
                <p:cNvSpPr>
                  <a:spLocks noChangeShapeType="1"/>
                </p:cNvSpPr>
                <p:nvPr/>
              </p:nvSpPr>
              <p:spPr bwMode="auto">
                <a:xfrm>
                  <a:off x="2041720" y="5101172"/>
                  <a:ext cx="0" cy="719138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5" name="Line 27"/>
                <p:cNvSpPr>
                  <a:spLocks noChangeShapeType="1"/>
                </p:cNvSpPr>
                <p:nvPr/>
              </p:nvSpPr>
              <p:spPr bwMode="auto">
                <a:xfrm flipH="1" flipV="1">
                  <a:off x="6991015" y="5009457"/>
                  <a:ext cx="19480" cy="81085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6" name="Line 28"/>
                <p:cNvSpPr>
                  <a:spLocks noChangeShapeType="1"/>
                </p:cNvSpPr>
                <p:nvPr/>
              </p:nvSpPr>
              <p:spPr bwMode="auto">
                <a:xfrm>
                  <a:off x="2041720" y="5820310"/>
                  <a:ext cx="2376488" cy="0"/>
                </a:xfrm>
                <a:prstGeom prst="line">
                  <a:avLst/>
                </a:prstGeom>
                <a:noFill/>
                <a:ln w="635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7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4418208" y="5820310"/>
                  <a:ext cx="2592387" cy="0"/>
                </a:xfrm>
                <a:prstGeom prst="line">
                  <a:avLst/>
                </a:prstGeom>
                <a:noFill/>
                <a:ln w="63500">
                  <a:solidFill>
                    <a:srgbClr val="008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28" name="菱形 27"/>
                <p:cNvSpPr/>
                <p:nvPr/>
              </p:nvSpPr>
              <p:spPr bwMode="auto">
                <a:xfrm>
                  <a:off x="3151828" y="2310902"/>
                  <a:ext cx="2765948" cy="1371902"/>
                </a:xfrm>
                <a:prstGeom prst="diamond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  <p:sp>
              <p:nvSpPr>
                <p:cNvPr id="29" name="Rectangle 6"/>
                <p:cNvSpPr>
                  <a:spLocks noChangeArrowheads="1"/>
                </p:cNvSpPr>
                <p:nvPr/>
              </p:nvSpPr>
              <p:spPr bwMode="auto">
                <a:xfrm>
                  <a:off x="3690872" y="2665283"/>
                  <a:ext cx="1657350" cy="649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b="1" dirty="0" smtClean="0">
                      <a:solidFill>
                        <a:srgbClr val="0000FF"/>
                      </a:solidFill>
                      <a:ea typeface="黑体" panose="02010609060101010101" pitchFamily="49" charset="-122"/>
                    </a:rPr>
                    <a:t>是否被</a:t>
                  </a:r>
                  <a:r>
                    <a:rPr lang="en-US" altLang="zh-CN" b="1" dirty="0" smtClean="0">
                      <a:solidFill>
                        <a:srgbClr val="0000FF"/>
                      </a:solidFill>
                      <a:ea typeface="黑体" panose="02010609060101010101" pitchFamily="49" charset="-122"/>
                    </a:rPr>
                    <a:t>2</a:t>
                  </a:r>
                  <a:r>
                    <a:rPr lang="zh-CN" altLang="en-US" b="1" dirty="0" smtClean="0">
                      <a:solidFill>
                        <a:srgbClr val="0000FF"/>
                      </a:solidFill>
                      <a:ea typeface="黑体" panose="02010609060101010101" pitchFamily="49" charset="-122"/>
                    </a:rPr>
                    <a:t>整除</a:t>
                  </a:r>
                  <a:endParaRPr lang="zh-CN" altLang="en-US" b="1" dirty="0">
                    <a:solidFill>
                      <a:srgbClr val="0000FF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0" name="Line 17"/>
                <p:cNvSpPr>
                  <a:spLocks noChangeShapeType="1"/>
                </p:cNvSpPr>
                <p:nvPr/>
              </p:nvSpPr>
              <p:spPr bwMode="auto">
                <a:xfrm>
                  <a:off x="4507107" y="-212543"/>
                  <a:ext cx="0" cy="704751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  <p:sp>
              <p:nvSpPr>
                <p:cNvPr id="31" name="Line 17"/>
                <p:cNvSpPr>
                  <a:spLocks noChangeShapeType="1"/>
                </p:cNvSpPr>
                <p:nvPr/>
              </p:nvSpPr>
              <p:spPr bwMode="auto">
                <a:xfrm>
                  <a:off x="4499992" y="1519209"/>
                  <a:ext cx="19554" cy="791693"/>
                </a:xfrm>
                <a:prstGeom prst="line">
                  <a:avLst/>
                </a:prstGeom>
                <a:noFill/>
                <a:ln w="762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400"/>
                </a:p>
              </p:txBody>
            </p:sp>
          </p:grpSp>
          <p:sp>
            <p:nvSpPr>
              <p:cNvPr id="15" name="流程图: 数据 14"/>
              <p:cNvSpPr/>
              <p:nvPr/>
            </p:nvSpPr>
            <p:spPr bwMode="auto">
              <a:xfrm>
                <a:off x="5776923" y="2068200"/>
                <a:ext cx="2308250" cy="64597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6133154" y="2191308"/>
                <a:ext cx="1579257" cy="466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输入数字</a:t>
                </a:r>
                <a:endParaRPr lang="zh-CN" altLang="en-US" sz="1400" dirty="0"/>
              </a:p>
            </p:txBody>
          </p:sp>
        </p:grp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5252855" y="3442545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 dirty="0">
                  <a:solidFill>
                    <a:srgbClr val="0D12D1"/>
                  </a:solidFill>
                  <a:ea typeface="黑体" panose="02010609060101010101" pitchFamily="49" charset="-122"/>
                </a:rPr>
                <a:t>偶数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7224507" y="3415038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奇数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7316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if-else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二</a:t>
            </a:r>
            <a:r>
              <a:rPr lang="zh-CN" altLang="en-US" dirty="0">
                <a:effectLst/>
              </a:rPr>
              <a:t>分支</a:t>
            </a:r>
            <a:r>
              <a:rPr lang="zh-CN" altLang="en-US" dirty="0" smtClean="0">
                <a:effectLst/>
              </a:rPr>
              <a:t>结构</a:t>
            </a:r>
          </a:p>
        </p:txBody>
      </p:sp>
      <p:sp>
        <p:nvSpPr>
          <p:cNvPr id="2" name="矩形 1"/>
          <p:cNvSpPr/>
          <p:nvPr/>
        </p:nvSpPr>
        <p:spPr>
          <a:xfrm>
            <a:off x="802189" y="1735493"/>
            <a:ext cx="3265756" cy="452431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400" b="1" kern="0" dirty="0">
                <a:solidFill>
                  <a:srgbClr val="003366"/>
                </a:solidFill>
              </a:rPr>
              <a:t>#include &lt;</a:t>
            </a:r>
            <a:r>
              <a:rPr lang="en-US" altLang="zh-CN" sz="2400" b="1" kern="0" dirty="0" err="1">
                <a:solidFill>
                  <a:srgbClr val="003366"/>
                </a:solidFill>
              </a:rPr>
              <a:t>stdio.h</a:t>
            </a:r>
            <a:r>
              <a:rPr lang="en-US" altLang="zh-CN" sz="2400" b="1" kern="0" dirty="0">
                <a:solidFill>
                  <a:srgbClr val="003366"/>
                </a:solidFill>
              </a:rPr>
              <a:t>&gt;</a:t>
            </a:r>
          </a:p>
          <a:p>
            <a:pPr lvl="0"/>
            <a:r>
              <a:rPr lang="en-US" altLang="zh-CN" sz="2400" b="1" kern="0" dirty="0" err="1">
                <a:solidFill>
                  <a:srgbClr val="003366"/>
                </a:solidFill>
              </a:rPr>
              <a:t>int</a:t>
            </a:r>
            <a:r>
              <a:rPr lang="en-US" altLang="zh-CN" sz="2400" b="1" kern="0" dirty="0">
                <a:solidFill>
                  <a:srgbClr val="003366"/>
                </a:solidFill>
              </a:rPr>
              <a:t>  main()</a:t>
            </a:r>
          </a:p>
          <a:p>
            <a:pPr lvl="0" eaLnBrk="1" hangingPunct="1"/>
            <a:r>
              <a:rPr lang="en-US" altLang="zh-CN" sz="2400" b="1" dirty="0">
                <a:solidFill>
                  <a:srgbClr val="003366"/>
                </a:solidFill>
              </a:rPr>
              <a:t>{</a:t>
            </a:r>
            <a:r>
              <a:rPr lang="es-ES" altLang="zh-CN" sz="2400" b="1" dirty="0">
                <a:solidFill>
                  <a:srgbClr val="003366"/>
                </a:solidFill>
              </a:rPr>
              <a:t>   </a:t>
            </a: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  int  x, y;</a:t>
            </a:r>
          </a:p>
          <a:p>
            <a:pPr lvl="0" eaLnBrk="1" hangingPunct="1"/>
            <a:r>
              <a:rPr lang="es-ES" altLang="zh-CN" sz="2400" b="1" dirty="0" smtClean="0"/>
              <a:t>   scanf</a:t>
            </a:r>
            <a:r>
              <a:rPr lang="es-ES" altLang="zh-CN" sz="2400" b="1" dirty="0"/>
              <a:t>("%d",&amp;x);</a:t>
            </a:r>
            <a:r>
              <a:rPr lang="es-ES" altLang="zh-CN" sz="2400" b="1" dirty="0" smtClean="0">
                <a:solidFill>
                  <a:srgbClr val="FF0000"/>
                </a:solidFill>
              </a:rPr>
              <a:t>   </a:t>
            </a:r>
          </a:p>
          <a:p>
            <a:pPr lvl="0" eaLnBrk="1" hangingPunct="1"/>
            <a:r>
              <a:rPr lang="es-ES" altLang="zh-CN" sz="2400" b="1" dirty="0" smtClean="0">
                <a:solidFill>
                  <a:srgbClr val="FF0000"/>
                </a:solidFill>
              </a:rPr>
              <a:t>   if </a:t>
            </a:r>
            <a:r>
              <a:rPr lang="es-ES" altLang="zh-CN" sz="2400" b="1" dirty="0">
                <a:solidFill>
                  <a:srgbClr val="FF0000"/>
                </a:solidFill>
              </a:rPr>
              <a:t>(x&gt;0)</a:t>
            </a: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 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   </a:t>
            </a:r>
            <a:r>
              <a:rPr lang="es-ES" altLang="zh-CN" sz="2400" b="1" dirty="0">
                <a:solidFill>
                  <a:srgbClr val="003366"/>
                </a:solidFill>
              </a:rPr>
              <a:t>y=x+10; </a:t>
            </a:r>
            <a:endParaRPr lang="es-ES" altLang="zh-CN" sz="2400" b="1" dirty="0" smtClean="0">
              <a:solidFill>
                <a:srgbClr val="003366"/>
              </a:solidFill>
            </a:endParaRP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  </a:t>
            </a:r>
            <a:r>
              <a:rPr lang="es-ES" altLang="zh-CN" sz="2400" b="1" dirty="0" smtClean="0">
                <a:solidFill>
                  <a:srgbClr val="FF0000"/>
                </a:solidFill>
              </a:rPr>
              <a:t>else</a:t>
            </a:r>
            <a:endParaRPr lang="es-ES" altLang="zh-CN" sz="2400" b="1" dirty="0">
              <a:solidFill>
                <a:srgbClr val="FF0000"/>
              </a:solidFill>
            </a:endParaRP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 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   y=x; </a:t>
            </a:r>
          </a:p>
          <a:p>
            <a:pPr lvl="0" eaLnBrk="1" hangingPunct="1"/>
            <a:r>
              <a:rPr lang="es-ES" altLang="zh-CN" sz="2400" b="1" dirty="0" smtClean="0">
                <a:solidFill>
                  <a:srgbClr val="003366"/>
                </a:solidFill>
              </a:rPr>
              <a:t>   printf</a:t>
            </a:r>
            <a:r>
              <a:rPr lang="es-ES" altLang="zh-CN" sz="2400" b="1" dirty="0">
                <a:solidFill>
                  <a:srgbClr val="003366"/>
                </a:solidFill>
              </a:rPr>
              <a:t>("y=%d\n",y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);</a:t>
            </a: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  return 0;</a:t>
            </a:r>
            <a:endParaRPr lang="es-ES" altLang="zh-CN" sz="24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n-US" altLang="zh-CN" sz="2400" b="1" dirty="0" smtClean="0">
                <a:solidFill>
                  <a:srgbClr val="003366"/>
                </a:solidFill>
              </a:rPr>
              <a:t>}</a:t>
            </a:r>
            <a:endParaRPr lang="zh-CN" altLang="en-US" sz="2400" b="1" dirty="0">
              <a:solidFill>
                <a:srgbClr val="003366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355976" y="1735493"/>
            <a:ext cx="4682677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400" b="1" kern="0" dirty="0">
                <a:solidFill>
                  <a:srgbClr val="003366"/>
                </a:solidFill>
              </a:rPr>
              <a:t>#include &lt;</a:t>
            </a:r>
            <a:r>
              <a:rPr lang="en-US" altLang="zh-CN" sz="2400" b="1" kern="0" dirty="0" err="1">
                <a:solidFill>
                  <a:srgbClr val="003366"/>
                </a:solidFill>
              </a:rPr>
              <a:t>stdio.h</a:t>
            </a:r>
            <a:r>
              <a:rPr lang="en-US" altLang="zh-CN" sz="2400" b="1" kern="0" dirty="0">
                <a:solidFill>
                  <a:srgbClr val="003366"/>
                </a:solidFill>
              </a:rPr>
              <a:t>&gt;</a:t>
            </a:r>
          </a:p>
          <a:p>
            <a:pPr lvl="0"/>
            <a:r>
              <a:rPr lang="en-US" altLang="zh-CN" sz="2400" b="1" kern="0" dirty="0" err="1">
                <a:solidFill>
                  <a:srgbClr val="003366"/>
                </a:solidFill>
              </a:rPr>
              <a:t>int</a:t>
            </a:r>
            <a:r>
              <a:rPr lang="en-US" altLang="zh-CN" sz="2400" b="1" kern="0" dirty="0">
                <a:solidFill>
                  <a:srgbClr val="003366"/>
                </a:solidFill>
              </a:rPr>
              <a:t>  main()</a:t>
            </a:r>
          </a:p>
          <a:p>
            <a:pPr lvl="0" eaLnBrk="1" hangingPunct="1"/>
            <a:r>
              <a:rPr lang="en-US" altLang="zh-CN" sz="2400" b="1" dirty="0">
                <a:solidFill>
                  <a:srgbClr val="003366"/>
                </a:solidFill>
              </a:rPr>
              <a:t>{</a:t>
            </a:r>
            <a:r>
              <a:rPr lang="es-ES" altLang="zh-CN" sz="2400" b="1" dirty="0">
                <a:solidFill>
                  <a:srgbClr val="003366"/>
                </a:solidFill>
              </a:rPr>
              <a:t>   </a:t>
            </a: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  int 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x;</a:t>
            </a:r>
            <a:endParaRPr lang="es-ES" altLang="zh-CN" sz="24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s-ES" altLang="zh-CN" sz="2400" b="1" dirty="0" smtClean="0"/>
              <a:t>   scanf</a:t>
            </a:r>
            <a:r>
              <a:rPr lang="es-ES" altLang="zh-CN" sz="2400" b="1" dirty="0"/>
              <a:t>("%d",&amp;x);</a:t>
            </a:r>
            <a:r>
              <a:rPr lang="es-ES" altLang="zh-CN" sz="2400" b="1" dirty="0" smtClean="0">
                <a:solidFill>
                  <a:srgbClr val="FF0000"/>
                </a:solidFill>
              </a:rPr>
              <a:t>   </a:t>
            </a:r>
          </a:p>
          <a:p>
            <a:pPr lvl="0" eaLnBrk="1" hangingPunct="1"/>
            <a:r>
              <a:rPr lang="es-ES" altLang="zh-CN" sz="2400" b="1" dirty="0" smtClean="0">
                <a:solidFill>
                  <a:srgbClr val="003366"/>
                </a:solidFill>
              </a:rPr>
              <a:t>   printf("%</a:t>
            </a:r>
            <a:r>
              <a:rPr lang="es-ES" altLang="zh-CN" sz="2400" b="1" dirty="0">
                <a:solidFill>
                  <a:srgbClr val="003366"/>
                </a:solidFill>
              </a:rPr>
              <a:t>d\n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",</a:t>
            </a:r>
            <a:r>
              <a:rPr lang="es-ES" altLang="zh-CN" sz="2400" b="1" dirty="0" smtClean="0">
                <a:solidFill>
                  <a:srgbClr val="FF0000"/>
                </a:solidFill>
              </a:rPr>
              <a:t>x&gt;0?x+10:x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);</a:t>
            </a:r>
          </a:p>
          <a:p>
            <a:pPr lvl="0" eaLnBrk="1" hangingPunct="1"/>
            <a:r>
              <a:rPr lang="es-ES" altLang="zh-CN" sz="2400" b="1" dirty="0">
                <a:solidFill>
                  <a:srgbClr val="003366"/>
                </a:solidFill>
              </a:rPr>
              <a:t> </a:t>
            </a:r>
            <a:r>
              <a:rPr lang="es-ES" altLang="zh-CN" sz="2400" b="1" dirty="0" smtClean="0">
                <a:solidFill>
                  <a:srgbClr val="003366"/>
                </a:solidFill>
              </a:rPr>
              <a:t>  return 0;</a:t>
            </a:r>
            <a:endParaRPr lang="es-ES" altLang="zh-CN" sz="2400" b="1" dirty="0">
              <a:solidFill>
                <a:srgbClr val="003366"/>
              </a:solidFill>
            </a:endParaRPr>
          </a:p>
          <a:p>
            <a:pPr lvl="0" eaLnBrk="1" hangingPunct="1"/>
            <a:r>
              <a:rPr lang="en-US" altLang="zh-CN" sz="2400" b="1" dirty="0" smtClean="0">
                <a:solidFill>
                  <a:srgbClr val="003366"/>
                </a:solidFill>
              </a:rPr>
              <a:t>}</a:t>
            </a:r>
            <a:endParaRPr lang="zh-CN" altLang="en-US" sz="2400" b="1" dirty="0">
              <a:solidFill>
                <a:srgbClr val="003366"/>
              </a:solidFill>
            </a:endParaRPr>
          </a:p>
        </p:txBody>
      </p:sp>
      <p:sp>
        <p:nvSpPr>
          <p:cNvPr id="30" name="Rectangle 4"/>
          <p:cNvSpPr>
            <a:spLocks noChangeArrowheads="1"/>
          </p:cNvSpPr>
          <p:nvPr/>
        </p:nvSpPr>
        <p:spPr bwMode="auto">
          <a:xfrm>
            <a:off x="5292080" y="5085184"/>
            <a:ext cx="2182952" cy="523220"/>
          </a:xfrm>
          <a:prstGeom prst="rect">
            <a:avLst/>
          </a:prstGeom>
          <a:noFill/>
          <a:ln w="508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 smtClean="0"/>
              <a:t>条件运算符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80805570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200726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else</a:t>
            </a:r>
            <a:r>
              <a:rPr lang="en-US" altLang="zh-CN" dirty="0">
                <a:effectLst/>
              </a:rPr>
              <a:t>-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多分支结构</a:t>
            </a:r>
          </a:p>
        </p:txBody>
      </p:sp>
      <p:sp>
        <p:nvSpPr>
          <p:cNvPr id="47" name="Rectangle 2"/>
          <p:cNvSpPr txBox="1">
            <a:spLocks noChangeArrowheads="1"/>
          </p:cNvSpPr>
          <p:nvPr/>
        </p:nvSpPr>
        <p:spPr bwMode="auto">
          <a:xfrm>
            <a:off x="777252" y="1698374"/>
            <a:ext cx="2936922" cy="3991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if (</a:t>
            </a:r>
            <a:r>
              <a:rPr lang="zh-CN" altLang="en-US" dirty="0">
                <a:solidFill>
                  <a:srgbClr val="0000FF"/>
                </a:solidFill>
                <a:effectLst/>
              </a:rPr>
              <a:t>表达式</a:t>
            </a:r>
            <a:r>
              <a:rPr lang="en-US" altLang="zh-CN" dirty="0">
                <a:solidFill>
                  <a:srgbClr val="0000FF"/>
                </a:solidFill>
                <a:effectLst/>
              </a:rPr>
              <a:t>1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        </a:t>
            </a:r>
            <a:r>
              <a:rPr lang="zh-CN" altLang="en-US" dirty="0">
                <a:effectLst/>
              </a:rPr>
              <a:t>语句 </a:t>
            </a:r>
            <a:r>
              <a:rPr lang="en-US" altLang="zh-CN" dirty="0">
                <a:effectLst/>
              </a:rPr>
              <a:t>1;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else  if (</a:t>
            </a:r>
            <a:r>
              <a:rPr lang="zh-CN" altLang="en-US" dirty="0">
                <a:solidFill>
                  <a:srgbClr val="0000FF"/>
                </a:solidFill>
                <a:effectLst/>
              </a:rPr>
              <a:t>表达式</a:t>
            </a:r>
            <a:r>
              <a:rPr lang="en-US" altLang="zh-CN" dirty="0">
                <a:solidFill>
                  <a:srgbClr val="0000FF"/>
                </a:solidFill>
                <a:effectLst/>
              </a:rPr>
              <a:t>2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        </a:t>
            </a:r>
            <a:r>
              <a:rPr lang="zh-CN" altLang="en-US" dirty="0">
                <a:effectLst/>
              </a:rPr>
              <a:t>语句</a:t>
            </a:r>
            <a:r>
              <a:rPr lang="en-US" altLang="zh-CN" dirty="0">
                <a:effectLst/>
              </a:rPr>
              <a:t>2;</a:t>
            </a:r>
            <a:endParaRPr lang="zh-CN" altLang="en-US" dirty="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effectLst/>
              </a:rPr>
              <a:t>    </a:t>
            </a:r>
            <a:r>
              <a:rPr lang="zh-CN" altLang="en-US" dirty="0" smtClean="0">
                <a:effectLst/>
              </a:rPr>
              <a:t>    </a:t>
            </a:r>
            <a:r>
              <a:rPr lang="en-US" altLang="zh-CN" dirty="0" smtClean="0">
                <a:effectLst/>
              </a:rPr>
              <a:t>…….</a:t>
            </a:r>
            <a:endParaRPr lang="en-US" altLang="zh-CN" dirty="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else  if (</a:t>
            </a:r>
            <a:r>
              <a:rPr lang="zh-CN" altLang="en-US" dirty="0">
                <a:solidFill>
                  <a:srgbClr val="0000FF"/>
                </a:solidFill>
                <a:effectLst/>
              </a:rPr>
              <a:t>表达式</a:t>
            </a:r>
            <a:r>
              <a:rPr lang="en-US" altLang="zh-CN" dirty="0">
                <a:solidFill>
                  <a:srgbClr val="0000FF"/>
                </a:solidFill>
                <a:effectLst/>
              </a:rPr>
              <a:t>n</a:t>
            </a:r>
            <a:r>
              <a:rPr lang="en-US" altLang="zh-CN" dirty="0">
                <a:solidFill>
                  <a:srgbClr val="FF3300"/>
                </a:solidFill>
                <a:effectLst/>
              </a:rPr>
              <a:t>)</a:t>
            </a:r>
            <a:endParaRPr lang="zh-CN" altLang="en-US" dirty="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effectLst/>
              </a:rPr>
              <a:t>        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>
                <a:effectLst/>
              </a:rPr>
              <a:t>n;</a:t>
            </a:r>
            <a:endParaRPr lang="zh-CN" altLang="en-US" dirty="0">
              <a:effectLst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dirty="0">
                <a:solidFill>
                  <a:srgbClr val="FF3300"/>
                </a:solidFill>
                <a:effectLst/>
              </a:rPr>
              <a:t> </a:t>
            </a:r>
            <a:r>
              <a:rPr lang="en-US" altLang="zh-CN" dirty="0" smtClean="0">
                <a:solidFill>
                  <a:srgbClr val="FF3300"/>
                </a:solidFill>
                <a:effectLst/>
              </a:rPr>
              <a:t>else  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>
                <a:effectLst/>
              </a:rPr>
              <a:t>n+1;</a:t>
            </a:r>
          </a:p>
          <a:p>
            <a:pPr marL="609600" indent="-609600">
              <a:buFont typeface="Webdings" panose="05030102010509060703" pitchFamily="18" charset="2"/>
              <a:buNone/>
            </a:pPr>
            <a:r>
              <a:rPr lang="en-US" altLang="zh-CN" kern="0" dirty="0" smtClean="0">
                <a:solidFill>
                  <a:srgbClr val="FF3300"/>
                </a:solidFill>
                <a:effectLst/>
              </a:rPr>
              <a:t>        </a:t>
            </a:r>
          </a:p>
          <a:p>
            <a:pPr marL="609600" indent="-609600">
              <a:buFont typeface="Webdings" panose="05030102010509060703" pitchFamily="18" charset="2"/>
              <a:buNone/>
            </a:pPr>
            <a:endParaRPr lang="zh-CN" altLang="en-US" kern="0" dirty="0" smtClean="0">
              <a:effectLst/>
            </a:endParaRPr>
          </a:p>
        </p:txBody>
      </p:sp>
      <p:grpSp>
        <p:nvGrpSpPr>
          <p:cNvPr id="93" name="组合 92"/>
          <p:cNvGrpSpPr/>
          <p:nvPr/>
        </p:nvGrpSpPr>
        <p:grpSpPr>
          <a:xfrm>
            <a:off x="3447380" y="1727554"/>
            <a:ext cx="5589116" cy="5085822"/>
            <a:chOff x="3419872" y="1628800"/>
            <a:chExt cx="5589116" cy="5085822"/>
          </a:xfrm>
        </p:grpSpPr>
        <p:grpSp>
          <p:nvGrpSpPr>
            <p:cNvPr id="13" name="组合 12"/>
            <p:cNvGrpSpPr/>
            <p:nvPr/>
          </p:nvGrpSpPr>
          <p:grpSpPr>
            <a:xfrm>
              <a:off x="3419872" y="1628800"/>
              <a:ext cx="1476112" cy="5085822"/>
              <a:chOff x="3419872" y="1772178"/>
              <a:chExt cx="1476112" cy="508582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3419872" y="1772178"/>
                <a:ext cx="1476112" cy="5085822"/>
                <a:chOff x="4104000" y="1412776"/>
                <a:chExt cx="1525674" cy="5256584"/>
              </a:xfrm>
            </p:grpSpPr>
            <p:grpSp>
              <p:nvGrpSpPr>
                <p:cNvPr id="3" name="组合 2"/>
                <p:cNvGrpSpPr/>
                <p:nvPr/>
              </p:nvGrpSpPr>
              <p:grpSpPr>
                <a:xfrm>
                  <a:off x="4104000" y="1412776"/>
                  <a:ext cx="1525674" cy="5256584"/>
                  <a:chOff x="4104000" y="1412776"/>
                  <a:chExt cx="1525674" cy="5256584"/>
                </a:xfrm>
              </p:grpSpPr>
              <p:grpSp>
                <p:nvGrpSpPr>
                  <p:cNvPr id="2" name="组合 1"/>
                  <p:cNvGrpSpPr/>
                  <p:nvPr/>
                </p:nvGrpSpPr>
                <p:grpSpPr>
                  <a:xfrm>
                    <a:off x="4104000" y="1808421"/>
                    <a:ext cx="1525176" cy="756483"/>
                    <a:chOff x="4657934" y="3140968"/>
                    <a:chExt cx="1759560" cy="872737"/>
                  </a:xfrm>
                </p:grpSpPr>
                <p:sp>
                  <p:nvSpPr>
                    <p:cNvPr id="22" name="菱形 21"/>
                    <p:cNvSpPr/>
                    <p:nvPr/>
                  </p:nvSpPr>
                  <p:spPr bwMode="auto">
                    <a:xfrm>
                      <a:off x="4657934" y="3140968"/>
                      <a:ext cx="1759560" cy="872737"/>
                    </a:xfrm>
                    <a:prstGeom prst="diamond">
                      <a:avLst/>
                    </a:prstGeom>
                    <a:noFill/>
                    <a:ln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p:txBody>
                </p:sp>
                <p:sp>
                  <p:nvSpPr>
                    <p:cNvPr id="23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00847" y="3366408"/>
                      <a:ext cx="1054325" cy="4130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zh-CN" altLang="en-US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表达式</a:t>
                      </a:r>
                      <a:r>
                        <a:rPr lang="en-US" altLang="zh-CN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1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5" name="组合 24"/>
                  <p:cNvGrpSpPr/>
                  <p:nvPr/>
                </p:nvGrpSpPr>
                <p:grpSpPr>
                  <a:xfrm>
                    <a:off x="4104498" y="3140968"/>
                    <a:ext cx="1525176" cy="756483"/>
                    <a:chOff x="4657934" y="3140968"/>
                    <a:chExt cx="1759560" cy="872737"/>
                  </a:xfrm>
                </p:grpSpPr>
                <p:sp>
                  <p:nvSpPr>
                    <p:cNvPr id="26" name="菱形 25"/>
                    <p:cNvSpPr/>
                    <p:nvPr/>
                  </p:nvSpPr>
                  <p:spPr bwMode="auto">
                    <a:xfrm>
                      <a:off x="4657934" y="3140968"/>
                      <a:ext cx="1759560" cy="872737"/>
                    </a:xfrm>
                    <a:prstGeom prst="diamond">
                      <a:avLst/>
                    </a:prstGeom>
                    <a:noFill/>
                    <a:ln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p:txBody>
                </p:sp>
                <p:sp>
                  <p:nvSpPr>
                    <p:cNvPr id="28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00847" y="3366408"/>
                      <a:ext cx="1054325" cy="4130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zh-CN" altLang="en-US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表达式</a:t>
                      </a:r>
                      <a:r>
                        <a:rPr lang="en-US" altLang="zh-CN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2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grpSp>
                <p:nvGrpSpPr>
                  <p:cNvPr id="29" name="组合 28"/>
                  <p:cNvGrpSpPr/>
                  <p:nvPr/>
                </p:nvGrpSpPr>
                <p:grpSpPr>
                  <a:xfrm>
                    <a:off x="4104000" y="4464000"/>
                    <a:ext cx="1525176" cy="756483"/>
                    <a:chOff x="4657934" y="3140968"/>
                    <a:chExt cx="1759560" cy="872737"/>
                  </a:xfrm>
                </p:grpSpPr>
                <p:sp>
                  <p:nvSpPr>
                    <p:cNvPr id="46" name="菱形 45"/>
                    <p:cNvSpPr/>
                    <p:nvPr/>
                  </p:nvSpPr>
                  <p:spPr bwMode="auto">
                    <a:xfrm>
                      <a:off x="4657934" y="3140968"/>
                      <a:ext cx="1759560" cy="872737"/>
                    </a:xfrm>
                    <a:prstGeom prst="diamond">
                      <a:avLst/>
                    </a:prstGeom>
                    <a:noFill/>
                    <a:ln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  <a:extLst/>
                  </p:spPr>
                  <p:txBody>
                    <a:bodyPr vert="horz" wrap="square" lIns="91440" tIns="45720" rIns="91440" bIns="45720" numCol="1" rtlCol="0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p:txBody>
                </p:sp>
                <p:sp>
                  <p:nvSpPr>
                    <p:cNvPr id="4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00847" y="3366408"/>
                      <a:ext cx="1054325" cy="41304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/>
                      <a:r>
                        <a:rPr lang="zh-CN" altLang="en-US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表达式</a:t>
                      </a:r>
                      <a:r>
                        <a:rPr lang="en-US" altLang="zh-CN" sz="2000" b="1" dirty="0" smtClean="0">
                          <a:solidFill>
                            <a:srgbClr val="0000FF"/>
                          </a:solidFill>
                          <a:ea typeface="黑体" panose="02010609060101010101" pitchFamily="49" charset="-122"/>
                        </a:rPr>
                        <a:t>n</a:t>
                      </a:r>
                      <a:endParaRPr lang="zh-CN" altLang="en-US" sz="2000" b="1" dirty="0">
                        <a:solidFill>
                          <a:srgbClr val="0000FF"/>
                        </a:solidFill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50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860000" y="2564904"/>
                    <a:ext cx="0" cy="586746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51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860000" y="6237312"/>
                    <a:ext cx="0" cy="432048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65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866588" y="5209801"/>
                    <a:ext cx="0" cy="59546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66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858175" y="3897451"/>
                    <a:ext cx="0" cy="586746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prstDash val="sysDot"/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  <p:sp>
                <p:nvSpPr>
                  <p:cNvPr id="6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866588" y="1412776"/>
                    <a:ext cx="0" cy="429796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2000"/>
                  </a:p>
                </p:txBody>
              </p:sp>
            </p:grpSp>
            <p:sp>
              <p:nvSpPr>
                <p:cNvPr id="52" name="Rectangle 13"/>
                <p:cNvSpPr>
                  <a:spLocks noChangeArrowheads="1"/>
                </p:cNvSpPr>
                <p:nvPr/>
              </p:nvSpPr>
              <p:spPr bwMode="auto">
                <a:xfrm>
                  <a:off x="4264865" y="5805264"/>
                  <a:ext cx="1186621" cy="439302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zh-CN" altLang="en-US" sz="2000" b="1" dirty="0" smtClean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语句</a:t>
                  </a:r>
                  <a:r>
                    <a:rPr lang="en-US" altLang="zh-CN" sz="2000" b="1" dirty="0" smtClean="0">
                      <a:solidFill>
                        <a:srgbClr val="FF3300"/>
                      </a:solidFill>
                      <a:ea typeface="黑体" panose="02010609060101010101" pitchFamily="49" charset="-122"/>
                    </a:rPr>
                    <a:t>n+1</a:t>
                  </a:r>
                  <a:endParaRPr lang="en-US" altLang="zh-CN" sz="2000" b="1" dirty="0">
                    <a:solidFill>
                      <a:srgbClr val="FF3300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68" name="Rectangle 19"/>
              <p:cNvSpPr>
                <a:spLocks noChangeArrowheads="1"/>
              </p:cNvSpPr>
              <p:nvPr/>
            </p:nvSpPr>
            <p:spPr bwMode="auto">
              <a:xfrm>
                <a:off x="4060000" y="2875811"/>
                <a:ext cx="489675" cy="3665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 dirty="0">
                    <a:solidFill>
                      <a:srgbClr val="008000"/>
                    </a:solidFill>
                    <a:ea typeface="黑体" panose="02010609060101010101" pitchFamily="49" charset="-122"/>
                  </a:rPr>
                  <a:t>假</a:t>
                </a:r>
              </a:p>
            </p:txBody>
          </p:sp>
          <p:sp>
            <p:nvSpPr>
              <p:cNvPr id="69" name="Rectangle 19"/>
              <p:cNvSpPr>
                <a:spLocks noChangeArrowheads="1"/>
              </p:cNvSpPr>
              <p:nvPr/>
            </p:nvSpPr>
            <p:spPr bwMode="auto">
              <a:xfrm>
                <a:off x="4059999" y="4188170"/>
                <a:ext cx="489675" cy="3665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 dirty="0">
                    <a:solidFill>
                      <a:srgbClr val="008000"/>
                    </a:solidFill>
                    <a:ea typeface="黑体" panose="02010609060101010101" pitchFamily="49" charset="-122"/>
                  </a:rPr>
                  <a:t>假</a:t>
                </a:r>
              </a:p>
            </p:txBody>
          </p:sp>
          <p:sp>
            <p:nvSpPr>
              <p:cNvPr id="70" name="Rectangle 19"/>
              <p:cNvSpPr>
                <a:spLocks noChangeArrowheads="1"/>
              </p:cNvSpPr>
              <p:nvPr/>
            </p:nvSpPr>
            <p:spPr bwMode="auto">
              <a:xfrm>
                <a:off x="4075031" y="5459012"/>
                <a:ext cx="489675" cy="36659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 sz="2000" b="1" dirty="0">
                    <a:solidFill>
                      <a:srgbClr val="008000"/>
                    </a:solidFill>
                    <a:ea typeface="黑体" panose="02010609060101010101" pitchFamily="49" charset="-122"/>
                  </a:rPr>
                  <a:t>假</a:t>
                </a:r>
              </a:p>
            </p:txBody>
          </p:sp>
        </p:grpSp>
        <p:cxnSp>
          <p:nvCxnSpPr>
            <p:cNvPr id="7" name="肘形连接符 6"/>
            <p:cNvCxnSpPr>
              <a:stCxn id="22" idx="3"/>
              <a:endCxn id="71" idx="0"/>
            </p:cNvCxnSpPr>
            <p:nvPr/>
          </p:nvCxnSpPr>
          <p:spPr bwMode="auto">
            <a:xfrm>
              <a:off x="4895502" y="2377546"/>
              <a:ext cx="3539450" cy="3501050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1" name="Rectangle 13"/>
            <p:cNvSpPr>
              <a:spLocks noChangeArrowheads="1"/>
            </p:cNvSpPr>
            <p:nvPr/>
          </p:nvSpPr>
          <p:spPr bwMode="auto">
            <a:xfrm>
              <a:off x="7860915" y="5878596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语句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1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2" name="Rectangle 13"/>
            <p:cNvSpPr>
              <a:spLocks noChangeArrowheads="1"/>
            </p:cNvSpPr>
            <p:nvPr/>
          </p:nvSpPr>
          <p:spPr bwMode="auto">
            <a:xfrm>
              <a:off x="5028864" y="5871130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语句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n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3" name="Rectangle 13"/>
            <p:cNvSpPr>
              <a:spLocks noChangeArrowheads="1"/>
            </p:cNvSpPr>
            <p:nvPr/>
          </p:nvSpPr>
          <p:spPr bwMode="auto">
            <a:xfrm>
              <a:off x="6443936" y="5882773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语句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2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4" name="Rectangle 14"/>
            <p:cNvSpPr>
              <a:spLocks noChangeArrowheads="1"/>
            </p:cNvSpPr>
            <p:nvPr/>
          </p:nvSpPr>
          <p:spPr bwMode="auto">
            <a:xfrm>
              <a:off x="5124445" y="2058386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75" name="肘形连接符 74"/>
            <p:cNvCxnSpPr>
              <a:endCxn id="73" idx="0"/>
            </p:cNvCxnSpPr>
            <p:nvPr/>
          </p:nvCxnSpPr>
          <p:spPr bwMode="auto">
            <a:xfrm rot="16200000" flipH="1">
              <a:off x="4859898" y="3724697"/>
              <a:ext cx="2219663" cy="2096488"/>
            </a:xfrm>
            <a:prstGeom prst="bentConnector3">
              <a:avLst>
                <a:gd name="adj1" fmla="val 794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6" name="肘形连接符 75"/>
            <p:cNvCxnSpPr>
              <a:endCxn id="72" idx="0"/>
            </p:cNvCxnSpPr>
            <p:nvPr/>
          </p:nvCxnSpPr>
          <p:spPr bwMode="auto">
            <a:xfrm rot="16200000" flipH="1">
              <a:off x="4787703" y="5055932"/>
              <a:ext cx="938028" cy="692367"/>
            </a:xfrm>
            <a:prstGeom prst="bentConnector3">
              <a:avLst>
                <a:gd name="adj1" fmla="val 809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" name="Rectangle 14"/>
            <p:cNvSpPr>
              <a:spLocks noChangeArrowheads="1"/>
            </p:cNvSpPr>
            <p:nvPr/>
          </p:nvSpPr>
          <p:spPr bwMode="auto">
            <a:xfrm>
              <a:off x="5124444" y="3328378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78" name="Rectangle 14"/>
            <p:cNvSpPr>
              <a:spLocks noChangeArrowheads="1"/>
            </p:cNvSpPr>
            <p:nvPr/>
          </p:nvSpPr>
          <p:spPr bwMode="auto">
            <a:xfrm>
              <a:off x="5129957" y="4590198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83" name="直接连接符 82"/>
            <p:cNvCxnSpPr>
              <a:stCxn id="72" idx="2"/>
            </p:cNvCxnSpPr>
            <p:nvPr/>
          </p:nvCxnSpPr>
          <p:spPr bwMode="auto">
            <a:xfrm flipH="1">
              <a:off x="5602899" y="6296161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4" name="直接连接符 83"/>
            <p:cNvCxnSpPr/>
            <p:nvPr/>
          </p:nvCxnSpPr>
          <p:spPr bwMode="auto">
            <a:xfrm flipH="1">
              <a:off x="7020272" y="6309320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7" name="直接连接符 86"/>
            <p:cNvCxnSpPr/>
            <p:nvPr/>
          </p:nvCxnSpPr>
          <p:spPr bwMode="auto">
            <a:xfrm>
              <a:off x="5969729" y="6453336"/>
              <a:ext cx="52732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直接箭头连接符 88"/>
            <p:cNvCxnSpPr/>
            <p:nvPr/>
          </p:nvCxnSpPr>
          <p:spPr bwMode="auto">
            <a:xfrm flipH="1" flipV="1">
              <a:off x="4157687" y="6444380"/>
              <a:ext cx="1812042" cy="8956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0" name="直接连接符 89"/>
            <p:cNvCxnSpPr/>
            <p:nvPr/>
          </p:nvCxnSpPr>
          <p:spPr bwMode="auto">
            <a:xfrm flipH="1">
              <a:off x="8460430" y="6309320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6497049" y="6453336"/>
              <a:ext cx="1963381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78082709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z="3200" dirty="0" smtClean="0">
                <a:effectLst/>
              </a:rPr>
              <a:t>计算分段函数</a:t>
            </a:r>
            <a:r>
              <a:rPr lang="en-US" altLang="zh-CN" sz="3200" dirty="0">
                <a:effectLst/>
              </a:rPr>
              <a:t>——</a:t>
            </a:r>
            <a:r>
              <a:rPr lang="zh-CN" altLang="en-US" sz="3200" dirty="0" smtClean="0">
                <a:effectLst/>
              </a:rPr>
              <a:t>分段计算水费</a:t>
            </a:r>
          </a:p>
        </p:txBody>
      </p:sp>
      <p:graphicFrame>
        <p:nvGraphicFramePr>
          <p:cNvPr id="31747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827088" y="2266950"/>
          <a:ext cx="7416800" cy="299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22" name="Equation" r:id="rId3" imgW="1854200" imgH="749300" progId="Equation.DSMT4">
                  <p:embed/>
                </p:oleObj>
              </mc:Choice>
              <mc:Fallback>
                <p:oleObj name="Equation" r:id="rId3" imgW="1854200" imgH="749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266950"/>
                        <a:ext cx="7416800" cy="299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z="3200" dirty="0" smtClean="0">
                <a:effectLst/>
              </a:rPr>
              <a:t>计算分段函数</a:t>
            </a:r>
            <a:r>
              <a:rPr lang="en-US" altLang="zh-CN" sz="3200" dirty="0">
                <a:effectLst/>
              </a:rPr>
              <a:t>——</a:t>
            </a:r>
            <a:r>
              <a:rPr lang="zh-CN" altLang="en-US" sz="3200" dirty="0" smtClean="0">
                <a:effectLst/>
              </a:rPr>
              <a:t>分段计算水费</a:t>
            </a:r>
          </a:p>
        </p:txBody>
      </p:sp>
      <p:grpSp>
        <p:nvGrpSpPr>
          <p:cNvPr id="62" name="组合 61"/>
          <p:cNvGrpSpPr/>
          <p:nvPr/>
        </p:nvGrpSpPr>
        <p:grpSpPr>
          <a:xfrm>
            <a:off x="2051720" y="1772816"/>
            <a:ext cx="4617258" cy="4896821"/>
            <a:chOff x="3115771" y="1789625"/>
            <a:chExt cx="4617258" cy="4896821"/>
          </a:xfrm>
        </p:grpSpPr>
        <p:grpSp>
          <p:nvGrpSpPr>
            <p:cNvPr id="61" name="组合 60"/>
            <p:cNvGrpSpPr/>
            <p:nvPr/>
          </p:nvGrpSpPr>
          <p:grpSpPr>
            <a:xfrm>
              <a:off x="5169418" y="3574931"/>
              <a:ext cx="1100627" cy="575522"/>
              <a:chOff x="1441108" y="3165550"/>
              <a:chExt cx="1100627" cy="575522"/>
            </a:xfrm>
          </p:grpSpPr>
          <p:sp>
            <p:nvSpPr>
              <p:cNvPr id="25" name="菱形 24"/>
              <p:cNvSpPr/>
              <p:nvPr/>
            </p:nvSpPr>
            <p:spPr bwMode="auto">
              <a:xfrm>
                <a:off x="1441108" y="3165550"/>
                <a:ext cx="1100627" cy="575522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26" name="Rectangle 6"/>
              <p:cNvSpPr>
                <a:spLocks noChangeArrowheads="1"/>
              </p:cNvSpPr>
              <p:nvPr/>
            </p:nvSpPr>
            <p:spPr bwMode="auto">
              <a:xfrm>
                <a:off x="1662984" y="3352408"/>
                <a:ext cx="659493" cy="272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X&lt;=15</a:t>
                </a:r>
                <a:endParaRPr lang="zh-CN" altLang="en-US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5" name="组合 54"/>
            <p:cNvGrpSpPr/>
            <p:nvPr/>
          </p:nvGrpSpPr>
          <p:grpSpPr>
            <a:xfrm>
              <a:off x="4469039" y="5857059"/>
              <a:ext cx="1443839" cy="425986"/>
              <a:chOff x="749451" y="5429696"/>
              <a:chExt cx="1443839" cy="425986"/>
            </a:xfrm>
          </p:grpSpPr>
          <p:sp>
            <p:nvSpPr>
              <p:cNvPr id="9" name="流程图: 数据 8"/>
              <p:cNvSpPr/>
              <p:nvPr/>
            </p:nvSpPr>
            <p:spPr bwMode="auto">
              <a:xfrm>
                <a:off x="749451" y="5429696"/>
                <a:ext cx="1443839" cy="42598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059742" y="5488800"/>
                <a:ext cx="101650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输出</a:t>
                </a:r>
                <a:r>
                  <a:rPr lang="en-US" altLang="zh-CN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y</a:t>
                </a:r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值</a:t>
                </a:r>
                <a:endParaRPr lang="zh-CN" altLang="en-US" sz="1400" dirty="0"/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3115771" y="1789625"/>
              <a:ext cx="4043223" cy="4066057"/>
              <a:chOff x="5252855" y="1646237"/>
              <a:chExt cx="4043223" cy="4066057"/>
            </a:xfrm>
          </p:grpSpPr>
          <p:grpSp>
            <p:nvGrpSpPr>
              <p:cNvPr id="30" name="组合 29"/>
              <p:cNvGrpSpPr/>
              <p:nvPr/>
            </p:nvGrpSpPr>
            <p:grpSpPr>
              <a:xfrm>
                <a:off x="5772341" y="1646237"/>
                <a:ext cx="3523737" cy="4066057"/>
                <a:chOff x="5306639" y="1612520"/>
                <a:chExt cx="5343489" cy="6165879"/>
              </a:xfrm>
            </p:grpSpPr>
            <p:grpSp>
              <p:nvGrpSpPr>
                <p:cNvPr id="33" name="组合 32"/>
                <p:cNvGrpSpPr/>
                <p:nvPr/>
              </p:nvGrpSpPr>
              <p:grpSpPr>
                <a:xfrm>
                  <a:off x="5306639" y="1612520"/>
                  <a:ext cx="5343489" cy="6165879"/>
                  <a:chOff x="1979040" y="-212543"/>
                  <a:chExt cx="8399722" cy="9692478"/>
                </a:xfrm>
              </p:grpSpPr>
              <p:sp>
                <p:nvSpPr>
                  <p:cNvPr id="3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041382" y="2334148"/>
                    <a:ext cx="850900" cy="5746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FF3300"/>
                        </a:solidFill>
                        <a:ea typeface="黑体" panose="02010609060101010101" pitchFamily="49" charset="-122"/>
                      </a:rPr>
                      <a:t>真</a:t>
                    </a:r>
                  </a:p>
                </p:txBody>
              </p:sp>
              <p:sp>
                <p:nvSpPr>
                  <p:cNvPr id="37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662367" y="8557596"/>
                    <a:ext cx="0" cy="922339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38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5796185" y="2353625"/>
                    <a:ext cx="1012825" cy="576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008000"/>
                        </a:solidFill>
                        <a:ea typeface="黑体" panose="02010609060101010101" pitchFamily="49" charset="-122"/>
                      </a:rPr>
                      <a:t>假</a:t>
                    </a:r>
                  </a:p>
                </p:txBody>
              </p:sp>
              <p:sp>
                <p:nvSpPr>
                  <p:cNvPr id="39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5868417" y="2996853"/>
                    <a:ext cx="1079500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6947917" y="2996853"/>
                    <a:ext cx="0" cy="1081087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1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979042" y="2996853"/>
                    <a:ext cx="1152524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2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979042" y="2996853"/>
                    <a:ext cx="0" cy="1081087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041720" y="5101170"/>
                    <a:ext cx="0" cy="3413871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4" name="Line 2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0304627" y="4782021"/>
                    <a:ext cx="0" cy="1616885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5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979040" y="8515041"/>
                    <a:ext cx="8399718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6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311073" y="4697882"/>
                    <a:ext cx="2067689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47" name="菱形 46"/>
                  <p:cNvSpPr/>
                  <p:nvPr/>
                </p:nvSpPr>
                <p:spPr bwMode="auto">
                  <a:xfrm>
                    <a:off x="3151828" y="2310902"/>
                    <a:ext cx="2765948" cy="1371902"/>
                  </a:xfrm>
                  <a:prstGeom prst="diamond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8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690872" y="2665283"/>
                    <a:ext cx="1657350" cy="649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dirty="0" smtClean="0">
                        <a:solidFill>
                          <a:srgbClr val="0000FF"/>
                        </a:solidFill>
                        <a:ea typeface="黑体" panose="02010609060101010101" pitchFamily="49" charset="-122"/>
                      </a:rPr>
                      <a:t>X&lt;0</a:t>
                    </a:r>
                    <a:endParaRPr lang="zh-CN" altLang="en-US" b="1" dirty="0">
                      <a:solidFill>
                        <a:srgbClr val="0000FF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9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507107" y="-212543"/>
                    <a:ext cx="0" cy="704751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50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499992" y="1519209"/>
                    <a:ext cx="19554" cy="79169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51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6947917" y="5383835"/>
                    <a:ext cx="0" cy="970669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5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7010595" y="5460740"/>
                    <a:ext cx="850900" cy="5746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FF3300"/>
                        </a:solidFill>
                        <a:ea typeface="黑体" panose="02010609060101010101" pitchFamily="49" charset="-122"/>
                      </a:rPr>
                      <a:t>真</a:t>
                    </a:r>
                  </a:p>
                </p:txBody>
              </p:sp>
              <p:sp>
                <p:nvSpPr>
                  <p:cNvPr id="56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8774705" y="4039868"/>
                    <a:ext cx="1012826" cy="576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008000"/>
                        </a:solidFill>
                        <a:ea typeface="黑体" panose="02010609060101010101" pitchFamily="49" charset="-122"/>
                      </a:rPr>
                      <a:t>假</a:t>
                    </a:r>
                  </a:p>
                </p:txBody>
              </p:sp>
            </p:grpSp>
            <p:sp>
              <p:nvSpPr>
                <p:cNvPr id="34" name="流程图: 数据 33"/>
                <p:cNvSpPr/>
                <p:nvPr/>
              </p:nvSpPr>
              <p:spPr bwMode="auto">
                <a:xfrm>
                  <a:off x="5776923" y="2068200"/>
                  <a:ext cx="2308250" cy="645976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1200"/>
                    </a:spcBef>
                  </a:pPr>
                  <a:endParaRPr lang="en-US" altLang="zh-CN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6133154" y="2191308"/>
                  <a:ext cx="1579257" cy="466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输入数字</a:t>
                  </a:r>
                  <a:endParaRPr lang="zh-CN" altLang="en-US" sz="1400" dirty="0"/>
                </a:p>
              </p:txBody>
            </p:sp>
          </p:grpSp>
          <p:sp>
            <p:nvSpPr>
              <p:cNvPr id="31" name="Rectangle 13"/>
              <p:cNvSpPr>
                <a:spLocks noChangeArrowheads="1"/>
              </p:cNvSpPr>
              <p:nvPr/>
            </p:nvSpPr>
            <p:spPr bwMode="auto">
              <a:xfrm>
                <a:off x="5252855" y="3442545"/>
                <a:ext cx="1148073" cy="42503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y=0</a:t>
                </a:r>
                <a:endParaRPr lang="en-US" altLang="zh-CN" sz="1400" b="1" dirty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3" name="Rectangle 13"/>
            <p:cNvSpPr>
              <a:spLocks noChangeArrowheads="1"/>
            </p:cNvSpPr>
            <p:nvPr/>
          </p:nvSpPr>
          <p:spPr bwMode="auto">
            <a:xfrm>
              <a:off x="5171989" y="4563172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y=4*x/3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4" name="Rectangle 13"/>
            <p:cNvSpPr>
              <a:spLocks noChangeArrowheads="1"/>
            </p:cNvSpPr>
            <p:nvPr/>
          </p:nvSpPr>
          <p:spPr bwMode="auto">
            <a:xfrm>
              <a:off x="6584956" y="4567689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y=2.5*x-10.5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57" name="Line 25"/>
            <p:cNvSpPr>
              <a:spLocks noChangeShapeType="1"/>
            </p:cNvSpPr>
            <p:nvPr/>
          </p:nvSpPr>
          <p:spPr bwMode="auto">
            <a:xfrm>
              <a:off x="5746025" y="4988203"/>
              <a:ext cx="0" cy="4627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59" name="Line 25"/>
            <p:cNvSpPr>
              <a:spLocks noChangeShapeType="1"/>
            </p:cNvSpPr>
            <p:nvPr/>
          </p:nvSpPr>
          <p:spPr bwMode="auto">
            <a:xfrm>
              <a:off x="7158992" y="4988202"/>
              <a:ext cx="0" cy="4627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60" name="Line 17"/>
            <p:cNvSpPr>
              <a:spLocks noChangeShapeType="1"/>
            </p:cNvSpPr>
            <p:nvPr/>
          </p:nvSpPr>
          <p:spPr bwMode="auto">
            <a:xfrm>
              <a:off x="5190959" y="6299519"/>
              <a:ext cx="0" cy="38692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359827094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0591" y="184151"/>
            <a:ext cx="4147393" cy="668337"/>
          </a:xfrm>
          <a:prstGeom prst="roundRect">
            <a:avLst>
              <a:gd name="adj" fmla="val 16667"/>
            </a:avLst>
          </a:prstGeom>
          <a:noFill/>
        </p:spPr>
        <p:txBody>
          <a:bodyPr anchor="ctr"/>
          <a:lstStyle/>
          <a:p>
            <a:pPr eaLnBrk="1" hangingPunct="1"/>
            <a:r>
              <a:rPr lang="zh-CN" altLang="en-US" sz="2800" dirty="0" smtClean="0">
                <a:effectLst/>
              </a:rPr>
              <a:t>分段计算水费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41325" y="965064"/>
            <a:ext cx="4622775" cy="5776304"/>
          </a:xfrm>
          <a:noFill/>
        </p:spPr>
        <p:txBody>
          <a:bodyPr lIns="91440" tIns="45720" rIns="91440" bIns="45720"/>
          <a:lstStyle/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# include &lt;</a:t>
            </a:r>
            <a:r>
              <a:rPr lang="en-US" altLang="zh-CN" sz="2400" dirty="0" err="1" smtClean="0">
                <a:effectLst/>
              </a:rPr>
              <a:t>stdio.h</a:t>
            </a:r>
            <a:r>
              <a:rPr lang="en-US" altLang="zh-CN" sz="2400" dirty="0" smtClean="0">
                <a:effectLst/>
              </a:rPr>
              <a:t>&gt; 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err="1" smtClean="0">
                <a:effectLst/>
              </a:rPr>
              <a:t>int</a:t>
            </a:r>
            <a:r>
              <a:rPr lang="en-US" altLang="zh-CN" sz="2400" dirty="0" smtClean="0">
                <a:effectLst/>
              </a:rPr>
              <a:t> main()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{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double x, y; 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</a:t>
            </a:r>
            <a:r>
              <a:rPr lang="en-US" altLang="zh-CN" sz="2400" dirty="0" err="1" smtClean="0">
                <a:effectLst/>
              </a:rPr>
              <a:t>printf</a:t>
            </a:r>
            <a:r>
              <a:rPr lang="en-US" altLang="zh-CN" sz="2400" dirty="0" smtClean="0">
                <a:effectLst/>
              </a:rPr>
              <a:t>("Enter x:");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</a:t>
            </a:r>
            <a:r>
              <a:rPr lang="en-US" altLang="zh-CN" sz="2400" dirty="0" err="1" smtClean="0">
                <a:effectLst/>
              </a:rPr>
              <a:t>scanf</a:t>
            </a:r>
            <a:r>
              <a:rPr lang="en-US" altLang="zh-CN" sz="2400" dirty="0" smtClean="0">
                <a:effectLst/>
              </a:rPr>
              <a:t>("%lf", &amp;x); 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</a:t>
            </a:r>
            <a:r>
              <a:rPr lang="en-US" altLang="zh-CN" sz="2400" dirty="0" smtClean="0">
                <a:solidFill>
                  <a:srgbClr val="F32D05"/>
                </a:solidFill>
                <a:effectLst/>
              </a:rPr>
              <a:t>if (x &lt; 0)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   y = 0;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</a:t>
            </a:r>
            <a:r>
              <a:rPr lang="en-US" altLang="zh-CN" sz="2400" dirty="0" smtClean="0">
                <a:solidFill>
                  <a:srgbClr val="F32D05"/>
                </a:solidFill>
                <a:effectLst/>
              </a:rPr>
              <a:t>else if (x &lt;= 15)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   y = 4 * x / 3;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</a:t>
            </a:r>
            <a:r>
              <a:rPr lang="en-US" altLang="zh-CN" sz="2400" dirty="0" smtClean="0">
                <a:solidFill>
                  <a:srgbClr val="F32D05"/>
                </a:solidFill>
                <a:effectLst/>
              </a:rPr>
              <a:t> else</a:t>
            </a:r>
            <a:endParaRPr lang="en-US" altLang="zh-CN" sz="2400" dirty="0" smtClean="0">
              <a:effectLst/>
            </a:endParaRP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  y = 2.5 * x - 10.5;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</a:t>
            </a:r>
            <a:r>
              <a:rPr lang="en-US" altLang="zh-CN" sz="2400" dirty="0" err="1" smtClean="0">
                <a:effectLst/>
              </a:rPr>
              <a:t>printf</a:t>
            </a:r>
            <a:r>
              <a:rPr lang="en-US" altLang="zh-CN" sz="2400" dirty="0" smtClean="0">
                <a:effectLst/>
              </a:rPr>
              <a:t>("f(%.2f) = %.2f\n", x, y); 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return 0;</a:t>
            </a:r>
          </a:p>
          <a:p>
            <a:pPr eaLnBrk="1" hangingPunct="1"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}</a:t>
            </a: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5652020" y="2925216"/>
            <a:ext cx="2592388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Enter x: </a:t>
            </a:r>
            <a:r>
              <a:rPr kumimoji="1" lang="en-US" altLang="zh-CN" sz="2400" b="1">
                <a:solidFill>
                  <a:srgbClr val="CC0066"/>
                </a:solidFill>
              </a:rPr>
              <a:t>-0.5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f(-0.50) = 0.00 </a:t>
            </a: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5652020" y="4076154"/>
            <a:ext cx="2592388" cy="944562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Enter x: </a:t>
            </a:r>
            <a:r>
              <a:rPr kumimoji="1" lang="en-US" altLang="zh-CN" sz="2400" b="1">
                <a:solidFill>
                  <a:srgbClr val="CC0066"/>
                </a:solidFill>
              </a:rPr>
              <a:t>9.5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f(9.50) = 12.67</a:t>
            </a: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5656783" y="5220741"/>
            <a:ext cx="2587625" cy="944563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Enter x: </a:t>
            </a:r>
            <a:r>
              <a:rPr kumimoji="1" lang="en-US" altLang="zh-CN" sz="2400" b="1">
                <a:solidFill>
                  <a:srgbClr val="CC0066"/>
                </a:solidFill>
              </a:rPr>
              <a:t>21.3</a:t>
            </a:r>
          </a:p>
          <a:p>
            <a:pPr eaLnBrk="1" hangingPunct="1">
              <a:spcBef>
                <a:spcPct val="30000"/>
              </a:spcBef>
            </a:pPr>
            <a:r>
              <a:rPr kumimoji="1" lang="en-US" altLang="zh-CN" sz="2400" b="1"/>
              <a:t>f(21.30) = 42.75</a:t>
            </a:r>
          </a:p>
        </p:txBody>
      </p:sp>
      <p:graphicFrame>
        <p:nvGraphicFramePr>
          <p:cNvPr id="32775" name="Object 7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067175" y="549275"/>
          <a:ext cx="4752975" cy="192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0" name="Equation" r:id="rId4" imgW="1854200" imgH="749300" progId="Equation.DSMT4">
                  <p:embed/>
                </p:oleObj>
              </mc:Choice>
              <mc:Fallback>
                <p:oleObj name="Equation" r:id="rId4" imgW="1854200" imgH="749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549275"/>
                        <a:ext cx="4752975" cy="192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200726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else</a:t>
            </a:r>
            <a:r>
              <a:rPr lang="en-US" altLang="zh-CN" dirty="0">
                <a:effectLst/>
              </a:rPr>
              <a:t>-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多分支结构</a:t>
            </a:r>
          </a:p>
        </p:txBody>
      </p:sp>
      <p:sp>
        <p:nvSpPr>
          <p:cNvPr id="41" name="Rectangle 2"/>
          <p:cNvSpPr txBox="1">
            <a:spLocks noChangeArrowheads="1"/>
          </p:cNvSpPr>
          <p:nvPr/>
        </p:nvSpPr>
        <p:spPr bwMode="auto">
          <a:xfrm>
            <a:off x="827584" y="1778959"/>
            <a:ext cx="82296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effectLst/>
              </a:rPr>
              <a:t>输入学生成绩（整数），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当成绩</a:t>
            </a:r>
            <a:r>
              <a:rPr lang="en-US" altLang="zh-CN" sz="3600" kern="0" smtClean="0">
                <a:solidFill>
                  <a:srgbClr val="FF0000"/>
                </a:solidFill>
                <a:effectLst/>
              </a:rPr>
              <a:t>(90--100)</a:t>
            </a: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3600" kern="0" smtClean="0">
                <a:effectLst/>
              </a:rPr>
              <a:t>，输出</a:t>
            </a:r>
            <a:r>
              <a:rPr lang="en-US" altLang="zh-CN" sz="3600" kern="0" smtClean="0">
                <a:effectLst/>
              </a:rPr>
              <a:t>A;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当成绩</a:t>
            </a:r>
            <a:r>
              <a:rPr lang="en-US" altLang="zh-CN" sz="3600" kern="0" smtClean="0">
                <a:solidFill>
                  <a:srgbClr val="FF0000"/>
                </a:solidFill>
                <a:effectLst/>
              </a:rPr>
              <a:t>(80--89)</a:t>
            </a: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3600" kern="0" smtClean="0">
                <a:effectLst/>
              </a:rPr>
              <a:t>，输出</a:t>
            </a:r>
            <a:r>
              <a:rPr lang="en-US" altLang="zh-CN" sz="3600" kern="0" smtClean="0">
                <a:effectLst/>
              </a:rPr>
              <a:t>B;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当成绩</a:t>
            </a:r>
            <a:r>
              <a:rPr lang="en-US" altLang="zh-CN" sz="3600" kern="0" smtClean="0">
                <a:solidFill>
                  <a:srgbClr val="FF0000"/>
                </a:solidFill>
                <a:effectLst/>
              </a:rPr>
              <a:t>(70--79)</a:t>
            </a: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3600" kern="0" smtClean="0">
                <a:effectLst/>
              </a:rPr>
              <a:t>，输出</a:t>
            </a:r>
            <a:r>
              <a:rPr lang="en-US" altLang="zh-CN" sz="3600" kern="0" smtClean="0">
                <a:effectLst/>
              </a:rPr>
              <a:t>C;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当成绩</a:t>
            </a:r>
            <a:r>
              <a:rPr lang="en-US" altLang="zh-CN" sz="3600" kern="0" smtClean="0">
                <a:solidFill>
                  <a:srgbClr val="FF0000"/>
                </a:solidFill>
                <a:effectLst/>
              </a:rPr>
              <a:t>(60--69)</a:t>
            </a: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3600" kern="0" smtClean="0">
                <a:effectLst/>
              </a:rPr>
              <a:t>，输出</a:t>
            </a:r>
            <a:r>
              <a:rPr lang="en-US" altLang="zh-CN" sz="3600" kern="0" smtClean="0">
                <a:effectLst/>
              </a:rPr>
              <a:t>D;</a:t>
            </a:r>
          </a:p>
          <a:p>
            <a:pPr>
              <a:buFont typeface="Webdings" panose="05030102010509060703" pitchFamily="18" charset="2"/>
              <a:buNone/>
            </a:pP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当成绩</a:t>
            </a:r>
            <a:r>
              <a:rPr lang="en-US" altLang="zh-CN" sz="3600" kern="0" smtClean="0">
                <a:solidFill>
                  <a:srgbClr val="FF0000"/>
                </a:solidFill>
                <a:effectLst/>
              </a:rPr>
              <a:t>(&lt;60)</a:t>
            </a:r>
            <a:r>
              <a:rPr lang="zh-CN" altLang="en-US" sz="3600" kern="0" smtClean="0">
                <a:solidFill>
                  <a:srgbClr val="FF0000"/>
                </a:solidFill>
                <a:effectLst/>
              </a:rPr>
              <a:t>时</a:t>
            </a:r>
            <a:r>
              <a:rPr lang="zh-CN" altLang="en-US" sz="3600" kern="0" smtClean="0">
                <a:effectLst/>
              </a:rPr>
              <a:t>，输出</a:t>
            </a:r>
            <a:r>
              <a:rPr lang="en-US" altLang="zh-CN" sz="3600" kern="0" smtClean="0">
                <a:effectLst/>
              </a:rPr>
              <a:t>E;</a:t>
            </a:r>
          </a:p>
          <a:p>
            <a:pPr>
              <a:buFont typeface="Webdings" panose="05030102010509060703" pitchFamily="18" charset="2"/>
              <a:buNone/>
            </a:pPr>
            <a:endParaRPr lang="en-US" altLang="zh-CN" sz="3600" kern="0" smtClean="0">
              <a:effectLst/>
            </a:endParaRPr>
          </a:p>
          <a:p>
            <a:pPr>
              <a:buFont typeface="Webdings" panose="05030102010509060703" pitchFamily="18" charset="2"/>
              <a:buNone/>
            </a:pPr>
            <a:endParaRPr lang="en-US" altLang="zh-CN" sz="3600" kern="0" smtClean="0">
              <a:effectLst/>
            </a:endParaRPr>
          </a:p>
          <a:p>
            <a:pPr>
              <a:buFont typeface="Webdings" panose="05030102010509060703" pitchFamily="18" charset="2"/>
              <a:buNone/>
            </a:pPr>
            <a:endParaRPr lang="en-US" altLang="zh-CN" sz="3600" kern="0" smtClean="0">
              <a:effectLst/>
            </a:endParaRPr>
          </a:p>
          <a:p>
            <a:pPr>
              <a:buFont typeface="Webdings" panose="05030102010509060703" pitchFamily="18" charset="2"/>
              <a:buNone/>
            </a:pPr>
            <a:endParaRPr lang="en-US" altLang="zh-CN" sz="3600" kern="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92172688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200726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else</a:t>
            </a:r>
            <a:r>
              <a:rPr lang="en-US" altLang="zh-CN" dirty="0">
                <a:effectLst/>
              </a:rPr>
              <a:t>-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多分支结构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1691586" y="1772816"/>
            <a:ext cx="6336798" cy="4910494"/>
            <a:chOff x="2516791" y="1772816"/>
            <a:chExt cx="6336798" cy="4910494"/>
          </a:xfrm>
        </p:grpSpPr>
        <p:grpSp>
          <p:nvGrpSpPr>
            <p:cNvPr id="28" name="组合 27"/>
            <p:cNvGrpSpPr/>
            <p:nvPr/>
          </p:nvGrpSpPr>
          <p:grpSpPr>
            <a:xfrm>
              <a:off x="2541767" y="2038942"/>
              <a:ext cx="1191853" cy="591155"/>
              <a:chOff x="4657934" y="3140968"/>
              <a:chExt cx="1759560" cy="872737"/>
            </a:xfrm>
          </p:grpSpPr>
          <p:sp>
            <p:nvSpPr>
              <p:cNvPr id="40" name="菱形 39"/>
              <p:cNvSpPr/>
              <p:nvPr/>
            </p:nvSpPr>
            <p:spPr bwMode="auto">
              <a:xfrm>
                <a:off x="4657934" y="3140968"/>
                <a:ext cx="1759560" cy="872737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2" name="Rectangle 6"/>
              <p:cNvSpPr>
                <a:spLocks noChangeArrowheads="1"/>
              </p:cNvSpPr>
              <p:nvPr/>
            </p:nvSpPr>
            <p:spPr bwMode="auto">
              <a:xfrm>
                <a:off x="5000847" y="3366408"/>
                <a:ext cx="1054325" cy="4130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X&gt;=90</a:t>
                </a:r>
                <a:endParaRPr lang="zh-CN" altLang="en-US" sz="16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1" name="Line 17"/>
            <p:cNvSpPr>
              <a:spLocks noChangeShapeType="1"/>
            </p:cNvSpPr>
            <p:nvPr/>
          </p:nvSpPr>
          <p:spPr bwMode="auto">
            <a:xfrm>
              <a:off x="3131840" y="2645291"/>
              <a:ext cx="0" cy="3796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/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>
              <a:off x="3124345" y="1772816"/>
              <a:ext cx="0" cy="27181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/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2542169" y="5878596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E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3074213" y="2564904"/>
              <a:ext cx="489675" cy="366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8000"/>
                  </a:solidFill>
                  <a:ea typeface="黑体" panose="02010609060101010101" pitchFamily="49" charset="-122"/>
                </a:rPr>
                <a:t>假</a:t>
              </a:r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3066873" y="3615329"/>
              <a:ext cx="489675" cy="366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8000"/>
                  </a:solidFill>
                  <a:ea typeface="黑体" panose="02010609060101010101" pitchFamily="49" charset="-122"/>
                </a:rPr>
                <a:t>假</a:t>
              </a:r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3022220" y="5437344"/>
              <a:ext cx="489675" cy="366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8000"/>
                  </a:solidFill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7" name="肘形连接符 6"/>
            <p:cNvCxnSpPr>
              <a:stCxn id="40" idx="3"/>
            </p:cNvCxnSpPr>
            <p:nvPr/>
          </p:nvCxnSpPr>
          <p:spPr bwMode="auto">
            <a:xfrm>
              <a:off x="3733620" y="2334520"/>
              <a:ext cx="4510788" cy="3524967"/>
            </a:xfrm>
            <a:prstGeom prst="bentConnector3">
              <a:avLst>
                <a:gd name="adj1" fmla="val 100058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7705516" y="5878596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A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3995522" y="5871130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D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6453010" y="5878596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11" name="Rectangle 14"/>
            <p:cNvSpPr>
              <a:spLocks noChangeArrowheads="1"/>
            </p:cNvSpPr>
            <p:nvPr/>
          </p:nvSpPr>
          <p:spPr bwMode="auto">
            <a:xfrm>
              <a:off x="3961178" y="2068239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12" name="肘形连接符 11"/>
            <p:cNvCxnSpPr>
              <a:stCxn id="44" idx="3"/>
            </p:cNvCxnSpPr>
            <p:nvPr/>
          </p:nvCxnSpPr>
          <p:spPr bwMode="auto">
            <a:xfrm>
              <a:off x="3727046" y="3325365"/>
              <a:ext cx="3293226" cy="2555892"/>
            </a:xfrm>
            <a:prstGeom prst="bentConnector3">
              <a:avLst>
                <a:gd name="adj1" fmla="val 100149"/>
              </a:avLst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3" name="肘形连接符 12"/>
            <p:cNvCxnSpPr>
              <a:stCxn id="54" idx="3"/>
              <a:endCxn id="9" idx="0"/>
            </p:cNvCxnSpPr>
            <p:nvPr/>
          </p:nvCxnSpPr>
          <p:spPr bwMode="auto">
            <a:xfrm>
              <a:off x="3708644" y="5203352"/>
              <a:ext cx="860915" cy="667778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3995522" y="3019458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4058427" y="4927456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16" name="直接连接符 15"/>
            <p:cNvCxnSpPr>
              <a:stCxn id="9" idx="2"/>
            </p:cNvCxnSpPr>
            <p:nvPr/>
          </p:nvCxnSpPr>
          <p:spPr bwMode="auto">
            <a:xfrm flipH="1">
              <a:off x="4569557" y="6296161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7" name="直接连接符 16"/>
            <p:cNvCxnSpPr/>
            <p:nvPr/>
          </p:nvCxnSpPr>
          <p:spPr bwMode="auto">
            <a:xfrm flipH="1">
              <a:off x="5986930" y="6309320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19"/>
            <p:cNvCxnSpPr/>
            <p:nvPr/>
          </p:nvCxnSpPr>
          <p:spPr bwMode="auto">
            <a:xfrm flipH="1">
              <a:off x="7427088" y="6309320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" name="直接连接符 20"/>
            <p:cNvCxnSpPr/>
            <p:nvPr/>
          </p:nvCxnSpPr>
          <p:spPr bwMode="auto">
            <a:xfrm>
              <a:off x="3106144" y="6459248"/>
              <a:ext cx="5173408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" name="组合 42"/>
            <p:cNvGrpSpPr/>
            <p:nvPr/>
          </p:nvGrpSpPr>
          <p:grpSpPr>
            <a:xfrm>
              <a:off x="2535193" y="3029787"/>
              <a:ext cx="1191853" cy="591155"/>
              <a:chOff x="4657934" y="3140968"/>
              <a:chExt cx="1759560" cy="872737"/>
            </a:xfrm>
          </p:grpSpPr>
          <p:sp>
            <p:nvSpPr>
              <p:cNvPr id="44" name="菱形 43"/>
              <p:cNvSpPr/>
              <p:nvPr/>
            </p:nvSpPr>
            <p:spPr bwMode="auto">
              <a:xfrm>
                <a:off x="4657934" y="3140968"/>
                <a:ext cx="1759560" cy="872737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45" name="Rectangle 6"/>
              <p:cNvSpPr>
                <a:spLocks noChangeArrowheads="1"/>
              </p:cNvSpPr>
              <p:nvPr/>
            </p:nvSpPr>
            <p:spPr bwMode="auto">
              <a:xfrm>
                <a:off x="5000847" y="3366408"/>
                <a:ext cx="1054325" cy="4130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X&gt;=80</a:t>
                </a:r>
                <a:endParaRPr lang="zh-CN" altLang="en-US" sz="16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46" name="Line 17"/>
            <p:cNvSpPr>
              <a:spLocks noChangeShapeType="1"/>
            </p:cNvSpPr>
            <p:nvPr/>
          </p:nvSpPr>
          <p:spPr bwMode="auto">
            <a:xfrm>
              <a:off x="3131840" y="3615329"/>
              <a:ext cx="0" cy="33737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528418" y="3937693"/>
              <a:ext cx="1191853" cy="591155"/>
              <a:chOff x="4657934" y="3140968"/>
              <a:chExt cx="1759560" cy="872737"/>
            </a:xfrm>
          </p:grpSpPr>
          <p:sp>
            <p:nvSpPr>
              <p:cNvPr id="51" name="菱形 50"/>
              <p:cNvSpPr/>
              <p:nvPr/>
            </p:nvSpPr>
            <p:spPr bwMode="auto">
              <a:xfrm>
                <a:off x="4657934" y="3140968"/>
                <a:ext cx="1759560" cy="872737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2" name="Rectangle 6"/>
              <p:cNvSpPr>
                <a:spLocks noChangeArrowheads="1"/>
              </p:cNvSpPr>
              <p:nvPr/>
            </p:nvSpPr>
            <p:spPr bwMode="auto">
              <a:xfrm>
                <a:off x="5000847" y="3366408"/>
                <a:ext cx="1054325" cy="4130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X&gt;=70</a:t>
                </a:r>
                <a:endParaRPr lang="zh-CN" altLang="en-US" sz="16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2516791" y="4907774"/>
              <a:ext cx="1191853" cy="591155"/>
              <a:chOff x="4657934" y="3140968"/>
              <a:chExt cx="1759560" cy="872737"/>
            </a:xfrm>
          </p:grpSpPr>
          <p:sp>
            <p:nvSpPr>
              <p:cNvPr id="54" name="菱形 53"/>
              <p:cNvSpPr/>
              <p:nvPr/>
            </p:nvSpPr>
            <p:spPr bwMode="auto">
              <a:xfrm>
                <a:off x="4657934" y="3140968"/>
                <a:ext cx="1759560" cy="872737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55" name="Rectangle 6"/>
              <p:cNvSpPr>
                <a:spLocks noChangeArrowheads="1"/>
              </p:cNvSpPr>
              <p:nvPr/>
            </p:nvSpPr>
            <p:spPr bwMode="auto">
              <a:xfrm>
                <a:off x="5000847" y="3366408"/>
                <a:ext cx="1054325" cy="4130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600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X&gt;=60</a:t>
                </a:r>
                <a:endParaRPr lang="zh-CN" altLang="en-US" sz="1600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56" name="Line 17"/>
            <p:cNvSpPr>
              <a:spLocks noChangeShapeType="1"/>
            </p:cNvSpPr>
            <p:nvPr/>
          </p:nvSpPr>
          <p:spPr bwMode="auto">
            <a:xfrm>
              <a:off x="3112717" y="4516925"/>
              <a:ext cx="0" cy="3796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/>
            </a:p>
          </p:txBody>
        </p:sp>
        <p:sp>
          <p:nvSpPr>
            <p:cNvPr id="57" name="Line 17"/>
            <p:cNvSpPr>
              <a:spLocks noChangeShapeType="1"/>
            </p:cNvSpPr>
            <p:nvPr/>
          </p:nvSpPr>
          <p:spPr bwMode="auto">
            <a:xfrm>
              <a:off x="3112717" y="5490300"/>
              <a:ext cx="0" cy="3796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/>
            </a:p>
          </p:txBody>
        </p:sp>
        <p:sp>
          <p:nvSpPr>
            <p:cNvPr id="58" name="Rectangle 19"/>
            <p:cNvSpPr>
              <a:spLocks noChangeArrowheads="1"/>
            </p:cNvSpPr>
            <p:nvPr/>
          </p:nvSpPr>
          <p:spPr bwMode="auto">
            <a:xfrm>
              <a:off x="3055873" y="4514706"/>
              <a:ext cx="489675" cy="3665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008000"/>
                  </a:solidFill>
                  <a:ea typeface="黑体" panose="02010609060101010101" pitchFamily="49" charset="-122"/>
                </a:rPr>
                <a:t>假</a:t>
              </a:r>
            </a:p>
          </p:txBody>
        </p:sp>
        <p:cxnSp>
          <p:nvCxnSpPr>
            <p:cNvPr id="69" name="肘形连接符 68"/>
            <p:cNvCxnSpPr>
              <a:endCxn id="75" idx="0"/>
            </p:cNvCxnSpPr>
            <p:nvPr/>
          </p:nvCxnSpPr>
          <p:spPr bwMode="auto">
            <a:xfrm>
              <a:off x="3732034" y="4225921"/>
              <a:ext cx="2078254" cy="1664292"/>
            </a:xfrm>
            <a:prstGeom prst="bentConnector2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5" name="Rectangle 13"/>
            <p:cNvSpPr>
              <a:spLocks noChangeArrowheads="1"/>
            </p:cNvSpPr>
            <p:nvPr/>
          </p:nvSpPr>
          <p:spPr bwMode="auto">
            <a:xfrm>
              <a:off x="5236251" y="5890213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输出</a:t>
              </a:r>
              <a:r>
                <a:rPr lang="en-US" altLang="zh-CN" sz="2000" b="1" dirty="0" smtClean="0">
                  <a:solidFill>
                    <a:srgbClr val="FF3300"/>
                  </a:solidFill>
                  <a:ea typeface="黑体" panose="02010609060101010101" pitchFamily="49" charset="-122"/>
                </a:rPr>
                <a:t>C</a:t>
              </a:r>
              <a:endParaRPr lang="en-US" altLang="zh-CN" sz="2000" b="1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79" name="Rectangle 14"/>
            <p:cNvSpPr>
              <a:spLocks noChangeArrowheads="1"/>
            </p:cNvSpPr>
            <p:nvPr/>
          </p:nvSpPr>
          <p:spPr bwMode="auto">
            <a:xfrm>
              <a:off x="4006529" y="3931916"/>
              <a:ext cx="478455" cy="314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 dirty="0">
                  <a:solidFill>
                    <a:srgbClr val="FF3300"/>
                  </a:solidFill>
                  <a:ea typeface="黑体" panose="02010609060101010101" pitchFamily="49" charset="-122"/>
                </a:rPr>
                <a:t>真</a:t>
              </a:r>
            </a:p>
          </p:txBody>
        </p:sp>
        <p:cxnSp>
          <p:nvCxnSpPr>
            <p:cNvPr id="82" name="直接连接符 81"/>
            <p:cNvCxnSpPr/>
            <p:nvPr/>
          </p:nvCxnSpPr>
          <p:spPr bwMode="auto">
            <a:xfrm flipH="1">
              <a:off x="8279552" y="6305117"/>
              <a:ext cx="2" cy="148219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84" name="Line 17"/>
            <p:cNvSpPr>
              <a:spLocks noChangeShapeType="1"/>
            </p:cNvSpPr>
            <p:nvPr/>
          </p:nvSpPr>
          <p:spPr bwMode="auto">
            <a:xfrm>
              <a:off x="3106144" y="6303627"/>
              <a:ext cx="0" cy="37968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1545540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200726" cy="784225"/>
          </a:xfrm>
          <a:noFill/>
        </p:spPr>
        <p:txBody>
          <a:bodyPr/>
          <a:lstStyle/>
          <a:p>
            <a:r>
              <a:rPr lang="en-US" altLang="zh-CN" dirty="0" smtClean="0">
                <a:effectLst/>
              </a:rPr>
              <a:t>else</a:t>
            </a:r>
            <a:r>
              <a:rPr lang="en-US" altLang="zh-CN" dirty="0">
                <a:effectLst/>
              </a:rPr>
              <a:t>-</a:t>
            </a:r>
            <a:r>
              <a:rPr lang="en-US" altLang="zh-CN" dirty="0" smtClean="0">
                <a:effectLst/>
              </a:rPr>
              <a:t>if</a:t>
            </a:r>
            <a:r>
              <a:rPr lang="zh-CN" altLang="en-US" dirty="0" smtClean="0">
                <a:effectLst/>
              </a:rPr>
              <a:t>语句</a:t>
            </a:r>
            <a:r>
              <a:rPr lang="en-US" altLang="zh-CN" dirty="0" smtClean="0">
                <a:effectLst/>
              </a:rPr>
              <a:t>——</a:t>
            </a:r>
            <a:r>
              <a:rPr lang="zh-CN" altLang="en-US" dirty="0" smtClean="0">
                <a:effectLst/>
              </a:rPr>
              <a:t>多分支结构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187624" y="1628800"/>
            <a:ext cx="6336704" cy="51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#include &lt;</a:t>
            </a:r>
            <a:r>
              <a:rPr lang="en-US" altLang="zh-CN" sz="2400" kern="0" dirty="0" err="1" smtClean="0">
                <a:effectLst/>
              </a:rPr>
              <a:t>stdio.h</a:t>
            </a:r>
            <a:r>
              <a:rPr lang="en-US" altLang="zh-CN" sz="2400" kern="0" dirty="0" smtClean="0">
                <a:effectLst/>
              </a:rPr>
              <a:t>&gt;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main()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{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 </a:t>
            </a:r>
            <a:r>
              <a:rPr lang="en-US" altLang="zh-CN" sz="2400" kern="0" dirty="0" err="1" smtClean="0">
                <a:effectLst/>
              </a:rPr>
              <a:t>int</a:t>
            </a:r>
            <a:r>
              <a:rPr lang="en-US" altLang="zh-CN" sz="2400" kern="0" dirty="0" smtClean="0">
                <a:effectLst/>
              </a:rPr>
              <a:t> score;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("Enter a score:");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 </a:t>
            </a:r>
            <a:r>
              <a:rPr lang="en-US" altLang="zh-CN" sz="2400" kern="0" dirty="0" err="1" smtClean="0">
                <a:effectLst/>
              </a:rPr>
              <a:t>scanf</a:t>
            </a:r>
            <a:r>
              <a:rPr lang="en-US" altLang="zh-CN" sz="2400" kern="0" dirty="0" smtClean="0">
                <a:effectLst/>
              </a:rPr>
              <a:t>("%</a:t>
            </a:r>
            <a:r>
              <a:rPr lang="en-US" altLang="zh-CN" sz="2400" kern="0" dirty="0" err="1" smtClean="0">
                <a:effectLst/>
              </a:rPr>
              <a:t>d",&amp;score</a:t>
            </a:r>
            <a:r>
              <a:rPr lang="en-US" altLang="zh-CN" sz="2400" kern="0" dirty="0" smtClean="0">
                <a:effectLst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kern="0" dirty="0" smtClean="0">
                <a:effectLst/>
              </a:rPr>
              <a:t>	    if (score&gt;=90)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</a:t>
            </a:r>
            <a:r>
              <a:rPr lang="en-US" altLang="zh-CN" sz="2400" kern="0" dirty="0">
                <a:effectLst/>
              </a:rPr>
              <a:t>"</a:t>
            </a:r>
            <a:r>
              <a:rPr lang="en-US" altLang="zh-CN" sz="2400" kern="0" dirty="0" smtClean="0">
                <a:effectLst/>
              </a:rPr>
              <a:t>A\n");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kern="0" dirty="0" smtClean="0">
                <a:effectLst/>
              </a:rPr>
              <a:t>	    else if (score&gt;=80)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</a:t>
            </a:r>
            <a:r>
              <a:rPr lang="en-US" altLang="zh-CN" sz="2400" kern="0" dirty="0">
                <a:effectLst/>
              </a:rPr>
              <a:t>"</a:t>
            </a:r>
            <a:r>
              <a:rPr lang="en-US" altLang="zh-CN" sz="2400" kern="0" dirty="0" smtClean="0">
                <a:effectLst/>
              </a:rPr>
              <a:t>B\n");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 else if (score&gt;=70)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("C\n");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kern="0" dirty="0" smtClean="0">
                <a:effectLst/>
              </a:rPr>
              <a:t>	    else if (score&gt;=60)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</a:t>
            </a:r>
            <a:r>
              <a:rPr lang="en-US" altLang="zh-CN" sz="2400" kern="0" dirty="0">
                <a:effectLst/>
              </a:rPr>
              <a:t>"</a:t>
            </a:r>
            <a:r>
              <a:rPr lang="en-US" altLang="zh-CN" sz="2400" kern="0" dirty="0" smtClean="0">
                <a:effectLst/>
              </a:rPr>
              <a:t>D\n");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kern="0" dirty="0" smtClean="0">
                <a:effectLst/>
              </a:rPr>
              <a:t>	    else </a:t>
            </a:r>
            <a:r>
              <a:rPr lang="en-US" altLang="zh-CN" sz="2400" kern="0" dirty="0" err="1" smtClean="0">
                <a:effectLst/>
              </a:rPr>
              <a:t>printf</a:t>
            </a:r>
            <a:r>
              <a:rPr lang="en-US" altLang="zh-CN" sz="2400" kern="0" dirty="0" smtClean="0">
                <a:effectLst/>
              </a:rPr>
              <a:t>(</a:t>
            </a:r>
            <a:r>
              <a:rPr lang="en-US" altLang="zh-CN" sz="2400" kern="0" dirty="0">
                <a:effectLst/>
              </a:rPr>
              <a:t>"</a:t>
            </a:r>
            <a:r>
              <a:rPr lang="en-US" altLang="zh-CN" sz="2400" kern="0" dirty="0" smtClean="0">
                <a:effectLst/>
              </a:rPr>
              <a:t>E\n");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	    return 0;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kern="0" dirty="0" smtClean="0">
                <a:effectLst/>
              </a:rPr>
              <a:t>}</a:t>
            </a:r>
          </a:p>
          <a:p>
            <a:pPr>
              <a:lnSpc>
                <a:spcPct val="90000"/>
              </a:lnSpc>
            </a:pPr>
            <a:endParaRPr lang="zh-CN" altLang="en-US" sz="2400" kern="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103011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A31958-BF89-45F9-87B1-7F5A1B418137}" type="slidenum">
              <a:rPr lang="en-US" altLang="zh-CN" sz="2600">
                <a:solidFill>
                  <a:schemeClr val="bg1"/>
                </a:solidFill>
              </a:rPr>
              <a:pPr/>
              <a:t>25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5" name="内容占位符 3"/>
          <p:cNvSpPr txBox="1">
            <a:spLocks/>
          </p:cNvSpPr>
          <p:nvPr/>
        </p:nvSpPr>
        <p:spPr>
          <a:xfrm>
            <a:off x="179388" y="260350"/>
            <a:ext cx="8785225" cy="5113338"/>
          </a:xfrm>
          <a:prstGeom prst="rect">
            <a:avLst/>
          </a:prstGeom>
        </p:spPr>
        <p:txBody>
          <a:bodyPr/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ebdings" pitchFamily="18" charset="2"/>
              <a:buNone/>
              <a:defRPr/>
            </a:pP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【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例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3-4】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用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else if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结构求解一元二次方程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ax2+bx+c=0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根，系数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a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、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b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、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c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的值从键盘输入</a:t>
            </a:r>
            <a:r>
              <a:rPr lang="zh-CN" altLang="en-US" sz="320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。</a:t>
            </a:r>
            <a:endParaRPr lang="en-US" altLang="zh-CN" sz="3200" dirty="0" smtClean="0"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ebdings" pitchFamily="18" charset="2"/>
              <a:buNone/>
              <a:defRPr/>
            </a:pPr>
            <a:r>
              <a:rPr lang="en-US" altLang="zh-CN" sz="3200" dirty="0" smtClean="0">
                <a:solidFill>
                  <a:srgbClr val="FF0000"/>
                </a:solidFill>
                <a:effectLst/>
                <a:latin typeface="+mj-lt"/>
                <a:ea typeface="+mj-ea"/>
                <a:cs typeface="+mj-cs"/>
              </a:rPr>
              <a:t>P48</a:t>
            </a:r>
            <a:endParaRPr lang="en-US" altLang="zh-CN" sz="3200" dirty="0">
              <a:solidFill>
                <a:srgbClr val="FF0000"/>
              </a:solidFill>
              <a:effectLst/>
              <a:latin typeface="+mj-lt"/>
              <a:ea typeface="+mj-ea"/>
              <a:cs typeface="+mj-cs"/>
            </a:endParaRPr>
          </a:p>
          <a:p>
            <a:pPr marL="0" indent="0" eaLnBrk="1" hangingPunct="1">
              <a:lnSpc>
                <a:spcPct val="90000"/>
              </a:lnSpc>
              <a:spcBef>
                <a:spcPct val="0"/>
              </a:spcBef>
              <a:buFont typeface="Webdings" pitchFamily="18" charset="2"/>
              <a:buNone/>
              <a:defRPr/>
            </a:pPr>
            <a:r>
              <a:rPr lang="zh-CN" altLang="en-US" sz="3200" dirty="0" smtClean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分析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：按照数学上的理论，此一元二次方程的根由三个系数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a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、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b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、</a:t>
            </a:r>
            <a:r>
              <a:rPr lang="en-US" altLang="zh-CN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c</a:t>
            </a:r>
            <a:r>
              <a:rPr lang="zh-CN" altLang="en-US" sz="3200" dirty="0"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rPr>
              <a:t>的值决定，不同的系数组合可能有不同的根，因此程序中要充分考虑到各种情况。</a:t>
            </a:r>
            <a:endParaRPr lang="en-US" altLang="zh-CN" sz="3200" dirty="0"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33796" name="Picture 2" descr="C:\Users\Administrator\Desktop\u=1325611025,884420251&amp;fm=5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3457575"/>
            <a:ext cx="6046787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3" descr="C:\Users\Administrator\Desktop\e7cd7b899e510fb378f528e0dc33c895d0430cd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5662613"/>
            <a:ext cx="359092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8" name="Picture 4" descr="C:\Users\Administrator\Desktop\5882b2b7d0a20cf486d1722377094b36adaf998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788" y="4508500"/>
            <a:ext cx="27305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D3F1D4-5900-46C5-9F12-B51F63F725DB}" type="slidenum">
              <a:rPr lang="en-US" altLang="zh-CN" sz="2600">
                <a:solidFill>
                  <a:schemeClr val="bg1"/>
                </a:solidFill>
              </a:rPr>
              <a:pPr/>
              <a:t>26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34819" name="矩形 2"/>
          <p:cNvSpPr>
            <a:spLocks noChangeArrowheads="1"/>
          </p:cNvSpPr>
          <p:nvPr/>
        </p:nvSpPr>
        <p:spPr bwMode="auto">
          <a:xfrm>
            <a:off x="179388" y="188913"/>
            <a:ext cx="4464050" cy="646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 dirty="0"/>
              <a:t>#include &lt;</a:t>
            </a:r>
            <a:r>
              <a:rPr lang="en-US" altLang="zh-CN" sz="1800" b="1" dirty="0" err="1"/>
              <a:t>stdio.h</a:t>
            </a:r>
            <a:r>
              <a:rPr lang="en-US" altLang="zh-CN" sz="1800" b="1" dirty="0"/>
              <a:t>&gt; </a:t>
            </a:r>
          </a:p>
          <a:p>
            <a:r>
              <a:rPr lang="en-US" altLang="zh-CN" sz="1800" b="1" dirty="0"/>
              <a:t>#include &lt;</a:t>
            </a:r>
            <a:r>
              <a:rPr lang="en-US" altLang="zh-CN" sz="1800" b="1" dirty="0" err="1"/>
              <a:t>math.h</a:t>
            </a:r>
            <a:r>
              <a:rPr lang="en-US" altLang="zh-CN" sz="1800" b="1" dirty="0"/>
              <a:t>&gt; </a:t>
            </a:r>
          </a:p>
          <a:p>
            <a:r>
              <a:rPr lang="en-US" altLang="zh-CN" sz="1800" b="1" dirty="0" err="1"/>
              <a:t>int</a:t>
            </a:r>
            <a:r>
              <a:rPr lang="en-US" altLang="zh-CN" sz="1800" b="1" dirty="0"/>
              <a:t> main() </a:t>
            </a:r>
          </a:p>
          <a:p>
            <a:r>
              <a:rPr lang="en-US" altLang="zh-CN" sz="1800" b="1" dirty="0"/>
              <a:t>{ </a:t>
            </a:r>
          </a:p>
          <a:p>
            <a:r>
              <a:rPr lang="en-US" altLang="zh-CN" sz="1800" b="1" dirty="0"/>
              <a:t>float a, b, c, p, x1, x2, real, </a:t>
            </a:r>
            <a:r>
              <a:rPr lang="en-US" altLang="zh-CN" sz="1800" b="1" dirty="0" err="1"/>
              <a:t>imag</a:t>
            </a:r>
            <a:r>
              <a:rPr lang="en-US" altLang="zh-CN" sz="1800" b="1" dirty="0"/>
              <a:t>; </a:t>
            </a:r>
          </a:p>
          <a:p>
            <a:r>
              <a:rPr lang="en-US" altLang="zh-CN" sz="1800" b="1" dirty="0" err="1"/>
              <a:t>scanf</a:t>
            </a:r>
            <a:r>
              <a:rPr lang="en-US" altLang="zh-CN" sz="1800" b="1" dirty="0"/>
              <a:t>("%</a:t>
            </a:r>
            <a:r>
              <a:rPr lang="en-US" altLang="zh-CN" sz="1800" b="1" dirty="0" err="1"/>
              <a:t>f%f%f</a:t>
            </a:r>
            <a:r>
              <a:rPr lang="en-US" altLang="zh-CN" sz="1800" b="1" dirty="0"/>
              <a:t>", &amp;a, &amp;b, &amp;c); </a:t>
            </a:r>
          </a:p>
          <a:p>
            <a:r>
              <a:rPr lang="en-US" altLang="zh-CN" sz="1800" b="1" dirty="0"/>
              <a:t>if(a==0&amp;&amp;b==0&amp;&amp;c==0)//</a:t>
            </a:r>
            <a:r>
              <a:rPr lang="zh-CN" altLang="en-US" sz="1800" b="1" dirty="0"/>
              <a:t>三者都为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，有无穷解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("Infinite roosts!\n"); </a:t>
            </a:r>
          </a:p>
          <a:p>
            <a:r>
              <a:rPr lang="en-US" altLang="zh-CN" sz="1800" b="1" dirty="0"/>
              <a:t>else if(a==0&amp;&amp;b==0&amp;&amp;c!=0)//a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c</a:t>
            </a:r>
            <a:r>
              <a:rPr lang="zh-CN" altLang="en-US" sz="1800" b="1" dirty="0"/>
              <a:t>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，无解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("No roots!\n"); </a:t>
            </a:r>
          </a:p>
          <a:p>
            <a:r>
              <a:rPr lang="en-US" altLang="zh-CN" sz="1800" b="1" dirty="0"/>
              <a:t>else if(a==0&amp;&amp;b!=0)//a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不为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，无论</a:t>
            </a:r>
            <a:r>
              <a:rPr lang="en-US" altLang="zh-CN" sz="1800" b="1" dirty="0"/>
              <a:t>c</a:t>
            </a:r>
            <a:r>
              <a:rPr lang="zh-CN" altLang="en-US" sz="1800" b="1" dirty="0"/>
              <a:t>值如何，都只有一个根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("Single root: %f\n", -c/b); </a:t>
            </a:r>
          </a:p>
          <a:p>
            <a:r>
              <a:rPr lang="en-US" altLang="zh-CN" sz="1800" b="1" dirty="0"/>
              <a:t>else if(a!=0) </a:t>
            </a:r>
          </a:p>
          <a:p>
            <a:r>
              <a:rPr lang="en-US" altLang="zh-CN" sz="1800" b="1" dirty="0"/>
              <a:t>{ </a:t>
            </a:r>
          </a:p>
          <a:p>
            <a:r>
              <a:rPr lang="en-US" altLang="zh-CN" sz="1800" b="1" dirty="0"/>
              <a:t>p=b*b-4*a*c; </a:t>
            </a:r>
          </a:p>
          <a:p>
            <a:r>
              <a:rPr lang="en-US" altLang="zh-CN" sz="1800" b="1" dirty="0"/>
              <a:t>real = -b/(2*a); </a:t>
            </a:r>
          </a:p>
          <a:p>
            <a:r>
              <a:rPr lang="en-US" altLang="zh-CN" sz="1800" b="1" dirty="0" err="1"/>
              <a:t>imag</a:t>
            </a:r>
            <a:r>
              <a:rPr lang="en-US" altLang="zh-CN" sz="1800" b="1" dirty="0"/>
              <a:t> = </a:t>
            </a:r>
            <a:r>
              <a:rPr lang="en-US" altLang="zh-CN" sz="1800" b="1" dirty="0" err="1"/>
              <a:t>sqrt</a:t>
            </a:r>
            <a:r>
              <a:rPr lang="en-US" altLang="zh-CN" sz="1800" b="1" dirty="0"/>
              <a:t>(</a:t>
            </a:r>
            <a:r>
              <a:rPr lang="en-US" altLang="zh-CN" sz="1800" b="1" dirty="0" err="1"/>
              <a:t>fabs</a:t>
            </a:r>
            <a:r>
              <a:rPr lang="en-US" altLang="zh-CN" sz="1800" b="1" dirty="0"/>
              <a:t>(p))/(2*a); </a:t>
            </a:r>
          </a:p>
          <a:p>
            <a:r>
              <a:rPr lang="en-US" altLang="zh-CN" sz="1800" b="1" dirty="0"/>
              <a:t>if(p==0)//b*b-4*a*c==0</a:t>
            </a:r>
            <a:r>
              <a:rPr lang="zh-CN" altLang="en-US" sz="1800" b="1" dirty="0"/>
              <a:t>，有两个相同解，一个实数根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("Single root: %f", real); </a:t>
            </a:r>
          </a:p>
        </p:txBody>
      </p:sp>
      <p:sp>
        <p:nvSpPr>
          <p:cNvPr id="34820" name="矩形 3"/>
          <p:cNvSpPr>
            <a:spLocks noChangeArrowheads="1"/>
          </p:cNvSpPr>
          <p:nvPr/>
        </p:nvSpPr>
        <p:spPr bwMode="auto">
          <a:xfrm>
            <a:off x="4859338" y="212725"/>
            <a:ext cx="415925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800" b="1" dirty="0"/>
              <a:t>else if(p&lt;0)//b*b-4*a*c&lt;0*</a:t>
            </a:r>
            <a:r>
              <a:rPr lang="zh-CN" altLang="en-US" sz="1800" b="1" dirty="0"/>
              <a:t>，有两个虚数根 </a:t>
            </a:r>
          </a:p>
          <a:p>
            <a:r>
              <a:rPr lang="en-US" altLang="zh-CN" sz="1800" b="1" dirty="0"/>
              <a:t>{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("Complex roots: "); </a:t>
            </a:r>
          </a:p>
          <a:p>
            <a:r>
              <a:rPr lang="pt-BR" altLang="zh-CN" sz="1800" b="1" dirty="0"/>
              <a:t>printf("%f+%fi, %f-%fi\n", real, imag, real, imag); </a:t>
            </a:r>
          </a:p>
          <a:p>
            <a:r>
              <a:rPr lang="en-US" altLang="zh-CN" sz="1800" b="1" dirty="0"/>
              <a:t>} </a:t>
            </a:r>
          </a:p>
          <a:p>
            <a:r>
              <a:rPr lang="en-US" altLang="zh-CN" sz="1800" b="1" dirty="0"/>
              <a:t>else//b*b-4*a*c&gt;0</a:t>
            </a:r>
            <a:r>
              <a:rPr lang="zh-CN" altLang="en-US" sz="1800" b="1" dirty="0"/>
              <a:t>，有两个不同的实数根 </a:t>
            </a:r>
          </a:p>
          <a:p>
            <a:r>
              <a:rPr lang="en-US" altLang="zh-CN" sz="1800" b="1" dirty="0"/>
              <a:t>{ </a:t>
            </a:r>
          </a:p>
          <a:p>
            <a:r>
              <a:rPr lang="en-US" altLang="zh-CN" sz="1800" b="1" dirty="0"/>
              <a:t>x1 = </a:t>
            </a:r>
            <a:r>
              <a:rPr lang="en-US" altLang="zh-CN" sz="1800" b="1" dirty="0" err="1"/>
              <a:t>real+imag</a:t>
            </a:r>
            <a:r>
              <a:rPr lang="en-US" altLang="zh-CN" sz="1800" b="1" dirty="0"/>
              <a:t>; </a:t>
            </a:r>
          </a:p>
          <a:p>
            <a:r>
              <a:rPr lang="en-US" altLang="zh-CN" sz="1800" b="1" dirty="0"/>
              <a:t>x2 = real-</a:t>
            </a:r>
            <a:r>
              <a:rPr lang="en-US" altLang="zh-CN" sz="1800" b="1" dirty="0" err="1"/>
              <a:t>imag</a:t>
            </a:r>
            <a:r>
              <a:rPr lang="en-US" altLang="zh-CN" sz="1800" b="1" dirty="0"/>
              <a:t>; </a:t>
            </a:r>
          </a:p>
          <a:p>
            <a:r>
              <a:rPr lang="en-US" altLang="zh-CN" sz="1800" b="1" dirty="0" err="1"/>
              <a:t>printf</a:t>
            </a:r>
            <a:r>
              <a:rPr lang="en-US" altLang="zh-CN" sz="1800" b="1" dirty="0"/>
              <a:t>("Real roots: %10f and %10f\n", x1, x2); </a:t>
            </a:r>
          </a:p>
          <a:p>
            <a:r>
              <a:rPr lang="en-US" altLang="zh-CN" sz="1800" b="1" dirty="0"/>
              <a:t>} </a:t>
            </a:r>
          </a:p>
          <a:p>
            <a:r>
              <a:rPr lang="en-US" altLang="zh-CN" sz="1800" b="1" dirty="0"/>
              <a:t>} </a:t>
            </a:r>
          </a:p>
          <a:p>
            <a:r>
              <a:rPr lang="en-US" altLang="zh-CN" sz="1800" b="1" dirty="0"/>
              <a:t>return 0; </a:t>
            </a:r>
          </a:p>
          <a:p>
            <a:r>
              <a:rPr lang="en-US" altLang="zh-CN" sz="1800" b="1" dirty="0"/>
              <a:t>} </a:t>
            </a:r>
            <a:endParaRPr lang="zh-CN" altLang="en-US" sz="1800" b="1" dirty="0"/>
          </a:p>
        </p:txBody>
      </p:sp>
      <p:sp>
        <p:nvSpPr>
          <p:cNvPr id="5" name="矩形 4"/>
          <p:cNvSpPr/>
          <p:nvPr/>
        </p:nvSpPr>
        <p:spPr>
          <a:xfrm>
            <a:off x="4627389" y="5346700"/>
            <a:ext cx="4391199" cy="1384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charset="-122"/>
              </a:rPr>
              <a:t>运行结果：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4 2 1 </a:t>
            </a:r>
            <a:r>
              <a:rPr lang="zh-CN" altLang="en-US" b="1" dirty="0">
                <a:latin typeface="Arial" charset="0"/>
                <a:ea typeface="宋体" charset="-122"/>
              </a:rPr>
              <a:t>↓ 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Complex roots: -0.250000+0.433013i, -0.250000-0.433013i 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2 4 1 </a:t>
            </a:r>
            <a:r>
              <a:rPr lang="zh-CN" altLang="en-US" b="1" dirty="0">
                <a:latin typeface="Arial" charset="0"/>
                <a:ea typeface="宋体" charset="-122"/>
              </a:rPr>
              <a:t>↓ 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Real roots: -0.292893 and –1.707107 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0 0 2 </a:t>
            </a:r>
            <a:r>
              <a:rPr lang="zh-CN" altLang="en-US" b="1" dirty="0">
                <a:latin typeface="Arial" charset="0"/>
                <a:ea typeface="宋体" charset="-122"/>
              </a:rPr>
              <a:t>↓ </a:t>
            </a:r>
          </a:p>
          <a:p>
            <a:pPr>
              <a:defRPr/>
            </a:pPr>
            <a:r>
              <a:rPr lang="en-US" altLang="zh-CN" b="1" dirty="0">
                <a:latin typeface="Arial" charset="0"/>
                <a:ea typeface="宋体" charset="-122"/>
              </a:rPr>
              <a:t>No roots. </a:t>
            </a:r>
            <a:endParaRPr lang="zh-CN" altLang="en-US" b="1" dirty="0">
              <a:latin typeface="Arial" charset="0"/>
              <a:ea typeface="宋体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smtClean="0">
                <a:effectLst/>
              </a:rPr>
              <a:t>嵌套</a:t>
            </a:r>
            <a:r>
              <a:rPr lang="en-US" altLang="zh-CN" smtClean="0">
                <a:effectLst/>
              </a:rPr>
              <a:t>if</a:t>
            </a:r>
            <a:r>
              <a:rPr lang="zh-CN" altLang="en-US" smtClean="0">
                <a:effectLst/>
              </a:rPr>
              <a:t>语句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mtClean="0">
                <a:effectLst/>
              </a:rPr>
              <a:t>If</a:t>
            </a:r>
            <a:r>
              <a:rPr lang="zh-CN" altLang="en-US" smtClean="0">
                <a:effectLst/>
              </a:rPr>
              <a:t>语句可以嵌套</a:t>
            </a:r>
          </a:p>
          <a:p>
            <a:pPr>
              <a:lnSpc>
                <a:spcPct val="90000"/>
              </a:lnSpc>
            </a:pPr>
            <a:r>
              <a:rPr lang="zh-CN" altLang="en-US" smtClean="0">
                <a:effectLst/>
              </a:rPr>
              <a:t>当有多个</a:t>
            </a:r>
            <a:r>
              <a:rPr lang="en-US" altLang="zh-CN" smtClean="0">
                <a:effectLst/>
              </a:rPr>
              <a:t>if</a:t>
            </a:r>
            <a:r>
              <a:rPr lang="zh-CN" altLang="en-US" smtClean="0">
                <a:effectLst/>
              </a:rPr>
              <a:t>和</a:t>
            </a:r>
            <a:r>
              <a:rPr lang="en-US" altLang="zh-CN" smtClean="0">
                <a:effectLst/>
              </a:rPr>
              <a:t>else</a:t>
            </a:r>
            <a:r>
              <a:rPr lang="zh-CN" altLang="en-US" smtClean="0">
                <a:effectLst/>
              </a:rPr>
              <a:t>时，</a:t>
            </a:r>
            <a:r>
              <a:rPr lang="en-US" altLang="zh-CN" smtClean="0">
                <a:effectLst/>
              </a:rPr>
              <a:t>else</a:t>
            </a:r>
            <a:r>
              <a:rPr lang="zh-CN" altLang="en-US" smtClean="0">
                <a:effectLst/>
              </a:rPr>
              <a:t>总是跟它上面最近的还没有配对的</a:t>
            </a:r>
            <a:r>
              <a:rPr lang="en-US" altLang="zh-CN" smtClean="0">
                <a:effectLst/>
              </a:rPr>
              <a:t>if</a:t>
            </a:r>
            <a:r>
              <a:rPr lang="zh-CN" altLang="en-US" smtClean="0">
                <a:effectLst/>
              </a:rPr>
              <a:t>语句配对</a:t>
            </a:r>
          </a:p>
          <a:p>
            <a:pPr>
              <a:lnSpc>
                <a:spcPct val="90000"/>
              </a:lnSpc>
            </a:pPr>
            <a:r>
              <a:rPr lang="zh-CN" altLang="en-US" smtClean="0">
                <a:effectLst/>
              </a:rPr>
              <a:t>如</a:t>
            </a:r>
            <a:r>
              <a:rPr lang="en-US" altLang="zh-CN" smtClean="0">
                <a:effectLst/>
              </a:rPr>
              <a:t>if(x&lt;2)</a:t>
            </a:r>
            <a:br>
              <a:rPr lang="en-US" altLang="zh-CN" smtClean="0">
                <a:effectLst/>
              </a:rPr>
            </a:br>
            <a:r>
              <a:rPr lang="en-US" altLang="zh-CN" smtClean="0">
                <a:effectLst/>
              </a:rPr>
              <a:t>         </a:t>
            </a:r>
            <a:r>
              <a:rPr lang="en-US" altLang="zh-CN" smtClean="0">
                <a:solidFill>
                  <a:srgbClr val="FF3300"/>
                </a:solidFill>
                <a:effectLst/>
              </a:rPr>
              <a:t>if</a:t>
            </a:r>
            <a:r>
              <a:rPr lang="en-US" altLang="zh-CN" smtClean="0">
                <a:effectLst/>
              </a:rPr>
              <a:t>(x&lt;1) y=x+1;</a:t>
            </a:r>
            <a:br>
              <a:rPr lang="en-US" altLang="zh-CN" smtClean="0">
                <a:effectLst/>
              </a:rPr>
            </a:br>
            <a:r>
              <a:rPr lang="en-US" altLang="zh-CN" smtClean="0">
                <a:effectLst/>
              </a:rPr>
              <a:t>         </a:t>
            </a:r>
            <a:r>
              <a:rPr lang="en-US" altLang="zh-CN" smtClean="0">
                <a:solidFill>
                  <a:srgbClr val="FF3300"/>
                </a:solidFill>
                <a:effectLst/>
              </a:rPr>
              <a:t>else</a:t>
            </a:r>
            <a:r>
              <a:rPr lang="en-US" altLang="zh-CN" smtClean="0">
                <a:effectLst/>
              </a:rPr>
              <a:t> y=x+2;</a:t>
            </a:r>
          </a:p>
          <a:p>
            <a:pPr>
              <a:lnSpc>
                <a:spcPct val="90000"/>
              </a:lnSpc>
            </a:pPr>
            <a:r>
              <a:rPr lang="zh-CN" altLang="en-US" smtClean="0">
                <a:effectLst/>
              </a:rPr>
              <a:t>如</a:t>
            </a:r>
            <a:r>
              <a:rPr lang="en-US" altLang="zh-CN" smtClean="0">
                <a:solidFill>
                  <a:srgbClr val="0D12D1"/>
                </a:solidFill>
                <a:effectLst/>
              </a:rPr>
              <a:t>if</a:t>
            </a:r>
            <a:r>
              <a:rPr lang="en-US" altLang="zh-CN" smtClean="0">
                <a:effectLst/>
              </a:rPr>
              <a:t>(x&lt;2)  {</a:t>
            </a:r>
            <a:br>
              <a:rPr lang="en-US" altLang="zh-CN" smtClean="0">
                <a:effectLst/>
              </a:rPr>
            </a:br>
            <a:r>
              <a:rPr lang="en-US" altLang="zh-CN" smtClean="0">
                <a:effectLst/>
              </a:rPr>
              <a:t>           if(x&lt;1) y=x+1;</a:t>
            </a:r>
            <a:br>
              <a:rPr lang="en-US" altLang="zh-CN" smtClean="0">
                <a:effectLst/>
              </a:rPr>
            </a:br>
            <a:r>
              <a:rPr lang="en-US" altLang="zh-CN" smtClean="0">
                <a:effectLst/>
              </a:rPr>
              <a:t>       }</a:t>
            </a:r>
            <a:br>
              <a:rPr lang="en-US" altLang="zh-CN" smtClean="0">
                <a:effectLst/>
              </a:rPr>
            </a:br>
            <a:r>
              <a:rPr lang="en-US" altLang="zh-CN" smtClean="0">
                <a:effectLst/>
              </a:rPr>
              <a:t>      </a:t>
            </a:r>
            <a:r>
              <a:rPr lang="en-US" altLang="zh-CN" smtClean="0">
                <a:solidFill>
                  <a:srgbClr val="0D12D1"/>
                </a:solidFill>
                <a:effectLst/>
              </a:rPr>
              <a:t>else</a:t>
            </a:r>
            <a:r>
              <a:rPr lang="en-US" altLang="zh-CN" smtClean="0">
                <a:effectLst/>
              </a:rPr>
              <a:t> y=x+2;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5292725" y="4221163"/>
            <a:ext cx="3671888" cy="18256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rgbClr val="0D12D1"/>
                </a:solidFill>
              </a:rPr>
              <a:t>if</a:t>
            </a:r>
            <a:r>
              <a:rPr lang="en-US" altLang="zh-CN" sz="2800" b="1"/>
              <a:t>(x&lt;2) </a:t>
            </a:r>
            <a:br>
              <a:rPr lang="en-US" altLang="zh-CN" sz="2800" b="1"/>
            </a:br>
            <a:r>
              <a:rPr lang="en-US" altLang="zh-CN" sz="2800" b="1"/>
              <a:t>    if(x&lt;1) y=x+1;</a:t>
            </a:r>
            <a:br>
              <a:rPr lang="en-US" altLang="zh-CN" sz="2800" b="1"/>
            </a:br>
            <a:r>
              <a:rPr lang="en-US" altLang="zh-CN" sz="2800" b="1"/>
              <a:t>    else;</a:t>
            </a:r>
            <a:br>
              <a:rPr lang="en-US" altLang="zh-CN" sz="2800" b="1"/>
            </a:br>
            <a:r>
              <a:rPr lang="en-US" altLang="zh-CN" sz="2800" b="1">
                <a:solidFill>
                  <a:srgbClr val="0D12D1"/>
                </a:solidFill>
              </a:rPr>
              <a:t>else</a:t>
            </a:r>
            <a:r>
              <a:rPr lang="en-US" altLang="zh-CN" sz="2800" b="1"/>
              <a:t> y=x+2;</a:t>
            </a:r>
            <a:endParaRPr lang="zh-CN" altLang="en-US" sz="2800" b="1"/>
          </a:p>
        </p:txBody>
      </p:sp>
      <p:sp>
        <p:nvSpPr>
          <p:cNvPr id="35845" name="AutoShape 5"/>
          <p:cNvSpPr>
            <a:spLocks noChangeArrowheads="1"/>
          </p:cNvSpPr>
          <p:nvPr/>
        </p:nvSpPr>
        <p:spPr bwMode="auto">
          <a:xfrm>
            <a:off x="4427538" y="5013325"/>
            <a:ext cx="792162" cy="431800"/>
          </a:xfrm>
          <a:prstGeom prst="leftRightArrow">
            <a:avLst>
              <a:gd name="adj1" fmla="val 50000"/>
              <a:gd name="adj2" fmla="val 3669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15900" y="188913"/>
            <a:ext cx="8748713" cy="6669087"/>
          </a:xfrm>
          <a:noFill/>
        </p:spPr>
        <p:txBody>
          <a:bodyPr/>
          <a:lstStyle/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#include &lt;</a:t>
            </a:r>
            <a:r>
              <a:rPr lang="en-US" altLang="zh-CN" sz="2400" dirty="0" err="1" smtClean="0">
                <a:effectLst/>
              </a:rPr>
              <a:t>stdio.h</a:t>
            </a:r>
            <a:r>
              <a:rPr lang="en-US" altLang="zh-CN" sz="2400" dirty="0" smtClean="0">
                <a:effectLst/>
              </a:rPr>
              <a:t> </a:t>
            </a:r>
            <a:r>
              <a:rPr lang="en-US" altLang="zh-CN" sz="2000" dirty="0" smtClean="0">
                <a:effectLst/>
              </a:rPr>
              <a:t>&gt;       /* </a:t>
            </a:r>
            <a:r>
              <a:rPr lang="zh-CN" altLang="en-US" sz="2000" dirty="0" smtClean="0">
                <a:effectLst/>
              </a:rPr>
              <a:t>水费计算用嵌套</a:t>
            </a:r>
            <a:r>
              <a:rPr lang="en-US" altLang="zh-CN" sz="2000" dirty="0" smtClean="0">
                <a:effectLst/>
              </a:rPr>
              <a:t>if-else</a:t>
            </a:r>
            <a:r>
              <a:rPr lang="zh-CN" altLang="en-US" sz="2000" dirty="0" smtClean="0">
                <a:effectLst/>
              </a:rPr>
              <a:t>实现多分支结构 *</a:t>
            </a:r>
            <a:r>
              <a:rPr lang="en-US" altLang="zh-CN" sz="2000" dirty="0" smtClean="0">
                <a:effectLst/>
              </a:rPr>
              <a:t>/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err="1" smtClean="0">
                <a:effectLst/>
              </a:rPr>
              <a:t>int</a:t>
            </a:r>
            <a:r>
              <a:rPr lang="en-US" altLang="zh-CN" sz="2400" dirty="0" smtClean="0">
                <a:effectLst/>
              </a:rPr>
              <a:t> main()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{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double </a:t>
            </a:r>
            <a:r>
              <a:rPr lang="en-US" altLang="zh-CN" sz="2400" dirty="0" err="1" smtClean="0">
                <a:effectLst/>
              </a:rPr>
              <a:t>x,y</a:t>
            </a:r>
            <a:r>
              <a:rPr lang="en-US" altLang="zh-CN" sz="2400" dirty="0" smtClean="0">
                <a:effectLst/>
              </a:rPr>
              <a:t>;	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</a:t>
            </a:r>
            <a:r>
              <a:rPr lang="en-US" altLang="zh-CN" sz="2400" dirty="0" err="1" smtClean="0">
                <a:effectLst/>
              </a:rPr>
              <a:t>printf</a:t>
            </a:r>
            <a:r>
              <a:rPr lang="en-US" altLang="zh-CN" sz="2400" dirty="0" smtClean="0">
                <a:effectLst/>
              </a:rPr>
              <a:t>("Enter x</a:t>
            </a:r>
            <a:r>
              <a:rPr lang="zh-CN" altLang="en-US" sz="2400" dirty="0" smtClean="0">
                <a:effectLst/>
              </a:rPr>
              <a:t>：</a:t>
            </a:r>
            <a:r>
              <a:rPr lang="en-US" altLang="zh-CN" sz="2400" dirty="0" smtClean="0">
                <a:effectLst/>
              </a:rPr>
              <a:t>");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</a:t>
            </a:r>
            <a:r>
              <a:rPr lang="en-US" altLang="zh-CN" sz="2400" dirty="0" err="1" smtClean="0">
                <a:effectLst/>
              </a:rPr>
              <a:t>scanf</a:t>
            </a:r>
            <a:r>
              <a:rPr lang="en-US" altLang="zh-CN" sz="2400" dirty="0" smtClean="0">
                <a:effectLst/>
              </a:rPr>
              <a:t>("%</a:t>
            </a:r>
            <a:r>
              <a:rPr lang="en-US" altLang="zh-CN" sz="2400" dirty="0" err="1" smtClean="0">
                <a:effectLst/>
              </a:rPr>
              <a:t>lf",&amp;x</a:t>
            </a:r>
            <a:r>
              <a:rPr lang="en-US" altLang="zh-CN" sz="2400" dirty="0" smtClean="0">
                <a:effectLst/>
              </a:rPr>
              <a:t>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if(x&lt;=15)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    if(x&lt;0)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	y=0;	 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    else 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	y=4*x/3;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else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    y=2.5*x-10.5;		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</a:t>
            </a:r>
            <a:r>
              <a:rPr lang="en-US" altLang="zh-CN" sz="2400" dirty="0" err="1" smtClean="0">
                <a:effectLst/>
              </a:rPr>
              <a:t>printf</a:t>
            </a:r>
            <a:r>
              <a:rPr lang="en-US" altLang="zh-CN" sz="2400" dirty="0" smtClean="0">
                <a:effectLst/>
              </a:rPr>
              <a:t>("y=f(%lf)=%.2lf\n",</a:t>
            </a:r>
            <a:r>
              <a:rPr lang="en-US" altLang="zh-CN" sz="2400" dirty="0" err="1" smtClean="0">
                <a:effectLst/>
              </a:rPr>
              <a:t>x,y</a:t>
            </a:r>
            <a:r>
              <a:rPr lang="en-US" altLang="zh-CN" sz="2400" dirty="0" smtClean="0">
                <a:effectLst/>
              </a:rPr>
              <a:t>);	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	return 0;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}</a:t>
            </a:r>
            <a:endParaRPr lang="zh-CN" altLang="en-US" sz="2400" dirty="0" smtClean="0">
              <a:effectLst/>
            </a:endParaRPr>
          </a:p>
        </p:txBody>
      </p:sp>
      <p:graphicFrame>
        <p:nvGraphicFramePr>
          <p:cNvPr id="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225137"/>
              </p:ext>
            </p:extLst>
          </p:nvPr>
        </p:nvGraphicFramePr>
        <p:xfrm>
          <a:off x="4067944" y="604182"/>
          <a:ext cx="3782520" cy="1528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07" name="Equation" r:id="rId3" imgW="1854200" imgH="749300" progId="Equation.DSMT4">
                  <p:embed/>
                </p:oleObj>
              </mc:Choice>
              <mc:Fallback>
                <p:oleObj name="Equation" r:id="rId3" imgW="1854200" imgH="749300" progId="Equation.DSMT4">
                  <p:embed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604182"/>
                        <a:ext cx="3782520" cy="1528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4572000" y="2069291"/>
            <a:ext cx="4473242" cy="4744085"/>
            <a:chOff x="3115771" y="1789625"/>
            <a:chExt cx="4617258" cy="4896821"/>
          </a:xfrm>
        </p:grpSpPr>
        <p:grpSp>
          <p:nvGrpSpPr>
            <p:cNvPr id="5" name="组合 4"/>
            <p:cNvGrpSpPr/>
            <p:nvPr/>
          </p:nvGrpSpPr>
          <p:grpSpPr>
            <a:xfrm>
              <a:off x="5169418" y="3574931"/>
              <a:ext cx="1100627" cy="575522"/>
              <a:chOff x="1441108" y="3165550"/>
              <a:chExt cx="1100627" cy="575522"/>
            </a:xfrm>
          </p:grpSpPr>
          <p:sp>
            <p:nvSpPr>
              <p:cNvPr id="38" name="菱形 37"/>
              <p:cNvSpPr/>
              <p:nvPr/>
            </p:nvSpPr>
            <p:spPr bwMode="auto">
              <a:xfrm>
                <a:off x="1441108" y="3165550"/>
                <a:ext cx="1100627" cy="575522"/>
              </a:xfrm>
              <a:prstGeom prst="diamond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宋体" pitchFamily="2" charset="-122"/>
                </a:endParaRPr>
              </a:p>
            </p:txBody>
          </p:sp>
          <p:sp>
            <p:nvSpPr>
              <p:cNvPr id="39" name="Rectangle 6"/>
              <p:cNvSpPr>
                <a:spLocks noChangeArrowheads="1"/>
              </p:cNvSpPr>
              <p:nvPr/>
            </p:nvSpPr>
            <p:spPr bwMode="auto">
              <a:xfrm>
                <a:off x="1662984" y="3352408"/>
                <a:ext cx="659493" cy="27238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dirty="0" smtClean="0">
                    <a:solidFill>
                      <a:srgbClr val="0000FF"/>
                    </a:solidFill>
                    <a:ea typeface="黑体" panose="02010609060101010101" pitchFamily="49" charset="-122"/>
                  </a:rPr>
                  <a:t>X&lt;0</a:t>
                </a:r>
                <a:endParaRPr lang="zh-CN" altLang="en-US" b="1" dirty="0">
                  <a:solidFill>
                    <a:srgbClr val="0000FF"/>
                  </a:solidFill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4469039" y="5857059"/>
              <a:ext cx="1443839" cy="425986"/>
              <a:chOff x="749451" y="5429696"/>
              <a:chExt cx="1443839" cy="425986"/>
            </a:xfrm>
          </p:grpSpPr>
          <p:sp>
            <p:nvSpPr>
              <p:cNvPr id="36" name="流程图: 数据 35"/>
              <p:cNvSpPr/>
              <p:nvPr/>
            </p:nvSpPr>
            <p:spPr bwMode="auto">
              <a:xfrm>
                <a:off x="749451" y="5429696"/>
                <a:ext cx="1443839" cy="425986"/>
              </a:xfrm>
              <a:prstGeom prst="flowChartInputOutput">
                <a:avLst/>
              </a:prstGeom>
              <a:noFill/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>
                  <a:spcBef>
                    <a:spcPts val="1200"/>
                  </a:spcBef>
                </a:pPr>
                <a:endPara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endParaRPr>
              </a:p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en-US" sz="1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957036" y="5488800"/>
                <a:ext cx="1016504" cy="317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输出</a:t>
                </a:r>
                <a:r>
                  <a:rPr lang="en-US" altLang="zh-CN" sz="1400" b="1" dirty="0" err="1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x,y</a:t>
                </a:r>
                <a:r>
                  <a:rPr lang="zh-CN" altLang="en-US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值</a:t>
                </a:r>
                <a:endParaRPr lang="zh-CN" altLang="en-US" sz="1400" dirty="0"/>
              </a:p>
            </p:txBody>
          </p:sp>
        </p:grpSp>
        <p:grpSp>
          <p:nvGrpSpPr>
            <p:cNvPr id="7" name="组合 6"/>
            <p:cNvGrpSpPr/>
            <p:nvPr/>
          </p:nvGrpSpPr>
          <p:grpSpPr>
            <a:xfrm>
              <a:off x="3115771" y="1789625"/>
              <a:ext cx="4043223" cy="4066057"/>
              <a:chOff x="5252855" y="1646237"/>
              <a:chExt cx="4043223" cy="4066057"/>
            </a:xfrm>
          </p:grpSpPr>
          <p:grpSp>
            <p:nvGrpSpPr>
              <p:cNvPr id="13" name="组合 12"/>
              <p:cNvGrpSpPr/>
              <p:nvPr/>
            </p:nvGrpSpPr>
            <p:grpSpPr>
              <a:xfrm>
                <a:off x="5772341" y="1646237"/>
                <a:ext cx="3523737" cy="4066057"/>
                <a:chOff x="5306639" y="1612520"/>
                <a:chExt cx="5343489" cy="6165879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5306639" y="1612520"/>
                  <a:ext cx="5343489" cy="6165879"/>
                  <a:chOff x="1979040" y="-212543"/>
                  <a:chExt cx="8399722" cy="9692478"/>
                </a:xfrm>
              </p:grpSpPr>
              <p:sp>
                <p:nvSpPr>
                  <p:cNvPr id="18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2041382" y="2334148"/>
                    <a:ext cx="850900" cy="5746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ea typeface="黑体" panose="02010609060101010101" pitchFamily="49" charset="-122"/>
                      </a:rPr>
                      <a:t>假</a:t>
                    </a:r>
                    <a:endParaRPr lang="zh-CN" altLang="en-US" sz="1400" b="1" dirty="0">
                      <a:solidFill>
                        <a:schemeClr val="accent6">
                          <a:lumMod val="50000"/>
                        </a:schemeClr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19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5662367" y="8557596"/>
                    <a:ext cx="0" cy="922339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0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5796185" y="2353625"/>
                    <a:ext cx="1012825" cy="576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 smtClean="0">
                        <a:solidFill>
                          <a:srgbClr val="FF0000"/>
                        </a:solidFill>
                        <a:ea typeface="黑体" panose="02010609060101010101" pitchFamily="49" charset="-122"/>
                      </a:rPr>
                      <a:t>真</a:t>
                    </a:r>
                    <a:endParaRPr lang="zh-CN" altLang="en-US" sz="1400" b="1" dirty="0">
                      <a:solidFill>
                        <a:srgbClr val="FF0000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21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5868417" y="2996853"/>
                    <a:ext cx="1079500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FF33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2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6947917" y="2996853"/>
                    <a:ext cx="0" cy="1081087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3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1979042" y="2996853"/>
                    <a:ext cx="1152524" cy="0"/>
                  </a:xfrm>
                  <a:prstGeom prst="line">
                    <a:avLst/>
                  </a:prstGeom>
                  <a:noFill/>
                  <a:ln w="63500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1979042" y="2996853"/>
                    <a:ext cx="0" cy="1081087"/>
                  </a:xfrm>
                  <a:prstGeom prst="line">
                    <a:avLst/>
                  </a:prstGeom>
                  <a:noFill/>
                  <a:ln w="63500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5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2041720" y="5101170"/>
                    <a:ext cx="0" cy="3413871"/>
                  </a:xfrm>
                  <a:prstGeom prst="line">
                    <a:avLst/>
                  </a:prstGeom>
                  <a:noFill/>
                  <a:ln w="63500">
                    <a:solidFill>
                      <a:schemeClr val="accent6">
                        <a:lumMod val="50000"/>
                      </a:schemeClr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6" name="Line 27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0304627" y="4782021"/>
                    <a:ext cx="0" cy="1616885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7" name="Line 28"/>
                  <p:cNvSpPr>
                    <a:spLocks noChangeShapeType="1"/>
                  </p:cNvSpPr>
                  <p:nvPr/>
                </p:nvSpPr>
                <p:spPr bwMode="auto">
                  <a:xfrm>
                    <a:off x="1979040" y="8515041"/>
                    <a:ext cx="8399718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8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311073" y="4697882"/>
                    <a:ext cx="2067689" cy="0"/>
                  </a:xfrm>
                  <a:prstGeom prst="line">
                    <a:avLst/>
                  </a:prstGeom>
                  <a:noFill/>
                  <a:ln w="63500">
                    <a:solidFill>
                      <a:srgbClr val="008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29" name="菱形 28"/>
                  <p:cNvSpPr/>
                  <p:nvPr/>
                </p:nvSpPr>
                <p:spPr bwMode="auto">
                  <a:xfrm>
                    <a:off x="3151828" y="2310902"/>
                    <a:ext cx="2765948" cy="1371902"/>
                  </a:xfrm>
                  <a:prstGeom prst="diamond">
                    <a:avLst/>
                  </a:prstGeom>
                  <a:noFill/>
                  <a:ln w="381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  <a:ex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zh-CN" alt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0" name="Rectangle 6"/>
                  <p:cNvSpPr>
                    <a:spLocks noChangeArrowheads="1"/>
                  </p:cNvSpPr>
                  <p:nvPr/>
                </p:nvSpPr>
                <p:spPr bwMode="auto">
                  <a:xfrm>
                    <a:off x="3690872" y="2665283"/>
                    <a:ext cx="1657350" cy="64928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b="1" dirty="0" smtClean="0">
                        <a:solidFill>
                          <a:srgbClr val="0000FF"/>
                        </a:solidFill>
                        <a:ea typeface="黑体" panose="02010609060101010101" pitchFamily="49" charset="-122"/>
                      </a:rPr>
                      <a:t>X&lt;=15</a:t>
                    </a:r>
                    <a:endParaRPr lang="zh-CN" altLang="en-US" b="1" dirty="0">
                      <a:solidFill>
                        <a:srgbClr val="0000FF"/>
                      </a:solidFill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1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507107" y="-212543"/>
                    <a:ext cx="0" cy="704751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32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4499992" y="1519209"/>
                    <a:ext cx="19554" cy="791693"/>
                  </a:xfrm>
                  <a:prstGeom prst="line">
                    <a:avLst/>
                  </a:prstGeom>
                  <a:noFill/>
                  <a:ln w="7620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33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6947917" y="5383835"/>
                    <a:ext cx="0" cy="970669"/>
                  </a:xfrm>
                  <a:prstGeom prst="line">
                    <a:avLst/>
                  </a:prstGeom>
                  <a:noFill/>
                  <a:ln w="635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zh-CN" altLang="en-US" sz="1400"/>
                  </a:p>
                </p:txBody>
              </p:sp>
              <p:sp>
                <p:nvSpPr>
                  <p:cNvPr id="34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7010595" y="5460740"/>
                    <a:ext cx="850900" cy="57467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FF3300"/>
                        </a:solidFill>
                        <a:ea typeface="黑体" panose="02010609060101010101" pitchFamily="49" charset="-122"/>
                      </a:rPr>
                      <a:t>真</a:t>
                    </a:r>
                  </a:p>
                </p:txBody>
              </p:sp>
              <p:sp>
                <p:nvSpPr>
                  <p:cNvPr id="35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8774705" y="4039868"/>
                    <a:ext cx="1012826" cy="57626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zh-CN" altLang="en-US" sz="1400" b="1" dirty="0">
                        <a:solidFill>
                          <a:srgbClr val="008000"/>
                        </a:solidFill>
                        <a:ea typeface="黑体" panose="02010609060101010101" pitchFamily="49" charset="-122"/>
                      </a:rPr>
                      <a:t>假</a:t>
                    </a:r>
                  </a:p>
                </p:txBody>
              </p:sp>
            </p:grpSp>
            <p:sp>
              <p:nvSpPr>
                <p:cNvPr id="16" name="流程图: 数据 15"/>
                <p:cNvSpPr/>
                <p:nvPr/>
              </p:nvSpPr>
              <p:spPr bwMode="auto">
                <a:xfrm>
                  <a:off x="5776923" y="2068200"/>
                  <a:ext cx="2308250" cy="645976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>
                    <a:spcBef>
                      <a:spcPts val="1200"/>
                    </a:spcBef>
                  </a:pPr>
                  <a:endParaRPr lang="en-US" altLang="zh-CN" sz="1400" b="1" dirty="0" smtClean="0">
                    <a:solidFill>
                      <a:srgbClr val="0D12D1"/>
                    </a:solidFill>
                    <a:ea typeface="黑体" panose="02010609060101010101" pitchFamily="49" charset="-122"/>
                  </a:endParaRPr>
                </a:p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1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" name="文本框 16"/>
                <p:cNvSpPr txBox="1"/>
                <p:nvPr/>
              </p:nvSpPr>
              <p:spPr>
                <a:xfrm>
                  <a:off x="6133154" y="2191308"/>
                  <a:ext cx="1579257" cy="466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b="1" dirty="0" smtClean="0">
                      <a:solidFill>
                        <a:srgbClr val="0D12D1"/>
                      </a:solidFill>
                      <a:ea typeface="黑体" panose="02010609060101010101" pitchFamily="49" charset="-122"/>
                    </a:rPr>
                    <a:t>输入数字</a:t>
                  </a:r>
                  <a:endParaRPr lang="zh-CN" altLang="en-US" sz="1400" dirty="0"/>
                </a:p>
              </p:txBody>
            </p:sp>
          </p:grp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5252855" y="3442545"/>
                <a:ext cx="1148073" cy="42503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400" b="1" dirty="0">
                    <a:solidFill>
                      <a:srgbClr val="0D12D1"/>
                    </a:solidFill>
                    <a:ea typeface="黑体" panose="02010609060101010101" pitchFamily="49" charset="-122"/>
                  </a:rPr>
                  <a:t>y=2.5*x-10.5</a:t>
                </a:r>
              </a:p>
            </p:txBody>
          </p:sp>
        </p:grp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5171989" y="4563172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y=0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9" name="Rectangle 13"/>
            <p:cNvSpPr>
              <a:spLocks noChangeArrowheads="1"/>
            </p:cNvSpPr>
            <p:nvPr/>
          </p:nvSpPr>
          <p:spPr bwMode="auto">
            <a:xfrm>
              <a:off x="6584956" y="4567689"/>
              <a:ext cx="1148073" cy="4250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1400" b="1" dirty="0" smtClean="0">
                  <a:solidFill>
                    <a:srgbClr val="0D12D1"/>
                  </a:solidFill>
                  <a:ea typeface="黑体" panose="02010609060101010101" pitchFamily="49" charset="-122"/>
                </a:rPr>
                <a:t>y=4*x/3</a:t>
              </a:r>
              <a:endParaRPr lang="en-US" altLang="zh-CN" sz="1400" b="1" dirty="0">
                <a:solidFill>
                  <a:srgbClr val="0D12D1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0" name="Line 25"/>
            <p:cNvSpPr>
              <a:spLocks noChangeShapeType="1"/>
            </p:cNvSpPr>
            <p:nvPr/>
          </p:nvSpPr>
          <p:spPr bwMode="auto">
            <a:xfrm>
              <a:off x="5746025" y="4988203"/>
              <a:ext cx="0" cy="4627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1" name="Line 25"/>
            <p:cNvSpPr>
              <a:spLocks noChangeShapeType="1"/>
            </p:cNvSpPr>
            <p:nvPr/>
          </p:nvSpPr>
          <p:spPr bwMode="auto">
            <a:xfrm>
              <a:off x="7158992" y="4988202"/>
              <a:ext cx="0" cy="462701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2" name="Line 17"/>
            <p:cNvSpPr>
              <a:spLocks noChangeShapeType="1"/>
            </p:cNvSpPr>
            <p:nvPr/>
          </p:nvSpPr>
          <p:spPr bwMode="auto">
            <a:xfrm>
              <a:off x="5190959" y="6299519"/>
              <a:ext cx="0" cy="38692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ffectLst/>
              </a:rPr>
              <a:t>Switch</a:t>
            </a:r>
            <a:r>
              <a:rPr lang="zh-CN" altLang="en-US" smtClean="0">
                <a:effectLst/>
              </a:rPr>
              <a:t>语句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3471378"/>
            <a:ext cx="7416824" cy="3370133"/>
          </a:xfrm>
          <a:noFill/>
        </p:spPr>
        <p:txBody>
          <a:bodyPr/>
          <a:lstStyle/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switch(</a:t>
            </a:r>
            <a:r>
              <a:rPr lang="zh-CN" altLang="en-US" sz="2400" dirty="0" smtClean="0">
                <a:effectLst/>
              </a:rPr>
              <a:t>表达式</a:t>
            </a:r>
            <a:r>
              <a:rPr lang="en-US" altLang="zh-CN" sz="2400" dirty="0" smtClean="0">
                <a:effectLst/>
              </a:rPr>
              <a:t>)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{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1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1;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2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2 ;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    ....…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n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n ;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default </a:t>
            </a:r>
            <a:r>
              <a:rPr lang="zh-CN" altLang="en-US" sz="2400" dirty="0" smtClean="0">
                <a:effectLst/>
              </a:rPr>
              <a:t>：                 语句段</a:t>
            </a:r>
            <a:r>
              <a:rPr lang="en-US" altLang="zh-CN" sz="2400" dirty="0" smtClean="0">
                <a:effectLst/>
              </a:rPr>
              <a:t>n+1 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}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779912" y="548680"/>
            <a:ext cx="5067875" cy="3927432"/>
            <a:chOff x="671513" y="725704"/>
            <a:chExt cx="6776214" cy="5251337"/>
          </a:xfrm>
        </p:grpSpPr>
        <p:grpSp>
          <p:nvGrpSpPr>
            <p:cNvPr id="6" name="Group 35"/>
            <p:cNvGrpSpPr>
              <a:grpSpLocks/>
            </p:cNvGrpSpPr>
            <p:nvPr/>
          </p:nvGrpSpPr>
          <p:grpSpPr bwMode="auto">
            <a:xfrm>
              <a:off x="671513" y="725704"/>
              <a:ext cx="6776214" cy="5251337"/>
              <a:chOff x="1800" y="6506"/>
              <a:chExt cx="6871" cy="3879"/>
            </a:xfrm>
          </p:grpSpPr>
          <p:sp>
            <p:nvSpPr>
              <p:cNvPr id="8" name="Rectangle 36"/>
              <p:cNvSpPr>
                <a:spLocks noChangeArrowheads="1"/>
              </p:cNvSpPr>
              <p:nvPr/>
            </p:nvSpPr>
            <p:spPr bwMode="auto">
              <a:xfrm>
                <a:off x="3136" y="7368"/>
                <a:ext cx="3704" cy="29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2 的值</a:t>
                </a:r>
              </a:p>
            </p:txBody>
          </p:sp>
          <p:sp>
            <p:nvSpPr>
              <p:cNvPr id="9" name="Rectangle 37"/>
              <p:cNvSpPr>
                <a:spLocks noChangeArrowheads="1"/>
              </p:cNvSpPr>
              <p:nvPr/>
            </p:nvSpPr>
            <p:spPr bwMode="auto">
              <a:xfrm>
                <a:off x="2160" y="7808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24000"/>
                  </a:lnSpc>
                </a:pPr>
                <a:endParaRPr lang="en-US" altLang="zh-CN" b="1" dirty="0" smtClean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 algn="ctr">
                  <a:lnSpc>
                    <a:spcPct val="124000"/>
                  </a:lnSpc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表达式</a:t>
                </a:r>
                <a:endPara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Rectangle 38"/>
              <p:cNvSpPr>
                <a:spLocks noChangeArrowheads="1"/>
              </p:cNvSpPr>
              <p:nvPr/>
            </p:nvSpPr>
            <p:spPr bwMode="auto">
              <a:xfrm>
                <a:off x="6840" y="6641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语句段1</a:t>
                </a:r>
              </a:p>
            </p:txBody>
          </p:sp>
          <p:sp>
            <p:nvSpPr>
              <p:cNvPr id="11" name="Line 39"/>
              <p:cNvSpPr>
                <a:spLocks noChangeShapeType="1"/>
              </p:cNvSpPr>
              <p:nvPr/>
            </p:nvSpPr>
            <p:spPr bwMode="auto">
              <a:xfrm>
                <a:off x="1800" y="8336"/>
                <a:ext cx="360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Rectangle 40"/>
              <p:cNvSpPr>
                <a:spLocks noChangeArrowheads="1"/>
              </p:cNvSpPr>
              <p:nvPr/>
            </p:nvSpPr>
            <p:spPr bwMode="auto">
              <a:xfrm>
                <a:off x="6840" y="7492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语句段2</a:t>
                </a:r>
              </a:p>
            </p:txBody>
          </p:sp>
          <p:sp>
            <p:nvSpPr>
              <p:cNvPr id="13" name="Rectangle 41"/>
              <p:cNvSpPr>
                <a:spLocks noChangeArrowheads="1"/>
              </p:cNvSpPr>
              <p:nvPr/>
            </p:nvSpPr>
            <p:spPr bwMode="auto">
              <a:xfrm>
                <a:off x="6840" y="9084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</a:p>
            </p:txBody>
          </p:sp>
          <p:sp>
            <p:nvSpPr>
              <p:cNvPr id="14" name="Rectangle 42"/>
              <p:cNvSpPr>
                <a:spLocks noChangeArrowheads="1"/>
              </p:cNvSpPr>
              <p:nvPr/>
            </p:nvSpPr>
            <p:spPr bwMode="auto">
              <a:xfrm>
                <a:off x="6840" y="9896"/>
                <a:ext cx="1306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n+1</a:t>
                </a:r>
              </a:p>
            </p:txBody>
          </p:sp>
          <p:sp>
            <p:nvSpPr>
              <p:cNvPr id="15" name="Line 43"/>
              <p:cNvSpPr>
                <a:spLocks noChangeShapeType="1"/>
              </p:cNvSpPr>
              <p:nvPr/>
            </p:nvSpPr>
            <p:spPr bwMode="auto">
              <a:xfrm>
                <a:off x="7507" y="7153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44"/>
              <p:cNvSpPr>
                <a:spLocks noChangeShapeType="1"/>
              </p:cNvSpPr>
              <p:nvPr/>
            </p:nvSpPr>
            <p:spPr bwMode="auto">
              <a:xfrm>
                <a:off x="7560" y="9584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45"/>
              <p:cNvSpPr>
                <a:spLocks noChangeShapeType="1"/>
              </p:cNvSpPr>
              <p:nvPr/>
            </p:nvSpPr>
            <p:spPr bwMode="auto">
              <a:xfrm>
                <a:off x="8146" y="10133"/>
                <a:ext cx="525" cy="0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46"/>
              <p:cNvSpPr>
                <a:spLocks noChangeShapeType="1"/>
              </p:cNvSpPr>
              <p:nvPr/>
            </p:nvSpPr>
            <p:spPr bwMode="auto">
              <a:xfrm>
                <a:off x="7506" y="8009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47"/>
              <p:cNvSpPr>
                <a:spLocks noChangeShapeType="1"/>
              </p:cNvSpPr>
              <p:nvPr/>
            </p:nvSpPr>
            <p:spPr bwMode="auto">
              <a:xfrm>
                <a:off x="7506" y="8772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Rectangle 48"/>
              <p:cNvSpPr>
                <a:spLocks noChangeArrowheads="1"/>
              </p:cNvSpPr>
              <p:nvPr/>
            </p:nvSpPr>
            <p:spPr bwMode="auto">
              <a:xfrm>
                <a:off x="3105" y="6506"/>
                <a:ext cx="3540" cy="2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1 的值</a:t>
                </a:r>
              </a:p>
            </p:txBody>
          </p:sp>
          <p:sp>
            <p:nvSpPr>
              <p:cNvPr id="21" name="Line 49"/>
              <p:cNvSpPr>
                <a:spLocks noChangeShapeType="1"/>
              </p:cNvSpPr>
              <p:nvPr/>
            </p:nvSpPr>
            <p:spPr bwMode="auto">
              <a:xfrm>
                <a:off x="3195" y="6854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50"/>
              <p:cNvSpPr>
                <a:spLocks noChangeShapeType="1"/>
              </p:cNvSpPr>
              <p:nvPr/>
            </p:nvSpPr>
            <p:spPr bwMode="auto">
              <a:xfrm>
                <a:off x="3195" y="7699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Rectangle 51"/>
              <p:cNvSpPr>
                <a:spLocks noChangeArrowheads="1"/>
              </p:cNvSpPr>
              <p:nvPr/>
            </p:nvSpPr>
            <p:spPr bwMode="auto">
              <a:xfrm>
                <a:off x="3154" y="8935"/>
                <a:ext cx="3477" cy="35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n 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的值</a:t>
                </a:r>
              </a:p>
            </p:txBody>
          </p:sp>
          <p:sp>
            <p:nvSpPr>
              <p:cNvPr id="24" name="Line 52"/>
              <p:cNvSpPr>
                <a:spLocks noChangeShapeType="1"/>
              </p:cNvSpPr>
              <p:nvPr/>
            </p:nvSpPr>
            <p:spPr bwMode="auto">
              <a:xfrm>
                <a:off x="3195" y="9254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53"/>
              <p:cNvSpPr>
                <a:spLocks noChangeArrowheads="1"/>
              </p:cNvSpPr>
              <p:nvPr/>
            </p:nvSpPr>
            <p:spPr bwMode="auto">
              <a:xfrm>
                <a:off x="3171" y="9884"/>
                <a:ext cx="3150" cy="30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其他</a:t>
                </a:r>
              </a:p>
            </p:txBody>
          </p:sp>
          <p:sp>
            <p:nvSpPr>
              <p:cNvPr id="26" name="Line 54"/>
              <p:cNvSpPr>
                <a:spLocks noChangeShapeType="1"/>
              </p:cNvSpPr>
              <p:nvPr/>
            </p:nvSpPr>
            <p:spPr bwMode="auto">
              <a:xfrm>
                <a:off x="3195" y="10187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" name="Line 55"/>
              <p:cNvSpPr>
                <a:spLocks noChangeShapeType="1"/>
              </p:cNvSpPr>
              <p:nvPr/>
            </p:nvSpPr>
            <p:spPr bwMode="auto">
              <a:xfrm>
                <a:off x="3195" y="6854"/>
                <a:ext cx="0" cy="3333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56"/>
              <p:cNvSpPr>
                <a:spLocks noChangeShapeType="1"/>
              </p:cNvSpPr>
              <p:nvPr/>
            </p:nvSpPr>
            <p:spPr bwMode="auto">
              <a:xfrm>
                <a:off x="2670" y="8321"/>
                <a:ext cx="52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7" name="直接连接符 6"/>
            <p:cNvCxnSpPr>
              <a:stCxn id="18" idx="1"/>
              <a:endCxn id="19" idx="0"/>
            </p:cNvCxnSpPr>
            <p:nvPr/>
          </p:nvCxnSpPr>
          <p:spPr bwMode="auto">
            <a:xfrm flipH="1">
              <a:off x="6298798" y="3182826"/>
              <a:ext cx="1" cy="610558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" name="文本框 1"/>
          <p:cNvSpPr txBox="1"/>
          <p:nvPr/>
        </p:nvSpPr>
        <p:spPr>
          <a:xfrm>
            <a:off x="838612" y="1987169"/>
            <a:ext cx="263673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不带</a:t>
            </a:r>
            <a:r>
              <a:rPr lang="en-US" altLang="zh-CN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r>
              <a:rPr lang="zh-CN" altLang="en-US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endParaRPr lang="zh-CN" altLang="en-US" sz="2800" b="1" dirty="0">
              <a:solidFill>
                <a:srgbClr val="0D12D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4247F8-242D-4C75-94D9-632B8AA2603E}" type="slidenum">
              <a:rPr lang="en-US" altLang="zh-CN" sz="2600">
                <a:solidFill>
                  <a:schemeClr val="bg1"/>
                </a:solidFill>
              </a:rPr>
              <a:pPr/>
              <a:t>30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3779912" y="188640"/>
            <a:ext cx="5112868" cy="3927432"/>
            <a:chOff x="671513" y="725704"/>
            <a:chExt cx="6836373" cy="5251337"/>
          </a:xfrm>
        </p:grpSpPr>
        <p:grpSp>
          <p:nvGrpSpPr>
            <p:cNvPr id="4" name="Group 35"/>
            <p:cNvGrpSpPr>
              <a:grpSpLocks/>
            </p:cNvGrpSpPr>
            <p:nvPr/>
          </p:nvGrpSpPr>
          <p:grpSpPr bwMode="auto">
            <a:xfrm>
              <a:off x="671513" y="725704"/>
              <a:ext cx="6836373" cy="5251337"/>
              <a:chOff x="1800" y="6506"/>
              <a:chExt cx="6932" cy="3879"/>
            </a:xfrm>
          </p:grpSpPr>
          <p:sp>
            <p:nvSpPr>
              <p:cNvPr id="5" name="Rectangle 36"/>
              <p:cNvSpPr>
                <a:spLocks noChangeArrowheads="1"/>
              </p:cNvSpPr>
              <p:nvPr/>
            </p:nvSpPr>
            <p:spPr bwMode="auto">
              <a:xfrm>
                <a:off x="3136" y="7368"/>
                <a:ext cx="3477" cy="25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2 的值</a:t>
                </a:r>
              </a:p>
            </p:txBody>
          </p:sp>
          <p:sp>
            <p:nvSpPr>
              <p:cNvPr id="6" name="Rectangle 37"/>
              <p:cNvSpPr>
                <a:spLocks noChangeArrowheads="1"/>
              </p:cNvSpPr>
              <p:nvPr/>
            </p:nvSpPr>
            <p:spPr bwMode="auto">
              <a:xfrm>
                <a:off x="2160" y="7808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>
                    <a:latin typeface="Times New Roman" panose="02020603050405020304" pitchFamily="18" charset="0"/>
                    <a:ea typeface="黑体" panose="02010609060101010101" pitchFamily="49" charset="-122"/>
                  </a:rPr>
                  <a:t>表达式</a:t>
                </a:r>
              </a:p>
            </p:txBody>
          </p:sp>
          <p:sp>
            <p:nvSpPr>
              <p:cNvPr id="7" name="Rectangle 38"/>
              <p:cNvSpPr>
                <a:spLocks noChangeArrowheads="1"/>
              </p:cNvSpPr>
              <p:nvPr/>
            </p:nvSpPr>
            <p:spPr bwMode="auto">
              <a:xfrm>
                <a:off x="6840" y="6641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语句段1</a:t>
                </a:r>
              </a:p>
            </p:txBody>
          </p:sp>
          <p:sp>
            <p:nvSpPr>
              <p:cNvPr id="8" name="Line 39"/>
              <p:cNvSpPr>
                <a:spLocks noChangeShapeType="1"/>
              </p:cNvSpPr>
              <p:nvPr/>
            </p:nvSpPr>
            <p:spPr bwMode="auto">
              <a:xfrm>
                <a:off x="1800" y="8336"/>
                <a:ext cx="360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Rectangle 40"/>
              <p:cNvSpPr>
                <a:spLocks noChangeArrowheads="1"/>
              </p:cNvSpPr>
              <p:nvPr/>
            </p:nvSpPr>
            <p:spPr bwMode="auto">
              <a:xfrm>
                <a:off x="6840" y="7492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语句段2</a:t>
                </a:r>
              </a:p>
            </p:txBody>
          </p:sp>
          <p:sp>
            <p:nvSpPr>
              <p:cNvPr id="10" name="Rectangle 41"/>
              <p:cNvSpPr>
                <a:spLocks noChangeArrowheads="1"/>
              </p:cNvSpPr>
              <p:nvPr/>
            </p:nvSpPr>
            <p:spPr bwMode="auto">
              <a:xfrm>
                <a:off x="6840" y="9084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</a:t>
                </a:r>
                <a:r>
                  <a:rPr lang="en-US" altLang="zh-CN" b="1">
                    <a:latin typeface="黑体" panose="02010609060101010101" pitchFamily="49" charset="-122"/>
                    <a:ea typeface="黑体" panose="02010609060101010101" pitchFamily="49" charset="-122"/>
                  </a:rPr>
                  <a:t>n</a:t>
                </a:r>
              </a:p>
            </p:txBody>
          </p:sp>
          <p:sp>
            <p:nvSpPr>
              <p:cNvPr id="11" name="Rectangle 42"/>
              <p:cNvSpPr>
                <a:spLocks noChangeArrowheads="1"/>
              </p:cNvSpPr>
              <p:nvPr/>
            </p:nvSpPr>
            <p:spPr bwMode="auto">
              <a:xfrm>
                <a:off x="6840" y="9896"/>
                <a:ext cx="1260" cy="489"/>
              </a:xfrm>
              <a:prstGeom prst="rect">
                <a:avLst/>
              </a:prstGeom>
              <a:solidFill>
                <a:srgbClr val="FFFFFF"/>
              </a:solidFill>
              <a:ln w="635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>
                    <a:latin typeface="黑体" panose="02010609060101010101" pitchFamily="49" charset="-122"/>
                    <a:ea typeface="黑体" panose="02010609060101010101" pitchFamily="49" charset="-122"/>
                  </a:rPr>
                  <a:t>语句段</a:t>
                </a:r>
                <a:r>
                  <a:rPr lang="en-US" altLang="zh-CN" b="1">
                    <a:latin typeface="黑体" panose="02010609060101010101" pitchFamily="49" charset="-122"/>
                    <a:ea typeface="黑体" panose="02010609060101010101" pitchFamily="49" charset="-122"/>
                  </a:rPr>
                  <a:t>n+1</a:t>
                </a:r>
              </a:p>
            </p:txBody>
          </p:sp>
          <p:sp>
            <p:nvSpPr>
              <p:cNvPr id="12" name="Line 43"/>
              <p:cNvSpPr>
                <a:spLocks noChangeShapeType="1"/>
              </p:cNvSpPr>
              <p:nvPr/>
            </p:nvSpPr>
            <p:spPr bwMode="auto">
              <a:xfrm>
                <a:off x="7507" y="7153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44"/>
              <p:cNvSpPr>
                <a:spLocks noChangeShapeType="1"/>
              </p:cNvSpPr>
              <p:nvPr/>
            </p:nvSpPr>
            <p:spPr bwMode="auto">
              <a:xfrm>
                <a:off x="7560" y="9584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45"/>
              <p:cNvSpPr>
                <a:spLocks noChangeShapeType="1"/>
              </p:cNvSpPr>
              <p:nvPr/>
            </p:nvSpPr>
            <p:spPr bwMode="auto">
              <a:xfrm>
                <a:off x="8207" y="10133"/>
                <a:ext cx="525" cy="0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46"/>
              <p:cNvSpPr>
                <a:spLocks noChangeShapeType="1"/>
              </p:cNvSpPr>
              <p:nvPr/>
            </p:nvSpPr>
            <p:spPr bwMode="auto">
              <a:xfrm>
                <a:off x="7506" y="8009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47"/>
              <p:cNvSpPr>
                <a:spLocks noChangeShapeType="1"/>
              </p:cNvSpPr>
              <p:nvPr/>
            </p:nvSpPr>
            <p:spPr bwMode="auto">
              <a:xfrm>
                <a:off x="7506" y="8772"/>
                <a:ext cx="0" cy="31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Rectangle 48"/>
              <p:cNvSpPr>
                <a:spLocks noChangeArrowheads="1"/>
              </p:cNvSpPr>
              <p:nvPr/>
            </p:nvSpPr>
            <p:spPr bwMode="auto">
              <a:xfrm>
                <a:off x="3105" y="6506"/>
                <a:ext cx="3540" cy="2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1 的值</a:t>
                </a:r>
              </a:p>
            </p:txBody>
          </p:sp>
          <p:sp>
            <p:nvSpPr>
              <p:cNvPr id="18" name="Line 49"/>
              <p:cNvSpPr>
                <a:spLocks noChangeShapeType="1"/>
              </p:cNvSpPr>
              <p:nvPr/>
            </p:nvSpPr>
            <p:spPr bwMode="auto">
              <a:xfrm>
                <a:off x="3195" y="6854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50"/>
              <p:cNvSpPr>
                <a:spLocks noChangeShapeType="1"/>
              </p:cNvSpPr>
              <p:nvPr/>
            </p:nvSpPr>
            <p:spPr bwMode="auto">
              <a:xfrm>
                <a:off x="3195" y="7699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Rectangle 51"/>
              <p:cNvSpPr>
                <a:spLocks noChangeArrowheads="1"/>
              </p:cNvSpPr>
              <p:nvPr/>
            </p:nvSpPr>
            <p:spPr bwMode="auto">
              <a:xfrm>
                <a:off x="3154" y="8935"/>
                <a:ext cx="3477" cy="35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表达式的值=常量表达式 </a:t>
                </a:r>
                <a:r>
                  <a:rPr lang="en-US" altLang="zh-CN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n </a:t>
                </a:r>
                <a:r>
                  <a: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的值</a:t>
                </a:r>
              </a:p>
            </p:txBody>
          </p:sp>
          <p:sp>
            <p:nvSpPr>
              <p:cNvPr id="21" name="Line 52"/>
              <p:cNvSpPr>
                <a:spLocks noChangeShapeType="1"/>
              </p:cNvSpPr>
              <p:nvPr/>
            </p:nvSpPr>
            <p:spPr bwMode="auto">
              <a:xfrm>
                <a:off x="3195" y="9254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Rectangle 53"/>
              <p:cNvSpPr>
                <a:spLocks noChangeArrowheads="1"/>
              </p:cNvSpPr>
              <p:nvPr/>
            </p:nvSpPr>
            <p:spPr bwMode="auto">
              <a:xfrm>
                <a:off x="3171" y="9884"/>
                <a:ext cx="3150" cy="30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635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24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黑体" panose="02010609060101010101" pitchFamily="49" charset="-122"/>
                  </a:rPr>
                  <a:t>其他</a:t>
                </a:r>
              </a:p>
            </p:txBody>
          </p:sp>
          <p:sp>
            <p:nvSpPr>
              <p:cNvPr id="23" name="Line 54"/>
              <p:cNvSpPr>
                <a:spLocks noChangeShapeType="1"/>
              </p:cNvSpPr>
              <p:nvPr/>
            </p:nvSpPr>
            <p:spPr bwMode="auto">
              <a:xfrm>
                <a:off x="3195" y="10187"/>
                <a:ext cx="367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55"/>
              <p:cNvSpPr>
                <a:spLocks noChangeShapeType="1"/>
              </p:cNvSpPr>
              <p:nvPr/>
            </p:nvSpPr>
            <p:spPr bwMode="auto">
              <a:xfrm>
                <a:off x="3195" y="6854"/>
                <a:ext cx="0" cy="3333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56"/>
              <p:cNvSpPr>
                <a:spLocks noChangeShapeType="1"/>
              </p:cNvSpPr>
              <p:nvPr/>
            </p:nvSpPr>
            <p:spPr bwMode="auto">
              <a:xfrm>
                <a:off x="2670" y="8321"/>
                <a:ext cx="525" cy="0"/>
              </a:xfrm>
              <a:prstGeom prst="line">
                <a:avLst/>
              </a:prstGeom>
              <a:noFill/>
              <a:ln w="635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3" name="直接连接符 2"/>
            <p:cNvCxnSpPr>
              <a:stCxn id="15" idx="1"/>
              <a:endCxn id="16" idx="0"/>
            </p:cNvCxnSpPr>
            <p:nvPr/>
          </p:nvCxnSpPr>
          <p:spPr bwMode="auto">
            <a:xfrm flipH="1">
              <a:off x="6298798" y="3182826"/>
              <a:ext cx="1" cy="610558"/>
            </a:xfrm>
            <a:prstGeom prst="line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9" name="Rectangle 3"/>
          <p:cNvSpPr txBox="1">
            <a:spLocks noChangeArrowheads="1"/>
          </p:cNvSpPr>
          <p:nvPr/>
        </p:nvSpPr>
        <p:spPr>
          <a:xfrm>
            <a:off x="141040" y="540985"/>
            <a:ext cx="4896544" cy="5976069"/>
          </a:xfrm>
          <a:prstGeom prst="rect">
            <a:avLst/>
          </a:prstGeom>
          <a:noFill/>
        </p:spPr>
        <p:txBody>
          <a:bodyPr/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#include &lt;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stdio.h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&gt;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int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 main()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{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int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 choice;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scanf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("%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d",&amp;choice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);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switch (choice) {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1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("111\n"); 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2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("222\n");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3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("333\n");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4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("444\n");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default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("error\n"); 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	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}</a:t>
            </a:r>
          </a:p>
          <a:p>
            <a:pPr marL="0" indent="0">
              <a:buNone/>
            </a:pPr>
            <a:r>
              <a:rPr kumimoji="1" lang="en-US" altLang="zh-CN" sz="2400" kern="0" dirty="0">
                <a:ea typeface="黑体" panose="02010609060101010101" pitchFamily="49" charset="-122"/>
              </a:rPr>
              <a:t>}</a:t>
            </a:r>
          </a:p>
          <a:p>
            <a:pPr>
              <a:buFont typeface="Webdings" panose="05030102010509060703" pitchFamily="18" charset="2"/>
              <a:buNone/>
            </a:pPr>
            <a:endParaRPr lang="en-US" altLang="zh-CN" sz="2400" kern="0" dirty="0" smtClean="0">
              <a:effectLst/>
            </a:endParaRPr>
          </a:p>
        </p:txBody>
      </p:sp>
    </p:spTree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 bwMode="auto">
          <a:xfrm>
            <a:off x="3525498" y="1168212"/>
            <a:ext cx="4502886" cy="67661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39938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zh-CN" smtClean="0">
                <a:effectLst/>
              </a:rPr>
              <a:t>Switch</a:t>
            </a:r>
            <a:r>
              <a:rPr lang="zh-CN" altLang="en-US" smtClean="0">
                <a:effectLst/>
              </a:rPr>
              <a:t>语句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3471378"/>
            <a:ext cx="7416824" cy="3370133"/>
          </a:xfrm>
          <a:noFill/>
        </p:spPr>
        <p:txBody>
          <a:bodyPr/>
          <a:lstStyle/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switch(</a:t>
            </a:r>
            <a:r>
              <a:rPr lang="zh-CN" altLang="en-US" sz="2400" dirty="0" smtClean="0">
                <a:effectLst/>
              </a:rPr>
              <a:t>表达式</a:t>
            </a:r>
            <a:r>
              <a:rPr lang="en-US" altLang="zh-CN" sz="2400" dirty="0" smtClean="0">
                <a:effectLst/>
              </a:rPr>
              <a:t>)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{ 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1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1; break;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2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2 ; break;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    ....…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case </a:t>
            </a:r>
            <a:r>
              <a:rPr lang="zh-CN" altLang="en-US" sz="2400" dirty="0" smtClean="0">
                <a:effectLst/>
              </a:rPr>
              <a:t>常量表达式</a:t>
            </a:r>
            <a:r>
              <a:rPr lang="en-US" altLang="zh-CN" sz="2400" dirty="0" smtClean="0">
                <a:effectLst/>
              </a:rPr>
              <a:t>n</a:t>
            </a:r>
            <a:r>
              <a:rPr lang="zh-CN" altLang="en-US" sz="2400" dirty="0" smtClean="0">
                <a:effectLst/>
              </a:rPr>
              <a:t>：语句段</a:t>
            </a:r>
            <a:r>
              <a:rPr lang="en-US" altLang="zh-CN" sz="2400" dirty="0" smtClean="0">
                <a:effectLst/>
              </a:rPr>
              <a:t>n ; break;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    default </a:t>
            </a:r>
            <a:r>
              <a:rPr lang="zh-CN" altLang="en-US" sz="2400" dirty="0" smtClean="0">
                <a:effectLst/>
              </a:rPr>
              <a:t>：                 语句段</a:t>
            </a:r>
            <a:r>
              <a:rPr lang="en-US" altLang="zh-CN" sz="2400" dirty="0" smtClean="0">
                <a:effectLst/>
              </a:rPr>
              <a:t>n+1 ;</a:t>
            </a:r>
          </a:p>
          <a:p>
            <a:pPr>
              <a:buFont typeface="Webdings" panose="05030102010509060703" pitchFamily="18" charset="2"/>
              <a:buNone/>
            </a:pPr>
            <a:r>
              <a:rPr lang="en-US" altLang="zh-CN" sz="2400" dirty="0" smtClean="0">
                <a:effectLst/>
              </a:rPr>
              <a:t>}</a:t>
            </a:r>
          </a:p>
        </p:txBody>
      </p:sp>
      <p:grpSp>
        <p:nvGrpSpPr>
          <p:cNvPr id="29" name="Group 42"/>
          <p:cNvGrpSpPr>
            <a:grpSpLocks/>
          </p:cNvGrpSpPr>
          <p:nvPr/>
        </p:nvGrpSpPr>
        <p:grpSpPr bwMode="auto">
          <a:xfrm>
            <a:off x="3288114" y="752410"/>
            <a:ext cx="5843657" cy="3108638"/>
            <a:chOff x="240" y="2000"/>
            <a:chExt cx="4948" cy="1888"/>
          </a:xfrm>
        </p:grpSpPr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996" y="2340"/>
              <a:ext cx="2048" cy="1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2 的值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441" y="2552"/>
              <a:ext cx="300" cy="6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表达式</a:t>
              </a:r>
            </a:p>
          </p:txBody>
        </p:sp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3048" y="2017"/>
              <a:ext cx="702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语句段1</a:t>
              </a:r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240" y="2826"/>
              <a:ext cx="2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3048" y="2422"/>
              <a:ext cx="7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语句段2</a:t>
              </a: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3048" y="3214"/>
              <a:ext cx="7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3048" y="3635"/>
              <a:ext cx="8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n+1</a:t>
              </a: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1017" y="2000"/>
              <a:ext cx="1972" cy="1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1 的值</a:t>
              </a:r>
            </a:p>
          </p:txBody>
        </p: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1017" y="2173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>
              <a:off x="1017" y="2496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996" y="3116"/>
              <a:ext cx="1989" cy="1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的值</a:t>
              </a:r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1017" y="3302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1055" y="3583"/>
              <a:ext cx="1755" cy="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其他</a:t>
              </a:r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1017" y="3785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1017" y="2173"/>
              <a:ext cx="0" cy="16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>
              <a:off x="725" y="2818"/>
              <a:ext cx="2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5"/>
            <p:cNvSpPr>
              <a:spLocks noChangeShapeType="1"/>
            </p:cNvSpPr>
            <p:nvPr/>
          </p:nvSpPr>
          <p:spPr bwMode="auto">
            <a:xfrm>
              <a:off x="4608" y="2160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6"/>
            <p:cNvSpPr>
              <a:spLocks noChangeArrowheads="1"/>
            </p:cNvSpPr>
            <p:nvPr/>
          </p:nvSpPr>
          <p:spPr bwMode="auto">
            <a:xfrm>
              <a:off x="4080" y="2016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 dirty="0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 dirty="0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Rectangle 28"/>
            <p:cNvSpPr>
              <a:spLocks noChangeArrowheads="1"/>
            </p:cNvSpPr>
            <p:nvPr/>
          </p:nvSpPr>
          <p:spPr bwMode="auto">
            <a:xfrm>
              <a:off x="4080" y="2386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 dirty="0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 dirty="0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4080" y="3202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1" name="Line 33"/>
            <p:cNvSpPr>
              <a:spLocks noChangeShapeType="1"/>
            </p:cNvSpPr>
            <p:nvPr/>
          </p:nvSpPr>
          <p:spPr bwMode="auto">
            <a:xfrm>
              <a:off x="3744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4"/>
            <p:cNvSpPr>
              <a:spLocks noChangeShapeType="1"/>
            </p:cNvSpPr>
            <p:nvPr/>
          </p:nvSpPr>
          <p:spPr bwMode="auto">
            <a:xfrm>
              <a:off x="3744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5"/>
            <p:cNvSpPr>
              <a:spLocks noChangeShapeType="1"/>
            </p:cNvSpPr>
            <p:nvPr/>
          </p:nvSpPr>
          <p:spPr bwMode="auto">
            <a:xfrm>
              <a:off x="3744" y="33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7"/>
            <p:cNvSpPr>
              <a:spLocks noChangeShapeType="1"/>
            </p:cNvSpPr>
            <p:nvPr/>
          </p:nvSpPr>
          <p:spPr bwMode="auto">
            <a:xfrm>
              <a:off x="4608" y="2496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38"/>
            <p:cNvSpPr>
              <a:spLocks noChangeShapeType="1"/>
            </p:cNvSpPr>
            <p:nvPr/>
          </p:nvSpPr>
          <p:spPr bwMode="auto">
            <a:xfrm>
              <a:off x="4608" y="3312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39"/>
            <p:cNvSpPr>
              <a:spLocks noChangeShapeType="1"/>
            </p:cNvSpPr>
            <p:nvPr/>
          </p:nvSpPr>
          <p:spPr bwMode="auto">
            <a:xfrm>
              <a:off x="3850" y="3744"/>
              <a:ext cx="105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40"/>
            <p:cNvSpPr>
              <a:spLocks noChangeShapeType="1"/>
            </p:cNvSpPr>
            <p:nvPr/>
          </p:nvSpPr>
          <p:spPr bwMode="auto">
            <a:xfrm>
              <a:off x="4896" y="216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41"/>
            <p:cNvSpPr>
              <a:spLocks noChangeShapeType="1"/>
            </p:cNvSpPr>
            <p:nvPr/>
          </p:nvSpPr>
          <p:spPr bwMode="auto">
            <a:xfrm>
              <a:off x="4896" y="2832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0" name="文本框 59"/>
          <p:cNvSpPr txBox="1"/>
          <p:nvPr/>
        </p:nvSpPr>
        <p:spPr>
          <a:xfrm>
            <a:off x="813113" y="2250222"/>
            <a:ext cx="2297151" cy="52322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带</a:t>
            </a:r>
            <a:r>
              <a:rPr lang="en-US" altLang="zh-CN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  <a:r>
              <a:rPr lang="zh-CN" altLang="en-US" sz="2800" b="1" dirty="0" smtClean="0">
                <a:solidFill>
                  <a:srgbClr val="0D12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</a:t>
            </a:r>
            <a:endParaRPr lang="zh-CN" altLang="en-US" sz="2800" b="1" dirty="0">
              <a:solidFill>
                <a:srgbClr val="0D12D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291197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4247F8-242D-4C75-94D9-632B8AA2603E}" type="slidenum">
              <a:rPr lang="en-US" altLang="zh-CN" sz="2600">
                <a:solidFill>
                  <a:schemeClr val="bg1"/>
                </a:solidFill>
              </a:rPr>
              <a:pPr/>
              <a:t>32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grpSp>
        <p:nvGrpSpPr>
          <p:cNvPr id="28" name="Group 42"/>
          <p:cNvGrpSpPr>
            <a:grpSpLocks/>
          </p:cNvGrpSpPr>
          <p:nvPr/>
        </p:nvGrpSpPr>
        <p:grpSpPr bwMode="auto">
          <a:xfrm>
            <a:off x="3318996" y="116632"/>
            <a:ext cx="5843657" cy="3108638"/>
            <a:chOff x="240" y="2000"/>
            <a:chExt cx="4948" cy="1888"/>
          </a:xfrm>
        </p:grpSpPr>
        <p:sp>
          <p:nvSpPr>
            <p:cNvPr id="30" name="Rectangle 4"/>
            <p:cNvSpPr>
              <a:spLocks noChangeArrowheads="1"/>
            </p:cNvSpPr>
            <p:nvPr/>
          </p:nvSpPr>
          <p:spPr bwMode="auto">
            <a:xfrm>
              <a:off x="996" y="2340"/>
              <a:ext cx="2048" cy="1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2 的值</a:t>
              </a:r>
            </a:p>
          </p:txBody>
        </p:sp>
        <p:sp>
          <p:nvSpPr>
            <p:cNvPr id="31" name="Rectangle 5"/>
            <p:cNvSpPr>
              <a:spLocks noChangeArrowheads="1"/>
            </p:cNvSpPr>
            <p:nvPr/>
          </p:nvSpPr>
          <p:spPr bwMode="auto">
            <a:xfrm>
              <a:off x="441" y="2552"/>
              <a:ext cx="300" cy="6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solidFill>
                    <a:srgbClr val="CC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表达式</a:t>
              </a:r>
            </a:p>
          </p:txBody>
        </p:sp>
        <p:sp>
          <p:nvSpPr>
            <p:cNvPr id="32" name="Rectangle 6"/>
            <p:cNvSpPr>
              <a:spLocks noChangeArrowheads="1"/>
            </p:cNvSpPr>
            <p:nvPr/>
          </p:nvSpPr>
          <p:spPr bwMode="auto">
            <a:xfrm>
              <a:off x="3048" y="2017"/>
              <a:ext cx="702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语句段1</a:t>
              </a:r>
            </a:p>
          </p:txBody>
        </p:sp>
        <p:sp>
          <p:nvSpPr>
            <p:cNvPr id="33" name="Line 7"/>
            <p:cNvSpPr>
              <a:spLocks noChangeShapeType="1"/>
            </p:cNvSpPr>
            <p:nvPr/>
          </p:nvSpPr>
          <p:spPr bwMode="auto">
            <a:xfrm>
              <a:off x="240" y="2826"/>
              <a:ext cx="2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8"/>
            <p:cNvSpPr>
              <a:spLocks noChangeArrowheads="1"/>
            </p:cNvSpPr>
            <p:nvPr/>
          </p:nvSpPr>
          <p:spPr bwMode="auto">
            <a:xfrm>
              <a:off x="3048" y="2422"/>
              <a:ext cx="7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语句段2</a:t>
              </a:r>
            </a:p>
          </p:txBody>
        </p:sp>
        <p:sp>
          <p:nvSpPr>
            <p:cNvPr id="35" name="Rectangle 9"/>
            <p:cNvSpPr>
              <a:spLocks noChangeArrowheads="1"/>
            </p:cNvSpPr>
            <p:nvPr/>
          </p:nvSpPr>
          <p:spPr bwMode="auto">
            <a:xfrm>
              <a:off x="3048" y="3214"/>
              <a:ext cx="7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</a:p>
          </p:txBody>
        </p:sp>
        <p:sp>
          <p:nvSpPr>
            <p:cNvPr id="36" name="Rectangle 10"/>
            <p:cNvSpPr>
              <a:spLocks noChangeArrowheads="1"/>
            </p:cNvSpPr>
            <p:nvPr/>
          </p:nvSpPr>
          <p:spPr bwMode="auto">
            <a:xfrm>
              <a:off x="3048" y="3635"/>
              <a:ext cx="802" cy="25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>
                  <a:latin typeface="黑体" panose="02010609060101010101" pitchFamily="49" charset="-122"/>
                  <a:ea typeface="黑体" panose="02010609060101010101" pitchFamily="49" charset="-122"/>
                </a:rPr>
                <a:t>语句段</a:t>
              </a:r>
              <a:r>
                <a:rPr lang="en-US" altLang="zh-CN" b="1">
                  <a:latin typeface="黑体" panose="02010609060101010101" pitchFamily="49" charset="-122"/>
                  <a:ea typeface="黑体" panose="02010609060101010101" pitchFamily="49" charset="-122"/>
                </a:rPr>
                <a:t>n+1</a:t>
              </a:r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1017" y="2000"/>
              <a:ext cx="1972" cy="1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1 的值</a:t>
              </a:r>
            </a:p>
          </p:txBody>
        </p: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1017" y="2173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>
              <a:off x="1017" y="2496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996" y="3116"/>
              <a:ext cx="1989" cy="1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表达式的值=常量表达式 </a:t>
              </a:r>
              <a:r>
                <a:rPr lang="en-US" altLang="zh-CN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lang="zh-CN" altLang="en-US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的值</a:t>
              </a:r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1017" y="3302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1055" y="3583"/>
              <a:ext cx="1755" cy="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其他</a:t>
              </a:r>
            </a:p>
          </p:txBody>
        </p:sp>
        <p:sp>
          <p:nvSpPr>
            <p:cNvPr id="43" name="Line 22"/>
            <p:cNvSpPr>
              <a:spLocks noChangeShapeType="1"/>
            </p:cNvSpPr>
            <p:nvPr/>
          </p:nvSpPr>
          <p:spPr bwMode="auto">
            <a:xfrm>
              <a:off x="1017" y="3785"/>
              <a:ext cx="204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3"/>
            <p:cNvSpPr>
              <a:spLocks noChangeShapeType="1"/>
            </p:cNvSpPr>
            <p:nvPr/>
          </p:nvSpPr>
          <p:spPr bwMode="auto">
            <a:xfrm>
              <a:off x="1017" y="2173"/>
              <a:ext cx="0" cy="16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4"/>
            <p:cNvSpPr>
              <a:spLocks noChangeShapeType="1"/>
            </p:cNvSpPr>
            <p:nvPr/>
          </p:nvSpPr>
          <p:spPr bwMode="auto">
            <a:xfrm>
              <a:off x="725" y="2818"/>
              <a:ext cx="2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5"/>
            <p:cNvSpPr>
              <a:spLocks noChangeShapeType="1"/>
            </p:cNvSpPr>
            <p:nvPr/>
          </p:nvSpPr>
          <p:spPr bwMode="auto">
            <a:xfrm>
              <a:off x="4608" y="2160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26"/>
            <p:cNvSpPr>
              <a:spLocks noChangeArrowheads="1"/>
            </p:cNvSpPr>
            <p:nvPr/>
          </p:nvSpPr>
          <p:spPr bwMode="auto">
            <a:xfrm>
              <a:off x="4080" y="2016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 dirty="0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 dirty="0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8" name="Rectangle 28"/>
            <p:cNvSpPr>
              <a:spLocks noChangeArrowheads="1"/>
            </p:cNvSpPr>
            <p:nvPr/>
          </p:nvSpPr>
          <p:spPr bwMode="auto">
            <a:xfrm>
              <a:off x="4080" y="2386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 dirty="0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 dirty="0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9" name="Rectangle 30"/>
            <p:cNvSpPr>
              <a:spLocks noChangeArrowheads="1"/>
            </p:cNvSpPr>
            <p:nvPr/>
          </p:nvSpPr>
          <p:spPr bwMode="auto">
            <a:xfrm>
              <a:off x="4080" y="3202"/>
              <a:ext cx="528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24000"/>
                </a:lnSpc>
              </a:pPr>
              <a:r>
                <a:rPr lang="en-US" altLang="zh-CN" b="1">
                  <a:solidFill>
                    <a:srgbClr val="F30543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break</a:t>
              </a:r>
              <a:endParaRPr lang="zh-CN" altLang="en-US" b="1">
                <a:solidFill>
                  <a:srgbClr val="F30543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0" name="Line 33"/>
            <p:cNvSpPr>
              <a:spLocks noChangeShapeType="1"/>
            </p:cNvSpPr>
            <p:nvPr/>
          </p:nvSpPr>
          <p:spPr bwMode="auto">
            <a:xfrm>
              <a:off x="3744" y="21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34"/>
            <p:cNvSpPr>
              <a:spLocks noChangeShapeType="1"/>
            </p:cNvSpPr>
            <p:nvPr/>
          </p:nvSpPr>
          <p:spPr bwMode="auto">
            <a:xfrm>
              <a:off x="3744" y="25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35"/>
            <p:cNvSpPr>
              <a:spLocks noChangeShapeType="1"/>
            </p:cNvSpPr>
            <p:nvPr/>
          </p:nvSpPr>
          <p:spPr bwMode="auto">
            <a:xfrm>
              <a:off x="3744" y="336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37"/>
            <p:cNvSpPr>
              <a:spLocks noChangeShapeType="1"/>
            </p:cNvSpPr>
            <p:nvPr/>
          </p:nvSpPr>
          <p:spPr bwMode="auto">
            <a:xfrm>
              <a:off x="4608" y="2496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38"/>
            <p:cNvSpPr>
              <a:spLocks noChangeShapeType="1"/>
            </p:cNvSpPr>
            <p:nvPr/>
          </p:nvSpPr>
          <p:spPr bwMode="auto">
            <a:xfrm>
              <a:off x="4608" y="3312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39"/>
            <p:cNvSpPr>
              <a:spLocks noChangeShapeType="1"/>
            </p:cNvSpPr>
            <p:nvPr/>
          </p:nvSpPr>
          <p:spPr bwMode="auto">
            <a:xfrm>
              <a:off x="3850" y="3744"/>
              <a:ext cx="105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40"/>
            <p:cNvSpPr>
              <a:spLocks noChangeShapeType="1"/>
            </p:cNvSpPr>
            <p:nvPr/>
          </p:nvSpPr>
          <p:spPr bwMode="auto">
            <a:xfrm>
              <a:off x="4896" y="216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41"/>
            <p:cNvSpPr>
              <a:spLocks noChangeShapeType="1"/>
            </p:cNvSpPr>
            <p:nvPr/>
          </p:nvSpPr>
          <p:spPr bwMode="auto">
            <a:xfrm>
              <a:off x="4896" y="2832"/>
              <a:ext cx="292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8" name="Rectangle 3"/>
          <p:cNvSpPr txBox="1">
            <a:spLocks noChangeArrowheads="1"/>
          </p:cNvSpPr>
          <p:nvPr/>
        </p:nvSpPr>
        <p:spPr>
          <a:xfrm>
            <a:off x="299309" y="834400"/>
            <a:ext cx="5625926" cy="5976069"/>
          </a:xfrm>
          <a:prstGeom prst="rect">
            <a:avLst/>
          </a:prstGeom>
          <a:noFill/>
        </p:spPr>
        <p:txBody>
          <a:bodyPr/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#include &lt;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stdio.h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&gt;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int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 main()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{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int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 choice;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scanf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("%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d",&amp;choice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);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switch (choice) {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1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("111\n");</a:t>
            </a:r>
            <a:r>
              <a:rPr kumimoji="1" lang="en-US" altLang="zh-CN" sz="2400" kern="0" dirty="0" smtClean="0">
                <a:solidFill>
                  <a:srgbClr val="0D12D1"/>
                </a:solidFill>
                <a:ea typeface="黑体" panose="02010609060101010101" pitchFamily="49" charset="-122"/>
              </a:rPr>
              <a:t>break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; </a:t>
            </a: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2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("222\n");</a:t>
            </a:r>
            <a:r>
              <a:rPr kumimoji="1" lang="en-US" altLang="zh-CN" sz="2400" kern="0" dirty="0">
                <a:solidFill>
                  <a:srgbClr val="0D12D1"/>
                </a:solidFill>
                <a:ea typeface="黑体" panose="02010609060101010101" pitchFamily="49" charset="-122"/>
              </a:rPr>
              <a:t>break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;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3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("333\n");</a:t>
            </a:r>
            <a:r>
              <a:rPr kumimoji="1" lang="en-US" altLang="zh-CN" sz="2400" kern="0" dirty="0">
                <a:solidFill>
                  <a:srgbClr val="0D12D1"/>
                </a:solidFill>
                <a:ea typeface="黑体" panose="02010609060101010101" pitchFamily="49" charset="-122"/>
              </a:rPr>
              <a:t>break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;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case 4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("444\n");</a:t>
            </a:r>
            <a:r>
              <a:rPr kumimoji="1" lang="en-US" altLang="zh-CN" sz="2400" kern="0" dirty="0">
                <a:solidFill>
                  <a:srgbClr val="0D12D1"/>
                </a:solidFill>
                <a:ea typeface="黑体" panose="02010609060101010101" pitchFamily="49" charset="-122"/>
              </a:rPr>
              <a:t>break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;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         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default :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 </a:t>
            </a:r>
            <a:r>
              <a:rPr kumimoji="1" lang="en-US" altLang="zh-CN" sz="2400" kern="0" dirty="0" err="1" smtClean="0">
                <a:ea typeface="黑体" panose="02010609060101010101" pitchFamily="49" charset="-122"/>
              </a:rPr>
              <a:t>printf</a:t>
            </a:r>
            <a:r>
              <a:rPr kumimoji="1" lang="en-US" altLang="zh-CN" sz="2400" kern="0" dirty="0" smtClean="0">
                <a:ea typeface="黑体" panose="02010609060101010101" pitchFamily="49" charset="-122"/>
              </a:rPr>
              <a:t>("error\n");  </a:t>
            </a:r>
            <a:endParaRPr kumimoji="1" lang="en-US" altLang="zh-CN" sz="2400" kern="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marL="0" indent="0">
              <a:buFont typeface="Webdings" panose="05030102010509060703" pitchFamily="18" charset="2"/>
              <a:buNone/>
            </a:pPr>
            <a:r>
              <a:rPr kumimoji="1" lang="en-US" altLang="zh-CN" sz="2400" kern="0" dirty="0" smtClean="0">
                <a:ea typeface="黑体" panose="02010609060101010101" pitchFamily="49" charset="-122"/>
              </a:rPr>
              <a:t>	</a:t>
            </a:r>
            <a:r>
              <a:rPr kumimoji="1" lang="en-US" altLang="zh-CN" sz="2400" kern="0" dirty="0" smtClean="0">
                <a:solidFill>
                  <a:srgbClr val="EF2A09"/>
                </a:solidFill>
                <a:ea typeface="黑体" panose="02010609060101010101" pitchFamily="49" charset="-122"/>
              </a:rPr>
              <a:t>}</a:t>
            </a:r>
          </a:p>
          <a:p>
            <a:pPr marL="0" indent="0">
              <a:buNone/>
            </a:pPr>
            <a:r>
              <a:rPr kumimoji="1" lang="en-US" altLang="zh-CN" sz="2400" kern="0" dirty="0">
                <a:ea typeface="黑体" panose="02010609060101010101" pitchFamily="49" charset="-122"/>
              </a:rPr>
              <a:t>}</a:t>
            </a:r>
          </a:p>
          <a:p>
            <a:pPr>
              <a:buFont typeface="Webdings" panose="05030102010509060703" pitchFamily="18" charset="2"/>
              <a:buNone/>
            </a:pPr>
            <a:endParaRPr lang="en-US" altLang="zh-CN" sz="2400" kern="0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59875223"/>
      </p:ext>
    </p:extLst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AutoShape 2"/>
          <p:cNvSpPr>
            <a:spLocks noGrp="1" noChangeArrowheads="1"/>
          </p:cNvSpPr>
          <p:nvPr>
            <p:ph type="title"/>
          </p:nvPr>
        </p:nvSpPr>
        <p:spPr>
          <a:xfrm>
            <a:off x="0" y="149667"/>
            <a:ext cx="7924800" cy="784225"/>
          </a:xfrm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输出学生成绩等第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81075"/>
            <a:ext cx="7993063" cy="5876925"/>
          </a:xfrm>
          <a:noFill/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#include &lt;</a:t>
            </a:r>
            <a:r>
              <a:rPr lang="en-US" altLang="zh-CN" sz="2000" dirty="0" err="1" smtClean="0">
                <a:effectLst/>
              </a:rPr>
              <a:t>stdio.h</a:t>
            </a:r>
            <a:r>
              <a:rPr lang="en-US" altLang="zh-CN" sz="2000" dirty="0" smtClean="0">
                <a:effectLst/>
              </a:rPr>
              <a:t>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err="1" smtClean="0">
                <a:effectLst/>
              </a:rPr>
              <a:t>int</a:t>
            </a:r>
            <a:r>
              <a:rPr lang="en-US" altLang="zh-CN" sz="2000" dirty="0" smtClean="0">
                <a:effectLst/>
              </a:rPr>
              <a:t> main()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</a:t>
            </a:r>
            <a:r>
              <a:rPr lang="en-US" altLang="zh-CN" sz="2000" dirty="0" err="1" smtClean="0">
                <a:effectLst/>
              </a:rPr>
              <a:t>int</a:t>
            </a:r>
            <a:r>
              <a:rPr lang="en-US" altLang="zh-CN" sz="2000" dirty="0" smtClean="0">
                <a:effectLst/>
              </a:rPr>
              <a:t> score;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</a:t>
            </a:r>
            <a:r>
              <a:rPr lang="en-US" altLang="zh-CN" sz="2000" dirty="0" err="1" smtClean="0">
                <a:effectLst/>
              </a:rPr>
              <a:t>printf</a:t>
            </a:r>
            <a:r>
              <a:rPr lang="en-US" altLang="zh-CN" sz="2000" dirty="0" smtClean="0">
                <a:effectLst/>
              </a:rPr>
              <a:t>("Enter a score:");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</a:t>
            </a:r>
            <a:r>
              <a:rPr lang="en-US" altLang="zh-CN" sz="2000" dirty="0" err="1" smtClean="0">
                <a:effectLst/>
              </a:rPr>
              <a:t>scanf</a:t>
            </a:r>
            <a:r>
              <a:rPr lang="en-US" altLang="zh-CN" sz="2000" dirty="0" smtClean="0">
                <a:effectLst/>
              </a:rPr>
              <a:t>("%</a:t>
            </a:r>
            <a:r>
              <a:rPr lang="en-US" altLang="zh-CN" sz="2000" dirty="0" err="1" smtClean="0">
                <a:effectLst/>
              </a:rPr>
              <a:t>d",&amp;score</a:t>
            </a:r>
            <a:r>
              <a:rPr lang="en-US" altLang="zh-CN" sz="2000" dirty="0" smtClean="0">
                <a:effectLst/>
              </a:rPr>
              <a:t>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switch(score/10)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case 6: </a:t>
            </a:r>
            <a:r>
              <a:rPr lang="en-US" altLang="zh-CN" sz="2000" dirty="0" err="1" smtClean="0">
                <a:effectLst/>
              </a:rPr>
              <a:t>printf</a:t>
            </a:r>
            <a:r>
              <a:rPr lang="en-US" altLang="zh-CN" sz="2000" dirty="0" smtClean="0">
                <a:effectLst/>
              </a:rPr>
              <a:t>("D\n");break;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case 7: </a:t>
            </a:r>
            <a:r>
              <a:rPr lang="en-US" altLang="zh-CN" sz="2000" dirty="0" err="1" smtClean="0">
                <a:effectLst/>
              </a:rPr>
              <a:t>printf</a:t>
            </a:r>
            <a:r>
              <a:rPr lang="en-US" altLang="zh-CN" sz="2000" dirty="0" smtClean="0">
                <a:effectLst/>
              </a:rPr>
              <a:t>("C\n");break;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case 8: </a:t>
            </a:r>
            <a:r>
              <a:rPr lang="en-US" altLang="zh-CN" sz="2000" dirty="0" err="1" smtClean="0">
                <a:effectLst/>
              </a:rPr>
              <a:t>printf</a:t>
            </a:r>
            <a:r>
              <a:rPr lang="en-US" altLang="zh-CN" sz="2000" dirty="0" smtClean="0">
                <a:effectLst/>
              </a:rPr>
              <a:t>("B\n");break;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</a:t>
            </a:r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case 9</a:t>
            </a:r>
            <a:r>
              <a:rPr lang="en-US" altLang="zh-CN" sz="2000" dirty="0" smtClean="0">
                <a:effectLst/>
              </a:rPr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</a:t>
            </a:r>
            <a:r>
              <a:rPr lang="en-US" altLang="zh-CN" sz="2000" dirty="0" smtClean="0">
                <a:solidFill>
                  <a:srgbClr val="FF0000"/>
                </a:solidFill>
                <a:effectLst/>
              </a:rPr>
              <a:t>case 10</a:t>
            </a:r>
            <a:r>
              <a:rPr lang="en-US" altLang="zh-CN" sz="2000" dirty="0" smtClean="0">
                <a:effectLst/>
              </a:rPr>
              <a:t>:printf("A\n");break;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	</a:t>
            </a:r>
            <a:r>
              <a:rPr lang="en-US" altLang="zh-CN" sz="2000" dirty="0" err="1" smtClean="0">
                <a:effectLst/>
              </a:rPr>
              <a:t>default:printf</a:t>
            </a:r>
            <a:r>
              <a:rPr lang="en-US" altLang="zh-CN" sz="2000" dirty="0" smtClean="0">
                <a:effectLst/>
              </a:rPr>
              <a:t>("E\n");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	return 0;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000" dirty="0" smtClean="0">
                <a:effectLst/>
              </a:rPr>
              <a:t>}</a:t>
            </a:r>
          </a:p>
          <a:p>
            <a:pPr>
              <a:lnSpc>
                <a:spcPct val="90000"/>
              </a:lnSpc>
            </a:pPr>
            <a:endParaRPr lang="zh-CN" altLang="en-US" sz="2000" dirty="0" smtClean="0">
              <a:effectLst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788024" y="303459"/>
            <a:ext cx="4092213" cy="3072384"/>
            <a:chOff x="4788024" y="303459"/>
            <a:chExt cx="4092213" cy="3072384"/>
          </a:xfrm>
        </p:grpSpPr>
        <p:sp>
          <p:nvSpPr>
            <p:cNvPr id="49" name="Line 18"/>
            <p:cNvSpPr>
              <a:spLocks noChangeShapeType="1"/>
            </p:cNvSpPr>
            <p:nvPr/>
          </p:nvSpPr>
          <p:spPr bwMode="auto">
            <a:xfrm>
              <a:off x="6872950" y="2294393"/>
              <a:ext cx="3306" cy="21100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" name="组合 55"/>
            <p:cNvGrpSpPr/>
            <p:nvPr/>
          </p:nvGrpSpPr>
          <p:grpSpPr>
            <a:xfrm>
              <a:off x="4788024" y="303459"/>
              <a:ext cx="4092213" cy="3072384"/>
              <a:chOff x="5289282" y="303459"/>
              <a:chExt cx="4092213" cy="3072384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5289282" y="303459"/>
                <a:ext cx="4092213" cy="3072384"/>
                <a:chOff x="5289282" y="303459"/>
                <a:chExt cx="4092213" cy="3072384"/>
              </a:xfrm>
            </p:grpSpPr>
            <p:sp>
              <p:nvSpPr>
                <p:cNvPr id="45" name="Rectangle 16"/>
                <p:cNvSpPr>
                  <a:spLocks noChangeArrowheads="1"/>
                </p:cNvSpPr>
                <p:nvPr/>
              </p:nvSpPr>
              <p:spPr bwMode="auto">
                <a:xfrm>
                  <a:off x="6588224" y="2420890"/>
                  <a:ext cx="377924" cy="230513"/>
                </a:xfrm>
                <a:prstGeom prst="rect">
                  <a:avLst/>
                </a:prstGeom>
                <a:noFill/>
                <a:ln>
                  <a:noFill/>
                </a:ln>
                <a:extLst/>
              </p:spPr>
              <p:txBody>
                <a:bodyPr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24000"/>
                    </a:lnSpc>
                  </a:pPr>
                  <a:r>
                    <a:rPr lang="en-US" altLang="zh-CN" b="1" dirty="0" smtClean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10</a:t>
                  </a:r>
                  <a:endParaRPr lang="zh-CN" altLang="en-US" b="1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  <p:grpSp>
              <p:nvGrpSpPr>
                <p:cNvPr id="54" name="组合 53"/>
                <p:cNvGrpSpPr/>
                <p:nvPr/>
              </p:nvGrpSpPr>
              <p:grpSpPr>
                <a:xfrm>
                  <a:off x="5289282" y="303459"/>
                  <a:ext cx="4092213" cy="3072384"/>
                  <a:chOff x="5289282" y="303459"/>
                  <a:chExt cx="4092213" cy="3072384"/>
                </a:xfrm>
              </p:grpSpPr>
              <p:sp>
                <p:nvSpPr>
                  <p:cNvPr id="35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6592873" y="788174"/>
                    <a:ext cx="377924" cy="2305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lnSpc>
                        <a:spcPct val="124000"/>
                      </a:lnSpc>
                    </a:pPr>
                    <a:r>
                      <a:rPr lang="en-US" altLang="zh-CN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7</a:t>
                    </a:r>
                    <a:endPara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37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6609186" y="1345797"/>
                    <a:ext cx="377924" cy="2305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lnSpc>
                        <a:spcPct val="124000"/>
                      </a:lnSpc>
                    </a:pPr>
                    <a:r>
                      <a:rPr lang="en-US" altLang="zh-CN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8</a:t>
                    </a:r>
                    <a:endPara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sp>
                <p:nvSpPr>
                  <p:cNvPr id="44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6626370" y="1853150"/>
                    <a:ext cx="377924" cy="2305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lnSpc>
                        <a:spcPct val="124000"/>
                      </a:lnSpc>
                    </a:pPr>
                    <a:r>
                      <a:rPr lang="en-US" altLang="zh-CN" b="1" dirty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9</a:t>
                    </a:r>
                    <a:endPara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  <p:grpSp>
                <p:nvGrpSpPr>
                  <p:cNvPr id="53" name="组合 52"/>
                  <p:cNvGrpSpPr/>
                  <p:nvPr/>
                </p:nvGrpSpPr>
                <p:grpSpPr>
                  <a:xfrm>
                    <a:off x="5289282" y="303459"/>
                    <a:ext cx="4092213" cy="3072384"/>
                    <a:chOff x="5289282" y="303459"/>
                    <a:chExt cx="4092213" cy="3072384"/>
                  </a:xfrm>
                </p:grpSpPr>
                <p:grpSp>
                  <p:nvGrpSpPr>
                    <p:cNvPr id="5" name="Group 4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5289282" y="303459"/>
                      <a:ext cx="4092213" cy="2912702"/>
                      <a:chOff x="1579" y="2026"/>
                      <a:chExt cx="3465" cy="1769"/>
                    </a:xfrm>
                  </p:grpSpPr>
                  <p:sp>
                    <p:nvSpPr>
                      <p:cNvPr id="7" name="Rectangle 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1780" y="2719"/>
                        <a:ext cx="300" cy="64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>
                          <a:lnSpc>
                            <a:spcPct val="124000"/>
                          </a:lnSpc>
                        </a:pPr>
                        <a:endParaRPr lang="en-US" altLang="zh-CN" b="1" dirty="0" smtClean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endParaRPr>
                      </a:p>
                      <a:p>
                        <a:pPr algn="ctr">
                          <a:lnSpc>
                            <a:spcPct val="124000"/>
                          </a:lnSpc>
                        </a:pPr>
                        <a:r>
                          <a:rPr lang="zh-CN" altLang="en-US" b="1" dirty="0" smtClean="0">
                            <a:solidFill>
                              <a:srgbClr val="CC3300"/>
                            </a:solidFill>
                            <a:latin typeface="Times New Roman" panose="02020603050405020304" pitchFamily="18" charset="0"/>
                            <a:ea typeface="黑体" panose="02010609060101010101" pitchFamily="49" charset="-122"/>
                          </a:rPr>
                          <a:t>成绩</a:t>
                        </a:r>
                        <a:endParaRPr lang="zh-CN" altLang="en-US" b="1" dirty="0">
                          <a:solidFill>
                            <a:srgbClr val="CC33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8" name="Rectangle 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48" y="2068"/>
                        <a:ext cx="545" cy="19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ctr">
                          <a:lnSpc>
                            <a:spcPct val="124000"/>
                          </a:lnSpc>
                        </a:pPr>
                        <a:r>
                          <a:rPr lang="zh-CN" altLang="en-US" b="1" dirty="0" smtClean="0"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输出</a:t>
                        </a:r>
                        <a:r>
                          <a:rPr lang="en-US" altLang="zh-CN" b="1" dirty="0" smtClean="0"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D</a:t>
                        </a:r>
                        <a:endPara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9" name="Line 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1579" y="2993"/>
                        <a:ext cx="20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3" name="Rectangle 1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665" y="2026"/>
                        <a:ext cx="320" cy="1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>
                          <a:lnSpc>
                            <a:spcPct val="124000"/>
                          </a:lnSpc>
                        </a:pPr>
                        <a:r>
                          <a:rPr lang="en-US" altLang="zh-CN" b="1" dirty="0" smtClean="0"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6</a:t>
                        </a:r>
                        <a:endParaRPr lang="zh-CN" altLang="en-US" b="1" dirty="0"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14" name="Line 1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2173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5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2496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19" name="Line 22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3785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0" name="Line 2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2173"/>
                        <a:ext cx="0" cy="1612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1" name="Line 2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080" y="2985"/>
                        <a:ext cx="2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2" name="Line 2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72" y="2171"/>
                        <a:ext cx="292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3" name="Rectangle 26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44" y="2054"/>
                        <a:ext cx="528" cy="20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>
                          <a:lnSpc>
                            <a:spcPct val="124000"/>
                          </a:lnSpc>
                        </a:pPr>
                        <a:r>
                          <a:rPr lang="en-US" altLang="zh-CN" b="1" dirty="0">
                            <a:solidFill>
                              <a:srgbClr val="F30543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break</a:t>
                        </a:r>
                        <a:endParaRPr lang="zh-CN" altLang="en-US" b="1" dirty="0">
                          <a:solidFill>
                            <a:srgbClr val="F3054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4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64" y="2384"/>
                        <a:ext cx="528" cy="19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>
                          <a:lnSpc>
                            <a:spcPct val="124000"/>
                          </a:lnSpc>
                        </a:pPr>
                        <a:r>
                          <a:rPr lang="en-US" altLang="zh-CN" b="1" dirty="0">
                            <a:solidFill>
                              <a:srgbClr val="F30543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break</a:t>
                        </a:r>
                        <a:endParaRPr lang="zh-CN" altLang="en-US" b="1" dirty="0">
                          <a:solidFill>
                            <a:srgbClr val="F3054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26" name="Line 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593" y="2171"/>
                        <a:ext cx="33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7" name="Line 3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23" y="2494"/>
                        <a:ext cx="33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8" name="Line 35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28" y="3440"/>
                        <a:ext cx="33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29" name="Line 3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92" y="2494"/>
                        <a:ext cx="260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0" name="Line 3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508" y="3444"/>
                        <a:ext cx="256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1" name="Line 39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06" y="3795"/>
                        <a:ext cx="1146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3" name="Line 41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752" y="3100"/>
                        <a:ext cx="292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38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2818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0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60" y="2719"/>
                        <a:ext cx="528" cy="19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>
                          <a:lnSpc>
                            <a:spcPct val="124000"/>
                          </a:lnSpc>
                        </a:pPr>
                        <a:r>
                          <a:rPr lang="en-US" altLang="zh-CN" b="1" dirty="0">
                            <a:solidFill>
                              <a:srgbClr val="F30543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break</a:t>
                        </a:r>
                        <a:endParaRPr lang="zh-CN" altLang="en-US" b="1" dirty="0">
                          <a:solidFill>
                            <a:srgbClr val="F3054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  <p:sp>
                    <p:nvSpPr>
                      <p:cNvPr id="41" name="Line 34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3619" y="2829"/>
                        <a:ext cx="336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2" name="Line 37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488" y="2817"/>
                        <a:ext cx="264" cy="0"/>
                      </a:xfrm>
                      <a:prstGeom prst="line">
                        <a:avLst/>
                      </a:prstGeom>
                      <a:noFill/>
                      <a:ln w="63500">
                        <a:solidFill>
                          <a:srgbClr val="FF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3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3137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46" name="Line 18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374" y="3452"/>
                        <a:ext cx="691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 type="triangle" w="med" len="med"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50" name="Rectangle 2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969" y="3347"/>
                        <a:ext cx="528" cy="19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>
                        <a:lvl1pPr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1pPr>
                        <a:lvl2pPr marL="742950" indent="-28575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2pPr>
                        <a:lvl3pPr marL="11430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3pPr>
                        <a:lvl4pPr marL="16002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4pPr>
                        <a:lvl5pPr marL="2057400" indent="-228600" eaLnBrk="0" hangingPunct="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宋体" panose="02010600030101010101" pitchFamily="2" charset="-122"/>
                          </a:defRPr>
                        </a:lvl9pPr>
                      </a:lstStyle>
                      <a:p>
                        <a:pPr algn="just">
                          <a:lnSpc>
                            <a:spcPct val="124000"/>
                          </a:lnSpc>
                        </a:pPr>
                        <a:r>
                          <a:rPr lang="en-US" altLang="zh-CN" b="1" dirty="0">
                            <a:solidFill>
                              <a:srgbClr val="F30543"/>
                            </a:solidFill>
                            <a:latin typeface="黑体" panose="02010609060101010101" pitchFamily="49" charset="-122"/>
                            <a:ea typeface="黑体" panose="02010609060101010101" pitchFamily="49" charset="-122"/>
                          </a:rPr>
                          <a:t>break</a:t>
                        </a:r>
                        <a:endParaRPr lang="zh-CN" altLang="en-US" b="1" dirty="0">
                          <a:solidFill>
                            <a:srgbClr val="F3054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endParaRPr>
                      </a:p>
                    </p:txBody>
                  </p:sp>
                </p:grpSp>
                <p:sp>
                  <p:nvSpPr>
                    <p:cNvPr id="36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48523" y="914463"/>
                      <a:ext cx="643653" cy="31942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24000"/>
                        </a:lnSpc>
                      </a:pPr>
                      <a:r>
                        <a:rPr lang="zh-CN" altLang="en-US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39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48523" y="1456313"/>
                      <a:ext cx="643653" cy="31942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24000"/>
                        </a:lnSpc>
                      </a:pPr>
                      <a:r>
                        <a:rPr lang="zh-CN" altLang="en-US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7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57299" y="2491690"/>
                      <a:ext cx="643653" cy="31942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24000"/>
                        </a:lnSpc>
                      </a:pPr>
                      <a:r>
                        <a:rPr lang="zh-CN" altLang="en-US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48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38954" y="1974967"/>
                      <a:ext cx="643653" cy="31942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24000"/>
                        </a:lnSpc>
                      </a:pP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p:txBody>
                </p:sp>
                <p:sp>
                  <p:nvSpPr>
                    <p:cNvPr id="51" name="Rectangle 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7048523" y="3056417"/>
                      <a:ext cx="643653" cy="319426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>
                        <a:lnSpc>
                          <a:spcPct val="124000"/>
                        </a:lnSpc>
                      </a:pPr>
                      <a:r>
                        <a:rPr lang="zh-CN" altLang="en-US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输出</a:t>
                      </a:r>
                      <a:r>
                        <a:rPr lang="en-US" altLang="zh-CN" b="1" dirty="0" smtClean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E</a:t>
                      </a:r>
                      <a:endParaRPr lang="zh-CN" altLang="en-US" b="1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p:txBody>
                </p:sp>
              </p:grpSp>
              <p:sp>
                <p:nvSpPr>
                  <p:cNvPr id="52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6437890" y="2922795"/>
                    <a:ext cx="515793" cy="247262"/>
                  </a:xfrm>
                  <a:prstGeom prst="rect">
                    <a:avLst/>
                  </a:prstGeom>
                  <a:noFill/>
                  <a:ln>
                    <a:noFill/>
                  </a:ln>
                  <a:extLst/>
                </p:spPr>
                <p:txBody>
                  <a:bodyPr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lnSpc>
                        <a:spcPct val="124000"/>
                      </a:lnSpc>
                    </a:pPr>
                    <a:r>
                      <a:rPr lang="zh-CN" altLang="en-US" b="1" dirty="0" smtClean="0">
                        <a:latin typeface="黑体" panose="02010609060101010101" pitchFamily="49" charset="-122"/>
                        <a:ea typeface="黑体" panose="02010609060101010101" pitchFamily="49" charset="-122"/>
                      </a:rPr>
                      <a:t>其他</a:t>
                    </a:r>
                    <a:endParaRPr lang="zh-CN" altLang="en-US" b="1" dirty="0">
                      <a:latin typeface="黑体" panose="02010609060101010101" pitchFamily="49" charset="-122"/>
                      <a:ea typeface="黑体" panose="02010609060101010101" pitchFamily="49" charset="-122"/>
                    </a:endParaRPr>
                  </a:p>
                </p:txBody>
              </p:sp>
            </p:grpSp>
          </p:grpSp>
          <p:cxnSp>
            <p:nvCxnSpPr>
              <p:cNvPr id="3" name="直接连接符 2"/>
              <p:cNvCxnSpPr/>
              <p:nvPr/>
            </p:nvCxnSpPr>
            <p:spPr bwMode="auto">
              <a:xfrm>
                <a:off x="9036496" y="548680"/>
                <a:ext cx="0" cy="266856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49" y="765175"/>
            <a:ext cx="8388351" cy="784225"/>
          </a:xfrm>
          <a:noFill/>
        </p:spPr>
        <p:txBody>
          <a:bodyPr/>
          <a:lstStyle/>
          <a:p>
            <a:r>
              <a:rPr lang="zh-CN" altLang="en-US" sz="3200" dirty="0" smtClean="0">
                <a:effectLst/>
              </a:rPr>
              <a:t>编写程序逆序输出一个整数（</a:t>
            </a:r>
            <a:r>
              <a:rPr lang="en-US" altLang="zh-CN" sz="3200" dirty="0" smtClean="0">
                <a:effectLst/>
              </a:rPr>
              <a:t>3</a:t>
            </a:r>
            <a:r>
              <a:rPr lang="zh-CN" altLang="en-US" sz="3200" dirty="0" smtClean="0">
                <a:effectLst/>
              </a:rPr>
              <a:t>位数或以下）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700213"/>
            <a:ext cx="7776864" cy="5041900"/>
          </a:xfrm>
          <a:noFill/>
        </p:spPr>
        <p:txBody>
          <a:bodyPr/>
          <a:lstStyle/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#include &lt;</a:t>
            </a:r>
            <a:r>
              <a:rPr lang="en-US" altLang="zh-CN" sz="1600" dirty="0" err="1" smtClean="0">
                <a:effectLst/>
              </a:rPr>
              <a:t>stdio.h</a:t>
            </a:r>
            <a:r>
              <a:rPr lang="en-US" altLang="zh-CN" sz="1600" dirty="0" smtClean="0">
                <a:effectLst/>
              </a:rPr>
              <a:t>&gt;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err="1" smtClean="0">
                <a:effectLst/>
              </a:rPr>
              <a:t>int</a:t>
            </a:r>
            <a:r>
              <a:rPr lang="en-US" altLang="zh-CN" sz="1600" dirty="0" smtClean="0">
                <a:effectLst/>
              </a:rPr>
              <a:t> main()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{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</a:t>
            </a:r>
            <a:r>
              <a:rPr lang="en-US" altLang="zh-CN" sz="1600" dirty="0" err="1" smtClean="0">
                <a:effectLst/>
              </a:rPr>
              <a:t>int</a:t>
            </a:r>
            <a:r>
              <a:rPr lang="en-US" altLang="zh-CN" sz="1600" dirty="0" smtClean="0">
                <a:effectLst/>
              </a:rPr>
              <a:t> </a:t>
            </a:r>
            <a:r>
              <a:rPr lang="en-US" altLang="zh-CN" sz="1600" dirty="0" err="1" smtClean="0">
                <a:effectLst/>
              </a:rPr>
              <a:t>a,n</a:t>
            </a:r>
            <a:r>
              <a:rPr lang="en-US" altLang="zh-CN" sz="1600" dirty="0" smtClean="0">
                <a:effectLst/>
              </a:rPr>
              <a:t>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</a:t>
            </a:r>
            <a:r>
              <a:rPr lang="en-US" altLang="zh-CN" sz="1600" dirty="0" err="1" smtClean="0">
                <a:effectLst/>
              </a:rPr>
              <a:t>scanf</a:t>
            </a:r>
            <a:r>
              <a:rPr lang="en-US" altLang="zh-CN" sz="1600" dirty="0" smtClean="0">
                <a:effectLst/>
              </a:rPr>
              <a:t>("%</a:t>
            </a:r>
            <a:r>
              <a:rPr lang="en-US" altLang="zh-CN" sz="1600" dirty="0" err="1" smtClean="0">
                <a:effectLst/>
              </a:rPr>
              <a:t>d",&amp;a</a:t>
            </a:r>
            <a:r>
              <a:rPr lang="en-US" altLang="zh-CN" sz="1600" dirty="0" smtClean="0">
                <a:effectLst/>
              </a:rPr>
              <a:t>);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if(a&gt;0 &amp;&amp; a&lt;=999)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{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n=a&lt;10?1:a&lt;100?2:a&lt;1000?3:0;                          //</a:t>
            </a:r>
            <a:r>
              <a:rPr lang="zh-CN" altLang="en-US" sz="1600" dirty="0" smtClean="0">
                <a:effectLst/>
              </a:rPr>
              <a:t>求</a:t>
            </a:r>
            <a:r>
              <a:rPr lang="en-US" altLang="zh-CN" sz="1600" dirty="0" smtClean="0">
                <a:effectLst/>
              </a:rPr>
              <a:t>n</a:t>
            </a:r>
            <a:r>
              <a:rPr lang="zh-CN" altLang="en-US" sz="1600" dirty="0" smtClean="0">
                <a:effectLst/>
              </a:rPr>
              <a:t>的位数</a:t>
            </a:r>
            <a:endParaRPr lang="en-US" altLang="zh-CN" sz="1600" dirty="0" smtClean="0">
              <a:effectLst/>
            </a:endParaRP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switch(n)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{</a:t>
            </a:r>
          </a:p>
          <a:p>
            <a:pPr>
              <a:lnSpc>
                <a:spcPct val="80000"/>
              </a:lnSpc>
              <a:buNone/>
            </a:pPr>
            <a:r>
              <a:rPr lang="en-US" altLang="zh-CN" sz="1600" dirty="0" smtClean="0">
                <a:effectLst/>
              </a:rPr>
              <a:t>	        case  3:printf(“%d”,a%10);a=a/10</a:t>
            </a:r>
            <a:r>
              <a:rPr lang="en-US" altLang="zh-CN" sz="1600" dirty="0">
                <a:effectLst/>
              </a:rPr>
              <a:t>; </a:t>
            </a:r>
            <a:r>
              <a:rPr lang="en-US" altLang="zh-CN" sz="1600" dirty="0" smtClean="0">
                <a:effectLst/>
              </a:rPr>
              <a:t>                  //</a:t>
            </a:r>
            <a:r>
              <a:rPr lang="zh-CN" altLang="en-US" sz="1600" dirty="0" smtClean="0">
                <a:effectLst/>
              </a:rPr>
              <a:t>求百位数，输出</a:t>
            </a:r>
            <a:endParaRPr lang="en-US" altLang="zh-CN" sz="1600" dirty="0" smtClean="0">
              <a:effectLst/>
            </a:endParaRP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   case  2:printf(“%d”,a%10);a=a/10;                   //</a:t>
            </a:r>
            <a:r>
              <a:rPr lang="zh-CN" altLang="en-US" sz="1600" dirty="0" smtClean="0">
                <a:effectLst/>
              </a:rPr>
              <a:t>求十位数，输出</a:t>
            </a:r>
            <a:endParaRPr lang="en-US" altLang="zh-CN" sz="1600" dirty="0" smtClean="0">
              <a:effectLst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1600" dirty="0" smtClean="0">
                <a:effectLst/>
              </a:rPr>
              <a:t>	        case  1:printf(“%d\n”,a%10</a:t>
            </a:r>
            <a:r>
              <a:rPr lang="en-US" altLang="zh-CN" sz="1600" dirty="0">
                <a:effectLst/>
              </a:rPr>
              <a:t>); </a:t>
            </a:r>
            <a:r>
              <a:rPr lang="en-US" altLang="zh-CN" sz="1600" dirty="0" smtClean="0">
                <a:effectLst/>
              </a:rPr>
              <a:t>                           //</a:t>
            </a:r>
            <a:r>
              <a:rPr lang="zh-CN" altLang="en-US" sz="1600" dirty="0" smtClean="0">
                <a:effectLst/>
              </a:rPr>
              <a:t>求个位数</a:t>
            </a:r>
            <a:r>
              <a:rPr lang="zh-CN" altLang="en-US" sz="1600" dirty="0">
                <a:effectLst/>
              </a:rPr>
              <a:t>，</a:t>
            </a:r>
            <a:r>
              <a:rPr lang="zh-CN" altLang="en-US" sz="1600" dirty="0" smtClean="0">
                <a:effectLst/>
              </a:rPr>
              <a:t>输出</a:t>
            </a:r>
            <a:endParaRPr lang="en-US" altLang="zh-CN" sz="1600" dirty="0" smtClean="0">
              <a:effectLst/>
            </a:endParaRP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 }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}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else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   </a:t>
            </a:r>
            <a:r>
              <a:rPr lang="en-US" altLang="zh-CN" sz="1600" dirty="0" err="1" smtClean="0">
                <a:effectLst/>
              </a:rPr>
              <a:t>printf</a:t>
            </a:r>
            <a:r>
              <a:rPr lang="en-US" altLang="zh-CN" sz="1600" dirty="0" smtClean="0">
                <a:effectLst/>
              </a:rPr>
              <a:t>("The number is not a valid </a:t>
            </a:r>
            <a:r>
              <a:rPr lang="en-US" altLang="zh-CN" sz="1600" dirty="0" err="1" smtClean="0">
                <a:effectLst/>
              </a:rPr>
              <a:t>num</a:t>
            </a:r>
            <a:r>
              <a:rPr lang="en-US" altLang="zh-CN" sz="1600" dirty="0" smtClean="0">
                <a:effectLst/>
              </a:rPr>
              <a:t>!\n");	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	  return 0;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600" dirty="0" smtClean="0">
                <a:effectLst/>
              </a:rPr>
              <a:t>}</a:t>
            </a:r>
          </a:p>
          <a:p>
            <a:pPr>
              <a:lnSpc>
                <a:spcPct val="80000"/>
              </a:lnSpc>
            </a:pPr>
            <a:endParaRPr lang="zh-CN" altLang="en-US" sz="1600" dirty="0" smtClean="0">
              <a:effectLst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zh-CN" altLang="en-US" dirty="0" smtClean="0">
                <a:effectLst/>
              </a:rPr>
              <a:t>用</a:t>
            </a:r>
            <a:r>
              <a:rPr lang="en-US" altLang="zh-CN" dirty="0" smtClean="0">
                <a:effectLst/>
              </a:rPr>
              <a:t>switch</a:t>
            </a:r>
            <a:r>
              <a:rPr lang="zh-CN" altLang="en-US" dirty="0" smtClean="0">
                <a:effectLst/>
              </a:rPr>
              <a:t>编写处理四则运算的程序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3600" dirty="0" smtClean="0">
                <a:solidFill>
                  <a:srgbClr val="FF0000"/>
                </a:solidFill>
                <a:ea typeface="黑体" panose="02010609060101010101" pitchFamily="49" charset="-122"/>
              </a:rPr>
              <a:t>3-9</a:t>
            </a:r>
            <a:r>
              <a:rPr lang="zh-CN" altLang="en-US" sz="3600" dirty="0" smtClean="0">
                <a:ea typeface="黑体" panose="02010609060101010101" pitchFamily="49" charset="-122"/>
              </a:rPr>
              <a:t>：输入一个形式如“操作数 运算符 操作数”的四则运算表达式，输出运算结果。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600" dirty="0" smtClean="0">
                <a:solidFill>
                  <a:srgbClr val="3333FF"/>
                </a:solidFill>
                <a:ea typeface="黑体" panose="02010609060101010101" pitchFamily="49" charset="-122"/>
              </a:rPr>
              <a:t>  要求使用</a:t>
            </a:r>
            <a:r>
              <a:rPr lang="en-US" altLang="zh-CN" sz="3600" dirty="0" smtClean="0">
                <a:solidFill>
                  <a:srgbClr val="3333FF"/>
                </a:solidFill>
                <a:ea typeface="黑体" panose="02010609060101010101" pitchFamily="49" charset="-122"/>
              </a:rPr>
              <a:t>switch</a:t>
            </a:r>
            <a:r>
              <a:rPr lang="zh-CN" altLang="en-US" sz="3600" dirty="0" smtClean="0">
                <a:solidFill>
                  <a:srgbClr val="3333FF"/>
                </a:solidFill>
                <a:ea typeface="黑体" panose="02010609060101010101" pitchFamily="49" charset="-122"/>
              </a:rPr>
              <a:t>语句编写。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360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  <a:p>
            <a:pPr algn="ctr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600" dirty="0" smtClean="0">
                <a:solidFill>
                  <a:srgbClr val="3333FF"/>
                </a:solidFill>
                <a:ea typeface="黑体" panose="02010609060101010101" pitchFamily="49" charset="-122"/>
              </a:rPr>
              <a:t>P52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3600" dirty="0" smtClean="0">
              <a:solidFill>
                <a:srgbClr val="3333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67544" y="116632"/>
            <a:ext cx="7993062" cy="6408712"/>
          </a:xfrm>
          <a:prstGeom prst="rect">
            <a:avLst/>
          </a:prstGeom>
          <a:noFill/>
        </p:spPr>
        <p:txBody>
          <a:bodyPr/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#include &lt;</a:t>
            </a:r>
            <a:r>
              <a:rPr lang="en-US" altLang="zh-CN" sz="1900" kern="0" dirty="0" err="1" smtClean="0">
                <a:effectLst/>
              </a:rPr>
              <a:t>stdio.h</a:t>
            </a:r>
            <a:r>
              <a:rPr lang="en-US" altLang="zh-CN" sz="1900" kern="0" dirty="0" smtClean="0">
                <a:effectLst/>
              </a:rPr>
              <a:t> &gt;          /* </a:t>
            </a:r>
            <a:r>
              <a:rPr lang="zh-CN" altLang="en-US" sz="1900" kern="0" dirty="0" smtClean="0">
                <a:effectLst/>
              </a:rPr>
              <a:t>多分支结构 用</a:t>
            </a:r>
            <a:r>
              <a:rPr lang="en-US" altLang="zh-CN" sz="1900" kern="0" dirty="0" smtClean="0">
                <a:effectLst/>
              </a:rPr>
              <a:t>switch</a:t>
            </a:r>
            <a:r>
              <a:rPr lang="zh-CN" altLang="en-US" sz="1900" kern="0" dirty="0" smtClean="0">
                <a:effectLst/>
              </a:rPr>
              <a:t>实现*</a:t>
            </a:r>
            <a:r>
              <a:rPr lang="en-US" altLang="zh-CN" sz="1900" kern="0" dirty="0" smtClean="0">
                <a:effectLst/>
              </a:rPr>
              <a:t>/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err="1" smtClean="0">
                <a:effectLst/>
              </a:rPr>
              <a:t>int</a:t>
            </a:r>
            <a:r>
              <a:rPr lang="en-US" altLang="zh-CN" sz="1900" kern="0" dirty="0" smtClean="0">
                <a:effectLst/>
              </a:rPr>
              <a:t> main()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{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float </a:t>
            </a:r>
            <a:r>
              <a:rPr lang="en-US" altLang="zh-CN" sz="1900" kern="0" dirty="0" err="1" smtClean="0">
                <a:effectLst/>
              </a:rPr>
              <a:t>x,y</a:t>
            </a:r>
            <a:r>
              <a:rPr lang="en-US" altLang="zh-CN" sz="1900" kern="0" dirty="0" smtClean="0">
                <a:effectLst/>
              </a:rPr>
              <a:t>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char op;	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("Type in an expression</a:t>
            </a:r>
            <a:r>
              <a:rPr lang="zh-CN" altLang="en-US" sz="1900" kern="0" dirty="0" smtClean="0">
                <a:effectLst/>
              </a:rPr>
              <a:t>：</a:t>
            </a:r>
            <a:r>
              <a:rPr lang="en-US" altLang="zh-CN" sz="1900" kern="0" dirty="0" smtClean="0">
                <a:effectLst/>
              </a:rPr>
              <a:t>");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</a:t>
            </a:r>
            <a:r>
              <a:rPr lang="en-US" altLang="zh-CN" sz="1900" kern="0" dirty="0" err="1" smtClean="0">
                <a:effectLst/>
              </a:rPr>
              <a:t>scanf</a:t>
            </a:r>
            <a:r>
              <a:rPr lang="en-US" altLang="zh-CN" sz="1900" kern="0" dirty="0" smtClean="0">
                <a:effectLst/>
              </a:rPr>
              <a:t>("%</a:t>
            </a:r>
            <a:r>
              <a:rPr lang="en-US" altLang="zh-CN" sz="1900" kern="0" dirty="0" err="1" smtClean="0">
                <a:effectLst/>
              </a:rPr>
              <a:t>f%c%f</a:t>
            </a:r>
            <a:r>
              <a:rPr lang="en-US" altLang="zh-CN" sz="1900" kern="0" dirty="0" smtClean="0">
                <a:effectLst/>
              </a:rPr>
              <a:t>",&amp;</a:t>
            </a:r>
            <a:r>
              <a:rPr lang="en-US" altLang="zh-CN" sz="1900" kern="0" dirty="0" err="1" smtClean="0">
                <a:effectLst/>
              </a:rPr>
              <a:t>x,&amp;op,&amp;y</a:t>
            </a:r>
            <a:r>
              <a:rPr lang="en-US" altLang="zh-CN" sz="1900" kern="0" dirty="0" smtClean="0">
                <a:effectLst/>
              </a:rPr>
              <a:t>);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switch(op)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{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case '+':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("%f+%f=%f\n",</a:t>
            </a:r>
            <a:r>
              <a:rPr lang="en-US" altLang="zh-CN" sz="1900" kern="0" dirty="0" err="1" smtClean="0">
                <a:effectLst/>
              </a:rPr>
              <a:t>x,y,x+y</a:t>
            </a:r>
            <a:r>
              <a:rPr lang="en-US" altLang="zh-CN" sz="1900" kern="0" dirty="0" smtClean="0">
                <a:effectLst/>
              </a:rPr>
              <a:t>);break;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case '-':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("%f-%f=%f\n",</a:t>
            </a:r>
            <a:r>
              <a:rPr lang="en-US" altLang="zh-CN" sz="1900" kern="0" dirty="0" err="1" smtClean="0">
                <a:effectLst/>
              </a:rPr>
              <a:t>x,y,x</a:t>
            </a:r>
            <a:r>
              <a:rPr lang="en-US" altLang="zh-CN" sz="1900" kern="0" dirty="0" smtClean="0">
                <a:effectLst/>
              </a:rPr>
              <a:t>-y);break;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case '*':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("%f*%f=%f\n",</a:t>
            </a:r>
            <a:r>
              <a:rPr lang="en-US" altLang="zh-CN" sz="1900" kern="0" dirty="0" err="1" smtClean="0">
                <a:effectLst/>
              </a:rPr>
              <a:t>x,y,x</a:t>
            </a:r>
            <a:r>
              <a:rPr lang="en-US" altLang="zh-CN" sz="1900" kern="0" dirty="0" smtClean="0">
                <a:effectLst/>
              </a:rPr>
              <a:t>*y);break;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case '/':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             if (y==0)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         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("division by zero.\n");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         else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                 </a:t>
            </a:r>
            <a:r>
              <a:rPr lang="en-US" altLang="zh-CN" sz="1900" kern="0" dirty="0" err="1" smtClean="0">
                <a:effectLst/>
              </a:rPr>
              <a:t>printf</a:t>
            </a:r>
            <a:r>
              <a:rPr lang="en-US" altLang="zh-CN" sz="1900" kern="0" dirty="0" smtClean="0">
                <a:effectLst/>
              </a:rPr>
              <a:t>("%f/%f=%f\n",</a:t>
            </a:r>
            <a:r>
              <a:rPr lang="en-US" altLang="zh-CN" sz="1900" kern="0" dirty="0" err="1" smtClean="0">
                <a:effectLst/>
              </a:rPr>
              <a:t>x,y,x</a:t>
            </a:r>
            <a:r>
              <a:rPr lang="en-US" altLang="zh-CN" sz="1900" kern="0" dirty="0" smtClean="0">
                <a:effectLst/>
              </a:rPr>
              <a:t>/y);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	break;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         </a:t>
            </a:r>
            <a:r>
              <a:rPr lang="en-US" altLang="zh-CN" sz="1900" kern="0" dirty="0" err="1" smtClean="0">
                <a:effectLst/>
              </a:rPr>
              <a:t>default:printf</a:t>
            </a:r>
            <a:r>
              <a:rPr lang="en-US" altLang="zh-CN" sz="1900" kern="0" dirty="0" smtClean="0">
                <a:effectLst/>
              </a:rPr>
              <a:t>("</a:t>
            </a:r>
            <a:r>
              <a:rPr lang="en-US" altLang="zh-CN" sz="1900" kern="0" dirty="0" err="1" smtClean="0">
                <a:effectLst/>
              </a:rPr>
              <a:t>Unknow</a:t>
            </a:r>
            <a:r>
              <a:rPr lang="en-US" altLang="zh-CN" sz="1900" kern="0" dirty="0" smtClean="0">
                <a:effectLst/>
              </a:rPr>
              <a:t> operator\n");	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 }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	  return 0;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</a:pPr>
            <a:r>
              <a:rPr lang="en-US" altLang="zh-CN" sz="1900" kern="0" dirty="0" smtClean="0">
                <a:effectLst/>
              </a:rPr>
              <a:t>}</a:t>
            </a:r>
            <a:endParaRPr lang="zh-CN" altLang="en-US" sz="1900" kern="0" dirty="0" smtClean="0">
              <a:effectLst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8388350" cy="784225"/>
          </a:xfrm>
          <a:noFill/>
        </p:spPr>
        <p:txBody>
          <a:bodyPr/>
          <a:lstStyle/>
          <a:p>
            <a:r>
              <a:rPr lang="zh-CN" altLang="en-US" b="0" dirty="0"/>
              <a:t>编程判断输入整数</a:t>
            </a:r>
            <a:r>
              <a:rPr lang="en-US" altLang="zh-CN" b="0" dirty="0"/>
              <a:t>x </a:t>
            </a:r>
            <a:r>
              <a:rPr lang="zh-CN" altLang="en-US" b="0" dirty="0"/>
              <a:t>的正负性和奇偶性</a:t>
            </a:r>
            <a:endParaRPr lang="zh-CN" altLang="en-US" dirty="0" smtClean="0">
              <a:effectLst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3688" y="1628800"/>
            <a:ext cx="3888432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#include &lt;stdio.h&gt;</a:t>
            </a:r>
          </a:p>
          <a:p>
            <a:r>
              <a:rPr lang="zh-CN" altLang="en-US" sz="2000" b="1" dirty="0"/>
              <a:t>int main()</a:t>
            </a:r>
          </a:p>
          <a:p>
            <a:r>
              <a:rPr lang="zh-CN" altLang="en-US" sz="2000" b="1" dirty="0"/>
              <a:t>{</a:t>
            </a:r>
          </a:p>
          <a:p>
            <a:r>
              <a:rPr lang="zh-CN" altLang="en-US" sz="2000" b="1" dirty="0"/>
              <a:t>   int i;</a:t>
            </a:r>
          </a:p>
          <a:p>
            <a:r>
              <a:rPr lang="zh-CN" altLang="en-US" sz="2000" b="1" dirty="0"/>
              <a:t>   printf("请输入一个整数: ");</a:t>
            </a:r>
          </a:p>
          <a:p>
            <a:r>
              <a:rPr lang="zh-CN" altLang="en-US" sz="2000" b="1" dirty="0"/>
              <a:t>   scanf("%</a:t>
            </a:r>
            <a:r>
              <a:rPr lang="zh-CN" altLang="en-US" sz="2000" b="1" dirty="0" smtClean="0"/>
              <a:t>d", i)</a:t>
            </a:r>
            <a:r>
              <a:rPr lang="zh-CN" altLang="en-US" sz="2000" b="1" dirty="0"/>
              <a:t>;</a:t>
            </a:r>
          </a:p>
          <a:p>
            <a:r>
              <a:rPr lang="zh-CN" altLang="en-US" sz="2000" b="1" dirty="0"/>
              <a:t>   printf("\n%d是",i);</a:t>
            </a:r>
          </a:p>
          <a:p>
            <a:r>
              <a:rPr lang="zh-CN" altLang="en-US" sz="2000" b="1" dirty="0"/>
              <a:t>   if(i</a:t>
            </a:r>
            <a:r>
              <a:rPr lang="zh-CN" altLang="en-US" sz="2000" b="1" dirty="0" smtClean="0"/>
              <a:t>&gt;0</a:t>
            </a:r>
            <a:r>
              <a:rPr lang="zh-CN" altLang="en-US" sz="2000" b="1" dirty="0"/>
              <a:t>)</a:t>
            </a:r>
          </a:p>
          <a:p>
            <a:r>
              <a:rPr lang="zh-CN" altLang="en-US" sz="2000" b="1" dirty="0"/>
              <a:t>       printf("正</a:t>
            </a:r>
            <a:r>
              <a:rPr lang="zh-CN" altLang="en-US" sz="2000" b="1" dirty="0" smtClean="0"/>
              <a:t>")</a:t>
            </a:r>
            <a:endParaRPr lang="zh-CN" altLang="en-US" sz="2000" b="1" dirty="0"/>
          </a:p>
          <a:p>
            <a:r>
              <a:rPr lang="zh-CN" altLang="en-US" sz="2000" b="1" dirty="0"/>
              <a:t>   else</a:t>
            </a:r>
          </a:p>
          <a:p>
            <a:r>
              <a:rPr lang="zh-CN" altLang="en-US" sz="2000" b="1" dirty="0" smtClean="0"/>
              <a:t>       printf</a:t>
            </a:r>
            <a:r>
              <a:rPr lang="zh-CN" altLang="en-US" sz="2000" b="1" dirty="0"/>
              <a:t>("负");</a:t>
            </a:r>
          </a:p>
          <a:p>
            <a:r>
              <a:rPr lang="zh-CN" altLang="en-US" sz="2000" b="1" dirty="0"/>
              <a:t>   if</a:t>
            </a:r>
            <a:r>
              <a:rPr lang="zh-CN" altLang="en-US" sz="2000" b="1" dirty="0" smtClean="0"/>
              <a:t>(</a:t>
            </a:r>
            <a:r>
              <a:rPr lang="zh-CN" altLang="en-US" sz="2000" b="1" u="sng" dirty="0" smtClean="0"/>
              <a:t>                </a:t>
            </a:r>
            <a:r>
              <a:rPr lang="zh-CN" altLang="en-US" sz="2000" b="1" dirty="0" smtClean="0"/>
              <a:t>)</a:t>
            </a:r>
            <a:endParaRPr lang="zh-CN" altLang="en-US" sz="2000" b="1" dirty="0"/>
          </a:p>
          <a:p>
            <a:r>
              <a:rPr lang="zh-CN" altLang="en-US" sz="2000" b="1" dirty="0"/>
              <a:t>        printf("偶数\n");</a:t>
            </a:r>
          </a:p>
          <a:p>
            <a:r>
              <a:rPr lang="zh-CN" altLang="en-US" sz="2000" b="1" dirty="0"/>
              <a:t>   else</a:t>
            </a:r>
          </a:p>
          <a:p>
            <a:r>
              <a:rPr lang="zh-CN" altLang="en-US" sz="2000" b="1" dirty="0"/>
              <a:t>        printf("奇数\n");</a:t>
            </a:r>
          </a:p>
          <a:p>
            <a:r>
              <a:rPr lang="zh-CN" altLang="en-US" sz="2000" b="1" dirty="0"/>
              <a:t>   return 0;</a:t>
            </a:r>
          </a:p>
          <a:p>
            <a:r>
              <a:rPr lang="zh-CN" altLang="en-US" sz="2000" b="1" dirty="0"/>
              <a:t>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68144" y="2492896"/>
            <a:ext cx="2297151" cy="95410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0D12D1"/>
                </a:solidFill>
              </a:rPr>
              <a:t>三个错误</a:t>
            </a:r>
            <a:endParaRPr lang="en-US" altLang="zh-CN" sz="2800" b="1" dirty="0" smtClean="0">
              <a:solidFill>
                <a:srgbClr val="0D12D1"/>
              </a:solidFill>
            </a:endParaRPr>
          </a:p>
          <a:p>
            <a:r>
              <a:rPr lang="zh-CN" altLang="en-US" sz="2800" b="1" dirty="0">
                <a:solidFill>
                  <a:srgbClr val="0D12D1"/>
                </a:solidFill>
              </a:rPr>
              <a:t>一</a:t>
            </a:r>
            <a:r>
              <a:rPr lang="zh-CN" altLang="en-US" sz="2800" b="1" dirty="0" smtClean="0">
                <a:solidFill>
                  <a:srgbClr val="0D12D1"/>
                </a:solidFill>
              </a:rPr>
              <a:t>个填空</a:t>
            </a:r>
            <a:endParaRPr lang="zh-CN" altLang="en-US" sz="2800" b="1" dirty="0">
              <a:solidFill>
                <a:srgbClr val="0D12D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380640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8388350" cy="784225"/>
          </a:xfrm>
          <a:noFill/>
        </p:spPr>
        <p:txBody>
          <a:bodyPr/>
          <a:lstStyle/>
          <a:p>
            <a:r>
              <a:rPr lang="zh-CN" altLang="en-US" b="0" dirty="0"/>
              <a:t>编程判断输入整数</a:t>
            </a:r>
            <a:r>
              <a:rPr lang="en-US" altLang="zh-CN" b="0" dirty="0"/>
              <a:t>x </a:t>
            </a:r>
            <a:r>
              <a:rPr lang="zh-CN" altLang="en-US" b="0" dirty="0"/>
              <a:t>的正负性和奇偶性</a:t>
            </a:r>
            <a:endParaRPr lang="zh-CN" altLang="en-US" dirty="0" smtClean="0">
              <a:effectLst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763688" y="1628800"/>
            <a:ext cx="4572000" cy="532453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 dirty="0"/>
              <a:t>#include &lt;</a:t>
            </a:r>
            <a:r>
              <a:rPr lang="en-US" altLang="zh-CN" sz="2000" b="1" dirty="0" err="1"/>
              <a:t>stdio.h</a:t>
            </a:r>
            <a:r>
              <a:rPr lang="en-US" altLang="zh-CN" sz="2000" b="1" dirty="0"/>
              <a:t>&gt;</a:t>
            </a:r>
          </a:p>
          <a:p>
            <a:r>
              <a:rPr lang="en-US" altLang="zh-CN" sz="2000" b="1" dirty="0" err="1"/>
              <a:t>int</a:t>
            </a:r>
            <a:r>
              <a:rPr lang="en-US" altLang="zh-CN" sz="2000" b="1" dirty="0"/>
              <a:t> main()</a:t>
            </a:r>
          </a:p>
          <a:p>
            <a:r>
              <a:rPr lang="en-US" altLang="zh-CN" sz="2000" b="1" dirty="0"/>
              <a:t>{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int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;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</a:t>
            </a:r>
            <a:r>
              <a:rPr lang="zh-CN" altLang="en-US" sz="2000" b="1" dirty="0"/>
              <a:t>请输入一个整数</a:t>
            </a:r>
            <a:r>
              <a:rPr lang="en-US" altLang="zh-CN" sz="2000" b="1" dirty="0"/>
              <a:t>: ");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scanf</a:t>
            </a:r>
            <a:r>
              <a:rPr lang="en-US" altLang="zh-CN" sz="2000" b="1" dirty="0"/>
              <a:t>("%d",</a:t>
            </a:r>
            <a:r>
              <a:rPr lang="en-US" altLang="zh-CN" sz="2000" b="1" dirty="0">
                <a:solidFill>
                  <a:srgbClr val="FF0000"/>
                </a:solidFill>
              </a:rPr>
              <a:t>&amp;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);</a:t>
            </a:r>
          </a:p>
          <a:p>
            <a:r>
              <a:rPr lang="en-US" altLang="zh-CN" sz="2000" b="1" dirty="0"/>
              <a:t>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("\</a:t>
            </a:r>
            <a:r>
              <a:rPr lang="en-US" altLang="zh-CN" sz="2000" b="1" dirty="0" err="1"/>
              <a:t>n%d</a:t>
            </a:r>
            <a:r>
              <a:rPr lang="zh-CN" altLang="en-US" sz="2000" b="1" dirty="0"/>
              <a:t>是</a:t>
            </a:r>
            <a:r>
              <a:rPr lang="en-US" altLang="zh-CN" sz="2000" b="1" dirty="0"/>
              <a:t>",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);</a:t>
            </a:r>
          </a:p>
          <a:p>
            <a:r>
              <a:rPr lang="en-US" altLang="zh-CN" sz="2000" b="1" dirty="0"/>
              <a:t>   if(</a:t>
            </a:r>
            <a:r>
              <a:rPr lang="en-US" altLang="zh-CN" sz="2000" b="1" dirty="0" err="1"/>
              <a:t>i</a:t>
            </a:r>
            <a:r>
              <a:rPr lang="en-US" altLang="zh-CN" sz="2000" b="1" dirty="0"/>
              <a:t>&gt;0)</a:t>
            </a:r>
          </a:p>
          <a:p>
            <a:r>
              <a:rPr lang="en-US" altLang="zh-CN" sz="2000" b="1" dirty="0"/>
              <a:t> 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</a:t>
            </a:r>
            <a:r>
              <a:rPr lang="zh-CN" altLang="en-US" sz="2000" b="1" dirty="0"/>
              <a:t>正</a:t>
            </a:r>
            <a:r>
              <a:rPr lang="en-US" altLang="zh-CN" sz="2000" b="1" dirty="0"/>
              <a:t>")</a:t>
            </a:r>
            <a:r>
              <a:rPr lang="en-US" altLang="zh-CN" sz="2000" b="1" dirty="0">
                <a:solidFill>
                  <a:srgbClr val="FF0000"/>
                </a:solidFill>
              </a:rPr>
              <a:t>;</a:t>
            </a:r>
          </a:p>
          <a:p>
            <a:r>
              <a:rPr lang="en-US" altLang="zh-CN" sz="2000" b="1" dirty="0"/>
              <a:t>   else</a:t>
            </a:r>
          </a:p>
          <a:p>
            <a:r>
              <a:rPr lang="en-US" altLang="zh-CN" sz="2000" b="1" dirty="0"/>
              <a:t>       </a:t>
            </a:r>
            <a:r>
              <a:rPr lang="en-US" altLang="zh-CN" sz="2000" b="1" dirty="0">
                <a:solidFill>
                  <a:srgbClr val="FF0000"/>
                </a:solidFill>
              </a:rPr>
              <a:t>if(</a:t>
            </a:r>
            <a:r>
              <a:rPr lang="en-US" altLang="zh-CN" sz="2000" b="1" dirty="0" err="1">
                <a:solidFill>
                  <a:srgbClr val="FF0000"/>
                </a:solidFill>
              </a:rPr>
              <a:t>i</a:t>
            </a:r>
            <a:r>
              <a:rPr lang="en-US" altLang="zh-CN" sz="2000" b="1" dirty="0">
                <a:solidFill>
                  <a:srgbClr val="FF0000"/>
                </a:solidFill>
              </a:rPr>
              <a:t>&lt;0)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</a:t>
            </a:r>
            <a:r>
              <a:rPr lang="zh-CN" altLang="en-US" sz="2000" b="1" dirty="0"/>
              <a:t>负</a:t>
            </a:r>
            <a:r>
              <a:rPr lang="en-US" altLang="zh-CN" sz="2000" b="1" dirty="0"/>
              <a:t>");</a:t>
            </a:r>
          </a:p>
          <a:p>
            <a:r>
              <a:rPr lang="en-US" altLang="zh-CN" sz="2000" b="1" dirty="0"/>
              <a:t>   if(</a:t>
            </a:r>
            <a:r>
              <a:rPr lang="en-US" altLang="zh-CN" sz="2000" b="1" dirty="0">
                <a:solidFill>
                  <a:srgbClr val="FF0000"/>
                </a:solidFill>
              </a:rPr>
              <a:t>i%2==0</a:t>
            </a:r>
            <a:r>
              <a:rPr lang="en-US" altLang="zh-CN" sz="2000" b="1" dirty="0"/>
              <a:t>)</a:t>
            </a:r>
          </a:p>
          <a:p>
            <a:r>
              <a:rPr lang="en-US" altLang="zh-CN" sz="2000" b="1" dirty="0"/>
              <a:t>  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</a:t>
            </a:r>
            <a:r>
              <a:rPr lang="zh-CN" altLang="en-US" sz="2000" b="1" dirty="0"/>
              <a:t>偶数</a:t>
            </a:r>
            <a:r>
              <a:rPr lang="en-US" altLang="zh-CN" sz="2000" b="1" dirty="0"/>
              <a:t>\n");</a:t>
            </a:r>
          </a:p>
          <a:p>
            <a:r>
              <a:rPr lang="en-US" altLang="zh-CN" sz="2000" b="1" dirty="0"/>
              <a:t>   else</a:t>
            </a:r>
          </a:p>
          <a:p>
            <a:r>
              <a:rPr lang="en-US" altLang="zh-CN" sz="2000" b="1" dirty="0"/>
              <a:t>        </a:t>
            </a:r>
            <a:r>
              <a:rPr lang="en-US" altLang="zh-CN" sz="2000" b="1" dirty="0" err="1"/>
              <a:t>printf</a:t>
            </a:r>
            <a:r>
              <a:rPr lang="en-US" altLang="zh-CN" sz="2000" b="1" dirty="0"/>
              <a:t>("</a:t>
            </a:r>
            <a:r>
              <a:rPr lang="zh-CN" altLang="en-US" sz="2000" b="1" dirty="0"/>
              <a:t>奇数</a:t>
            </a:r>
            <a:r>
              <a:rPr lang="en-US" altLang="zh-CN" sz="2000" b="1" dirty="0"/>
              <a:t>\n");</a:t>
            </a:r>
          </a:p>
          <a:p>
            <a:r>
              <a:rPr lang="en-US" altLang="zh-CN" sz="2000" b="1" dirty="0"/>
              <a:t>   return 0;</a:t>
            </a:r>
          </a:p>
          <a:p>
            <a:r>
              <a:rPr lang="en-US" altLang="zh-CN" sz="2000" b="1" dirty="0"/>
              <a:t>}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81840260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331640" y="3008362"/>
            <a:ext cx="6172200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3.3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循环结构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4566390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ffectLst/>
              </a:rPr>
              <a:t>3.3</a:t>
            </a:r>
            <a:r>
              <a:rPr lang="zh-CN" altLang="en-US" smtClean="0">
                <a:effectLst/>
              </a:rPr>
              <a:t>循环结构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00213"/>
            <a:ext cx="8229600" cy="489585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在程序设计中，很多情况下需要在某一条件下重复执行某些语句或某一模块，这就要用到循环结构。这些被重复执行的语句或模块，称为循环体。</a:t>
            </a:r>
          </a:p>
          <a:p>
            <a:pPr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语言中有</a:t>
            </a:r>
            <a:r>
              <a:rPr lang="en-US" altLang="zh-CN" dirty="0" smtClean="0"/>
              <a:t>3</a:t>
            </a:r>
            <a:r>
              <a:rPr lang="zh-CN" altLang="en-US" dirty="0" smtClean="0"/>
              <a:t>种循环结构</a:t>
            </a:r>
          </a:p>
          <a:p>
            <a:pPr lvl="1">
              <a:defRPr/>
            </a:pPr>
            <a:r>
              <a:rPr lang="en-US" altLang="zh-CN" dirty="0" smtClean="0"/>
              <a:t>for</a:t>
            </a:r>
          </a:p>
          <a:p>
            <a:pPr lvl="1">
              <a:defRPr/>
            </a:pPr>
            <a:r>
              <a:rPr lang="en-US" altLang="zh-CN" dirty="0" smtClean="0"/>
              <a:t>while</a:t>
            </a:r>
          </a:p>
          <a:p>
            <a:pPr lvl="1">
              <a:defRPr/>
            </a:pPr>
            <a:r>
              <a:rPr lang="en-US" altLang="zh-CN" dirty="0" smtClean="0"/>
              <a:t>do-while</a:t>
            </a:r>
            <a:endParaRPr lang="en-US" altLang="zh-CN" sz="4400" dirty="0" smtClean="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549275"/>
            <a:ext cx="8229600" cy="108267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chemeClr val="tx1"/>
                </a:solidFill>
              </a:rPr>
              <a:t>for </a:t>
            </a:r>
            <a:r>
              <a:rPr lang="zh-CN" altLang="en-US" dirty="0" smtClean="0">
                <a:solidFill>
                  <a:schemeClr val="tx1"/>
                </a:solidFill>
              </a:rPr>
              <a:t>语句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74129" y="1618238"/>
            <a:ext cx="8334375" cy="522922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一般形式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</a:t>
            </a:r>
            <a:r>
              <a:rPr lang="en-US" altLang="zh-CN" sz="2600" dirty="0" smtClean="0">
                <a:solidFill>
                  <a:srgbClr val="3333FF"/>
                </a:solidFill>
              </a:rPr>
              <a:t>for</a:t>
            </a:r>
            <a:r>
              <a:rPr lang="zh-CN" altLang="en-US" sz="2600" dirty="0" smtClean="0">
                <a:solidFill>
                  <a:srgbClr val="3333FF"/>
                </a:solidFill>
              </a:rPr>
              <a:t>（表达式</a:t>
            </a:r>
            <a:r>
              <a:rPr lang="en-US" altLang="zh-CN" sz="2600" dirty="0" smtClean="0">
                <a:solidFill>
                  <a:srgbClr val="3333FF"/>
                </a:solidFill>
              </a:rPr>
              <a:t>1</a:t>
            </a:r>
            <a:r>
              <a:rPr lang="zh-CN" altLang="en-US" sz="2600" dirty="0" smtClean="0">
                <a:solidFill>
                  <a:srgbClr val="FF0000"/>
                </a:solidFill>
              </a:rPr>
              <a:t>；</a:t>
            </a:r>
            <a:r>
              <a:rPr lang="zh-CN" altLang="en-US" sz="2600" dirty="0" smtClean="0">
                <a:solidFill>
                  <a:srgbClr val="3333FF"/>
                </a:solidFill>
              </a:rPr>
              <a:t>表达式</a:t>
            </a:r>
            <a:r>
              <a:rPr lang="en-US" altLang="zh-CN" sz="2600" dirty="0" smtClean="0">
                <a:solidFill>
                  <a:srgbClr val="3333FF"/>
                </a:solidFill>
              </a:rPr>
              <a:t>2</a:t>
            </a:r>
            <a:r>
              <a:rPr lang="zh-CN" altLang="en-US" sz="2600" dirty="0" smtClean="0">
                <a:solidFill>
                  <a:srgbClr val="FF0000"/>
                </a:solidFill>
              </a:rPr>
              <a:t>；</a:t>
            </a:r>
            <a:r>
              <a:rPr lang="zh-CN" altLang="en-US" sz="2600" dirty="0" smtClean="0">
                <a:solidFill>
                  <a:srgbClr val="3333FF"/>
                </a:solidFill>
              </a:rPr>
              <a:t>表达式</a:t>
            </a:r>
            <a:r>
              <a:rPr lang="en-US" altLang="zh-CN" sz="2600" dirty="0" smtClean="0">
                <a:solidFill>
                  <a:srgbClr val="3333FF"/>
                </a:solidFill>
              </a:rPr>
              <a:t>3</a:t>
            </a:r>
            <a:r>
              <a:rPr lang="zh-CN" altLang="en-US" sz="2600" dirty="0" smtClean="0">
                <a:solidFill>
                  <a:srgbClr val="3333FF"/>
                </a:solidFill>
              </a:rPr>
              <a:t>）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>
                <a:solidFill>
                  <a:srgbClr val="3333FF"/>
                </a:solidFill>
              </a:rPr>
              <a:t>         循环体语句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其中：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 表达式</a:t>
            </a:r>
            <a:r>
              <a:rPr lang="en-US" altLang="zh-CN" sz="2600" dirty="0" smtClean="0"/>
              <a:t>1 --- </a:t>
            </a:r>
            <a:r>
              <a:rPr lang="zh-CN" altLang="en-US" sz="2600" dirty="0" smtClean="0"/>
              <a:t>初值表达式。循环变量赋初值。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 表达式</a:t>
            </a:r>
            <a:r>
              <a:rPr lang="en-US" altLang="zh-CN" sz="2600" dirty="0" smtClean="0"/>
              <a:t>2 --- </a:t>
            </a:r>
            <a:r>
              <a:rPr lang="zh-CN" altLang="en-US" sz="2600" dirty="0" smtClean="0"/>
              <a:t>条件表达式。判断循环变量的值。</a:t>
            </a:r>
            <a:endParaRPr lang="en-US" altLang="zh-CN" sz="260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“真”（非</a:t>
            </a:r>
            <a:r>
              <a:rPr lang="en-US" altLang="zh-CN" sz="2600" dirty="0" smtClean="0"/>
              <a:t>0</a:t>
            </a:r>
            <a:r>
              <a:rPr lang="zh-CN" altLang="en-US" sz="2600" dirty="0" smtClean="0"/>
              <a:t>）继续循环，“假”（</a:t>
            </a:r>
            <a:r>
              <a:rPr lang="en-US" altLang="zh-CN" sz="2600" dirty="0" smtClean="0"/>
              <a:t>0</a:t>
            </a:r>
            <a:r>
              <a:rPr lang="zh-CN" altLang="en-US" sz="2600" dirty="0" smtClean="0"/>
              <a:t>）循环终止。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 表达式</a:t>
            </a:r>
            <a:r>
              <a:rPr lang="en-US" altLang="zh-CN" sz="2600" dirty="0" smtClean="0"/>
              <a:t>3 --- </a:t>
            </a:r>
            <a:r>
              <a:rPr lang="zh-CN" altLang="en-US" sz="2600" dirty="0" smtClean="0"/>
              <a:t>步长（增量）表达式。改变循环控制变量的值。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 上述表达式可以缺省，但</a:t>
            </a:r>
            <a:r>
              <a:rPr lang="zh-CN" altLang="en-US" sz="2600" dirty="0" smtClean="0">
                <a:solidFill>
                  <a:srgbClr val="FF0000"/>
                </a:solidFill>
              </a:rPr>
              <a:t>分号</a:t>
            </a:r>
            <a:r>
              <a:rPr lang="zh-CN" altLang="en-US" sz="2600" dirty="0" smtClean="0"/>
              <a:t>不可缺少</a:t>
            </a:r>
            <a:endParaRPr lang="en-US" altLang="zh-CN" sz="260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sz="2600" dirty="0" smtClean="0"/>
              <a:t>   通常</a:t>
            </a:r>
            <a:r>
              <a:rPr lang="zh-CN" altLang="en-US" sz="2600" dirty="0"/>
              <a:t>用于</a:t>
            </a:r>
            <a:r>
              <a:rPr lang="zh-CN" altLang="en-US" sz="2600" dirty="0">
                <a:solidFill>
                  <a:srgbClr val="FF0000"/>
                </a:solidFill>
              </a:rPr>
              <a:t>循环次数确定</a:t>
            </a:r>
            <a:r>
              <a:rPr lang="zh-CN" altLang="en-US" sz="2600" dirty="0"/>
              <a:t>的情况</a:t>
            </a:r>
            <a:endParaRPr lang="zh-CN" altLang="en-US" sz="2600" dirty="0" smtClean="0"/>
          </a:p>
        </p:txBody>
      </p:sp>
    </p:spTree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0963" y="195263"/>
            <a:ext cx="2879725" cy="1371600"/>
          </a:xfrm>
        </p:spPr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chemeClr val="tx1"/>
                </a:solidFill>
              </a:rPr>
              <a:t>执行过程</a:t>
            </a:r>
          </a:p>
        </p:txBody>
      </p:sp>
      <p:sp>
        <p:nvSpPr>
          <p:cNvPr id="2" name="矩形 1"/>
          <p:cNvSpPr/>
          <p:nvPr/>
        </p:nvSpPr>
        <p:spPr>
          <a:xfrm>
            <a:off x="68341" y="4980520"/>
            <a:ext cx="5999162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altLang="zh-CN" dirty="0">
                <a:latin typeface="Arial" charset="0"/>
              </a:rPr>
              <a:t> </a:t>
            </a:r>
            <a:r>
              <a:rPr lang="en-US" altLang="zh-CN" sz="2800" b="1" dirty="0">
                <a:latin typeface="Arial" charset="0"/>
              </a:rPr>
              <a:t>for</a:t>
            </a:r>
            <a:r>
              <a:rPr lang="zh-CN" altLang="en-US" sz="2800" b="1" dirty="0">
                <a:latin typeface="Arial" charset="0"/>
              </a:rPr>
              <a:t>（表达式</a:t>
            </a:r>
            <a:r>
              <a:rPr lang="en-US" altLang="zh-CN" sz="2800" b="1" dirty="0">
                <a:latin typeface="Arial" charset="0"/>
              </a:rPr>
              <a:t>1</a:t>
            </a:r>
            <a:r>
              <a:rPr lang="zh-CN" altLang="en-US" sz="2800" b="1" dirty="0">
                <a:latin typeface="Arial" charset="0"/>
              </a:rPr>
              <a:t>；表达式</a:t>
            </a:r>
            <a:r>
              <a:rPr lang="en-US" altLang="zh-CN" sz="2800" b="1" dirty="0">
                <a:latin typeface="Arial" charset="0"/>
              </a:rPr>
              <a:t>2</a:t>
            </a:r>
            <a:r>
              <a:rPr lang="zh-CN" altLang="en-US" sz="2800" b="1" dirty="0">
                <a:latin typeface="Arial" charset="0"/>
              </a:rPr>
              <a:t>；表达式</a:t>
            </a:r>
            <a:r>
              <a:rPr lang="en-US" altLang="zh-CN" sz="2800" b="1" dirty="0">
                <a:latin typeface="Arial" charset="0"/>
              </a:rPr>
              <a:t>3</a:t>
            </a:r>
            <a:r>
              <a:rPr lang="zh-CN" altLang="en-US" sz="2800" b="1" dirty="0">
                <a:latin typeface="Arial" charset="0"/>
              </a:rPr>
              <a:t>）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Arial" charset="0"/>
              </a:rPr>
              <a:t>         循环体语句</a:t>
            </a:r>
          </a:p>
        </p:txBody>
      </p:sp>
      <p:grpSp>
        <p:nvGrpSpPr>
          <p:cNvPr id="52228" name="组合 3"/>
          <p:cNvGrpSpPr>
            <a:grpSpLocks/>
          </p:cNvGrpSpPr>
          <p:nvPr/>
        </p:nvGrpSpPr>
        <p:grpSpPr bwMode="auto">
          <a:xfrm>
            <a:off x="3707904" y="116632"/>
            <a:ext cx="4999038" cy="5508625"/>
            <a:chOff x="1876425" y="1304925"/>
            <a:chExt cx="4999038" cy="5508625"/>
          </a:xfrm>
        </p:grpSpPr>
        <p:cxnSp>
          <p:nvCxnSpPr>
            <p:cNvPr id="19" name="直接箭头连接符 18"/>
            <p:cNvCxnSpPr/>
            <p:nvPr/>
          </p:nvCxnSpPr>
          <p:spPr bwMode="auto">
            <a:xfrm>
              <a:off x="4470400" y="1304925"/>
              <a:ext cx="0" cy="4699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utoShape 4"/>
            <p:cNvSpPr>
              <a:spLocks noChangeArrowheads="1"/>
            </p:cNvSpPr>
            <p:nvPr/>
          </p:nvSpPr>
          <p:spPr bwMode="auto">
            <a:xfrm>
              <a:off x="3040063" y="2773363"/>
              <a:ext cx="2874962" cy="852487"/>
            </a:xfrm>
            <a:prstGeom prst="flowChartDecision">
              <a:avLst/>
            </a:pr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21" name="Text Box 5"/>
            <p:cNvSpPr txBox="1">
              <a:spLocks noChangeArrowheads="1"/>
            </p:cNvSpPr>
            <p:nvPr/>
          </p:nvSpPr>
          <p:spPr bwMode="auto">
            <a:xfrm>
              <a:off x="3024188" y="1806575"/>
              <a:ext cx="2890837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800" b="1" dirty="0" smtClean="0">
                  <a:latin typeface="Times New Roman" pitchFamily="18" charset="0"/>
                </a:rPr>
                <a:t>表达式</a:t>
              </a:r>
              <a:r>
                <a:rPr lang="en-US" altLang="zh-CN" sz="2800" b="1" dirty="0" smtClean="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3040063" y="5013325"/>
              <a:ext cx="2874962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zh-CN" altLang="en-US" sz="2800" b="1" smtClean="0">
                  <a:latin typeface="Times New Roman" pitchFamily="18" charset="0"/>
                </a:rPr>
                <a:t>表达式</a:t>
              </a:r>
              <a:r>
                <a:rPr lang="en-US" altLang="zh-CN" sz="2800" b="1" dirty="0" smtClean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23" name="Text Box 7"/>
            <p:cNvSpPr txBox="1">
              <a:spLocks noChangeArrowheads="1"/>
            </p:cNvSpPr>
            <p:nvPr/>
          </p:nvSpPr>
          <p:spPr bwMode="auto">
            <a:xfrm>
              <a:off x="3170238" y="4070350"/>
              <a:ext cx="2624137" cy="523220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zh-CN" altLang="en-US" sz="2800" b="1" smtClean="0">
                  <a:latin typeface="Times New Roman" pitchFamily="18" charset="0"/>
                </a:rPr>
                <a:t>循环体语句</a:t>
              </a:r>
            </a:p>
          </p:txBody>
        </p:sp>
        <p:sp>
          <p:nvSpPr>
            <p:cNvPr id="52234" name="Text Box 8"/>
            <p:cNvSpPr txBox="1">
              <a:spLocks noChangeArrowheads="1"/>
            </p:cNvSpPr>
            <p:nvPr/>
          </p:nvSpPr>
          <p:spPr bwMode="auto">
            <a:xfrm>
              <a:off x="3515541" y="3023030"/>
              <a:ext cx="2250154" cy="387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50000"/>
                </a:spcBef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      </a:t>
              </a:r>
              <a:r>
                <a:rPr kumimoji="1" lang="zh-CN" altLang="en-US" sz="2400" b="1">
                  <a:latin typeface="Times New Roman" panose="02020603050405020304" pitchFamily="18" charset="0"/>
                </a:rPr>
                <a:t>表达式</a:t>
              </a:r>
              <a:r>
                <a:rPr kumimoji="1" lang="en-US" altLang="zh-CN" sz="24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5" name="Text Box 13"/>
            <p:cNvSpPr txBox="1">
              <a:spLocks noChangeArrowheads="1"/>
            </p:cNvSpPr>
            <p:nvPr/>
          </p:nvSpPr>
          <p:spPr bwMode="auto">
            <a:xfrm>
              <a:off x="4670425" y="3594100"/>
              <a:ext cx="500063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 dirty="0" smtClean="0">
                  <a:solidFill>
                    <a:srgbClr val="FF0000"/>
                  </a:solidFill>
                  <a:latin typeface="Times New Roman" pitchFamily="18" charset="0"/>
                </a:rPr>
                <a:t>真</a:t>
              </a:r>
            </a:p>
          </p:txBody>
        </p:sp>
        <p:sp>
          <p:nvSpPr>
            <p:cNvPr id="26" name="Text Box 15"/>
            <p:cNvSpPr txBox="1">
              <a:spLocks noChangeArrowheads="1"/>
            </p:cNvSpPr>
            <p:nvPr/>
          </p:nvSpPr>
          <p:spPr bwMode="auto">
            <a:xfrm>
              <a:off x="6015038" y="2768600"/>
              <a:ext cx="500062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 dirty="0" smtClean="0">
                  <a:solidFill>
                    <a:srgbClr val="FF0000"/>
                  </a:solidFill>
                  <a:latin typeface="Times New Roman" pitchFamily="18" charset="0"/>
                </a:rPr>
                <a:t>假</a:t>
              </a:r>
            </a:p>
          </p:txBody>
        </p:sp>
        <p:cxnSp>
          <p:nvCxnSpPr>
            <p:cNvPr id="27" name="直接箭头连接符 26"/>
            <p:cNvCxnSpPr/>
            <p:nvPr/>
          </p:nvCxnSpPr>
          <p:spPr bwMode="auto">
            <a:xfrm>
              <a:off x="4470400" y="2298700"/>
              <a:ext cx="0" cy="4699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 bwMode="auto">
            <a:xfrm>
              <a:off x="4481513" y="3606800"/>
              <a:ext cx="0" cy="469900"/>
            </a:xfrm>
            <a:prstGeom prst="straightConnector1">
              <a:avLst/>
            </a:prstGeom>
            <a:ln w="38100">
              <a:solidFill>
                <a:srgbClr val="CC33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 bwMode="auto">
            <a:xfrm>
              <a:off x="4486275" y="4564063"/>
              <a:ext cx="0" cy="469900"/>
            </a:xfrm>
            <a:prstGeom prst="straightConnector1">
              <a:avLst/>
            </a:prstGeom>
            <a:ln w="38100">
              <a:solidFill>
                <a:srgbClr val="CC33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240" name="组合 29"/>
            <p:cNvGrpSpPr>
              <a:grpSpLocks/>
            </p:cNvGrpSpPr>
            <p:nvPr/>
          </p:nvGrpSpPr>
          <p:grpSpPr bwMode="auto">
            <a:xfrm>
              <a:off x="1876425" y="2553706"/>
              <a:ext cx="2621070" cy="3378658"/>
              <a:chOff x="1259632" y="2060848"/>
              <a:chExt cx="2824956" cy="3621560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4075917" y="5250327"/>
                <a:ext cx="8555" cy="432214"/>
              </a:xfrm>
              <a:prstGeom prst="line">
                <a:avLst/>
              </a:prstGeom>
              <a:ln w="381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 flipH="1">
                <a:off x="1259632" y="5662121"/>
                <a:ext cx="2824841" cy="0"/>
              </a:xfrm>
              <a:prstGeom prst="line">
                <a:avLst/>
              </a:prstGeom>
              <a:ln w="381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 flipV="1">
                <a:off x="1259632" y="2061472"/>
                <a:ext cx="0" cy="3600650"/>
              </a:xfrm>
              <a:prstGeom prst="line">
                <a:avLst/>
              </a:prstGeom>
              <a:ln w="38100">
                <a:solidFill>
                  <a:srgbClr val="CC33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/>
              <p:nvPr/>
            </p:nvCxnSpPr>
            <p:spPr>
              <a:xfrm>
                <a:off x="1259632" y="2061472"/>
                <a:ext cx="2807731" cy="0"/>
              </a:xfrm>
              <a:prstGeom prst="straightConnector1">
                <a:avLst/>
              </a:prstGeom>
              <a:ln w="38100">
                <a:solidFill>
                  <a:srgbClr val="CC33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241" name="组合 2"/>
            <p:cNvGrpSpPr>
              <a:grpSpLocks/>
            </p:cNvGrpSpPr>
            <p:nvPr/>
          </p:nvGrpSpPr>
          <p:grpSpPr bwMode="auto">
            <a:xfrm>
              <a:off x="5538788" y="3200400"/>
              <a:ext cx="1336675" cy="3613150"/>
              <a:chOff x="5538788" y="3200400"/>
              <a:chExt cx="1336675" cy="3613150"/>
            </a:xfrm>
          </p:grpSpPr>
          <p:cxnSp>
            <p:nvCxnSpPr>
              <p:cNvPr id="31" name="直接连接符 30"/>
              <p:cNvCxnSpPr>
                <a:stCxn id="20" idx="3"/>
              </p:cNvCxnSpPr>
              <p:nvPr/>
            </p:nvCxnSpPr>
            <p:spPr bwMode="auto">
              <a:xfrm>
                <a:off x="5915025" y="3200400"/>
                <a:ext cx="960438" cy="158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 bwMode="auto">
              <a:xfrm>
                <a:off x="6875463" y="3201988"/>
                <a:ext cx="0" cy="2873375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/>
              <p:cNvCxnSpPr/>
              <p:nvPr/>
            </p:nvCxnSpPr>
            <p:spPr bwMode="auto">
              <a:xfrm flipH="1">
                <a:off x="5538788" y="6075363"/>
                <a:ext cx="1336675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/>
              <p:nvPr/>
            </p:nvCxnSpPr>
            <p:spPr bwMode="auto">
              <a:xfrm>
                <a:off x="5538788" y="6075363"/>
                <a:ext cx="0" cy="738187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AutoShape 6"/>
          <p:cNvSpPr>
            <a:spLocks noChangeArrowheads="1"/>
          </p:cNvSpPr>
          <p:nvPr/>
        </p:nvSpPr>
        <p:spPr bwMode="auto">
          <a:xfrm>
            <a:off x="717795" y="3677718"/>
            <a:ext cx="1861890" cy="677843"/>
          </a:xfrm>
          <a:prstGeom prst="wedgeRoundRectCallout">
            <a:avLst>
              <a:gd name="adj1" fmla="val 73033"/>
              <a:gd name="adj2" fmla="val 146665"/>
              <a:gd name="adj3" fmla="val 16667"/>
            </a:avLst>
          </a:prstGeom>
          <a:noFill/>
          <a:ln w="254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2800">
                <a:solidFill>
                  <a:srgbClr val="0000FF"/>
                </a:solidFill>
              </a:rPr>
              <a:t>循环条件</a:t>
            </a:r>
          </a:p>
        </p:txBody>
      </p:sp>
      <p:sp>
        <p:nvSpPr>
          <p:cNvPr id="39" name="AutoShape 8"/>
          <p:cNvSpPr>
            <a:spLocks noChangeArrowheads="1"/>
          </p:cNvSpPr>
          <p:nvPr/>
        </p:nvSpPr>
        <p:spPr bwMode="auto">
          <a:xfrm>
            <a:off x="4272771" y="5834458"/>
            <a:ext cx="1821086" cy="929968"/>
          </a:xfrm>
          <a:prstGeom prst="wedgeRectCallout">
            <a:avLst>
              <a:gd name="adj1" fmla="val -90130"/>
              <a:gd name="adj2" fmla="val -89648"/>
            </a:avLst>
          </a:prstGeom>
          <a:noFill/>
          <a:ln w="38100" algn="ctr">
            <a:solidFill>
              <a:srgbClr val="0000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marL="342900" indent="-3429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defRPr sz="3200" b="1">
                <a:solidFill>
                  <a:schemeClr val="hlink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algn="ctr"/>
            <a:r>
              <a:rPr lang="zh-CN" altLang="en-US" sz="2800">
                <a:solidFill>
                  <a:srgbClr val="0000FF"/>
                </a:solidFill>
              </a:rPr>
              <a:t>先判断</a:t>
            </a:r>
          </a:p>
          <a:p>
            <a:pPr algn="ctr"/>
            <a:r>
              <a:rPr lang="zh-CN" altLang="en-US" sz="2800">
                <a:solidFill>
                  <a:srgbClr val="0000FF"/>
                </a:solidFill>
              </a:rPr>
              <a:t>再循环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</a:rPr>
              <a:t>for </a:t>
            </a:r>
            <a:r>
              <a:rPr lang="zh-CN" altLang="en-US" dirty="0">
                <a:solidFill>
                  <a:schemeClr val="tx1"/>
                </a:solidFill>
              </a:rPr>
              <a:t>语句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755651" y="1700213"/>
            <a:ext cx="7632774" cy="432643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 marL="377825" indent="-377825" algn="just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/>
              <a:t>使用</a:t>
            </a:r>
            <a:r>
              <a:rPr lang="en-US" altLang="zh-CN" dirty="0"/>
              <a:t>for</a:t>
            </a:r>
            <a:r>
              <a:rPr lang="zh-CN" altLang="en-US" dirty="0"/>
              <a:t>循环语句</a:t>
            </a:r>
            <a:r>
              <a:rPr lang="zh-CN" altLang="en-US" dirty="0" smtClean="0"/>
              <a:t>输出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个整数：</a:t>
            </a:r>
            <a:r>
              <a:rPr lang="en-US" altLang="zh-CN" dirty="0" smtClean="0"/>
              <a:t>1   </a:t>
            </a:r>
            <a:r>
              <a:rPr lang="en-US" altLang="zh-CN" dirty="0"/>
              <a:t>2   3   4   5</a:t>
            </a:r>
          </a:p>
          <a:p>
            <a:pPr marL="377825" indent="-377825" algn="just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dirty="0" smtClean="0"/>
          </a:p>
        </p:txBody>
      </p:sp>
      <p:sp>
        <p:nvSpPr>
          <p:cNvPr id="2" name="矩形 1"/>
          <p:cNvSpPr/>
          <p:nvPr/>
        </p:nvSpPr>
        <p:spPr>
          <a:xfrm>
            <a:off x="971600" y="2283669"/>
            <a:ext cx="43204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#include &lt;</a:t>
            </a:r>
            <a:r>
              <a:rPr lang="en-US" altLang="zh-CN" sz="2800" b="1" dirty="0" err="1"/>
              <a:t>stdio.h</a:t>
            </a:r>
            <a:r>
              <a:rPr lang="en-US" altLang="zh-CN" sz="2800" b="1" dirty="0"/>
              <a:t>&gt;</a:t>
            </a:r>
          </a:p>
          <a:p>
            <a:r>
              <a:rPr lang="en-US" altLang="zh-CN" sz="2800" b="1" dirty="0" err="1"/>
              <a:t>int</a:t>
            </a:r>
            <a:r>
              <a:rPr lang="en-US" altLang="zh-CN" sz="2800" b="1" dirty="0"/>
              <a:t>  main()</a:t>
            </a:r>
          </a:p>
          <a:p>
            <a:r>
              <a:rPr lang="en-US" altLang="zh-CN" sz="2800" b="1" dirty="0"/>
              <a:t>{</a:t>
            </a:r>
          </a:p>
          <a:p>
            <a:r>
              <a:rPr lang="en-US" altLang="zh-CN" sz="2800" b="1" dirty="0" smtClean="0"/>
              <a:t>    </a:t>
            </a:r>
            <a:r>
              <a:rPr lang="en-US" altLang="zh-CN" sz="2800" b="1" dirty="0" err="1" smtClean="0"/>
              <a:t>int</a:t>
            </a:r>
            <a:r>
              <a:rPr lang="en-US" altLang="zh-CN" sz="2800" b="1" dirty="0" smtClean="0"/>
              <a:t>  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;</a:t>
            </a:r>
          </a:p>
          <a:p>
            <a:r>
              <a:rPr lang="en-US" altLang="zh-CN" sz="2800" b="1" dirty="0" smtClean="0"/>
              <a:t>    for(</a:t>
            </a:r>
            <a:r>
              <a:rPr lang="en-US" altLang="zh-CN" sz="2800" b="1" dirty="0" err="1" smtClean="0"/>
              <a:t>i</a:t>
            </a:r>
            <a:r>
              <a:rPr lang="en-US" altLang="zh-CN" sz="2800" b="1" dirty="0" smtClean="0"/>
              <a:t>=1;i</a:t>
            </a:r>
            <a:r>
              <a:rPr lang="en-US" altLang="zh-CN" sz="2800" b="1" dirty="0"/>
              <a:t>&lt;=5;i++)</a:t>
            </a:r>
          </a:p>
          <a:p>
            <a:r>
              <a:rPr lang="en-US" altLang="zh-CN" sz="2800" b="1" dirty="0" smtClean="0"/>
              <a:t>        </a:t>
            </a:r>
            <a:r>
              <a:rPr lang="en-US" altLang="zh-CN" sz="2800" b="1" dirty="0" err="1" smtClean="0"/>
              <a:t>printf</a:t>
            </a:r>
            <a:r>
              <a:rPr lang="en-US" altLang="zh-CN" sz="2800" b="1" dirty="0"/>
              <a:t>("%d ",</a:t>
            </a:r>
            <a:r>
              <a:rPr lang="en-US" altLang="zh-CN" sz="2800" b="1" dirty="0" err="1"/>
              <a:t>i</a:t>
            </a:r>
            <a:r>
              <a:rPr lang="en-US" altLang="zh-CN" sz="2800" b="1" dirty="0"/>
              <a:t>);</a:t>
            </a:r>
          </a:p>
          <a:p>
            <a:r>
              <a:rPr lang="en-US" altLang="zh-CN" sz="2800" b="1" dirty="0" smtClean="0"/>
              <a:t>    return  </a:t>
            </a:r>
            <a:r>
              <a:rPr lang="en-US" altLang="zh-CN" sz="2800" b="1" dirty="0"/>
              <a:t>0;</a:t>
            </a:r>
          </a:p>
          <a:p>
            <a:r>
              <a:rPr lang="en-US" altLang="zh-CN" sz="2800" b="1" dirty="0"/>
              <a:t>}</a:t>
            </a:r>
            <a:endParaRPr lang="zh-CN" altLang="en-US" sz="2800" b="1" dirty="0"/>
          </a:p>
        </p:txBody>
      </p:sp>
      <p:grpSp>
        <p:nvGrpSpPr>
          <p:cNvPr id="4" name="组合 3"/>
          <p:cNvGrpSpPr/>
          <p:nvPr/>
        </p:nvGrpSpPr>
        <p:grpSpPr>
          <a:xfrm>
            <a:off x="4644008" y="1988840"/>
            <a:ext cx="3960440" cy="4824536"/>
            <a:chOff x="4588560" y="1916832"/>
            <a:chExt cx="3960440" cy="4824536"/>
          </a:xfrm>
        </p:grpSpPr>
        <p:grpSp>
          <p:nvGrpSpPr>
            <p:cNvPr id="5" name="组合 3"/>
            <p:cNvGrpSpPr>
              <a:grpSpLocks/>
            </p:cNvGrpSpPr>
            <p:nvPr/>
          </p:nvGrpSpPr>
          <p:grpSpPr bwMode="auto">
            <a:xfrm>
              <a:off x="4588560" y="1916832"/>
              <a:ext cx="3960440" cy="4824536"/>
              <a:chOff x="1876425" y="1304925"/>
              <a:chExt cx="4999038" cy="5508625"/>
            </a:xfrm>
          </p:grpSpPr>
          <p:cxnSp>
            <p:nvCxnSpPr>
              <p:cNvPr id="6" name="直接箭头连接符 5"/>
              <p:cNvCxnSpPr/>
              <p:nvPr/>
            </p:nvCxnSpPr>
            <p:spPr bwMode="auto">
              <a:xfrm>
                <a:off x="4470400" y="1304925"/>
                <a:ext cx="0" cy="4699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AutoShape 4"/>
              <p:cNvSpPr>
                <a:spLocks noChangeArrowheads="1"/>
              </p:cNvSpPr>
              <p:nvPr/>
            </p:nvSpPr>
            <p:spPr bwMode="auto">
              <a:xfrm>
                <a:off x="3040063" y="2773363"/>
                <a:ext cx="2874962" cy="852487"/>
              </a:xfrm>
              <a:prstGeom prst="flowChartDecision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Arial" charset="0"/>
                </a:endParaRPr>
              </a:p>
            </p:txBody>
          </p:sp>
          <p:sp>
            <p:nvSpPr>
              <p:cNvPr id="8" name="Text Box 5"/>
              <p:cNvSpPr txBox="1">
                <a:spLocks noChangeArrowheads="1"/>
              </p:cNvSpPr>
              <p:nvPr/>
            </p:nvSpPr>
            <p:spPr bwMode="auto">
              <a:xfrm>
                <a:off x="3024188" y="1806575"/>
                <a:ext cx="2890837" cy="5232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 dirty="0" err="1" smtClean="0">
                    <a:latin typeface="Times New Roman" pitchFamily="18" charset="0"/>
                  </a:rPr>
                  <a:t>i</a:t>
                </a:r>
                <a:r>
                  <a:rPr lang="en-US" altLang="zh-CN" sz="2400" b="1" dirty="0" smtClean="0">
                    <a:latin typeface="Times New Roman" pitchFamily="18" charset="0"/>
                  </a:rPr>
                  <a:t>=1</a:t>
                </a:r>
              </a:p>
            </p:txBody>
          </p:sp>
          <p:sp>
            <p:nvSpPr>
              <p:cNvPr id="9" name="Text Box 6"/>
              <p:cNvSpPr txBox="1">
                <a:spLocks noChangeArrowheads="1"/>
              </p:cNvSpPr>
              <p:nvPr/>
            </p:nvSpPr>
            <p:spPr bwMode="auto">
              <a:xfrm>
                <a:off x="3040063" y="5013325"/>
                <a:ext cx="2874962" cy="52322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2400" b="1" dirty="0" err="1" smtClean="0">
                    <a:latin typeface="Times New Roman" pitchFamily="18" charset="0"/>
                  </a:rPr>
                  <a:t>i</a:t>
                </a:r>
                <a:r>
                  <a:rPr lang="en-US" altLang="zh-CN" sz="2400" b="1" dirty="0" smtClean="0">
                    <a:latin typeface="Times New Roman" pitchFamily="18" charset="0"/>
                  </a:rPr>
                  <a:t>++</a:t>
                </a:r>
              </a:p>
            </p:txBody>
          </p:sp>
          <p:sp>
            <p:nvSpPr>
              <p:cNvPr id="10" name="Text Box 7"/>
              <p:cNvSpPr txBox="1">
                <a:spLocks noChangeArrowheads="1"/>
              </p:cNvSpPr>
              <p:nvPr/>
            </p:nvSpPr>
            <p:spPr bwMode="auto">
              <a:xfrm>
                <a:off x="3170238" y="4070350"/>
                <a:ext cx="2624137" cy="52322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1" lang="zh-CN" altLang="en-US" sz="2400" b="1" dirty="0" smtClean="0">
                    <a:latin typeface="Times New Roman" pitchFamily="18" charset="0"/>
                  </a:rPr>
                  <a:t>输出</a:t>
                </a:r>
                <a:r>
                  <a:rPr kumimoji="1" lang="en-US" altLang="zh-CN" sz="2400" b="1" dirty="0" err="1" smtClean="0">
                    <a:latin typeface="Times New Roman" pitchFamily="18" charset="0"/>
                  </a:rPr>
                  <a:t>i</a:t>
                </a:r>
                <a:r>
                  <a:rPr kumimoji="1" lang="zh-CN" altLang="en-US" sz="2400" b="1" dirty="0" smtClean="0">
                    <a:latin typeface="Times New Roman" pitchFamily="18" charset="0"/>
                  </a:rPr>
                  <a:t>的值</a:t>
                </a:r>
              </a:p>
            </p:txBody>
          </p:sp>
          <p:sp>
            <p:nvSpPr>
              <p:cNvPr id="11" name="Text Box 8"/>
              <p:cNvSpPr txBox="1">
                <a:spLocks noChangeArrowheads="1"/>
              </p:cNvSpPr>
              <p:nvPr/>
            </p:nvSpPr>
            <p:spPr bwMode="auto">
              <a:xfrm>
                <a:off x="3334217" y="3024735"/>
                <a:ext cx="2250154" cy="44278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kumimoji="1" lang="en-US" altLang="zh-CN" sz="2400" b="1" dirty="0" err="1" smtClean="0">
                    <a:latin typeface="Times New Roman" panose="02020603050405020304" pitchFamily="18" charset="0"/>
                  </a:rPr>
                  <a:t>i</a:t>
                </a:r>
                <a:r>
                  <a:rPr kumimoji="1" lang="en-US" altLang="zh-CN" sz="2400" b="1" dirty="0" smtClean="0">
                    <a:latin typeface="Times New Roman" panose="02020603050405020304" pitchFamily="18" charset="0"/>
                  </a:rPr>
                  <a:t>&lt;=5</a:t>
                </a:r>
                <a:endParaRPr kumimoji="1" lang="en-US" altLang="zh-CN" sz="24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Text Box 13"/>
              <p:cNvSpPr txBox="1">
                <a:spLocks noChangeArrowheads="1"/>
              </p:cNvSpPr>
              <p:nvPr/>
            </p:nvSpPr>
            <p:spPr bwMode="auto">
              <a:xfrm>
                <a:off x="4670425" y="3594100"/>
                <a:ext cx="500063" cy="5271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真</a:t>
                </a:r>
              </a:p>
            </p:txBody>
          </p:sp>
          <p:sp>
            <p:nvSpPr>
              <p:cNvPr id="13" name="Text Box 15"/>
              <p:cNvSpPr txBox="1">
                <a:spLocks noChangeArrowheads="1"/>
              </p:cNvSpPr>
              <p:nvPr/>
            </p:nvSpPr>
            <p:spPr bwMode="auto">
              <a:xfrm>
                <a:off x="6015039" y="2768600"/>
                <a:ext cx="500062" cy="5271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 sz="2400" b="1" dirty="0" smtClean="0">
                    <a:solidFill>
                      <a:srgbClr val="FF0000"/>
                    </a:solidFill>
                    <a:latin typeface="Times New Roman" pitchFamily="18" charset="0"/>
                  </a:rPr>
                  <a:t>假</a:t>
                </a:r>
              </a:p>
            </p:txBody>
          </p:sp>
          <p:cxnSp>
            <p:nvCxnSpPr>
              <p:cNvPr id="14" name="直接箭头连接符 13"/>
              <p:cNvCxnSpPr/>
              <p:nvPr/>
            </p:nvCxnSpPr>
            <p:spPr bwMode="auto">
              <a:xfrm>
                <a:off x="4470400" y="2298700"/>
                <a:ext cx="0" cy="469900"/>
              </a:xfrm>
              <a:prstGeom prst="straightConnector1">
                <a:avLst/>
              </a:prstGeom>
              <a:ln w="38100">
                <a:solidFill>
                  <a:srgbClr val="0070C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 bwMode="auto">
              <a:xfrm>
                <a:off x="4481513" y="3606800"/>
                <a:ext cx="0" cy="469900"/>
              </a:xfrm>
              <a:prstGeom prst="straightConnector1">
                <a:avLst/>
              </a:prstGeom>
              <a:ln w="38100">
                <a:solidFill>
                  <a:srgbClr val="CC33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 bwMode="auto">
              <a:xfrm>
                <a:off x="4486275" y="4564063"/>
                <a:ext cx="0" cy="469900"/>
              </a:xfrm>
              <a:prstGeom prst="straightConnector1">
                <a:avLst/>
              </a:prstGeom>
              <a:ln w="38100">
                <a:solidFill>
                  <a:srgbClr val="CC33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" name="组合 29"/>
              <p:cNvGrpSpPr>
                <a:grpSpLocks/>
              </p:cNvGrpSpPr>
              <p:nvPr/>
            </p:nvGrpSpPr>
            <p:grpSpPr bwMode="auto">
              <a:xfrm>
                <a:off x="1876425" y="2553706"/>
                <a:ext cx="2621070" cy="3378658"/>
                <a:chOff x="1259632" y="2060848"/>
                <a:chExt cx="2824956" cy="3621560"/>
              </a:xfrm>
            </p:grpSpPr>
            <p:cxnSp>
              <p:nvCxnSpPr>
                <p:cNvPr id="23" name="直接连接符 22"/>
                <p:cNvCxnSpPr/>
                <p:nvPr/>
              </p:nvCxnSpPr>
              <p:spPr>
                <a:xfrm>
                  <a:off x="4075917" y="5250327"/>
                  <a:ext cx="8555" cy="432214"/>
                </a:xfrm>
                <a:prstGeom prst="line">
                  <a:avLst/>
                </a:prstGeom>
                <a:ln w="38100">
                  <a:solidFill>
                    <a:srgbClr val="CC3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/>
                <p:cNvCxnSpPr/>
                <p:nvPr/>
              </p:nvCxnSpPr>
              <p:spPr>
                <a:xfrm flipH="1">
                  <a:off x="1259632" y="5662121"/>
                  <a:ext cx="2824841" cy="0"/>
                </a:xfrm>
                <a:prstGeom prst="line">
                  <a:avLst/>
                </a:prstGeom>
                <a:ln w="38100">
                  <a:solidFill>
                    <a:srgbClr val="CC3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/>
                <p:cNvCxnSpPr/>
                <p:nvPr/>
              </p:nvCxnSpPr>
              <p:spPr>
                <a:xfrm flipV="1">
                  <a:off x="1259632" y="2061472"/>
                  <a:ext cx="0" cy="3600650"/>
                </a:xfrm>
                <a:prstGeom prst="line">
                  <a:avLst/>
                </a:prstGeom>
                <a:ln w="38100">
                  <a:solidFill>
                    <a:srgbClr val="CC3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/>
                <p:cNvCxnSpPr/>
                <p:nvPr/>
              </p:nvCxnSpPr>
              <p:spPr>
                <a:xfrm>
                  <a:off x="1259632" y="2061472"/>
                  <a:ext cx="2807731" cy="0"/>
                </a:xfrm>
                <a:prstGeom prst="straightConnector1">
                  <a:avLst/>
                </a:prstGeom>
                <a:ln w="38100">
                  <a:solidFill>
                    <a:srgbClr val="CC33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组合 2"/>
              <p:cNvGrpSpPr>
                <a:grpSpLocks/>
              </p:cNvGrpSpPr>
              <p:nvPr/>
            </p:nvGrpSpPr>
            <p:grpSpPr bwMode="auto">
              <a:xfrm>
                <a:off x="5538788" y="3200400"/>
                <a:ext cx="1336675" cy="3613150"/>
                <a:chOff x="5538788" y="3200400"/>
                <a:chExt cx="1336675" cy="3613150"/>
              </a:xfrm>
            </p:grpSpPr>
            <p:cxnSp>
              <p:nvCxnSpPr>
                <p:cNvPr id="19" name="直接连接符 18"/>
                <p:cNvCxnSpPr>
                  <a:stCxn id="7" idx="3"/>
                </p:cNvCxnSpPr>
                <p:nvPr/>
              </p:nvCxnSpPr>
              <p:spPr bwMode="auto">
                <a:xfrm>
                  <a:off x="5915025" y="3200400"/>
                  <a:ext cx="960438" cy="1588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/>
                <p:cNvCxnSpPr/>
                <p:nvPr/>
              </p:nvCxnSpPr>
              <p:spPr bwMode="auto">
                <a:xfrm>
                  <a:off x="6875463" y="3201988"/>
                  <a:ext cx="0" cy="2873375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/>
                <p:cNvCxnSpPr/>
                <p:nvPr/>
              </p:nvCxnSpPr>
              <p:spPr bwMode="auto">
                <a:xfrm flipH="1">
                  <a:off x="5538788" y="6075363"/>
                  <a:ext cx="1336675" cy="0"/>
                </a:xfrm>
                <a:prstGeom prst="line">
                  <a:avLst/>
                </a:prstGeom>
                <a:ln w="38100">
                  <a:solidFill>
                    <a:srgbClr val="FFC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箭头连接符 21"/>
                <p:cNvCxnSpPr/>
                <p:nvPr/>
              </p:nvCxnSpPr>
              <p:spPr bwMode="auto">
                <a:xfrm>
                  <a:off x="5538788" y="6075363"/>
                  <a:ext cx="0" cy="738187"/>
                </a:xfrm>
                <a:prstGeom prst="straightConnector1">
                  <a:avLst/>
                </a:prstGeom>
                <a:ln w="38100">
                  <a:solidFill>
                    <a:srgbClr val="FFC000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" name="流程图: 数据 2"/>
            <p:cNvSpPr/>
            <p:nvPr/>
          </p:nvSpPr>
          <p:spPr bwMode="auto">
            <a:xfrm>
              <a:off x="5292080" y="4323094"/>
              <a:ext cx="2727436" cy="476317"/>
            </a:xfrm>
            <a:prstGeom prst="flowChartInputOutput">
              <a:avLst/>
            </a:prstGeom>
            <a:noFill/>
            <a:ln w="381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宋体" pitchFamily="2" charset="-122"/>
              </a:endParaRPr>
            </a:p>
          </p:txBody>
        </p:sp>
      </p:grpSp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935502" y="6099261"/>
            <a:ext cx="4032448" cy="523220"/>
          </a:xfrm>
          <a:prstGeom prst="rect">
            <a:avLst/>
          </a:prstGeom>
          <a:noFill/>
          <a:ln w="508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800" b="1" dirty="0" smtClean="0"/>
              <a:t>出循环后循环变量的值？</a:t>
            </a:r>
            <a:endParaRPr kumimoji="1" lang="en-US" altLang="zh-CN" sz="2800" b="1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bldLvl="2" autoUpdateAnimBg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chemeClr val="tx1"/>
                </a:solidFill>
              </a:rPr>
              <a:t>从</a:t>
            </a:r>
            <a:r>
              <a:rPr lang="zh-CN" altLang="en-US" dirty="0">
                <a:solidFill>
                  <a:schemeClr val="tx1"/>
                </a:solidFill>
              </a:rPr>
              <a:t>键盘输入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r>
              <a:rPr lang="zh-CN" altLang="en-US" dirty="0">
                <a:solidFill>
                  <a:schemeClr val="tx1"/>
                </a:solidFill>
              </a:rPr>
              <a:t>个整数，求它们的</a:t>
            </a:r>
            <a:r>
              <a:rPr lang="zh-CN" altLang="en-US" dirty="0" smtClean="0">
                <a:solidFill>
                  <a:schemeClr val="tx1"/>
                </a:solidFill>
              </a:rPr>
              <a:t>和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1600" y="1700808"/>
            <a:ext cx="547260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/>
              <a:t>#include &lt;</a:t>
            </a:r>
            <a:r>
              <a:rPr lang="en-US" altLang="zh-CN" sz="2600" b="1" dirty="0" err="1"/>
              <a:t>stdio.h</a:t>
            </a:r>
            <a:r>
              <a:rPr lang="en-US" altLang="zh-CN" sz="2600" b="1" dirty="0"/>
              <a:t>&gt;</a:t>
            </a:r>
          </a:p>
          <a:p>
            <a:r>
              <a:rPr lang="en-US" altLang="zh-CN" sz="2600" b="1" dirty="0" err="1"/>
              <a:t>int</a:t>
            </a:r>
            <a:r>
              <a:rPr lang="en-US" altLang="zh-CN" sz="2600" b="1" dirty="0"/>
              <a:t>  main()</a:t>
            </a:r>
          </a:p>
          <a:p>
            <a:r>
              <a:rPr lang="en-US" altLang="zh-CN" sz="2600" b="1" dirty="0"/>
              <a:t>{</a:t>
            </a:r>
          </a:p>
          <a:p>
            <a:r>
              <a:rPr lang="en-US" altLang="zh-CN" sz="2600" b="1" dirty="0" smtClean="0"/>
              <a:t>    </a:t>
            </a:r>
            <a:r>
              <a:rPr lang="en-US" altLang="zh-CN" sz="2600" b="1" dirty="0" err="1" smtClean="0"/>
              <a:t>int</a:t>
            </a:r>
            <a:r>
              <a:rPr lang="en-US" altLang="zh-CN" sz="2600" b="1" dirty="0" smtClean="0"/>
              <a:t>  </a:t>
            </a:r>
            <a:r>
              <a:rPr lang="en-US" altLang="zh-CN" sz="2600" b="1" dirty="0" err="1" smtClean="0"/>
              <a:t>i,m,sum</a:t>
            </a:r>
            <a:r>
              <a:rPr lang="en-US" altLang="zh-CN" sz="2600" b="1" dirty="0" smtClean="0"/>
              <a:t>;</a:t>
            </a:r>
          </a:p>
          <a:p>
            <a:r>
              <a:rPr lang="en-US" altLang="zh-CN" sz="2600" b="1" dirty="0"/>
              <a:t> </a:t>
            </a:r>
            <a:r>
              <a:rPr lang="en-US" altLang="zh-CN" sz="2600" b="1" dirty="0" smtClean="0"/>
              <a:t>   sum=0;</a:t>
            </a:r>
            <a:endParaRPr lang="en-US" altLang="zh-CN" sz="2600" b="1" dirty="0"/>
          </a:p>
          <a:p>
            <a:r>
              <a:rPr lang="en-US" altLang="zh-CN" sz="2600" b="1" dirty="0" smtClean="0"/>
              <a:t>    for(</a:t>
            </a:r>
            <a:r>
              <a:rPr lang="en-US" altLang="zh-CN" sz="2600" b="1" dirty="0" err="1" smtClean="0"/>
              <a:t>i</a:t>
            </a:r>
            <a:r>
              <a:rPr lang="en-US" altLang="zh-CN" sz="2600" b="1" dirty="0" smtClean="0"/>
              <a:t>=1;i</a:t>
            </a:r>
            <a:r>
              <a:rPr lang="en-US" altLang="zh-CN" sz="2600" b="1" dirty="0"/>
              <a:t>&lt;=5;i</a:t>
            </a:r>
            <a:r>
              <a:rPr lang="en-US" altLang="zh-CN" sz="2600" b="1" dirty="0" smtClean="0"/>
              <a:t>++)</a:t>
            </a:r>
          </a:p>
          <a:p>
            <a:r>
              <a:rPr lang="en-US" altLang="zh-CN" sz="2600" b="1" dirty="0"/>
              <a:t> </a:t>
            </a:r>
            <a:r>
              <a:rPr lang="en-US" altLang="zh-CN" sz="2600" b="1" dirty="0" smtClean="0"/>
              <a:t>   {</a:t>
            </a:r>
            <a:endParaRPr lang="en-US" altLang="zh-CN" sz="2600" b="1" dirty="0"/>
          </a:p>
          <a:p>
            <a:r>
              <a:rPr lang="en-US" altLang="zh-CN" sz="2600" b="1" dirty="0" smtClean="0"/>
              <a:t>        </a:t>
            </a:r>
            <a:r>
              <a:rPr lang="en-US" altLang="zh-CN" sz="2600" b="1" dirty="0" err="1" smtClean="0"/>
              <a:t>scanf</a:t>
            </a:r>
            <a:r>
              <a:rPr lang="en-US" altLang="zh-CN" sz="2600" b="1" dirty="0" smtClean="0"/>
              <a:t>(</a:t>
            </a:r>
            <a:r>
              <a:rPr lang="en-US" altLang="zh-CN" sz="2600" b="1" dirty="0"/>
              <a:t>"</a:t>
            </a:r>
            <a:r>
              <a:rPr lang="en-US" altLang="zh-CN" sz="2600" b="1" dirty="0" smtClean="0"/>
              <a:t>%</a:t>
            </a:r>
            <a:r>
              <a:rPr lang="en-US" altLang="zh-CN" sz="2600" b="1" dirty="0" err="1" smtClean="0"/>
              <a:t>d",&amp;m</a:t>
            </a:r>
            <a:r>
              <a:rPr lang="en-US" altLang="zh-CN" sz="2600" b="1" dirty="0" smtClean="0"/>
              <a:t>);</a:t>
            </a:r>
          </a:p>
          <a:p>
            <a:r>
              <a:rPr lang="en-US" altLang="zh-CN" sz="2600" b="1" dirty="0"/>
              <a:t> </a:t>
            </a:r>
            <a:r>
              <a:rPr lang="en-US" altLang="zh-CN" sz="2600" b="1" dirty="0" smtClean="0"/>
              <a:t>       sum=</a:t>
            </a:r>
            <a:r>
              <a:rPr lang="en-US" altLang="zh-CN" sz="2600" b="1" dirty="0" err="1" smtClean="0"/>
              <a:t>sum+m</a:t>
            </a:r>
            <a:r>
              <a:rPr lang="en-US" altLang="zh-CN" sz="2600" b="1" dirty="0" smtClean="0"/>
              <a:t>;</a:t>
            </a:r>
          </a:p>
          <a:p>
            <a:r>
              <a:rPr lang="en-US" altLang="zh-CN" sz="2600" b="1" dirty="0"/>
              <a:t> </a:t>
            </a:r>
            <a:r>
              <a:rPr lang="en-US" altLang="zh-CN" sz="2600" b="1" dirty="0" smtClean="0"/>
              <a:t>   }</a:t>
            </a:r>
            <a:endParaRPr lang="en-US" altLang="zh-CN" sz="2600" b="1" dirty="0"/>
          </a:p>
          <a:p>
            <a:r>
              <a:rPr lang="en-US" altLang="zh-CN" sz="2600" b="1" dirty="0"/>
              <a:t>    </a:t>
            </a:r>
            <a:r>
              <a:rPr lang="en-US" altLang="zh-CN" sz="2600" b="1" dirty="0" err="1"/>
              <a:t>printf</a:t>
            </a:r>
            <a:r>
              <a:rPr lang="en-US" altLang="zh-CN" sz="2600" b="1" dirty="0"/>
              <a:t>("%d\</a:t>
            </a:r>
            <a:r>
              <a:rPr lang="en-US" altLang="zh-CN" sz="2600" b="1" dirty="0" err="1"/>
              <a:t>n",sum</a:t>
            </a:r>
            <a:r>
              <a:rPr lang="en-US" altLang="zh-CN" sz="2600" b="1" dirty="0" smtClean="0"/>
              <a:t>);</a:t>
            </a:r>
          </a:p>
          <a:p>
            <a:r>
              <a:rPr lang="en-US" altLang="zh-CN" sz="2600" b="1" dirty="0"/>
              <a:t> </a:t>
            </a:r>
            <a:r>
              <a:rPr lang="en-US" altLang="zh-CN" sz="2600" b="1" dirty="0" smtClean="0"/>
              <a:t>   return  </a:t>
            </a:r>
            <a:r>
              <a:rPr lang="en-US" altLang="zh-CN" sz="2600" b="1" dirty="0"/>
              <a:t>0;</a:t>
            </a:r>
          </a:p>
          <a:p>
            <a:r>
              <a:rPr lang="en-US" altLang="zh-CN" sz="2600" b="1" dirty="0"/>
              <a:t>}</a:t>
            </a:r>
            <a:endParaRPr lang="zh-CN" altLang="en-US" sz="2600" b="1" dirty="0"/>
          </a:p>
        </p:txBody>
      </p:sp>
      <p:sp>
        <p:nvSpPr>
          <p:cNvPr id="3" name="矩形 2"/>
          <p:cNvSpPr/>
          <p:nvPr/>
        </p:nvSpPr>
        <p:spPr>
          <a:xfrm>
            <a:off x="6300192" y="128848"/>
            <a:ext cx="2652802" cy="707886"/>
          </a:xfrm>
          <a:prstGeom prst="rect">
            <a:avLst/>
          </a:prstGeom>
          <a:ln w="38100">
            <a:solidFill>
              <a:schemeClr val="tx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solidFill>
                  <a:srgbClr val="0D12D1"/>
                </a:solidFill>
              </a:rPr>
              <a:t>思考：从</a:t>
            </a:r>
            <a:r>
              <a:rPr lang="zh-CN" altLang="en-US" sz="2000" b="1" dirty="0">
                <a:solidFill>
                  <a:srgbClr val="0D12D1"/>
                </a:solidFill>
              </a:rPr>
              <a:t>键盘输入</a:t>
            </a:r>
            <a:r>
              <a:rPr lang="en-US" altLang="zh-CN" sz="2000" b="1" dirty="0">
                <a:solidFill>
                  <a:srgbClr val="0D12D1"/>
                </a:solidFill>
              </a:rPr>
              <a:t>n</a:t>
            </a:r>
            <a:r>
              <a:rPr lang="zh-CN" altLang="en-US" sz="2000" b="1" dirty="0">
                <a:solidFill>
                  <a:srgbClr val="0D12D1"/>
                </a:solidFill>
              </a:rPr>
              <a:t>个整数，求它们的</a:t>
            </a:r>
            <a:r>
              <a:rPr lang="zh-CN" altLang="en-US" sz="2000" b="1" dirty="0" smtClean="0">
                <a:solidFill>
                  <a:srgbClr val="0D12D1"/>
                </a:solidFill>
              </a:rPr>
              <a:t>和？</a:t>
            </a:r>
            <a:endParaRPr lang="zh-CN" altLang="en-US" sz="2000" b="1" dirty="0">
              <a:solidFill>
                <a:srgbClr val="0D12D1"/>
              </a:solidFill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966355" y="1631892"/>
            <a:ext cx="4037498" cy="5253492"/>
            <a:chOff x="4966355" y="1549400"/>
            <a:chExt cx="4037498" cy="5253492"/>
          </a:xfrm>
        </p:grpSpPr>
        <p:grpSp>
          <p:nvGrpSpPr>
            <p:cNvPr id="46" name="组合 45"/>
            <p:cNvGrpSpPr/>
            <p:nvPr/>
          </p:nvGrpSpPr>
          <p:grpSpPr>
            <a:xfrm>
              <a:off x="4966355" y="1549400"/>
              <a:ext cx="4037498" cy="5025145"/>
              <a:chOff x="4966355" y="1753101"/>
              <a:chExt cx="4037498" cy="5025145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4966355" y="1753101"/>
                <a:ext cx="3986639" cy="4625546"/>
                <a:chOff x="4582271" y="1636469"/>
                <a:chExt cx="3986639" cy="4625546"/>
              </a:xfrm>
            </p:grpSpPr>
            <p:grpSp>
              <p:nvGrpSpPr>
                <p:cNvPr id="6" name="组合 3"/>
                <p:cNvGrpSpPr>
                  <a:grpSpLocks/>
                </p:cNvGrpSpPr>
                <p:nvPr/>
              </p:nvGrpSpPr>
              <p:grpSpPr bwMode="auto">
                <a:xfrm>
                  <a:off x="4582271" y="1636469"/>
                  <a:ext cx="3986639" cy="4625546"/>
                  <a:chOff x="1868487" y="984809"/>
                  <a:chExt cx="5032107" cy="5281419"/>
                </a:xfrm>
              </p:grpSpPr>
              <p:cxnSp>
                <p:nvCxnSpPr>
                  <p:cNvPr id="8" name="直接箭头连接符 7"/>
                  <p:cNvCxnSpPr/>
                  <p:nvPr/>
                </p:nvCxnSpPr>
                <p:spPr bwMode="auto">
                  <a:xfrm>
                    <a:off x="4470400" y="1710331"/>
                    <a:ext cx="0" cy="260725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" name="AutoShape 4"/>
                  <p:cNvSpPr>
                    <a:spLocks noChangeArrowheads="1"/>
                  </p:cNvSpPr>
                  <p:nvPr/>
                </p:nvSpPr>
                <p:spPr bwMode="auto">
                  <a:xfrm>
                    <a:off x="3581233" y="2665089"/>
                    <a:ext cx="1756120" cy="520726"/>
                  </a:xfrm>
                  <a:prstGeom prst="flowChartDecision">
                    <a:avLst/>
                  </a:prstGeom>
                  <a:noFill/>
                  <a:ln w="38100">
                    <a:solidFill>
                      <a:srgbClr val="007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 sz="2000">
                      <a:latin typeface="Arial" charset="0"/>
                    </a:endParaRPr>
                  </a:p>
                </p:txBody>
              </p:sp>
              <p:sp>
                <p:nvSpPr>
                  <p:cNvPr id="10" name="Text Box 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188" y="1971057"/>
                    <a:ext cx="2890837" cy="456843"/>
                  </a:xfrm>
                  <a:prstGeom prst="rect">
                    <a:avLst/>
                  </a:prstGeom>
                  <a:noFill/>
                  <a:ln w="38100">
                    <a:solidFill>
                      <a:srgbClr val="007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sz="2000" b="1" dirty="0" err="1" smtClean="0">
                        <a:latin typeface="Times New Roman" pitchFamily="18" charset="0"/>
                      </a:rPr>
                      <a:t>i</a:t>
                    </a:r>
                    <a:r>
                      <a:rPr lang="en-US" altLang="zh-CN" sz="2000" b="1" dirty="0" smtClean="0">
                        <a:latin typeface="Times New Roman" pitchFamily="18" charset="0"/>
                      </a:rPr>
                      <a:t>=1</a:t>
                    </a:r>
                  </a:p>
                </p:txBody>
              </p:sp>
              <p:sp>
                <p:nvSpPr>
                  <p:cNvPr id="11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08656" y="5216968"/>
                    <a:ext cx="2874962" cy="456843"/>
                  </a:xfrm>
                  <a:prstGeom prst="rect">
                    <a:avLst/>
                  </a:prstGeom>
                  <a:noFill/>
                  <a:ln w="38100">
                    <a:solidFill>
                      <a:srgbClr val="007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sz="2000" b="1" dirty="0" err="1" smtClean="0">
                        <a:latin typeface="Times New Roman" pitchFamily="18" charset="0"/>
                      </a:rPr>
                      <a:t>i</a:t>
                    </a:r>
                    <a:r>
                      <a:rPr lang="en-US" altLang="zh-CN" sz="2000" b="1" dirty="0" smtClean="0">
                        <a:latin typeface="Times New Roman" pitchFamily="18" charset="0"/>
                      </a:rPr>
                      <a:t>++</a:t>
                    </a:r>
                  </a:p>
                </p:txBody>
              </p:sp>
              <p:sp>
                <p:nvSpPr>
                  <p:cNvPr id="12" name="Text Box 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37114" y="3638304"/>
                    <a:ext cx="2624136" cy="456843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kumimoji="1" lang="zh-CN" altLang="en-US" sz="2000" b="1" dirty="0" smtClean="0">
                        <a:latin typeface="Times New Roman" pitchFamily="18" charset="0"/>
                      </a:rPr>
                      <a:t>输入</a:t>
                    </a:r>
                    <a:r>
                      <a:rPr kumimoji="1" lang="en-US" altLang="zh-CN" sz="2000" b="1" dirty="0" smtClean="0">
                        <a:latin typeface="Times New Roman" pitchFamily="18" charset="0"/>
                      </a:rPr>
                      <a:t>m</a:t>
                    </a:r>
                    <a:r>
                      <a:rPr kumimoji="1" lang="zh-CN" altLang="en-US" sz="2000" b="1" dirty="0" smtClean="0">
                        <a:latin typeface="Times New Roman" pitchFamily="18" charset="0"/>
                      </a:rPr>
                      <a:t>的值</a:t>
                    </a:r>
                  </a:p>
                </p:txBody>
              </p:sp>
              <p:sp>
                <p:nvSpPr>
                  <p:cNvPr id="13" name="Text Box 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77156" y="2754194"/>
                    <a:ext cx="2250154" cy="38655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square">
                    <a:spAutoFit/>
                  </a:bodyPr>
                  <a:lstStyle>
                    <a:lvl1pPr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80000"/>
                      </a:lnSpc>
                      <a:spcBef>
                        <a:spcPct val="50000"/>
                      </a:spcBef>
                    </a:pPr>
                    <a:r>
                      <a:rPr kumimoji="1" lang="en-US" altLang="zh-CN" sz="2000" b="1" dirty="0" err="1" smtClean="0">
                        <a:latin typeface="Times New Roman" panose="02020603050405020304" pitchFamily="18" charset="0"/>
                      </a:rPr>
                      <a:t>i</a:t>
                    </a:r>
                    <a:r>
                      <a:rPr kumimoji="1" lang="en-US" altLang="zh-CN" sz="2000" b="1" dirty="0" smtClean="0">
                        <a:latin typeface="Times New Roman" panose="02020603050405020304" pitchFamily="18" charset="0"/>
                      </a:rPr>
                      <a:t>&lt;=5</a:t>
                    </a:r>
                    <a:endParaRPr kumimoji="1" lang="en-US" altLang="zh-CN" sz="2000" b="1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15424" y="3118954"/>
                    <a:ext cx="500063" cy="45684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1" lang="zh-CN" altLang="en-US" sz="2000" b="1" dirty="0" smtClean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真</a:t>
                    </a:r>
                  </a:p>
                </p:txBody>
              </p:sp>
              <p:sp>
                <p:nvSpPr>
                  <p:cNvPr id="15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27478" y="2423573"/>
                    <a:ext cx="500062" cy="45684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kumimoji="1" lang="zh-CN" altLang="en-US" sz="2000" b="1" dirty="0" smtClean="0">
                        <a:solidFill>
                          <a:srgbClr val="FF0000"/>
                        </a:solidFill>
                        <a:latin typeface="Times New Roman" pitchFamily="18" charset="0"/>
                      </a:rPr>
                      <a:t>假</a:t>
                    </a:r>
                  </a:p>
                </p:txBody>
              </p:sp>
              <p:cxnSp>
                <p:nvCxnSpPr>
                  <p:cNvPr id="16" name="直接箭头连接符 15"/>
                  <p:cNvCxnSpPr/>
                  <p:nvPr/>
                </p:nvCxnSpPr>
                <p:spPr bwMode="auto">
                  <a:xfrm>
                    <a:off x="4470400" y="2423573"/>
                    <a:ext cx="0" cy="239943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接箭头连接符 16"/>
                  <p:cNvCxnSpPr/>
                  <p:nvPr/>
                </p:nvCxnSpPr>
                <p:spPr bwMode="auto">
                  <a:xfrm>
                    <a:off x="4461672" y="3185815"/>
                    <a:ext cx="0" cy="342578"/>
                  </a:xfrm>
                  <a:prstGeom prst="straightConnector1">
                    <a:avLst/>
                  </a:prstGeom>
                  <a:ln w="38100">
                    <a:solidFill>
                      <a:srgbClr val="CC330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接箭头连接符 17"/>
                  <p:cNvCxnSpPr/>
                  <p:nvPr/>
                </p:nvCxnSpPr>
                <p:spPr bwMode="auto">
                  <a:xfrm flipH="1">
                    <a:off x="4472411" y="4879517"/>
                    <a:ext cx="7143" cy="326821"/>
                  </a:xfrm>
                  <a:prstGeom prst="straightConnector1">
                    <a:avLst/>
                  </a:prstGeom>
                  <a:ln w="38100">
                    <a:solidFill>
                      <a:srgbClr val="CC330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9" name="组合 29"/>
                  <p:cNvGrpSpPr>
                    <a:grpSpLocks/>
                  </p:cNvGrpSpPr>
                  <p:nvPr/>
                </p:nvGrpSpPr>
                <p:grpSpPr bwMode="auto">
                  <a:xfrm>
                    <a:off x="1868487" y="2554288"/>
                    <a:ext cx="2620964" cy="3400145"/>
                    <a:chOff x="1251076" y="2061472"/>
                    <a:chExt cx="2824841" cy="3644592"/>
                  </a:xfrm>
                </p:grpSpPr>
                <p:cxnSp>
                  <p:nvCxnSpPr>
                    <p:cNvPr id="25" name="直接连接符 24"/>
                    <p:cNvCxnSpPr/>
                    <p:nvPr/>
                  </p:nvCxnSpPr>
                  <p:spPr>
                    <a:xfrm>
                      <a:off x="4042001" y="5412760"/>
                      <a:ext cx="1" cy="293304"/>
                    </a:xfrm>
                    <a:prstGeom prst="line">
                      <a:avLst/>
                    </a:prstGeom>
                    <a:ln w="38100">
                      <a:solidFill>
                        <a:srgbClr val="CC33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直接连接符 25"/>
                    <p:cNvCxnSpPr/>
                    <p:nvPr/>
                  </p:nvCxnSpPr>
                  <p:spPr>
                    <a:xfrm flipH="1">
                      <a:off x="1251076" y="5706064"/>
                      <a:ext cx="2824841" cy="0"/>
                    </a:xfrm>
                    <a:prstGeom prst="line">
                      <a:avLst/>
                    </a:prstGeom>
                    <a:ln w="38100">
                      <a:solidFill>
                        <a:srgbClr val="CC33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直接连接符 26"/>
                    <p:cNvCxnSpPr/>
                    <p:nvPr/>
                  </p:nvCxnSpPr>
                  <p:spPr>
                    <a:xfrm flipV="1">
                      <a:off x="1259632" y="2061473"/>
                      <a:ext cx="0" cy="3644591"/>
                    </a:xfrm>
                    <a:prstGeom prst="line">
                      <a:avLst/>
                    </a:prstGeom>
                    <a:ln w="38100">
                      <a:solidFill>
                        <a:srgbClr val="CC33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直接箭头连接符 27"/>
                    <p:cNvCxnSpPr/>
                    <p:nvPr/>
                  </p:nvCxnSpPr>
                  <p:spPr>
                    <a:xfrm>
                      <a:off x="1259632" y="2061472"/>
                      <a:ext cx="2807731" cy="0"/>
                    </a:xfrm>
                    <a:prstGeom prst="straightConnector1">
                      <a:avLst/>
                    </a:prstGeom>
                    <a:ln w="38100">
                      <a:solidFill>
                        <a:srgbClr val="CC330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0" name="组合 2"/>
                  <p:cNvGrpSpPr>
                    <a:grpSpLocks/>
                  </p:cNvGrpSpPr>
                  <p:nvPr/>
                </p:nvGrpSpPr>
                <p:grpSpPr bwMode="auto">
                  <a:xfrm>
                    <a:off x="5563919" y="2925451"/>
                    <a:ext cx="1336675" cy="3340777"/>
                    <a:chOff x="5563919" y="2925451"/>
                    <a:chExt cx="1336675" cy="3340777"/>
                  </a:xfrm>
                </p:grpSpPr>
                <p:cxnSp>
                  <p:nvCxnSpPr>
                    <p:cNvPr id="22" name="直接连接符 21"/>
                    <p:cNvCxnSpPr/>
                    <p:nvPr/>
                  </p:nvCxnSpPr>
                  <p:spPr bwMode="auto">
                    <a:xfrm>
                      <a:off x="6875463" y="2925451"/>
                      <a:ext cx="0" cy="2892165"/>
                    </a:xfrm>
                    <a:prstGeom prst="line">
                      <a:avLst/>
                    </a:prstGeom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直接连接符 22"/>
                    <p:cNvCxnSpPr/>
                    <p:nvPr/>
                  </p:nvCxnSpPr>
                  <p:spPr bwMode="auto">
                    <a:xfrm flipH="1">
                      <a:off x="5563919" y="5825648"/>
                      <a:ext cx="1336675" cy="0"/>
                    </a:xfrm>
                    <a:prstGeom prst="line">
                      <a:avLst/>
                    </a:prstGeom>
                    <a:ln w="38100">
                      <a:solidFill>
                        <a:srgbClr val="FFC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直接箭头连接符 23"/>
                    <p:cNvCxnSpPr/>
                    <p:nvPr/>
                  </p:nvCxnSpPr>
                  <p:spPr bwMode="auto">
                    <a:xfrm>
                      <a:off x="5563919" y="5825648"/>
                      <a:ext cx="0" cy="440580"/>
                    </a:xfrm>
                    <a:prstGeom prst="straightConnector1">
                      <a:avLst/>
                    </a:prstGeom>
                    <a:ln w="38100">
                      <a:solidFill>
                        <a:srgbClr val="FFC000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0" name="直接箭头连接符 29"/>
                  <p:cNvCxnSpPr/>
                  <p:nvPr/>
                </p:nvCxnSpPr>
                <p:spPr bwMode="auto">
                  <a:xfrm>
                    <a:off x="4489846" y="984809"/>
                    <a:ext cx="0" cy="258517"/>
                  </a:xfrm>
                  <a:prstGeom prst="straightConnector1">
                    <a:avLst/>
                  </a:prstGeom>
                  <a:ln w="38100">
                    <a:solidFill>
                      <a:srgbClr val="0070C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13875" y="4406359"/>
                    <a:ext cx="2874962" cy="456843"/>
                  </a:xfrm>
                  <a:prstGeom prst="rect">
                    <a:avLst/>
                  </a:prstGeom>
                  <a:noFill/>
                  <a:ln w="38100">
                    <a:solidFill>
                      <a:srgbClr val="0070C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  <a:ea typeface="宋体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sz="2000" b="1" dirty="0" smtClean="0">
                        <a:latin typeface="Times New Roman" pitchFamily="18" charset="0"/>
                      </a:rPr>
                      <a:t>sum=</a:t>
                    </a:r>
                    <a:r>
                      <a:rPr lang="en-US" altLang="zh-CN" sz="2000" b="1" dirty="0" err="1" smtClean="0">
                        <a:latin typeface="Times New Roman" pitchFamily="18" charset="0"/>
                      </a:rPr>
                      <a:t>sum+m</a:t>
                    </a:r>
                    <a:endParaRPr lang="en-US" altLang="zh-CN" sz="2000" b="1" dirty="0" smtClean="0">
                      <a:latin typeface="Times New Roman" pitchFamily="18" charset="0"/>
                    </a:endParaRPr>
                  </a:p>
                </p:txBody>
              </p:sp>
              <p:cxnSp>
                <p:nvCxnSpPr>
                  <p:cNvPr id="43" name="直接箭头连接符 42"/>
                  <p:cNvCxnSpPr/>
                  <p:nvPr/>
                </p:nvCxnSpPr>
                <p:spPr bwMode="auto">
                  <a:xfrm>
                    <a:off x="4489846" y="4095147"/>
                    <a:ext cx="0" cy="290387"/>
                  </a:xfrm>
                  <a:prstGeom prst="straightConnector1">
                    <a:avLst/>
                  </a:prstGeom>
                  <a:ln w="38100">
                    <a:solidFill>
                      <a:srgbClr val="CC3300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" name="流程图: 数据 6"/>
                <p:cNvSpPr/>
                <p:nvPr/>
              </p:nvSpPr>
              <p:spPr bwMode="auto">
                <a:xfrm>
                  <a:off x="5219840" y="3865994"/>
                  <a:ext cx="2727436" cy="476317"/>
                </a:xfrm>
                <a:prstGeom prst="flowChartInputOutput">
                  <a:avLst/>
                </a:prstGeom>
                <a:noFill/>
                <a:ln w="38100" cap="flat" cmpd="sng" algn="ctr">
                  <a:solidFill>
                    <a:srgbClr val="0070C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zh-CN" altLang="en-US" sz="20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  <a:ea typeface="宋体" pitchFamily="2" charset="-122"/>
                  </a:endParaRPr>
                </a:p>
              </p:txBody>
            </p:sp>
          </p:grpSp>
          <p:sp>
            <p:nvSpPr>
              <p:cNvPr id="29" name="Text Box 5"/>
              <p:cNvSpPr txBox="1">
                <a:spLocks noChangeArrowheads="1"/>
              </p:cNvSpPr>
              <p:nvPr/>
            </p:nvSpPr>
            <p:spPr bwMode="auto">
              <a:xfrm>
                <a:off x="5873778" y="1970643"/>
                <a:ext cx="2290238" cy="40011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en-US" altLang="zh-CN" sz="2000" b="1" dirty="0" smtClean="0">
                    <a:latin typeface="Times New Roman" pitchFamily="18" charset="0"/>
                  </a:rPr>
                  <a:t>sum=0</a:t>
                </a:r>
              </a:p>
            </p:txBody>
          </p:sp>
          <p:sp>
            <p:nvSpPr>
              <p:cNvPr id="47" name="Text Box 6"/>
              <p:cNvSpPr txBox="1">
                <a:spLocks noChangeArrowheads="1"/>
              </p:cNvSpPr>
              <p:nvPr/>
            </p:nvSpPr>
            <p:spPr bwMode="auto">
              <a:xfrm>
                <a:off x="6726192" y="6378136"/>
                <a:ext cx="2277661" cy="400110"/>
              </a:xfrm>
              <a:prstGeom prst="rect">
                <a:avLst/>
              </a:prstGeom>
              <a:noFill/>
              <a:ln w="38100">
                <a:solidFill>
                  <a:srgbClr val="0070C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lang="zh-CN" altLang="en-US" sz="2000" b="1" dirty="0" smtClean="0">
                    <a:latin typeface="Times New Roman" pitchFamily="18" charset="0"/>
                  </a:rPr>
                  <a:t>输出</a:t>
                </a:r>
                <a:r>
                  <a:rPr lang="en-US" altLang="zh-CN" sz="2000" b="1" dirty="0" smtClean="0">
                    <a:latin typeface="Times New Roman" pitchFamily="18" charset="0"/>
                  </a:rPr>
                  <a:t>sum</a:t>
                </a:r>
                <a:r>
                  <a:rPr lang="zh-CN" altLang="en-US" sz="2000" b="1" dirty="0" smtClean="0">
                    <a:latin typeface="Times New Roman" pitchFamily="18" charset="0"/>
                  </a:rPr>
                  <a:t>的值</a:t>
                </a:r>
                <a:endParaRPr lang="en-US" altLang="zh-CN" sz="2000" b="1" dirty="0" smtClean="0">
                  <a:latin typeface="Times New Roman" pitchFamily="18" charset="0"/>
                </a:endParaRPr>
              </a:p>
            </p:txBody>
          </p:sp>
        </p:grpSp>
        <p:cxnSp>
          <p:nvCxnSpPr>
            <p:cNvPr id="56" name="直接连接符 55"/>
            <p:cNvCxnSpPr/>
            <p:nvPr/>
          </p:nvCxnSpPr>
          <p:spPr bwMode="auto">
            <a:xfrm flipH="1">
              <a:off x="7731886" y="3249044"/>
              <a:ext cx="1201198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箭头连接符 59"/>
            <p:cNvCxnSpPr/>
            <p:nvPr/>
          </p:nvCxnSpPr>
          <p:spPr bwMode="auto">
            <a:xfrm>
              <a:off x="7894026" y="6574545"/>
              <a:ext cx="0" cy="228347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00975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求 </a:t>
            </a:r>
            <a:r>
              <a:rPr lang="en-US" altLang="zh-CN" dirty="0" smtClean="0">
                <a:solidFill>
                  <a:srgbClr val="3333FF"/>
                </a:solidFill>
              </a:rPr>
              <a:t>1+2+……+100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772816"/>
            <a:ext cx="7564834" cy="4537075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 marL="854075" lvl="1" algn="just">
              <a:lnSpc>
                <a:spcPct val="80000"/>
              </a:lnSpc>
              <a:buNone/>
              <a:defRPr/>
            </a:pPr>
            <a:r>
              <a:rPr lang="zh-CN" altLang="en-US" dirty="0"/>
              <a:t>抽取具有共性的算式：</a:t>
            </a:r>
            <a:r>
              <a:rPr lang="en-US" altLang="zh-CN" dirty="0"/>
              <a:t>sum = sum + i</a:t>
            </a:r>
          </a:p>
          <a:p>
            <a:pPr marL="854075" lvl="1" algn="just">
              <a:lnSpc>
                <a:spcPct val="80000"/>
              </a:lnSpc>
              <a:buNone/>
              <a:defRPr/>
            </a:pPr>
            <a:r>
              <a:rPr lang="en-US" altLang="zh-CN" dirty="0"/>
              <a:t> sum</a:t>
            </a:r>
            <a:r>
              <a:rPr lang="zh-CN" altLang="en-US" dirty="0"/>
              <a:t>初值为</a:t>
            </a:r>
            <a:r>
              <a:rPr lang="en-US" altLang="zh-CN" dirty="0"/>
              <a:t>0</a:t>
            </a:r>
            <a:r>
              <a:rPr lang="zh-CN" altLang="en-US" dirty="0"/>
              <a:t>，该算式重复</a:t>
            </a:r>
            <a:r>
              <a:rPr lang="en-US" altLang="zh-CN" dirty="0"/>
              <a:t>100</a:t>
            </a:r>
            <a:r>
              <a:rPr lang="zh-CN" altLang="en-US" dirty="0"/>
              <a:t>次，</a:t>
            </a:r>
            <a:r>
              <a:rPr lang="en-US" altLang="zh-CN" dirty="0"/>
              <a:t>i</a:t>
            </a:r>
            <a:r>
              <a:rPr lang="zh-CN" altLang="en-US" dirty="0"/>
              <a:t>从</a:t>
            </a:r>
            <a:r>
              <a:rPr lang="en-US" altLang="zh-CN" dirty="0"/>
              <a:t>1</a:t>
            </a:r>
            <a:r>
              <a:rPr lang="zh-CN" altLang="en-US" dirty="0"/>
              <a:t>变到</a:t>
            </a:r>
            <a:r>
              <a:rPr lang="en-US" altLang="zh-CN" dirty="0"/>
              <a:t>100</a:t>
            </a:r>
          </a:p>
          <a:p>
            <a:pPr marL="377825" indent="-377825" algn="just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dirty="0" smtClean="0"/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设</a:t>
            </a:r>
            <a:r>
              <a:rPr lang="en-US" altLang="zh-CN" dirty="0" smtClean="0"/>
              <a:t>i</a:t>
            </a:r>
            <a:r>
              <a:rPr lang="zh-CN" altLang="en-US" dirty="0" smtClean="0"/>
              <a:t>为循环变量，则：</a:t>
            </a:r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指定循环起点的表达式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 = 1</a:t>
            </a:r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给出循环条件的表达式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 &lt;= 100</a:t>
            </a:r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设置循环步长的表达式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</a:t>
            </a:r>
            <a:r>
              <a:rPr lang="en-US" altLang="zh-CN" dirty="0" smtClean="0"/>
              <a:t>i++</a:t>
            </a:r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 smtClean="0"/>
              <a:t>循环体语句：</a:t>
            </a:r>
            <a:r>
              <a:rPr lang="en-US" altLang="zh-CN" dirty="0" smtClean="0"/>
              <a:t>sum = sum + i;</a:t>
            </a:r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en-US" altLang="zh-CN" dirty="0" smtClean="0"/>
          </a:p>
          <a:p>
            <a:pPr marL="854075" lvl="1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for(i=1; i&lt;=100; </a:t>
            </a:r>
            <a:r>
              <a:rPr lang="en-US" altLang="zh-CN" sz="3200" dirty="0" smtClean="0">
                <a:solidFill>
                  <a:srgbClr val="3333FF"/>
                </a:solidFill>
              </a:rPr>
              <a:t>i++</a:t>
            </a:r>
            <a:r>
              <a:rPr lang="en-US" altLang="zh-CN" sz="3200" dirty="0" smtClean="0"/>
              <a:t>)</a:t>
            </a:r>
          </a:p>
          <a:p>
            <a:pPr marL="1273175" lvl="2" algn="just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dirty="0" smtClean="0"/>
              <a:t>sum =sum+i;</a:t>
            </a:r>
          </a:p>
        </p:txBody>
      </p:sp>
    </p:spTree>
    <p:extLst>
      <p:ext uri="{BB962C8B-B14F-4D97-AF65-F5344CB8AC3E}">
        <p14:creationId xmlns:p14="http://schemas.microsoft.com/office/powerpoint/2010/main" val="279889624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2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2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bldLvl="2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79388" y="765175"/>
            <a:ext cx="8964612" cy="5760169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#include &lt;stdio.h&gt;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int i, sum;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sum = 0;                  	    /* </a:t>
            </a:r>
            <a:r>
              <a:rPr lang="zh-CN" altLang="en-US" dirty="0" smtClean="0"/>
              <a:t>置累加和</a:t>
            </a:r>
            <a:r>
              <a:rPr lang="en-US" altLang="zh-CN" dirty="0" smtClean="0"/>
              <a:t>sum</a:t>
            </a:r>
            <a:r>
              <a:rPr lang="zh-CN" altLang="en-US" dirty="0" smtClean="0"/>
              <a:t>的初值为</a:t>
            </a:r>
            <a:r>
              <a:rPr lang="en-US" altLang="zh-CN" dirty="0" smtClean="0"/>
              <a:t>0 */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for ( i = 1; i &lt;= 100; i++ )    /* </a:t>
            </a:r>
            <a:r>
              <a:rPr lang="zh-CN" altLang="en-US" dirty="0" smtClean="0"/>
              <a:t>循环重复</a:t>
            </a:r>
            <a:r>
              <a:rPr lang="en-US" altLang="zh-CN" dirty="0" smtClean="0"/>
              <a:t>100</a:t>
            </a:r>
            <a:r>
              <a:rPr lang="zh-CN" altLang="en-US" dirty="0" smtClean="0"/>
              <a:t>次 *</a:t>
            </a:r>
            <a:r>
              <a:rPr lang="en-US" altLang="zh-CN" dirty="0" smtClean="0"/>
              <a:t>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    sum = sum + i;         	     /* </a:t>
            </a:r>
            <a:r>
              <a:rPr lang="zh-CN" altLang="en-US" dirty="0" smtClean="0"/>
              <a:t>反复累加 *</a:t>
            </a:r>
            <a:r>
              <a:rPr lang="en-US" altLang="zh-CN" dirty="0" smtClean="0"/>
              <a:t>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printf( "sum = %d\n", sum);  	/* </a:t>
            </a:r>
            <a:r>
              <a:rPr lang="zh-CN" altLang="en-US" dirty="0" smtClean="0"/>
              <a:t>输出累加和 *</a:t>
            </a:r>
            <a:r>
              <a:rPr lang="en-US" altLang="zh-CN" dirty="0" smtClean="0"/>
              <a:t>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</a:p>
        </p:txBody>
      </p:sp>
      <p:sp>
        <p:nvSpPr>
          <p:cNvPr id="133123" name="Text Box 3"/>
          <p:cNvSpPr txBox="1">
            <a:spLocks noChangeArrowheads="1"/>
          </p:cNvSpPr>
          <p:nvPr/>
        </p:nvSpPr>
        <p:spPr bwMode="auto">
          <a:xfrm>
            <a:off x="6804025" y="765175"/>
            <a:ext cx="1800225" cy="430213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kumimoji="1" lang="en-US" altLang="zh-CN" sz="2400" b="1"/>
              <a:t>sum=5050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272" y="5157192"/>
            <a:ext cx="795570" cy="128880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20072" y="5539982"/>
            <a:ext cx="1328158" cy="523220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animBg="1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 descr="Large confetti"/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求 </a:t>
            </a:r>
            <a:r>
              <a:rPr lang="en-US" altLang="zh-CN" dirty="0" smtClean="0">
                <a:solidFill>
                  <a:srgbClr val="3333FF"/>
                </a:solidFill>
              </a:rPr>
              <a:t>1*2*……*100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899592" y="2321496"/>
            <a:ext cx="4968552" cy="4536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#include &lt;</a:t>
            </a:r>
            <a:r>
              <a:rPr lang="en-US" altLang="zh-CN" sz="2400" kern="0" dirty="0" err="1" smtClean="0"/>
              <a:t>stdio.h</a:t>
            </a:r>
            <a:r>
              <a:rPr lang="en-US" altLang="zh-CN" sz="2400" kern="0" dirty="0" smtClean="0"/>
              <a:t>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err="1" smtClean="0"/>
              <a:t>int</a:t>
            </a:r>
            <a:r>
              <a:rPr lang="en-US" altLang="zh-CN" sz="2400" kern="0" dirty="0" smtClean="0"/>
              <a:t>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</a:t>
            </a:r>
            <a:r>
              <a:rPr lang="en-US" altLang="zh-CN" sz="2400" kern="0" dirty="0" err="1" smtClean="0"/>
              <a:t>int</a:t>
            </a:r>
            <a:r>
              <a:rPr lang="en-US" altLang="zh-CN" sz="2400" kern="0" dirty="0" smtClean="0"/>
              <a:t>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, sum;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sum = 0;                  	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for (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 = 1;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 &lt;= 100;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++ 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    sum = sum +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;         	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</a:t>
            </a:r>
            <a:r>
              <a:rPr lang="en-US" altLang="zh-CN" sz="2400" kern="0" dirty="0" err="1" smtClean="0"/>
              <a:t>printf</a:t>
            </a:r>
            <a:r>
              <a:rPr lang="en-US" altLang="zh-CN" sz="2400" kern="0" dirty="0" smtClean="0"/>
              <a:t>( "sum = %d\n", sum);  	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}</a:t>
            </a:r>
          </a:p>
          <a:p>
            <a:pPr>
              <a:defRPr/>
            </a:pPr>
            <a:endParaRPr lang="zh-CN" altLang="en-US" sz="2400" kern="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755650" y="1695381"/>
            <a:ext cx="1728192" cy="523220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/>
              <a:t>修改程序</a:t>
            </a:r>
            <a:endParaRPr lang="zh-CN" altLang="en-US" sz="28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084168" y="3531872"/>
            <a:ext cx="1296144" cy="523220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zh-CN" altLang="en-US" sz="2800" b="1" dirty="0"/>
          </a:p>
        </p:txBody>
      </p:sp>
      <p:sp>
        <p:nvSpPr>
          <p:cNvPr id="9" name="文本框 8"/>
          <p:cNvSpPr txBox="1"/>
          <p:nvPr/>
        </p:nvSpPr>
        <p:spPr>
          <a:xfrm>
            <a:off x="7524328" y="3377983"/>
            <a:ext cx="1071640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 smtClean="0">
                <a:solidFill>
                  <a:srgbClr val="002060"/>
                </a:solidFill>
              </a:rPr>
              <a:t>n!</a:t>
            </a:r>
            <a:endParaRPr lang="zh-CN" altLang="en-US" sz="4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31230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692150"/>
            <a:ext cx="8675687" cy="8683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写一个程序能依次输出</a:t>
            </a:r>
            <a:r>
              <a:rPr lang="en-US" altLang="zh-CN" dirty="0" smtClean="0">
                <a:solidFill>
                  <a:srgbClr val="3333FF"/>
                </a:solidFill>
              </a:rPr>
              <a:t>26</a:t>
            </a:r>
            <a:r>
              <a:rPr lang="zh-CN" altLang="en-US" dirty="0" smtClean="0">
                <a:solidFill>
                  <a:srgbClr val="3333FF"/>
                </a:solidFill>
              </a:rPr>
              <a:t>个大写字母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628775"/>
            <a:ext cx="6256238" cy="4824561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#include &lt;stdio.h&gt;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	char ch;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	for (ch='A' ; ch&lt;='Z';ch++)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		printf("%c",ch);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	printf("\n");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	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题目汇总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717759"/>
            <a:ext cx="7993062" cy="5040313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求</a:t>
            </a:r>
            <a:r>
              <a:rPr lang="en-US" altLang="zh-CN" dirty="0"/>
              <a:t>1~100</a:t>
            </a:r>
            <a:r>
              <a:rPr lang="zh-CN" altLang="en-US" dirty="0"/>
              <a:t>之间</a:t>
            </a:r>
            <a:r>
              <a:rPr lang="zh-CN" altLang="en-US" dirty="0" smtClean="0"/>
              <a:t>奇数</a:t>
            </a:r>
            <a:r>
              <a:rPr lang="en-US" altLang="zh-CN" dirty="0" smtClean="0"/>
              <a:t>/</a:t>
            </a:r>
            <a:r>
              <a:rPr lang="zh-CN" altLang="en-US" dirty="0" smtClean="0"/>
              <a:t>偶数和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求</a:t>
            </a:r>
            <a:r>
              <a:rPr lang="en-US" altLang="zh-CN" dirty="0"/>
              <a:t>m</a:t>
            </a:r>
            <a:r>
              <a:rPr lang="zh-CN" altLang="en-US" dirty="0"/>
              <a:t>和</a:t>
            </a:r>
            <a:r>
              <a:rPr lang="en-US" altLang="zh-CN" dirty="0"/>
              <a:t>n</a:t>
            </a:r>
            <a:r>
              <a:rPr lang="zh-CN" altLang="en-US" dirty="0" smtClean="0"/>
              <a:t>之间</a:t>
            </a:r>
            <a:r>
              <a:rPr lang="zh-CN" altLang="en-US" dirty="0"/>
              <a:t>奇数</a:t>
            </a:r>
            <a:r>
              <a:rPr lang="en-US" altLang="zh-CN" dirty="0"/>
              <a:t>/</a:t>
            </a:r>
            <a:r>
              <a:rPr lang="zh-CN" altLang="en-US" dirty="0" smtClean="0"/>
              <a:t>偶数和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求 </a:t>
            </a:r>
            <a:r>
              <a:rPr lang="en-US" altLang="zh-CN" dirty="0"/>
              <a:t>1+1/2+1/3+……+ </a:t>
            </a:r>
            <a:r>
              <a:rPr lang="en-US" altLang="zh-CN" dirty="0" smtClean="0"/>
              <a:t>1/n</a:t>
            </a:r>
          </a:p>
          <a:p>
            <a:pPr>
              <a:defRPr/>
            </a:pPr>
            <a:r>
              <a:rPr lang="zh-CN" altLang="en-US" dirty="0"/>
              <a:t>求 </a:t>
            </a:r>
            <a:r>
              <a:rPr lang="en-US" altLang="zh-CN" dirty="0" smtClean="0"/>
              <a:t>1-1/2+1/3-1/4+……+ (-1)</a:t>
            </a:r>
            <a:r>
              <a:rPr lang="en-US" altLang="zh-CN" baseline="30000" dirty="0" smtClean="0"/>
              <a:t>(n+1)</a:t>
            </a:r>
            <a:r>
              <a:rPr lang="en-US" altLang="zh-CN" dirty="0" smtClean="0"/>
              <a:t>1/n</a:t>
            </a:r>
          </a:p>
          <a:p>
            <a:pPr>
              <a:defRPr/>
            </a:pPr>
            <a:r>
              <a:rPr lang="zh-CN" altLang="en-US" dirty="0" smtClean="0"/>
              <a:t>求</a:t>
            </a:r>
            <a:r>
              <a:rPr lang="en-US" altLang="zh-CN" dirty="0"/>
              <a:t>1-1/3+1/5-1/7</a:t>
            </a:r>
            <a:r>
              <a:rPr lang="en-US" altLang="zh-CN" dirty="0" smtClean="0"/>
              <a:t>+…</a:t>
            </a:r>
          </a:p>
          <a:p>
            <a:pPr>
              <a:defRPr/>
            </a:pPr>
            <a:r>
              <a:rPr lang="zh-CN" altLang="pt-BR" dirty="0" smtClean="0"/>
              <a:t>求</a:t>
            </a:r>
            <a:r>
              <a:rPr lang="en-US" altLang="zh-CN" dirty="0" smtClean="0"/>
              <a:t>n!</a:t>
            </a:r>
          </a:p>
          <a:p>
            <a:pPr>
              <a:defRPr/>
            </a:pPr>
            <a:r>
              <a:rPr lang="zh-CN" altLang="en-US" dirty="0"/>
              <a:t>求</a:t>
            </a:r>
            <a:r>
              <a:rPr lang="pt-BR" altLang="zh-CN" dirty="0" smtClean="0"/>
              <a:t>1+1/1</a:t>
            </a:r>
            <a:r>
              <a:rPr lang="pt-BR" altLang="zh-CN" dirty="0"/>
              <a:t>!+1/2!+1/3!+…+1/n!</a:t>
            </a:r>
            <a:endParaRPr lang="en-US" altLang="zh-CN" dirty="0"/>
          </a:p>
          <a:p>
            <a:pPr>
              <a:defRPr/>
            </a:pPr>
            <a:endParaRPr lang="en-US" altLang="zh-CN" dirty="0" smtClean="0"/>
          </a:p>
          <a:p>
            <a:pPr>
              <a:defRPr/>
            </a:pP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546527-0A7E-444D-BD80-5FE23566965A}" type="slidenum">
              <a:rPr lang="en-US" altLang="zh-CN" sz="2600">
                <a:solidFill>
                  <a:schemeClr val="bg1"/>
                </a:solidFill>
              </a:rPr>
              <a:pPr/>
              <a:t>49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例</a:t>
            </a:r>
            <a:r>
              <a:rPr lang="en-US" altLang="zh-CN" dirty="0" smtClean="0"/>
              <a:t>3-9 </a:t>
            </a:r>
            <a:r>
              <a:rPr lang="zh-CN" altLang="en-US" dirty="0" smtClean="0"/>
              <a:t>求</a:t>
            </a:r>
            <a:r>
              <a:rPr lang="en-US" altLang="zh-CN" dirty="0" smtClean="0"/>
              <a:t>1~100</a:t>
            </a:r>
            <a:r>
              <a:rPr lang="zh-CN" altLang="en-US" dirty="0" smtClean="0"/>
              <a:t>之间奇数和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442" y="1701055"/>
            <a:ext cx="7993062" cy="5040313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#include &lt;stdio.h&gt;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int main()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int i,sum=0;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for(i=1;i&lt;=100;i++)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if(i%2==1)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    sum=sum+i;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}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("sum=%d\n", sum);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}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53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546527-0A7E-444D-BD80-5FE23566965A}" type="slidenum">
              <a:rPr lang="en-US" altLang="zh-CN" sz="2600">
                <a:solidFill>
                  <a:schemeClr val="bg1"/>
                </a:solidFill>
              </a:rPr>
              <a:pPr/>
              <a:t>50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23106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求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之间偶数和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971550" y="1700213"/>
            <a:ext cx="7993063" cy="5157787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int i,m,n, sum=0; </a:t>
            </a:r>
          </a:p>
          <a:p>
            <a:pPr marL="0" indent="0"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</a:t>
            </a:r>
            <a:r>
              <a:rPr lang="en-US" altLang="zh-CN" sz="2000" dirty="0" err="1" smtClean="0"/>
              <a:t>scanf</a:t>
            </a:r>
            <a:r>
              <a:rPr lang="en-US" altLang="zh-CN" sz="2000" dirty="0" smtClean="0"/>
              <a:t>(</a:t>
            </a:r>
            <a:r>
              <a:rPr lang="en-US" altLang="zh-CN" sz="2000" dirty="0"/>
              <a:t>" </a:t>
            </a:r>
            <a:r>
              <a:rPr lang="en-US" altLang="zh-CN" sz="2000" dirty="0" smtClean="0"/>
              <a:t>%</a:t>
            </a:r>
            <a:r>
              <a:rPr lang="en-US" altLang="zh-CN" sz="2000" dirty="0" err="1" smtClean="0"/>
              <a:t>d%d</a:t>
            </a:r>
            <a:r>
              <a:rPr lang="en-US" altLang="zh-CN" sz="2000" dirty="0"/>
              <a:t> "</a:t>
            </a:r>
            <a:r>
              <a:rPr lang="en-US" altLang="zh-CN" sz="2000" dirty="0" smtClean="0"/>
              <a:t>,&amp;m,&amp;n);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if(m&gt;n)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</a:rPr>
              <a:t>       {t=m;m=n;n=t;}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/>
              <a:t> </a:t>
            </a:r>
            <a:r>
              <a:rPr lang="en-US" altLang="zh-CN" sz="2000" dirty="0" smtClean="0"/>
              <a:t>   for(i=m;i&lt;=n;i++)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if(i%2==0)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sum=sum+i;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}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printf("sum=%d\n", sum);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 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5734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B5F659C-5F0B-45F0-847A-FA47F88C0AA5}" type="slidenum">
              <a:rPr lang="zh-CN" altLang="en-US" sz="2600">
                <a:solidFill>
                  <a:schemeClr val="bg1"/>
                </a:solidFill>
              </a:rPr>
              <a:pPr/>
              <a:t>51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5"/>
          <p:cNvSpPr txBox="1">
            <a:spLocks/>
          </p:cNvSpPr>
          <p:nvPr/>
        </p:nvSpPr>
        <p:spPr bwMode="auto">
          <a:xfrm>
            <a:off x="755576" y="764704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9pPr>
          </a:lstStyle>
          <a:p>
            <a:pPr>
              <a:defRPr/>
            </a:pPr>
            <a:r>
              <a:rPr lang="zh-CN" altLang="en-US" kern="0" dirty="0" smtClean="0"/>
              <a:t>求 </a:t>
            </a:r>
            <a:r>
              <a:rPr lang="en-US" altLang="zh-CN" kern="0" dirty="0"/>
              <a:t>1+1/2+1/3+……+ 1/n</a:t>
            </a:r>
            <a:endParaRPr lang="zh-CN" altLang="en-US" kern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1475656" y="1628800"/>
            <a:ext cx="5184254" cy="5157192"/>
          </a:xfrm>
          <a:ln>
            <a:noFill/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int i, n;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double sum;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sum = 0;           	   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scanf</a:t>
            </a:r>
            <a:r>
              <a:rPr lang="en-US" altLang="zh-CN" sz="2400" dirty="0" smtClean="0"/>
              <a:t>("%</a:t>
            </a:r>
            <a:r>
              <a:rPr lang="en-US" altLang="zh-CN" sz="2400" dirty="0" err="1" smtClean="0"/>
              <a:t>d",&amp;n</a:t>
            </a:r>
            <a:r>
              <a:rPr lang="en-US" altLang="zh-CN" sz="2400" dirty="0" smtClean="0"/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for ( i = 1; i &lt;= n; i++ )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sum = sum +1.0/ i; 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</a:t>
            </a: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("sum = %lf\n", sum);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    return 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  <a:p>
            <a:pPr marL="377825" indent="-377825" algn="just"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2400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 descr="Large confetti"/>
          <p:cNvSpPr>
            <a:spLocks noGrp="1" noRot="1" noChangeAspect="1" noMove="1" noResize="1" noEditPoints="1" noAdjustHandles="1" noChangeArrowheads="1" noChangeShapeType="1" noTextEdit="1"/>
          </p:cNvSpPr>
          <p:nvPr>
            <p:ph type="title"/>
          </p:nvPr>
        </p:nvSpPr>
        <p:spPr>
          <a:xfrm>
            <a:off x="0" y="2204864"/>
            <a:ext cx="8928992" cy="2088232"/>
          </a:xfrm>
          <a:blipFill rotWithShape="1">
            <a:blip r:embed="rId2"/>
            <a:stretch>
              <a:fillRect b="-614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>
                <a:noFill/>
              </a:rPr>
              <a:t> 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249238"/>
            <a:ext cx="8642350" cy="65976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int flag=1,i,n;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double item,sum;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printf("Enter n:");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scanf("%d",&amp;n);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sum=0;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for (i=1;i&lt;=n;i++)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    </a:t>
            </a:r>
            <a:r>
              <a:rPr lang="en-US" altLang="zh-CN" sz="2400" dirty="0" smtClean="0"/>
              <a:t>   item=flag*1.0/i</a:t>
            </a:r>
            <a:r>
              <a:rPr lang="en-US" altLang="zh-CN" sz="2400" dirty="0"/>
              <a:t>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		sum=sum+item;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rgbClr val="FF0000"/>
                </a:solidFill>
              </a:rPr>
              <a:t>flag=-flag</a:t>
            </a:r>
            <a:r>
              <a:rPr lang="en-US" altLang="zh-CN" sz="2400" dirty="0"/>
              <a:t>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printf("Sum=%lf\n",sum);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}</a:t>
            </a:r>
            <a:endParaRPr lang="en-US" altLang="zh-CN" sz="2400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836613"/>
          </a:xfrm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计算</a:t>
            </a:r>
            <a:r>
              <a:rPr lang="en-US" altLang="zh-CN" sz="4000" dirty="0" smtClean="0">
                <a:solidFill>
                  <a:srgbClr val="3333FF"/>
                </a:solidFill>
              </a:rPr>
              <a:t>1-1/3+1/5-1/7+</a:t>
            </a:r>
            <a:r>
              <a:rPr lang="en-US" altLang="zh-CN" sz="4000" dirty="0" smtClean="0">
                <a:solidFill>
                  <a:srgbClr val="3333FF"/>
                </a:solidFill>
                <a:cs typeface="Arial" charset="0"/>
              </a:rPr>
              <a:t>…  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435975" cy="59499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int fm,flag,i,n;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double item,sum;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printf("Enter n:");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scanf("%d",&amp;n);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flag=fm=1;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sum=0;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for (i=1;i&lt;=n;i++)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item=flag*1.0/fm;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sum=sum+item;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flag=-flag;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fm=fm+2;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printf("Sum=%lf\n",sum);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  <a:endParaRPr lang="zh-CN" altLang="en-US" sz="2000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404813"/>
            <a:ext cx="8496300" cy="6453187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int flag,i,n;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double sum;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printf("Enter n:");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scanf("%d",&amp;n);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flag=1;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sum=0;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 (i=1;i&lt;=n;i++)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sum=sum+flag*1.0/(2*i-1);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flag=-flag;	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printf("Sum=%lf\</a:t>
            </a:r>
            <a:r>
              <a:rPr lang="en-US" altLang="zh-CN" sz="2400" dirty="0" err="1" smtClean="0"/>
              <a:t>n",sum</a:t>
            </a:r>
            <a:r>
              <a:rPr lang="en-US" altLang="zh-CN" sz="2400" dirty="0" smtClean="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6084168" y="3531872"/>
            <a:ext cx="2448272" cy="523220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：步长？</a:t>
            </a:r>
            <a:endParaRPr lang="zh-CN" altLang="en-US" sz="28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731661"/>
            <a:ext cx="1895475" cy="1343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68313" y="404813"/>
            <a:ext cx="8496300" cy="6453187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int flag,i,n;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double sum;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printf("Enter n:");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scanf("%d",&amp;n);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flag=1;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sum=0;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 (i=1;i&lt;=</a:t>
            </a:r>
            <a:r>
              <a:rPr lang="en-US" altLang="zh-CN" sz="2400" dirty="0" err="1" smtClean="0"/>
              <a:t>n;i</a:t>
            </a:r>
            <a:r>
              <a:rPr lang="en-US" altLang="zh-CN" sz="2400" dirty="0" smtClean="0"/>
              <a:t>+=2)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sum=</a:t>
            </a:r>
            <a:r>
              <a:rPr lang="en-US" altLang="zh-CN" sz="2400" dirty="0" err="1" smtClean="0"/>
              <a:t>sum+flag</a:t>
            </a:r>
            <a:r>
              <a:rPr lang="en-US" altLang="zh-CN" sz="2400" dirty="0" smtClean="0"/>
              <a:t>/</a:t>
            </a:r>
            <a:r>
              <a:rPr lang="en-US" altLang="zh-CN" sz="2400" dirty="0" err="1" smtClean="0"/>
              <a:t>i</a:t>
            </a:r>
            <a:r>
              <a:rPr lang="en-US" altLang="zh-CN" sz="2400" dirty="0" smtClean="0"/>
              <a:t>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flag=-flag;	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printf("Sum=%lf\</a:t>
            </a:r>
            <a:r>
              <a:rPr lang="en-US" altLang="zh-CN" sz="2400" dirty="0" err="1" smtClean="0"/>
              <a:t>n",sum</a:t>
            </a:r>
            <a:r>
              <a:rPr lang="en-US" altLang="zh-CN" sz="2400" dirty="0" smtClean="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  <p:sp>
        <p:nvSpPr>
          <p:cNvPr id="4" name="文本框 2"/>
          <p:cNvSpPr txBox="1"/>
          <p:nvPr/>
        </p:nvSpPr>
        <p:spPr>
          <a:xfrm>
            <a:off x="6084168" y="3531872"/>
            <a:ext cx="2448272" cy="523220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：错误？</a:t>
            </a:r>
            <a:endParaRPr lang="zh-CN" altLang="en-US" sz="2800" b="1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196752"/>
            <a:ext cx="1847850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3491880" y="188640"/>
            <a:ext cx="5544616" cy="836613"/>
          </a:xfrm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计算</a:t>
            </a:r>
            <a:r>
              <a:rPr lang="en-US" altLang="zh-CN" sz="4000" dirty="0" smtClean="0">
                <a:solidFill>
                  <a:srgbClr val="3333FF"/>
                </a:solidFill>
              </a:rPr>
              <a:t>1-1/3+1/5-1/7+</a:t>
            </a:r>
            <a:r>
              <a:rPr lang="en-US" altLang="zh-CN" sz="4000" dirty="0" smtClean="0">
                <a:solidFill>
                  <a:srgbClr val="3333FF"/>
                </a:solidFill>
                <a:cs typeface="Arial" charset="0"/>
              </a:rPr>
              <a:t>…  </a:t>
            </a:r>
          </a:p>
        </p:txBody>
      </p:sp>
    </p:spTree>
    <p:extLst>
      <p:ext uri="{BB962C8B-B14F-4D97-AF65-F5344CB8AC3E}">
        <p14:creationId xmlns:p14="http://schemas.microsoft.com/office/powerpoint/2010/main" val="13745292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006666"/>
                </a:solidFill>
                <a:effectLst/>
              </a:rPr>
              <a:t>求 </a:t>
            </a:r>
            <a:r>
              <a:rPr lang="en-US" altLang="zh-CN" dirty="0">
                <a:solidFill>
                  <a:srgbClr val="006666"/>
                </a:solidFill>
                <a:effectLst/>
              </a:rPr>
              <a:t>1+1/1!+1/2!+1/3!+…+1/n!</a:t>
            </a:r>
            <a:endParaRPr lang="zh-CN" altLang="en-US" dirty="0" smtClean="0">
              <a:solidFill>
                <a:srgbClr val="3333FF"/>
              </a:solidFill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971600" y="1700808"/>
            <a:ext cx="7993063" cy="5041155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int i,n;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double item=1,sum=1;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scanf("%d",&amp;n);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for(i=1;i&lt;=n;i++)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item=item*i;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sum=sum+1.0/item;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}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printf("sum=%lf\n",sum);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return 0;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9692" y="1772816"/>
            <a:ext cx="3600450" cy="966589"/>
          </a:xfrm>
        </p:spPr>
        <p:txBody>
          <a:bodyPr/>
          <a:lstStyle/>
          <a:p>
            <a:pPr algn="just"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chemeClr val="bg2"/>
                </a:solidFill>
              </a:rPr>
              <a:t>while</a:t>
            </a:r>
            <a:r>
              <a:rPr lang="en-US" altLang="zh-CN" dirty="0" smtClean="0"/>
              <a:t> (</a:t>
            </a:r>
            <a:r>
              <a:rPr lang="zh-CN" altLang="en-US" dirty="0" smtClean="0">
                <a:solidFill>
                  <a:srgbClr val="CC0066"/>
                </a:solidFill>
              </a:rPr>
              <a:t>表达式</a:t>
            </a:r>
            <a:r>
              <a:rPr lang="zh-CN" altLang="en-US" dirty="0" smtClean="0"/>
              <a:t>)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   </a:t>
            </a:r>
            <a:r>
              <a:rPr lang="zh-CN" altLang="en-US" dirty="0" smtClean="0">
                <a:solidFill>
                  <a:srgbClr val="CC0066"/>
                </a:solidFill>
              </a:rPr>
              <a:t>循环体语句</a:t>
            </a:r>
            <a:r>
              <a:rPr lang="zh-CN" altLang="en-US" dirty="0" smtClean="0"/>
              <a:t>;</a:t>
            </a:r>
            <a:r>
              <a:rPr lang="zh-CN" altLang="en-US" dirty="0" smtClean="0">
                <a:latin typeface="宋体" charset="-122"/>
              </a:rPr>
              <a:t>    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763688" y="2505740"/>
            <a:ext cx="4537075" cy="4144963"/>
            <a:chOff x="2555875" y="2276475"/>
            <a:chExt cx="4537075" cy="4144963"/>
          </a:xfrm>
        </p:grpSpPr>
        <p:sp>
          <p:nvSpPr>
            <p:cNvPr id="19461" name="AutoShape 22"/>
            <p:cNvSpPr>
              <a:spLocks noChangeArrowheads="1"/>
            </p:cNvSpPr>
            <p:nvPr/>
          </p:nvSpPr>
          <p:spPr bwMode="auto">
            <a:xfrm>
              <a:off x="2659063" y="2908300"/>
              <a:ext cx="3254375" cy="955675"/>
            </a:xfrm>
            <a:prstGeom prst="flowChartDecision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endParaRPr>
            </a:p>
          </p:txBody>
        </p:sp>
        <p:sp>
          <p:nvSpPr>
            <p:cNvPr id="77828" name="Text Box 23"/>
            <p:cNvSpPr txBox="1">
              <a:spLocks noChangeArrowheads="1"/>
            </p:cNvSpPr>
            <p:nvPr/>
          </p:nvSpPr>
          <p:spPr bwMode="auto">
            <a:xfrm>
              <a:off x="3008313" y="4422775"/>
              <a:ext cx="2557462" cy="527580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50000"/>
                </a:spcBef>
              </a:pPr>
              <a:r>
                <a:rPr kumimoji="1" lang="zh-CN" altLang="en-US" sz="2800" b="1" dirty="0">
                  <a:latin typeface="Times New Roman" panose="02020603050405020304" pitchFamily="18" charset="0"/>
                </a:rPr>
                <a:t>循环体语 句</a:t>
              </a:r>
            </a:p>
          </p:txBody>
        </p:sp>
        <p:sp>
          <p:nvSpPr>
            <p:cNvPr id="19463" name="Text Box 24"/>
            <p:cNvSpPr txBox="1">
              <a:spLocks noChangeArrowheads="1"/>
            </p:cNvSpPr>
            <p:nvPr/>
          </p:nvSpPr>
          <p:spPr bwMode="auto">
            <a:xfrm>
              <a:off x="3124200" y="3067050"/>
              <a:ext cx="23241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zh-CN" altLang="en-US" sz="28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表达式</a:t>
              </a:r>
            </a:p>
          </p:txBody>
        </p:sp>
        <p:sp>
          <p:nvSpPr>
            <p:cNvPr id="77830" name="Line 25"/>
            <p:cNvSpPr>
              <a:spLocks noChangeShapeType="1"/>
            </p:cNvSpPr>
            <p:nvPr/>
          </p:nvSpPr>
          <p:spPr bwMode="auto">
            <a:xfrm flipH="1">
              <a:off x="4286250" y="2276475"/>
              <a:ext cx="3175" cy="660400"/>
            </a:xfrm>
            <a:prstGeom prst="line">
              <a:avLst/>
            </a:prstGeom>
            <a:noFill/>
            <a:ln w="38100">
              <a:solidFill>
                <a:srgbClr val="3333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7831" name="AutoShape 26"/>
            <p:cNvCxnSpPr>
              <a:cxnSpLocks noChangeShapeType="1"/>
              <a:stCxn id="19461" idx="2"/>
              <a:endCxn id="77828" idx="0"/>
            </p:cNvCxnSpPr>
            <p:nvPr/>
          </p:nvCxnSpPr>
          <p:spPr bwMode="auto">
            <a:xfrm>
              <a:off x="4286251" y="3863975"/>
              <a:ext cx="793" cy="558800"/>
            </a:xfrm>
            <a:prstGeom prst="straightConnector1">
              <a:avLst/>
            </a:prstGeom>
            <a:noFill/>
            <a:ln w="38100">
              <a:solidFill>
                <a:srgbClr val="F4043D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7832" name="AutoShape 27"/>
            <p:cNvCxnSpPr>
              <a:cxnSpLocks noChangeShapeType="1"/>
              <a:stCxn id="77828" idx="2"/>
            </p:cNvCxnSpPr>
            <p:nvPr/>
          </p:nvCxnSpPr>
          <p:spPr bwMode="auto">
            <a:xfrm rot="5400000" flipH="1" flipV="1">
              <a:off x="3146557" y="3807487"/>
              <a:ext cx="2283354" cy="2381"/>
            </a:xfrm>
            <a:prstGeom prst="bentConnector5">
              <a:avLst>
                <a:gd name="adj1" fmla="val -10012"/>
                <a:gd name="adj2" fmla="val -80375178"/>
                <a:gd name="adj3" fmla="val 100709"/>
              </a:avLst>
            </a:prstGeom>
            <a:noFill/>
            <a:ln w="38100">
              <a:solidFill>
                <a:srgbClr val="F4043D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7833" name="Line 29"/>
            <p:cNvSpPr>
              <a:spLocks noChangeShapeType="1"/>
            </p:cNvSpPr>
            <p:nvPr/>
          </p:nvSpPr>
          <p:spPr bwMode="auto">
            <a:xfrm>
              <a:off x="4286250" y="5459413"/>
              <a:ext cx="0" cy="319087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77834" name="AutoShape 30"/>
            <p:cNvCxnSpPr>
              <a:cxnSpLocks noChangeShapeType="1"/>
              <a:stCxn id="19461" idx="3"/>
              <a:endCxn id="77833" idx="0"/>
            </p:cNvCxnSpPr>
            <p:nvPr/>
          </p:nvCxnSpPr>
          <p:spPr bwMode="auto">
            <a:xfrm flipH="1">
              <a:off x="4286250" y="3386138"/>
              <a:ext cx="1627188" cy="2073275"/>
            </a:xfrm>
            <a:prstGeom prst="bentConnector4">
              <a:avLst>
                <a:gd name="adj1" fmla="val -51194"/>
                <a:gd name="adj2" fmla="val 100079"/>
              </a:avLst>
            </a:prstGeom>
            <a:noFill/>
            <a:ln w="38100">
              <a:solidFill>
                <a:srgbClr val="FFC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9470" name="Text Box 31"/>
            <p:cNvSpPr txBox="1">
              <a:spLocks noChangeArrowheads="1"/>
            </p:cNvSpPr>
            <p:nvPr/>
          </p:nvSpPr>
          <p:spPr bwMode="auto">
            <a:xfrm>
              <a:off x="5565775" y="2827338"/>
              <a:ext cx="1527175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kumimoji="1" lang="en-US" altLang="zh-CN" sz="24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  <a:r>
                <a:rPr kumimoji="1" lang="zh-CN" altLang="en-US" sz="24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（假）</a:t>
              </a:r>
            </a:p>
          </p:txBody>
        </p:sp>
        <p:sp>
          <p:nvSpPr>
            <p:cNvPr id="19471" name="Text Box 32"/>
            <p:cNvSpPr txBox="1">
              <a:spLocks noChangeArrowheads="1"/>
            </p:cNvSpPr>
            <p:nvPr/>
          </p:nvSpPr>
          <p:spPr bwMode="auto">
            <a:xfrm>
              <a:off x="4403725" y="3871913"/>
              <a:ext cx="1509713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400" b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非</a:t>
              </a:r>
              <a:r>
                <a:rPr kumimoji="1" lang="en-US" altLang="zh-CN" sz="2400" b="1" dirty="0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  <a:r>
                <a:rPr kumimoji="1" lang="zh-CN" altLang="en-US" sz="2400" b="1" smtClean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（真）</a:t>
              </a:r>
            </a:p>
          </p:txBody>
        </p:sp>
        <p:sp>
          <p:nvSpPr>
            <p:cNvPr id="16" name="Rectangle 7"/>
            <p:cNvSpPr>
              <a:spLocks noChangeArrowheads="1"/>
            </p:cNvSpPr>
            <p:nvPr/>
          </p:nvSpPr>
          <p:spPr bwMode="auto">
            <a:xfrm>
              <a:off x="2555875" y="5770563"/>
              <a:ext cx="3516313" cy="650875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while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的下一条语句</a:t>
              </a: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solidFill>
                  <a:srgbClr val="006666"/>
                </a:solidFill>
                <a:effectLst/>
              </a:rPr>
              <a:t>w</a:t>
            </a:r>
            <a:r>
              <a:rPr lang="en-US" altLang="zh-CN" dirty="0" smtClean="0">
                <a:solidFill>
                  <a:srgbClr val="006666"/>
                </a:solidFill>
                <a:effectLst/>
              </a:rPr>
              <a:t>hile</a:t>
            </a:r>
            <a:r>
              <a:rPr lang="zh-CN" altLang="en-US" dirty="0" smtClean="0">
                <a:solidFill>
                  <a:srgbClr val="006666"/>
                </a:solidFill>
                <a:effectLst/>
              </a:rPr>
              <a:t>语句</a:t>
            </a:r>
            <a:endParaRPr lang="zh-CN" altLang="en-US" dirty="0" smtClean="0">
              <a:solidFill>
                <a:srgbClr val="3333FF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203847" y="1933575"/>
            <a:ext cx="5396974" cy="1727200"/>
            <a:chOff x="2559576" y="2781300"/>
            <a:chExt cx="5396974" cy="172720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H="1" flipV="1">
              <a:off x="2559576" y="2888326"/>
              <a:ext cx="3307823" cy="540673"/>
            </a:xfrm>
            <a:prstGeom prst="line">
              <a:avLst/>
            </a:prstGeom>
            <a:noFill/>
            <a:ln w="1016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5867400" y="2781300"/>
              <a:ext cx="2089150" cy="1727200"/>
            </a:xfrm>
            <a:prstGeom prst="rect">
              <a:avLst/>
            </a:prstGeom>
            <a:noFill/>
            <a:ln w="3810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/>
              <a:r>
                <a:rPr lang="zh-CN" altLang="en-US">
                  <a:solidFill>
                    <a:srgbClr val="3333CC"/>
                  </a:solidFill>
                </a:rPr>
                <a:t>先判断</a:t>
              </a:r>
            </a:p>
            <a:p>
              <a:pPr algn="ctr"/>
              <a:r>
                <a:rPr lang="zh-CN" altLang="en-US">
                  <a:solidFill>
                    <a:srgbClr val="3333CC"/>
                  </a:solidFill>
                </a:rPr>
                <a:t>再循环</a:t>
              </a:r>
            </a:p>
          </p:txBody>
        </p:sp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while</a:t>
            </a:r>
            <a:r>
              <a:rPr lang="zh-CN" altLang="en-US" dirty="0"/>
              <a:t>循环语句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088" y="1700213"/>
            <a:ext cx="7993062" cy="5157787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先判断条件再执行循环语句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当条件成立时，语句（即循环体）反复执行。</a:t>
            </a:r>
          </a:p>
          <a:p>
            <a:pPr>
              <a:defRPr/>
            </a:pPr>
            <a:r>
              <a:rPr lang="zh-CN" altLang="en-US" dirty="0" smtClean="0"/>
              <a:t>在</a:t>
            </a:r>
            <a:r>
              <a:rPr lang="en-US" altLang="zh-CN" dirty="0" smtClean="0"/>
              <a:t>while</a:t>
            </a:r>
            <a:r>
              <a:rPr lang="zh-CN" altLang="en-US" dirty="0" smtClean="0"/>
              <a:t>的内嵌语句中应该增加对</a:t>
            </a:r>
            <a:r>
              <a:rPr lang="zh-CN" altLang="en-US" dirty="0" smtClean="0">
                <a:solidFill>
                  <a:srgbClr val="FF0000"/>
                </a:solidFill>
              </a:rPr>
              <a:t>循环变量进行修改</a:t>
            </a:r>
            <a:r>
              <a:rPr lang="zh-CN" altLang="en-US" dirty="0" smtClean="0"/>
              <a:t>的语句，使循环趋于结束，否则将使程序陷入死循环。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/>
              <a:t>当</a:t>
            </a:r>
            <a:r>
              <a:rPr lang="zh-CN" altLang="en-US" dirty="0" smtClean="0"/>
              <a:t>条件表达式只用来表示等于零或不等于零的关系时，条件表达式可以简化成如下形式：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dirty="0" smtClean="0"/>
              <a:t>while (x!=0) </a:t>
            </a:r>
            <a:r>
              <a:rPr lang="zh-CN" altLang="en-US" dirty="0" smtClean="0"/>
              <a:t>可写成 </a:t>
            </a:r>
            <a:r>
              <a:rPr lang="en-US" altLang="zh-CN" dirty="0" smtClean="0"/>
              <a:t>while (x)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dirty="0" smtClean="0"/>
              <a:t>while (x==0) </a:t>
            </a:r>
            <a:r>
              <a:rPr lang="zh-CN" altLang="en-US" dirty="0" smtClean="0"/>
              <a:t>可写成 </a:t>
            </a:r>
            <a:r>
              <a:rPr lang="en-US" altLang="zh-CN" dirty="0" smtClean="0"/>
              <a:t>while (!x)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endParaRPr lang="zh-CN" altLang="en-US" dirty="0"/>
          </a:p>
        </p:txBody>
      </p:sp>
      <p:sp>
        <p:nvSpPr>
          <p:cNvPr id="7885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0AF7D27-DAC1-469F-B880-875BBB3190F4}" type="slidenum">
              <a:rPr lang="en-US" altLang="zh-CN" sz="2600">
                <a:solidFill>
                  <a:schemeClr val="bg1"/>
                </a:solidFill>
              </a:rPr>
              <a:pPr/>
              <a:t>60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765175"/>
            <a:ext cx="8388350" cy="7842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000" dirty="0">
                <a:ea typeface="黑体" panose="02010609060101010101" pitchFamily="49" charset="-122"/>
              </a:rPr>
              <a:t>从键盘输入一批学生的成绩</a:t>
            </a:r>
            <a:r>
              <a:rPr lang="zh-CN" altLang="en-US" sz="2000" dirty="0">
                <a:solidFill>
                  <a:srgbClr val="FF0000"/>
                </a:solidFill>
                <a:ea typeface="黑体" panose="02010609060101010101" pitchFamily="49" charset="-122"/>
              </a:rPr>
              <a:t>（以负数作为结束标志</a:t>
            </a:r>
            <a:r>
              <a:rPr lang="en-US" altLang="zh-CN" sz="2000" dirty="0">
                <a:solidFill>
                  <a:srgbClr val="FF0000"/>
                </a:solidFill>
                <a:ea typeface="黑体" panose="02010609060101010101" pitchFamily="49" charset="-122"/>
              </a:rPr>
              <a:t>),  </a:t>
            </a:r>
            <a:r>
              <a:rPr lang="zh-CN" altLang="en-US" sz="2000" dirty="0">
                <a:ea typeface="黑体" panose="02010609060101010101" pitchFamily="49" charset="-122"/>
              </a:rPr>
              <a:t>统计不及格人数。</a:t>
            </a:r>
            <a:endParaRPr lang="en-US" altLang="zh-CN" sz="2000" dirty="0">
              <a:ea typeface="黑体" panose="02010609060101010101" pitchFamily="49" charset="-122"/>
            </a:endParaRP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36702C-E92B-448F-B8D0-C89E14128F42}" type="slidenum">
              <a:rPr lang="en-US" altLang="zh-CN" sz="2600">
                <a:solidFill>
                  <a:schemeClr val="bg1"/>
                </a:solidFill>
              </a:rPr>
              <a:pPr/>
              <a:t>61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83969" y="1588549"/>
            <a:ext cx="468052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#include &lt;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stdio.h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&gt;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main()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int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num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=0;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float mark;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printf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("</a:t>
            </a:r>
            <a:r>
              <a:rPr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请输入学生成绩：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");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scanf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("%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f",&amp;mark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while(mark</a:t>
            </a:r>
            <a:r>
              <a:rPr lang="en-US" altLang="zh-CN" sz="18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&gt;=0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)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if(mark&lt;60)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num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=num+1;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printf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("</a:t>
            </a:r>
            <a:r>
              <a:rPr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请输入学生成绩：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");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scanf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("%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f",&amp;mark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}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printf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("</a:t>
            </a:r>
            <a:r>
              <a:rPr lang="zh-CN" altLang="en-US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不及格人数为：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%d\n",</a:t>
            </a:r>
            <a:r>
              <a:rPr lang="en-US" altLang="zh-CN" sz="1800" b="1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num</a:t>
            </a: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return 0;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8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}</a:t>
            </a:r>
            <a:endParaRPr lang="zh-CN" altLang="en-US" sz="18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755650" y="1700214"/>
            <a:ext cx="3024261" cy="959810"/>
          </a:xfrm>
        </p:spPr>
        <p:txBody>
          <a:bodyPr/>
          <a:lstStyle/>
          <a:p>
            <a:r>
              <a:rPr lang="zh-CN" altLang="en-US" sz="2400" dirty="0"/>
              <a:t>没有给出学生的</a:t>
            </a:r>
            <a:r>
              <a:rPr lang="zh-CN" altLang="en-US" sz="2400" dirty="0" smtClean="0"/>
              <a:t>数量</a:t>
            </a:r>
            <a:endParaRPr lang="en-US" altLang="zh-CN" sz="2400" dirty="0" smtClean="0"/>
          </a:p>
          <a:p>
            <a:r>
              <a:rPr lang="zh-CN" altLang="en-US" sz="2400" dirty="0" smtClean="0"/>
              <a:t>即循环次数不确定</a:t>
            </a:r>
            <a:endParaRPr lang="zh-CN" altLang="en-US" sz="2400" dirty="0"/>
          </a:p>
        </p:txBody>
      </p:sp>
      <p:grpSp>
        <p:nvGrpSpPr>
          <p:cNvPr id="22" name="组合 21"/>
          <p:cNvGrpSpPr/>
          <p:nvPr/>
        </p:nvGrpSpPr>
        <p:grpSpPr>
          <a:xfrm>
            <a:off x="1122178" y="2934762"/>
            <a:ext cx="3376098" cy="3640158"/>
            <a:chOff x="1122178" y="2852456"/>
            <a:chExt cx="3376098" cy="3640158"/>
          </a:xfrm>
        </p:grpSpPr>
        <p:grpSp>
          <p:nvGrpSpPr>
            <p:cNvPr id="6" name="组合 5"/>
            <p:cNvGrpSpPr/>
            <p:nvPr/>
          </p:nvGrpSpPr>
          <p:grpSpPr>
            <a:xfrm>
              <a:off x="1122178" y="3363759"/>
              <a:ext cx="3376098" cy="2666550"/>
              <a:chOff x="2659063" y="2276475"/>
              <a:chExt cx="4433887" cy="3502025"/>
            </a:xfrm>
          </p:grpSpPr>
          <p:sp>
            <p:nvSpPr>
              <p:cNvPr id="7" name="AutoShape 22"/>
              <p:cNvSpPr>
                <a:spLocks noChangeArrowheads="1"/>
              </p:cNvSpPr>
              <p:nvPr/>
            </p:nvSpPr>
            <p:spPr bwMode="auto">
              <a:xfrm>
                <a:off x="2659063" y="2908300"/>
                <a:ext cx="3254375" cy="955675"/>
              </a:xfrm>
              <a:prstGeom prst="flowChartDecision">
                <a:avLst/>
              </a:prstGeom>
              <a:noFill/>
              <a:ln w="38100">
                <a:solidFill>
                  <a:srgbClr val="3333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</a:endParaRPr>
              </a:p>
            </p:txBody>
          </p:sp>
          <p:sp>
            <p:nvSpPr>
              <p:cNvPr id="8" name="Text Box 23"/>
              <p:cNvSpPr txBox="1">
                <a:spLocks noChangeArrowheads="1"/>
              </p:cNvSpPr>
              <p:nvPr/>
            </p:nvSpPr>
            <p:spPr bwMode="auto">
              <a:xfrm>
                <a:off x="3008313" y="4422775"/>
                <a:ext cx="2557463" cy="565891"/>
              </a:xfrm>
              <a:prstGeom prst="rect">
                <a:avLst/>
              </a:prstGeom>
              <a:noFill/>
              <a:ln w="38100">
                <a:solidFill>
                  <a:srgbClr val="3333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10000"/>
                  </a:lnSpc>
                  <a:spcBef>
                    <a:spcPct val="50000"/>
                  </a:spcBef>
                </a:pPr>
                <a:r>
                  <a:rPr kumimoji="1" lang="zh-CN" altLang="en-US" sz="2000" b="1" dirty="0">
                    <a:latin typeface="Times New Roman" panose="02020603050405020304" pitchFamily="18" charset="0"/>
                  </a:rPr>
                  <a:t>循环体语 句</a:t>
                </a:r>
              </a:p>
            </p:txBody>
          </p:sp>
          <p:sp>
            <p:nvSpPr>
              <p:cNvPr id="9" name="Text Box 24"/>
              <p:cNvSpPr txBox="1">
                <a:spLocks noChangeArrowheads="1"/>
              </p:cNvSpPr>
              <p:nvPr/>
            </p:nvSpPr>
            <p:spPr bwMode="auto">
              <a:xfrm>
                <a:off x="3124200" y="3067050"/>
                <a:ext cx="2324101" cy="5254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 smtClean="0">
                    <a:latin typeface="Times New Roman" pitchFamily="18" charset="0"/>
                  </a:rPr>
                  <a:t>mark&gt;=0</a:t>
                </a:r>
                <a:endParaRPr kumimoji="1" lang="zh-CN" altLang="en-US" sz="2000" b="1" dirty="0" smtClean="0">
                  <a:latin typeface="Times New Roman" pitchFamily="18" charset="0"/>
                </a:endParaRPr>
              </a:p>
            </p:txBody>
          </p:sp>
          <p:sp>
            <p:nvSpPr>
              <p:cNvPr id="10" name="Line 25"/>
              <p:cNvSpPr>
                <a:spLocks noChangeShapeType="1"/>
              </p:cNvSpPr>
              <p:nvPr/>
            </p:nvSpPr>
            <p:spPr bwMode="auto">
              <a:xfrm flipH="1">
                <a:off x="4286250" y="2276475"/>
                <a:ext cx="3175" cy="660400"/>
              </a:xfrm>
              <a:prstGeom prst="line">
                <a:avLst/>
              </a:prstGeom>
              <a:noFill/>
              <a:ln w="38100">
                <a:solidFill>
                  <a:srgbClr val="3333FF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cxnSp>
            <p:nvCxnSpPr>
              <p:cNvPr id="11" name="AutoShape 26"/>
              <p:cNvCxnSpPr>
                <a:cxnSpLocks noChangeShapeType="1"/>
                <a:stCxn id="7" idx="2"/>
                <a:endCxn id="8" idx="0"/>
              </p:cNvCxnSpPr>
              <p:nvPr/>
            </p:nvCxnSpPr>
            <p:spPr bwMode="auto">
              <a:xfrm>
                <a:off x="4286251" y="3863974"/>
                <a:ext cx="793" cy="558801"/>
              </a:xfrm>
              <a:prstGeom prst="straightConnector1">
                <a:avLst/>
              </a:prstGeom>
              <a:noFill/>
              <a:ln w="38100">
                <a:solidFill>
                  <a:srgbClr val="F4043D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2" name="AutoShape 27"/>
              <p:cNvCxnSpPr>
                <a:cxnSpLocks noChangeShapeType="1"/>
                <a:stCxn id="8" idx="2"/>
              </p:cNvCxnSpPr>
              <p:nvPr/>
            </p:nvCxnSpPr>
            <p:spPr bwMode="auto">
              <a:xfrm rot="5400000" flipH="1" flipV="1">
                <a:off x="3127400" y="3826645"/>
                <a:ext cx="2321664" cy="2378"/>
              </a:xfrm>
              <a:prstGeom prst="bentConnector5">
                <a:avLst>
                  <a:gd name="adj1" fmla="val -12931"/>
                  <a:gd name="adj2" fmla="val -78038763"/>
                  <a:gd name="adj3" fmla="val 98494"/>
                </a:avLst>
              </a:prstGeom>
              <a:noFill/>
              <a:ln w="38100">
                <a:solidFill>
                  <a:srgbClr val="F4043D"/>
                </a:solidFill>
                <a:miter lim="800000"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3" name="Line 29"/>
              <p:cNvSpPr>
                <a:spLocks noChangeShapeType="1"/>
              </p:cNvSpPr>
              <p:nvPr/>
            </p:nvSpPr>
            <p:spPr bwMode="auto">
              <a:xfrm>
                <a:off x="4286250" y="5459413"/>
                <a:ext cx="0" cy="319087"/>
              </a:xfrm>
              <a:prstGeom prst="line">
                <a:avLst/>
              </a:prstGeom>
              <a:noFill/>
              <a:ln w="38100">
                <a:solidFill>
                  <a:srgbClr val="FFC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2000"/>
              </a:p>
            </p:txBody>
          </p:sp>
          <p:cxnSp>
            <p:nvCxnSpPr>
              <p:cNvPr id="14" name="AutoShape 30"/>
              <p:cNvCxnSpPr>
                <a:cxnSpLocks noChangeShapeType="1"/>
                <a:stCxn id="7" idx="3"/>
                <a:endCxn id="13" idx="0"/>
              </p:cNvCxnSpPr>
              <p:nvPr/>
            </p:nvCxnSpPr>
            <p:spPr bwMode="auto">
              <a:xfrm flipH="1">
                <a:off x="4286250" y="3386138"/>
                <a:ext cx="1627188" cy="2073275"/>
              </a:xfrm>
              <a:prstGeom prst="bentConnector4">
                <a:avLst>
                  <a:gd name="adj1" fmla="val -51194"/>
                  <a:gd name="adj2" fmla="val 100079"/>
                </a:avLst>
              </a:prstGeom>
              <a:noFill/>
              <a:ln w="38100">
                <a:solidFill>
                  <a:srgbClr val="FFC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Text Box 31"/>
              <p:cNvSpPr txBox="1">
                <a:spLocks noChangeArrowheads="1"/>
              </p:cNvSpPr>
              <p:nvPr/>
            </p:nvSpPr>
            <p:spPr bwMode="auto">
              <a:xfrm>
                <a:off x="5565775" y="2827338"/>
                <a:ext cx="1527175" cy="5254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rPr>
                  <a:t>0</a:t>
                </a:r>
                <a:r>
                  <a:rPr kumimoji="1" lang="zh-CN" altLang="en-US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rPr>
                  <a:t>（假）</a:t>
                </a:r>
              </a:p>
            </p:txBody>
          </p:sp>
          <p:sp>
            <p:nvSpPr>
              <p:cNvPr id="16" name="Text Box 32"/>
              <p:cNvSpPr txBox="1">
                <a:spLocks noChangeArrowheads="1"/>
              </p:cNvSpPr>
              <p:nvPr/>
            </p:nvSpPr>
            <p:spPr bwMode="auto">
              <a:xfrm>
                <a:off x="4403725" y="3871913"/>
                <a:ext cx="1509713" cy="5254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zh-CN" altLang="en-US" sz="2000" b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rPr>
                  <a:t>非</a:t>
                </a:r>
                <a:r>
                  <a:rPr kumimoji="1" lang="en-US" altLang="zh-CN" sz="2000" b="1" dirty="0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rPr>
                  <a:t>0</a:t>
                </a:r>
                <a:r>
                  <a:rPr kumimoji="1" lang="zh-CN" altLang="en-US" sz="2000" b="1" smtClean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itchFamily="18" charset="0"/>
                  </a:rPr>
                  <a:t>（真）</a:t>
                </a: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122178" y="2852456"/>
              <a:ext cx="2664296" cy="3640158"/>
              <a:chOff x="1122178" y="2852456"/>
              <a:chExt cx="2664296" cy="3640158"/>
            </a:xfrm>
          </p:grpSpPr>
          <p:sp>
            <p:nvSpPr>
              <p:cNvPr id="19" name="平行四边形 18"/>
              <p:cNvSpPr/>
              <p:nvPr/>
            </p:nvSpPr>
            <p:spPr bwMode="auto">
              <a:xfrm>
                <a:off x="1122178" y="5994040"/>
                <a:ext cx="2664296" cy="498574"/>
              </a:xfrm>
              <a:prstGeom prst="parallelogram">
                <a:avLst/>
              </a:prstGeom>
              <a:noFill/>
              <a:ln w="38100" cap="flat" cmpd="sng" algn="ctr">
                <a:solidFill>
                  <a:srgbClr val="0D12D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zh-CN" altLang="en-US" sz="2000" b="1" dirty="0" smtClean="0">
                    <a:latin typeface="Arial" charset="0"/>
                  </a:rPr>
                  <a:t>打印不及格人数</a:t>
                </a:r>
                <a:endParaRPr kumimoji="0" lang="zh-CN" altLang="en-US" sz="20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latin typeface="Arial" charset="0"/>
                </a:endParaRPr>
              </a:p>
            </p:txBody>
          </p:sp>
          <p:sp>
            <p:nvSpPr>
              <p:cNvPr id="21" name="平行四边形 20"/>
              <p:cNvSpPr/>
              <p:nvPr/>
            </p:nvSpPr>
            <p:spPr bwMode="auto">
              <a:xfrm>
                <a:off x="1165609" y="2852456"/>
                <a:ext cx="2391118" cy="498574"/>
              </a:xfrm>
              <a:prstGeom prst="parallelogram">
                <a:avLst/>
              </a:prstGeom>
              <a:noFill/>
              <a:ln w="38100" cap="flat" cmpd="sng" algn="ctr">
                <a:solidFill>
                  <a:srgbClr val="0D12D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zh-CN" altLang="en-US" sz="2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latin typeface="Arial" charset="0"/>
                  </a:rPr>
                  <a:t>输入学生成绩</a:t>
                </a:r>
              </a:p>
            </p:txBody>
          </p:sp>
        </p:grpSp>
      </p:grpSp>
    </p:spTree>
  </p:cSld>
  <p:clrMapOvr>
    <a:masterClrMapping/>
  </p:clrMapOvr>
  <p:transition spd="med"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60" y="765175"/>
            <a:ext cx="8388350" cy="7842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effectLst/>
              </a:rPr>
              <a:t>求 </a:t>
            </a:r>
            <a:r>
              <a:rPr lang="en-US" altLang="zh-CN" dirty="0" smtClean="0">
                <a:effectLst/>
              </a:rPr>
              <a:t>e</a:t>
            </a:r>
            <a:r>
              <a:rPr lang="en-US" altLang="zh-CN" dirty="0">
                <a:effectLst/>
              </a:rPr>
              <a:t>≈1+1/1!+1/2!+1/3!+…+1/n</a:t>
            </a:r>
            <a:r>
              <a:rPr lang="en-US" altLang="zh-CN" dirty="0" smtClean="0">
                <a:effectLst/>
              </a:rPr>
              <a:t>!,</a:t>
            </a:r>
            <a:r>
              <a:rPr lang="zh-CN" altLang="en-US" dirty="0" smtClean="0">
                <a:effectLst/>
              </a:rPr>
              <a:t>用</a:t>
            </a:r>
            <a:r>
              <a:rPr lang="en-US" altLang="zh-CN" dirty="0" smtClean="0">
                <a:effectLst/>
              </a:rPr>
              <a:t>while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088" y="1700213"/>
            <a:ext cx="3600450" cy="5157787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int i,n;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double item=1,sum=1;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scanf("%d",&amp;n);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for(i=1;i&lt;=n;i++)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item=item*i;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sum=sum+1.0/item;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}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printf("sum=%lf\n",sum);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return 0;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36702C-E92B-448F-B8D0-C89E14128F42}" type="slidenum">
              <a:rPr lang="en-US" altLang="zh-CN" sz="2600">
                <a:solidFill>
                  <a:schemeClr val="bg1"/>
                </a:solidFill>
              </a:rPr>
              <a:pPr/>
              <a:t>62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59213" y="1588549"/>
            <a:ext cx="4105275" cy="52968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#include &lt;stdio.h&gt;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int main()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int </a:t>
            </a:r>
            <a:r>
              <a:rPr lang="en-US" altLang="zh-CN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i=1</a:t>
            </a: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,n;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double item=1,sum=1;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scanf("%d",&amp;n);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while(i&lt;=n)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item=item*i;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sum=sum+1.0/item;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</a:t>
            </a:r>
            <a:r>
              <a:rPr lang="en-US" altLang="zh-CN" sz="19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i++;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}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printf("sum=%lf\n",sum);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return 0;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19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}</a:t>
            </a:r>
            <a:endParaRPr lang="zh-CN" altLang="en-US" sz="19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0240361"/>
      </p:ext>
    </p:extLst>
  </p:cSld>
  <p:clrMapOvr>
    <a:masterClrMapping/>
  </p:clrMapOvr>
  <p:transition spd="med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8388350" cy="784225"/>
          </a:xfrm>
        </p:spPr>
        <p:txBody>
          <a:bodyPr/>
          <a:lstStyle/>
          <a:p>
            <a:pPr>
              <a:defRPr/>
            </a:pPr>
            <a:r>
              <a:rPr lang="zh-CN" altLang="en-US" sz="3200" dirty="0" smtClean="0">
                <a:effectLst/>
              </a:rPr>
              <a:t>求 </a:t>
            </a:r>
            <a:r>
              <a:rPr lang="en-US" altLang="zh-CN" sz="3200" dirty="0" smtClean="0">
                <a:effectLst/>
              </a:rPr>
              <a:t>e</a:t>
            </a:r>
            <a:r>
              <a:rPr lang="en-US" altLang="zh-CN" sz="3200" dirty="0">
                <a:effectLst/>
              </a:rPr>
              <a:t>≈1+1/1!+1/2!+1/3</a:t>
            </a:r>
            <a:r>
              <a:rPr lang="en-US" altLang="zh-CN" sz="3200" dirty="0" smtClean="0">
                <a:effectLst/>
              </a:rPr>
              <a:t>!+…</a:t>
            </a:r>
            <a:r>
              <a:rPr lang="zh-CN" altLang="en-US" sz="3200" dirty="0" smtClean="0">
                <a:effectLst/>
              </a:rPr>
              <a:t>直到</a:t>
            </a:r>
            <a:r>
              <a:rPr lang="en-US" altLang="zh-CN" sz="3200" dirty="0" smtClean="0">
                <a:effectLst/>
              </a:rPr>
              <a:t>1/n!&lt;10</a:t>
            </a:r>
            <a:r>
              <a:rPr lang="en-US" altLang="zh-CN" sz="3200" baseline="30000" dirty="0" smtClean="0">
                <a:effectLst/>
              </a:rPr>
              <a:t>-6</a:t>
            </a:r>
            <a:r>
              <a:rPr lang="zh-CN" altLang="en-US" sz="3200" dirty="0" smtClean="0">
                <a:effectLst/>
              </a:rPr>
              <a:t>为止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088" y="1700213"/>
            <a:ext cx="3600450" cy="5157787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int </a:t>
            </a:r>
            <a:r>
              <a:rPr lang="en-US" altLang="zh-CN" sz="2000" dirty="0" smtClean="0">
                <a:solidFill>
                  <a:srgbClr val="FF0000"/>
                </a:solidFill>
              </a:rPr>
              <a:t>i=1</a:t>
            </a:r>
            <a:r>
              <a:rPr lang="en-US" altLang="zh-CN" sz="2000" dirty="0" smtClean="0"/>
              <a:t>,n;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double item=1,sum=1;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smtClean="0"/>
              <a:t>  while(</a:t>
            </a:r>
            <a:r>
              <a:rPr lang="en-US" altLang="zh-CN" sz="2000" smtClean="0">
                <a:solidFill>
                  <a:srgbClr val="FF0000"/>
                </a:solidFill>
              </a:rPr>
              <a:t>1/item</a:t>
            </a:r>
            <a:r>
              <a:rPr lang="en-US" altLang="zh-CN" sz="2000" dirty="0" smtClean="0">
                <a:solidFill>
                  <a:srgbClr val="FF0000"/>
                </a:solidFill>
              </a:rPr>
              <a:t>&gt;=1e-6</a:t>
            </a:r>
            <a:r>
              <a:rPr lang="en-US" altLang="zh-CN" sz="2000" dirty="0" smtClean="0"/>
              <a:t>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sum=sum+1.0/item;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</a:t>
            </a:r>
            <a:r>
              <a:rPr lang="en-US" altLang="zh-CN" sz="2000" dirty="0" smtClean="0">
                <a:solidFill>
                  <a:srgbClr val="FF0000"/>
                </a:solidFill>
              </a:rPr>
              <a:t>i++</a:t>
            </a:r>
            <a:r>
              <a:rPr lang="en-US" altLang="zh-CN" sz="2000" dirty="0" smtClean="0"/>
              <a:t>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item=item*i;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}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printf("sum=%lf\n",sum);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return 0;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</a:t>
            </a:r>
            <a:endParaRPr lang="zh-CN" altLang="en-US" dirty="0"/>
          </a:p>
        </p:txBody>
      </p:sp>
      <p:sp>
        <p:nvSpPr>
          <p:cNvPr id="809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8D3B46-BA54-4B8C-9556-1075D961D9EB}" type="slidenum">
              <a:rPr lang="en-US" altLang="zh-CN" sz="2600">
                <a:solidFill>
                  <a:schemeClr val="bg1"/>
                </a:solidFill>
              </a:rPr>
              <a:pPr/>
              <a:t>63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268E5C-BCB1-4FD5-802F-B46631D47978}" type="slidenum">
              <a:rPr lang="en-US" altLang="zh-CN" sz="2600">
                <a:solidFill>
                  <a:schemeClr val="bg1"/>
                </a:solidFill>
              </a:rPr>
              <a:pPr/>
              <a:t>64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251345" y="9525"/>
            <a:ext cx="7993063" cy="6848475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dirty="0" smtClean="0"/>
              <a:t>【</a:t>
            </a:r>
            <a:r>
              <a:rPr lang="zh-CN" altLang="en-US" dirty="0" smtClean="0"/>
              <a:t>例</a:t>
            </a:r>
            <a:r>
              <a:rPr lang="en-US" altLang="zh-CN" dirty="0" smtClean="0"/>
              <a:t>3-7】</a:t>
            </a:r>
            <a:r>
              <a:rPr lang="zh-CN" altLang="en-US" dirty="0" smtClean="0"/>
              <a:t>用</a:t>
            </a:r>
            <a:r>
              <a:rPr lang="en-US" altLang="zh-CN" dirty="0" smtClean="0"/>
              <a:t>while</a:t>
            </a:r>
            <a:r>
              <a:rPr lang="zh-CN" altLang="en-US" dirty="0" smtClean="0"/>
              <a:t>循环语句写一个程序，统计从键盘输入的数字字符出现的次数，并把其中的数字字符依次输出，以回车符结束输入。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char ch;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int ct=0;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while ((ch=getchar())!='\n')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if(ch&gt;='0'&amp;&amp;ch&lt;='9')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{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    ct++;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    printf("%c ", ch);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    }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}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printf("\nThere are %d digits!\n", ct);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 </a:t>
            </a: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  <p:transition spd="med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549275"/>
            <a:ext cx="8229600" cy="611981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对例</a:t>
            </a:r>
            <a:r>
              <a:rPr lang="en-US" altLang="zh-CN" dirty="0" smtClean="0"/>
              <a:t>3-7</a:t>
            </a:r>
            <a:r>
              <a:rPr lang="zh-CN" altLang="en-US" dirty="0" smtClean="0"/>
              <a:t>略作改动：统计键盘输入的英文字母、数字字符及其它字符的个数。以回车符作为键入字符的结束。</a:t>
            </a:r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dirty="0" smtClean="0"/>
              <a:t>分析：</a:t>
            </a:r>
          </a:p>
          <a:p>
            <a:pPr lvl="1" algn="just">
              <a:defRPr/>
            </a:pPr>
            <a:r>
              <a:rPr lang="zh-CN" altLang="en-US" dirty="0" smtClean="0"/>
              <a:t>如何读入字符</a:t>
            </a:r>
          </a:p>
          <a:p>
            <a:pPr lvl="1" algn="just">
              <a:defRPr/>
            </a:pPr>
            <a:r>
              <a:rPr lang="zh-CN" altLang="en-US" dirty="0" smtClean="0"/>
              <a:t>确定循环条件如是回车符就结束循环</a:t>
            </a:r>
            <a:endParaRPr lang="en-US" altLang="zh-CN" dirty="0" smtClean="0"/>
          </a:p>
          <a:p>
            <a:pPr lvl="1" algn="just">
              <a:defRPr/>
            </a:pPr>
            <a:r>
              <a:rPr lang="en-US" altLang="zh-CN" dirty="0" smtClean="0"/>
              <a:t>letter  </a:t>
            </a:r>
            <a:r>
              <a:rPr lang="zh-CN" altLang="en-US" dirty="0" smtClean="0"/>
              <a:t>统计键入字母个数</a:t>
            </a:r>
            <a:r>
              <a:rPr lang="en-US" altLang="zh-CN" dirty="0" smtClean="0"/>
              <a:t>,    </a:t>
            </a:r>
          </a:p>
          <a:p>
            <a:pPr lvl="1" algn="just">
              <a:defRPr/>
            </a:pPr>
            <a:r>
              <a:rPr lang="en-US" altLang="zh-CN" dirty="0" smtClean="0"/>
              <a:t>digit   </a:t>
            </a:r>
            <a:r>
              <a:rPr lang="zh-CN" altLang="en-US" dirty="0" smtClean="0"/>
              <a:t>统计键入数字个数</a:t>
            </a:r>
            <a:r>
              <a:rPr lang="en-US" altLang="zh-CN" dirty="0" smtClean="0"/>
              <a:t>,</a:t>
            </a:r>
          </a:p>
          <a:p>
            <a:pPr lvl="1" algn="just">
              <a:defRPr/>
            </a:pPr>
            <a:r>
              <a:rPr lang="en-US" altLang="zh-CN" dirty="0" smtClean="0"/>
              <a:t>other </a:t>
            </a:r>
            <a:r>
              <a:rPr lang="zh-CN" altLang="en-US" dirty="0" smtClean="0"/>
              <a:t>统计键入其它字符个数。</a:t>
            </a:r>
          </a:p>
        </p:txBody>
      </p:sp>
    </p:spTree>
  </p:cSld>
  <p:clrMapOvr>
    <a:masterClrMapping/>
  </p:clrMapOvr>
  <p:transition spd="med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6308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 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int  digit,letter,other;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char ch;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digit=letter=other= 0;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while  ((ch=getchar( ))!='\n')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    if  ((</a:t>
            </a:r>
            <a:r>
              <a:rPr lang="en-US" altLang="zh-CN" sz="2400" dirty="0" err="1" smtClean="0"/>
              <a:t>ch</a:t>
            </a:r>
            <a:r>
              <a:rPr lang="en-US" altLang="zh-CN" sz="2400" dirty="0"/>
              <a:t>&gt;='a' </a:t>
            </a:r>
            <a:r>
              <a:rPr lang="en-US" altLang="zh-CN" sz="2400" dirty="0" smtClean="0"/>
              <a:t>&amp;&amp; ch&lt;='z' ) || (</a:t>
            </a:r>
            <a:r>
              <a:rPr lang="en-US" altLang="zh-CN" sz="2400" dirty="0" err="1" smtClean="0"/>
              <a:t>ch</a:t>
            </a:r>
            <a:r>
              <a:rPr lang="en-US" altLang="zh-CN" sz="2400" dirty="0" smtClean="0"/>
              <a:t>&gt;=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'A</a:t>
            </a:r>
            <a:r>
              <a:rPr lang="en-US" altLang="zh-CN" sz="2400" dirty="0"/>
              <a:t>'</a:t>
            </a:r>
            <a:r>
              <a:rPr lang="en-US" altLang="zh-CN" sz="2400" dirty="0" smtClean="0"/>
              <a:t> &amp;&amp; ch&lt;='Z') )  letter++;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 else if (</a:t>
            </a:r>
            <a:r>
              <a:rPr lang="en-US" altLang="zh-CN" sz="2400" dirty="0" err="1" smtClean="0"/>
              <a:t>ch</a:t>
            </a:r>
            <a:r>
              <a:rPr lang="en-US" altLang="zh-CN" sz="2400" dirty="0" smtClean="0"/>
              <a:t>&gt;='0' &amp;&amp; ch&lt;='9')  digit++;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    else other++;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printf("letter=%d,digit=%d,other=%d\n", letter,digit,other);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</a:p>
          <a:p>
            <a:pPr>
              <a:lnSpc>
                <a:spcPct val="90000"/>
              </a:lnSpc>
              <a:defRPr/>
            </a:pPr>
            <a:endParaRPr lang="zh-CN" altLang="en-US" sz="2400" dirty="0" smtClean="0"/>
          </a:p>
        </p:txBody>
      </p:sp>
    </p:spTree>
  </p:cSld>
  <p:clrMapOvr>
    <a:masterClrMapping/>
  </p:clrMapOvr>
  <p:transition spd="med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006666"/>
                </a:solidFill>
                <a:effectLst/>
              </a:rPr>
              <a:t>do while</a:t>
            </a:r>
            <a:r>
              <a:rPr lang="zh-CN" altLang="en-US" dirty="0" smtClean="0">
                <a:solidFill>
                  <a:srgbClr val="006666"/>
                </a:solidFill>
                <a:effectLst/>
              </a:rPr>
              <a:t>语句</a:t>
            </a:r>
            <a:endParaRPr lang="zh-CN" altLang="en-US" dirty="0" smtClean="0">
              <a:solidFill>
                <a:srgbClr val="3333FF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354404" y="3068958"/>
            <a:ext cx="2089150" cy="3107381"/>
            <a:chOff x="5152996" y="1071583"/>
            <a:chExt cx="2089150" cy="3107381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 flipH="1" flipV="1">
              <a:off x="6099212" y="1071583"/>
              <a:ext cx="7939" cy="1845963"/>
            </a:xfrm>
            <a:prstGeom prst="line">
              <a:avLst/>
            </a:prstGeom>
            <a:noFill/>
            <a:ln w="101600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7"/>
            <p:cNvSpPr>
              <a:spLocks noChangeArrowheads="1"/>
            </p:cNvSpPr>
            <p:nvPr/>
          </p:nvSpPr>
          <p:spPr bwMode="auto">
            <a:xfrm>
              <a:off x="5152996" y="2917546"/>
              <a:ext cx="2089150" cy="1261418"/>
            </a:xfrm>
            <a:prstGeom prst="rect">
              <a:avLst/>
            </a:prstGeom>
            <a:noFill/>
            <a:ln w="38100" algn="ctr">
              <a:solidFill>
                <a:srgbClr val="0000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marL="342900" indent="-3429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defRPr sz="4400" b="1">
                  <a:solidFill>
                    <a:schemeClr val="hlink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/>
              <a:endParaRPr lang="en-US" altLang="zh-CN" sz="3600" dirty="0" smtClean="0">
                <a:solidFill>
                  <a:srgbClr val="3333CC"/>
                </a:solidFill>
              </a:endParaRPr>
            </a:p>
            <a:p>
              <a:pPr algn="ctr"/>
              <a:r>
                <a:rPr lang="zh-CN" altLang="en-US" sz="3600" dirty="0" smtClean="0">
                  <a:solidFill>
                    <a:srgbClr val="3333CC"/>
                  </a:solidFill>
                </a:rPr>
                <a:t>先循环</a:t>
              </a:r>
              <a:endParaRPr lang="en-US" altLang="zh-CN" sz="3600" dirty="0">
                <a:solidFill>
                  <a:srgbClr val="3333CC"/>
                </a:solidFill>
              </a:endParaRPr>
            </a:p>
            <a:p>
              <a:pPr algn="ctr"/>
              <a:r>
                <a:rPr lang="zh-CN" altLang="en-US" sz="3600" dirty="0" smtClean="0">
                  <a:solidFill>
                    <a:srgbClr val="3333CC"/>
                  </a:solidFill>
                </a:rPr>
                <a:t>再判断</a:t>
              </a:r>
              <a:endParaRPr lang="zh-CN" altLang="en-US" sz="3600" dirty="0">
                <a:solidFill>
                  <a:srgbClr val="3333CC"/>
                </a:solidFill>
              </a:endParaRPr>
            </a:p>
            <a:p>
              <a:pPr algn="ctr"/>
              <a:endParaRPr lang="zh-CN" altLang="en-US" sz="3600" dirty="0">
                <a:solidFill>
                  <a:srgbClr val="3333CC"/>
                </a:solidFill>
              </a:endParaRPr>
            </a:p>
          </p:txBody>
        </p:sp>
      </p:grp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755576" y="1681043"/>
            <a:ext cx="7848798" cy="225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None/>
              <a:defRPr/>
            </a:pPr>
            <a:r>
              <a:rPr lang="zh-CN" altLang="en-US" kern="0" dirty="0" smtClean="0"/>
              <a:t>一般形式                           执行流程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kern="0" dirty="0" smtClean="0"/>
              <a:t>    </a:t>
            </a:r>
            <a:r>
              <a:rPr lang="en-US" altLang="zh-CN" kern="0" dirty="0" smtClean="0"/>
              <a:t>do{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kern="0" dirty="0" smtClean="0"/>
              <a:t>    </a:t>
            </a:r>
            <a:r>
              <a:rPr lang="zh-CN" altLang="en-US" kern="0" dirty="0" smtClean="0"/>
              <a:t>    循环体语句</a:t>
            </a:r>
            <a:endParaRPr lang="en-US" altLang="zh-CN" kern="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kern="0" dirty="0" smtClean="0"/>
              <a:t>    </a:t>
            </a:r>
            <a:r>
              <a:rPr lang="en-US" altLang="zh-CN" kern="0" dirty="0" smtClean="0"/>
              <a:t>}while</a:t>
            </a:r>
            <a:r>
              <a:rPr lang="zh-CN" altLang="en-US" kern="0" dirty="0" smtClean="0"/>
              <a:t>（表达式）</a:t>
            </a:r>
            <a:r>
              <a:rPr lang="en-US" altLang="zh-CN" kern="0" dirty="0" smtClean="0">
                <a:solidFill>
                  <a:srgbClr val="FF0000"/>
                </a:solidFill>
              </a:rPr>
              <a:t>;</a:t>
            </a:r>
          </a:p>
          <a:p>
            <a:pPr>
              <a:buFont typeface="Wingdings" pitchFamily="2" charset="2"/>
              <a:buNone/>
              <a:defRPr/>
            </a:pPr>
            <a:endParaRPr lang="zh-CN" altLang="en-US" kern="0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kern="0" dirty="0" smtClean="0"/>
              <a:t>  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4932040" y="2244485"/>
            <a:ext cx="4124325" cy="4332287"/>
            <a:chOff x="4933950" y="1773238"/>
            <a:chExt cx="4124325" cy="4332287"/>
          </a:xfrm>
        </p:grpSpPr>
        <p:sp>
          <p:nvSpPr>
            <p:cNvPr id="22" name="AutoShape 6"/>
            <p:cNvSpPr>
              <a:spLocks noChangeArrowheads="1"/>
            </p:cNvSpPr>
            <p:nvPr/>
          </p:nvSpPr>
          <p:spPr bwMode="auto">
            <a:xfrm>
              <a:off x="5581650" y="3825875"/>
              <a:ext cx="3005138" cy="895350"/>
            </a:xfrm>
            <a:prstGeom prst="flowChartDecision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lnSpc>
                  <a:spcPct val="90000"/>
                </a:lnSpc>
                <a:defRPr/>
              </a:pPr>
              <a:r>
                <a:rPr lang="zh-CN" altLang="en-US" sz="2800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表达式</a:t>
              </a:r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6010275" y="2619375"/>
              <a:ext cx="2147888" cy="650875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zh-CN" altLang="en-US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循环体语句</a:t>
              </a:r>
            </a:p>
          </p:txBody>
        </p:sp>
        <p:sp>
          <p:nvSpPr>
            <p:cNvPr id="24" name="Rectangle 8"/>
            <p:cNvSpPr>
              <a:spLocks noChangeArrowheads="1"/>
            </p:cNvSpPr>
            <p:nvPr/>
          </p:nvSpPr>
          <p:spPr bwMode="auto">
            <a:xfrm>
              <a:off x="7242175" y="4721225"/>
              <a:ext cx="1001713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（假）</a:t>
              </a:r>
              <a:endPara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sp>
          <p:nvSpPr>
            <p:cNvPr id="25" name="Rectangle 9"/>
            <p:cNvSpPr>
              <a:spLocks noChangeArrowheads="1"/>
            </p:cNvSpPr>
            <p:nvPr/>
          </p:nvSpPr>
          <p:spPr bwMode="auto">
            <a:xfrm>
              <a:off x="4933950" y="3576638"/>
              <a:ext cx="1222375" cy="588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非</a:t>
              </a:r>
              <a:r>
                <a:rPr lang="en-US" altLang="zh-CN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0</a:t>
              </a:r>
              <a:r>
                <a:rPr lang="zh-CN" altLang="en-US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（真）</a:t>
              </a:r>
              <a:endPara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endParaRPr>
            </a:p>
          </p:txBody>
        </p:sp>
        <p:cxnSp>
          <p:nvCxnSpPr>
            <p:cNvPr id="26" name="AutoShape 10"/>
            <p:cNvCxnSpPr>
              <a:cxnSpLocks noChangeShapeType="1"/>
              <a:stCxn id="23" idx="2"/>
              <a:endCxn id="22" idx="0"/>
            </p:cNvCxnSpPr>
            <p:nvPr/>
          </p:nvCxnSpPr>
          <p:spPr bwMode="auto">
            <a:xfrm>
              <a:off x="7083425" y="3270250"/>
              <a:ext cx="0" cy="555625"/>
            </a:xfrm>
            <a:prstGeom prst="straightConnector1">
              <a:avLst/>
            </a:prstGeom>
            <a:noFill/>
            <a:ln w="38100">
              <a:solidFill>
                <a:srgbClr val="DE4D1A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>
              <a:off x="7019925" y="1773238"/>
              <a:ext cx="0" cy="835025"/>
            </a:xfrm>
            <a:prstGeom prst="line">
              <a:avLst/>
            </a:prstGeom>
            <a:noFill/>
            <a:ln w="38100">
              <a:solidFill>
                <a:srgbClr val="0070C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28" name="AutoShape 12"/>
            <p:cNvCxnSpPr>
              <a:cxnSpLocks noChangeShapeType="1"/>
              <a:stCxn id="22" idx="1"/>
            </p:cNvCxnSpPr>
            <p:nvPr/>
          </p:nvCxnSpPr>
          <p:spPr bwMode="auto">
            <a:xfrm rot="10800000" flipH="1">
              <a:off x="5581650" y="2216150"/>
              <a:ext cx="1430338" cy="2058988"/>
            </a:xfrm>
            <a:prstGeom prst="bentConnector4">
              <a:avLst>
                <a:gd name="adj1" fmla="val -57296"/>
                <a:gd name="adj2" fmla="val 99542"/>
              </a:avLst>
            </a:prstGeom>
            <a:noFill/>
            <a:ln w="38100">
              <a:solidFill>
                <a:srgbClr val="F32D05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AutoShape 13"/>
            <p:cNvCxnSpPr>
              <a:cxnSpLocks noChangeShapeType="1"/>
              <a:stCxn id="22" idx="2"/>
            </p:cNvCxnSpPr>
            <p:nvPr/>
          </p:nvCxnSpPr>
          <p:spPr bwMode="auto">
            <a:xfrm>
              <a:off x="7083425" y="4721225"/>
              <a:ext cx="0" cy="742950"/>
            </a:xfrm>
            <a:prstGeom prst="straightConnector1">
              <a:avLst/>
            </a:prstGeom>
            <a:noFill/>
            <a:ln w="38100">
              <a:solidFill>
                <a:srgbClr val="FFC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5110163" y="5456238"/>
              <a:ext cx="3948112" cy="649287"/>
            </a:xfrm>
            <a:prstGeom prst="rect">
              <a:avLst/>
            </a:prstGeom>
            <a:noFill/>
            <a:ln w="38100">
              <a:solidFill>
                <a:srgbClr val="3333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kumimoji="1" lang="en-US" altLang="zh-CN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do-while</a:t>
              </a:r>
              <a:r>
                <a:rPr kumimoji="1" lang="zh-CN" altLang="en-US" sz="28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的下一条语句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83656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注意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388350" cy="453707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do-while</a:t>
            </a:r>
            <a:r>
              <a:rPr lang="zh-CN" altLang="en-US" dirty="0" smtClean="0"/>
              <a:t>循环语句是先执行循环体，然后再判断表达式是否成立。</a:t>
            </a:r>
          </a:p>
          <a:p>
            <a:pPr>
              <a:defRPr/>
            </a:pPr>
            <a:r>
              <a:rPr lang="zh-CN" altLang="en-US" dirty="0" smtClean="0"/>
              <a:t>无论循环条件的值如何，至少会执行循环体一次。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870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E5944F-86EE-448B-AB82-5E5079F3B883}" type="slidenum">
              <a:rPr lang="en-US" altLang="zh-CN" sz="2600">
                <a:solidFill>
                  <a:schemeClr val="bg1"/>
                </a:solidFill>
              </a:rPr>
              <a:pPr/>
              <a:t>68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8388350" cy="784225"/>
          </a:xfrm>
        </p:spPr>
        <p:txBody>
          <a:bodyPr/>
          <a:lstStyle/>
          <a:p>
            <a:pPr>
              <a:defRPr/>
            </a:pPr>
            <a:r>
              <a:rPr lang="zh-CN" altLang="en-US" sz="3200" dirty="0" smtClean="0">
                <a:effectLst/>
              </a:rPr>
              <a:t>求 </a:t>
            </a:r>
            <a:r>
              <a:rPr lang="en-US" altLang="zh-CN" sz="3200" dirty="0" smtClean="0">
                <a:effectLst/>
              </a:rPr>
              <a:t>e</a:t>
            </a:r>
            <a:r>
              <a:rPr lang="en-US" altLang="zh-CN" sz="3200" dirty="0">
                <a:effectLst/>
              </a:rPr>
              <a:t>≈1+1/1!+1/2!+1/3</a:t>
            </a:r>
            <a:r>
              <a:rPr lang="en-US" altLang="zh-CN" sz="3200" dirty="0" smtClean="0">
                <a:effectLst/>
              </a:rPr>
              <a:t>!+…</a:t>
            </a:r>
            <a:r>
              <a:rPr lang="zh-CN" altLang="en-US" sz="3200" dirty="0" smtClean="0">
                <a:effectLst/>
              </a:rPr>
              <a:t>直到</a:t>
            </a:r>
            <a:r>
              <a:rPr lang="en-US" altLang="zh-CN" sz="3200" dirty="0" smtClean="0">
                <a:effectLst/>
              </a:rPr>
              <a:t>1/n!&lt;10</a:t>
            </a:r>
            <a:r>
              <a:rPr lang="en-US" altLang="zh-CN" sz="3200" baseline="30000" dirty="0" smtClean="0">
                <a:effectLst/>
              </a:rPr>
              <a:t>-6</a:t>
            </a:r>
            <a:r>
              <a:rPr lang="zh-CN" altLang="en-US" sz="3200" dirty="0" smtClean="0">
                <a:effectLst/>
              </a:rPr>
              <a:t>为止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7088" y="1700213"/>
            <a:ext cx="3600450" cy="5157787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int i=1,n;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double item=1,sum=1;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while(1/item&gt;=1e-6)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{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sum=sum+1.0/item;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i++;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  item=item*i;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}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printf("sum=%lf\n",sum);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  return 0;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}</a:t>
            </a:r>
            <a:endParaRPr lang="zh-CN" altLang="en-US" dirty="0"/>
          </a:p>
        </p:txBody>
      </p:sp>
      <p:sp>
        <p:nvSpPr>
          <p:cNvPr id="880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B19854-1627-43FC-9944-7532D9854628}" type="slidenum">
              <a:rPr lang="en-US" altLang="zh-CN" sz="2600">
                <a:solidFill>
                  <a:schemeClr val="bg1"/>
                </a:solidFill>
              </a:rPr>
              <a:pPr/>
              <a:t>69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76788" y="1611313"/>
            <a:ext cx="4032250" cy="5202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#include &lt;stdio.h&gt;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int main()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int i=1,n;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double item=1,sum=1;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do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{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sum=sum+1.0/item;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i++;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  item=item*i;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}</a:t>
            </a:r>
            <a:r>
              <a:rPr lang="en-US" altLang="zh-CN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while(1/item</a:t>
            </a:r>
            <a:r>
              <a:rPr lang="en-US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&gt;=1e-6);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printf("sum=%lf\n",sum);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  return 0;</a:t>
            </a:r>
          </a:p>
          <a:p>
            <a:pPr>
              <a:spcBef>
                <a:spcPct val="20000"/>
              </a:spcBef>
              <a:buClr>
                <a:srgbClr val="A50021"/>
              </a:buClr>
              <a:buSzPct val="75000"/>
              <a:defRPr/>
            </a:pPr>
            <a:r>
              <a:rPr lang="en-US" altLang="zh-CN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}</a:t>
            </a:r>
            <a:endParaRPr lang="zh-CN" altLang="en-US" sz="20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549275"/>
            <a:ext cx="8388350" cy="990600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例</a:t>
            </a:r>
            <a:r>
              <a:rPr lang="en-US" altLang="zh-CN" dirty="0" smtClean="0">
                <a:solidFill>
                  <a:srgbClr val="3333FF"/>
                </a:solidFill>
              </a:rPr>
              <a:t>3-8</a:t>
            </a:r>
            <a:r>
              <a:rPr lang="zh-CN" altLang="en-US" dirty="0" smtClean="0">
                <a:solidFill>
                  <a:srgbClr val="3333FF"/>
                </a:solidFill>
              </a:rPr>
              <a:t>将一个正整数逆序输出并统计位数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8137525" cy="4929187"/>
          </a:xfrm>
          <a:ln>
            <a:solidFill>
              <a:schemeClr val="bg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4000" dirty="0" smtClean="0"/>
              <a:t>例如输入</a:t>
            </a:r>
            <a:r>
              <a:rPr lang="en-US" altLang="zh-CN" sz="4000" dirty="0" smtClean="0"/>
              <a:t>12345</a:t>
            </a:r>
            <a:r>
              <a:rPr lang="zh-CN" altLang="en-US" sz="4000" dirty="0" smtClean="0"/>
              <a:t>，</a:t>
            </a:r>
            <a:endParaRPr lang="en-US" altLang="zh-CN" sz="4000" dirty="0" smtClean="0"/>
          </a:p>
          <a:p>
            <a:pPr algn="just">
              <a:buFont typeface="Wingdings" pitchFamily="2" charset="2"/>
              <a:buNone/>
              <a:defRPr/>
            </a:pPr>
            <a:r>
              <a:rPr lang="zh-CN" altLang="en-US" sz="4000" dirty="0" smtClean="0"/>
              <a:t>分析：</a:t>
            </a:r>
          </a:p>
          <a:p>
            <a:pPr lvl="1" algn="just">
              <a:defRPr/>
            </a:pPr>
            <a:r>
              <a:rPr lang="zh-CN" altLang="en-US" sz="4000" dirty="0" smtClean="0"/>
              <a:t>一个整数由多位数字组成，循环次数由整数本身决定。</a:t>
            </a:r>
          </a:p>
          <a:p>
            <a:pPr lvl="1" algn="just">
              <a:defRPr/>
            </a:pPr>
            <a:r>
              <a:rPr lang="zh-CN" altLang="en-US" sz="4000" dirty="0" smtClean="0"/>
              <a:t>确定循环条件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96BB4CF-241A-46C4-A303-46ACF13D36FE}" type="slidenum">
              <a:rPr lang="en-US" altLang="zh-CN" sz="2600">
                <a:solidFill>
                  <a:schemeClr val="bg1"/>
                </a:solidFill>
              </a:rPr>
              <a:pPr/>
              <a:t>71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>
            <a:spLocks noGrp="1" noChangeArrowheads="1"/>
          </p:cNvSpPr>
          <p:nvPr>
            <p:ph idx="4294967295"/>
          </p:nvPr>
        </p:nvSpPr>
        <p:spPr>
          <a:xfrm>
            <a:off x="323850" y="476250"/>
            <a:ext cx="8820150" cy="4565650"/>
          </a:xfrm>
        </p:spPr>
        <p:txBody>
          <a:bodyPr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en-US" dirty="0">
                <a:latin typeface="Times New Roman" pitchFamily="18" charset="0"/>
              </a:rPr>
              <a:t>          </a:t>
            </a:r>
            <a:r>
              <a:rPr lang="zh-CN" altLang="en-US" sz="3600" dirty="0"/>
              <a:t>12345    </a:t>
            </a:r>
            <a:r>
              <a:rPr lang="zh-CN" altLang="en-US" sz="3600" dirty="0" smtClean="0"/>
              <a:t>逆序输出：54321</a:t>
            </a:r>
            <a:endParaRPr lang="zh-CN" altLang="en-US" sz="3600" dirty="0"/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endParaRPr lang="zh-CN" altLang="en-US" sz="3600" dirty="0"/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zh-CN" sz="3600" dirty="0"/>
              <a:t>12345 </a:t>
            </a:r>
            <a:r>
              <a:rPr lang="zh-CN" altLang="en-US" sz="3600" dirty="0"/>
              <a:t>% </a:t>
            </a:r>
            <a:r>
              <a:rPr lang="zh-CN" altLang="zh-CN" sz="3600" dirty="0"/>
              <a:t>10 = 5      12345 /</a:t>
            </a:r>
            <a:r>
              <a:rPr lang="zh-CN" altLang="en-US" sz="3600" dirty="0"/>
              <a:t> </a:t>
            </a:r>
            <a:r>
              <a:rPr lang="zh-CN" altLang="zh-CN" sz="3600" dirty="0"/>
              <a:t>10 =</a:t>
            </a:r>
            <a:r>
              <a:rPr lang="zh-CN" altLang="en-US" sz="3600" dirty="0"/>
              <a:t> </a:t>
            </a:r>
            <a:r>
              <a:rPr lang="zh-CN" altLang="zh-CN" sz="3600" dirty="0"/>
              <a:t>1234</a:t>
            </a:r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</a:t>
            </a:r>
            <a:r>
              <a:rPr lang="zh-CN" altLang="zh-CN" sz="3600" dirty="0"/>
              <a:t>1234 %</a:t>
            </a:r>
            <a:r>
              <a:rPr lang="zh-CN" altLang="en-US" sz="3600" dirty="0"/>
              <a:t> </a:t>
            </a:r>
            <a:r>
              <a:rPr lang="zh-CN" altLang="zh-CN" sz="3600" dirty="0"/>
              <a:t>10 = 4      </a:t>
            </a:r>
            <a:r>
              <a:rPr lang="zh-CN" altLang="en-US" sz="3600" dirty="0"/>
              <a:t>  </a:t>
            </a:r>
            <a:r>
              <a:rPr lang="zh-CN" altLang="zh-CN" sz="3600" dirty="0"/>
              <a:t>1234</a:t>
            </a:r>
            <a:r>
              <a:rPr lang="zh-CN" altLang="en-US" sz="3600" dirty="0"/>
              <a:t> </a:t>
            </a:r>
            <a:r>
              <a:rPr lang="zh-CN" altLang="zh-CN" sz="3600" dirty="0"/>
              <a:t>/</a:t>
            </a:r>
            <a:r>
              <a:rPr lang="zh-CN" altLang="en-US" sz="3600" dirty="0"/>
              <a:t> </a:t>
            </a:r>
            <a:r>
              <a:rPr lang="zh-CN" altLang="zh-CN" sz="3600" dirty="0"/>
              <a:t>10 =</a:t>
            </a:r>
            <a:r>
              <a:rPr lang="zh-CN" altLang="en-US" sz="3600" dirty="0"/>
              <a:t> </a:t>
            </a:r>
            <a:r>
              <a:rPr lang="zh-CN" altLang="zh-CN" sz="3600" dirty="0"/>
              <a:t>123</a:t>
            </a:r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  </a:t>
            </a:r>
            <a:r>
              <a:rPr lang="zh-CN" altLang="zh-CN" sz="3600" dirty="0"/>
              <a:t>123</a:t>
            </a:r>
            <a:r>
              <a:rPr lang="zh-CN" altLang="en-US" sz="3600" dirty="0"/>
              <a:t> </a:t>
            </a:r>
            <a:r>
              <a:rPr lang="zh-CN" altLang="zh-CN" sz="3600" dirty="0"/>
              <a:t>%</a:t>
            </a:r>
            <a:r>
              <a:rPr lang="zh-CN" altLang="en-US" sz="3600" dirty="0"/>
              <a:t> </a:t>
            </a:r>
            <a:r>
              <a:rPr lang="zh-CN" altLang="zh-CN" sz="3600" dirty="0"/>
              <a:t>10 = 3         </a:t>
            </a:r>
            <a:r>
              <a:rPr lang="zh-CN" altLang="en-US" sz="3600" dirty="0"/>
              <a:t> </a:t>
            </a:r>
            <a:r>
              <a:rPr lang="zh-CN" altLang="zh-CN" sz="3600" dirty="0"/>
              <a:t>123</a:t>
            </a:r>
            <a:r>
              <a:rPr lang="zh-CN" altLang="en-US" sz="3600" dirty="0"/>
              <a:t> </a:t>
            </a:r>
            <a:r>
              <a:rPr lang="zh-CN" altLang="zh-CN" sz="3600" dirty="0"/>
              <a:t>/</a:t>
            </a:r>
            <a:r>
              <a:rPr lang="zh-CN" altLang="en-US" sz="3600" dirty="0"/>
              <a:t> </a:t>
            </a:r>
            <a:r>
              <a:rPr lang="zh-CN" altLang="zh-CN" sz="3600" dirty="0"/>
              <a:t>10 =</a:t>
            </a:r>
            <a:r>
              <a:rPr lang="zh-CN" altLang="en-US" sz="3600" dirty="0"/>
              <a:t> </a:t>
            </a:r>
            <a:r>
              <a:rPr lang="zh-CN" altLang="zh-CN" sz="3600" dirty="0"/>
              <a:t>12</a:t>
            </a:r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    </a:t>
            </a:r>
            <a:r>
              <a:rPr lang="zh-CN" altLang="zh-CN" sz="3600" dirty="0"/>
              <a:t>12</a:t>
            </a:r>
            <a:r>
              <a:rPr lang="zh-CN" altLang="en-US" sz="3600" dirty="0"/>
              <a:t> </a:t>
            </a:r>
            <a:r>
              <a:rPr lang="zh-CN" altLang="zh-CN" sz="3600" dirty="0"/>
              <a:t>%</a:t>
            </a:r>
            <a:r>
              <a:rPr lang="zh-CN" altLang="en-US" sz="3600" dirty="0"/>
              <a:t> </a:t>
            </a:r>
            <a:r>
              <a:rPr lang="zh-CN" altLang="zh-CN" sz="3600" dirty="0"/>
              <a:t>10 = 2      </a:t>
            </a:r>
            <a:r>
              <a:rPr lang="zh-CN" altLang="en-US" sz="3600" dirty="0"/>
              <a:t>      </a:t>
            </a:r>
            <a:r>
              <a:rPr lang="zh-CN" altLang="zh-CN" sz="3600" dirty="0"/>
              <a:t>12</a:t>
            </a:r>
            <a:r>
              <a:rPr lang="zh-CN" altLang="en-US" sz="3600" dirty="0"/>
              <a:t> </a:t>
            </a:r>
            <a:r>
              <a:rPr lang="zh-CN" altLang="zh-CN" sz="3600" dirty="0"/>
              <a:t>/</a:t>
            </a:r>
            <a:r>
              <a:rPr lang="zh-CN" altLang="en-US" sz="3600" dirty="0"/>
              <a:t> </a:t>
            </a:r>
            <a:r>
              <a:rPr lang="zh-CN" altLang="zh-CN" sz="3600" dirty="0"/>
              <a:t>10 =</a:t>
            </a:r>
            <a:r>
              <a:rPr lang="zh-CN" altLang="en-US" sz="3600" dirty="0"/>
              <a:t> </a:t>
            </a:r>
            <a:r>
              <a:rPr lang="zh-CN" altLang="zh-CN" sz="3600" dirty="0"/>
              <a:t>1</a:t>
            </a:r>
          </a:p>
          <a:p>
            <a:pPr marL="271463" lvl="1" indent="0">
              <a:buFont typeface="Wingdings" panose="05000000000000000000" pitchFamily="2" charset="2"/>
              <a:buNone/>
              <a:defRPr/>
            </a:pPr>
            <a:r>
              <a:rPr lang="zh-CN" altLang="en-US" sz="3600" dirty="0"/>
              <a:t>        </a:t>
            </a:r>
            <a:r>
              <a:rPr lang="zh-CN" altLang="zh-CN" sz="3600" dirty="0"/>
              <a:t>1</a:t>
            </a:r>
            <a:r>
              <a:rPr lang="zh-CN" altLang="en-US" sz="3600" dirty="0"/>
              <a:t> </a:t>
            </a:r>
            <a:r>
              <a:rPr lang="zh-CN" altLang="zh-CN" sz="3600" dirty="0"/>
              <a:t>%</a:t>
            </a:r>
            <a:r>
              <a:rPr lang="zh-CN" altLang="en-US" sz="3600" dirty="0"/>
              <a:t> </a:t>
            </a:r>
            <a:r>
              <a:rPr lang="zh-CN" altLang="zh-CN" sz="3600" dirty="0"/>
              <a:t>10</a:t>
            </a:r>
            <a:r>
              <a:rPr lang="zh-CN" altLang="en-US" sz="3600" dirty="0"/>
              <a:t> </a:t>
            </a:r>
            <a:r>
              <a:rPr lang="zh-CN" altLang="zh-CN" sz="3600" dirty="0"/>
              <a:t>=</a:t>
            </a:r>
            <a:r>
              <a:rPr lang="zh-CN" altLang="en-US" sz="3600" dirty="0"/>
              <a:t> </a:t>
            </a:r>
            <a:r>
              <a:rPr lang="zh-CN" altLang="zh-CN" sz="3600" dirty="0"/>
              <a:t>1    </a:t>
            </a:r>
            <a:r>
              <a:rPr lang="zh-CN" altLang="en-US" sz="3600" dirty="0"/>
              <a:t>          </a:t>
            </a:r>
            <a:r>
              <a:rPr lang="zh-CN" altLang="zh-CN" sz="3600" dirty="0"/>
              <a:t>1</a:t>
            </a:r>
            <a:r>
              <a:rPr lang="zh-CN" altLang="en-US" sz="3600" dirty="0"/>
              <a:t> </a:t>
            </a:r>
            <a:r>
              <a:rPr lang="zh-CN" altLang="zh-CN" sz="3600" dirty="0"/>
              <a:t>/</a:t>
            </a:r>
            <a:r>
              <a:rPr lang="zh-CN" altLang="en-US" sz="3600" dirty="0"/>
              <a:t> </a:t>
            </a:r>
            <a:r>
              <a:rPr lang="zh-CN" altLang="zh-CN" sz="3600" dirty="0"/>
              <a:t>10</a:t>
            </a:r>
            <a:r>
              <a:rPr lang="zh-CN" altLang="en-US" sz="3600" dirty="0"/>
              <a:t> </a:t>
            </a:r>
            <a:r>
              <a:rPr lang="zh-CN" altLang="zh-CN" sz="3600" dirty="0"/>
              <a:t>=</a:t>
            </a:r>
            <a:r>
              <a:rPr lang="zh-CN" altLang="en-US" sz="3600" dirty="0"/>
              <a:t> </a:t>
            </a:r>
            <a:r>
              <a:rPr lang="zh-CN" altLang="zh-CN" sz="3600" dirty="0"/>
              <a:t>0 </a:t>
            </a:r>
            <a:r>
              <a:rPr lang="zh-CN" altLang="zh-CN" sz="3600" dirty="0">
                <a:solidFill>
                  <a:schemeClr val="bg2"/>
                </a:solidFill>
              </a:rPr>
              <a:t>结束</a:t>
            </a:r>
            <a:endParaRPr kumimoji="1" lang="zh-CN" altLang="en-US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476250"/>
            <a:ext cx="8229600" cy="638175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#include &lt;stdio.h&gt;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int main()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{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long num;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int n=0;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scanf("%ld", &amp;num); 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do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{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    printf("%d", num%10);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    n++; </a:t>
            </a:r>
            <a:endParaRPr lang="en-US" altLang="zh-CN" sz="2400" dirty="0" smtClean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num=num/10;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} </a:t>
            </a:r>
            <a:r>
              <a:rPr lang="en-US" altLang="zh-CN" sz="2400" dirty="0" smtClean="0"/>
              <a:t>while(num!=0); 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printf("\nIt has %d bits.\n", n</a:t>
            </a:r>
            <a:r>
              <a:rPr lang="en-US" altLang="zh-CN" sz="2400" dirty="0" smtClean="0"/>
              <a:t>);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return 0; </a:t>
            </a:r>
            <a:endParaRPr lang="en-US" altLang="zh-CN" sz="2400" dirty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}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endParaRPr lang="en-US" altLang="zh-CN" sz="2400" dirty="0" smtClean="0"/>
          </a:p>
          <a:p>
            <a:pPr marL="0" indent="0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</a:t>
            </a:r>
            <a:endParaRPr lang="zh-CN" altLang="en-US" sz="24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5364088" y="2492896"/>
            <a:ext cx="3096344" cy="954107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 algn="ctr"/>
            <a:r>
              <a:rPr lang="zh-CN" altLang="en-US" sz="2800" b="1" dirty="0" smtClean="0"/>
              <a:t>修改为</a:t>
            </a:r>
            <a:r>
              <a:rPr lang="en-US" altLang="zh-CN" sz="2800" b="1" dirty="0" smtClean="0"/>
              <a:t>while</a:t>
            </a:r>
            <a:r>
              <a:rPr lang="zh-CN" altLang="en-US" sz="2800" b="1" dirty="0" smtClean="0"/>
              <a:t>语句</a:t>
            </a:r>
            <a:endParaRPr lang="zh-CN" altLang="en-US" sz="28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5364088" y="3789040"/>
            <a:ext cx="3528392" cy="954107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r>
              <a:rPr lang="zh-CN" altLang="en-US" sz="2800" b="1" dirty="0" smtClean="0"/>
              <a:t>任意整数（负整数）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3333FF"/>
                </a:solidFill>
              </a:rPr>
              <a:t>break</a:t>
            </a:r>
            <a:r>
              <a:rPr lang="zh-CN" altLang="en-US" smtClean="0">
                <a:solidFill>
                  <a:srgbClr val="3333FF"/>
                </a:solidFill>
              </a:rPr>
              <a:t>语句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8229600" cy="461645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形式：</a:t>
            </a:r>
            <a:r>
              <a:rPr lang="en-US" altLang="zh-CN" dirty="0" smtClean="0"/>
              <a:t>break;</a:t>
            </a:r>
          </a:p>
          <a:p>
            <a:pPr>
              <a:defRPr/>
            </a:pPr>
            <a:r>
              <a:rPr lang="zh-CN" altLang="en-US" dirty="0" smtClean="0"/>
              <a:t>作用：跳出循环体</a:t>
            </a:r>
            <a:r>
              <a:rPr lang="en-US" altLang="zh-CN" dirty="0" smtClean="0"/>
              <a:t>, </a:t>
            </a:r>
            <a:r>
              <a:rPr lang="zh-CN" altLang="en-US" dirty="0" smtClean="0"/>
              <a:t>提前结束循环</a:t>
            </a:r>
            <a:r>
              <a:rPr lang="en-US" altLang="zh-CN" dirty="0" smtClean="0"/>
              <a:t>, </a:t>
            </a:r>
            <a:r>
              <a:rPr lang="zh-CN" altLang="en-US" dirty="0" smtClean="0"/>
              <a:t>无条件转移到循环结构的下一句继续执行。</a:t>
            </a:r>
          </a:p>
          <a:p>
            <a:pPr>
              <a:defRPr/>
            </a:pPr>
            <a:r>
              <a:rPr lang="zh-CN" altLang="en-US" dirty="0" smtClean="0"/>
              <a:t>使用场合：只能用在 </a:t>
            </a:r>
            <a:r>
              <a:rPr lang="en-US" altLang="zh-CN" dirty="0" smtClean="0"/>
              <a:t>switch </a:t>
            </a:r>
            <a:r>
              <a:rPr lang="zh-CN" altLang="en-US" dirty="0" smtClean="0"/>
              <a:t>结构和循环结构中。</a:t>
            </a:r>
          </a:p>
        </p:txBody>
      </p:sp>
    </p:spTree>
    <p:extLst>
      <p:ext uri="{BB962C8B-B14F-4D97-AF65-F5344CB8AC3E}">
        <p14:creationId xmlns:p14="http://schemas.microsoft.com/office/powerpoint/2010/main" val="160316450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5194920" cy="61198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int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 i,s=0;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 for (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=1;i&lt;100;i++)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	s=s+i*i;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//	if (s&gt;10) </a:t>
            </a:r>
            <a:r>
              <a:rPr lang="en-US" altLang="zh-CN" dirty="0" smtClean="0">
                <a:solidFill>
                  <a:srgbClr val="3333FF"/>
                </a:solidFill>
              </a:rPr>
              <a:t>break;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 </a:t>
            </a:r>
            <a:r>
              <a:rPr lang="en-US" altLang="zh-CN" dirty="0" err="1" smtClean="0"/>
              <a:t>printf</a:t>
            </a:r>
            <a:r>
              <a:rPr lang="en-US" altLang="zh-CN" dirty="0" smtClean="0"/>
              <a:t>("i=%d,s=%d\n", </a:t>
            </a:r>
            <a:r>
              <a:rPr lang="en-US" altLang="zh-CN" dirty="0" smtClean="0">
                <a:solidFill>
                  <a:srgbClr val="FF0000"/>
                </a:solidFill>
              </a:rPr>
              <a:t>i</a:t>
            </a:r>
            <a:r>
              <a:rPr lang="en-US" altLang="zh-CN" dirty="0" smtClean="0"/>
              <a:t>, s);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  <a:endParaRPr lang="zh-CN" altLang="en-US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5364088" y="2492896"/>
            <a:ext cx="3096344" cy="954107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 algn="ctr"/>
            <a:r>
              <a:rPr lang="zh-CN" altLang="en-US" sz="2800" b="1" dirty="0" smtClean="0"/>
              <a:t>程序所求？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>
                <a:solidFill>
                  <a:srgbClr val="3333FF"/>
                </a:solidFill>
              </a:rPr>
              <a:t>continue</a:t>
            </a:r>
            <a:r>
              <a:rPr lang="zh-CN" altLang="en-US" smtClean="0">
                <a:solidFill>
                  <a:srgbClr val="3333FF"/>
                </a:solidFill>
              </a:rPr>
              <a:t>语句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8507413" cy="5229225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/>
              <a:t>形式：</a:t>
            </a:r>
            <a:r>
              <a:rPr lang="en-US" altLang="zh-CN" dirty="0" smtClean="0"/>
              <a:t>continue;</a:t>
            </a:r>
          </a:p>
          <a:p>
            <a:pPr>
              <a:defRPr/>
            </a:pPr>
            <a:r>
              <a:rPr lang="zh-CN" altLang="en-US" dirty="0" smtClean="0"/>
              <a:t>作用：用来结束本次循环（即跳出循环体中尚未执行的语句）直接进行循环条件的判断</a:t>
            </a:r>
          </a:p>
          <a:p>
            <a:pPr>
              <a:defRPr/>
            </a:pPr>
            <a:r>
              <a:rPr lang="zh-CN" altLang="en-US" dirty="0" smtClean="0"/>
              <a:t>使用场合：用于循环结构中。一般需要与</a:t>
            </a:r>
            <a:r>
              <a:rPr lang="en-US" altLang="zh-CN" dirty="0" smtClean="0"/>
              <a:t>if</a:t>
            </a:r>
            <a:r>
              <a:rPr lang="zh-CN" altLang="en-US" dirty="0" smtClean="0"/>
              <a:t>语句配合使用</a:t>
            </a:r>
          </a:p>
        </p:txBody>
      </p:sp>
    </p:spTree>
  </p:cSld>
  <p:clrMapOvr>
    <a:masterClrMapping/>
  </p:clrMapOvr>
  <p:transition spd="med"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3080" y="85725"/>
            <a:ext cx="5343525" cy="914400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rgbClr val="3333FF"/>
                </a:solidFill>
              </a:rPr>
              <a:t>break </a:t>
            </a:r>
            <a:r>
              <a:rPr lang="zh-CN" altLang="en-US" dirty="0" smtClean="0">
                <a:solidFill>
                  <a:srgbClr val="3333FF"/>
                </a:solidFill>
              </a:rPr>
              <a:t>和 </a:t>
            </a:r>
            <a:r>
              <a:rPr lang="en-US" altLang="zh-CN" dirty="0" smtClean="0">
                <a:solidFill>
                  <a:srgbClr val="3333FF"/>
                </a:solidFill>
              </a:rPr>
              <a:t>continue</a:t>
            </a:r>
            <a:endParaRPr lang="zh-CN" altLang="en-US" dirty="0" smtClean="0">
              <a:solidFill>
                <a:srgbClr val="3333FF"/>
              </a:solidFill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095708"/>
            <a:ext cx="3822576" cy="54864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#include &lt;stdio.h&gt;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int main()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{ </a:t>
            </a:r>
            <a:endParaRPr lang="en-US" altLang="zh-CN" dirty="0" smtClean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char c;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int i;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for (i = 0; i &lt; 10; i++)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{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    c = getchar();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    if (c == ' ') </a:t>
            </a:r>
            <a:r>
              <a:rPr lang="en-US" altLang="zh-CN" dirty="0" smtClean="0"/>
              <a:t>break;     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    putchar(c);   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}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return 0;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}</a:t>
            </a:r>
          </a:p>
        </p:txBody>
      </p:sp>
      <p:sp>
        <p:nvSpPr>
          <p:cNvPr id="75780" name="Rectangle 8"/>
          <p:cNvSpPr>
            <a:spLocks noChangeArrowheads="1"/>
          </p:cNvSpPr>
          <p:nvPr/>
        </p:nvSpPr>
        <p:spPr bwMode="auto">
          <a:xfrm>
            <a:off x="4546600" y="122238"/>
            <a:ext cx="2952750" cy="65405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30000"/>
              </a:spcBef>
            </a:pPr>
            <a:r>
              <a:rPr kumimoji="1" lang="en-US" altLang="zh-CN" sz="3600" b="1">
                <a:solidFill>
                  <a:srgbClr val="CC0066"/>
                </a:solidFill>
              </a:rPr>
              <a:t>abc</a:t>
            </a:r>
            <a:r>
              <a:rPr kumimoji="1" lang="en-US" altLang="zh-CN" sz="3600" b="1">
                <a:solidFill>
                  <a:srgbClr val="CC0066"/>
                </a:solidFill>
                <a:sym typeface="Symbol" panose="05050102010706020507" pitchFamily="18" charset="2"/>
              </a:rPr>
              <a:t> efgh 2</a:t>
            </a:r>
            <a:endParaRPr kumimoji="1" lang="en-US" altLang="zh-CN" sz="3600" b="1">
              <a:solidFill>
                <a:srgbClr val="CC0066"/>
              </a:solidFill>
            </a:endParaRPr>
          </a:p>
        </p:txBody>
      </p:sp>
      <p:sp>
        <p:nvSpPr>
          <p:cNvPr id="75781" name="Rectangle 9"/>
          <p:cNvSpPr>
            <a:spLocks noChangeArrowheads="1"/>
          </p:cNvSpPr>
          <p:nvPr/>
        </p:nvSpPr>
        <p:spPr bwMode="auto">
          <a:xfrm>
            <a:off x="2051720" y="6320750"/>
            <a:ext cx="792088" cy="46166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30000"/>
              </a:spcBef>
            </a:pPr>
            <a:r>
              <a:rPr kumimoji="1" lang="en-US" altLang="zh-CN" sz="2400" b="1"/>
              <a:t>abc</a:t>
            </a:r>
            <a:endParaRPr kumimoji="1" lang="en-US" altLang="zh-CN" sz="2400" b="1">
              <a:sym typeface="Symbol" panose="05050102010706020507" pitchFamily="18" charset="2"/>
            </a:endParaRPr>
          </a:p>
        </p:txBody>
      </p:sp>
      <p:sp>
        <p:nvSpPr>
          <p:cNvPr id="75782" name="Rectangle 10"/>
          <p:cNvSpPr>
            <a:spLocks noChangeArrowheads="1"/>
          </p:cNvSpPr>
          <p:nvPr/>
        </p:nvSpPr>
        <p:spPr bwMode="auto">
          <a:xfrm>
            <a:off x="7164288" y="6347158"/>
            <a:ext cx="1584325" cy="4699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30000"/>
              </a:spcBef>
            </a:pPr>
            <a:r>
              <a:rPr kumimoji="1" lang="en-US" altLang="zh-CN" sz="2400" b="1" dirty="0"/>
              <a:t>abcefgh2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560186" y="1037933"/>
            <a:ext cx="4260286" cy="5533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#include &lt;stdio.h&gt;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int main()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{ </a:t>
            </a:r>
            <a:endParaRPr lang="en-US" altLang="zh-CN" kern="0" dirty="0" smtClean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kern="0" dirty="0" smtClean="0"/>
              <a:t>   </a:t>
            </a:r>
            <a:r>
              <a:rPr lang="zh-CN" altLang="en-US" kern="0" dirty="0" smtClean="0"/>
              <a:t>char c;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int i;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for (i = 0; i &lt; 10; i++)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{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    c = getchar();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    if (c == ' ') </a:t>
            </a:r>
            <a:r>
              <a:rPr lang="en-US" altLang="zh-CN" kern="0" dirty="0" smtClean="0"/>
              <a:t>continue;     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    putchar(c);   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}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   return 0;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kern="0" dirty="0" smtClean="0"/>
              <a:t>}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循环结构的嵌套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在一个循环体内又包含另一个或多个完整的循环结构，称为嵌套循环。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zh-CN" altLang="en-US" dirty="0" smtClean="0"/>
              <a:t>                    </a:t>
            </a:r>
            <a:r>
              <a:rPr lang="en-US" altLang="zh-CN" dirty="0" smtClean="0"/>
              <a:t>for(i=0; i&lt;n; i++)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dirty="0" smtClean="0"/>
              <a:t>                       for(j=0; j&lt;m; j++) 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dirty="0" smtClean="0"/>
              <a:t>                                 </a:t>
            </a:r>
            <a:r>
              <a:rPr lang="zh-CN" altLang="en-US" dirty="0" smtClean="0"/>
              <a:t>语句</a:t>
            </a:r>
            <a:r>
              <a:rPr lang="en-US" altLang="zh-CN" dirty="0" smtClean="0"/>
              <a:t>; </a:t>
            </a:r>
          </a:p>
          <a:p>
            <a:pPr>
              <a:defRPr/>
            </a:pPr>
            <a:r>
              <a:rPr lang="zh-CN" altLang="en-US" dirty="0" smtClean="0"/>
              <a:t>在这个程序段中，外层循环一共循环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次，内层循环则循环语句</a:t>
            </a:r>
            <a:r>
              <a:rPr lang="en-US" altLang="zh-CN" dirty="0" smtClean="0"/>
              <a:t>m×n</a:t>
            </a:r>
            <a:r>
              <a:rPr lang="zh-CN" altLang="en-US" dirty="0" smtClean="0"/>
              <a:t>次。</a:t>
            </a:r>
          </a:p>
          <a:p>
            <a:pPr>
              <a:defRPr/>
            </a:pPr>
            <a:r>
              <a:rPr lang="zh-CN" altLang="en-US" dirty="0" smtClean="0"/>
              <a:t>思考：三层循环，四层循环</a:t>
            </a:r>
            <a:r>
              <a:rPr lang="en-US" altLang="zh-CN" dirty="0" smtClean="0"/>
              <a:t>……..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68080E-D5DF-4788-A8B4-CE8DAB7FEF62}" type="slidenum">
              <a:rPr lang="en-US" altLang="zh-CN" sz="2600">
                <a:solidFill>
                  <a:schemeClr val="bg1"/>
                </a:solidFill>
              </a:rPr>
              <a:pPr/>
              <a:t>77</a:t>
            </a:fld>
            <a:endParaRPr lang="en-US" altLang="zh-CN" sz="26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九九乘法表</a:t>
            </a:r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68080E-D5DF-4788-A8B4-CE8DAB7FEF62}" type="slidenum">
              <a:rPr lang="en-US" altLang="zh-CN" sz="2600">
                <a:solidFill>
                  <a:schemeClr val="bg1"/>
                </a:solidFill>
              </a:rPr>
              <a:pPr/>
              <a:t>78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039544" y="2130065"/>
            <a:ext cx="4104456" cy="4178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#include &lt;</a:t>
            </a:r>
            <a:r>
              <a:rPr lang="en-US" altLang="zh-CN" sz="2400" kern="0" dirty="0" err="1" smtClean="0"/>
              <a:t>stdio.h</a:t>
            </a:r>
            <a:r>
              <a:rPr lang="en-US" altLang="zh-CN" sz="2400" kern="0" dirty="0" smtClean="0"/>
              <a:t>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err="1" smtClean="0"/>
              <a:t>int</a:t>
            </a:r>
            <a:r>
              <a:rPr lang="en-US" altLang="zh-CN" sz="2400" kern="0" dirty="0" smtClean="0"/>
              <a:t>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{  </a:t>
            </a:r>
            <a:r>
              <a:rPr lang="en-US" altLang="zh-CN" sz="2400" kern="0" dirty="0" err="1" smtClean="0"/>
              <a:t>int</a:t>
            </a:r>
            <a:r>
              <a:rPr lang="en-US" altLang="zh-CN" sz="2400" kern="0" dirty="0" smtClean="0"/>
              <a:t> 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, j;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for (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=1;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&lt;=9; </a:t>
            </a:r>
            <a:r>
              <a:rPr lang="en-US" altLang="zh-CN" sz="2400" kern="0" dirty="0" err="1" smtClean="0"/>
              <a:t>i</a:t>
            </a:r>
            <a:r>
              <a:rPr lang="en-US" altLang="zh-CN" sz="2400" kern="0" dirty="0" smtClean="0"/>
              <a:t>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    {   </a:t>
            </a:r>
            <a:r>
              <a:rPr lang="en-US" altLang="zh-CN" sz="2400" kern="0" dirty="0" smtClean="0">
                <a:solidFill>
                  <a:srgbClr val="FF0000"/>
                </a:solidFill>
              </a:rPr>
              <a:t>for (j=1; j&lt;=9; </a:t>
            </a:r>
            <a:r>
              <a:rPr lang="en-US" altLang="zh-CN" sz="2400" kern="0" dirty="0" err="1" smtClean="0">
                <a:solidFill>
                  <a:srgbClr val="FF0000"/>
                </a:solidFill>
              </a:rPr>
              <a:t>j++</a:t>
            </a:r>
            <a:r>
              <a:rPr lang="en-US" altLang="zh-CN" sz="2400" kern="0" dirty="0" smtClean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>
                <a:solidFill>
                  <a:srgbClr val="FF0000"/>
                </a:solidFill>
              </a:rPr>
              <a:t>                  </a:t>
            </a:r>
            <a:r>
              <a:rPr lang="en-US" altLang="zh-CN" sz="2400" kern="0" dirty="0" err="1" smtClean="0">
                <a:solidFill>
                  <a:srgbClr val="FF0000"/>
                </a:solidFill>
              </a:rPr>
              <a:t>printf</a:t>
            </a:r>
            <a:r>
              <a:rPr lang="en-US" altLang="zh-CN" sz="2400" kern="0" dirty="0" smtClean="0">
                <a:solidFill>
                  <a:srgbClr val="FF0000"/>
                </a:solidFill>
              </a:rPr>
              <a:t>("%4d", </a:t>
            </a:r>
            <a:r>
              <a:rPr lang="en-US" altLang="zh-CN" sz="2400" kern="0" dirty="0" err="1" smtClean="0">
                <a:solidFill>
                  <a:srgbClr val="FF0000"/>
                </a:solidFill>
              </a:rPr>
              <a:t>i</a:t>
            </a:r>
            <a:r>
              <a:rPr lang="en-US" altLang="zh-CN" sz="2400" kern="0" dirty="0" smtClean="0">
                <a:solidFill>
                  <a:srgbClr val="FF0000"/>
                </a:solidFill>
              </a:rPr>
              <a:t>*j);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         </a:t>
            </a:r>
            <a:r>
              <a:rPr lang="en-US" altLang="zh-CN" sz="2400" kern="0" dirty="0" err="1" smtClean="0"/>
              <a:t>printf</a:t>
            </a:r>
            <a:r>
              <a:rPr lang="en-US" altLang="zh-CN" sz="2400" kern="0" dirty="0" smtClean="0"/>
              <a:t>("\n");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   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	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kern="0" dirty="0" smtClean="0"/>
              <a:t>}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916832"/>
            <a:ext cx="3562350" cy="1809750"/>
          </a:xfrm>
          <a:prstGeom prst="rect">
            <a:avLst/>
          </a:prstGeom>
        </p:spPr>
      </p:pic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89542" y="4320680"/>
            <a:ext cx="439241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</a:pPr>
            <a:r>
              <a:rPr kumimoji="1" lang="zh-CN" altLang="en-US" sz="2000" b="1" dirty="0">
                <a:latin typeface="+mj-ea"/>
                <a:ea typeface="+mj-ea"/>
              </a:rPr>
              <a:t> 外层循环变量 </a:t>
            </a:r>
            <a:r>
              <a:rPr kumimoji="1" lang="en-US" altLang="zh-CN" sz="2000" b="1" dirty="0" err="1">
                <a:solidFill>
                  <a:srgbClr val="CC0066"/>
                </a:solidFill>
                <a:latin typeface="+mj-ea"/>
                <a:ea typeface="+mj-ea"/>
              </a:rPr>
              <a:t>i</a:t>
            </a:r>
            <a:r>
              <a:rPr kumimoji="1" lang="en-US" altLang="zh-CN" sz="2000" b="1" dirty="0">
                <a:solidFill>
                  <a:srgbClr val="CC0066"/>
                </a:solidFill>
                <a:latin typeface="+mj-ea"/>
                <a:ea typeface="+mj-ea"/>
              </a:rPr>
              <a:t> </a:t>
            </a:r>
            <a:r>
              <a:rPr kumimoji="1" lang="zh-CN" altLang="en-US" sz="2000" b="1" dirty="0">
                <a:latin typeface="+mj-ea"/>
                <a:ea typeface="+mj-ea"/>
              </a:rPr>
              <a:t>的每个值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kumimoji="1" lang="zh-CN" altLang="en-US" sz="2000" b="1" dirty="0">
                <a:latin typeface="+mj-ea"/>
                <a:ea typeface="+mj-ea"/>
              </a:rPr>
              <a:t>内层循环变量 </a:t>
            </a:r>
            <a:r>
              <a:rPr kumimoji="1" lang="en-US" altLang="zh-CN" sz="2000" b="1" dirty="0">
                <a:solidFill>
                  <a:srgbClr val="FF0000"/>
                </a:solidFill>
                <a:latin typeface="+mj-ea"/>
                <a:ea typeface="+mj-ea"/>
              </a:rPr>
              <a:t>j</a:t>
            </a:r>
            <a:r>
              <a:rPr kumimoji="1" lang="en-US" altLang="zh-CN" sz="2000" b="1" dirty="0">
                <a:solidFill>
                  <a:schemeClr val="bg2"/>
                </a:solidFill>
                <a:latin typeface="+mj-ea"/>
                <a:ea typeface="+mj-ea"/>
              </a:rPr>
              <a:t> </a:t>
            </a:r>
            <a:r>
              <a:rPr kumimoji="1" lang="zh-CN" altLang="en-US" sz="2000" b="1" dirty="0">
                <a:latin typeface="+mj-ea"/>
                <a:ea typeface="+mj-ea"/>
              </a:rPr>
              <a:t>变化一个轮次；</a:t>
            </a: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</a:pPr>
            <a:r>
              <a:rPr kumimoji="1" lang="zh-CN" altLang="en-US" sz="2000" b="1" dirty="0">
                <a:latin typeface="+mj-ea"/>
                <a:ea typeface="+mj-ea"/>
              </a:rPr>
              <a:t> 内外层循环变量不能相同</a:t>
            </a:r>
          </a:p>
          <a:p>
            <a:pPr lvl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/>
              <a:buNone/>
            </a:pPr>
            <a:r>
              <a:rPr kumimoji="1" lang="zh-CN" altLang="en-US" sz="2000" b="1" dirty="0">
                <a:latin typeface="+mj-ea"/>
                <a:ea typeface="+mj-ea"/>
              </a:rPr>
              <a:t>分别用 </a:t>
            </a:r>
            <a:r>
              <a:rPr kumimoji="1" lang="en-US" altLang="zh-CN" sz="2000" b="1" dirty="0" err="1">
                <a:solidFill>
                  <a:srgbClr val="CC0066"/>
                </a:solidFill>
                <a:latin typeface="+mj-ea"/>
                <a:ea typeface="+mj-ea"/>
              </a:rPr>
              <a:t>i</a:t>
            </a:r>
            <a:r>
              <a:rPr kumimoji="1" lang="en-US" altLang="zh-CN" sz="2000" b="1" dirty="0">
                <a:latin typeface="+mj-ea"/>
                <a:ea typeface="+mj-ea"/>
              </a:rPr>
              <a:t> </a:t>
            </a:r>
            <a:r>
              <a:rPr kumimoji="1" lang="zh-CN" altLang="en-US" sz="2000" b="1" dirty="0">
                <a:latin typeface="+mj-ea"/>
                <a:ea typeface="+mj-ea"/>
              </a:rPr>
              <a:t>和 </a:t>
            </a:r>
            <a:r>
              <a:rPr kumimoji="1" lang="en-US" altLang="zh-CN" sz="2000" b="1" dirty="0" smtClean="0">
                <a:solidFill>
                  <a:srgbClr val="FF0000"/>
                </a:solidFill>
                <a:latin typeface="+mj-ea"/>
                <a:ea typeface="+mj-ea"/>
              </a:rPr>
              <a:t>j</a:t>
            </a:r>
            <a:endParaRPr kumimoji="1" lang="en-US" altLang="zh-CN" sz="20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0" lvl="1">
              <a:lnSpc>
                <a:spcPct val="90000"/>
              </a:lnSpc>
              <a:spcBef>
                <a:spcPct val="50000"/>
              </a:spcBef>
              <a:buClr>
                <a:schemeClr val="accent1"/>
              </a:buClr>
              <a:buSzPct val="70000"/>
              <a:buFont typeface="Monotype Sorts"/>
              <a:buNone/>
            </a:pPr>
            <a:r>
              <a:rPr kumimoji="1" lang="zh-CN" altLang="en-US" sz="2000" b="1" dirty="0" smtClean="0">
                <a:latin typeface="+mj-ea"/>
              </a:rPr>
              <a:t> </a:t>
            </a:r>
            <a:r>
              <a:rPr kumimoji="1"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外循环控制行，内循环控制列</a:t>
            </a:r>
            <a:endParaRPr kumimoji="1" lang="en-US" altLang="zh-CN" sz="2000" b="1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75783"/>
      </p:ext>
    </p:extLst>
  </p:cSld>
  <p:clrMapOvr>
    <a:masterClrMapping/>
  </p:clrMapOvr>
  <p:transition spd="med"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多重循环结构注意事项</a:t>
            </a:r>
            <a:endParaRPr lang="zh-CN" altLang="en-US" dirty="0"/>
          </a:p>
        </p:txBody>
      </p:sp>
      <p:sp>
        <p:nvSpPr>
          <p:cNvPr id="9421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68080E-D5DF-4788-A8B4-CE8DAB7FEF62}" type="slidenum">
              <a:rPr lang="en-US" altLang="zh-CN" sz="2600">
                <a:solidFill>
                  <a:schemeClr val="bg1"/>
                </a:solidFill>
              </a:rPr>
              <a:pPr/>
              <a:t>79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55650" y="1626215"/>
            <a:ext cx="74168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内层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循环必须完整地嵌套在外层循环内，两者不允许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相互交叉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并列的循环变量可以同名，但嵌套循环变量不允许</a:t>
            </a:r>
            <a:r>
              <a:rPr lang="zh-CN" altLang="en-US" sz="24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同名</a:t>
            </a:r>
            <a:endParaRPr lang="en-US" altLang="zh-CN" sz="2400" b="1" dirty="0" smtClean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三种循环语句可以相互嵌套，但不允许交叉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选择结构和循环结构彼此之间可以相互嵌套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可以用</a:t>
            </a: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break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语句从内层循环跳转到外层循环，但不允许从外层循环跳转到内层循环</a:t>
            </a:r>
            <a:endParaRPr lang="en-US" altLang="zh-CN" sz="2400" b="1" dirty="0">
              <a:effectLst>
                <a:outerShdw blurRad="38100" dist="38100" dir="2700000" algn="tl">
                  <a:srgbClr val="C0C0C0"/>
                </a:outerShdw>
              </a:effectLst>
              <a:latin typeface="+mn-lt"/>
              <a:ea typeface="+mn-ea"/>
            </a:endParaRPr>
          </a:p>
          <a:p>
            <a:pPr marL="92075" indent="-92075">
              <a:lnSpc>
                <a:spcPct val="120000"/>
              </a:lnSpc>
              <a:spcBef>
                <a:spcPct val="20000"/>
              </a:spcBef>
              <a:buClr>
                <a:srgbClr val="A50021"/>
              </a:buClr>
              <a:buSzPct val="75000"/>
              <a:buFont typeface="Webdings" pitchFamily="18" charset="2"/>
              <a:buChar char="·"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continue</a:t>
            </a:r>
            <a:r>
              <a:rPr lang="zh-CN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rPr>
              <a:t>语句处于多重循环中时，仅仅影响包含它的循环语句</a:t>
            </a:r>
          </a:p>
        </p:txBody>
      </p:sp>
    </p:spTree>
    <p:extLst>
      <p:ext uri="{BB962C8B-B14F-4D97-AF65-F5344CB8AC3E}">
        <p14:creationId xmlns:p14="http://schemas.microsoft.com/office/powerpoint/2010/main" val="3280237330"/>
      </p:ext>
    </p:extLst>
  </p:cSld>
  <p:clrMapOvr>
    <a:masterClrMapping/>
  </p:clrMapOvr>
  <p:transition spd="med"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620713"/>
            <a:ext cx="7989887" cy="914400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循环程序设计  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49155" name="Rectangle 1027"/>
          <p:cNvSpPr>
            <a:spLocks noGrp="1" noChangeArrowheads="1"/>
          </p:cNvSpPr>
          <p:nvPr>
            <p:ph type="body" idx="4294967295"/>
          </p:nvPr>
        </p:nvSpPr>
        <p:spPr>
          <a:xfrm>
            <a:off x="827088" y="1700213"/>
            <a:ext cx="8229600" cy="4724400"/>
          </a:xfrm>
        </p:spPr>
        <p:txBody>
          <a:bodyPr/>
          <a:lstStyle/>
          <a:p>
            <a:pPr algn="just" eaLnBrk="1" hangingPunct="1">
              <a:defRPr/>
            </a:pPr>
            <a:r>
              <a:rPr lang="zh-CN" altLang="en-US" dirty="0" smtClean="0"/>
              <a:t>循环程序的实现要点：</a:t>
            </a:r>
          </a:p>
          <a:p>
            <a:pPr lvl="1" algn="just" eaLnBrk="1" hangingPunct="1">
              <a:defRPr/>
            </a:pPr>
            <a:r>
              <a:rPr lang="zh-CN" altLang="en-US" dirty="0" smtClean="0">
                <a:latin typeface="宋体" charset="-122"/>
              </a:rPr>
              <a:t>归纳出</a:t>
            </a:r>
            <a:r>
              <a:rPr lang="zh-CN" altLang="en-US" dirty="0" smtClean="0"/>
              <a:t>哪些操作需要反复执行？</a:t>
            </a:r>
            <a:r>
              <a:rPr lang="zh-CN" altLang="en-US" b="0" dirty="0" smtClean="0">
                <a:latin typeface="宋体" charset="-122"/>
              </a:rPr>
              <a:t> </a:t>
            </a:r>
            <a:r>
              <a:rPr lang="zh-CN" altLang="en-US" dirty="0" smtClean="0">
                <a:solidFill>
                  <a:schemeClr val="bg2"/>
                </a:solidFill>
              </a:rPr>
              <a:t>循环体</a:t>
            </a:r>
          </a:p>
          <a:p>
            <a:pPr lvl="1" algn="just" eaLnBrk="1" hangingPunct="1">
              <a:defRPr/>
            </a:pPr>
            <a:r>
              <a:rPr lang="zh-CN" altLang="en-US" dirty="0" smtClean="0"/>
              <a:t>这些操作在什么情况下重复执行</a:t>
            </a:r>
            <a:r>
              <a:rPr lang="zh-CN" altLang="en-US" dirty="0" smtClean="0">
                <a:latin typeface="宋体" charset="-122"/>
              </a:rPr>
              <a:t>？</a:t>
            </a:r>
            <a:r>
              <a:rPr lang="zh-CN" altLang="en-US" dirty="0" smtClean="0"/>
              <a:t> </a:t>
            </a:r>
            <a:r>
              <a:rPr lang="zh-CN" altLang="en-US" dirty="0" smtClean="0">
                <a:solidFill>
                  <a:srgbClr val="CC0066"/>
                </a:solidFill>
              </a:rPr>
              <a:t>循环条件</a:t>
            </a:r>
          </a:p>
          <a:p>
            <a:pPr algn="just" eaLnBrk="1" hangingPunct="1">
              <a:defRPr/>
            </a:pPr>
            <a:r>
              <a:rPr lang="zh-CN" altLang="en-US" dirty="0" smtClean="0"/>
              <a:t>选用合适的循环语句</a:t>
            </a:r>
          </a:p>
          <a:p>
            <a:pPr lvl="1" algn="just" eaLnBrk="1" hangingPunct="1">
              <a:buFont typeface="Wingdings" panose="05000000000000000000" pitchFamily="2" charset="2"/>
              <a:buNone/>
              <a:defRPr/>
            </a:pPr>
            <a:r>
              <a:rPr lang="en-US" altLang="zh-CN" dirty="0" smtClean="0"/>
              <a:t>for  while   do-while</a:t>
            </a:r>
            <a:endParaRPr lang="zh-CN" altLang="en-US" dirty="0" smtClean="0"/>
          </a:p>
          <a:p>
            <a:pPr algn="just" eaLnBrk="1" hangingPunct="1">
              <a:defRPr/>
            </a:pPr>
            <a:r>
              <a:rPr lang="zh-CN" altLang="en-US" dirty="0" smtClean="0">
                <a:latin typeface="宋体" charset="-122"/>
              </a:rPr>
              <a:t>循环具体实现时考虑（循环条件）：</a:t>
            </a:r>
          </a:p>
          <a:p>
            <a:pPr lvl="1" algn="just" eaLnBrk="1" hangingPunct="1">
              <a:defRPr/>
            </a:pPr>
            <a:r>
              <a:rPr lang="zh-CN" altLang="en-US" dirty="0" smtClean="0">
                <a:latin typeface="宋体" charset="-122"/>
              </a:rPr>
              <a:t>事先给定循环次数，首选</a:t>
            </a:r>
            <a:r>
              <a:rPr lang="en-US" altLang="zh-CN" dirty="0" smtClean="0"/>
              <a:t>for</a:t>
            </a:r>
            <a:endParaRPr lang="zh-CN" altLang="en-US" dirty="0" smtClean="0">
              <a:latin typeface="宋体" charset="-122"/>
            </a:endParaRPr>
          </a:p>
          <a:p>
            <a:pPr lvl="1" algn="just" eaLnBrk="1" hangingPunct="1">
              <a:defRPr/>
            </a:pPr>
            <a:r>
              <a:rPr lang="zh-CN" altLang="en-US" dirty="0" smtClean="0"/>
              <a:t>通过其他条件控制循环，考虑</a:t>
            </a:r>
            <a:r>
              <a:rPr lang="en-US" altLang="zh-CN" dirty="0" smtClean="0"/>
              <a:t>while</a:t>
            </a:r>
            <a:r>
              <a:rPr lang="zh-CN" altLang="en-US" dirty="0" smtClean="0"/>
              <a:t>或</a:t>
            </a:r>
            <a:r>
              <a:rPr lang="en-US" altLang="zh-CN" dirty="0" smtClean="0"/>
              <a:t>do-while</a:t>
            </a:r>
            <a:endParaRPr lang="zh-CN" altLang="zh-CN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4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143000"/>
            <a:ext cx="7543800" cy="1600200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defRPr/>
            </a:pPr>
            <a:r>
              <a:rPr lang="en-US" altLang="zh-CN" dirty="0" smtClean="0"/>
              <a:t>for</a:t>
            </a:r>
            <a:r>
              <a:rPr lang="zh-CN" altLang="en-US" smtClean="0"/>
              <a:t>和</a:t>
            </a:r>
            <a:r>
              <a:rPr lang="en-US" altLang="zh-CN" dirty="0" smtClean="0"/>
              <a:t>while</a:t>
            </a:r>
            <a:r>
              <a:rPr lang="en-US" altLang="zh-CN" dirty="0" smtClean="0">
                <a:latin typeface="宋体" charset="-122"/>
              </a:rPr>
              <a:t> </a:t>
            </a:r>
            <a:r>
              <a:rPr lang="zh-CN" altLang="en-US" smtClean="0">
                <a:latin typeface="宋体" charset="-122"/>
              </a:rPr>
              <a:t>都是先判别条件，再决定是否循环；</a:t>
            </a:r>
          </a:p>
          <a:p>
            <a:pPr algn="just" eaLnBrk="1" hangingPunct="1">
              <a:lnSpc>
                <a:spcPct val="80000"/>
              </a:lnSpc>
              <a:defRPr/>
            </a:pPr>
            <a:r>
              <a:rPr lang="zh-CN" altLang="en-US" smtClean="0">
                <a:latin typeface="宋体" charset="-122"/>
              </a:rPr>
              <a:t> </a:t>
            </a:r>
            <a:r>
              <a:rPr lang="en-US" altLang="zh-CN" dirty="0" smtClean="0"/>
              <a:t>do-while</a:t>
            </a:r>
            <a:r>
              <a:rPr lang="en-US" altLang="zh-CN" dirty="0" smtClean="0">
                <a:latin typeface="宋体" charset="-122"/>
              </a:rPr>
              <a:t> </a:t>
            </a:r>
            <a:r>
              <a:rPr lang="zh-CN" altLang="en-US" smtClean="0">
                <a:latin typeface="宋体" charset="-122"/>
              </a:rPr>
              <a:t>是先至少循环一次，然后再根据循环的结果决定是否继续循环。</a:t>
            </a:r>
          </a:p>
        </p:txBody>
      </p:sp>
      <p:sp>
        <p:nvSpPr>
          <p:cNvPr id="50179" name="Rectangle 17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457200"/>
            <a:ext cx="8686800" cy="639763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dirty="0" smtClean="0">
                <a:solidFill>
                  <a:srgbClr val="3333FF"/>
                </a:solidFill>
              </a:rPr>
              <a:t>For </a:t>
            </a:r>
            <a:r>
              <a:rPr lang="zh-CN" altLang="en-US" smtClean="0">
                <a:solidFill>
                  <a:srgbClr val="3333FF"/>
                </a:solidFill>
              </a:rPr>
              <a:t>、</a:t>
            </a:r>
            <a:r>
              <a:rPr lang="en-US" altLang="zh-CN" dirty="0" smtClean="0">
                <a:solidFill>
                  <a:srgbClr val="3333FF"/>
                </a:solidFill>
              </a:rPr>
              <a:t>while </a:t>
            </a:r>
            <a:r>
              <a:rPr lang="zh-CN" altLang="en-US" smtClean="0">
                <a:solidFill>
                  <a:srgbClr val="3333FF"/>
                </a:solidFill>
              </a:rPr>
              <a:t>和 </a:t>
            </a:r>
            <a:r>
              <a:rPr lang="en-US" altLang="zh-CN" dirty="0" smtClean="0">
                <a:solidFill>
                  <a:srgbClr val="3333FF"/>
                </a:solidFill>
              </a:rPr>
              <a:t>do-while </a:t>
            </a:r>
            <a:r>
              <a:rPr lang="zh-CN" altLang="en-US" smtClean="0">
                <a:solidFill>
                  <a:srgbClr val="3333FF"/>
                </a:solidFill>
              </a:rPr>
              <a:t>的比较</a:t>
            </a:r>
          </a:p>
        </p:txBody>
      </p:sp>
      <p:grpSp>
        <p:nvGrpSpPr>
          <p:cNvPr id="105476" name="Group 19"/>
          <p:cNvGrpSpPr>
            <a:grpSpLocks/>
          </p:cNvGrpSpPr>
          <p:nvPr/>
        </p:nvGrpSpPr>
        <p:grpSpPr bwMode="auto">
          <a:xfrm>
            <a:off x="5908675" y="2997200"/>
            <a:ext cx="3200400" cy="2895600"/>
            <a:chOff x="1977" y="4866"/>
            <a:chExt cx="3960" cy="2993"/>
          </a:xfrm>
        </p:grpSpPr>
        <p:sp>
          <p:nvSpPr>
            <p:cNvPr id="105489" name="Text Box 20"/>
            <p:cNvSpPr txBox="1">
              <a:spLocks noChangeArrowheads="1"/>
            </p:cNvSpPr>
            <p:nvPr/>
          </p:nvSpPr>
          <p:spPr bwMode="auto">
            <a:xfrm>
              <a:off x="3590" y="6538"/>
              <a:ext cx="525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/>
                <a:t>真</a:t>
              </a:r>
            </a:p>
          </p:txBody>
        </p:sp>
        <p:sp>
          <p:nvSpPr>
            <p:cNvPr id="105490" name="Text Box 21"/>
            <p:cNvSpPr txBox="1">
              <a:spLocks noChangeArrowheads="1"/>
            </p:cNvSpPr>
            <p:nvPr/>
          </p:nvSpPr>
          <p:spPr bwMode="auto">
            <a:xfrm>
              <a:off x="4860" y="5964"/>
              <a:ext cx="720" cy="4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/>
                <a:t>假</a:t>
              </a:r>
            </a:p>
          </p:txBody>
        </p:sp>
        <p:sp>
          <p:nvSpPr>
            <p:cNvPr id="105491" name="AutoShape 22"/>
            <p:cNvSpPr>
              <a:spLocks noChangeArrowheads="1"/>
            </p:cNvSpPr>
            <p:nvPr/>
          </p:nvSpPr>
          <p:spPr bwMode="auto">
            <a:xfrm>
              <a:off x="2865" y="5956"/>
              <a:ext cx="2172" cy="624"/>
            </a:xfrm>
            <a:prstGeom prst="flowChartDecis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/>
                <a:t>表达式</a:t>
              </a:r>
            </a:p>
          </p:txBody>
        </p:sp>
        <p:sp>
          <p:nvSpPr>
            <p:cNvPr id="105492" name="Rectangle 23"/>
            <p:cNvSpPr>
              <a:spLocks noChangeArrowheads="1"/>
            </p:cNvSpPr>
            <p:nvPr/>
          </p:nvSpPr>
          <p:spPr bwMode="auto">
            <a:xfrm>
              <a:off x="3272" y="5321"/>
              <a:ext cx="1395" cy="40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400" b="1"/>
                <a:t>循环体语句</a:t>
              </a:r>
            </a:p>
          </p:txBody>
        </p:sp>
        <p:sp>
          <p:nvSpPr>
            <p:cNvPr id="105493" name="Line 24"/>
            <p:cNvSpPr>
              <a:spLocks noChangeShapeType="1"/>
            </p:cNvSpPr>
            <p:nvPr/>
          </p:nvSpPr>
          <p:spPr bwMode="auto">
            <a:xfrm>
              <a:off x="3957" y="5730"/>
              <a:ext cx="1" cy="2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4" name="Line 25"/>
            <p:cNvSpPr>
              <a:spLocks noChangeShapeType="1"/>
            </p:cNvSpPr>
            <p:nvPr/>
          </p:nvSpPr>
          <p:spPr bwMode="auto">
            <a:xfrm>
              <a:off x="3957" y="6580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5" name="Line 26"/>
            <p:cNvSpPr>
              <a:spLocks noChangeShapeType="1"/>
            </p:cNvSpPr>
            <p:nvPr/>
          </p:nvSpPr>
          <p:spPr bwMode="auto">
            <a:xfrm>
              <a:off x="3937" y="4866"/>
              <a:ext cx="0" cy="4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6" name="Line 27"/>
            <p:cNvSpPr>
              <a:spLocks noChangeShapeType="1"/>
            </p:cNvSpPr>
            <p:nvPr/>
          </p:nvSpPr>
          <p:spPr bwMode="auto">
            <a:xfrm>
              <a:off x="1977" y="7048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7" name="Line 28"/>
            <p:cNvSpPr>
              <a:spLocks noChangeShapeType="1"/>
            </p:cNvSpPr>
            <p:nvPr/>
          </p:nvSpPr>
          <p:spPr bwMode="auto">
            <a:xfrm flipV="1">
              <a:off x="1977" y="5110"/>
              <a:ext cx="0" cy="19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8" name="Line 29"/>
            <p:cNvSpPr>
              <a:spLocks noChangeShapeType="1"/>
            </p:cNvSpPr>
            <p:nvPr/>
          </p:nvSpPr>
          <p:spPr bwMode="auto">
            <a:xfrm>
              <a:off x="1977" y="5120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99" name="Line 30"/>
            <p:cNvSpPr>
              <a:spLocks noChangeShapeType="1"/>
            </p:cNvSpPr>
            <p:nvPr/>
          </p:nvSpPr>
          <p:spPr bwMode="auto">
            <a:xfrm>
              <a:off x="5037" y="6268"/>
              <a:ext cx="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0" name="Line 31"/>
            <p:cNvSpPr>
              <a:spLocks noChangeShapeType="1"/>
            </p:cNvSpPr>
            <p:nvPr/>
          </p:nvSpPr>
          <p:spPr bwMode="auto">
            <a:xfrm>
              <a:off x="5937" y="6268"/>
              <a:ext cx="0" cy="9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1" name="Line 32"/>
            <p:cNvSpPr>
              <a:spLocks noChangeShapeType="1"/>
            </p:cNvSpPr>
            <p:nvPr/>
          </p:nvSpPr>
          <p:spPr bwMode="auto">
            <a:xfrm>
              <a:off x="3957" y="7204"/>
              <a:ext cx="19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2" name="Line 33"/>
            <p:cNvSpPr>
              <a:spLocks noChangeShapeType="1"/>
            </p:cNvSpPr>
            <p:nvPr/>
          </p:nvSpPr>
          <p:spPr bwMode="auto">
            <a:xfrm>
              <a:off x="3957" y="7204"/>
              <a:ext cx="2" cy="3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03" name="Rectangle 34"/>
            <p:cNvSpPr>
              <a:spLocks noChangeArrowheads="1"/>
            </p:cNvSpPr>
            <p:nvPr/>
          </p:nvSpPr>
          <p:spPr bwMode="auto">
            <a:xfrm>
              <a:off x="2697" y="7485"/>
              <a:ext cx="2520" cy="37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b="1"/>
                <a:t>do-while</a:t>
              </a:r>
              <a:r>
                <a:rPr lang="zh-CN" altLang="en-US" b="1"/>
                <a:t>的下一条语句</a:t>
              </a:r>
            </a:p>
          </p:txBody>
        </p:sp>
      </p:grpSp>
      <p:grpSp>
        <p:nvGrpSpPr>
          <p:cNvPr id="105477" name="Group 47"/>
          <p:cNvGrpSpPr>
            <a:grpSpLocks/>
          </p:cNvGrpSpPr>
          <p:nvPr/>
        </p:nvGrpSpPr>
        <p:grpSpPr bwMode="auto">
          <a:xfrm>
            <a:off x="2981325" y="2997200"/>
            <a:ext cx="2743200" cy="2895600"/>
            <a:chOff x="3264" y="1776"/>
            <a:chExt cx="1728" cy="1824"/>
          </a:xfrm>
        </p:grpSpPr>
        <p:sp>
          <p:nvSpPr>
            <p:cNvPr id="105479" name="Text Box 36"/>
            <p:cNvSpPr txBox="1">
              <a:spLocks noChangeArrowheads="1"/>
            </p:cNvSpPr>
            <p:nvPr/>
          </p:nvSpPr>
          <p:spPr bwMode="auto">
            <a:xfrm>
              <a:off x="3832" y="2338"/>
              <a:ext cx="676" cy="2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>
                  <a:latin typeface="Times New Roman" panose="02020603050405020304" pitchFamily="18" charset="0"/>
                </a:rPr>
                <a:t>真</a:t>
              </a:r>
            </a:p>
          </p:txBody>
        </p:sp>
        <p:sp>
          <p:nvSpPr>
            <p:cNvPr id="105480" name="Text Box 37"/>
            <p:cNvSpPr txBox="1">
              <a:spLocks noChangeArrowheads="1"/>
            </p:cNvSpPr>
            <p:nvPr/>
          </p:nvSpPr>
          <p:spPr bwMode="auto">
            <a:xfrm>
              <a:off x="4420" y="1973"/>
              <a:ext cx="572" cy="23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1600" b="1">
                  <a:latin typeface="Times New Roman" panose="02020603050405020304" pitchFamily="18" charset="0"/>
                </a:rPr>
                <a:t>假</a:t>
              </a:r>
            </a:p>
          </p:txBody>
        </p:sp>
        <p:sp>
          <p:nvSpPr>
            <p:cNvPr id="105481" name="Line 38"/>
            <p:cNvSpPr>
              <a:spLocks noChangeShapeType="1"/>
            </p:cNvSpPr>
            <p:nvPr/>
          </p:nvSpPr>
          <p:spPr bwMode="auto">
            <a:xfrm>
              <a:off x="4041" y="2359"/>
              <a:ext cx="0" cy="15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5482" name="Group 46"/>
            <p:cNvGrpSpPr>
              <a:grpSpLocks/>
            </p:cNvGrpSpPr>
            <p:nvPr/>
          </p:nvGrpSpPr>
          <p:grpSpPr bwMode="auto">
            <a:xfrm>
              <a:off x="3264" y="1776"/>
              <a:ext cx="1681" cy="1824"/>
              <a:chOff x="3264" y="1776"/>
              <a:chExt cx="1681" cy="1824"/>
            </a:xfrm>
          </p:grpSpPr>
          <p:sp>
            <p:nvSpPr>
              <p:cNvPr id="105483" name="Text Box 40"/>
              <p:cNvSpPr txBox="1">
                <a:spLocks noChangeArrowheads="1"/>
              </p:cNvSpPr>
              <p:nvPr/>
            </p:nvSpPr>
            <p:spPr bwMode="auto">
              <a:xfrm>
                <a:off x="3424" y="3361"/>
                <a:ext cx="1319" cy="23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en-US" altLang="zh-CN" sz="1600" b="1">
                    <a:latin typeface="Times New Roman" panose="02020603050405020304" pitchFamily="18" charset="0"/>
                  </a:rPr>
                  <a:t>while</a:t>
                </a:r>
                <a:r>
                  <a:rPr lang="zh-CN" altLang="en-US" sz="1600" b="1">
                    <a:latin typeface="Times New Roman" panose="02020603050405020304" pitchFamily="18" charset="0"/>
                  </a:rPr>
                  <a:t>的下一条语句</a:t>
                </a:r>
              </a:p>
            </p:txBody>
          </p:sp>
          <p:sp>
            <p:nvSpPr>
              <p:cNvPr id="105484" name="Line 41"/>
              <p:cNvSpPr>
                <a:spLocks noChangeShapeType="1"/>
              </p:cNvSpPr>
              <p:nvPr/>
            </p:nvSpPr>
            <p:spPr bwMode="auto">
              <a:xfrm>
                <a:off x="4041" y="1776"/>
                <a:ext cx="0" cy="19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5" name="AutoShape 42"/>
              <p:cNvSpPr>
                <a:spLocks noChangeArrowheads="1"/>
              </p:cNvSpPr>
              <p:nvPr/>
            </p:nvSpPr>
            <p:spPr bwMode="auto">
              <a:xfrm>
                <a:off x="3475" y="1969"/>
                <a:ext cx="1135" cy="391"/>
              </a:xfrm>
              <a:prstGeom prst="flowChartDecis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600" b="1">
                    <a:latin typeface="Times New Roman" panose="02020603050405020304" pitchFamily="18" charset="0"/>
                  </a:rPr>
                  <a:t>表达式</a:t>
                </a:r>
              </a:p>
            </p:txBody>
          </p:sp>
          <p:sp>
            <p:nvSpPr>
              <p:cNvPr id="105486" name="Rectangle 43"/>
              <p:cNvSpPr>
                <a:spLocks noChangeArrowheads="1"/>
              </p:cNvSpPr>
              <p:nvPr/>
            </p:nvSpPr>
            <p:spPr bwMode="auto">
              <a:xfrm>
                <a:off x="3627" y="2528"/>
                <a:ext cx="835" cy="2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>
                <a:lvl1pPr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r>
                  <a:rPr lang="zh-CN" altLang="en-US" sz="1600" b="1">
                    <a:latin typeface="Times New Roman" panose="02020603050405020304" pitchFamily="18" charset="0"/>
                  </a:rPr>
                  <a:t>循环体语句</a:t>
                </a:r>
              </a:p>
            </p:txBody>
          </p:sp>
          <p:sp>
            <p:nvSpPr>
              <p:cNvPr id="105487" name="Freeform 44"/>
              <p:cNvSpPr>
                <a:spLocks/>
              </p:cNvSpPr>
              <p:nvPr/>
            </p:nvSpPr>
            <p:spPr bwMode="auto">
              <a:xfrm>
                <a:off x="4091" y="2168"/>
                <a:ext cx="854" cy="1192"/>
              </a:xfrm>
              <a:custGeom>
                <a:avLst/>
                <a:gdLst>
                  <a:gd name="T0" fmla="*/ 1 w 1365"/>
                  <a:gd name="T1" fmla="*/ 0 h 2028"/>
                  <a:gd name="T2" fmla="*/ 1 w 1365"/>
                  <a:gd name="T3" fmla="*/ 0 h 2028"/>
                  <a:gd name="T4" fmla="*/ 1 w 1365"/>
                  <a:gd name="T5" fmla="*/ 1 h 2028"/>
                  <a:gd name="T6" fmla="*/ 0 w 1365"/>
                  <a:gd name="T7" fmla="*/ 1 h 2028"/>
                  <a:gd name="T8" fmla="*/ 0 w 1365"/>
                  <a:gd name="T9" fmla="*/ 1 h 20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65" h="2028">
                    <a:moveTo>
                      <a:pt x="840" y="0"/>
                    </a:moveTo>
                    <a:lnTo>
                      <a:pt x="1365" y="0"/>
                    </a:lnTo>
                    <a:lnTo>
                      <a:pt x="1365" y="1560"/>
                    </a:lnTo>
                    <a:lnTo>
                      <a:pt x="0" y="1560"/>
                    </a:lnTo>
                    <a:lnTo>
                      <a:pt x="0" y="2028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488" name="Freeform 45"/>
              <p:cNvSpPr>
                <a:spLocks/>
              </p:cNvSpPr>
              <p:nvPr/>
            </p:nvSpPr>
            <p:spPr bwMode="auto">
              <a:xfrm>
                <a:off x="3264" y="1930"/>
                <a:ext cx="788" cy="1141"/>
              </a:xfrm>
              <a:custGeom>
                <a:avLst/>
                <a:gdLst>
                  <a:gd name="T0" fmla="*/ 1 w 1260"/>
                  <a:gd name="T1" fmla="*/ 1 h 1716"/>
                  <a:gd name="T2" fmla="*/ 1 w 1260"/>
                  <a:gd name="T3" fmla="*/ 1 h 1716"/>
                  <a:gd name="T4" fmla="*/ 0 w 1260"/>
                  <a:gd name="T5" fmla="*/ 1 h 1716"/>
                  <a:gd name="T6" fmla="*/ 0 w 1260"/>
                  <a:gd name="T7" fmla="*/ 0 h 1716"/>
                  <a:gd name="T8" fmla="*/ 1 w 1260"/>
                  <a:gd name="T9" fmla="*/ 0 h 17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60" h="1716">
                    <a:moveTo>
                      <a:pt x="1260" y="1248"/>
                    </a:moveTo>
                    <a:lnTo>
                      <a:pt x="1260" y="1716"/>
                    </a:lnTo>
                    <a:lnTo>
                      <a:pt x="0" y="1716"/>
                    </a:lnTo>
                    <a:lnTo>
                      <a:pt x="0" y="0"/>
                    </a:lnTo>
                    <a:lnTo>
                      <a:pt x="1155" y="0"/>
                    </a:lnTo>
                  </a:path>
                </a:pathLst>
              </a:cu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pic>
        <p:nvPicPr>
          <p:cNvPr id="105478" name="Picture 3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30"/>
          <a:stretch/>
        </p:blipFill>
        <p:spPr bwMode="auto">
          <a:xfrm>
            <a:off x="-4763" y="2781300"/>
            <a:ext cx="2847976" cy="3672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331640" y="3008362"/>
            <a:ext cx="6172200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3.4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常用算法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24305542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输出</a:t>
            </a:r>
            <a:r>
              <a:rPr lang="en-US" altLang="zh-CN" dirty="0" smtClean="0">
                <a:solidFill>
                  <a:srgbClr val="3333FF"/>
                </a:solidFill>
              </a:rPr>
              <a:t>m</a:t>
            </a:r>
            <a:r>
              <a:rPr lang="zh-CN" altLang="en-US" dirty="0" smtClean="0">
                <a:solidFill>
                  <a:srgbClr val="3333FF"/>
                </a:solidFill>
              </a:rPr>
              <a:t>到</a:t>
            </a:r>
            <a:r>
              <a:rPr lang="en-US" altLang="zh-CN" dirty="0" smtClean="0">
                <a:solidFill>
                  <a:srgbClr val="3333FF"/>
                </a:solidFill>
              </a:rPr>
              <a:t>n</a:t>
            </a:r>
            <a:r>
              <a:rPr lang="zh-CN" altLang="en-US" dirty="0" smtClean="0">
                <a:solidFill>
                  <a:srgbClr val="3333FF"/>
                </a:solidFill>
              </a:rPr>
              <a:t>之间的“水仙花数”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844675"/>
            <a:ext cx="8229600" cy="3240509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en-US" altLang="zh-CN" dirty="0" smtClean="0">
                <a:solidFill>
                  <a:srgbClr val="3333FF"/>
                </a:solidFill>
              </a:rPr>
              <a:t>m</a:t>
            </a:r>
            <a:r>
              <a:rPr lang="zh-CN" altLang="en-US" dirty="0" smtClean="0">
                <a:solidFill>
                  <a:srgbClr val="3333FF"/>
                </a:solidFill>
              </a:rPr>
              <a:t>和</a:t>
            </a:r>
            <a:r>
              <a:rPr lang="en-US" altLang="zh-CN" dirty="0" smtClean="0">
                <a:solidFill>
                  <a:srgbClr val="3333FF"/>
                </a:solidFill>
              </a:rPr>
              <a:t>n</a:t>
            </a:r>
            <a:r>
              <a:rPr lang="zh-CN" altLang="en-US" dirty="0" smtClean="0">
                <a:solidFill>
                  <a:srgbClr val="3333FF"/>
                </a:solidFill>
              </a:rPr>
              <a:t>是正整数</a:t>
            </a:r>
            <a:r>
              <a:rPr lang="en-US" altLang="zh-CN" dirty="0" smtClean="0">
                <a:solidFill>
                  <a:srgbClr val="3333FF"/>
                </a:solidFill>
              </a:rPr>
              <a:t>,</a:t>
            </a:r>
            <a:r>
              <a:rPr lang="zh-CN" altLang="en-US" dirty="0" smtClean="0">
                <a:solidFill>
                  <a:srgbClr val="3333FF"/>
                </a:solidFill>
              </a:rPr>
              <a:t>且</a:t>
            </a:r>
            <a:r>
              <a:rPr lang="en-US" altLang="zh-CN" dirty="0" smtClean="0">
                <a:solidFill>
                  <a:srgbClr val="3333FF"/>
                </a:solidFill>
              </a:rPr>
              <a:t>m&gt;1,n&lt;1000 </a:t>
            </a:r>
            <a:endParaRPr lang="zh-CN" altLang="en-US" dirty="0" smtClean="0">
              <a:solidFill>
                <a:srgbClr val="3333FF"/>
              </a:solidFill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zh-CN" altLang="en-US" dirty="0" smtClean="0"/>
              <a:t>分析：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   即把所有的正整数按题意一一进行判断，如果一个三位正整数</a:t>
            </a:r>
            <a:r>
              <a:rPr lang="en-US" altLang="zh-CN" dirty="0" smtClean="0"/>
              <a:t>t</a:t>
            </a:r>
            <a:r>
              <a:rPr lang="zh-CN" altLang="en-US" dirty="0" smtClean="0"/>
              <a:t>的百位、十位、个位上的数字分别为</a:t>
            </a:r>
            <a:r>
              <a:rPr lang="en-US" altLang="zh-CN" dirty="0" smtClean="0"/>
              <a:t>i</a:t>
            </a:r>
            <a:r>
              <a:rPr lang="zh-CN" altLang="en-US" dirty="0" smtClean="0"/>
              <a:t>、</a:t>
            </a:r>
            <a:r>
              <a:rPr lang="en-US" altLang="zh-CN" dirty="0" smtClean="0"/>
              <a:t>j</a:t>
            </a:r>
            <a:r>
              <a:rPr lang="zh-CN" altLang="en-US" dirty="0" smtClean="0"/>
              <a:t>、</a:t>
            </a:r>
            <a:r>
              <a:rPr lang="en-US" altLang="zh-CN" dirty="0" smtClean="0"/>
              <a:t>k</a:t>
            </a:r>
            <a:r>
              <a:rPr lang="zh-CN" altLang="en-US" dirty="0" smtClean="0"/>
              <a:t>，则判断式为：</a:t>
            </a:r>
            <a:r>
              <a:rPr lang="en-US" altLang="zh-CN" dirty="0" smtClean="0"/>
              <a:t>t = i</a:t>
            </a:r>
            <a:r>
              <a:rPr lang="en-US" altLang="zh-CN" baseline="36000" dirty="0" smtClean="0"/>
              <a:t>3 </a:t>
            </a:r>
            <a:r>
              <a:rPr lang="en-US" altLang="zh-CN" dirty="0" smtClean="0"/>
              <a:t>+ j</a:t>
            </a:r>
            <a:r>
              <a:rPr lang="en-US" altLang="zh-CN" baseline="36000" dirty="0" smtClean="0"/>
              <a:t>3 </a:t>
            </a:r>
            <a:r>
              <a:rPr lang="en-US" altLang="zh-CN" dirty="0" smtClean="0"/>
              <a:t>+ k</a:t>
            </a:r>
            <a:r>
              <a:rPr lang="en-US" altLang="zh-CN" baseline="36000" dirty="0" smtClean="0"/>
              <a:t>3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 </a:t>
            </a:r>
            <a:r>
              <a:rPr lang="zh-CN" altLang="en-US" dirty="0"/>
              <a:t>  </a:t>
            </a:r>
            <a:r>
              <a:rPr lang="zh-CN" altLang="en-US" dirty="0" smtClean="0"/>
              <a:t>（穷举法）</a:t>
            </a:r>
          </a:p>
        </p:txBody>
      </p:sp>
    </p:spTree>
  </p:cSld>
  <p:clrMapOvr>
    <a:masterClrMapping/>
  </p:clrMapOvr>
  <p:transition spd="med"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16632"/>
            <a:ext cx="5366246" cy="648072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int i,t,s,m,n,digit;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printf("Input m: ");scanf("%d",&amp;m);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printf("Input n: ");scanf("%d",&amp;n);	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for (i=m;i&lt;=n;i++)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t=i;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s=0;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do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digit=t%10;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s=s+digit*digit*digit;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t=t/10;</a:t>
            </a:r>
          </a:p>
          <a:p>
            <a:pPr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000" dirty="0" smtClean="0"/>
              <a:t>		}</a:t>
            </a:r>
            <a:r>
              <a:rPr lang="en-US" altLang="zh-CN" sz="2000" dirty="0"/>
              <a:t> while(t!=0</a:t>
            </a:r>
            <a:r>
              <a:rPr lang="en-US" altLang="zh-CN" sz="2000" dirty="0" smtClean="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if (s==i)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		printf("%d\n",i);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   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  <a:endParaRPr lang="zh-CN" altLang="en-US" sz="2000" dirty="0" smtClean="0"/>
          </a:p>
        </p:txBody>
      </p:sp>
      <p:sp>
        <p:nvSpPr>
          <p:cNvPr id="131075" name="Text Box 4"/>
          <p:cNvSpPr txBox="1">
            <a:spLocks noChangeArrowheads="1"/>
          </p:cNvSpPr>
          <p:nvPr/>
        </p:nvSpPr>
        <p:spPr bwMode="auto">
          <a:xfrm>
            <a:off x="7648575" y="554038"/>
            <a:ext cx="955675" cy="22987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/>
              <a:t>153</a:t>
            </a:r>
          </a:p>
          <a:p>
            <a:pPr eaLnBrk="1" hangingPunct="1"/>
            <a:r>
              <a:rPr lang="en-US" altLang="zh-CN" sz="3600"/>
              <a:t>370</a:t>
            </a:r>
          </a:p>
          <a:p>
            <a:pPr eaLnBrk="1" hangingPunct="1"/>
            <a:r>
              <a:rPr lang="en-US" altLang="zh-CN" sz="3600"/>
              <a:t>371</a:t>
            </a:r>
          </a:p>
          <a:p>
            <a:pPr eaLnBrk="1" hangingPunct="1"/>
            <a:r>
              <a:rPr lang="en-US" altLang="zh-CN" sz="3600"/>
              <a:t>407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796136" y="5085184"/>
            <a:ext cx="3096344" cy="1384995"/>
          </a:xfrm>
          <a:prstGeom prst="rect">
            <a:avLst/>
          </a:prstGeom>
          <a:noFill/>
          <a:ln w="28575">
            <a:solidFill>
              <a:schemeClr val="tx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思考</a:t>
            </a:r>
            <a:r>
              <a:rPr lang="zh-CN" altLang="en-US" sz="2800" b="1" dirty="0" smtClean="0"/>
              <a:t>：</a:t>
            </a:r>
            <a:endParaRPr lang="en-US" altLang="zh-CN" sz="2800" b="1" dirty="0" smtClean="0"/>
          </a:p>
          <a:p>
            <a:pPr algn="ctr"/>
            <a:r>
              <a:rPr lang="zh-CN" altLang="en-US" sz="2800" b="1" dirty="0" smtClean="0"/>
              <a:t>程序的改进</a:t>
            </a:r>
            <a:endParaRPr lang="en-US" altLang="zh-CN" sz="2800" b="1" dirty="0" smtClean="0"/>
          </a:p>
          <a:p>
            <a:pPr algn="ctr"/>
            <a:r>
              <a:rPr lang="en-US" altLang="zh-CN" sz="2800" b="1" dirty="0" smtClean="0"/>
              <a:t>m</a:t>
            </a:r>
            <a:r>
              <a:rPr lang="zh-CN" altLang="en-US" sz="2800" b="1" dirty="0" smtClean="0"/>
              <a:t>和</a:t>
            </a:r>
            <a:r>
              <a:rPr lang="en-US" altLang="zh-CN" sz="2800" b="1" dirty="0" smtClean="0"/>
              <a:t>n</a:t>
            </a:r>
            <a:r>
              <a:rPr lang="zh-CN" altLang="en-US" sz="2800" b="1" dirty="0" smtClean="0"/>
              <a:t>的数值</a:t>
            </a:r>
            <a:endParaRPr lang="zh-CN" altLang="en-US" sz="2800" b="1" dirty="0"/>
          </a:p>
        </p:txBody>
      </p:sp>
    </p:spTree>
  </p:cSld>
  <p:clrMapOvr>
    <a:masterClrMapping/>
  </p:clrMapOvr>
  <p:transition spd="med"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8864" y="332656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输入一个正整数</a:t>
            </a:r>
            <a:r>
              <a:rPr lang="en-US" altLang="zh-CN" dirty="0" smtClean="0">
                <a:solidFill>
                  <a:srgbClr val="3333FF"/>
                </a:solidFill>
              </a:rPr>
              <a:t>m</a:t>
            </a:r>
            <a:r>
              <a:rPr lang="zh-CN" altLang="en-US" dirty="0" smtClean="0">
                <a:solidFill>
                  <a:srgbClr val="3333FF"/>
                </a:solidFill>
              </a:rPr>
              <a:t>，判断它是否为素数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45108" y="1772816"/>
            <a:ext cx="8507412" cy="461645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2700" dirty="0" smtClean="0"/>
              <a:t>算法：除了</a:t>
            </a:r>
            <a:r>
              <a:rPr lang="en-US" altLang="zh-CN" sz="2700" dirty="0" smtClean="0"/>
              <a:t>1</a:t>
            </a:r>
            <a:r>
              <a:rPr lang="zh-CN" altLang="en-US" sz="2700" dirty="0" smtClean="0"/>
              <a:t>和</a:t>
            </a:r>
            <a:r>
              <a:rPr lang="en-US" altLang="zh-CN" sz="2700" dirty="0" smtClean="0"/>
              <a:t>m</a:t>
            </a:r>
            <a:r>
              <a:rPr lang="zh-CN" altLang="en-US" sz="2700" dirty="0" smtClean="0"/>
              <a:t>，不能被其它数整除。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700" dirty="0" smtClean="0"/>
              <a:t>(1)</a:t>
            </a:r>
            <a:r>
              <a:rPr lang="zh-CN" altLang="en-US" sz="2700" dirty="0" smtClean="0"/>
              <a:t>设 </a:t>
            </a:r>
            <a:r>
              <a:rPr lang="en-US" altLang="zh-CN" sz="2700" dirty="0" smtClean="0"/>
              <a:t>i </a:t>
            </a:r>
            <a:r>
              <a:rPr lang="zh-CN" altLang="en-US" sz="2700" dirty="0" smtClean="0"/>
              <a:t>取值 </a:t>
            </a:r>
            <a:r>
              <a:rPr lang="en-US" altLang="zh-CN" sz="2700" dirty="0" smtClean="0">
                <a:solidFill>
                  <a:srgbClr val="3333FF"/>
                </a:solidFill>
              </a:rPr>
              <a:t>[2, m-1]</a:t>
            </a:r>
            <a:r>
              <a:rPr lang="en-US" altLang="zh-CN" sz="2700" dirty="0" smtClean="0"/>
              <a:t>  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700" dirty="0" smtClean="0"/>
              <a:t>如果</a:t>
            </a:r>
            <a:r>
              <a:rPr lang="en-US" altLang="zh-CN" sz="2700" dirty="0" smtClean="0"/>
              <a:t>m</a:t>
            </a:r>
            <a:r>
              <a:rPr lang="zh-CN" altLang="en-US" sz="2700" dirty="0" smtClean="0"/>
              <a:t>不能被该区间上的任何一个数整除，即对每个</a:t>
            </a:r>
            <a:r>
              <a:rPr lang="en-US" altLang="zh-CN" sz="2700" dirty="0" smtClean="0"/>
              <a:t>i</a:t>
            </a:r>
            <a:r>
              <a:rPr lang="zh-CN" altLang="en-US" sz="2700" dirty="0" smtClean="0"/>
              <a:t>，</a:t>
            </a:r>
            <a:r>
              <a:rPr lang="en-US" altLang="zh-CN" sz="2700" dirty="0" smtClean="0"/>
              <a:t>m%i </a:t>
            </a:r>
            <a:r>
              <a:rPr lang="zh-CN" altLang="en-US" sz="2700" dirty="0" smtClean="0"/>
              <a:t>都不为</a:t>
            </a:r>
            <a:r>
              <a:rPr lang="en-US" altLang="zh-CN" sz="2700" dirty="0" smtClean="0"/>
              <a:t>0</a:t>
            </a:r>
            <a:r>
              <a:rPr lang="zh-CN" altLang="en-US" sz="2700" dirty="0" smtClean="0"/>
              <a:t>，则</a:t>
            </a:r>
            <a:r>
              <a:rPr lang="en-US" altLang="zh-CN" sz="2700" dirty="0" smtClean="0"/>
              <a:t>m</a:t>
            </a:r>
            <a:r>
              <a:rPr lang="zh-CN" altLang="en-US" sz="2700" dirty="0" smtClean="0"/>
              <a:t>是素数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sz="2700" dirty="0" smtClean="0"/>
              <a:t>只要找到一个</a:t>
            </a:r>
            <a:r>
              <a:rPr lang="en-US" altLang="zh-CN" sz="2700" dirty="0" smtClean="0"/>
              <a:t>i</a:t>
            </a:r>
            <a:r>
              <a:rPr lang="zh-CN" altLang="en-US" sz="2700" dirty="0" smtClean="0"/>
              <a:t>，使</a:t>
            </a:r>
            <a:r>
              <a:rPr lang="en-US" altLang="zh-CN" sz="2700" dirty="0" smtClean="0"/>
              <a:t>m%i</a:t>
            </a:r>
            <a:r>
              <a:rPr lang="zh-CN" altLang="en-US" sz="2700" dirty="0" smtClean="0"/>
              <a:t>为</a:t>
            </a:r>
            <a:r>
              <a:rPr lang="en-US" altLang="zh-CN" sz="2700" dirty="0" smtClean="0"/>
              <a:t>0</a:t>
            </a:r>
            <a:r>
              <a:rPr lang="zh-CN" altLang="en-US" sz="2700" dirty="0" smtClean="0"/>
              <a:t>，则</a:t>
            </a:r>
            <a:r>
              <a:rPr lang="en-US" altLang="zh-CN" sz="2700" dirty="0" smtClean="0"/>
              <a:t>m</a:t>
            </a:r>
            <a:r>
              <a:rPr lang="zh-CN" altLang="en-US" sz="2700" dirty="0" smtClean="0"/>
              <a:t>肯定不是素数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700" dirty="0" smtClean="0"/>
              <a:t>(2)m</a:t>
            </a:r>
            <a:r>
              <a:rPr lang="zh-CN" altLang="en-US" sz="2700" dirty="0" smtClean="0"/>
              <a:t>不可能被大于 </a:t>
            </a:r>
            <a:r>
              <a:rPr lang="en-US" altLang="zh-CN" sz="2700" dirty="0" smtClean="0"/>
              <a:t>m/2 </a:t>
            </a:r>
            <a:r>
              <a:rPr lang="zh-CN" altLang="en-US" sz="2700" dirty="0" smtClean="0"/>
              <a:t>的数整除</a:t>
            </a:r>
            <a:r>
              <a:rPr lang="en-US" altLang="zh-CN" sz="2700" dirty="0" smtClean="0"/>
              <a:t>,</a:t>
            </a:r>
            <a:r>
              <a:rPr lang="zh-CN" altLang="en-US" sz="2700" dirty="0" smtClean="0"/>
              <a:t>所以上述区间可缩小为</a:t>
            </a:r>
            <a:r>
              <a:rPr lang="en-US" altLang="zh-CN" sz="2700" dirty="0" smtClean="0">
                <a:solidFill>
                  <a:srgbClr val="3333FF"/>
                </a:solidFill>
              </a:rPr>
              <a:t>[2</a:t>
            </a:r>
            <a:r>
              <a:rPr lang="zh-CN" altLang="en-US" sz="2700" dirty="0" smtClean="0">
                <a:solidFill>
                  <a:srgbClr val="3333FF"/>
                </a:solidFill>
              </a:rPr>
              <a:t>，</a:t>
            </a:r>
            <a:r>
              <a:rPr lang="en-US" altLang="zh-CN" sz="2700" dirty="0" smtClean="0">
                <a:solidFill>
                  <a:srgbClr val="3333FF"/>
                </a:solidFill>
              </a:rPr>
              <a:t>m/2]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sz="2700" dirty="0" smtClean="0"/>
              <a:t>(3)</a:t>
            </a:r>
            <a:r>
              <a:rPr lang="zh-CN" altLang="en-US" sz="2700" dirty="0" smtClean="0"/>
              <a:t>上述区间还可以是</a:t>
            </a:r>
            <a:r>
              <a:rPr lang="en-US" altLang="zh-CN" sz="2700" dirty="0" smtClean="0">
                <a:solidFill>
                  <a:srgbClr val="3333FF"/>
                </a:solidFill>
              </a:rPr>
              <a:t>[2</a:t>
            </a:r>
            <a:r>
              <a:rPr lang="zh-CN" altLang="en-US" sz="2700" dirty="0" smtClean="0">
                <a:solidFill>
                  <a:srgbClr val="3333FF"/>
                </a:solidFill>
              </a:rPr>
              <a:t>，         </a:t>
            </a:r>
            <a:r>
              <a:rPr lang="en-US" altLang="zh-CN" sz="2700" dirty="0" smtClean="0">
                <a:solidFill>
                  <a:srgbClr val="3333FF"/>
                </a:solidFill>
              </a:rPr>
              <a:t>]</a:t>
            </a:r>
          </a:p>
        </p:txBody>
      </p:sp>
      <p:graphicFrame>
        <p:nvGraphicFramePr>
          <p:cNvPr id="7066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18644053"/>
              </p:ext>
            </p:extLst>
          </p:nvPr>
        </p:nvGraphicFramePr>
        <p:xfrm>
          <a:off x="4500563" y="5013176"/>
          <a:ext cx="7921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934" name="公式" r:id="rId3" imgW="279400" imgH="228600" progId="Equation.3">
                  <p:embed/>
                </p:oleObj>
              </mc:Choice>
              <mc:Fallback>
                <p:oleObj name="公式" r:id="rId3" imgW="2794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013176"/>
                        <a:ext cx="79216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527685"/>
            <a:ext cx="8229600" cy="5925652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 i,k,m;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printf("Enter a number: 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scanf("%d",&amp;m);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for (i=2;i&lt;=m-1;i++)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if (m % i == 0) break;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if (i==m)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printf("%d is a prime number!\n", 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else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printf("%d is not a prime number!\n",m);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</p:spTree>
  </p:cSld>
  <p:clrMapOvr>
    <a:masterClrMapping/>
  </p:clrMapOvr>
  <p:transition spd="med"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63087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</a:t>
            </a:r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i,k,n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</a:t>
            </a: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("Enter a number: 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</a:t>
            </a:r>
            <a:r>
              <a:rPr lang="en-US" altLang="zh-CN" sz="2400" dirty="0" err="1" smtClean="0"/>
              <a:t>scanf</a:t>
            </a:r>
            <a:r>
              <a:rPr lang="en-US" altLang="zh-CN" sz="2400" dirty="0" smtClean="0"/>
              <a:t>("%</a:t>
            </a:r>
            <a:r>
              <a:rPr lang="en-US" altLang="zh-CN" sz="2400" dirty="0" err="1" smtClean="0"/>
              <a:t>d</a:t>
            </a:r>
            <a:r>
              <a:rPr lang="en-US" altLang="zh-CN" sz="2400" dirty="0" err="1" smtClean="0"/>
              <a:t>",&amp;n</a:t>
            </a:r>
            <a:r>
              <a:rPr lang="en-US" altLang="zh-CN" sz="2400" dirty="0" smtClean="0"/>
              <a:t>);</a:t>
            </a:r>
            <a:endParaRPr lang="en-US" altLang="zh-CN" sz="24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</a:t>
            </a:r>
            <a:r>
              <a:rPr lang="en-US" altLang="zh-CN" sz="2400" dirty="0" smtClean="0">
                <a:solidFill>
                  <a:srgbClr val="FF0000"/>
                </a:solidFill>
              </a:rPr>
              <a:t>k=n/2</a:t>
            </a:r>
            <a:r>
              <a:rPr lang="en-US" altLang="zh-CN" sz="2400" dirty="0" smtClean="0">
                <a:solidFill>
                  <a:srgbClr val="FF0000"/>
                </a:solidFill>
              </a:rPr>
              <a:t>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for (i=2;i&lt;=k;i++)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if (m % i == 0) break;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if (i&gt;k)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printf("%d is a prime number!\n", </a:t>
            </a:r>
            <a:r>
              <a:rPr lang="en-US" altLang="zh-CN" sz="2400" dirty="0" smtClean="0"/>
              <a:t>n);</a:t>
            </a:r>
            <a:endParaRPr lang="en-US" altLang="zh-CN" sz="24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else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printf("No!\n");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  <p:sp>
        <p:nvSpPr>
          <p:cNvPr id="72707" name="AutoShape 4"/>
          <p:cNvSpPr>
            <a:spLocks noChangeArrowheads="1"/>
          </p:cNvSpPr>
          <p:nvPr/>
        </p:nvSpPr>
        <p:spPr bwMode="auto">
          <a:xfrm>
            <a:off x="4787900" y="2276475"/>
            <a:ext cx="2087563" cy="647700"/>
          </a:xfrm>
          <a:prstGeom prst="wedgeRectCallout">
            <a:avLst>
              <a:gd name="adj1" fmla="val -182472"/>
              <a:gd name="adj2" fmla="val 50491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3333FF"/>
                </a:solidFill>
              </a:rPr>
              <a:t>k</a:t>
            </a:r>
            <a:r>
              <a:rPr lang="en-US" altLang="zh-CN" sz="2800" b="1" smtClean="0">
                <a:solidFill>
                  <a:srgbClr val="3333FF"/>
                </a:solidFill>
              </a:rPr>
              <a:t>=</a:t>
            </a:r>
            <a:r>
              <a:rPr lang="en-US" altLang="zh-CN" sz="2800" b="1" dirty="0" err="1" smtClean="0">
                <a:solidFill>
                  <a:srgbClr val="3333FF"/>
                </a:solidFill>
              </a:rPr>
              <a:t>sqrt</a:t>
            </a:r>
            <a:r>
              <a:rPr lang="en-US" altLang="zh-CN" sz="2800" b="1" dirty="0" smtClean="0">
                <a:solidFill>
                  <a:srgbClr val="3333FF"/>
                </a:solidFill>
              </a:rPr>
              <a:t>(n);</a:t>
            </a:r>
            <a:endParaRPr lang="en-US" altLang="zh-CN" sz="2800" b="1" dirty="0">
              <a:solidFill>
                <a:srgbClr val="3333FF"/>
              </a:solidFill>
            </a:endParaRPr>
          </a:p>
        </p:txBody>
      </p:sp>
      <p:sp>
        <p:nvSpPr>
          <p:cNvPr id="72708" name="AutoShape 5"/>
          <p:cNvSpPr>
            <a:spLocks noChangeArrowheads="1"/>
          </p:cNvSpPr>
          <p:nvPr/>
        </p:nvSpPr>
        <p:spPr bwMode="auto">
          <a:xfrm>
            <a:off x="5003800" y="620713"/>
            <a:ext cx="3744913" cy="647700"/>
          </a:xfrm>
          <a:prstGeom prst="wedgeRectCallout">
            <a:avLst>
              <a:gd name="adj1" fmla="val -164880"/>
              <a:gd name="adj2" fmla="val -6370"/>
            </a:avLst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>
                <a:solidFill>
                  <a:srgbClr val="3333FF"/>
                </a:solidFill>
              </a:rPr>
              <a:t>#include &lt;math.h&gt;</a:t>
            </a:r>
          </a:p>
        </p:txBody>
      </p:sp>
    </p:spTree>
  </p:cSld>
  <p:clrMapOvr>
    <a:masterClrMapping/>
  </p:clrMapOvr>
  <p:transition spd="med"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60350"/>
            <a:ext cx="8686800" cy="792163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3333FF"/>
                </a:solidFill>
              </a:rPr>
              <a:t>例</a:t>
            </a:r>
            <a:r>
              <a:rPr lang="zh-CN" altLang="en-US" sz="3200" dirty="0">
                <a:solidFill>
                  <a:srgbClr val="3333FF"/>
                </a:solidFill>
              </a:rPr>
              <a:t>：</a:t>
            </a:r>
            <a:r>
              <a:rPr lang="zh-CN" altLang="en-US" sz="3200" dirty="0" smtClean="0">
                <a:solidFill>
                  <a:srgbClr val="3333FF"/>
                </a:solidFill>
              </a:rPr>
              <a:t>求</a:t>
            </a:r>
            <a:r>
              <a:rPr lang="en-US" altLang="zh-CN" sz="3200" dirty="0" smtClean="0">
                <a:solidFill>
                  <a:srgbClr val="3333FF"/>
                </a:solidFill>
              </a:rPr>
              <a:t>1</a:t>
            </a:r>
            <a:r>
              <a:rPr lang="zh-CN" altLang="en-US" sz="3200" dirty="0" smtClean="0">
                <a:solidFill>
                  <a:srgbClr val="3333FF"/>
                </a:solidFill>
              </a:rPr>
              <a:t>00以内的全部素数，每行输出10个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9388" y="1125538"/>
            <a:ext cx="6635750" cy="1143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for (i = 2; i &lt;= 100; i++)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if (</a:t>
            </a:r>
            <a:r>
              <a:rPr lang="en-US" altLang="zh-CN" dirty="0">
                <a:solidFill>
                  <a:srgbClr val="CC0066"/>
                </a:solidFill>
              </a:rPr>
              <a:t>i</a:t>
            </a:r>
            <a:r>
              <a:rPr lang="zh-CN" altLang="en-US" dirty="0" smtClean="0">
                <a:solidFill>
                  <a:srgbClr val="CC0066"/>
                </a:solidFill>
              </a:rPr>
              <a:t>是素数</a:t>
            </a:r>
            <a:r>
              <a:rPr lang="zh-CN" altLang="en-US" dirty="0" smtClean="0"/>
              <a:t>)  </a:t>
            </a:r>
            <a:r>
              <a:rPr lang="en-US" altLang="zh-CN" dirty="0" smtClean="0"/>
              <a:t>printf( "%d", i);</a:t>
            </a:r>
            <a:endParaRPr lang="zh-CN" altLang="zh-CN" dirty="0" smtClean="0"/>
          </a:p>
        </p:txBody>
      </p:sp>
      <p:sp>
        <p:nvSpPr>
          <p:cNvPr id="52228" name="Rectangle 8"/>
          <p:cNvSpPr>
            <a:spLocks noChangeArrowheads="1"/>
          </p:cNvSpPr>
          <p:nvPr/>
        </p:nvSpPr>
        <p:spPr bwMode="auto">
          <a:xfrm>
            <a:off x="304800" y="2717800"/>
            <a:ext cx="3690938" cy="2366963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k = </a:t>
            </a:r>
            <a:r>
              <a:rPr lang="en-US" altLang="zh-CN" sz="2400" b="1" dirty="0" err="1" smtClean="0"/>
              <a:t>sqrt</a:t>
            </a:r>
            <a:r>
              <a:rPr lang="en-US" altLang="zh-CN" sz="2400" b="1" dirty="0" smtClean="0"/>
              <a:t>(</a:t>
            </a:r>
            <a:r>
              <a:rPr lang="en-US" altLang="zh-CN" sz="2400" b="1" dirty="0" err="1" smtClean="0"/>
              <a:t>i</a:t>
            </a:r>
            <a:r>
              <a:rPr lang="en-US" altLang="zh-CN" sz="2400" b="1" dirty="0" smtClean="0"/>
              <a:t>);</a:t>
            </a:r>
            <a:endParaRPr lang="en-US" altLang="zh-CN" sz="2400" b="1" dirty="0"/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for(j= 2; j&lt;= k; </a:t>
            </a:r>
            <a:r>
              <a:rPr lang="en-US" altLang="zh-CN" sz="2400" b="1" dirty="0" err="1"/>
              <a:t>j++</a:t>
            </a:r>
            <a:r>
              <a:rPr lang="en-US" altLang="zh-CN" sz="2400" b="1" dirty="0"/>
              <a:t>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if(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% j== 0) break;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if(j &gt; k)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("yes\n")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else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("no\n”);</a:t>
            </a:r>
          </a:p>
        </p:txBody>
      </p:sp>
      <p:sp>
        <p:nvSpPr>
          <p:cNvPr id="52229" name="Rectangle 10"/>
          <p:cNvSpPr>
            <a:spLocks noChangeArrowheads="1"/>
          </p:cNvSpPr>
          <p:nvPr/>
        </p:nvSpPr>
        <p:spPr bwMode="auto">
          <a:xfrm>
            <a:off x="4267200" y="3200400"/>
            <a:ext cx="44196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for (i = 2; i &lt;= 100; i++){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   k=sqrt(i);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   for(j= 2; j &lt;= k; j++)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        if(i % j== 0)  break;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   if(j&gt; k) printf("%d", i)</a:t>
            </a:r>
          </a:p>
          <a:p>
            <a:pPr algn="just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/>
              <a:t> }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28" grpId="0" animBg="1"/>
      <p:bldP spid="52229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620713"/>
            <a:ext cx="7696200" cy="6237287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#include &lt;math.h&gt; 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int main()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{   int count, i, 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, </a:t>
            </a:r>
            <a:r>
              <a:rPr lang="en-US" altLang="zh-CN" sz="2400" dirty="0"/>
              <a:t>k</a:t>
            </a:r>
            <a:r>
              <a:rPr lang="zh-CN" altLang="zh-CN" sz="2400" dirty="0" smtClean="0"/>
              <a:t>; 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count = 0;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for (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 = 2; 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 &lt;= 100; 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++){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</a:t>
            </a:r>
            <a:r>
              <a:rPr lang="en-US" altLang="zh-CN" sz="2400" dirty="0" smtClean="0"/>
              <a:t>k</a:t>
            </a:r>
            <a:r>
              <a:rPr lang="zh-CN" altLang="zh-CN" sz="2400" dirty="0" smtClean="0"/>
              <a:t> = sqrt(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for (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 = 2; 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 &lt;= </a:t>
            </a:r>
            <a:r>
              <a:rPr lang="en-US" altLang="zh-CN" sz="2400" dirty="0" smtClean="0"/>
              <a:t>k</a:t>
            </a:r>
            <a:r>
              <a:rPr lang="zh-CN" altLang="zh-CN" sz="2400" dirty="0" smtClean="0"/>
              <a:t>; </a:t>
            </a:r>
            <a:r>
              <a:rPr lang="en-US" altLang="zh-CN" sz="2400" dirty="0"/>
              <a:t>j</a:t>
            </a:r>
            <a:r>
              <a:rPr lang="zh-CN" altLang="zh-CN" sz="2400" dirty="0" smtClean="0"/>
              <a:t>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    if(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 % 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 == 0)  break;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if(</a:t>
            </a:r>
            <a:r>
              <a:rPr lang="en-US" altLang="zh-CN" sz="2400" dirty="0" smtClean="0"/>
              <a:t>j</a:t>
            </a:r>
            <a:r>
              <a:rPr lang="zh-CN" altLang="zh-CN" sz="2400" dirty="0" smtClean="0"/>
              <a:t> &gt; </a:t>
            </a:r>
            <a:r>
              <a:rPr lang="en-US" altLang="zh-CN" sz="2400" dirty="0" smtClean="0"/>
              <a:t>k</a:t>
            </a:r>
            <a:r>
              <a:rPr lang="zh-CN" altLang="zh-CN" sz="2400" dirty="0" smtClean="0"/>
              <a:t>){   		/* 如果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是素数 */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    printf("%6d", </a:t>
            </a:r>
            <a:r>
              <a:rPr lang="en-US" altLang="zh-CN" sz="2400" dirty="0" smtClean="0"/>
              <a:t>i</a:t>
            </a:r>
            <a:r>
              <a:rPr lang="zh-CN" altLang="zh-CN" sz="2400" dirty="0" smtClean="0"/>
              <a:t>);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    count++;   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     if (count %10 == 0)  printf("\n");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	</a:t>
            </a:r>
            <a:r>
              <a:rPr lang="en-US" altLang="zh-CN" sz="2400" dirty="0" smtClean="0"/>
              <a:t>  </a:t>
            </a:r>
            <a:r>
              <a:rPr lang="zh-CN" altLang="zh-CN" sz="2400" dirty="0" smtClean="0"/>
              <a:t>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zh-CN" sz="2400" dirty="0" smtClean="0"/>
              <a:t>}</a:t>
            </a:r>
          </a:p>
        </p:txBody>
      </p:sp>
      <p:sp>
        <p:nvSpPr>
          <p:cNvPr id="107523" name="TextBox 1"/>
          <p:cNvSpPr txBox="1">
            <a:spLocks noChangeArrowheads="1"/>
          </p:cNvSpPr>
          <p:nvPr/>
        </p:nvSpPr>
        <p:spPr bwMode="auto">
          <a:xfrm>
            <a:off x="5219700" y="692150"/>
            <a:ext cx="3744913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>
                <a:solidFill>
                  <a:srgbClr val="FF0000"/>
                </a:solidFill>
              </a:rPr>
              <a:t>思考：求 </a:t>
            </a:r>
            <a:r>
              <a:rPr lang="en-US" altLang="zh-CN" sz="3200" b="1">
                <a:solidFill>
                  <a:srgbClr val="FF0000"/>
                </a:solidFill>
              </a:rPr>
              <a:t>m</a:t>
            </a:r>
            <a:r>
              <a:rPr lang="zh-CN" altLang="en-US" sz="3200" b="1">
                <a:solidFill>
                  <a:srgbClr val="FF0000"/>
                </a:solidFill>
              </a:rPr>
              <a:t>和 </a:t>
            </a:r>
            <a:r>
              <a:rPr lang="en-US" altLang="zh-CN" sz="3200" b="1">
                <a:solidFill>
                  <a:srgbClr val="FF0000"/>
                </a:solidFill>
              </a:rPr>
              <a:t>n</a:t>
            </a:r>
            <a:r>
              <a:rPr lang="zh-CN" altLang="en-US" sz="3200" b="1">
                <a:solidFill>
                  <a:srgbClr val="FF0000"/>
                </a:solidFill>
              </a:rPr>
              <a:t>之间的素数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62000"/>
            <a:ext cx="8229600" cy="822325"/>
          </a:xfrm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穷举法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85925"/>
            <a:ext cx="8355012" cy="390331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cs typeface="Times New Roman" pitchFamily="18" charset="0"/>
              </a:rPr>
              <a:t> </a:t>
            </a:r>
            <a:r>
              <a:rPr lang="en-US" altLang="zh-CN" dirty="0" smtClean="0">
                <a:cs typeface="Times New Roman" pitchFamily="18" charset="0"/>
              </a:rPr>
              <a:t>• </a:t>
            </a:r>
            <a:r>
              <a:rPr lang="zh-CN" altLang="en-US" dirty="0" smtClean="0"/>
              <a:t>穷举法的基本思想是不重复、不遗漏地穷举所有可能情况，从中寻找满足条件的结果。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cs typeface="Times New Roman" pitchFamily="18" charset="0"/>
              </a:rPr>
              <a:t> </a:t>
            </a:r>
            <a:r>
              <a:rPr lang="en-US" altLang="zh-CN" dirty="0" smtClean="0">
                <a:cs typeface="Times New Roman" pitchFamily="18" charset="0"/>
              </a:rPr>
              <a:t>• </a:t>
            </a:r>
            <a:r>
              <a:rPr lang="zh-CN" altLang="en-US" dirty="0" smtClean="0"/>
              <a:t>穷举法充分利用了计算机处理的高速特性，避免复杂的逻辑推理过程，使问题简单化。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cs typeface="Times New Roman" pitchFamily="18" charset="0"/>
              </a:rPr>
              <a:t> </a:t>
            </a:r>
            <a:r>
              <a:rPr lang="en-US" altLang="zh-CN" dirty="0" smtClean="0">
                <a:cs typeface="Times New Roman" pitchFamily="18" charset="0"/>
              </a:rPr>
              <a:t>• </a:t>
            </a:r>
            <a:r>
              <a:rPr lang="zh-CN" altLang="en-US" dirty="0" smtClean="0"/>
              <a:t>使用穷举法的关键是要确定正确的</a:t>
            </a:r>
            <a:r>
              <a:rPr lang="zh-CN" altLang="en-US" b="0" dirty="0" smtClean="0">
                <a:solidFill>
                  <a:srgbClr val="3333FF"/>
                </a:solidFill>
              </a:rPr>
              <a:t>穷举的范围和</a:t>
            </a:r>
          </a:p>
          <a:p>
            <a:pPr>
              <a:lnSpc>
                <a:spcPct val="140000"/>
              </a:lnSpc>
              <a:buFont typeface="Wingdings" pitchFamily="2" charset="2"/>
              <a:buNone/>
              <a:defRPr/>
            </a:pPr>
            <a:r>
              <a:rPr lang="zh-CN" altLang="en-US" b="0" dirty="0" smtClean="0">
                <a:solidFill>
                  <a:srgbClr val="3333FF"/>
                </a:solidFill>
              </a:rPr>
              <a:t>    判断式</a:t>
            </a:r>
            <a:r>
              <a:rPr lang="zh-CN" altLang="en-US" dirty="0" smtClean="0">
                <a:solidFill>
                  <a:srgbClr val="3333FF"/>
                </a:solidFill>
              </a:rPr>
              <a:t>。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908050"/>
            <a:ext cx="7848600" cy="685800"/>
          </a:xfrm>
        </p:spPr>
        <p:txBody>
          <a:bodyPr/>
          <a:lstStyle/>
          <a:p>
            <a:pPr>
              <a:defRPr/>
            </a:pPr>
            <a:r>
              <a:rPr lang="en-US" altLang="en-US" sz="4000" dirty="0" smtClean="0">
                <a:solidFill>
                  <a:srgbClr val="3333FF"/>
                </a:solidFill>
              </a:rPr>
              <a:t>“</a:t>
            </a:r>
            <a:r>
              <a:rPr lang="en-US" altLang="en-US" sz="4000" dirty="0" smtClean="0">
                <a:solidFill>
                  <a:srgbClr val="3333FF"/>
                </a:solidFill>
                <a:latin typeface="黑体" pitchFamily="49" charset="-122"/>
              </a:rPr>
              <a:t>百钱百鸡</a:t>
            </a:r>
            <a:r>
              <a:rPr lang="en-US" altLang="en-US" sz="4000" dirty="0" smtClean="0">
                <a:solidFill>
                  <a:srgbClr val="3333FF"/>
                </a:solidFill>
              </a:rPr>
              <a:t>”</a:t>
            </a:r>
            <a:r>
              <a:rPr lang="en-US" altLang="en-US" sz="4000" dirty="0" smtClean="0">
                <a:solidFill>
                  <a:srgbClr val="3333FF"/>
                </a:solidFill>
                <a:latin typeface="黑体" pitchFamily="49" charset="-122"/>
              </a:rPr>
              <a:t>问题  </a:t>
            </a:r>
            <a:r>
              <a:rPr lang="zh-CN" altLang="en-US" sz="4000" dirty="0" smtClean="0">
                <a:solidFill>
                  <a:srgbClr val="3333FF"/>
                </a:solidFill>
                <a:latin typeface="黑体" pitchFamily="49" charset="-122"/>
              </a:rPr>
              <a:t>例</a:t>
            </a:r>
            <a:r>
              <a:rPr lang="en-US" altLang="en-US" sz="4000" dirty="0" smtClean="0">
                <a:solidFill>
                  <a:srgbClr val="3333FF"/>
                </a:solidFill>
                <a:latin typeface="黑体" pitchFamily="49" charset="-122"/>
              </a:rPr>
              <a:t>3-28</a:t>
            </a:r>
            <a:endParaRPr lang="zh-CN" altLang="en-US" sz="4000" dirty="0" smtClean="0">
              <a:solidFill>
                <a:srgbClr val="3333FF"/>
              </a:solidFill>
              <a:latin typeface="黑体" pitchFamily="49" charset="-122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2488" y="1916113"/>
            <a:ext cx="8291512" cy="4177183"/>
          </a:xfrm>
        </p:spPr>
        <p:txBody>
          <a:bodyPr/>
          <a:lstStyle/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我国古代数学家张丘建在</a:t>
            </a:r>
            <a:r>
              <a:rPr lang="en-US" altLang="zh-CN" dirty="0" smtClean="0"/>
              <a:t>《</a:t>
            </a:r>
            <a:r>
              <a:rPr lang="zh-CN" altLang="en-US" dirty="0" smtClean="0"/>
              <a:t>算经</a:t>
            </a:r>
            <a:r>
              <a:rPr lang="en-US" altLang="zh-CN" dirty="0" smtClean="0"/>
              <a:t>》</a:t>
            </a:r>
            <a:r>
              <a:rPr lang="zh-CN" altLang="en-US" dirty="0" smtClean="0"/>
              <a:t>中出了一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道题 ：</a:t>
            </a:r>
            <a:endParaRPr lang="en-US" altLang="zh-CN" dirty="0" smtClean="0"/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“鸡翁一，值钱五；鸡母一，值钱三；鸡雏三，值钱一。百钱买百鸡，问鸡翁、母、雏各几何？”。</a:t>
            </a:r>
            <a:endParaRPr lang="en-US" altLang="zh-CN" dirty="0" smtClean="0"/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条件：</a:t>
            </a:r>
            <a:endParaRPr lang="en-US" altLang="zh-CN" dirty="0" smtClean="0"/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）买整数个</a:t>
            </a:r>
            <a:endParaRPr lang="en-US" altLang="zh-CN" dirty="0" smtClean="0"/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）总数为</a:t>
            </a:r>
            <a:r>
              <a:rPr lang="zh-CN" altLang="en-US" dirty="0"/>
              <a:t>一百</a:t>
            </a:r>
            <a:r>
              <a:rPr lang="zh-CN" altLang="en-US" dirty="0" smtClean="0"/>
              <a:t>只鸡</a:t>
            </a:r>
            <a:endParaRPr lang="en-US" altLang="zh-CN" dirty="0" smtClean="0"/>
          </a:p>
          <a:p>
            <a:pPr>
              <a:lnSpc>
                <a:spcPct val="105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）总钱数为</a:t>
            </a:r>
            <a:r>
              <a:rPr lang="en-US" altLang="zh-CN" dirty="0" smtClean="0"/>
              <a:t>100</a:t>
            </a:r>
            <a:endParaRPr lang="zh-CN" altLang="en-US" dirty="0" smtClean="0"/>
          </a:p>
          <a:p>
            <a:pPr>
              <a:buFont typeface="Wingdings" pitchFamily="2" charset="2"/>
              <a:buNone/>
              <a:defRPr/>
            </a:pPr>
            <a:endParaRPr lang="zh-CN" altLang="en-US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008" y="548680"/>
            <a:ext cx="8964488" cy="61658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int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int x,y,z;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for(x=0;x&lt;20;x++)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	for(y=0;y&lt;33;y++)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      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	   z=100-x-y;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           if(5*x+3*</a:t>
            </a:r>
            <a:r>
              <a:rPr lang="en-US" altLang="zh-CN" sz="2600" dirty="0" err="1" smtClean="0"/>
              <a:t>y+z</a:t>
            </a:r>
            <a:r>
              <a:rPr lang="en-US" altLang="zh-CN" sz="2600" dirty="0" smtClean="0"/>
              <a:t>/3==100 &amp;&amp; z%3==0)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/>
              <a:t> </a:t>
            </a:r>
            <a:r>
              <a:rPr lang="en-US" altLang="zh-CN" sz="2600" dirty="0" smtClean="0"/>
              <a:t>        	</a:t>
            </a:r>
            <a:r>
              <a:rPr lang="en-US" altLang="zh-CN" sz="2600" dirty="0"/>
              <a:t> </a:t>
            </a:r>
            <a:r>
              <a:rPr lang="en-US" altLang="zh-CN" sz="2600" dirty="0" smtClean="0"/>
              <a:t>    </a:t>
            </a:r>
            <a:r>
              <a:rPr lang="en-US" altLang="zh-CN" sz="2600" dirty="0" err="1" smtClean="0"/>
              <a:t>printf</a:t>
            </a:r>
            <a:r>
              <a:rPr lang="en-US" altLang="zh-CN" sz="2600" dirty="0" smtClean="0"/>
              <a:t>("cock=%d,hen=%d,chicken=%d\n",x,y,z);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	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600" dirty="0" smtClean="0"/>
              <a:t>}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153400" cy="5486400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运行结果：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dirty="0" smtClean="0"/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cock=0,hen=25,chicken=75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cock=4,hen=18,chicken=78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cock=8,hen=11,chicken=81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cock=12,hen=4,chicken=84</a:t>
            </a:r>
            <a:endParaRPr lang="zh-CN" altLang="en-US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>
                <a:solidFill>
                  <a:srgbClr val="3333FF"/>
                </a:solidFill>
              </a:rPr>
              <a:t>最大公约数和最小公倍数</a:t>
            </a:r>
            <a:endParaRPr lang="en-US" altLang="zh-CN" dirty="0" smtClean="0">
              <a:solidFill>
                <a:srgbClr val="3333FF"/>
              </a:solidFill>
            </a:endParaRP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smtClean="0"/>
              <a:t>最小公倍数</a:t>
            </a:r>
          </a:p>
          <a:p>
            <a:pPr lvl="1">
              <a:defRPr/>
            </a:pPr>
            <a:r>
              <a:rPr lang="zh-CN" altLang="en-US" smtClean="0"/>
              <a:t>最小公倍数</a:t>
            </a:r>
            <a:r>
              <a:rPr lang="en-US" altLang="zh-CN" dirty="0" smtClean="0"/>
              <a:t>=</a:t>
            </a:r>
            <a:r>
              <a:rPr lang="zh-CN" altLang="en-US" smtClean="0"/>
              <a:t>两整数的乘积</a:t>
            </a:r>
            <a:r>
              <a:rPr lang="en-US" altLang="zh-CN" dirty="0" smtClean="0"/>
              <a:t>÷</a:t>
            </a:r>
            <a:r>
              <a:rPr lang="zh-CN" altLang="en-US" smtClean="0"/>
              <a:t>最大公约数</a:t>
            </a:r>
          </a:p>
          <a:p>
            <a:pPr>
              <a:defRPr/>
            </a:pPr>
            <a:r>
              <a:rPr lang="zh-CN" altLang="en-US" smtClean="0"/>
              <a:t>最大公约数</a:t>
            </a:r>
          </a:p>
          <a:p>
            <a:pPr lvl="1">
              <a:defRPr/>
            </a:pPr>
            <a:r>
              <a:rPr lang="zh-CN" altLang="en-US" smtClean="0"/>
              <a:t>辗转相除法</a:t>
            </a:r>
          </a:p>
          <a:p>
            <a:pPr lvl="1">
              <a:defRPr/>
            </a:pPr>
            <a:r>
              <a:rPr lang="zh-CN" altLang="en-US" smtClean="0"/>
              <a:t>相减法</a:t>
            </a:r>
          </a:p>
          <a:p>
            <a:pPr lvl="1">
              <a:defRPr/>
            </a:pPr>
            <a:r>
              <a:rPr lang="zh-CN" altLang="en-US" smtClean="0"/>
              <a:t>穷举法</a:t>
            </a:r>
          </a:p>
        </p:txBody>
      </p:sp>
    </p:spTree>
  </p:cSld>
  <p:clrMapOvr>
    <a:masterClrMapping/>
  </p:clrMapOvr>
  <p:transition spd="med">
    <p:random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476250"/>
            <a:ext cx="8229600" cy="1084263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辗转相除法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777360" cy="475210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有两整数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①  </a:t>
            </a:r>
            <a:r>
              <a:rPr lang="en-US" altLang="zh-CN" dirty="0" smtClean="0"/>
              <a:t>m%n</a:t>
            </a:r>
            <a:r>
              <a:rPr lang="zh-CN" altLang="en-US" dirty="0" smtClean="0"/>
              <a:t>得余数</a:t>
            </a:r>
            <a:r>
              <a:rPr lang="en-US" altLang="zh-CN" dirty="0" smtClean="0"/>
              <a:t>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②</a:t>
            </a:r>
            <a:r>
              <a:rPr lang="zh-CN" altLang="en-US" dirty="0" smtClean="0"/>
              <a:t> 若</a:t>
            </a:r>
            <a:r>
              <a:rPr lang="en-US" altLang="zh-CN" dirty="0" smtClean="0"/>
              <a:t>r=0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n</a:t>
            </a:r>
            <a:r>
              <a:rPr lang="zh-CN" altLang="en-US" dirty="0" smtClean="0"/>
              <a:t>即为两数的最大公约数</a:t>
            </a:r>
            <a:endParaRPr lang="en-US" altLang="zh-CN" dirty="0" smtClean="0"/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③ 若</a:t>
            </a:r>
            <a:r>
              <a:rPr lang="en-US" altLang="zh-CN" dirty="0" smtClean="0"/>
              <a:t>r≠0</a:t>
            </a:r>
            <a:r>
              <a:rPr lang="zh-CN" altLang="en-US" dirty="0" smtClean="0"/>
              <a:t>，则</a:t>
            </a:r>
            <a:r>
              <a:rPr lang="en-US" altLang="zh-CN" dirty="0" smtClean="0"/>
              <a:t>m=n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n=r</a:t>
            </a:r>
            <a:r>
              <a:rPr lang="zh-CN" altLang="en-US" dirty="0" smtClean="0"/>
              <a:t>，再回去执行①   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例如求</a:t>
            </a:r>
            <a:r>
              <a:rPr lang="en-US" altLang="zh-CN" dirty="0" smtClean="0"/>
              <a:t>27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15</a:t>
            </a:r>
            <a:r>
              <a:rPr lang="zh-CN" altLang="en-US" dirty="0" smtClean="0"/>
              <a:t>的最大公约数过程为：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</a:t>
            </a:r>
            <a:r>
              <a:rPr lang="en-US" altLang="zh-CN" dirty="0" smtClean="0"/>
              <a:t>27÷15  </a:t>
            </a:r>
            <a:r>
              <a:rPr lang="zh-CN" altLang="en-US" dirty="0" smtClean="0"/>
              <a:t>余  </a:t>
            </a:r>
            <a:r>
              <a:rPr lang="en-US" altLang="zh-CN" dirty="0" smtClean="0"/>
              <a:t>12    m=15  n=12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/>
              <a:t> </a:t>
            </a:r>
            <a:r>
              <a:rPr lang="en-US" altLang="zh-CN" dirty="0" smtClean="0"/>
              <a:t>  15÷12  </a:t>
            </a:r>
            <a:r>
              <a:rPr lang="zh-CN" altLang="en-US" dirty="0" smtClean="0"/>
              <a:t>余  </a:t>
            </a:r>
            <a:r>
              <a:rPr lang="en-US" altLang="zh-CN" dirty="0" smtClean="0"/>
              <a:t>3      m=12  n=3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12÷3  </a:t>
            </a:r>
            <a:r>
              <a:rPr lang="zh-CN" altLang="en-US" dirty="0" smtClean="0"/>
              <a:t>余  </a:t>
            </a:r>
            <a:r>
              <a:rPr lang="en-US" altLang="zh-CN" dirty="0" smtClean="0"/>
              <a:t>0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zh-CN" altLang="en-US" dirty="0" smtClean="0"/>
              <a:t>因此，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即为最大公约数</a:t>
            </a:r>
          </a:p>
        </p:txBody>
      </p:sp>
    </p:spTree>
  </p:cSld>
  <p:clrMapOvr>
    <a:masterClrMapping/>
  </p:clrMapOvr>
  <p:transition spd="med">
    <p:random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6381750"/>
          </a:xfrm>
        </p:spPr>
        <p:txBody>
          <a:bodyPr/>
          <a:lstStyle/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int main()  /* </a:t>
            </a:r>
            <a:r>
              <a:rPr lang="zh-CN" altLang="en-US" sz="2400" dirty="0" smtClean="0"/>
              <a:t>辗转相除法求最大公约数和最小公倍数 *</a:t>
            </a:r>
            <a:r>
              <a:rPr lang="en-US" altLang="zh-CN" sz="2400" dirty="0" smtClean="0"/>
              <a:t>/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int m, n, a, b, r;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printf("Input m,n: ");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scanf("%d%d", &amp;m, &amp;n);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while(m&lt;1 ||n&lt;1)</a:t>
            </a:r>
          </a:p>
          <a:p>
            <a:pPr marL="0" indent="0">
              <a:lnSpc>
                <a:spcPct val="80000"/>
              </a:lnSpc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  {</a:t>
            </a:r>
            <a:r>
              <a:rPr lang="en-US" altLang="zh-CN" sz="2400" dirty="0" err="1" smtClean="0"/>
              <a:t>printf</a:t>
            </a:r>
            <a:r>
              <a:rPr lang="en-US" altLang="zh-CN" sz="2400" dirty="0"/>
              <a:t>("Input again\n"); scanf("%d%d", &amp;m, &amp;n</a:t>
            </a:r>
            <a:r>
              <a:rPr lang="en-US" altLang="zh-CN" sz="2400" dirty="0" smtClean="0"/>
              <a:t>);}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a=m;   b=n;  r=m%n;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while(r!=0)  /* </a:t>
            </a:r>
            <a:r>
              <a:rPr lang="zh-CN" altLang="en-US" sz="2400" dirty="0" smtClean="0"/>
              <a:t>余数不为</a:t>
            </a:r>
            <a:r>
              <a:rPr lang="en-US" altLang="zh-CN" sz="2400" dirty="0" smtClean="0"/>
              <a:t>0</a:t>
            </a:r>
            <a:r>
              <a:rPr lang="zh-CN" altLang="en-US" sz="2400" dirty="0" smtClean="0"/>
              <a:t>，继续相除，直到余数为</a:t>
            </a:r>
            <a:r>
              <a:rPr lang="en-US" altLang="zh-CN" sz="2400" dirty="0" smtClean="0"/>
              <a:t>0 */ 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{ 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		 m=n;  n=r;r=m%n;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	}   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	printf("%d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的最大公约数</a:t>
            </a:r>
            <a:r>
              <a:rPr lang="en-US" altLang="zh-CN" sz="2400" dirty="0" smtClean="0"/>
              <a:t>:%d\n",a,b,n);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	printf("%d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的最小公倍数</a:t>
            </a:r>
            <a:r>
              <a:rPr lang="en-US" altLang="zh-CN" sz="2400" dirty="0" smtClean="0"/>
              <a:t>:%d\n",a,b,a*b/n);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 marL="0" indent="0">
              <a:lnSpc>
                <a:spcPct val="8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</p:spTree>
  </p:cSld>
  <p:clrMapOvr>
    <a:masterClrMapping/>
  </p:clrMapOvr>
  <p:transition spd="med">
    <p:random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8229600" cy="1371600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相减法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700213"/>
            <a:ext cx="8280275" cy="496914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有两整数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① 若</a:t>
            </a:r>
            <a:r>
              <a:rPr lang="en-US" altLang="zh-CN" sz="2400" dirty="0" smtClean="0"/>
              <a:t>m&gt;n</a:t>
            </a:r>
            <a:r>
              <a:rPr lang="zh-CN" altLang="en-US" sz="2400" dirty="0" smtClean="0"/>
              <a:t>，则 </a:t>
            </a:r>
            <a:r>
              <a:rPr lang="en-US" altLang="zh-CN" sz="2400" dirty="0" smtClean="0"/>
              <a:t>m=m-n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② </a:t>
            </a:r>
            <a:r>
              <a:rPr lang="zh-CN" altLang="en-US" sz="2400" dirty="0" smtClean="0"/>
              <a:t>若</a:t>
            </a:r>
            <a:r>
              <a:rPr lang="en-US" altLang="zh-CN" sz="2400" dirty="0" smtClean="0"/>
              <a:t>m&lt;n</a:t>
            </a:r>
            <a:r>
              <a:rPr lang="zh-CN" altLang="en-US" sz="2400" dirty="0" smtClean="0"/>
              <a:t>，则 </a:t>
            </a:r>
            <a:r>
              <a:rPr lang="en-US" altLang="zh-CN" sz="2400" dirty="0" smtClean="0"/>
              <a:t>n=n-m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</a:t>
            </a:r>
            <a:r>
              <a:rPr lang="en-US" altLang="zh-CN" sz="2400" dirty="0" smtClean="0"/>
              <a:t>③ </a:t>
            </a:r>
            <a:r>
              <a:rPr lang="zh-CN" altLang="en-US" sz="2400" dirty="0" smtClean="0"/>
              <a:t>若</a:t>
            </a:r>
            <a:r>
              <a:rPr lang="en-US" altLang="zh-CN" sz="2400" dirty="0" smtClean="0"/>
              <a:t>m≠n</a:t>
            </a:r>
            <a:r>
              <a:rPr lang="zh-CN" altLang="en-US" sz="2400" dirty="0" smtClean="0"/>
              <a:t>，则再回去执行①</a:t>
            </a:r>
            <a:endParaRPr lang="en-US" altLang="zh-CN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④ 若</a:t>
            </a:r>
            <a:r>
              <a:rPr lang="en-US" altLang="zh-CN" sz="2400" dirty="0" smtClean="0"/>
              <a:t>m=n</a:t>
            </a:r>
            <a:r>
              <a:rPr lang="zh-CN" altLang="en-US" sz="2400" dirty="0" smtClean="0"/>
              <a:t>，则</a:t>
            </a:r>
            <a:r>
              <a:rPr lang="en-US" altLang="zh-CN" sz="2400" dirty="0" smtClean="0"/>
              <a:t>m</a:t>
            </a:r>
            <a:r>
              <a:rPr lang="zh-CN" altLang="en-US" sz="2400" dirty="0" smtClean="0"/>
              <a:t>（或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）即为两数的最大公约数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   例如求</a:t>
            </a:r>
            <a:r>
              <a:rPr lang="en-US" altLang="zh-CN" sz="2400" dirty="0" smtClean="0"/>
              <a:t>27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15</a:t>
            </a:r>
            <a:r>
              <a:rPr lang="zh-CN" altLang="en-US" sz="2400" dirty="0" smtClean="0"/>
              <a:t>的最大公约数过程为：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      </a:t>
            </a:r>
            <a:r>
              <a:rPr lang="en-US" altLang="zh-CN" sz="2400" dirty="0" smtClean="0"/>
              <a:t>27</a:t>
            </a:r>
            <a:r>
              <a:rPr lang="zh-CN" altLang="en-US" sz="2400" dirty="0" smtClean="0"/>
              <a:t>－</a:t>
            </a:r>
            <a:r>
              <a:rPr lang="en-US" altLang="zh-CN" sz="2400" dirty="0" smtClean="0"/>
              <a:t>15 </a:t>
            </a:r>
            <a:r>
              <a:rPr lang="zh-CN" altLang="en-US" sz="2400" dirty="0" smtClean="0"/>
              <a:t>＝ </a:t>
            </a:r>
            <a:r>
              <a:rPr lang="en-US" altLang="zh-CN" sz="2400" dirty="0" smtClean="0"/>
              <a:t>12  </a:t>
            </a:r>
            <a:r>
              <a:rPr lang="en-US" altLang="zh-CN" sz="2400" dirty="0"/>
              <a:t>  m=12  </a:t>
            </a:r>
            <a:r>
              <a:rPr lang="en-US" altLang="zh-CN" sz="2400" dirty="0" smtClean="0"/>
              <a:t>n=15   ( </a:t>
            </a:r>
            <a:r>
              <a:rPr lang="en-US" altLang="zh-CN" sz="2400" dirty="0"/>
              <a:t>15&gt;12 </a:t>
            </a:r>
            <a:r>
              <a:rPr lang="en-US" altLang="zh-CN" sz="2400" dirty="0" smtClean="0"/>
              <a:t>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15</a:t>
            </a:r>
            <a:r>
              <a:rPr lang="zh-CN" altLang="en-US" sz="2400" dirty="0" smtClean="0"/>
              <a:t>－</a:t>
            </a:r>
            <a:r>
              <a:rPr lang="en-US" altLang="zh-CN" sz="2400" dirty="0" smtClean="0"/>
              <a:t>12</a:t>
            </a:r>
            <a:r>
              <a:rPr lang="zh-CN" altLang="en-US" sz="2400" dirty="0" smtClean="0"/>
              <a:t>＝ </a:t>
            </a:r>
            <a:r>
              <a:rPr lang="en-US" altLang="zh-CN" sz="2400" dirty="0" smtClean="0"/>
              <a:t>3 </a:t>
            </a:r>
            <a:r>
              <a:rPr lang="en-US" altLang="zh-CN" sz="2400" dirty="0"/>
              <a:t>      m=12  n=3     ( 12&gt;3 ) </a:t>
            </a:r>
            <a:endParaRPr lang="en-US" altLang="zh-CN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12</a:t>
            </a:r>
            <a:r>
              <a:rPr lang="zh-CN" altLang="en-US" sz="2400" dirty="0" smtClean="0"/>
              <a:t>－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9        </a:t>
            </a:r>
            <a:r>
              <a:rPr lang="en-US" altLang="zh-CN" sz="2400" dirty="0"/>
              <a:t>  m=9    n=3 </a:t>
            </a:r>
            <a:r>
              <a:rPr lang="en-US" altLang="zh-CN" sz="2400" dirty="0" smtClean="0"/>
              <a:t>    ( </a:t>
            </a:r>
            <a:r>
              <a:rPr lang="en-US" altLang="zh-CN" sz="2400" dirty="0"/>
              <a:t>9&gt;3 ) </a:t>
            </a:r>
            <a:endParaRPr lang="en-US" altLang="zh-CN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  9</a:t>
            </a:r>
            <a:r>
              <a:rPr lang="zh-CN" altLang="en-US" sz="2400" dirty="0" smtClean="0"/>
              <a:t>－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6       </a:t>
            </a:r>
            <a:r>
              <a:rPr lang="en-US" altLang="zh-CN" sz="2400" dirty="0"/>
              <a:t>     m=6    n=3   </a:t>
            </a:r>
            <a:r>
              <a:rPr lang="en-US" altLang="zh-CN" sz="2400" dirty="0" smtClean="0"/>
              <a:t>  </a:t>
            </a:r>
            <a:r>
              <a:rPr lang="en-US" altLang="zh-CN" sz="2400" dirty="0"/>
              <a:t>( 6&gt;3 ) </a:t>
            </a:r>
            <a:r>
              <a:rPr lang="en-US" altLang="zh-CN" sz="2400" dirty="0" smtClean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6</a:t>
            </a:r>
            <a:r>
              <a:rPr lang="zh-CN" altLang="en-US" sz="2400" dirty="0" smtClean="0"/>
              <a:t>－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3 </a:t>
            </a:r>
            <a:r>
              <a:rPr lang="en-US" altLang="zh-CN" sz="2400" dirty="0"/>
              <a:t>           m=3    n=3   </a:t>
            </a:r>
            <a:r>
              <a:rPr lang="en-US" altLang="zh-CN" sz="2400" dirty="0" smtClean="0"/>
              <a:t>  </a:t>
            </a:r>
            <a:r>
              <a:rPr lang="en-US" altLang="zh-CN" sz="2400" dirty="0"/>
              <a:t>( 3==3 ) </a:t>
            </a:r>
            <a:endParaRPr lang="en-US" altLang="zh-CN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</a:t>
            </a:r>
            <a:r>
              <a:rPr lang="zh-CN" altLang="en-US" sz="2400" dirty="0" smtClean="0"/>
              <a:t>因此，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即为最大公约数</a:t>
            </a:r>
          </a:p>
        </p:txBody>
      </p:sp>
    </p:spTree>
  </p:cSld>
  <p:clrMapOvr>
    <a:masterClrMapping/>
  </p:clrMapOvr>
  <p:transition spd="med">
    <p:random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2656"/>
            <a:ext cx="8229600" cy="638175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  /* </a:t>
            </a:r>
            <a:r>
              <a:rPr lang="zh-CN" altLang="en-US" sz="2400" dirty="0" smtClean="0"/>
              <a:t>相减法求最大公约数和最小公倍数 *</a:t>
            </a:r>
            <a:r>
              <a:rPr lang="en-US" altLang="zh-CN" sz="2400" dirty="0" smtClean="0"/>
              <a:t>/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int m, n, a, b;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printf("Input m,n: 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scanf("%d%d", &amp;m, &amp;n);</a:t>
            </a:r>
          </a:p>
          <a:p>
            <a:pPr>
              <a:lnSpc>
                <a:spcPct val="90000"/>
              </a:lnSpc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    while(m&lt;1 </a:t>
            </a:r>
            <a:r>
              <a:rPr lang="en-US" altLang="zh-CN" sz="2400" dirty="0"/>
              <a:t>||</a:t>
            </a:r>
            <a:r>
              <a:rPr lang="en-US" altLang="zh-CN" sz="2400" dirty="0" smtClean="0"/>
              <a:t>n&lt;1)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</a:t>
            </a:r>
            <a:r>
              <a:rPr lang="en-US" altLang="zh-CN" sz="2400" dirty="0" smtClean="0"/>
              <a:t>   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   {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("Input again\n"); scanf("%d%d", &amp;m, &amp;n);}</a:t>
            </a:r>
            <a:endParaRPr lang="en-US" altLang="zh-CN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a=m;   b=n;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while ( m!=n)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if (m&gt;n)  m=m-n;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else  n=n-m;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</a:t>
            </a: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的最大公约数</a:t>
            </a:r>
            <a:r>
              <a:rPr lang="en-US" altLang="zh-CN" sz="2400" dirty="0" smtClean="0"/>
              <a:t>:%d\n",a,b,m);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</a:t>
            </a:r>
            <a:r>
              <a:rPr lang="en-US" altLang="zh-CN" sz="2400" dirty="0" err="1" smtClean="0"/>
              <a:t>printf</a:t>
            </a:r>
            <a:r>
              <a:rPr lang="en-US" altLang="zh-CN" sz="2400" dirty="0" smtClean="0"/>
              <a:t>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的最小公倍数</a:t>
            </a:r>
            <a:r>
              <a:rPr lang="en-US" altLang="zh-CN" sz="2400" dirty="0" smtClean="0"/>
              <a:t>:%d\n",a,b,a*b/m);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</p:spTree>
  </p:cSld>
  <p:clrMapOvr>
    <a:masterClrMapping/>
  </p:clrMapOvr>
  <p:transition spd="med">
    <p:random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549275"/>
            <a:ext cx="8229600" cy="1011238"/>
          </a:xfrm>
        </p:spPr>
        <p:txBody>
          <a:bodyPr/>
          <a:lstStyle/>
          <a:p>
            <a:pPr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穷举法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700213"/>
            <a:ext cx="8686800" cy="5445125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有两整数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①  </a:t>
            </a:r>
            <a:r>
              <a:rPr lang="en-US" altLang="zh-CN" dirty="0" smtClean="0"/>
              <a:t>a</a:t>
            </a:r>
            <a:r>
              <a:rPr lang="zh-CN" altLang="en-US" dirty="0" smtClean="0"/>
              <a:t>表示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中较小的数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 ②</a:t>
            </a:r>
            <a:r>
              <a:rPr lang="zh-CN" altLang="en-US" dirty="0" smtClean="0"/>
              <a:t> 从</a:t>
            </a:r>
            <a:r>
              <a:rPr lang="en-US" altLang="zh-CN" dirty="0" smtClean="0"/>
              <a:t>a</a:t>
            </a:r>
            <a:r>
              <a:rPr lang="zh-CN" altLang="en-US" dirty="0" smtClean="0"/>
              <a:t>开始按照步长为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递减看</a:t>
            </a:r>
            <a:r>
              <a:rPr lang="en-US" altLang="zh-CN" dirty="0" smtClean="0"/>
              <a:t>a</a:t>
            </a:r>
            <a:r>
              <a:rPr lang="zh-CN" altLang="en-US" dirty="0" smtClean="0"/>
              <a:t>能否同时被</a:t>
            </a:r>
            <a:r>
              <a:rPr lang="en-US" altLang="zh-CN" dirty="0" smtClean="0"/>
              <a:t>m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整除，若能整除，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即为两数的最大公约数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例如求</a:t>
            </a:r>
            <a:r>
              <a:rPr lang="en-US" altLang="zh-CN" dirty="0" smtClean="0"/>
              <a:t>27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15</a:t>
            </a:r>
            <a:r>
              <a:rPr lang="zh-CN" altLang="en-US" dirty="0" smtClean="0"/>
              <a:t>的最大公约数过程为：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较小数</a:t>
            </a:r>
            <a:r>
              <a:rPr lang="en-US" altLang="zh-CN" dirty="0" smtClean="0"/>
              <a:t>a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15</a:t>
            </a:r>
            <a:r>
              <a:rPr lang="zh-CN" altLang="en-US" dirty="0" smtClean="0"/>
              <a:t>，从</a:t>
            </a:r>
            <a:r>
              <a:rPr lang="en-US" altLang="zh-CN" dirty="0" smtClean="0"/>
              <a:t>15</a:t>
            </a:r>
            <a:r>
              <a:rPr lang="zh-CN" altLang="en-US" dirty="0" smtClean="0"/>
              <a:t>开始按步长</a:t>
            </a:r>
            <a:r>
              <a:rPr lang="en-US" altLang="zh-CN" dirty="0" smtClean="0"/>
              <a:t>1</a:t>
            </a:r>
            <a:r>
              <a:rPr lang="zh-CN" altLang="en-US" dirty="0" smtClean="0"/>
              <a:t>递减，可得</a:t>
            </a:r>
            <a:r>
              <a:rPr lang="en-US" altLang="zh-CN" dirty="0" smtClean="0"/>
              <a:t>3</a:t>
            </a:r>
            <a:r>
              <a:rPr lang="zh-CN" altLang="en-US" dirty="0" smtClean="0"/>
              <a:t>能同时被</a:t>
            </a:r>
            <a:r>
              <a:rPr lang="en-US" altLang="zh-CN" dirty="0" smtClean="0"/>
              <a:t>15</a:t>
            </a:r>
            <a:r>
              <a:rPr lang="zh-CN" altLang="en-US" dirty="0" smtClean="0"/>
              <a:t>和</a:t>
            </a:r>
            <a:r>
              <a:rPr lang="en-US" altLang="zh-CN" dirty="0" smtClean="0"/>
              <a:t>27</a:t>
            </a:r>
            <a:r>
              <a:rPr lang="zh-CN" altLang="en-US" dirty="0" smtClean="0"/>
              <a:t>整除。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zh-CN" dirty="0" smtClean="0"/>
              <a:t>  </a:t>
            </a:r>
            <a:r>
              <a:rPr lang="zh-CN" altLang="en-US" dirty="0" smtClean="0"/>
              <a:t>因此，</a:t>
            </a:r>
            <a:r>
              <a:rPr lang="en-US" altLang="zh-CN" dirty="0" smtClean="0"/>
              <a:t>3</a:t>
            </a:r>
            <a:r>
              <a:rPr lang="zh-CN" altLang="en-US" dirty="0" smtClean="0"/>
              <a:t>即为最大公约数</a:t>
            </a:r>
          </a:p>
        </p:txBody>
      </p:sp>
    </p:spTree>
  </p:cSld>
  <p:clrMapOvr>
    <a:masterClrMapping/>
  </p:clrMapOvr>
  <p:transition spd="med">
    <p:random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32656"/>
            <a:ext cx="8229600" cy="6308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  /* </a:t>
            </a:r>
            <a:r>
              <a:rPr lang="zh-CN" altLang="en-US" sz="2400" dirty="0" smtClean="0"/>
              <a:t>穷举法求最大公约数和最小公倍数 *</a:t>
            </a:r>
            <a:r>
              <a:rPr lang="en-US" altLang="zh-CN" sz="2400" dirty="0" smtClean="0"/>
              <a:t>/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int m, n, a;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printf("Input two integer numbers:\n");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scanf("%d%d", &amp;m, &amp;n);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 while(m&lt;1 ||n&lt;1)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/>
              <a:t>        {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("Input again\n"); scanf("%d%d", &amp;m, &amp;n</a:t>
            </a:r>
            <a:r>
              <a:rPr lang="en-US" altLang="zh-CN" sz="2400" dirty="0" smtClean="0"/>
              <a:t>);}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for (a=m&lt;n?m:n;a&gt;=1;a--)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{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if(m%a==0 &amp;&amp; n%a==0) break;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}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的最大公约数</a:t>
            </a:r>
            <a:r>
              <a:rPr lang="en-US" altLang="zh-CN" sz="2400" dirty="0" smtClean="0"/>
              <a:t>:%d\n",m,n,a);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printf("%d</a:t>
            </a:r>
            <a:r>
              <a:rPr lang="zh-CN" altLang="en-US" sz="2400" dirty="0" smtClean="0"/>
              <a:t>和</a:t>
            </a:r>
            <a:r>
              <a:rPr lang="en-US" altLang="zh-CN" sz="2400" dirty="0" smtClean="0"/>
              <a:t>%d</a:t>
            </a:r>
            <a:r>
              <a:rPr lang="zh-CN" altLang="en-US" sz="2400" dirty="0" smtClean="0"/>
              <a:t>的最小公倍数</a:t>
            </a:r>
            <a:r>
              <a:rPr lang="en-US" altLang="zh-CN" sz="2400" dirty="0" smtClean="0"/>
              <a:t>:%d\n",m,n,m*n/a);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</p:spTree>
  </p:cSld>
  <p:clrMapOvr>
    <a:masterClrMapping/>
  </p:clrMapOvr>
  <p:transition spd="med">
    <p:random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4BA74AE-FE87-460B-9F67-B0FCCDC1828C}" type="slidenum">
              <a:rPr lang="en-US" altLang="zh-CN" sz="2600">
                <a:solidFill>
                  <a:schemeClr val="bg1"/>
                </a:solidFill>
              </a:rPr>
              <a:pPr/>
              <a:t>101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3.4 </a:t>
            </a:r>
            <a:r>
              <a:rPr lang="zh-CN" altLang="en-US" dirty="0" smtClean="0"/>
              <a:t>常用算法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 </a:t>
            </a:r>
            <a:r>
              <a:rPr lang="zh-CN" altLang="en-US" dirty="0" smtClean="0"/>
              <a:t>递推法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关键是确定递推公式和初始条件 。</a:t>
            </a:r>
            <a:endParaRPr lang="en-US" altLang="zh-CN" dirty="0" smtClean="0"/>
          </a:p>
          <a:p>
            <a:pPr lvl="1">
              <a:defRPr/>
            </a:pPr>
            <a:r>
              <a:rPr lang="zh-CN" altLang="en-US" sz="2800" dirty="0"/>
              <a:t>顺</a:t>
            </a:r>
            <a:r>
              <a:rPr lang="zh-CN" altLang="en-US" sz="2800" dirty="0" smtClean="0"/>
              <a:t>推</a:t>
            </a:r>
            <a:r>
              <a:rPr lang="zh-CN" altLang="en-US" sz="2800" dirty="0"/>
              <a:t>法</a:t>
            </a:r>
            <a:r>
              <a:rPr lang="zh-CN" altLang="en-US" sz="2800" dirty="0" smtClean="0"/>
              <a:t> </a:t>
            </a:r>
            <a:endParaRPr lang="en-US" altLang="zh-CN" sz="2800" dirty="0" smtClean="0"/>
          </a:p>
          <a:p>
            <a:pPr lvl="1">
              <a:defRPr/>
            </a:pPr>
            <a:r>
              <a:rPr lang="zh-CN" altLang="en-US" sz="2800" dirty="0" smtClean="0"/>
              <a:t>倒推法  </a:t>
            </a:r>
            <a:endParaRPr lang="en-US" altLang="zh-CN" sz="2800" dirty="0" smtClean="0"/>
          </a:p>
          <a:p>
            <a:pPr>
              <a:defRPr/>
            </a:pPr>
            <a:r>
              <a:rPr lang="zh-CN" altLang="en-US" dirty="0" smtClean="0"/>
              <a:t>穷举法</a:t>
            </a:r>
            <a:endParaRPr lang="en-US" altLang="zh-CN" dirty="0" smtClean="0"/>
          </a:p>
          <a:p>
            <a:pPr>
              <a:defRPr/>
            </a:pPr>
            <a:r>
              <a:rPr lang="zh-CN" altLang="en-US" dirty="0" smtClean="0"/>
              <a:t>迭代法</a:t>
            </a:r>
            <a:r>
              <a:rPr lang="en-US" altLang="zh-CN" dirty="0" smtClean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036001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504" y="188640"/>
            <a:ext cx="8820150" cy="823913"/>
          </a:xfrm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sz="3200" dirty="0" smtClean="0">
                <a:solidFill>
                  <a:srgbClr val="3333FF"/>
                </a:solidFill>
              </a:rPr>
              <a:t>顺推例：求</a:t>
            </a:r>
            <a:r>
              <a:rPr lang="en-US" altLang="zh-CN" sz="3200" dirty="0" smtClean="0">
                <a:solidFill>
                  <a:srgbClr val="3333FF"/>
                </a:solidFill>
              </a:rPr>
              <a:t>Fibonacci</a:t>
            </a:r>
            <a:r>
              <a:rPr lang="zh-CN" altLang="en-US" sz="3200" dirty="0" smtClean="0">
                <a:solidFill>
                  <a:srgbClr val="3333FF"/>
                </a:solidFill>
              </a:rPr>
              <a:t>序列前十项：</a:t>
            </a:r>
            <a:r>
              <a:rPr lang="en-US" altLang="zh-CN" sz="3200" dirty="0" smtClean="0">
                <a:solidFill>
                  <a:srgbClr val="3333FF"/>
                </a:solidFill>
              </a:rPr>
              <a:t>1,</a:t>
            </a:r>
            <a:r>
              <a:rPr lang="zh-CN" altLang="en-US" sz="3200" dirty="0" smtClean="0">
                <a:solidFill>
                  <a:srgbClr val="3333FF"/>
                </a:solidFill>
              </a:rPr>
              <a:t>1</a:t>
            </a:r>
            <a:r>
              <a:rPr lang="en-US" altLang="zh-CN" sz="3200" dirty="0" smtClean="0">
                <a:solidFill>
                  <a:srgbClr val="3333FF"/>
                </a:solidFill>
              </a:rPr>
              <a:t>,</a:t>
            </a:r>
            <a:r>
              <a:rPr lang="zh-CN" altLang="en-US" sz="3200" dirty="0" smtClean="0">
                <a:solidFill>
                  <a:srgbClr val="3333FF"/>
                </a:solidFill>
              </a:rPr>
              <a:t>2</a:t>
            </a:r>
            <a:r>
              <a:rPr lang="en-US" altLang="zh-CN" sz="3200" dirty="0" smtClean="0">
                <a:solidFill>
                  <a:srgbClr val="3333FF"/>
                </a:solidFill>
              </a:rPr>
              <a:t>,</a:t>
            </a:r>
            <a:r>
              <a:rPr lang="zh-CN" altLang="en-US" sz="3200" dirty="0" smtClean="0">
                <a:solidFill>
                  <a:srgbClr val="3333FF"/>
                </a:solidFill>
              </a:rPr>
              <a:t>3</a:t>
            </a:r>
            <a:r>
              <a:rPr lang="en-US" altLang="zh-CN" sz="3200" dirty="0" smtClean="0">
                <a:solidFill>
                  <a:srgbClr val="3333FF"/>
                </a:solidFill>
              </a:rPr>
              <a:t>,</a:t>
            </a:r>
            <a:r>
              <a:rPr lang="zh-CN" altLang="en-US" sz="3200" dirty="0" smtClean="0">
                <a:solidFill>
                  <a:srgbClr val="3333FF"/>
                </a:solidFill>
              </a:rPr>
              <a:t>5</a:t>
            </a:r>
            <a:r>
              <a:rPr lang="en-US" altLang="zh-CN" sz="3200" dirty="0" smtClean="0">
                <a:solidFill>
                  <a:srgbClr val="3333FF"/>
                </a:solidFill>
              </a:rPr>
              <a:t>,</a:t>
            </a:r>
            <a:r>
              <a:rPr lang="zh-CN" altLang="en-US" sz="3200" dirty="0" smtClean="0">
                <a:solidFill>
                  <a:srgbClr val="3333FF"/>
                </a:solidFill>
              </a:rPr>
              <a:t>8</a:t>
            </a:r>
            <a:r>
              <a:rPr lang="en-US" altLang="zh-CN" sz="3200" dirty="0" smtClean="0">
                <a:solidFill>
                  <a:srgbClr val="3333FF"/>
                </a:solidFill>
              </a:rPr>
              <a:t>,</a:t>
            </a:r>
            <a:r>
              <a:rPr lang="en-US" altLang="zh-CN" sz="3200" dirty="0" smtClean="0"/>
              <a:t>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51520" y="1012553"/>
            <a:ext cx="5400675" cy="158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anose="05030102010509060703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anose="05000000000000000000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anose="05000000000000000000" pitchFamily="2" charset="2"/>
              <a:buChar char="µ"/>
              <a:defRPr sz="2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kern="0" smtClean="0"/>
              <a:t>1,   1,   2,   3,   5,   8, </a:t>
            </a:r>
            <a:r>
              <a:rPr lang="en-US" altLang="zh-CN" kern="0" smtClean="0"/>
              <a:t>13, ……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n-US" altLang="zh-CN" kern="0" smtClean="0"/>
              <a:t>x1  x2   x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zh-CN" altLang="en-US" kern="0" smtClean="0"/>
              <a:t>      </a:t>
            </a:r>
            <a:r>
              <a:rPr lang="en-US" altLang="zh-CN" kern="0" smtClean="0"/>
              <a:t>x1  x2   x</a:t>
            </a:r>
            <a:endParaRPr lang="en-US" altLang="zh-CN" kern="0" dirty="0" smtClean="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6153150" y="998538"/>
            <a:ext cx="2667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"/>
              </a:spcBef>
            </a:pPr>
            <a:r>
              <a:rPr kumimoji="1" lang="zh-CN" altLang="en-US" sz="2800" b="1" dirty="0"/>
              <a:t>x1 = </a:t>
            </a:r>
            <a:r>
              <a:rPr kumimoji="1" lang="en-US" altLang="zh-CN" sz="2800" b="1" dirty="0"/>
              <a:t>x2 = 1;</a:t>
            </a:r>
          </a:p>
          <a:p>
            <a:pPr algn="just">
              <a:spcBef>
                <a:spcPct val="5000"/>
              </a:spcBef>
            </a:pPr>
            <a:endParaRPr kumimoji="1" lang="en-US" altLang="zh-CN" sz="2800" b="1" dirty="0"/>
          </a:p>
          <a:p>
            <a:pPr algn="just">
              <a:spcBef>
                <a:spcPct val="5000"/>
              </a:spcBef>
            </a:pPr>
            <a:r>
              <a:rPr kumimoji="1" lang="en-US" altLang="zh-CN" sz="2800" b="1" dirty="0"/>
              <a:t>x = x1 + x2;</a:t>
            </a:r>
          </a:p>
          <a:p>
            <a:pPr algn="just">
              <a:spcBef>
                <a:spcPct val="5000"/>
              </a:spcBef>
            </a:pPr>
            <a:r>
              <a:rPr kumimoji="1" lang="en-US" altLang="zh-CN" sz="2800" b="1" dirty="0"/>
              <a:t>x1 = x2;</a:t>
            </a:r>
          </a:p>
          <a:p>
            <a:pPr algn="just">
              <a:spcBef>
                <a:spcPct val="5000"/>
              </a:spcBef>
            </a:pPr>
            <a:r>
              <a:rPr kumimoji="1" lang="zh-CN" altLang="en-US" sz="2800" b="1" dirty="0"/>
              <a:t>x2 = </a:t>
            </a:r>
            <a:r>
              <a:rPr kumimoji="1" lang="en-US" altLang="zh-CN" sz="2800" b="1" dirty="0"/>
              <a:t>x;</a:t>
            </a:r>
            <a:endParaRPr kumimoji="1" lang="zh-CN" altLang="zh-CN" sz="2800" b="1" dirty="0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11560" y="3284538"/>
            <a:ext cx="7315200" cy="3505200"/>
          </a:xfrm>
          <a:prstGeom prst="rect">
            <a:avLst/>
          </a:prstGeom>
          <a:noFill/>
          <a:ln w="25400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>
            <a:lvl1pPr marL="342900" indent="-3429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x1 = 1;</a:t>
            </a:r>
          </a:p>
          <a:p>
            <a:pPr algn="just">
              <a:spcBef>
                <a:spcPct val="5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x2 = 1;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 err="1"/>
              <a:t>printf</a:t>
            </a:r>
            <a:r>
              <a:rPr lang="en-US" altLang="zh-CN" sz="2400" b="1" dirty="0"/>
              <a:t> ("%6d%6d", x1, x2 );      /* </a:t>
            </a:r>
            <a:r>
              <a:rPr lang="zh-CN" altLang="en-US" sz="2400" b="1" dirty="0"/>
              <a:t>输出头两项 */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for (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= 1;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 &lt;= 8; </a:t>
            </a:r>
            <a:r>
              <a:rPr lang="en-US" altLang="zh-CN" sz="2400" b="1" dirty="0" err="1"/>
              <a:t>i</a:t>
            </a:r>
            <a:r>
              <a:rPr lang="en-US" altLang="zh-CN" sz="2400" b="1" dirty="0"/>
              <a:t>++){                /* </a:t>
            </a:r>
            <a:r>
              <a:rPr lang="zh-CN" altLang="en-US" sz="2400" b="1" dirty="0"/>
              <a:t>循环输出后8项 */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x = x1 + x2;                        /* </a:t>
            </a:r>
            <a:r>
              <a:rPr lang="zh-CN" altLang="en-US" sz="2400" b="1" dirty="0"/>
              <a:t>计算新项 */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("%6d", x);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x1 = x2;                              /* </a:t>
            </a:r>
            <a:r>
              <a:rPr lang="zh-CN" altLang="en-US" sz="2400" b="1" dirty="0"/>
              <a:t>更新</a:t>
            </a:r>
            <a:r>
              <a:rPr lang="en-US" altLang="zh-CN" sz="2400" b="1" dirty="0"/>
              <a:t>x1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x2 */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        x2 = x;    </a:t>
            </a:r>
          </a:p>
          <a:p>
            <a:pPr algn="just"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2008541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C26A72F-6074-4633-9BF7-686CD232910B}" type="slidenum">
              <a:rPr lang="en-US" altLang="zh-CN" sz="2600">
                <a:solidFill>
                  <a:schemeClr val="bg1"/>
                </a:solidFill>
              </a:rPr>
              <a:pPr/>
              <a:t>103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顺推法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2400" dirty="0" smtClean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3-19】</a:t>
            </a:r>
            <a:r>
              <a:rPr lang="zh-CN" altLang="en-US" sz="2400" dirty="0"/>
              <a:t>累加。输入</a:t>
            </a:r>
            <a:r>
              <a:rPr lang="en-US" altLang="zh-CN" sz="2400" i="1" dirty="0"/>
              <a:t>n</a:t>
            </a:r>
            <a:r>
              <a:rPr lang="zh-CN" altLang="en-US" sz="2400" dirty="0"/>
              <a:t>个整数，计算平均值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>
              <a:defRPr/>
            </a:pPr>
            <a:endParaRPr lang="zh-CN" altLang="en-US" sz="2400" dirty="0"/>
          </a:p>
          <a:p>
            <a:pPr>
              <a:defRPr/>
            </a:pPr>
            <a:r>
              <a:rPr lang="en-US" altLang="zh-CN" sz="2400" dirty="0"/>
              <a:t>【</a:t>
            </a:r>
            <a:r>
              <a:rPr lang="zh-CN" altLang="en-US" sz="2400" dirty="0"/>
              <a:t>例</a:t>
            </a:r>
            <a:r>
              <a:rPr lang="en-US" altLang="zh-CN" sz="2400" dirty="0"/>
              <a:t>3-20】</a:t>
            </a:r>
            <a:r>
              <a:rPr lang="zh-CN" altLang="en-US" sz="2400" dirty="0"/>
              <a:t>累乘。计算</a:t>
            </a:r>
            <a:endParaRPr lang="en-US" altLang="zh-CN" sz="2400" dirty="0"/>
          </a:p>
        </p:txBody>
      </p:sp>
      <p:pic>
        <p:nvPicPr>
          <p:cNvPr id="11571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200" y="2781300"/>
            <a:ext cx="44862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725510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91072" y="1772816"/>
            <a:ext cx="8122741" cy="4536504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例：</a:t>
            </a:r>
            <a:r>
              <a:rPr lang="zh-CN" altLang="en-US" sz="2400" dirty="0" smtClean="0">
                <a:solidFill>
                  <a:srgbClr val="3333FF"/>
                </a:solidFill>
              </a:rPr>
              <a:t>猴子吃桃问题</a:t>
            </a:r>
            <a:r>
              <a:rPr lang="zh-CN" altLang="en-US" sz="2400" dirty="0" smtClean="0"/>
              <a:t>。猴子第一天摘下若干个桃子，当即吃了一半，还不过瘾，又多吃了一个。第二天将剩下的桃子吃掉一半，又多吃了一个。以后每天都吃了前一天剩下的一半零一个。到第十天想再吃时，见只剩下一个桃子了。求第一天共摘了多少桃子？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设：第</a:t>
            </a:r>
            <a:r>
              <a:rPr lang="en-US" altLang="zh-CN" sz="2400" dirty="0" smtClean="0"/>
              <a:t>n</a:t>
            </a:r>
            <a:r>
              <a:rPr lang="zh-CN" altLang="en-US" sz="2400" dirty="0" smtClean="0"/>
              <a:t>天时的桃子数为</a:t>
            </a:r>
            <a:r>
              <a:rPr lang="en-US" altLang="zh-CN" sz="2400" dirty="0" smtClean="0"/>
              <a:t>X</a:t>
            </a:r>
            <a:r>
              <a:rPr lang="en-US" altLang="zh-CN" sz="2400" baseline="-10000" dirty="0" smtClean="0"/>
              <a:t>n</a:t>
            </a:r>
            <a:r>
              <a:rPr lang="zh-CN" altLang="en-US" sz="2400" dirty="0" smtClean="0"/>
              <a:t>，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则： </a:t>
            </a:r>
            <a:r>
              <a:rPr lang="en-US" altLang="zh-CN" sz="2400" dirty="0" smtClean="0"/>
              <a:t>X</a:t>
            </a:r>
            <a:r>
              <a:rPr lang="en-US" altLang="zh-CN" sz="2400" baseline="-10000" dirty="0" smtClean="0"/>
              <a:t>10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X</a:t>
            </a:r>
            <a:r>
              <a:rPr lang="en-US" altLang="zh-CN" sz="2400" baseline="-10000" dirty="0" smtClean="0"/>
              <a:t>9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4=2*(1+1)</a:t>
            </a:r>
            <a:r>
              <a:rPr lang="zh-CN" altLang="en-US" sz="2400" dirty="0" smtClean="0"/>
              <a:t>，</a:t>
            </a:r>
            <a:r>
              <a:rPr lang="en-US" altLang="zh-CN" sz="2400" dirty="0" smtClean="0"/>
              <a:t>……</a:t>
            </a:r>
            <a:r>
              <a:rPr lang="zh-CN" altLang="en-US" sz="2400" baseline="-10000" dirty="0" smtClean="0"/>
              <a:t>，           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可得到：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递推公式</a:t>
            </a:r>
            <a:r>
              <a:rPr lang="zh-CN" altLang="en-US" sz="2400" b="0" dirty="0" smtClean="0"/>
              <a:t>： </a:t>
            </a:r>
            <a:r>
              <a:rPr lang="en-US" altLang="zh-CN" sz="2400" dirty="0" smtClean="0"/>
              <a:t>X</a:t>
            </a:r>
            <a:r>
              <a:rPr lang="en-US" altLang="zh-CN" sz="2400" baseline="-10000" dirty="0" smtClean="0"/>
              <a:t>n-1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2*(X</a:t>
            </a:r>
            <a:r>
              <a:rPr lang="en-US" altLang="zh-CN" sz="2400" baseline="-10000" dirty="0" smtClean="0"/>
              <a:t>n+</a:t>
            </a:r>
            <a:r>
              <a:rPr lang="en-US" altLang="zh-CN" sz="2400" dirty="0" smtClean="0"/>
              <a:t>1)</a:t>
            </a:r>
            <a:endParaRPr lang="zh-CN" altLang="en-US" sz="2400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/>
              <a:t>初始条件： </a:t>
            </a:r>
            <a:r>
              <a:rPr lang="en-US" altLang="zh-CN" sz="2400" dirty="0" smtClean="0"/>
              <a:t>X</a:t>
            </a:r>
            <a:r>
              <a:rPr lang="en-US" altLang="zh-CN" sz="2400" baseline="-10000" dirty="0" smtClean="0"/>
              <a:t>10</a:t>
            </a:r>
            <a:r>
              <a:rPr lang="zh-CN" altLang="en-US" sz="2400" dirty="0" smtClean="0"/>
              <a:t>＝</a:t>
            </a:r>
            <a:r>
              <a:rPr lang="en-US" altLang="zh-CN" sz="2400" dirty="0" smtClean="0"/>
              <a:t>1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sz="2400" dirty="0" smtClean="0">
                <a:solidFill>
                  <a:srgbClr val="3333FF"/>
                </a:solidFill>
              </a:rPr>
              <a:t>前一天的桃子数是后一天的桃子数加</a:t>
            </a:r>
            <a:r>
              <a:rPr lang="en-US" altLang="zh-CN" sz="2400" dirty="0" smtClean="0">
                <a:solidFill>
                  <a:srgbClr val="3333FF"/>
                </a:solidFill>
              </a:rPr>
              <a:t>1</a:t>
            </a:r>
            <a:r>
              <a:rPr lang="zh-CN" altLang="en-US" sz="2400" dirty="0" smtClean="0">
                <a:solidFill>
                  <a:srgbClr val="3333FF"/>
                </a:solidFill>
              </a:rPr>
              <a:t>后的</a:t>
            </a:r>
            <a:r>
              <a:rPr lang="en-US" altLang="zh-CN" sz="2400" dirty="0" smtClean="0">
                <a:solidFill>
                  <a:srgbClr val="3333FF"/>
                </a:solidFill>
              </a:rPr>
              <a:t>2</a:t>
            </a:r>
            <a:r>
              <a:rPr lang="zh-CN" altLang="en-US" sz="2400" dirty="0" smtClean="0">
                <a:solidFill>
                  <a:srgbClr val="3333FF"/>
                </a:solidFill>
              </a:rPr>
              <a:t>倍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57238"/>
            <a:ext cx="8229600" cy="822325"/>
          </a:xfrm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倒推法（逆向思维）</a:t>
            </a:r>
          </a:p>
        </p:txBody>
      </p:sp>
    </p:spTree>
    <p:extLst>
      <p:ext uri="{BB962C8B-B14F-4D97-AF65-F5344CB8AC3E}">
        <p14:creationId xmlns:p14="http://schemas.microsoft.com/office/powerpoint/2010/main" val="2031661800"/>
      </p:ext>
    </p:extLst>
  </p:cSld>
  <p:clrMapOvr>
    <a:masterClrMapping/>
  </p:clrMapOvr>
  <p:transition spd="med">
    <p:random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1838" y="1717626"/>
            <a:ext cx="6992529" cy="4879726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int peach,i;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peach=1;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for(i=1;i&lt;10;i++)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	peach=2*(peach+1);			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printf("%d\n",peach);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  <p:sp>
        <p:nvSpPr>
          <p:cNvPr id="119811" name="Text Box 4"/>
          <p:cNvSpPr txBox="1">
            <a:spLocks noChangeArrowheads="1"/>
          </p:cNvSpPr>
          <p:nvPr/>
        </p:nvSpPr>
        <p:spPr bwMode="auto">
          <a:xfrm>
            <a:off x="7020272" y="1916832"/>
            <a:ext cx="1368425" cy="7112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rgbClr val="3333FF"/>
                </a:solidFill>
              </a:rPr>
              <a:t>1534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757238"/>
            <a:ext cx="8229600" cy="822325"/>
          </a:xfrm>
        </p:spPr>
        <p:txBody>
          <a:bodyPr/>
          <a:lstStyle/>
          <a:p>
            <a:pPr>
              <a:defRPr/>
            </a:pPr>
            <a:r>
              <a:rPr lang="zh-CN" altLang="en-US" sz="4000" dirty="0" smtClean="0">
                <a:solidFill>
                  <a:srgbClr val="3333FF"/>
                </a:solidFill>
              </a:rPr>
              <a:t>倒推法（逆向思维）</a:t>
            </a:r>
          </a:p>
        </p:txBody>
      </p:sp>
    </p:spTree>
    <p:extLst>
      <p:ext uri="{BB962C8B-B14F-4D97-AF65-F5344CB8AC3E}">
        <p14:creationId xmlns:p14="http://schemas.microsoft.com/office/powerpoint/2010/main" val="2734993057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547688"/>
            <a:ext cx="8353425" cy="576103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打印*号图形，打印行数由键盘输入</a:t>
            </a:r>
            <a:r>
              <a:rPr lang="zh-CN" altLang="en-US" dirty="0" smtClean="0"/>
              <a:t>。如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输入</a:t>
            </a:r>
            <a:r>
              <a:rPr lang="en-US" altLang="zh-CN" dirty="0" smtClean="0"/>
              <a:t>4</a:t>
            </a:r>
            <a:r>
              <a:rPr lang="zh-CN" altLang="en-US" dirty="0" smtClean="0"/>
              <a:t>时，打印如右所示的图形。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endParaRPr lang="zh-CN" altLang="en-US" dirty="0" smtClean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设：</a:t>
            </a:r>
            <a:r>
              <a:rPr lang="zh-CN" altLang="en-US" dirty="0" smtClean="0">
                <a:ea typeface="楷体_GB2312" pitchFamily="49" charset="-122"/>
              </a:rPr>
              <a:t>行数为</a:t>
            </a:r>
            <a:r>
              <a:rPr lang="en-US" altLang="zh-CN" dirty="0" smtClean="0"/>
              <a:t>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dirty="0" smtClean="0">
                <a:ea typeface="楷体_GB2312" pitchFamily="49" charset="-122"/>
              </a:rPr>
              <a:t>行号为</a:t>
            </a:r>
            <a:r>
              <a:rPr lang="en-US" altLang="zh-CN" dirty="0" smtClean="0"/>
              <a:t>i</a:t>
            </a:r>
            <a:r>
              <a:rPr lang="zh-CN" altLang="en-US" dirty="0" smtClean="0"/>
              <a:t>，</a:t>
            </a:r>
            <a:r>
              <a:rPr lang="zh-CN" altLang="en-US" dirty="0" smtClean="0">
                <a:ea typeface="楷体_GB2312" pitchFamily="49" charset="-122"/>
              </a:rPr>
              <a:t>依次取值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b="0" dirty="0" smtClean="0"/>
              <a:t>… </a:t>
            </a:r>
            <a:r>
              <a:rPr lang="en-US" altLang="zh-CN" dirty="0" smtClean="0"/>
              <a:t>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则：第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行打印空格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dirty="0" smtClean="0"/>
              <a:t>，*</a:t>
            </a:r>
            <a:r>
              <a:rPr lang="zh-CN" altLang="en-US" dirty="0" smtClean="0">
                <a:ea typeface="楷体_GB2312" pitchFamily="49" charset="-122"/>
              </a:rPr>
              <a:t>号</a:t>
            </a:r>
            <a:r>
              <a:rPr lang="en-US" altLang="zh-CN" dirty="0" smtClean="0"/>
              <a:t>2n-1</a:t>
            </a:r>
            <a:r>
              <a:rPr lang="zh-CN" altLang="en-US" dirty="0" smtClean="0">
                <a:ea typeface="楷体_GB2312" pitchFamily="49" charset="-122"/>
              </a:rPr>
              <a:t>个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dirty="0" smtClean="0">
                <a:ea typeface="楷体_GB2312" pitchFamily="49" charset="-122"/>
              </a:rPr>
              <a:t>第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行打印空格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dirty="0" smtClean="0"/>
              <a:t>，*</a:t>
            </a:r>
            <a:r>
              <a:rPr lang="zh-CN" altLang="en-US" dirty="0" smtClean="0">
                <a:ea typeface="楷体_GB2312" pitchFamily="49" charset="-122"/>
              </a:rPr>
              <a:t>号</a:t>
            </a:r>
            <a:r>
              <a:rPr lang="en-US" altLang="zh-CN" dirty="0" smtClean="0"/>
              <a:t>2n-3</a:t>
            </a:r>
            <a:r>
              <a:rPr lang="zh-CN" altLang="en-US" dirty="0" smtClean="0">
                <a:ea typeface="楷体_GB2312" pitchFamily="49" charset="-122"/>
              </a:rPr>
              <a:t>个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    第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行打印空格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dirty="0" smtClean="0"/>
              <a:t>，*</a:t>
            </a:r>
            <a:r>
              <a:rPr lang="zh-CN" altLang="en-US" dirty="0" smtClean="0">
                <a:ea typeface="楷体_GB2312" pitchFamily="49" charset="-122"/>
              </a:rPr>
              <a:t>号</a:t>
            </a:r>
            <a:r>
              <a:rPr lang="en-US" altLang="zh-CN" dirty="0" smtClean="0"/>
              <a:t>2n-5</a:t>
            </a:r>
            <a:r>
              <a:rPr lang="zh-CN" altLang="en-US" dirty="0" smtClean="0">
                <a:ea typeface="楷体_GB2312" pitchFamily="49" charset="-122"/>
              </a:rPr>
              <a:t>个</a:t>
            </a:r>
          </a:p>
          <a:p>
            <a:pPr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  <a:defRPr/>
            </a:pPr>
            <a:r>
              <a:rPr lang="zh-CN" altLang="en-US" b="0" dirty="0" smtClean="0"/>
              <a:t>            </a:t>
            </a:r>
            <a:r>
              <a:rPr lang="en-US" altLang="zh-CN" b="0" dirty="0" smtClean="0"/>
              <a:t>…………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行打印空格</a:t>
            </a:r>
            <a:r>
              <a:rPr lang="en-US" altLang="zh-CN" dirty="0" smtClean="0">
                <a:latin typeface="楷体_GB2312" pitchFamily="49" charset="-122"/>
                <a:ea typeface="楷体_GB2312" pitchFamily="49" charset="-122"/>
              </a:rPr>
              <a:t>n-1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dirty="0" smtClean="0"/>
              <a:t>，*</a:t>
            </a:r>
            <a:r>
              <a:rPr lang="zh-CN" altLang="en-US" dirty="0" smtClean="0">
                <a:ea typeface="楷体_GB2312" pitchFamily="49" charset="-122"/>
              </a:rPr>
              <a:t>号</a:t>
            </a:r>
            <a:r>
              <a:rPr lang="en-US" altLang="zh-CN" dirty="0" smtClean="0"/>
              <a:t>2n-(2n-1)</a:t>
            </a:r>
            <a:r>
              <a:rPr lang="zh-CN" altLang="en-US" dirty="0" smtClean="0">
                <a:ea typeface="楷体_GB2312" pitchFamily="49" charset="-122"/>
              </a:rPr>
              <a:t>个，即</a:t>
            </a:r>
            <a:r>
              <a:rPr lang="en-US" altLang="zh-CN" dirty="0" smtClean="0">
                <a:ea typeface="楷体_GB2312" pitchFamily="49" charset="-122"/>
              </a:rPr>
              <a:t>1</a:t>
            </a:r>
            <a:r>
              <a:rPr lang="zh-CN" altLang="en-US" dirty="0" smtClean="0">
                <a:ea typeface="楷体_GB2312" pitchFamily="49" charset="-122"/>
              </a:rPr>
              <a:t>个</a:t>
            </a:r>
            <a:endParaRPr lang="zh-CN" altLang="en-US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/>
              <a:t>   </a:t>
            </a:r>
            <a:r>
              <a:rPr lang="zh-CN" altLang="en-US" dirty="0" smtClean="0">
                <a:ea typeface="楷体_GB2312" pitchFamily="49" charset="-122"/>
              </a:rPr>
              <a:t>分析</a:t>
            </a:r>
            <a:r>
              <a:rPr lang="zh-CN" altLang="en-US" dirty="0">
                <a:ea typeface="楷体_GB2312" pitchFamily="49" charset="-122"/>
              </a:rPr>
              <a:t>：</a:t>
            </a:r>
            <a:r>
              <a:rPr lang="zh-CN" altLang="en-US" dirty="0" smtClean="0">
                <a:ea typeface="楷体_GB2312" pitchFamily="49" charset="-122"/>
              </a:rPr>
              <a:t>行号</a:t>
            </a:r>
            <a:r>
              <a:rPr lang="en-US" altLang="zh-CN" dirty="0" smtClean="0">
                <a:ea typeface="楷体_GB2312" pitchFamily="49" charset="-122"/>
              </a:rPr>
              <a:t>i</a:t>
            </a:r>
            <a:r>
              <a:rPr lang="zh-CN" altLang="en-US" dirty="0" smtClean="0">
                <a:ea typeface="楷体_GB2312" pitchFamily="49" charset="-122"/>
              </a:rPr>
              <a:t>与空格和*号的关系得出：</a:t>
            </a:r>
            <a:r>
              <a:rPr lang="zh-CN" altLang="en-US" dirty="0" smtClean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    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第</a:t>
            </a:r>
            <a:r>
              <a:rPr lang="en-US" altLang="zh-CN" dirty="0" smtClean="0">
                <a:solidFill>
                  <a:srgbClr val="0000FF"/>
                </a:solidFill>
                <a:ea typeface="楷体_GB2312" pitchFamily="49" charset="-122"/>
              </a:rPr>
              <a:t>i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行打印空格</a:t>
            </a:r>
            <a:r>
              <a:rPr lang="en-US" altLang="zh-CN" dirty="0" smtClean="0">
                <a:solidFill>
                  <a:srgbClr val="0000FF"/>
                </a:solidFill>
                <a:ea typeface="楷体_GB2312" pitchFamily="49" charset="-122"/>
              </a:rPr>
              <a:t>i-1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  <a:r>
              <a:rPr lang="zh-CN" altLang="en-US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打印</a:t>
            </a:r>
            <a:r>
              <a:rPr lang="zh-CN" altLang="en-US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*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号</a:t>
            </a:r>
            <a:r>
              <a:rPr lang="en-US" altLang="zh-CN" dirty="0" smtClean="0">
                <a:solidFill>
                  <a:srgbClr val="0000FF"/>
                </a:solidFill>
                <a:ea typeface="楷体_GB2312" pitchFamily="49" charset="-122"/>
              </a:rPr>
              <a:t>2n-(2i-1)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个</a:t>
            </a:r>
          </a:p>
        </p:txBody>
      </p:sp>
      <p:grpSp>
        <p:nvGrpSpPr>
          <p:cNvPr id="142339" name="Group 3"/>
          <p:cNvGrpSpPr>
            <a:grpSpLocks/>
          </p:cNvGrpSpPr>
          <p:nvPr/>
        </p:nvGrpSpPr>
        <p:grpSpPr bwMode="auto">
          <a:xfrm>
            <a:off x="6477002" y="1066800"/>
            <a:ext cx="2163763" cy="1930400"/>
            <a:chOff x="4080" y="672"/>
            <a:chExt cx="1363" cy="1216"/>
          </a:xfrm>
        </p:grpSpPr>
        <p:sp>
          <p:nvSpPr>
            <p:cNvPr id="142340" name="Text Box 4"/>
            <p:cNvSpPr txBox="1">
              <a:spLocks noChangeArrowheads="1"/>
            </p:cNvSpPr>
            <p:nvPr/>
          </p:nvSpPr>
          <p:spPr bwMode="auto">
            <a:xfrm>
              <a:off x="4080" y="672"/>
              <a:ext cx="1295" cy="8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*******</a:t>
              </a:r>
              <a:endParaRPr kumimoji="1" lang="zh-CN" altLang="en-US" sz="1600">
                <a:latin typeface="Times New Roman" panose="02020603050405020304" pitchFamily="18" charset="0"/>
              </a:endParaRPr>
            </a:p>
            <a:p>
              <a:pPr eaLnBrk="1" hangingPunct="1">
                <a:lnSpc>
                  <a:spcPct val="40000"/>
                </a:lnSpc>
                <a:spcBef>
                  <a:spcPct val="2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  *****</a:t>
              </a:r>
            </a:p>
            <a:p>
              <a:pPr eaLnBrk="1" hangingPunct="1">
                <a:lnSpc>
                  <a:spcPct val="50000"/>
                </a:lnSpc>
                <a:spcBef>
                  <a:spcPct val="2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    ***</a:t>
              </a:r>
            </a:p>
            <a:p>
              <a:pPr eaLnBrk="1" hangingPunct="1">
                <a:lnSpc>
                  <a:spcPct val="50000"/>
                </a:lnSpc>
                <a:spcBef>
                  <a:spcPct val="2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      *</a:t>
              </a:r>
            </a:p>
          </p:txBody>
        </p:sp>
        <p:sp>
          <p:nvSpPr>
            <p:cNvPr id="142341" name="Text Box 5"/>
            <p:cNvSpPr txBox="1">
              <a:spLocks noChangeArrowheads="1"/>
            </p:cNvSpPr>
            <p:nvPr/>
          </p:nvSpPr>
          <p:spPr bwMode="auto">
            <a:xfrm>
              <a:off x="5035" y="713"/>
              <a:ext cx="4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pt-BR" altLang="zh-CN" sz="2000" b="1" dirty="0">
                  <a:latin typeface="Times New Roman" panose="02020603050405020304" pitchFamily="18" charset="0"/>
                </a:rPr>
                <a:t>← 1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2342" name="Text Box 6"/>
            <p:cNvSpPr txBox="1">
              <a:spLocks noChangeArrowheads="1"/>
            </p:cNvSpPr>
            <p:nvPr/>
          </p:nvSpPr>
          <p:spPr bwMode="auto">
            <a:xfrm>
              <a:off x="5035" y="1289"/>
              <a:ext cx="408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pt-BR" altLang="zh-CN" sz="2000" b="1">
                  <a:latin typeface="Times New Roman" panose="02020603050405020304" pitchFamily="18" charset="0"/>
                </a:rPr>
                <a:t>← n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2343" name="Text Box 7"/>
            <p:cNvSpPr txBox="1">
              <a:spLocks noChangeArrowheads="1"/>
            </p:cNvSpPr>
            <p:nvPr/>
          </p:nvSpPr>
          <p:spPr bwMode="auto">
            <a:xfrm>
              <a:off x="4080" y="1427"/>
              <a:ext cx="1295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marL="342900" indent="-3429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pt-BR" altLang="zh-CN" sz="2200" b="1" dirty="0" smtClean="0">
                  <a:latin typeface="Times New Roman" panose="02020603050405020304" pitchFamily="18" charset="0"/>
                </a:rPr>
                <a:t> ↑</a:t>
              </a:r>
              <a:r>
                <a:rPr kumimoji="1" lang="pt-BR" altLang="zh-CN" sz="2000" b="1" dirty="0" smtClean="0">
                  <a:latin typeface="Times New Roman" panose="02020603050405020304" pitchFamily="18" charset="0"/>
                </a:rPr>
                <a:t>     </a:t>
              </a:r>
              <a:r>
                <a:rPr kumimoji="1" lang="pt-BR" altLang="zh-CN" sz="2200" b="1" dirty="0" smtClean="0">
                  <a:latin typeface="Times New Roman" panose="02020603050405020304" pitchFamily="18" charset="0"/>
                </a:rPr>
                <a:t>↑  </a:t>
              </a:r>
              <a:r>
                <a:rPr kumimoji="1" lang="pt-BR" altLang="zh-CN" sz="2000" b="1" dirty="0" smtClean="0">
                  <a:latin typeface="Times New Roman" panose="02020603050405020304" pitchFamily="18" charset="0"/>
                </a:rPr>
                <a:t>      </a:t>
              </a:r>
              <a:r>
                <a:rPr kumimoji="1" lang="pt-BR" altLang="zh-CN" sz="2200" b="1" dirty="0">
                  <a:latin typeface="Times New Roman" panose="02020603050405020304" pitchFamily="18" charset="0"/>
                </a:rPr>
                <a:t>↑</a:t>
              </a:r>
            </a:p>
            <a:p>
              <a:pPr eaLnBrk="1" hangingPunct="1"/>
              <a:r>
                <a:rPr kumimoji="1" lang="pt-BR" altLang="zh-CN" sz="2000" b="1" dirty="0">
                  <a:latin typeface="Times New Roman" panose="02020603050405020304" pitchFamily="18" charset="0"/>
                </a:rPr>
                <a:t> </a:t>
              </a:r>
              <a:r>
                <a:rPr kumimoji="1" lang="pt-BR" altLang="zh-CN" sz="800" b="1" dirty="0">
                  <a:latin typeface="Times New Roman" panose="02020603050405020304" pitchFamily="18" charset="0"/>
                </a:rPr>
                <a:t> </a:t>
              </a:r>
              <a:r>
                <a:rPr kumimoji="1" lang="pt-BR" altLang="zh-CN" sz="2000" b="1" dirty="0">
                  <a:latin typeface="Times New Roman" panose="02020603050405020304" pitchFamily="18" charset="0"/>
                </a:rPr>
                <a:t>1     </a:t>
              </a:r>
              <a:r>
                <a:rPr kumimoji="1" lang="pt-BR" altLang="zh-CN" sz="2000" b="1" dirty="0" smtClean="0">
                  <a:latin typeface="Times New Roman" panose="02020603050405020304" pitchFamily="18" charset="0"/>
                </a:rPr>
                <a:t>n      </a:t>
              </a:r>
              <a:r>
                <a:rPr kumimoji="1" lang="pt-BR" altLang="zh-CN" sz="2000" b="1" dirty="0">
                  <a:latin typeface="Times New Roman" panose="02020603050405020304" pitchFamily="18" charset="0"/>
                </a:rPr>
                <a:t>2n-1</a:t>
              </a:r>
              <a:endParaRPr kumimoji="1" lang="en-US" altLang="zh-CN" sz="20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848723" y="6237312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kern="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楷体_GB2312" pitchFamily="49" charset="-122"/>
              </a:rPr>
              <a:t>2(n-</a:t>
            </a:r>
            <a:r>
              <a:rPr lang="en-US" altLang="zh-CN" sz="2800" b="1" kern="0" dirty="0" err="1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楷体_GB2312" pitchFamily="49" charset="-122"/>
              </a:rPr>
              <a:t>i</a:t>
            </a:r>
            <a:r>
              <a:rPr lang="en-US" altLang="zh-CN" sz="2800" b="1" kern="0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楷体_GB2312" pitchFamily="49" charset="-122"/>
              </a:rPr>
              <a:t>)+1</a:t>
            </a:r>
            <a:r>
              <a:rPr lang="en-US" altLang="zh-CN" sz="2800" b="1" kern="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ea typeface="楷体_GB2312" pitchFamily="49" charset="-122"/>
              </a:rPr>
              <a:t>)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6308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int main()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{   int  n, i, </a:t>
            </a:r>
            <a:r>
              <a:rPr lang="en-US" altLang="zh-CN" dirty="0" err="1" smtClean="0"/>
              <a:t>j,k</a:t>
            </a:r>
            <a:r>
              <a:rPr lang="en-US" altLang="zh-CN" dirty="0" smtClean="0"/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scanf("%d", &amp;n);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for (i=1; i&lt;=n; i++)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{  for (j=1; j&lt;=i-1; j++)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     putchar(' 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for (k=1; k&lt;=2*(n-i)+1; k++)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     putchar('*');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printf("\n");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  <a:endParaRPr lang="zh-CN" altLang="en-US" dirty="0" smtClean="0"/>
          </a:p>
        </p:txBody>
      </p:sp>
    </p:spTree>
  </p:cSld>
  <p:clrMapOvr>
    <a:masterClrMapping/>
  </p:clrMapOvr>
  <p:transition spd="med">
    <p:random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04813"/>
            <a:ext cx="8229600" cy="64531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int main()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{   int  n, i, j;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scanf("%d", &amp;n);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for (i=1; i&lt;=n; i++)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{  for (j=1; j&lt;=n-i; j++)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     putchar(' 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for (j=1; j&lt;=2*i-1; j++)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     putchar('*');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    printf("\n");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	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dirty="0" smtClean="0"/>
              <a:t>}</a:t>
            </a:r>
            <a:endParaRPr lang="zh-CN" altLang="en-US" dirty="0" smtClean="0"/>
          </a:p>
        </p:txBody>
      </p:sp>
      <p:pic>
        <p:nvPicPr>
          <p:cNvPr id="1443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3675" y="765175"/>
            <a:ext cx="19034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8913"/>
            <a:ext cx="8229600" cy="6669087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endParaRPr lang="en-US" altLang="zh-CN" sz="1800" dirty="0" smtClean="0"/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int main()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    int i,j,n;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scanf("%d",&amp;n);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for(i=1;</a:t>
            </a:r>
            <a:r>
              <a:rPr lang="en-US" altLang="zh-CN" sz="1800" dirty="0" smtClean="0">
                <a:solidFill>
                  <a:srgbClr val="FF0000"/>
                </a:solidFill>
              </a:rPr>
              <a:t>i&lt;n</a:t>
            </a:r>
            <a:r>
              <a:rPr lang="en-US" altLang="zh-CN" sz="1800" dirty="0" smtClean="0"/>
              <a:t>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for(j=1;j&lt;=n-i;j++)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   printf("%c",' 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for(j=1;j&lt;=2*i-1;j++)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	printf("%c",'*');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printf("\n");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for(i=1;i&lt;=n;i++)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for(j=1;j&lt;=i-1;j++)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   printf("%c",' 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for(j=1;j&lt;=2*n-(2*i-1);j++)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	printf("%c",'*');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	printf("\n");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	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dirty="0" smtClean="0"/>
              <a:t>}</a:t>
            </a:r>
            <a:endParaRPr lang="zh-CN" altLang="en-US" sz="1800" dirty="0" smtClean="0"/>
          </a:p>
        </p:txBody>
      </p:sp>
      <p:pic>
        <p:nvPicPr>
          <p:cNvPr id="1454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20713"/>
            <a:ext cx="21240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476250"/>
            <a:ext cx="8229600" cy="63817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#include &lt;stdio.h&gt;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int main()  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{   int  n, i, j;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scanf("%d", &amp;n);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for (i=1; i&lt;=n; 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{  for (j=1; j&lt;=n-i; 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     putchar(' 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for (j=1; j&lt;=2*i-1; 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     putchar('*');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printf("\n");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for (i=1; i&lt;n; i++)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{  for (j=1; j&lt;=i; 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     putchar(' 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for (j=1; j&lt;=2*(n-i)-1; j++)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     putchar('*');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    printf("\n");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     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	 return 0;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000" dirty="0" smtClean="0"/>
              <a:t>}</a:t>
            </a:r>
            <a:endParaRPr lang="zh-CN" altLang="en-US" sz="2000" dirty="0" smtClean="0"/>
          </a:p>
        </p:txBody>
      </p:sp>
      <p:pic>
        <p:nvPicPr>
          <p:cNvPr id="1464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925" y="620713"/>
            <a:ext cx="2124075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random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5288" y="549275"/>
            <a:ext cx="8424862" cy="5688013"/>
          </a:xfrm>
        </p:spPr>
        <p:txBody>
          <a:bodyPr/>
          <a:lstStyle/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solidFill>
                  <a:srgbClr val="3333FF"/>
                </a:solidFill>
              </a:rPr>
              <a:t>打印*号图形，打印行数由键盘输入</a:t>
            </a:r>
            <a:r>
              <a:rPr lang="zh-CN" altLang="en-US" dirty="0" smtClean="0"/>
              <a:t>。如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输入</a:t>
            </a:r>
            <a:r>
              <a:rPr lang="en-US" altLang="zh-CN" dirty="0" smtClean="0"/>
              <a:t>5</a:t>
            </a:r>
            <a:r>
              <a:rPr lang="zh-CN" altLang="en-US" dirty="0" smtClean="0"/>
              <a:t>时，打印如右所示的图形。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ea typeface="楷体_GB2312" pitchFamily="49" charset="-122"/>
              </a:rPr>
              <a:t>与实心的三角形相比：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 smtClean="0"/>
              <a:t>⑴ 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左边的空格数相同</a:t>
            </a:r>
            <a:r>
              <a:rPr lang="zh-CN" altLang="en-US" dirty="0" smtClean="0">
                <a:latin typeface="宋体" charset="-122"/>
              </a:rPr>
              <a:t>，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即</a:t>
            </a:r>
            <a:r>
              <a:rPr lang="en-US" altLang="zh-CN" dirty="0" smtClean="0">
                <a:latin typeface="宋体" charset="-122"/>
              </a:rPr>
              <a:t>i-1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个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 smtClean="0"/>
              <a:t>⑵  *</a:t>
            </a:r>
            <a:r>
              <a:rPr lang="zh-CN" altLang="en-US" dirty="0" smtClean="0">
                <a:ea typeface="楷体_GB2312" pitchFamily="49" charset="-122"/>
              </a:rPr>
              <a:t>号加</a:t>
            </a:r>
            <a:r>
              <a:rPr lang="zh-CN" altLang="en-US" dirty="0" smtClean="0"/>
              <a:t>*</a:t>
            </a:r>
            <a:r>
              <a:rPr lang="zh-CN" altLang="en-US" dirty="0" smtClean="0">
                <a:ea typeface="楷体_GB2312" pitchFamily="49" charset="-122"/>
              </a:rPr>
              <a:t>号间的空格总数</a:t>
            </a:r>
            <a:r>
              <a:rPr lang="zh-CN" altLang="en-US" dirty="0" smtClean="0"/>
              <a:t>，</a:t>
            </a:r>
            <a:r>
              <a:rPr lang="zh-CN" altLang="en-US" dirty="0" smtClean="0">
                <a:ea typeface="楷体_GB2312" pitchFamily="49" charset="-122"/>
              </a:rPr>
              <a:t>与实心的</a:t>
            </a:r>
            <a:r>
              <a:rPr lang="zh-CN" altLang="en-US" dirty="0" smtClean="0"/>
              <a:t>*</a:t>
            </a:r>
            <a:r>
              <a:rPr lang="zh-CN" altLang="en-US" dirty="0" smtClean="0">
                <a:ea typeface="楷体_GB2312" pitchFamily="49" charset="-122"/>
              </a:rPr>
              <a:t>号数相同</a:t>
            </a:r>
            <a:r>
              <a:rPr lang="zh-CN" altLang="en-US" dirty="0" smtClean="0"/>
              <a:t>，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/>
              <a:t>      </a:t>
            </a:r>
            <a:r>
              <a:rPr lang="zh-CN" altLang="en-US" dirty="0" smtClean="0">
                <a:ea typeface="楷体_GB2312" pitchFamily="49" charset="-122"/>
              </a:rPr>
              <a:t>即</a:t>
            </a:r>
            <a:r>
              <a:rPr lang="en-US" altLang="zh-CN" dirty="0" smtClean="0"/>
              <a:t>2(n-i)+1</a:t>
            </a:r>
            <a:r>
              <a:rPr lang="zh-CN" altLang="en-US" dirty="0" smtClean="0">
                <a:ea typeface="楷体_GB2312" pitchFamily="49" charset="-122"/>
              </a:rPr>
              <a:t>个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ea typeface="楷体_GB2312" pitchFamily="49" charset="-122"/>
              </a:rPr>
              <a:t>  </a:t>
            </a:r>
            <a:r>
              <a:rPr lang="zh-CN" altLang="en-US" dirty="0" smtClean="0"/>
              <a:t>⑶ </a:t>
            </a:r>
            <a:r>
              <a:rPr lang="zh-CN" altLang="en-US" dirty="0" smtClean="0">
                <a:ea typeface="楷体_GB2312" pitchFamily="49" charset="-122"/>
              </a:rPr>
              <a:t>不同的是</a:t>
            </a:r>
            <a:r>
              <a:rPr lang="zh-CN" altLang="en-US" dirty="0" smtClean="0"/>
              <a:t>：</a:t>
            </a:r>
            <a:r>
              <a:rPr lang="zh-CN" altLang="en-US" dirty="0" smtClean="0">
                <a:ea typeface="楷体_GB2312" pitchFamily="49" charset="-122"/>
              </a:rPr>
              <a:t>设每行的</a:t>
            </a:r>
            <a:r>
              <a:rPr lang="zh-CN" altLang="en-US" dirty="0" smtClean="0"/>
              <a:t>*</a:t>
            </a:r>
            <a:r>
              <a:rPr lang="zh-CN" altLang="en-US" dirty="0" smtClean="0">
                <a:ea typeface="楷体_GB2312" pitchFamily="49" charset="-122"/>
              </a:rPr>
              <a:t>号和</a:t>
            </a:r>
            <a:r>
              <a:rPr lang="zh-CN" altLang="en-US" dirty="0" smtClean="0"/>
              <a:t>*</a:t>
            </a:r>
            <a:r>
              <a:rPr lang="zh-CN" altLang="en-US" dirty="0" smtClean="0">
                <a:ea typeface="楷体_GB2312" pitchFamily="49" charset="-122"/>
              </a:rPr>
              <a:t>号间的空格的编号为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ea typeface="楷体_GB2312" pitchFamily="49" charset="-122"/>
              </a:rPr>
              <a:t>      </a:t>
            </a:r>
            <a:r>
              <a:rPr lang="en-US" altLang="zh-CN" dirty="0" smtClean="0">
                <a:ea typeface="楷体_GB2312" pitchFamily="49" charset="-122"/>
              </a:rPr>
              <a:t>k</a:t>
            </a:r>
            <a:r>
              <a:rPr lang="zh-CN" altLang="en-US" dirty="0" smtClean="0">
                <a:ea typeface="楷体_GB2312" pitchFamily="49" charset="-122"/>
              </a:rPr>
              <a:t>，依次取值</a:t>
            </a:r>
            <a:r>
              <a:rPr lang="zh-CN" altLang="en-US" dirty="0" smtClean="0"/>
              <a:t>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zh-CN" altLang="en-US" dirty="0" smtClean="0"/>
              <a:t>，</a:t>
            </a:r>
            <a:r>
              <a:rPr lang="en-US" altLang="zh-CN" b="0" dirty="0" smtClean="0"/>
              <a:t>… </a:t>
            </a:r>
            <a:r>
              <a:rPr lang="en-US" altLang="zh-CN" dirty="0" smtClean="0"/>
              <a:t>2(n-i)+1</a:t>
            </a:r>
            <a:r>
              <a:rPr lang="zh-CN" altLang="en-US" dirty="0" smtClean="0">
                <a:ea typeface="楷体_GB2312" pitchFamily="49" charset="-122"/>
              </a:rPr>
              <a:t>。</a:t>
            </a:r>
            <a:r>
              <a:rPr lang="zh-CN" altLang="en-US" dirty="0" smtClean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dirty="0" smtClean="0"/>
              <a:t>：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ea typeface="楷体_GB2312" pitchFamily="49" charset="-122"/>
              </a:rPr>
              <a:t>     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第</a:t>
            </a:r>
            <a:r>
              <a:rPr lang="en-US" altLang="zh-CN" dirty="0" smtClean="0">
                <a:solidFill>
                  <a:srgbClr val="0000FF"/>
                </a:solidFill>
              </a:rPr>
              <a:t>1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行</a:t>
            </a:r>
            <a:r>
              <a:rPr lang="zh-CN" altLang="en-US" b="0" dirty="0" smtClean="0">
                <a:solidFill>
                  <a:srgbClr val="0000FF"/>
                </a:solidFill>
              </a:rPr>
              <a:t>，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当</a:t>
            </a:r>
            <a:r>
              <a:rPr lang="en-US" altLang="zh-CN" dirty="0" smtClean="0">
                <a:solidFill>
                  <a:srgbClr val="0000FF"/>
                </a:solidFill>
              </a:rPr>
              <a:t>j%2==1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时打印</a:t>
            </a:r>
            <a:r>
              <a:rPr lang="zh-CN" altLang="en-US" dirty="0" smtClean="0">
                <a:solidFill>
                  <a:srgbClr val="0000FF"/>
                </a:solidFill>
              </a:rPr>
              <a:t>*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号</a:t>
            </a:r>
            <a:r>
              <a:rPr lang="zh-CN" altLang="en-US" b="0" dirty="0" smtClean="0">
                <a:solidFill>
                  <a:srgbClr val="0000FF"/>
                </a:solidFill>
              </a:rPr>
              <a:t>，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其他打空格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dirty="0" smtClean="0">
                <a:ea typeface="楷体_GB2312" pitchFamily="49" charset="-122"/>
              </a:rPr>
              <a:t>     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其余行，当</a:t>
            </a:r>
            <a:r>
              <a:rPr lang="en-US" altLang="zh-CN" dirty="0" smtClean="0">
                <a:solidFill>
                  <a:srgbClr val="0000FF"/>
                </a:solidFill>
                <a:ea typeface="楷体_GB2312" pitchFamily="49" charset="-122"/>
              </a:rPr>
              <a:t>k==1</a:t>
            </a:r>
            <a:r>
              <a:rPr lang="zh-CN" altLang="en-US" b="0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dirty="0">
                <a:solidFill>
                  <a:srgbClr val="0000FF"/>
                </a:solidFill>
                <a:ea typeface="楷体_GB2312" pitchFamily="49" charset="-122"/>
              </a:rPr>
              <a:t>k</a:t>
            </a:r>
            <a:r>
              <a:rPr lang="en-US" altLang="zh-CN" dirty="0" smtClean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==</a:t>
            </a:r>
            <a:r>
              <a:rPr lang="en-US" altLang="zh-CN" dirty="0" smtClean="0">
                <a:solidFill>
                  <a:srgbClr val="0000FF"/>
                </a:solidFill>
              </a:rPr>
              <a:t>2(n-i)+1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时打印</a:t>
            </a:r>
            <a:r>
              <a:rPr lang="zh-CN" altLang="en-US" dirty="0" smtClean="0">
                <a:solidFill>
                  <a:srgbClr val="0000FF"/>
                </a:solidFill>
              </a:rPr>
              <a:t>*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号</a:t>
            </a:r>
            <a:r>
              <a:rPr lang="zh-CN" altLang="en-US" b="0" dirty="0" smtClean="0">
                <a:solidFill>
                  <a:srgbClr val="0000FF"/>
                </a:solidFill>
              </a:rPr>
              <a:t>，</a:t>
            </a: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其他打</a:t>
            </a:r>
          </a:p>
          <a:p>
            <a:pPr>
              <a:buFont typeface="Wingdings" pitchFamily="2" charset="2"/>
              <a:buNone/>
              <a:defRPr/>
            </a:pPr>
            <a:r>
              <a:rPr lang="zh-CN" altLang="en-US" b="0" dirty="0" smtClean="0">
                <a:solidFill>
                  <a:srgbClr val="0000FF"/>
                </a:solidFill>
                <a:ea typeface="楷体_GB2312" pitchFamily="49" charset="-122"/>
              </a:rPr>
              <a:t>     空格</a:t>
            </a:r>
          </a:p>
        </p:txBody>
      </p:sp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6477000" y="1066800"/>
            <a:ext cx="1624013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* * * * *</a:t>
            </a:r>
          </a:p>
          <a:p>
            <a:pPr eaLnBrk="1" hangingPunct="1">
              <a:lnSpc>
                <a:spcPct val="4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*     *</a:t>
            </a:r>
          </a:p>
          <a:p>
            <a:pPr eaLnBrk="1" hangingPunct="1">
              <a:lnSpc>
                <a:spcPct val="4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*   *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* *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*</a:t>
            </a: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229600" cy="63087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#include &lt;stdio.h&gt;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int main()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{   int  n, i, </a:t>
            </a:r>
            <a:r>
              <a:rPr lang="en-US" altLang="zh-CN" sz="2400" dirty="0" err="1" smtClean="0"/>
              <a:t>j,k</a:t>
            </a:r>
            <a:r>
              <a:rPr lang="en-US" altLang="zh-CN" sz="2400" dirty="0" smtClean="0"/>
              <a:t>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scanf("%d", &amp;n);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for (i=1; i&lt;=n; i++)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{  for (j=1; j&lt;=i-1; j++)     putchar(' 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 for (k=1; k&lt;=2*(n-i)+1; k++) 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     if( (i==1 &amp;&amp; k%2==1) || k==1 || k== 2*(n-i)+1 )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           putchar('*');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        else  putchar(' ');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    printf("\n");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     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	 return 0;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altLang="zh-CN" sz="2400" dirty="0" smtClean="0"/>
              <a:t>}</a:t>
            </a:r>
            <a:endParaRPr lang="zh-CN" altLang="en-US" sz="2400" dirty="0" smtClean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372200" y="620688"/>
            <a:ext cx="1624013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* * * * *</a:t>
            </a:r>
          </a:p>
          <a:p>
            <a:pPr eaLnBrk="1" hangingPunct="1">
              <a:lnSpc>
                <a:spcPct val="4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*     *</a:t>
            </a:r>
          </a:p>
          <a:p>
            <a:pPr eaLnBrk="1" hangingPunct="1">
              <a:lnSpc>
                <a:spcPct val="4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*   *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* *</a:t>
            </a:r>
          </a:p>
          <a:p>
            <a:pPr eaLnBrk="1" hangingPunct="1">
              <a:lnSpc>
                <a:spcPct val="50000"/>
              </a:lnSpc>
              <a:spcBef>
                <a:spcPct val="20000"/>
              </a:spcBef>
            </a:pPr>
            <a:r>
              <a:rPr kumimoji="1" lang="zh-CN" altLang="en-US" sz="2400" b="1" dirty="0">
                <a:latin typeface="宋体" panose="02010600030101010101" pitchFamily="2" charset="-122"/>
              </a:rPr>
              <a:t>    *</a:t>
            </a:r>
          </a:p>
        </p:txBody>
      </p:sp>
    </p:spTree>
  </p:cSld>
  <p:clrMapOvr>
    <a:masterClrMapping/>
  </p:clrMapOvr>
  <p:transition spd="med">
    <p:random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F1B90F-9285-4CC4-8CDC-48D6C1E70DEC}" type="slidenum">
              <a:rPr lang="en-US" altLang="zh-CN" sz="2600">
                <a:solidFill>
                  <a:schemeClr val="bg1"/>
                </a:solidFill>
              </a:rPr>
              <a:pPr/>
              <a:t>113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3.5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00" y="1773238"/>
            <a:ext cx="8208963" cy="4537075"/>
          </a:xfrm>
        </p:spPr>
        <p:txBody>
          <a:bodyPr/>
          <a:lstStyle/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）三种程序结构：顺序、分支、循环的不同语法。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/>
              <a:t>2</a:t>
            </a:r>
            <a:r>
              <a:rPr lang="zh-CN" altLang="en-US" sz="2400" dirty="0"/>
              <a:t>）使用条件语句来实现选择，它们根据条件判断的结果选择所要执行的程序分支，其中条件可以用表达式来描述，如关系表达式和逻辑表达式。</a:t>
            </a:r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/>
              <a:t>3</a:t>
            </a:r>
            <a:r>
              <a:rPr lang="zh-CN" altLang="en-US" sz="2400" dirty="0"/>
              <a:t>）要构成一个有效的循环，应当指定两个条件：需要重复执行的操作和循环结束条件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 marL="0" indent="0">
              <a:buFont typeface="Webdings" panose="05030102010509060703" pitchFamily="18" charset="2"/>
              <a:buNone/>
              <a:defRPr/>
            </a:pPr>
            <a:r>
              <a:rPr lang="en-US" altLang="zh-CN" sz="2400" dirty="0"/>
              <a:t>4</a:t>
            </a:r>
            <a:r>
              <a:rPr lang="zh-CN" altLang="en-US" sz="2400" dirty="0"/>
              <a:t>）注意</a:t>
            </a:r>
            <a:r>
              <a:rPr lang="en-US" altLang="zh-CN" sz="2400" dirty="0"/>
              <a:t>while</a:t>
            </a:r>
            <a:r>
              <a:rPr lang="zh-CN" altLang="en-US" sz="2400" dirty="0"/>
              <a:t>和</a:t>
            </a:r>
            <a:r>
              <a:rPr lang="en-US" altLang="zh-CN" sz="2400" dirty="0"/>
              <a:t>do-while</a:t>
            </a:r>
            <a:r>
              <a:rPr lang="zh-CN" altLang="en-US" sz="2400" dirty="0"/>
              <a:t>语句是不同的。如果循环体多于一条语句，应当把循环体中的多条语句用</a:t>
            </a:r>
            <a:r>
              <a:rPr lang="en-US" altLang="zh-CN" sz="2400" dirty="0"/>
              <a:t>{}</a:t>
            </a:r>
            <a:r>
              <a:rPr lang="zh-CN" altLang="en-US" sz="2400" dirty="0"/>
              <a:t>括起来，形成复合语句，否则系统认为循环体只有一条简单的语句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628775"/>
            <a:ext cx="7772400" cy="2879725"/>
          </a:xfrm>
        </p:spPr>
        <p:txBody>
          <a:bodyPr/>
          <a:lstStyle/>
          <a:p>
            <a:pPr>
              <a:defRPr/>
            </a:pPr>
            <a:r>
              <a:rPr lang="en-US" altLang="zh-CN" sz="2400" dirty="0"/>
              <a:t>5</a:t>
            </a:r>
            <a:r>
              <a:rPr lang="zh-CN" altLang="en-US" sz="2400" dirty="0"/>
              <a:t>）合理使用</a:t>
            </a:r>
            <a:r>
              <a:rPr lang="en-US" altLang="zh-CN" sz="2400" dirty="0"/>
              <a:t>break</a:t>
            </a:r>
            <a:r>
              <a:rPr lang="zh-CN" altLang="en-US" sz="2400" dirty="0"/>
              <a:t>语句处理多循环条件。</a:t>
            </a:r>
            <a:r>
              <a:rPr lang="en-US" altLang="zh-CN" sz="2400" dirty="0"/>
              <a:t>break</a:t>
            </a:r>
            <a:r>
              <a:rPr lang="zh-CN" altLang="en-US" sz="2400" dirty="0"/>
              <a:t>语句结束整个循环过程，不再判断执行循环的条件是否成立。而</a:t>
            </a:r>
            <a:r>
              <a:rPr lang="en-US" altLang="zh-CN" sz="2400" dirty="0"/>
              <a:t>continue</a:t>
            </a:r>
            <a:r>
              <a:rPr lang="zh-CN" altLang="en-US" sz="2400" dirty="0"/>
              <a:t>语句只结束本次循环，而不是终止整个循环的执行。</a:t>
            </a:r>
          </a:p>
          <a:p>
            <a:pPr>
              <a:defRPr/>
            </a:pPr>
            <a:r>
              <a:rPr lang="en-US" altLang="zh-CN" sz="2400" dirty="0"/>
              <a:t>6</a:t>
            </a:r>
            <a:r>
              <a:rPr lang="zh-CN" altLang="en-US" sz="2400" dirty="0"/>
              <a:t>）循环可以嵌套。在一个循环体中可以包含另外一个完整的循环结构。三种循环语句可以相互嵌套，即任一条循环语句可以成为任一种循环中循环体的一部分。</a:t>
            </a:r>
            <a:endParaRPr lang="en-US" altLang="zh-CN" sz="2400" dirty="0"/>
          </a:p>
        </p:txBody>
      </p:sp>
      <p:sp>
        <p:nvSpPr>
          <p:cNvPr id="150531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75EC9A-FA91-42B6-A10B-7873DB6C2827}" type="slidenum">
              <a:rPr lang="en-US" altLang="zh-CN" sz="2600">
                <a:solidFill>
                  <a:schemeClr val="bg1"/>
                </a:solidFill>
              </a:rPr>
              <a:pPr/>
              <a:t>114</a:t>
            </a:fld>
            <a:endParaRPr lang="en-US" altLang="zh-CN" sz="2600">
              <a:solidFill>
                <a:schemeClr val="bg1"/>
              </a:solidFill>
            </a:endParaRPr>
          </a:p>
        </p:txBody>
      </p:sp>
      <p:sp>
        <p:nvSpPr>
          <p:cNvPr id="4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pPr>
              <a:defRPr/>
            </a:pPr>
            <a:r>
              <a:rPr lang="en-US" altLang="zh-CN" dirty="0" smtClean="0"/>
              <a:t>3.5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9684</TotalTime>
  <Words>7263</Words>
  <Application>Microsoft Office PowerPoint</Application>
  <PresentationFormat>全屏显示(4:3)</PresentationFormat>
  <Paragraphs>1624</Paragraphs>
  <Slides>115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115</vt:i4>
      </vt:variant>
    </vt:vector>
  </HeadingPairs>
  <TitlesOfParts>
    <vt:vector size="119" baseType="lpstr">
      <vt:lpstr>Capsules</vt:lpstr>
      <vt:lpstr>1_Capsules</vt:lpstr>
      <vt:lpstr>Equation</vt:lpstr>
      <vt:lpstr>公式</vt:lpstr>
      <vt:lpstr>第3章  程序控制结构</vt:lpstr>
      <vt:lpstr>PowerPoint 演示文稿</vt:lpstr>
      <vt:lpstr>PowerPoint 演示文稿</vt:lpstr>
      <vt:lpstr>3.1顺序结构</vt:lpstr>
      <vt:lpstr>3.1顺序结构</vt:lpstr>
      <vt:lpstr>例:交换两个数（不用中间数t）</vt:lpstr>
      <vt:lpstr>PowerPoint 演示文稿</vt:lpstr>
      <vt:lpstr>3.2选择结构</vt:lpstr>
      <vt:lpstr>简单的if语句</vt:lpstr>
      <vt:lpstr>简单的if语句</vt:lpstr>
      <vt:lpstr>简单的if语句</vt:lpstr>
      <vt:lpstr>简单的if语句</vt:lpstr>
      <vt:lpstr>if-else语句——二分支结构</vt:lpstr>
      <vt:lpstr>if-else语句——二分支结构</vt:lpstr>
      <vt:lpstr>if-else语句——二分支结构</vt:lpstr>
      <vt:lpstr>例：判断数字的奇偶性</vt:lpstr>
      <vt:lpstr>例：判断数字的奇偶性</vt:lpstr>
      <vt:lpstr>if-else语句——二分支结构</vt:lpstr>
      <vt:lpstr>else-if语句——多分支结构</vt:lpstr>
      <vt:lpstr>计算分段函数——分段计算水费</vt:lpstr>
      <vt:lpstr>计算分段函数——分段计算水费</vt:lpstr>
      <vt:lpstr>分段计算水费</vt:lpstr>
      <vt:lpstr>else-if语句——多分支结构</vt:lpstr>
      <vt:lpstr>else-if语句——多分支结构</vt:lpstr>
      <vt:lpstr>else-if语句——多分支结构</vt:lpstr>
      <vt:lpstr>PowerPoint 演示文稿</vt:lpstr>
      <vt:lpstr>PowerPoint 演示文稿</vt:lpstr>
      <vt:lpstr>嵌套if语句</vt:lpstr>
      <vt:lpstr>PowerPoint 演示文稿</vt:lpstr>
      <vt:lpstr>Switch语句</vt:lpstr>
      <vt:lpstr>PowerPoint 演示文稿</vt:lpstr>
      <vt:lpstr>Switch语句</vt:lpstr>
      <vt:lpstr>PowerPoint 演示文稿</vt:lpstr>
      <vt:lpstr>输出学生成绩等第</vt:lpstr>
      <vt:lpstr>编写程序逆序输出一个整数（3位数或以下）</vt:lpstr>
      <vt:lpstr>用switch编写处理四则运算的程序</vt:lpstr>
      <vt:lpstr>PowerPoint 演示文稿</vt:lpstr>
      <vt:lpstr>编程判断输入整数x 的正负性和奇偶性</vt:lpstr>
      <vt:lpstr>编程判断输入整数x 的正负性和奇偶性</vt:lpstr>
      <vt:lpstr>PowerPoint 演示文稿</vt:lpstr>
      <vt:lpstr>3.3循环结构</vt:lpstr>
      <vt:lpstr>for 语句</vt:lpstr>
      <vt:lpstr>执行过程</vt:lpstr>
      <vt:lpstr>for 语句</vt:lpstr>
      <vt:lpstr>从键盘输入5个整数，求它们的和</vt:lpstr>
      <vt:lpstr>求 1+2+……+100</vt:lpstr>
      <vt:lpstr>PowerPoint 演示文稿</vt:lpstr>
      <vt:lpstr>求 1*2*……*100</vt:lpstr>
      <vt:lpstr>写一个程序能依次输出26个大写字母</vt:lpstr>
      <vt:lpstr>题目汇总</vt:lpstr>
      <vt:lpstr>例3-9 求1~100之间奇数和</vt:lpstr>
      <vt:lpstr>求m和n之间偶数和</vt:lpstr>
      <vt:lpstr>PowerPoint 演示文稿</vt:lpstr>
      <vt:lpstr> </vt:lpstr>
      <vt:lpstr>PowerPoint 演示文稿</vt:lpstr>
      <vt:lpstr>计算1-1/3+1/5-1/7+…  </vt:lpstr>
      <vt:lpstr>PowerPoint 演示文稿</vt:lpstr>
      <vt:lpstr>计算1-1/3+1/5-1/7+…  </vt:lpstr>
      <vt:lpstr>求 1+1/1!+1/2!+1/3!+…+1/n!</vt:lpstr>
      <vt:lpstr>while语句</vt:lpstr>
      <vt:lpstr>while循环语句</vt:lpstr>
      <vt:lpstr>从键盘输入一批学生的成绩（以负数作为结束标志),  统计不及格人数。</vt:lpstr>
      <vt:lpstr>求 e≈1+1/1!+1/2!+1/3!+…+1/n!,用while</vt:lpstr>
      <vt:lpstr>求 e≈1+1/1!+1/2!+1/3!+…直到1/n!&lt;10-6为止</vt:lpstr>
      <vt:lpstr>PowerPoint 演示文稿</vt:lpstr>
      <vt:lpstr>PowerPoint 演示文稿</vt:lpstr>
      <vt:lpstr>PowerPoint 演示文稿</vt:lpstr>
      <vt:lpstr>do while语句</vt:lpstr>
      <vt:lpstr>注意</vt:lpstr>
      <vt:lpstr>求 e≈1+1/1!+1/2!+1/3!+…直到1/n!&lt;10-6为止</vt:lpstr>
      <vt:lpstr>例3-8将一个正整数逆序输出并统计位数</vt:lpstr>
      <vt:lpstr>PowerPoint 演示文稿</vt:lpstr>
      <vt:lpstr>PowerPoint 演示文稿</vt:lpstr>
      <vt:lpstr>break语句</vt:lpstr>
      <vt:lpstr>PowerPoint 演示文稿</vt:lpstr>
      <vt:lpstr>continue语句</vt:lpstr>
      <vt:lpstr>break 和 continue</vt:lpstr>
      <vt:lpstr>循环结构的嵌套 </vt:lpstr>
      <vt:lpstr>九九乘法表</vt:lpstr>
      <vt:lpstr>多重循环结构注意事项</vt:lpstr>
      <vt:lpstr>循环程序设计  </vt:lpstr>
      <vt:lpstr>For 、while 和 do-while 的比较</vt:lpstr>
      <vt:lpstr>PowerPoint 演示文稿</vt:lpstr>
      <vt:lpstr>输出m到n之间的“水仙花数”</vt:lpstr>
      <vt:lpstr>PowerPoint 演示文稿</vt:lpstr>
      <vt:lpstr>输入一个正整数m，判断它是否为素数</vt:lpstr>
      <vt:lpstr>PowerPoint 演示文稿</vt:lpstr>
      <vt:lpstr>PowerPoint 演示文稿</vt:lpstr>
      <vt:lpstr>例：求100以内的全部素数，每行输出10个</vt:lpstr>
      <vt:lpstr>PowerPoint 演示文稿</vt:lpstr>
      <vt:lpstr>穷举法</vt:lpstr>
      <vt:lpstr>“百钱百鸡”问题  例3-28</vt:lpstr>
      <vt:lpstr>PowerPoint 演示文稿</vt:lpstr>
      <vt:lpstr>PowerPoint 演示文稿</vt:lpstr>
      <vt:lpstr>最大公约数和最小公倍数</vt:lpstr>
      <vt:lpstr>辗转相除法</vt:lpstr>
      <vt:lpstr>PowerPoint 演示文稿</vt:lpstr>
      <vt:lpstr>相减法</vt:lpstr>
      <vt:lpstr>PowerPoint 演示文稿</vt:lpstr>
      <vt:lpstr>穷举法</vt:lpstr>
      <vt:lpstr>PowerPoint 演示文稿</vt:lpstr>
      <vt:lpstr>3.4 常用算法</vt:lpstr>
      <vt:lpstr>顺推例：求Fibonacci序列前十项：1,1,2,3,5,8, </vt:lpstr>
      <vt:lpstr>顺推法</vt:lpstr>
      <vt:lpstr>倒推法（逆向思维）</vt:lpstr>
      <vt:lpstr>倒推法（逆向思维）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3.5 小结</vt:lpstr>
      <vt:lpstr>3.5 小结</vt:lpstr>
    </vt:vector>
  </TitlesOfParts>
  <Company>Shanghai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</dc:title>
  <dc:creator>Richard M. Lu</dc:creator>
  <dc:description>2007年第五版</dc:description>
  <cp:lastModifiedBy>Windows 用户</cp:lastModifiedBy>
  <cp:revision>1184</cp:revision>
  <dcterms:created xsi:type="dcterms:W3CDTF">2007-07-11T13:28:25Z</dcterms:created>
  <dcterms:modified xsi:type="dcterms:W3CDTF">2020-04-18T13:03:32Z</dcterms:modified>
</cp:coreProperties>
</file>