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150"/>
  </p:notesMasterIdLst>
  <p:sldIdLst>
    <p:sldId id="606" r:id="rId2"/>
    <p:sldId id="607" r:id="rId3"/>
    <p:sldId id="821" r:id="rId4"/>
    <p:sldId id="612" r:id="rId5"/>
    <p:sldId id="823" r:id="rId6"/>
    <p:sldId id="613" r:id="rId7"/>
    <p:sldId id="614" r:id="rId8"/>
    <p:sldId id="615" r:id="rId9"/>
    <p:sldId id="824" r:id="rId10"/>
    <p:sldId id="616" r:id="rId11"/>
    <p:sldId id="618" r:id="rId12"/>
    <p:sldId id="781" r:id="rId13"/>
    <p:sldId id="783" r:id="rId14"/>
    <p:sldId id="619" r:id="rId15"/>
    <p:sldId id="782" r:id="rId16"/>
    <p:sldId id="652" r:id="rId17"/>
    <p:sldId id="621" r:id="rId18"/>
    <p:sldId id="784" r:id="rId19"/>
    <p:sldId id="785" r:id="rId20"/>
    <p:sldId id="622" r:id="rId21"/>
    <p:sldId id="751" r:id="rId22"/>
    <p:sldId id="787" r:id="rId23"/>
    <p:sldId id="788" r:id="rId24"/>
    <p:sldId id="789" r:id="rId25"/>
    <p:sldId id="786" r:id="rId26"/>
    <p:sldId id="825" r:id="rId27"/>
    <p:sldId id="624" r:id="rId28"/>
    <p:sldId id="790" r:id="rId29"/>
    <p:sldId id="625" r:id="rId30"/>
    <p:sldId id="626" r:id="rId31"/>
    <p:sldId id="753" r:id="rId32"/>
    <p:sldId id="627" r:id="rId33"/>
    <p:sldId id="791" r:id="rId34"/>
    <p:sldId id="628" r:id="rId35"/>
    <p:sldId id="629" r:id="rId36"/>
    <p:sldId id="754" r:id="rId37"/>
    <p:sldId id="793" r:id="rId38"/>
    <p:sldId id="792" r:id="rId39"/>
    <p:sldId id="755" r:id="rId40"/>
    <p:sldId id="756" r:id="rId41"/>
    <p:sldId id="826" r:id="rId42"/>
    <p:sldId id="794" r:id="rId43"/>
    <p:sldId id="795" r:id="rId44"/>
    <p:sldId id="632" r:id="rId45"/>
    <p:sldId id="633" r:id="rId46"/>
    <p:sldId id="749" r:id="rId47"/>
    <p:sldId id="635" r:id="rId48"/>
    <p:sldId id="636" r:id="rId49"/>
    <p:sldId id="796" r:id="rId50"/>
    <p:sldId id="760" r:id="rId51"/>
    <p:sldId id="759" r:id="rId52"/>
    <p:sldId id="639" r:id="rId53"/>
    <p:sldId id="797" r:id="rId54"/>
    <p:sldId id="640" r:id="rId55"/>
    <p:sldId id="799" r:id="rId56"/>
    <p:sldId id="798" r:id="rId57"/>
    <p:sldId id="762" r:id="rId58"/>
    <p:sldId id="763" r:id="rId59"/>
    <p:sldId id="642" r:id="rId60"/>
    <p:sldId id="654" r:id="rId61"/>
    <p:sldId id="655" r:id="rId62"/>
    <p:sldId id="657" r:id="rId63"/>
    <p:sldId id="658" r:id="rId64"/>
    <p:sldId id="800" r:id="rId65"/>
    <p:sldId id="827" r:id="rId66"/>
    <p:sldId id="644" r:id="rId67"/>
    <p:sldId id="801" r:id="rId68"/>
    <p:sldId id="645" r:id="rId69"/>
    <p:sldId id="646" r:id="rId70"/>
    <p:sldId id="647" r:id="rId71"/>
    <p:sldId id="648" r:id="rId72"/>
    <p:sldId id="802" r:id="rId73"/>
    <p:sldId id="649" r:id="rId74"/>
    <p:sldId id="730" r:id="rId75"/>
    <p:sldId id="764" r:id="rId76"/>
    <p:sldId id="765" r:id="rId77"/>
    <p:sldId id="767" r:id="rId78"/>
    <p:sldId id="771" r:id="rId79"/>
    <p:sldId id="774" r:id="rId80"/>
    <p:sldId id="650" r:id="rId81"/>
    <p:sldId id="804" r:id="rId82"/>
    <p:sldId id="772" r:id="rId83"/>
    <p:sldId id="773" r:id="rId84"/>
    <p:sldId id="828" r:id="rId85"/>
    <p:sldId id="691" r:id="rId86"/>
    <p:sldId id="693" r:id="rId87"/>
    <p:sldId id="694" r:id="rId88"/>
    <p:sldId id="695" r:id="rId89"/>
    <p:sldId id="696" r:id="rId90"/>
    <p:sldId id="829" r:id="rId91"/>
    <p:sldId id="697" r:id="rId92"/>
    <p:sldId id="698" r:id="rId93"/>
    <p:sldId id="699" r:id="rId94"/>
    <p:sldId id="700" r:id="rId95"/>
    <p:sldId id="701" r:id="rId96"/>
    <p:sldId id="702" r:id="rId97"/>
    <p:sldId id="703" r:id="rId98"/>
    <p:sldId id="704" r:id="rId99"/>
    <p:sldId id="768" r:id="rId100"/>
    <p:sldId id="769" r:id="rId101"/>
    <p:sldId id="806" r:id="rId102"/>
    <p:sldId id="775" r:id="rId103"/>
    <p:sldId id="776" r:id="rId104"/>
    <p:sldId id="830" r:id="rId105"/>
    <p:sldId id="705" r:id="rId106"/>
    <p:sldId id="706" r:id="rId107"/>
    <p:sldId id="707" r:id="rId108"/>
    <p:sldId id="708" r:id="rId109"/>
    <p:sldId id="709" r:id="rId110"/>
    <p:sldId id="805" r:id="rId111"/>
    <p:sldId id="831" r:id="rId112"/>
    <p:sldId id="711" r:id="rId113"/>
    <p:sldId id="712" r:id="rId114"/>
    <p:sldId id="713" r:id="rId115"/>
    <p:sldId id="729" r:id="rId116"/>
    <p:sldId id="715" r:id="rId117"/>
    <p:sldId id="716" r:id="rId118"/>
    <p:sldId id="832" r:id="rId119"/>
    <p:sldId id="722" r:id="rId120"/>
    <p:sldId id="777" r:id="rId121"/>
    <p:sldId id="778" r:id="rId122"/>
    <p:sldId id="723" r:id="rId123"/>
    <p:sldId id="770" r:id="rId124"/>
    <p:sldId id="724" r:id="rId125"/>
    <p:sldId id="779" r:id="rId126"/>
    <p:sldId id="834" r:id="rId127"/>
    <p:sldId id="748" r:id="rId128"/>
    <p:sldId id="833" r:id="rId129"/>
    <p:sldId id="807" r:id="rId130"/>
    <p:sldId id="717" r:id="rId131"/>
    <p:sldId id="719" r:id="rId132"/>
    <p:sldId id="835" r:id="rId133"/>
    <p:sldId id="808" r:id="rId134"/>
    <p:sldId id="810" r:id="rId135"/>
    <p:sldId id="811" r:id="rId136"/>
    <p:sldId id="812" r:id="rId137"/>
    <p:sldId id="813" r:id="rId138"/>
    <p:sldId id="814" r:id="rId139"/>
    <p:sldId id="836" r:id="rId140"/>
    <p:sldId id="725" r:id="rId141"/>
    <p:sldId id="733" r:id="rId142"/>
    <p:sldId id="815" r:id="rId143"/>
    <p:sldId id="816" r:id="rId144"/>
    <p:sldId id="817" r:id="rId145"/>
    <p:sldId id="721" r:id="rId146"/>
    <p:sldId id="820" r:id="rId147"/>
    <p:sldId id="819" r:id="rId148"/>
    <p:sldId id="744" r:id="rId149"/>
  </p:sldIdLst>
  <p:sldSz cx="9144000" cy="6858000" type="screen4x3"/>
  <p:notesSz cx="6858000" cy="9144000"/>
  <p:defaultTextStyle>
    <a:defPPr>
      <a:defRPr lang="zh-CN"/>
    </a:defPPr>
    <a:lvl1pPr algn="l" rtl="0" eaLnBrk="0" fontAlgn="base" hangingPunct="0">
      <a:spcBef>
        <a:spcPct val="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2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p15:clr>
            <a:srgbClr val="A4A3A4"/>
          </p15:clr>
        </p15:guide>
        <p15:guide id="2" pos="289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3333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79" autoAdjust="0"/>
    <p:restoredTop sz="93400" autoAdjust="0"/>
  </p:normalViewPr>
  <p:slideViewPr>
    <p:cSldViewPr>
      <p:cViewPr varScale="1">
        <p:scale>
          <a:sx n="99" d="100"/>
          <a:sy n="99" d="100"/>
        </p:scale>
        <p:origin x="1094" y="82"/>
      </p:cViewPr>
      <p:guideLst>
        <p:guide orient="horz" pos="2159"/>
        <p:guide pos="289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05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38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a:lvl1pPr>
          </a:lstStyle>
          <a:p>
            <a:pPr>
              <a:defRPr/>
            </a:pPr>
            <a:endParaRPr lang="en-US" altLang="zh-CN" dirty="0"/>
          </a:p>
        </p:txBody>
      </p:sp>
      <p:sp>
        <p:nvSpPr>
          <p:cNvPr id="33382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a:lvl1pPr>
          </a:lstStyle>
          <a:p>
            <a:pPr>
              <a:defRPr/>
            </a:pPr>
            <a:endParaRPr lang="en-US" altLang="zh-CN" dirty="0"/>
          </a:p>
        </p:txBody>
      </p:sp>
      <p:sp>
        <p:nvSpPr>
          <p:cNvPr id="102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382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3383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a:lvl1pPr>
          </a:lstStyle>
          <a:p>
            <a:pPr>
              <a:defRPr/>
            </a:pPr>
            <a:endParaRPr lang="en-US" altLang="zh-CN" dirty="0"/>
          </a:p>
        </p:txBody>
      </p:sp>
      <p:sp>
        <p:nvSpPr>
          <p:cNvPr id="33383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a:lvl1pPr>
          </a:lstStyle>
          <a:p>
            <a:pPr>
              <a:defRPr/>
            </a:pPr>
            <a:fld id="{06A1E78A-2B14-4A82-8C68-BF0F1494DE67}" type="slidenum">
              <a:rPr lang="en-US" altLang="zh-CN"/>
              <a:t>‹#›</a:t>
            </a:fld>
            <a:endParaRPr lang="en-US" altLang="zh-CN" dirty="0"/>
          </a:p>
        </p:txBody>
      </p:sp>
    </p:spTree>
    <p:extLst>
      <p:ext uri="{BB962C8B-B14F-4D97-AF65-F5344CB8AC3E}">
        <p14:creationId xmlns:p14="http://schemas.microsoft.com/office/powerpoint/2010/main" val="31584462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t>6</a:t>
            </a:fld>
            <a:endParaRPr lang="en-US" altLang="zh-CN" dirty="0"/>
          </a:p>
        </p:txBody>
      </p:sp>
    </p:spTree>
    <p:extLst>
      <p:ext uri="{BB962C8B-B14F-4D97-AF65-F5344CB8AC3E}">
        <p14:creationId xmlns:p14="http://schemas.microsoft.com/office/powerpoint/2010/main" val="2056179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TextEdit="1"/>
          </p:cNvSpPr>
          <p:nvPr>
            <p:ph type="sldImg"/>
          </p:nvPr>
        </p:nvSpPr>
        <p:spPr>
          <a:ln>
            <a:solidFill>
              <a:srgbClr val="000000">
                <a:alpha val="100000"/>
              </a:srgbClr>
            </a:solidFill>
            <a:miter lim="800000"/>
          </a:ln>
        </p:spPr>
      </p:sp>
      <p:sp>
        <p:nvSpPr>
          <p:cNvPr id="112643" name="Rectangle 3"/>
          <p:cNvSpPr>
            <a:spLocks noGrp="1"/>
          </p:cNvSpPr>
          <p:nvPr>
            <p:ph type="body" idx="1"/>
          </p:nvPr>
        </p:nvSpPr>
        <p:spPr>
          <a:xfrm>
            <a:off x="685800" y="4343400"/>
            <a:ext cx="5486400" cy="4114800"/>
          </a:xfrm>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12</a:t>
            </a:fld>
            <a:endParaRPr lang="zh-CN" altLang="en-US" sz="1200" dirty="0">
              <a:latin typeface="Times New Roman" panose="02020603050405020304" pitchFamily="18" charset="0"/>
            </a:endParaRPr>
          </a:p>
        </p:txBody>
      </p:sp>
      <p:sp>
        <p:nvSpPr>
          <p:cNvPr id="114691" name="Rectangle 2"/>
          <p:cNvSpPr>
            <a:spLocks noGrp="1" noRot="1" noChangeAspect="1" noTextEdit="1"/>
          </p:cNvSpPr>
          <p:nvPr>
            <p:ph type="sldImg"/>
          </p:nvPr>
        </p:nvSpPr>
        <p:spPr/>
      </p:sp>
      <p:sp>
        <p:nvSpPr>
          <p:cNvPr id="114692"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extLst>
      <p:ext uri="{BB962C8B-B14F-4D97-AF65-F5344CB8AC3E}">
        <p14:creationId xmlns:p14="http://schemas.microsoft.com/office/powerpoint/2010/main" val="2491488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此程序在Code::Blocks下的运行结果如下，每行的两个输出结果都相同，说明当为指针变量建立了指向关系后，可以通过指针变量来完全的访问它指向的变量。</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16</a:t>
            </a:fld>
            <a:endParaRPr lang="zh-CN" altLang="en-US" sz="1200" dirty="0">
              <a:latin typeface="Times New Roman" panose="02020603050405020304" pitchFamily="18" charset="0"/>
            </a:endParaRPr>
          </a:p>
        </p:txBody>
      </p:sp>
      <p:sp>
        <p:nvSpPr>
          <p:cNvPr id="114691" name="Rectangle 2"/>
          <p:cNvSpPr>
            <a:spLocks noGrp="1" noRot="1" noChangeAspect="1" noTextEdit="1"/>
          </p:cNvSpPr>
          <p:nvPr>
            <p:ph type="sldImg"/>
          </p:nvPr>
        </p:nvSpPr>
        <p:spPr/>
      </p:sp>
      <p:sp>
        <p:nvSpPr>
          <p:cNvPr id="114692"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354C9F-FFAE-4634-9758-36116D1C9B49}" type="slidenum">
              <a:rPr lang="zh-CN" altLang="en-US">
                <a:latin typeface="Times New Roman" panose="02020603050405020304" pitchFamily="18" charset="0"/>
              </a:rPr>
              <a:t>26</a:t>
            </a:fld>
            <a:endParaRPr lang="en-US" altLang="zh-CN" dirty="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354C9F-FFAE-4634-9758-36116D1C9B49}" type="slidenum">
              <a:rPr lang="zh-CN" altLang="en-US">
                <a:latin typeface="Times New Roman" panose="02020603050405020304" pitchFamily="18" charset="0"/>
              </a:rPr>
              <a:t>27</a:t>
            </a:fld>
            <a:endParaRPr lang="en-US" altLang="zh-CN" dirty="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dirty="0" smtClean="0"/>
          </a:p>
        </p:txBody>
      </p:sp>
    </p:spTree>
    <p:extLst>
      <p:ext uri="{BB962C8B-B14F-4D97-AF65-F5344CB8AC3E}">
        <p14:creationId xmlns:p14="http://schemas.microsoft.com/office/powerpoint/2010/main" val="1687833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354C9F-FFAE-4634-9758-36116D1C9B49}" type="slidenum">
              <a:rPr lang="zh-CN" altLang="en-US">
                <a:latin typeface="Times New Roman" panose="02020603050405020304" pitchFamily="18" charset="0"/>
              </a:rPr>
              <a:t>29</a:t>
            </a:fld>
            <a:endParaRPr lang="en-US" altLang="zh-CN" dirty="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33</a:t>
            </a:fld>
            <a:endParaRPr lang="zh-CN" altLang="en-US" sz="1200" dirty="0">
              <a:latin typeface="Times New Roman" panose="02020603050405020304" pitchFamily="18" charset="0"/>
            </a:endParaRPr>
          </a:p>
        </p:txBody>
      </p:sp>
      <p:sp>
        <p:nvSpPr>
          <p:cNvPr id="124931" name="Rectangle 2"/>
          <p:cNvSpPr>
            <a:spLocks noGrp="1" noRot="1" noChangeAspect="1" noTextEdit="1"/>
          </p:cNvSpPr>
          <p:nvPr>
            <p:ph type="sldImg"/>
          </p:nvPr>
        </p:nvSpPr>
        <p:spPr/>
      </p:sp>
      <p:sp>
        <p:nvSpPr>
          <p:cNvPr id="124932"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34</a:t>
            </a:fld>
            <a:endParaRPr lang="zh-CN" altLang="en-US" sz="1200" dirty="0">
              <a:latin typeface="Times New Roman" panose="02020603050405020304" pitchFamily="18" charset="0"/>
            </a:endParaRPr>
          </a:p>
        </p:txBody>
      </p:sp>
      <p:sp>
        <p:nvSpPr>
          <p:cNvPr id="123907" name="Rectangle 2"/>
          <p:cNvSpPr>
            <a:spLocks noGrp="1" noRot="1" noChangeAspect="1" noTextEdit="1"/>
          </p:cNvSpPr>
          <p:nvPr>
            <p:ph type="sldImg"/>
          </p:nvPr>
        </p:nvSpPr>
        <p:spPr/>
      </p:sp>
      <p:sp>
        <p:nvSpPr>
          <p:cNvPr id="123908"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354C9F-FFAE-4634-9758-36116D1C9B49}" type="slidenum">
              <a:rPr lang="zh-CN" altLang="en-US">
                <a:latin typeface="Times New Roman" panose="02020603050405020304" pitchFamily="18" charset="0"/>
              </a:rPr>
              <a:t>41</a:t>
            </a:fld>
            <a:endParaRPr lang="en-US" altLang="zh-CN" dirty="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dirty="0" smtClean="0"/>
          </a:p>
        </p:txBody>
      </p:sp>
    </p:spTree>
    <p:extLst>
      <p:ext uri="{BB962C8B-B14F-4D97-AF65-F5344CB8AC3E}">
        <p14:creationId xmlns:p14="http://schemas.microsoft.com/office/powerpoint/2010/main" val="2924997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354C9F-FFAE-4634-9758-36116D1C9B49}" type="slidenum">
              <a:rPr lang="zh-CN" altLang="en-US">
                <a:latin typeface="Times New Roman" panose="02020603050405020304" pitchFamily="18" charset="0"/>
              </a:rPr>
              <a:t>42</a:t>
            </a:fld>
            <a:endParaRPr lang="en-US" altLang="zh-CN" dirty="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dirty="0" smtClean="0"/>
          </a:p>
        </p:txBody>
      </p:sp>
    </p:spTree>
    <p:extLst>
      <p:ext uri="{BB962C8B-B14F-4D97-AF65-F5344CB8AC3E}">
        <p14:creationId xmlns:p14="http://schemas.microsoft.com/office/powerpoint/2010/main" val="1130574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动画</a:t>
            </a:r>
            <a:endParaRPr lang="zh-CN" altLang="en-US" dirty="0"/>
          </a:p>
        </p:txBody>
      </p:sp>
      <p:sp>
        <p:nvSpPr>
          <p:cNvPr id="4" name="灯片编号占位符 3"/>
          <p:cNvSpPr>
            <a:spLocks noGrp="1"/>
          </p:cNvSpPr>
          <p:nvPr>
            <p:ph type="sldNum" sz="quarter" idx="10"/>
          </p:nvPr>
        </p:nvSpPr>
        <p:spPr/>
        <p:txBody>
          <a:bodyPr/>
          <a:lstStyle/>
          <a:p>
            <a:fld id="{DB407DE5-00D9-43A9-A878-6C136045CE2F}" type="slidenum">
              <a:rPr lang="zh-CN" altLang="en-US" smtClean="0"/>
              <a:t>45</a:t>
            </a:fld>
            <a:endParaRPr lang="zh-CN" altLang="en-US"/>
          </a:p>
        </p:txBody>
      </p:sp>
    </p:spTree>
    <p:extLst>
      <p:ext uri="{BB962C8B-B14F-4D97-AF65-F5344CB8AC3E}">
        <p14:creationId xmlns:p14="http://schemas.microsoft.com/office/powerpoint/2010/main" val="1782247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47</a:t>
            </a:fld>
            <a:endParaRPr lang="zh-CN" altLang="en-US" sz="1200" dirty="0">
              <a:latin typeface="Times New Roman" panose="02020603050405020304" pitchFamily="18" charset="0"/>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动画</a:t>
            </a:r>
            <a:endParaRPr lang="zh-CN" altLang="en-US" dirty="0"/>
          </a:p>
        </p:txBody>
      </p:sp>
      <p:sp>
        <p:nvSpPr>
          <p:cNvPr id="4" name="灯片编号占位符 3"/>
          <p:cNvSpPr>
            <a:spLocks noGrp="1"/>
          </p:cNvSpPr>
          <p:nvPr>
            <p:ph type="sldNum" sz="quarter" idx="10"/>
          </p:nvPr>
        </p:nvSpPr>
        <p:spPr/>
        <p:txBody>
          <a:bodyPr/>
          <a:lstStyle/>
          <a:p>
            <a:fld id="{DB407DE5-00D9-43A9-A878-6C136045CE2F}" type="slidenum">
              <a:rPr lang="zh-CN" altLang="en-US" smtClean="0"/>
              <a:t>48</a:t>
            </a:fld>
            <a:endParaRPr lang="zh-CN" altLang="en-US"/>
          </a:p>
        </p:txBody>
      </p:sp>
    </p:spTree>
    <p:extLst>
      <p:ext uri="{BB962C8B-B14F-4D97-AF65-F5344CB8AC3E}">
        <p14:creationId xmlns:p14="http://schemas.microsoft.com/office/powerpoint/2010/main" val="111821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2FB8400-0D40-4D5D-9A91-A78454D9FF27}" type="slidenum">
              <a:rPr lang="zh-CN" altLang="en-US" smtClean="0">
                <a:latin typeface="Times New Roman" pitchFamily="18" charset="0"/>
              </a:rPr>
              <a:pPr eaLnBrk="1" hangingPunct="1"/>
              <a:t>50</a:t>
            </a:fld>
            <a:endParaRPr lang="en-US" altLang="zh-CN" dirty="0" smtClean="0">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endParaRPr lang="zh-CN" altLang="en-US" smtClean="0">
              <a:ea typeface="宋体"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51</a:t>
            </a:fld>
            <a:endParaRPr lang="zh-CN" altLang="en-US" sz="1200" dirty="0">
              <a:latin typeface="Times New Roman" panose="02020603050405020304" pitchFamily="18" charset="0"/>
            </a:endParaRPr>
          </a:p>
        </p:txBody>
      </p:sp>
      <p:sp>
        <p:nvSpPr>
          <p:cNvPr id="128003" name="Rectangle 2"/>
          <p:cNvSpPr>
            <a:spLocks noGrp="1" noRot="1" noChangeAspect="1" noTextEdit="1"/>
          </p:cNvSpPr>
          <p:nvPr>
            <p:ph type="sldImg"/>
          </p:nvPr>
        </p:nvSpPr>
        <p:spPr/>
      </p:sp>
      <p:sp>
        <p:nvSpPr>
          <p:cNvPr id="128004"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52</a:t>
            </a:fld>
            <a:endParaRPr lang="zh-CN" altLang="en-US" sz="1200" dirty="0">
              <a:latin typeface="Times New Roman" panose="02020603050405020304" pitchFamily="18" charset="0"/>
            </a:endParaRPr>
          </a:p>
        </p:txBody>
      </p:sp>
      <p:sp>
        <p:nvSpPr>
          <p:cNvPr id="128003" name="Rectangle 2"/>
          <p:cNvSpPr>
            <a:spLocks noGrp="1" noRot="1" noChangeAspect="1" noTextEdit="1"/>
          </p:cNvSpPr>
          <p:nvPr>
            <p:ph type="sldImg"/>
          </p:nvPr>
        </p:nvSpPr>
        <p:spPr/>
      </p:sp>
      <p:sp>
        <p:nvSpPr>
          <p:cNvPr id="128004"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extLst>
      <p:ext uri="{BB962C8B-B14F-4D97-AF65-F5344CB8AC3E}">
        <p14:creationId xmlns:p14="http://schemas.microsoft.com/office/powerpoint/2010/main" val="556651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2FB8400-0D40-4D5D-9A91-A78454D9FF27}" type="slidenum">
              <a:rPr lang="zh-CN" altLang="en-US" smtClean="0">
                <a:latin typeface="Times New Roman" pitchFamily="18" charset="0"/>
              </a:rPr>
              <a:pPr eaLnBrk="1" hangingPunct="1"/>
              <a:t>54</a:t>
            </a:fld>
            <a:endParaRPr lang="en-US" altLang="zh-CN" dirty="0" smtClean="0">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endParaRPr lang="zh-CN" altLang="en-US" smtClean="0">
              <a:ea typeface="宋体" charset="-122"/>
            </a:endParaRPr>
          </a:p>
        </p:txBody>
      </p:sp>
    </p:spTree>
    <p:extLst>
      <p:ext uri="{BB962C8B-B14F-4D97-AF65-F5344CB8AC3E}">
        <p14:creationId xmlns:p14="http://schemas.microsoft.com/office/powerpoint/2010/main" val="28204684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t>55</a:t>
            </a:fld>
            <a:endParaRPr lang="en-US" altLang="zh-CN" dirty="0"/>
          </a:p>
        </p:txBody>
      </p:sp>
    </p:spTree>
    <p:extLst>
      <p:ext uri="{BB962C8B-B14F-4D97-AF65-F5344CB8AC3E}">
        <p14:creationId xmlns:p14="http://schemas.microsoft.com/office/powerpoint/2010/main" val="286945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t>56</a:t>
            </a:fld>
            <a:endParaRPr lang="en-US" altLang="zh-CN" dirty="0"/>
          </a:p>
        </p:txBody>
      </p:sp>
    </p:spTree>
    <p:extLst>
      <p:ext uri="{BB962C8B-B14F-4D97-AF65-F5344CB8AC3E}">
        <p14:creationId xmlns:p14="http://schemas.microsoft.com/office/powerpoint/2010/main" val="35648119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t>58</a:t>
            </a:fld>
            <a:endParaRPr lang="en-US" altLang="zh-CN" dirty="0"/>
          </a:p>
        </p:txBody>
      </p:sp>
    </p:spTree>
    <p:extLst>
      <p:ext uri="{BB962C8B-B14F-4D97-AF65-F5344CB8AC3E}">
        <p14:creationId xmlns:p14="http://schemas.microsoft.com/office/powerpoint/2010/main" val="38147606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t>77</a:t>
            </a:fld>
            <a:endParaRPr lang="en-US" altLang="zh-CN" dirty="0"/>
          </a:p>
        </p:txBody>
      </p:sp>
    </p:spTree>
    <p:extLst>
      <p:ext uri="{BB962C8B-B14F-4D97-AF65-F5344CB8AC3E}">
        <p14:creationId xmlns:p14="http://schemas.microsoft.com/office/powerpoint/2010/main" val="965213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93</a:t>
            </a:fld>
            <a:endParaRPr lang="zh-CN" altLang="en-US" sz="1200" dirty="0">
              <a:latin typeface="Times New Roman" panose="02020603050405020304" pitchFamily="18" charset="0"/>
            </a:endParaRPr>
          </a:p>
        </p:txBody>
      </p:sp>
      <p:sp>
        <p:nvSpPr>
          <p:cNvPr id="61443" name="Rectangle 2"/>
          <p:cNvSpPr>
            <a:spLocks noGrp="1" noRot="1" noChangeAspect="1" noTextEdit="1"/>
          </p:cNvSpPr>
          <p:nvPr>
            <p:ph type="sldImg"/>
          </p:nvPr>
        </p:nvSpPr>
        <p:spPr/>
      </p:sp>
      <p:sp>
        <p:nvSpPr>
          <p:cNvPr id="61444"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94</a:t>
            </a:fld>
            <a:endParaRPr lang="zh-CN" altLang="en-US" sz="1200" dirty="0">
              <a:latin typeface="Times New Roman" panose="02020603050405020304" pitchFamily="18" charset="0"/>
            </a:endParaRPr>
          </a:p>
        </p:txBody>
      </p:sp>
      <p:sp>
        <p:nvSpPr>
          <p:cNvPr id="62467" name="Rectangle 2"/>
          <p:cNvSpPr>
            <a:spLocks noGrp="1" noRot="1" noChangeAspect="1" noTextEdit="1"/>
          </p:cNvSpPr>
          <p:nvPr>
            <p:ph type="sldImg"/>
          </p:nvPr>
        </p:nvSpPr>
        <p:spPr/>
      </p:sp>
      <p:sp>
        <p:nvSpPr>
          <p:cNvPr id="62468"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96</a:t>
            </a:fld>
            <a:endParaRPr lang="zh-CN" altLang="en-US" sz="1200" dirty="0">
              <a:latin typeface="Times New Roman" panose="02020603050405020304" pitchFamily="18" charset="0"/>
            </a:endParaRPr>
          </a:p>
        </p:txBody>
      </p:sp>
      <p:sp>
        <p:nvSpPr>
          <p:cNvPr id="63491" name="Rectangle 2"/>
          <p:cNvSpPr>
            <a:spLocks noGrp="1" noRot="1" noChangeAspect="1" noTextEdit="1"/>
          </p:cNvSpPr>
          <p:nvPr>
            <p:ph type="sldImg"/>
          </p:nvPr>
        </p:nvSpPr>
        <p:spPr/>
      </p:sp>
      <p:sp>
        <p:nvSpPr>
          <p:cNvPr id="63492"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111</a:t>
            </a:fld>
            <a:endParaRPr lang="zh-CN" altLang="en-US" sz="1200" dirty="0">
              <a:latin typeface="Times New Roman" panose="02020603050405020304" pitchFamily="18" charset="0"/>
            </a:endParaRPr>
          </a:p>
        </p:txBody>
      </p:sp>
      <p:sp>
        <p:nvSpPr>
          <p:cNvPr id="67587" name="Rectangle 2"/>
          <p:cNvSpPr>
            <a:spLocks noGrp="1" noRot="1" noChangeAspect="1" noTextEdit="1"/>
          </p:cNvSpPr>
          <p:nvPr>
            <p:ph type="sldImg"/>
          </p:nvPr>
        </p:nvSpPr>
        <p:spPr/>
      </p:sp>
      <p:sp>
        <p:nvSpPr>
          <p:cNvPr id="67588"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dirty="0">
                <a:latin typeface="Times New Roman" panose="02020603050405020304" pitchFamily="18" charset="0"/>
              </a:rPr>
              <a:t>113</a:t>
            </a:fld>
            <a:endParaRPr lang="zh-CN" altLang="en-US" sz="1200" dirty="0">
              <a:latin typeface="Times New Roman" panose="02020603050405020304" pitchFamily="18" charset="0"/>
            </a:endParaRPr>
          </a:p>
        </p:txBody>
      </p:sp>
      <p:sp>
        <p:nvSpPr>
          <p:cNvPr id="69635" name="Rectangle 2"/>
          <p:cNvSpPr>
            <a:spLocks noGrp="1" noRot="1" noChangeAspect="1" noTextEdit="1"/>
          </p:cNvSpPr>
          <p:nvPr>
            <p:ph type="sldImg"/>
          </p:nvPr>
        </p:nvSpPr>
        <p:spPr/>
      </p:sp>
      <p:sp>
        <p:nvSpPr>
          <p:cNvPr id="69636"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688E344-7687-49D5-8A8F-E20351BD0DAB}" type="slidenum">
              <a:rPr lang="zh-CN" altLang="en-US"/>
              <a:t>144</a:t>
            </a:fld>
            <a:endParaRPr lang="en-US" altLang="zh-CN" dirty="0"/>
          </a:p>
        </p:txBody>
      </p:sp>
      <p:sp>
        <p:nvSpPr>
          <p:cNvPr id="495618" name="Rectangle 2"/>
          <p:cNvSpPr>
            <a:spLocks noGrp="1" noRot="1" noChangeAspect="1" noChangeArrowheads="1" noTextEdit="1"/>
          </p:cNvSpPr>
          <p:nvPr>
            <p:ph type="sldImg"/>
          </p:nvPr>
        </p:nvSpPr>
        <p:spPr>
          <a:xfrm>
            <a:off x="1292225" y="796925"/>
            <a:ext cx="4273550" cy="3205163"/>
          </a:xfrm>
        </p:spPr>
      </p:sp>
      <p:sp>
        <p:nvSpPr>
          <p:cNvPr id="495619" name="Rectangle 3"/>
          <p:cNvSpPr>
            <a:spLocks noGrp="1" noChangeArrowheads="1"/>
          </p:cNvSpPr>
          <p:nvPr>
            <p:ph type="body" idx="1"/>
          </p:nvPr>
        </p:nvSpPr>
        <p:spPr>
          <a:xfrm>
            <a:off x="914400" y="4346575"/>
            <a:ext cx="5029200" cy="3849688"/>
          </a:xfrm>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supp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339" name="Rectangle 3"/>
          <p:cNvSpPr>
            <a:spLocks noGrp="1" noChangeArrowheads="1"/>
          </p:cNvSpPr>
          <p:nvPr>
            <p:ph type="subTitle" idx="1"/>
          </p:nvPr>
        </p:nvSpPr>
        <p:spPr>
          <a:xfrm>
            <a:off x="1116013" y="3406775"/>
            <a:ext cx="7397750" cy="1822450"/>
          </a:xfrm>
        </p:spPr>
        <p:txBody>
          <a:bodyPr lIns="91440" tIns="45720" rIns="91440" bIns="45720" anchor="b"/>
          <a:lstStyle>
            <a:lvl1pPr marL="0" indent="0" algn="ctr">
              <a:buFont typeface="Webdings" panose="05030102010509060703" pitchFamily="18" charset="2"/>
              <a:buNone/>
              <a:defRPr/>
            </a:lvl1pPr>
          </a:lstStyle>
          <a:p>
            <a:pPr lvl="0"/>
            <a:r>
              <a:rPr lang="zh-CN" altLang="en-US" noProof="0" smtClean="0"/>
              <a:t>单击此处编辑母版副标题样式</a:t>
            </a:r>
          </a:p>
        </p:txBody>
      </p:sp>
      <p:sp>
        <p:nvSpPr>
          <p:cNvPr id="398340" name="AutoShape 4"/>
          <p:cNvSpPr>
            <a:spLocks noGrp="1" noChangeArrowheads="1"/>
          </p:cNvSpPr>
          <p:nvPr>
            <p:ph type="ctrTitle" sz="quarter"/>
          </p:nvPr>
        </p:nvSpPr>
        <p:spPr>
          <a:xfrm>
            <a:off x="685800" y="1163638"/>
            <a:ext cx="8229600" cy="1905000"/>
          </a:xfrm>
          <a:prstGeom prst="roundRect">
            <a:avLst>
              <a:gd name="adj" fmla="val 50000"/>
            </a:avLst>
          </a:prstGeom>
        </p:spPr>
        <p:txBody>
          <a:bodyPr anchor="ctr"/>
          <a:lstStyle>
            <a:lvl1pPr algn="ctr">
              <a:defRPr/>
            </a:lvl1pPr>
          </a:lstStyle>
          <a:p>
            <a:pPr lvl="0"/>
            <a:r>
              <a:rPr lang="zh-CN" altLang="en-US" noProof="0" smtClean="0"/>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55650" y="1700213"/>
            <a:ext cx="3919538" cy="4537075"/>
          </a:xfrm>
        </p:spPr>
        <p:txBody>
          <a:bodyPr/>
          <a:lstStyle>
            <a:lvl1pPr>
              <a:defRPr sz="2800"/>
            </a:lvl1pPr>
            <a:lvl2pPr>
              <a:defRPr sz="2400"/>
            </a:lvl2pPr>
            <a:lvl3pPr>
              <a:defRPr sz="2000">
                <a:solidFill>
                  <a:schemeClr val="accent4"/>
                </a:solidFill>
              </a:defRPr>
            </a:lvl3pPr>
            <a:lvl4pPr>
              <a:defRPr sz="1800">
                <a:solidFill>
                  <a:schemeClr val="accent4"/>
                </a:solidFill>
              </a:defRPr>
            </a:lvl4pPr>
            <a:lvl5pPr>
              <a:defRPr sz="1800">
                <a:solidFill>
                  <a:schemeClr val="accent4"/>
                </a:solidFill>
              </a:defRPr>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内容占位符 3"/>
          <p:cNvSpPr>
            <a:spLocks noGrp="1"/>
          </p:cNvSpPr>
          <p:nvPr>
            <p:ph sz="half" idx="2"/>
          </p:nvPr>
        </p:nvSpPr>
        <p:spPr>
          <a:xfrm>
            <a:off x="4827588" y="1700213"/>
            <a:ext cx="3921125" cy="4537075"/>
          </a:xfrm>
        </p:spPr>
        <p:txBody>
          <a:bodyPr/>
          <a:lstStyle>
            <a:lvl1pPr>
              <a:defRPr sz="2800"/>
            </a:lvl1pPr>
            <a:lvl2pPr>
              <a:defRPr sz="2400">
                <a:solidFill>
                  <a:schemeClr val="accent4"/>
                </a:solidFill>
              </a:defRPr>
            </a:lvl2pPr>
            <a:lvl3pPr>
              <a:defRPr sz="2000">
                <a:solidFill>
                  <a:schemeClr val="accent4"/>
                </a:solidFill>
              </a:defRPr>
            </a:lvl3pPr>
            <a:lvl4pPr>
              <a:defRPr sz="1800">
                <a:solidFill>
                  <a:schemeClr val="accent4"/>
                </a:solidFill>
              </a:defRPr>
            </a:lvl4pPr>
            <a:lvl5pPr>
              <a:defRPr sz="1800">
                <a:solidFill>
                  <a:schemeClr val="accent4"/>
                </a:solidFill>
              </a:defRPr>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solidFill>
                  <a:schemeClr val="accent4"/>
                </a:solidFill>
              </a:defRPr>
            </a:lvl2pPr>
            <a:lvl3pPr>
              <a:defRPr sz="1800">
                <a:solidFill>
                  <a:schemeClr val="accent4"/>
                </a:solidFill>
              </a:defRPr>
            </a:lvl3pPr>
            <a:lvl4pPr>
              <a:defRPr sz="1600">
                <a:solidFill>
                  <a:schemeClr val="accent4"/>
                </a:solidFill>
              </a:defRPr>
            </a:lvl4pPr>
            <a:lvl5pPr>
              <a:defRPr sz="1600">
                <a:solidFill>
                  <a:schemeClr val="accent4"/>
                </a:solidFill>
              </a:defRPr>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solidFill>
                  <a:schemeClr val="accent4"/>
                </a:solidFill>
              </a:defRPr>
            </a:lvl2pPr>
            <a:lvl3pPr>
              <a:defRPr sz="1800">
                <a:solidFill>
                  <a:schemeClr val="accent4"/>
                </a:solidFill>
              </a:defRPr>
            </a:lvl3pPr>
            <a:lvl4pPr>
              <a:defRPr sz="1600">
                <a:solidFill>
                  <a:schemeClr val="accent4"/>
                </a:solidFill>
              </a:defRPr>
            </a:lvl4pPr>
            <a:lvl5pPr>
              <a:defRPr sz="1600">
                <a:solidFill>
                  <a:schemeClr val="accent4"/>
                </a:solidFill>
              </a:defRPr>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7"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ftr" sz="quarter" idx="10"/>
          </p:nvPr>
        </p:nvSpPr>
        <p:spPr/>
        <p:txBody>
          <a:bodyPr/>
          <a:lstStyle>
            <a:lvl1pPr>
              <a:defRPr/>
            </a:lvl1pPr>
          </a:lstStyle>
          <a:p>
            <a:pPr>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51638" y="765175"/>
            <a:ext cx="1997075" cy="5472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55650" y="765175"/>
            <a:ext cx="5843588" cy="5472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p:txBody>
          <a:bodyPr/>
          <a:lstStyle>
            <a:lvl1pPr>
              <a:defRPr/>
            </a:lvl1pPr>
          </a:lstStyle>
          <a:p>
            <a:pPr>
              <a:defRPr/>
            </a:pPr>
            <a:fld id="{A72F90D5-A31F-4C2A-BB7D-2C6A931A09EA}" type="slidenum">
              <a:rPr lang="en-US" altLang="zh-CN"/>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日期占位符 6"/>
          <p:cNvSpPr>
            <a:spLocks noGrp="1"/>
          </p:cNvSpPr>
          <p:nvPr>
            <p:ph type="dt" sz="half" idx="12"/>
          </p:nvPr>
        </p:nvSpPr>
        <p:spPr>
          <a:xfrm>
            <a:off x="628650" y="6356350"/>
            <a:ext cx="2057400" cy="365125"/>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1038" y="620713"/>
            <a:ext cx="7797800" cy="83978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25600"/>
            <a:ext cx="3810000" cy="46116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25600"/>
            <a:ext cx="3810000" cy="2228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06850"/>
            <a:ext cx="3810000" cy="22304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日期占位符 7"/>
          <p:cNvSpPr>
            <a:spLocks noGrp="1"/>
          </p:cNvSpPr>
          <p:nvPr>
            <p:ph type="dt" sz="half" idx="12"/>
          </p:nvPr>
        </p:nvSpPr>
        <p:spPr>
          <a:xfrm>
            <a:off x="457200" y="6245225"/>
            <a:ext cx="2133600" cy="4762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981200"/>
            <a:ext cx="8229600" cy="3886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日期占位符 5"/>
          <p:cNvSpPr>
            <a:spLocks noGrp="1"/>
          </p:cNvSpPr>
          <p:nvPr>
            <p:ph type="dt" sz="half" idx="12"/>
          </p:nvPr>
        </p:nvSpPr>
        <p:spPr>
          <a:xfrm>
            <a:off x="457200" y="6245225"/>
            <a:ext cx="2133600" cy="4762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9525" y="1588"/>
            <a:ext cx="762000" cy="6858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Freeform 3"/>
          <p:cNvSpPr/>
          <p:nvPr/>
        </p:nvSpPr>
        <p:spPr bwMode="auto">
          <a:xfrm>
            <a:off x="468313" y="0"/>
            <a:ext cx="2743200" cy="1052513"/>
          </a:xfrm>
          <a:custGeom>
            <a:avLst/>
            <a:gdLst>
              <a:gd name="T0" fmla="*/ 2147483647 w 1728"/>
              <a:gd name="T1" fmla="*/ 0 h 735"/>
              <a:gd name="T2" fmla="*/ 2147483647 w 1728"/>
              <a:gd name="T3" fmla="*/ 984285814 h 735"/>
              <a:gd name="T4" fmla="*/ 957659375 w 1728"/>
              <a:gd name="T5" fmla="*/ 988387034 h 735"/>
              <a:gd name="T6" fmla="*/ 892135313 w 1728"/>
              <a:gd name="T7" fmla="*/ 984285814 h 735"/>
              <a:gd name="T8" fmla="*/ 776208125 w 1728"/>
              <a:gd name="T9" fmla="*/ 1002741307 h 735"/>
              <a:gd name="T10" fmla="*/ 619958438 w 1728"/>
              <a:gd name="T11" fmla="*/ 1088866942 h 735"/>
              <a:gd name="T12" fmla="*/ 519152188 w 1728"/>
              <a:gd name="T13" fmla="*/ 1224205794 h 735"/>
              <a:gd name="T14" fmla="*/ 483870000 w 1728"/>
              <a:gd name="T15" fmla="*/ 1365697909 h 735"/>
              <a:gd name="T16" fmla="*/ 483870000 w 1728"/>
              <a:gd name="T17" fmla="*/ 1507188592 h 735"/>
              <a:gd name="T18" fmla="*/ 0 w 1728"/>
              <a:gd name="T19" fmla="*/ 1507188592 h 735"/>
              <a:gd name="T20" fmla="*/ 0 w 1728"/>
              <a:gd name="T21" fmla="*/ 984285814 h 735"/>
              <a:gd name="T22" fmla="*/ 0 w 1728"/>
              <a:gd name="T23" fmla="*/ 0 h 735"/>
              <a:gd name="T24" fmla="*/ 2147483647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gradFill rotWithShape="1">
            <a:gsLst>
              <a:gs pos="0">
                <a:schemeClr val="accent2"/>
              </a:gs>
              <a:gs pos="100000">
                <a:srgbClr val="C7E8C4"/>
              </a:gs>
            </a:gsLst>
            <a:lin ang="0" scaled="1"/>
          </a:gradFill>
          <a:ln>
            <a:noFill/>
          </a:ln>
          <a:effectLst/>
          <a:extLst>
            <a:ext uri="{91240B29-F687-4F45-9708-019B960494DF}">
              <a14:hiddenLine xmlns:a14="http://schemas.microsoft.com/office/drawing/2010/main" w="9525">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028" name="Group 4"/>
          <p:cNvGrpSpPr/>
          <p:nvPr/>
        </p:nvGrpSpPr>
        <p:grpSpPr bwMode="auto">
          <a:xfrm>
            <a:off x="250825" y="1557338"/>
            <a:ext cx="7391400" cy="93662"/>
            <a:chOff x="144" y="1248"/>
            <a:chExt cx="4656" cy="201"/>
          </a:xfrm>
        </p:grpSpPr>
        <p:sp>
          <p:nvSpPr>
            <p:cNvPr id="1037" name="AutoShape 5"/>
            <p:cNvSpPr>
              <a:spLocks noChangeArrowheads="1"/>
            </p:cNvSpPr>
            <p:nvPr userDrawn="1"/>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AutoShape 6"/>
            <p:cNvSpPr>
              <a:spLocks noChangeArrowheads="1"/>
            </p:cNvSpPr>
            <p:nvPr userDrawn="1"/>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19" name="AutoShape 7"/>
          <p:cNvSpPr>
            <a:spLocks noGrp="1" noChangeArrowheads="1"/>
          </p:cNvSpPr>
          <p:nvPr>
            <p:ph type="title"/>
          </p:nvPr>
        </p:nvSpPr>
        <p:spPr bwMode="auto">
          <a:xfrm>
            <a:off x="755650" y="765175"/>
            <a:ext cx="7924800" cy="784225"/>
          </a:xfrm>
          <a:prstGeom prst="roundRect">
            <a:avLst>
              <a:gd name="adj" fmla="val 2975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smtClean="0"/>
              <a:t>单击此处编辑母版标题样式</a:t>
            </a:r>
          </a:p>
        </p:txBody>
      </p:sp>
      <p:sp>
        <p:nvSpPr>
          <p:cNvPr id="397320" name="Rectangle 8"/>
          <p:cNvSpPr>
            <a:spLocks noGrp="1" noChangeArrowheads="1"/>
          </p:cNvSpPr>
          <p:nvPr>
            <p:ph type="body" idx="1"/>
          </p:nvPr>
        </p:nvSpPr>
        <p:spPr bwMode="auto">
          <a:xfrm>
            <a:off x="755650" y="1700213"/>
            <a:ext cx="7993063"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97321" name="Rectangle 9"/>
          <p:cNvSpPr>
            <a:spLocks noGrp="1" noChangeArrowheads="1"/>
          </p:cNvSpPr>
          <p:nvPr>
            <p:ph type="ftr" sz="quarter" idx="3"/>
          </p:nvPr>
        </p:nvSpPr>
        <p:spPr bwMode="auto">
          <a:xfrm>
            <a:off x="4500563" y="6524625"/>
            <a:ext cx="4576762"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solidFill>
                  <a:srgbClr val="FF0000"/>
                </a:solidFill>
                <a:ea typeface="+mn-ea"/>
              </a:defRPr>
            </a:lvl1pPr>
          </a:lstStyle>
          <a:p>
            <a:pPr>
              <a:defRPr/>
            </a:pPr>
            <a:endParaRPr lang="en-US" altLang="zh-CN" dirty="0"/>
          </a:p>
        </p:txBody>
      </p:sp>
      <p:sp>
        <p:nvSpPr>
          <p:cNvPr id="397322" name="Rectangle 10"/>
          <p:cNvSpPr>
            <a:spLocks noGrp="1" noChangeArrowheads="1"/>
          </p:cNvSpPr>
          <p:nvPr>
            <p:ph type="sldNum" sz="quarter" idx="4"/>
          </p:nvPr>
        </p:nvSpPr>
        <p:spPr bwMode="auto">
          <a:xfrm>
            <a:off x="84138" y="6308725"/>
            <a:ext cx="58737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lstStyle>
            <a:lvl1pPr eaLnBrk="1" hangingPunct="1">
              <a:defRPr sz="2600" b="1">
                <a:solidFill>
                  <a:schemeClr val="bg1"/>
                </a:solidFill>
              </a:defRPr>
            </a:lvl1pPr>
          </a:lstStyle>
          <a:p>
            <a:pPr>
              <a:defRPr/>
            </a:pPr>
            <a:fld id="{6517A816-AE02-46E7-BAEE-4C81B905E149}" type="slidenum">
              <a:rPr lang="en-US" altLang="zh-CN"/>
              <a:t>‹#›</a:t>
            </a:fld>
            <a:endParaRPr lang="en-US" altLang="zh-CN" dirty="0"/>
          </a:p>
        </p:txBody>
      </p:sp>
      <p:sp>
        <p:nvSpPr>
          <p:cNvPr id="1033" name="Text Box 11"/>
          <p:cNvSpPr txBox="1">
            <a:spLocks noChangeArrowheads="1"/>
          </p:cNvSpPr>
          <p:nvPr/>
        </p:nvSpPr>
        <p:spPr bwMode="auto">
          <a:xfrm>
            <a:off x="107950" y="4078288"/>
            <a:ext cx="549275"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sz="1200">
                <a:solidFill>
                  <a:schemeClr val="tx1"/>
                </a:solidFill>
                <a:latin typeface="Arial" panose="020B0604020202020204" pitchFamily="34" charset="0"/>
                <a:ea typeface="宋体" panose="02010600030101010101" pitchFamily="2" charset="-122"/>
              </a:defRPr>
            </a:lvl1pPr>
            <a:lvl2pPr marL="742950" indent="-285750">
              <a:defRPr sz="1200">
                <a:solidFill>
                  <a:schemeClr val="tx1"/>
                </a:solidFill>
                <a:latin typeface="Arial" panose="020B0604020202020204" pitchFamily="34" charset="0"/>
                <a:ea typeface="宋体" panose="02010600030101010101" pitchFamily="2" charset="-122"/>
              </a:defRPr>
            </a:lvl2pPr>
            <a:lvl3pPr marL="1143000" indent="-228600">
              <a:defRPr sz="1200">
                <a:solidFill>
                  <a:schemeClr val="tx1"/>
                </a:solidFill>
                <a:latin typeface="Arial" panose="020B0604020202020204" pitchFamily="34" charset="0"/>
                <a:ea typeface="宋体" panose="02010600030101010101" pitchFamily="2" charset="-122"/>
              </a:defRPr>
            </a:lvl3pPr>
            <a:lvl4pPr marL="1600200" indent="-228600">
              <a:defRPr sz="1200">
                <a:solidFill>
                  <a:schemeClr val="tx1"/>
                </a:solidFill>
                <a:latin typeface="Arial" panose="020B0604020202020204" pitchFamily="34" charset="0"/>
                <a:ea typeface="宋体" panose="02010600030101010101" pitchFamily="2" charset="-122"/>
              </a:defRPr>
            </a:lvl4pPr>
            <a:lvl5pPr marL="2057400" indent="-22860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zh-CN" altLang="en-US" sz="2400" smtClean="0">
                <a:solidFill>
                  <a:srgbClr val="FFFFCC"/>
                </a:solidFill>
                <a:ea typeface="方正姚体" panose="02010601030101010101" pitchFamily="2" charset="-122"/>
              </a:rPr>
              <a:t>计算中心编制</a:t>
            </a:r>
          </a:p>
        </p:txBody>
      </p:sp>
      <p:sp>
        <p:nvSpPr>
          <p:cNvPr id="1034" name="Rectangle 12"/>
          <p:cNvSpPr>
            <a:spLocks noChangeArrowheads="1"/>
          </p:cNvSpPr>
          <p:nvPr/>
        </p:nvSpPr>
        <p:spPr bwMode="auto">
          <a:xfrm>
            <a:off x="3197225" y="4763"/>
            <a:ext cx="3097213" cy="692150"/>
          </a:xfrm>
          <a:prstGeom prst="rect">
            <a:avLst/>
          </a:prstGeom>
          <a:gradFill rotWithShape="1">
            <a:gsLst>
              <a:gs pos="0">
                <a:srgbClr val="C7E8C4"/>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5" name="Text Box 13"/>
          <p:cNvSpPr txBox="1">
            <a:spLocks noChangeArrowheads="1"/>
          </p:cNvSpPr>
          <p:nvPr/>
        </p:nvSpPr>
        <p:spPr bwMode="auto">
          <a:xfrm>
            <a:off x="1116013" y="112713"/>
            <a:ext cx="5616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3200" b="1">
                <a:solidFill>
                  <a:srgbClr val="FFFF99"/>
                </a:solidFill>
                <a:effectLst>
                  <a:outerShdw blurRad="38100" dist="38100" dir="2700000" algn="tl">
                    <a:srgbClr val="C0C0C0"/>
                  </a:outerShdw>
                </a:effectLst>
                <a:ea typeface="华文楷体" panose="02010600040101010101" pitchFamily="2" charset="-122"/>
              </a:rPr>
              <a:t>上海大学</a:t>
            </a:r>
            <a:r>
              <a:rPr lang="zh-CN" altLang="en-US" sz="3200" b="1">
                <a:solidFill>
                  <a:srgbClr val="FFFFCC"/>
                </a:solidFill>
                <a:ea typeface="华文楷体" panose="02010600040101010101" pitchFamily="2" charset="-122"/>
              </a:rPr>
              <a:t>    </a:t>
            </a:r>
            <a:r>
              <a:rPr lang="en-US" altLang="zh-CN" sz="2200" b="1" dirty="0">
                <a:solidFill>
                  <a:srgbClr val="339933"/>
                </a:solidFill>
                <a:latin typeface="Gautami" panose="020B0502040204020203" pitchFamily="2"/>
                <a:ea typeface="Dotum" panose="020B0600000101010101" pitchFamily="34" charset="-127"/>
              </a:rPr>
              <a:t>Shanghai University</a:t>
            </a:r>
          </a:p>
        </p:txBody>
      </p:sp>
      <p:pic>
        <p:nvPicPr>
          <p:cNvPr id="1036" name="Picture 14" descr="bg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8113" y="69850"/>
            <a:ext cx="6000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mc:AlternateContent xmlns:mc="http://schemas.openxmlformats.org/markup-compatibility/2006" xmlns:p14="http://schemas.microsoft.com/office/powerpoint/2010/main">
    <mc:Choice Requires="p14">
      <p:transition p14:dur="0"/>
    </mc:Choice>
    <mc:Fallback xmlns="">
      <p:transition/>
    </mc:Fallback>
  </mc:AlternateContent>
  <p:hf hdr="0" ftr="0" dt="0"/>
  <p:txStyles>
    <p:title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9pPr>
    </p:titleStyle>
    <p:body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rgbClr val="3333FF"/>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8.emf"/><Relationship Id="rId4" Type="http://schemas.openxmlformats.org/officeDocument/2006/relationships/package" Target="../embeddings/Microsoft_Word___.docx"/></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2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AutoShape 2"/>
          <p:cNvSpPr>
            <a:spLocks noGrp="1" noChangeArrowheads="1"/>
          </p:cNvSpPr>
          <p:nvPr>
            <p:ph type="ctrTitle"/>
          </p:nvPr>
        </p:nvSpPr>
        <p:spPr>
          <a:xfrm>
            <a:off x="611188" y="2209800"/>
            <a:ext cx="7772400" cy="2133600"/>
          </a:xfrm>
        </p:spPr>
        <p:txBody>
          <a:bodyPr/>
          <a:lstStyle/>
          <a:p>
            <a:pPr marL="685800" indent="-685800" eaLnBrk="1" hangingPunct="1">
              <a:defRPr/>
            </a:pPr>
            <a:r>
              <a:rPr lang="zh-CN" altLang="en-US" dirty="0" smtClean="0">
                <a:solidFill>
                  <a:srgbClr val="010000"/>
                </a:solidFill>
                <a:latin typeface="黑体" panose="02010609060101010101" pitchFamily="2" charset="-122"/>
              </a:rPr>
              <a:t>第六章 指针与结构体</a:t>
            </a:r>
            <a:r>
              <a:rPr lang="zh-CN" altLang="en-US" sz="3200" i="1" dirty="0" smtClean="0"/>
              <a:t/>
            </a:r>
            <a:br>
              <a:rPr lang="zh-CN" altLang="en-US" sz="3200" i="1" dirty="0" smtClean="0"/>
            </a:br>
            <a:endParaRPr lang="zh-CN" altLang="en-US" sz="3200" i="1" dirty="0"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AutoShape 2"/>
          <p:cNvSpPr>
            <a:spLocks noGrp="1" noChangeArrowheads="1"/>
          </p:cNvSpPr>
          <p:nvPr>
            <p:ph type="title"/>
          </p:nvPr>
        </p:nvSpPr>
        <p:spPr/>
        <p:txBody>
          <a:bodyPr/>
          <a:lstStyle/>
          <a:p>
            <a:pPr eaLnBrk="1" hangingPunct="1">
              <a:defRPr/>
            </a:pPr>
            <a:r>
              <a:rPr lang="zh-CN" altLang="en-US" dirty="0" smtClean="0"/>
              <a:t>主要内容</a:t>
            </a:r>
          </a:p>
        </p:txBody>
      </p:sp>
      <p:sp>
        <p:nvSpPr>
          <p:cNvPr id="869379" name="Rectangle 3"/>
          <p:cNvSpPr>
            <a:spLocks noGrp="1" noChangeArrowheads="1"/>
          </p:cNvSpPr>
          <p:nvPr>
            <p:ph type="body" idx="1"/>
          </p:nvPr>
        </p:nvSpPr>
        <p:spPr/>
        <p:txBody>
          <a:bodyPr/>
          <a:lstStyle/>
          <a:p>
            <a:pPr eaLnBrk="1" hangingPunct="1">
              <a:defRPr/>
            </a:pPr>
            <a:r>
              <a:rPr lang="zh-CN" altLang="en-US" dirty="0" smtClean="0">
                <a:solidFill>
                  <a:srgbClr val="0066FF"/>
                </a:solidFill>
              </a:rPr>
              <a:t>指针</a:t>
            </a:r>
          </a:p>
          <a:p>
            <a:pPr eaLnBrk="1" hangingPunct="1">
              <a:defRPr/>
            </a:pPr>
            <a:r>
              <a:rPr lang="zh-CN" altLang="en-US" dirty="0" smtClean="0">
                <a:solidFill>
                  <a:srgbClr val="0066FF"/>
                </a:solidFill>
              </a:rPr>
              <a:t>结构体</a:t>
            </a:r>
          </a:p>
          <a:p>
            <a:pPr eaLnBrk="1" hangingPunct="1">
              <a:defRPr/>
            </a:pPr>
            <a:r>
              <a:rPr lang="zh-CN" altLang="en-US" dirty="0">
                <a:solidFill>
                  <a:srgbClr val="0066FF"/>
                </a:solidFill>
              </a:rPr>
              <a:t>用指针和结构体处理链表</a:t>
            </a:r>
          </a:p>
          <a:p>
            <a:pPr marL="0" indent="0" eaLnBrk="1" hangingPunct="1">
              <a:buNone/>
              <a:defRPr/>
            </a:pPr>
            <a:endParaRPr lang="zh-CN" altLang="en-US" dirty="0" smtClean="0">
              <a:solidFill>
                <a:srgbClr val="0066FF"/>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331640" y="2797968"/>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800" b="1" dirty="0">
                <a:effectLst>
                  <a:outerShdw blurRad="38100" dist="38100" dir="2700000" algn="tl">
                    <a:srgbClr val="C0C0C0"/>
                  </a:outerShdw>
                </a:effectLst>
                <a:ea typeface="黑体" panose="02010609060101010101" pitchFamily="2" charset="-122"/>
              </a:rPr>
              <a:t/>
            </a:r>
            <a:br>
              <a:rPr lang="zh-CN" altLang="en-US" sz="4800" b="1" dirty="0">
                <a:effectLst>
                  <a:outerShdw blurRad="38100" dist="38100" dir="2700000" algn="tl">
                    <a:srgbClr val="C0C0C0"/>
                  </a:outerShdw>
                </a:effectLst>
                <a:ea typeface="黑体" panose="02010609060101010101" pitchFamily="2" charset="-122"/>
              </a:rPr>
            </a:br>
            <a:r>
              <a:rPr lang="en-US" altLang="zh-CN" sz="4800" b="1" dirty="0" smtClean="0">
                <a:effectLst>
                  <a:outerShdw blurRad="38100" dist="38100" dir="2700000" algn="tl">
                    <a:srgbClr val="C0C0C0"/>
                  </a:outerShdw>
                </a:effectLst>
                <a:ea typeface="黑体" panose="02010609060101010101" pitchFamily="2" charset="-122"/>
              </a:rPr>
              <a:t>6.1 </a:t>
            </a:r>
            <a:r>
              <a:rPr lang="zh-CN" altLang="en-US" sz="4800" b="1" dirty="0" smtClean="0">
                <a:effectLst>
                  <a:outerShdw blurRad="38100" dist="38100" dir="2700000" algn="tl">
                    <a:srgbClr val="C0C0C0"/>
                  </a:outerShdw>
                </a:effectLst>
                <a:ea typeface="黑体" panose="02010609060101010101" pitchFamily="2" charset="-122"/>
              </a:rPr>
              <a:t>指 针</a:t>
            </a:r>
            <a:endParaRPr lang="zh-CN" altLang="en-US" sz="48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377994160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指针</a:t>
            </a:r>
            <a:endParaRPr lang="zh-CN" altLang="en-US" dirty="0"/>
          </a:p>
        </p:txBody>
      </p:sp>
      <p:sp>
        <p:nvSpPr>
          <p:cNvPr id="3" name="内容占位符 2"/>
          <p:cNvSpPr>
            <a:spLocks noGrp="1"/>
          </p:cNvSpPr>
          <p:nvPr>
            <p:ph idx="1"/>
          </p:nvPr>
        </p:nvSpPr>
        <p:spPr>
          <a:xfrm>
            <a:off x="755650" y="1700213"/>
            <a:ext cx="7993063" cy="864691"/>
          </a:xfrm>
        </p:spPr>
        <p:txBody>
          <a:bodyPr/>
          <a:lstStyle/>
          <a:p>
            <a:r>
              <a:rPr lang="zh-CN" altLang="en-US" sz="2400" dirty="0"/>
              <a:t>按实验室编号来找到实验室类似于C语言中通过指针来间接访问变量</a:t>
            </a:r>
            <a:r>
              <a:rPr lang="zh-CN" altLang="en-US" sz="2400" dirty="0" smtClean="0"/>
              <a:t>。</a:t>
            </a:r>
            <a:endParaRPr lang="zh-CN" altLang="en-US"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702" y="2636911"/>
            <a:ext cx="6607690" cy="39079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977596" y="2896791"/>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6.1.1 </a:t>
            </a:r>
            <a:r>
              <a:rPr lang="zh-CN" altLang="en-US" sz="4000" b="1" dirty="0" smtClean="0">
                <a:effectLst>
                  <a:outerShdw blurRad="38100" dist="38100" dir="2700000" algn="tl">
                    <a:srgbClr val="C0C0C0"/>
                  </a:outerShdw>
                </a:effectLst>
                <a:ea typeface="黑体" panose="02010609060101010101" pitchFamily="2" charset="-122"/>
              </a:rPr>
              <a:t>变量的内存地址</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294704646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3"/>
          <p:cNvGrpSpPr/>
          <p:nvPr/>
        </p:nvGrpSpPr>
        <p:grpSpPr>
          <a:xfrm>
            <a:off x="1368930" y="3960258"/>
            <a:ext cx="1913291" cy="1198959"/>
            <a:chOff x="1440" y="2785"/>
            <a:chExt cx="1801" cy="1007"/>
          </a:xfrm>
        </p:grpSpPr>
        <p:sp>
          <p:nvSpPr>
            <p:cNvPr id="13325" name="Line 24"/>
            <p:cNvSpPr/>
            <p:nvPr/>
          </p:nvSpPr>
          <p:spPr>
            <a:xfrm flipV="1">
              <a:off x="2448" y="2785"/>
              <a:ext cx="793" cy="719"/>
            </a:xfrm>
            <a:prstGeom prst="line">
              <a:avLst/>
            </a:prstGeom>
            <a:ln w="57150" cap="flat" cmpd="thinThick">
              <a:solidFill>
                <a:schemeClr val="tx1"/>
              </a:solidFill>
              <a:prstDash val="solid"/>
              <a:headEnd type="none" w="med" len="med"/>
              <a:tailEnd type="stealth" w="med" len="med"/>
            </a:ln>
          </p:spPr>
        </p:sp>
        <p:sp>
          <p:nvSpPr>
            <p:cNvPr id="13326" name="Rectangle 25"/>
            <p:cNvSpPr/>
            <p:nvPr/>
          </p:nvSpPr>
          <p:spPr>
            <a:xfrm>
              <a:off x="1440" y="3504"/>
              <a:ext cx="1104" cy="288"/>
            </a:xfrm>
            <a:prstGeom prst="rect">
              <a:avLst/>
            </a:prstGeom>
            <a:solidFill>
              <a:srgbClr val="FFCC99"/>
            </a:solidFill>
            <a:ln w="952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rgbClr val="000066"/>
                  </a:solidFill>
                  <a:latin typeface="Times New Roman" panose="02020603050405020304" pitchFamily="18" charset="0"/>
                  <a:ea typeface="楷体_GB2312" panose="02010609030101010101" pitchFamily="49" charset="-122"/>
                </a:rPr>
                <a:t>变量的值</a:t>
              </a:r>
            </a:p>
          </p:txBody>
        </p:sp>
      </p:grpSp>
      <p:sp>
        <p:nvSpPr>
          <p:cNvPr id="13314" name="Rectangle 2"/>
          <p:cNvSpPr>
            <a:spLocks noGrp="1"/>
          </p:cNvSpPr>
          <p:nvPr>
            <p:ph type="title"/>
          </p:nvPr>
        </p:nvSpPr>
        <p:spPr>
          <a:xfrm>
            <a:off x="754380" y="791051"/>
            <a:ext cx="6266260" cy="857250"/>
          </a:xfrm>
        </p:spPr>
        <p:txBody>
          <a:bodyPr vert="horz" wrap="square" lIns="68580" tIns="34290" rIns="68580" bIns="34290" anchor="ctr"/>
          <a:lstStyle/>
          <a:p>
            <a:pPr eaLnBrk="1" hangingPunct="1"/>
            <a:r>
              <a:rPr lang="zh-CN" altLang="en-US" sz="3600" dirty="0" smtClean="0"/>
              <a:t>变量</a:t>
            </a:r>
            <a:r>
              <a:rPr lang="zh-CN" altLang="en-US" dirty="0" smtClean="0"/>
              <a:t>的内存地址</a:t>
            </a:r>
            <a:endParaRPr lang="en-US" altLang="zh-CN" sz="3000" dirty="0"/>
          </a:p>
        </p:txBody>
      </p:sp>
      <p:grpSp>
        <p:nvGrpSpPr>
          <p:cNvPr id="2" name="Group 49"/>
          <p:cNvGrpSpPr/>
          <p:nvPr/>
        </p:nvGrpSpPr>
        <p:grpSpPr>
          <a:xfrm>
            <a:off x="1464469" y="2942035"/>
            <a:ext cx="2143125" cy="832247"/>
            <a:chOff x="542" y="1480"/>
            <a:chExt cx="1800" cy="699"/>
          </a:xfrm>
        </p:grpSpPr>
        <p:sp>
          <p:nvSpPr>
            <p:cNvPr id="13342" name="Line 17"/>
            <p:cNvSpPr/>
            <p:nvPr/>
          </p:nvSpPr>
          <p:spPr>
            <a:xfrm flipH="1">
              <a:off x="1275" y="1768"/>
              <a:ext cx="20" cy="411"/>
            </a:xfrm>
            <a:prstGeom prst="line">
              <a:avLst/>
            </a:prstGeom>
            <a:ln w="57150" cap="flat" cmpd="thinThick">
              <a:solidFill>
                <a:schemeClr val="tx1"/>
              </a:solidFill>
              <a:prstDash val="solid"/>
              <a:headEnd type="none" w="med" len="med"/>
              <a:tailEnd type="stealth" w="med" len="med"/>
            </a:ln>
          </p:spPr>
        </p:sp>
        <p:sp>
          <p:nvSpPr>
            <p:cNvPr id="9247" name="Rectangle 18"/>
            <p:cNvSpPr>
              <a:spLocks noChangeArrowheads="1"/>
            </p:cNvSpPr>
            <p:nvPr/>
          </p:nvSpPr>
          <p:spPr bwMode="auto">
            <a:xfrm>
              <a:off x="542" y="1480"/>
              <a:ext cx="1800" cy="288"/>
            </a:xfrm>
            <a:prstGeom prst="rect">
              <a:avLst/>
            </a:prstGeom>
            <a:solidFill>
              <a:srgbClr val="FFCC99"/>
            </a:solidFill>
            <a:ln w="9525">
              <a:solidFill>
                <a:srgbClr val="800000"/>
              </a:solidFill>
              <a:miter lim="800000"/>
            </a:ln>
          </p:spPr>
          <p:txBody>
            <a:bodyPr wrap="none" anchor="ctr"/>
            <a:lstStyle/>
            <a:p>
              <a:pPr lvl="0" algn="ctr" eaLnBrk="1" hangingPunct="1"/>
              <a:r>
                <a:rPr lang="zh-CN" altLang="en-US" sz="1800" b="1" dirty="0">
                  <a:solidFill>
                    <a:srgbClr val="000066"/>
                  </a:solidFill>
                  <a:ea typeface="楷体_GB2312" panose="02010609030101010101" pitchFamily="49" charset="-122"/>
                </a:rPr>
                <a:t>变量的地址</a:t>
              </a:r>
              <a:r>
                <a:rPr lang="en-US" altLang="zh-CN" sz="1800" dirty="0">
                  <a:solidFill>
                    <a:srgbClr val="3C3C77"/>
                  </a:solidFill>
                </a:rPr>
                <a:t>(Address)</a:t>
              </a:r>
              <a:endParaRPr lang="zh-CN" altLang="en-US" sz="1800" b="1" dirty="0">
                <a:solidFill>
                  <a:srgbClr val="3C3C77"/>
                </a:solidFill>
                <a:ea typeface="楷体_GB2312" panose="02010609030101010101" pitchFamily="49" charset="-122"/>
              </a:endParaRPr>
            </a:p>
          </p:txBody>
        </p:sp>
      </p:grpSp>
      <p:grpSp>
        <p:nvGrpSpPr>
          <p:cNvPr id="3" name="Group 48"/>
          <p:cNvGrpSpPr/>
          <p:nvPr/>
        </p:nvGrpSpPr>
        <p:grpSpPr>
          <a:xfrm>
            <a:off x="5148064" y="3717032"/>
            <a:ext cx="2052638" cy="451247"/>
            <a:chOff x="3379" y="2387"/>
            <a:chExt cx="1724" cy="379"/>
          </a:xfrm>
        </p:grpSpPr>
        <p:sp>
          <p:nvSpPr>
            <p:cNvPr id="13340" name="Rectangle 20"/>
            <p:cNvSpPr/>
            <p:nvPr/>
          </p:nvSpPr>
          <p:spPr>
            <a:xfrm>
              <a:off x="4195" y="2478"/>
              <a:ext cx="908" cy="288"/>
            </a:xfrm>
            <a:prstGeom prst="rect">
              <a:avLst/>
            </a:prstGeom>
            <a:solidFill>
              <a:srgbClr val="FFCC99"/>
            </a:solidFill>
            <a:ln w="952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rgbClr val="000066"/>
                  </a:solidFill>
                  <a:latin typeface="Times New Roman" panose="02020603050405020304" pitchFamily="18" charset="0"/>
                  <a:ea typeface="楷体_GB2312" panose="02010609030101010101" pitchFamily="49" charset="-122"/>
                </a:rPr>
                <a:t>变量名</a:t>
              </a:r>
            </a:p>
          </p:txBody>
        </p:sp>
        <p:sp>
          <p:nvSpPr>
            <p:cNvPr id="616469" name="Freeform 21"/>
            <p:cNvSpPr/>
            <p:nvPr/>
          </p:nvSpPr>
          <p:spPr bwMode="auto">
            <a:xfrm flipV="1">
              <a:off x="3379" y="2387"/>
              <a:ext cx="816" cy="181"/>
            </a:xfrm>
            <a:custGeom>
              <a:avLst/>
              <a:gdLst/>
              <a:ahLst/>
              <a:cxnLst>
                <a:cxn ang="0">
                  <a:pos x="381" y="0"/>
                </a:cxn>
                <a:cxn ang="0">
                  <a:pos x="0" y="328"/>
                </a:cxn>
              </a:cxnLst>
              <a:rect l="0" t="0" r="r" b="b"/>
              <a:pathLst>
                <a:path w="381" h="328">
                  <a:moveTo>
                    <a:pt x="381" y="0"/>
                  </a:moveTo>
                  <a:lnTo>
                    <a:pt x="0" y="328"/>
                  </a:lnTo>
                </a:path>
              </a:pathLst>
            </a:custGeom>
            <a:noFill/>
            <a:ln w="57150" cmpd="thinThick">
              <a:solidFill>
                <a:schemeClr val="tx1"/>
              </a:solidFill>
              <a:round/>
              <a:tailEnd type="stealth"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
        <p:nvSpPr>
          <p:cNvPr id="616475" name="Rectangle 27"/>
          <p:cNvSpPr>
            <a:spLocks noChangeArrowheads="1"/>
          </p:cNvSpPr>
          <p:nvPr/>
        </p:nvSpPr>
        <p:spPr bwMode="auto">
          <a:xfrm>
            <a:off x="3059906" y="3536156"/>
            <a:ext cx="2915841" cy="2214563"/>
          </a:xfrm>
          <a:prstGeom prst="rect">
            <a:avLst/>
          </a:prstGeom>
          <a:noFill/>
          <a:ln w="28575">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16480" name="Rectangle 32"/>
          <p:cNvSpPr>
            <a:spLocks noChangeArrowheads="1"/>
          </p:cNvSpPr>
          <p:nvPr/>
        </p:nvSpPr>
        <p:spPr bwMode="auto">
          <a:xfrm>
            <a:off x="3006328" y="3232547"/>
            <a:ext cx="110871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a=0;</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13321" name="Group 46"/>
          <p:cNvGrpSpPr/>
          <p:nvPr/>
        </p:nvGrpSpPr>
        <p:grpSpPr>
          <a:xfrm>
            <a:off x="3121819" y="3674269"/>
            <a:ext cx="2800350" cy="1914525"/>
            <a:chOff x="930" y="2049"/>
            <a:chExt cx="2352" cy="1608"/>
          </a:xfrm>
        </p:grpSpPr>
        <p:sp>
          <p:nvSpPr>
            <p:cNvPr id="13327" name="Rectangle 35"/>
            <p:cNvSpPr/>
            <p:nvPr/>
          </p:nvSpPr>
          <p:spPr>
            <a:xfrm>
              <a:off x="930" y="204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p>
          </p:txBody>
        </p:sp>
        <p:sp>
          <p:nvSpPr>
            <p:cNvPr id="13328" name="Rectangle 36"/>
            <p:cNvSpPr/>
            <p:nvPr/>
          </p:nvSpPr>
          <p:spPr>
            <a:xfrm>
              <a:off x="1026" y="2192"/>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3329" name="Rectangle 37"/>
            <p:cNvSpPr/>
            <p:nvPr/>
          </p:nvSpPr>
          <p:spPr>
            <a:xfrm>
              <a:off x="1122" y="2328"/>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3330" name="Rectangle 38"/>
            <p:cNvSpPr/>
            <p:nvPr/>
          </p:nvSpPr>
          <p:spPr>
            <a:xfrm>
              <a:off x="1218" y="2464"/>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3331" name="Rectangle 39"/>
            <p:cNvSpPr/>
            <p:nvPr/>
          </p:nvSpPr>
          <p:spPr>
            <a:xfrm>
              <a:off x="1314" y="2600"/>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332" name="Rectangle 40"/>
            <p:cNvSpPr/>
            <p:nvPr/>
          </p:nvSpPr>
          <p:spPr>
            <a:xfrm>
              <a:off x="1410" y="2736"/>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333" name="Rectangle 41"/>
            <p:cNvSpPr/>
            <p:nvPr/>
          </p:nvSpPr>
          <p:spPr>
            <a:xfrm>
              <a:off x="1506" y="2873"/>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334" name="Rectangle 42"/>
            <p:cNvSpPr/>
            <p:nvPr/>
          </p:nvSpPr>
          <p:spPr>
            <a:xfrm>
              <a:off x="1602" y="300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335" name="Rectangle 43"/>
            <p:cNvSpPr/>
            <p:nvPr/>
          </p:nvSpPr>
          <p:spPr>
            <a:xfrm>
              <a:off x="1698" y="3145"/>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336" name="Rectangle 44"/>
            <p:cNvSpPr/>
            <p:nvPr/>
          </p:nvSpPr>
          <p:spPr>
            <a:xfrm>
              <a:off x="1794" y="3281"/>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337" name="Rectangle 45"/>
            <p:cNvSpPr/>
            <p:nvPr/>
          </p:nvSpPr>
          <p:spPr>
            <a:xfrm>
              <a:off x="1890" y="3417"/>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p>
          </p:txBody>
        </p:sp>
      </p:grpSp>
      <p:sp>
        <p:nvSpPr>
          <p:cNvPr id="616495" name="Rectangle 47"/>
          <p:cNvSpPr>
            <a:spLocks noChangeArrowheads="1"/>
          </p:cNvSpPr>
          <p:nvPr/>
        </p:nvSpPr>
        <p:spPr bwMode="auto">
          <a:xfrm>
            <a:off x="4967288" y="3571875"/>
            <a:ext cx="28575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3324" name="Rectangle 50"/>
          <p:cNvSpPr/>
          <p:nvPr/>
        </p:nvSpPr>
        <p:spPr>
          <a:xfrm>
            <a:off x="3059906" y="5463779"/>
            <a:ext cx="1040130" cy="2971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zh-CN" altLang="en-US" sz="1350" b="0" dirty="0">
                <a:latin typeface="Times New Roman" panose="02020603050405020304" pitchFamily="18" charset="0"/>
                <a:ea typeface="华文楷体" panose="02010600040101010101" pitchFamily="2" charset="-122"/>
              </a:rPr>
              <a:t>某存储区域</a:t>
            </a:r>
          </a:p>
        </p:txBody>
      </p:sp>
      <p:sp>
        <p:nvSpPr>
          <p:cNvPr id="5" name="矩形 4"/>
          <p:cNvSpPr/>
          <p:nvPr/>
        </p:nvSpPr>
        <p:spPr>
          <a:xfrm>
            <a:off x="835819" y="1688320"/>
            <a:ext cx="4572000"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p>
            <a:pPr marL="92075" indent="-92075">
              <a:lnSpc>
                <a:spcPct val="120000"/>
              </a:lnSpc>
              <a:spcBef>
                <a:spcPct val="20000"/>
              </a:spcBef>
              <a:buClr>
                <a:srgbClr val="A50021"/>
              </a:buClr>
              <a:buSzPct val="75000"/>
              <a:buFont typeface="Webdings" panose="05030102010509060703" pitchFamily="18" charset="2"/>
              <a:buChar char="·"/>
            </a:pPr>
            <a:r>
              <a:rPr lang="zh-CN" altLang="en-US" sz="2400" b="1" dirty="0">
                <a:solidFill>
                  <a:srgbClr val="0066FF"/>
                </a:solidFill>
                <a:effectLst>
                  <a:outerShdw blurRad="38100" dist="38100" dir="2700000" algn="tl">
                    <a:srgbClr val="C0C0C0"/>
                  </a:outerShdw>
                </a:effectLst>
                <a:latin typeface="+mn-lt"/>
                <a:ea typeface="+mn-ea"/>
              </a:rPr>
              <a:t>变量的三要素</a:t>
            </a:r>
          </a:p>
        </p:txBody>
      </p:sp>
      <p:grpSp>
        <p:nvGrpSpPr>
          <p:cNvPr id="33" name="Group 52"/>
          <p:cNvGrpSpPr/>
          <p:nvPr/>
        </p:nvGrpSpPr>
        <p:grpSpPr>
          <a:xfrm>
            <a:off x="3869531" y="2078831"/>
            <a:ext cx="4077891" cy="1620441"/>
            <a:chOff x="2290" y="1026"/>
            <a:chExt cx="3425" cy="1361"/>
          </a:xfrm>
        </p:grpSpPr>
        <p:sp>
          <p:nvSpPr>
            <p:cNvPr id="34" name="Rectangle 29"/>
            <p:cNvSpPr/>
            <p:nvPr/>
          </p:nvSpPr>
          <p:spPr>
            <a:xfrm>
              <a:off x="2290" y="1026"/>
              <a:ext cx="3425" cy="973"/>
            </a:xfrm>
            <a:prstGeom prst="rect">
              <a:avLst/>
            </a:prstGeom>
            <a:solidFill>
              <a:srgbClr val="FFCC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rgbClr val="000066"/>
                  </a:solidFill>
                  <a:latin typeface="Times New Roman" panose="02020603050405020304" pitchFamily="18" charset="0"/>
                  <a:ea typeface="楷体_GB2312" panose="02010609030101010101" pitchFamily="49" charset="-122"/>
                </a:rPr>
                <a:t>内存：计算机内的存储部件</a:t>
              </a:r>
            </a:p>
            <a:p>
              <a:pPr marL="0" lvl="0" indent="0" algn="ctr" eaLnBrk="1" hangingPunct="1">
                <a:spcBef>
                  <a:spcPct val="0"/>
                </a:spcBef>
                <a:buClr>
                  <a:srgbClr val="000000"/>
                </a:buClr>
                <a:buNone/>
              </a:pPr>
              <a:r>
                <a:rPr lang="zh-CN" altLang="en-US" sz="1800" dirty="0">
                  <a:solidFill>
                    <a:srgbClr val="000066"/>
                  </a:solidFill>
                  <a:latin typeface="Times New Roman" panose="02020603050405020304" pitchFamily="18" charset="0"/>
                  <a:ea typeface="楷体_GB2312" panose="02010609030101010101" pitchFamily="49" charset="-122"/>
                </a:rPr>
                <a:t>所有指令和数据都保存在内存里</a:t>
              </a:r>
            </a:p>
            <a:p>
              <a:pPr marL="0" lvl="0" indent="0" algn="ctr" eaLnBrk="1" hangingPunct="1">
                <a:spcBef>
                  <a:spcPct val="0"/>
                </a:spcBef>
                <a:buClr>
                  <a:srgbClr val="000000"/>
                </a:buClr>
                <a:buNone/>
              </a:pPr>
              <a:r>
                <a:rPr lang="zh-CN" altLang="en-US" sz="1800" dirty="0">
                  <a:solidFill>
                    <a:srgbClr val="000066"/>
                  </a:solidFill>
                  <a:latin typeface="Times New Roman" panose="02020603050405020304" pitchFamily="18" charset="0"/>
                  <a:ea typeface="楷体_GB2312" panose="02010609030101010101" pitchFamily="49" charset="-122"/>
                </a:rPr>
                <a:t>速度快，可随机访问，但掉电即失</a:t>
              </a:r>
            </a:p>
            <a:p>
              <a:pPr marL="0" lvl="0" indent="0" algn="ctr" eaLnBrk="1" hangingPunct="1">
                <a:spcBef>
                  <a:spcPct val="0"/>
                </a:spcBef>
                <a:buClr>
                  <a:srgbClr val="000000"/>
                </a:buClr>
                <a:buNone/>
              </a:pPr>
              <a:r>
                <a:rPr lang="zh-CN" altLang="zh-CN" sz="1800" dirty="0">
                  <a:solidFill>
                    <a:srgbClr val="000066"/>
                  </a:solidFill>
                  <a:latin typeface="Times New Roman" panose="02020603050405020304" pitchFamily="18" charset="0"/>
                  <a:ea typeface="楷体_GB2312" panose="02010609030101010101" pitchFamily="49" charset="-122"/>
                </a:rPr>
                <a:t>编译或函数调用时为变量分配内存单元</a:t>
              </a:r>
              <a:endParaRPr lang="zh-CN" altLang="en-US" sz="1800" dirty="0">
                <a:solidFill>
                  <a:srgbClr val="000066"/>
                </a:solidFill>
                <a:latin typeface="Times New Roman" panose="02020603050405020304" pitchFamily="18" charset="0"/>
                <a:ea typeface="楷体_GB2312" panose="02010609030101010101" pitchFamily="49" charset="-122"/>
              </a:endParaRPr>
            </a:p>
          </p:txBody>
        </p:sp>
        <p:sp>
          <p:nvSpPr>
            <p:cNvPr id="35" name="Freeform 30"/>
            <p:cNvSpPr/>
            <p:nvPr/>
          </p:nvSpPr>
          <p:spPr bwMode="auto">
            <a:xfrm>
              <a:off x="3288" y="2015"/>
              <a:ext cx="245" cy="37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tailEnd type="stealth" w="med" len="lg"/>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grpSp>
        <p:nvGrpSpPr>
          <p:cNvPr id="36" name="组合 35"/>
          <p:cNvGrpSpPr/>
          <p:nvPr/>
        </p:nvGrpSpPr>
        <p:grpSpPr>
          <a:xfrm>
            <a:off x="1960671" y="3676583"/>
            <a:ext cx="1417558" cy="873443"/>
            <a:chOff x="1818085" y="3644503"/>
            <a:chExt cx="1417558" cy="873443"/>
          </a:xfrm>
        </p:grpSpPr>
        <p:sp>
          <p:nvSpPr>
            <p:cNvPr id="37" name="Rectangle 7"/>
            <p:cNvSpPr>
              <a:spLocks noChangeArrowheads="1"/>
            </p:cNvSpPr>
            <p:nvPr/>
          </p:nvSpPr>
          <p:spPr bwMode="auto">
            <a:xfrm>
              <a:off x="1818085" y="3644503"/>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x0022ff44</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8" name="Rectangle 22"/>
            <p:cNvSpPr>
              <a:spLocks noChangeArrowheads="1"/>
            </p:cNvSpPr>
            <p:nvPr/>
          </p:nvSpPr>
          <p:spPr bwMode="auto">
            <a:xfrm>
              <a:off x="1934766" y="3851672"/>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x0022ff45</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9" name="Rectangle 23"/>
            <p:cNvSpPr>
              <a:spLocks noChangeArrowheads="1"/>
            </p:cNvSpPr>
            <p:nvPr/>
          </p:nvSpPr>
          <p:spPr bwMode="auto">
            <a:xfrm>
              <a:off x="2060972" y="4051697"/>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x0022ff46</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0" name="Rectangle 24"/>
            <p:cNvSpPr>
              <a:spLocks noChangeArrowheads="1"/>
            </p:cNvSpPr>
            <p:nvPr/>
          </p:nvSpPr>
          <p:spPr bwMode="auto">
            <a:xfrm>
              <a:off x="2176463" y="4220766"/>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x0022ff47</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par>
                                <p:cTn id="10" presetID="1" presetClass="exit" presetSubtype="0" fill="hold" nodeType="withEffect">
                                  <p:stCondLst>
                                    <p:cond delay="0"/>
                                  </p:stCondLst>
                                  <p:childTnLst>
                                    <p:set>
                                      <p:cBhvr>
                                        <p:cTn id="11"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68580" tIns="34290" rIns="68580" bIns="34290" anchor="ctr"/>
          <a:lstStyle/>
          <a:p>
            <a:pPr algn="l"/>
            <a:r>
              <a:rPr lang="zh-CN" altLang="en-US" sz="3600"/>
              <a:t>变量的直接寻址</a:t>
            </a:r>
          </a:p>
        </p:txBody>
      </p:sp>
      <p:sp>
        <p:nvSpPr>
          <p:cNvPr id="4" name="内容占位符 3"/>
          <p:cNvSpPr>
            <a:spLocks noGrp="1"/>
          </p:cNvSpPr>
          <p:nvPr>
            <p:ph idx="1"/>
          </p:nvPr>
        </p:nvSpPr>
        <p:spPr>
          <a:xfrm>
            <a:off x="755650" y="5822315"/>
            <a:ext cx="7993380" cy="415290"/>
          </a:xfrm>
        </p:spPr>
        <p:txBody>
          <a:bodyPr/>
          <a:lstStyle/>
          <a:p>
            <a:r>
              <a:rPr lang="zh-CN" altLang="en-US" sz="2400"/>
              <a:t>scanf("%d", &amp;a)语句中用取地址运算符“&amp;”作用于变量名a就表示取出a变量的内存地址</a:t>
            </a:r>
          </a:p>
        </p:txBody>
      </p:sp>
      <p:grpSp>
        <p:nvGrpSpPr>
          <p:cNvPr id="14339" name="Group 3"/>
          <p:cNvGrpSpPr/>
          <p:nvPr/>
        </p:nvGrpSpPr>
        <p:grpSpPr>
          <a:xfrm>
            <a:off x="4410075" y="2888456"/>
            <a:ext cx="3239691" cy="756047"/>
            <a:chOff x="1383" y="1026"/>
            <a:chExt cx="4309" cy="1179"/>
          </a:xfrm>
        </p:grpSpPr>
        <p:sp>
          <p:nvSpPr>
            <p:cNvPr id="14368" name="Rectangle 4"/>
            <p:cNvSpPr/>
            <p:nvPr/>
          </p:nvSpPr>
          <p:spPr>
            <a:xfrm>
              <a:off x="1519" y="1026"/>
              <a:ext cx="4173" cy="717"/>
            </a:xfrm>
            <a:prstGeom prst="rect">
              <a:avLst/>
            </a:prstGeom>
            <a:solidFill>
              <a:srgbClr val="FFCC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100" dirty="0">
                  <a:solidFill>
                    <a:srgbClr val="000066"/>
                  </a:solidFill>
                  <a:latin typeface="Times New Roman" panose="02020603050405020304" pitchFamily="18" charset="0"/>
                  <a:ea typeface="楷体_GB2312" panose="02010609030101010101" pitchFamily="49" charset="-122"/>
                </a:rPr>
                <a:t>如何读写内存中的数据？</a:t>
              </a:r>
            </a:p>
          </p:txBody>
        </p:sp>
        <p:sp>
          <p:nvSpPr>
            <p:cNvPr id="622597" name="Freeform 5"/>
            <p:cNvSpPr/>
            <p:nvPr/>
          </p:nvSpPr>
          <p:spPr bwMode="auto">
            <a:xfrm>
              <a:off x="1383" y="1763"/>
              <a:ext cx="415" cy="44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tailEnd type="stealth" w="med" len="lg"/>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
        <p:nvSpPr>
          <p:cNvPr id="622599" name="Rectangle 7"/>
          <p:cNvSpPr>
            <a:spLocks noChangeArrowheads="1"/>
          </p:cNvSpPr>
          <p:nvPr/>
        </p:nvSpPr>
        <p:spPr bwMode="auto">
          <a:xfrm>
            <a:off x="1818085" y="3644503"/>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x0022ff44</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14341" name="Group 8"/>
          <p:cNvGrpSpPr/>
          <p:nvPr/>
        </p:nvGrpSpPr>
        <p:grpSpPr>
          <a:xfrm>
            <a:off x="3121819" y="3674269"/>
            <a:ext cx="2800350" cy="1914525"/>
            <a:chOff x="930" y="2049"/>
            <a:chExt cx="2352" cy="1608"/>
          </a:xfrm>
        </p:grpSpPr>
        <p:sp>
          <p:nvSpPr>
            <p:cNvPr id="14357" name="Rectangle 9"/>
            <p:cNvSpPr/>
            <p:nvPr/>
          </p:nvSpPr>
          <p:spPr>
            <a:xfrm>
              <a:off x="930" y="204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p>
          </p:txBody>
        </p:sp>
        <p:sp>
          <p:nvSpPr>
            <p:cNvPr id="14358" name="Rectangle 10"/>
            <p:cNvSpPr/>
            <p:nvPr/>
          </p:nvSpPr>
          <p:spPr>
            <a:xfrm>
              <a:off x="1026" y="2192"/>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4359" name="Rectangle 11"/>
            <p:cNvSpPr/>
            <p:nvPr/>
          </p:nvSpPr>
          <p:spPr>
            <a:xfrm>
              <a:off x="1122" y="2328"/>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4360" name="Rectangle 12"/>
            <p:cNvSpPr/>
            <p:nvPr/>
          </p:nvSpPr>
          <p:spPr>
            <a:xfrm>
              <a:off x="1218" y="2464"/>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4361" name="Rectangle 13"/>
            <p:cNvSpPr/>
            <p:nvPr/>
          </p:nvSpPr>
          <p:spPr>
            <a:xfrm>
              <a:off x="1314" y="2600"/>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362" name="Rectangle 14"/>
            <p:cNvSpPr/>
            <p:nvPr/>
          </p:nvSpPr>
          <p:spPr>
            <a:xfrm>
              <a:off x="1410" y="2736"/>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363" name="Rectangle 15"/>
            <p:cNvSpPr/>
            <p:nvPr/>
          </p:nvSpPr>
          <p:spPr>
            <a:xfrm>
              <a:off x="1506" y="2873"/>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364" name="Rectangle 16"/>
            <p:cNvSpPr/>
            <p:nvPr/>
          </p:nvSpPr>
          <p:spPr>
            <a:xfrm>
              <a:off x="1602" y="300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365" name="Rectangle 17"/>
            <p:cNvSpPr/>
            <p:nvPr/>
          </p:nvSpPr>
          <p:spPr>
            <a:xfrm>
              <a:off x="1698" y="3145"/>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366" name="Rectangle 18"/>
            <p:cNvSpPr/>
            <p:nvPr/>
          </p:nvSpPr>
          <p:spPr>
            <a:xfrm>
              <a:off x="1794" y="3281"/>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367" name="Rectangle 19"/>
            <p:cNvSpPr/>
            <p:nvPr/>
          </p:nvSpPr>
          <p:spPr>
            <a:xfrm>
              <a:off x="1890" y="3417"/>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p>
          </p:txBody>
        </p:sp>
      </p:grpSp>
      <p:sp>
        <p:nvSpPr>
          <p:cNvPr id="14342" name="Rectangle 21"/>
          <p:cNvSpPr/>
          <p:nvPr/>
        </p:nvSpPr>
        <p:spPr>
          <a:xfrm>
            <a:off x="3059906" y="5463779"/>
            <a:ext cx="1040130" cy="2971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zh-CN" altLang="en-US" sz="1350" b="0" dirty="0">
                <a:latin typeface="Times New Roman" panose="02020603050405020304" pitchFamily="18" charset="0"/>
                <a:ea typeface="华文楷体" panose="02010600040101010101" pitchFamily="2" charset="-122"/>
              </a:rPr>
              <a:t>某存储区域</a:t>
            </a:r>
          </a:p>
        </p:txBody>
      </p:sp>
      <p:sp>
        <p:nvSpPr>
          <p:cNvPr id="622614" name="Rectangle 22"/>
          <p:cNvSpPr>
            <a:spLocks noChangeArrowheads="1"/>
          </p:cNvSpPr>
          <p:nvPr/>
        </p:nvSpPr>
        <p:spPr bwMode="auto">
          <a:xfrm>
            <a:off x="1934766" y="3851672"/>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x0022ff45</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22615" name="Rectangle 23"/>
          <p:cNvSpPr>
            <a:spLocks noChangeArrowheads="1"/>
          </p:cNvSpPr>
          <p:nvPr/>
        </p:nvSpPr>
        <p:spPr bwMode="auto">
          <a:xfrm>
            <a:off x="2060972" y="4051697"/>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x0022ff46</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22616" name="Rectangle 24"/>
          <p:cNvSpPr>
            <a:spLocks noChangeArrowheads="1"/>
          </p:cNvSpPr>
          <p:nvPr/>
        </p:nvSpPr>
        <p:spPr bwMode="auto">
          <a:xfrm>
            <a:off x="2176463" y="4220766"/>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x0022ff47</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14346" name="Group 36"/>
          <p:cNvGrpSpPr/>
          <p:nvPr/>
        </p:nvGrpSpPr>
        <p:grpSpPr>
          <a:xfrm>
            <a:off x="1547813" y="2151460"/>
            <a:ext cx="4320779" cy="1493044"/>
            <a:chOff x="340" y="1087"/>
            <a:chExt cx="3629" cy="1254"/>
          </a:xfrm>
        </p:grpSpPr>
        <p:sp>
          <p:nvSpPr>
            <p:cNvPr id="14355" name="Rectangle 27"/>
            <p:cNvSpPr/>
            <p:nvPr/>
          </p:nvSpPr>
          <p:spPr>
            <a:xfrm>
              <a:off x="340" y="1087"/>
              <a:ext cx="3629" cy="522"/>
            </a:xfrm>
            <a:prstGeom prst="rect">
              <a:avLst/>
            </a:prstGeom>
            <a:solidFill>
              <a:srgbClr val="FFCC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100" dirty="0">
                  <a:solidFill>
                    <a:srgbClr val="000066"/>
                  </a:solidFill>
                  <a:latin typeface="Times New Roman" panose="02020603050405020304" pitchFamily="18" charset="0"/>
                  <a:ea typeface="楷体_GB2312" panose="02010609030101010101" pitchFamily="49" charset="-122"/>
                </a:rPr>
                <a:t>直接寻址：按变量地址存取变量值</a:t>
              </a:r>
            </a:p>
          </p:txBody>
        </p:sp>
        <p:sp>
          <p:nvSpPr>
            <p:cNvPr id="622620" name="Freeform 28"/>
            <p:cNvSpPr/>
            <p:nvPr/>
          </p:nvSpPr>
          <p:spPr bwMode="auto">
            <a:xfrm flipH="1">
              <a:off x="340" y="1616"/>
              <a:ext cx="1" cy="725"/>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tailEnd type="stealth" w="med" len="lg"/>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
        <p:nvSpPr>
          <p:cNvPr id="622621" name="Rectangle 29"/>
          <p:cNvSpPr>
            <a:spLocks noChangeArrowheads="1"/>
          </p:cNvSpPr>
          <p:nvPr/>
        </p:nvSpPr>
        <p:spPr bwMode="auto">
          <a:xfrm>
            <a:off x="1385888" y="3626644"/>
            <a:ext cx="38862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&amp;a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14349" name="Group 32"/>
          <p:cNvGrpSpPr/>
          <p:nvPr/>
        </p:nvGrpSpPr>
        <p:grpSpPr>
          <a:xfrm>
            <a:off x="1176338" y="4346972"/>
            <a:ext cx="2693194" cy="1096565"/>
            <a:chOff x="28" y="2931"/>
            <a:chExt cx="2262" cy="921"/>
          </a:xfrm>
        </p:grpSpPr>
        <p:sp>
          <p:nvSpPr>
            <p:cNvPr id="14353" name="Rectangle 33"/>
            <p:cNvSpPr/>
            <p:nvPr/>
          </p:nvSpPr>
          <p:spPr>
            <a:xfrm>
              <a:off x="28" y="3521"/>
              <a:ext cx="2262" cy="331"/>
            </a:xfrm>
            <a:prstGeom prst="rect">
              <a:avLst/>
            </a:prstGeom>
            <a:solidFill>
              <a:srgbClr val="FFCC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2100" dirty="0">
                  <a:solidFill>
                    <a:srgbClr val="000066"/>
                  </a:solidFill>
                  <a:latin typeface="Courier New" panose="02070309020205020404" pitchFamily="49" charset="0"/>
                  <a:ea typeface="楷体_GB2312" panose="02010609030101010101" pitchFamily="49" charset="-122"/>
                </a:rPr>
                <a:t>scanf("%d", &amp;a);</a:t>
              </a:r>
            </a:p>
          </p:txBody>
        </p:sp>
        <p:sp>
          <p:nvSpPr>
            <p:cNvPr id="622626" name="Freeform 34"/>
            <p:cNvSpPr/>
            <p:nvPr/>
          </p:nvSpPr>
          <p:spPr bwMode="auto">
            <a:xfrm flipV="1">
              <a:off x="521" y="2931"/>
              <a:ext cx="1361" cy="590"/>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tailEnd type="stealth" w="med" len="lg"/>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
        <p:nvSpPr>
          <p:cNvPr id="622627" name="Rectangle 35"/>
          <p:cNvSpPr>
            <a:spLocks noChangeArrowheads="1"/>
          </p:cNvSpPr>
          <p:nvPr/>
        </p:nvSpPr>
        <p:spPr bwMode="auto">
          <a:xfrm>
            <a:off x="1425179" y="3680222"/>
            <a:ext cx="392906" cy="270272"/>
          </a:xfrm>
          <a:prstGeom prst="rect">
            <a:avLst/>
          </a:prstGeom>
          <a:noFill/>
          <a:ln w="3810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4" name="Rectangle 47"/>
          <p:cNvSpPr>
            <a:spLocks noChangeArrowheads="1"/>
          </p:cNvSpPr>
          <p:nvPr/>
        </p:nvSpPr>
        <p:spPr bwMode="auto">
          <a:xfrm>
            <a:off x="4967288" y="3571875"/>
            <a:ext cx="28575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5" name="Rectangle 32"/>
          <p:cNvSpPr>
            <a:spLocks noChangeArrowheads="1"/>
          </p:cNvSpPr>
          <p:nvPr/>
        </p:nvSpPr>
        <p:spPr bwMode="auto">
          <a:xfrm>
            <a:off x="3006328" y="3232547"/>
            <a:ext cx="110871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a=0;</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vert="horz" wrap="square" lIns="68580" tIns="34290" rIns="68580" bIns="34290" anchor="ctr"/>
          <a:lstStyle/>
          <a:p>
            <a:pPr eaLnBrk="1" hangingPunct="1"/>
            <a:r>
              <a:rPr lang="zh-CN" altLang="en-US" sz="3600"/>
              <a:t>变量的间接寻址</a:t>
            </a:r>
            <a:endParaRPr lang="en-US" altLang="zh-CN" sz="3000" dirty="0"/>
          </a:p>
        </p:txBody>
      </p:sp>
      <p:grpSp>
        <p:nvGrpSpPr>
          <p:cNvPr id="15363" name="Group 3"/>
          <p:cNvGrpSpPr/>
          <p:nvPr/>
        </p:nvGrpSpPr>
        <p:grpSpPr>
          <a:xfrm>
            <a:off x="4410075" y="2888456"/>
            <a:ext cx="3239691" cy="756047"/>
            <a:chOff x="1383" y="1026"/>
            <a:chExt cx="4309" cy="1179"/>
          </a:xfrm>
        </p:grpSpPr>
        <p:sp>
          <p:nvSpPr>
            <p:cNvPr id="15390" name="Rectangle 4"/>
            <p:cNvSpPr/>
            <p:nvPr/>
          </p:nvSpPr>
          <p:spPr>
            <a:xfrm>
              <a:off x="1519" y="1026"/>
              <a:ext cx="4173" cy="717"/>
            </a:xfrm>
            <a:prstGeom prst="rect">
              <a:avLst/>
            </a:prstGeom>
            <a:solidFill>
              <a:srgbClr val="FFCC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100" dirty="0">
                  <a:solidFill>
                    <a:srgbClr val="000066"/>
                  </a:solidFill>
                  <a:latin typeface="Times New Roman" panose="02020603050405020304" pitchFamily="18" charset="0"/>
                  <a:ea typeface="楷体_GB2312" panose="02010609030101010101" pitchFamily="49" charset="-122"/>
                </a:rPr>
                <a:t>如何读写内存中的数据？</a:t>
              </a:r>
            </a:p>
          </p:txBody>
        </p:sp>
        <p:sp>
          <p:nvSpPr>
            <p:cNvPr id="623621" name="Freeform 5"/>
            <p:cNvSpPr/>
            <p:nvPr/>
          </p:nvSpPr>
          <p:spPr bwMode="auto">
            <a:xfrm>
              <a:off x="1383" y="1763"/>
              <a:ext cx="415" cy="44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tailEnd type="stealth" w="med" len="lg"/>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
        <p:nvSpPr>
          <p:cNvPr id="623623" name="Rectangle 7"/>
          <p:cNvSpPr>
            <a:spLocks noChangeArrowheads="1"/>
          </p:cNvSpPr>
          <p:nvPr/>
        </p:nvSpPr>
        <p:spPr bwMode="auto">
          <a:xfrm>
            <a:off x="1818085" y="3644503"/>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a:t>
            </a:r>
            <a:r>
              <a:rPr kumimoji="0" 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22ff44</a:t>
            </a:r>
          </a:p>
        </p:txBody>
      </p:sp>
      <p:grpSp>
        <p:nvGrpSpPr>
          <p:cNvPr id="15365" name="Group 8"/>
          <p:cNvGrpSpPr/>
          <p:nvPr/>
        </p:nvGrpSpPr>
        <p:grpSpPr>
          <a:xfrm>
            <a:off x="3121819" y="3674269"/>
            <a:ext cx="2800350" cy="1914525"/>
            <a:chOff x="930" y="2049"/>
            <a:chExt cx="2352" cy="1608"/>
          </a:xfrm>
        </p:grpSpPr>
        <p:sp>
          <p:nvSpPr>
            <p:cNvPr id="15379" name="Rectangle 9"/>
            <p:cNvSpPr/>
            <p:nvPr/>
          </p:nvSpPr>
          <p:spPr>
            <a:xfrm>
              <a:off x="930" y="204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p>
          </p:txBody>
        </p:sp>
        <p:sp>
          <p:nvSpPr>
            <p:cNvPr id="15380" name="Rectangle 10"/>
            <p:cNvSpPr/>
            <p:nvPr/>
          </p:nvSpPr>
          <p:spPr>
            <a:xfrm>
              <a:off x="1026" y="2192"/>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5381" name="Rectangle 11"/>
            <p:cNvSpPr/>
            <p:nvPr/>
          </p:nvSpPr>
          <p:spPr>
            <a:xfrm>
              <a:off x="1122" y="2328"/>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5382" name="Rectangle 12"/>
            <p:cNvSpPr/>
            <p:nvPr/>
          </p:nvSpPr>
          <p:spPr>
            <a:xfrm>
              <a:off x="1218" y="2464"/>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5383" name="Rectangle 13"/>
            <p:cNvSpPr/>
            <p:nvPr/>
          </p:nvSpPr>
          <p:spPr>
            <a:xfrm>
              <a:off x="1314" y="2600"/>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384" name="Rectangle 14"/>
            <p:cNvSpPr/>
            <p:nvPr/>
          </p:nvSpPr>
          <p:spPr>
            <a:xfrm>
              <a:off x="1410" y="2736"/>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385" name="Rectangle 15"/>
            <p:cNvSpPr/>
            <p:nvPr/>
          </p:nvSpPr>
          <p:spPr>
            <a:xfrm>
              <a:off x="1506" y="2873"/>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386" name="Rectangle 16"/>
            <p:cNvSpPr/>
            <p:nvPr/>
          </p:nvSpPr>
          <p:spPr>
            <a:xfrm>
              <a:off x="1602" y="300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387" name="Rectangle 17"/>
            <p:cNvSpPr/>
            <p:nvPr/>
          </p:nvSpPr>
          <p:spPr>
            <a:xfrm>
              <a:off x="1698" y="3145"/>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388" name="Rectangle 18"/>
            <p:cNvSpPr/>
            <p:nvPr/>
          </p:nvSpPr>
          <p:spPr>
            <a:xfrm>
              <a:off x="1794" y="3281"/>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389" name="Rectangle 19"/>
            <p:cNvSpPr/>
            <p:nvPr/>
          </p:nvSpPr>
          <p:spPr>
            <a:xfrm>
              <a:off x="1890" y="3417"/>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rgbClr val="880000"/>
                  </a:solidFill>
                  <a:latin typeface="Times New Roman" panose="02020603050405020304" pitchFamily="18" charset="0"/>
                </a:rPr>
                <a:t>0</a:t>
              </a:r>
              <a:r>
                <a:rPr lang="en-US" altLang="zh-CN" sz="1800" dirty="0">
                  <a:solidFill>
                    <a:srgbClr val="880000"/>
                  </a:solidFill>
                  <a:latin typeface="Times New Roman" panose="02020603050405020304" pitchFamily="18" charset="0"/>
                </a:rPr>
                <a:t>x0022ff44</a:t>
              </a:r>
            </a:p>
          </p:txBody>
        </p:sp>
      </p:grpSp>
      <p:sp>
        <p:nvSpPr>
          <p:cNvPr id="15366" name="Rectangle 21"/>
          <p:cNvSpPr/>
          <p:nvPr/>
        </p:nvSpPr>
        <p:spPr>
          <a:xfrm>
            <a:off x="3059906" y="5463779"/>
            <a:ext cx="1040130" cy="2971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zh-CN" altLang="en-US" sz="1350" b="0" dirty="0">
                <a:latin typeface="Times New Roman" panose="02020603050405020304" pitchFamily="18" charset="0"/>
                <a:ea typeface="华文楷体" panose="02010600040101010101" pitchFamily="2" charset="-122"/>
              </a:rPr>
              <a:t>某存储区域</a:t>
            </a:r>
          </a:p>
        </p:txBody>
      </p:sp>
      <p:sp>
        <p:nvSpPr>
          <p:cNvPr id="623638" name="Rectangle 22"/>
          <p:cNvSpPr>
            <a:spLocks noChangeArrowheads="1"/>
          </p:cNvSpPr>
          <p:nvPr/>
        </p:nvSpPr>
        <p:spPr bwMode="auto">
          <a:xfrm>
            <a:off x="1934766" y="3851672"/>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x0022ff45</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23639" name="Rectangle 23"/>
          <p:cNvSpPr>
            <a:spLocks noChangeArrowheads="1"/>
          </p:cNvSpPr>
          <p:nvPr/>
        </p:nvSpPr>
        <p:spPr bwMode="auto">
          <a:xfrm>
            <a:off x="2060972" y="4051697"/>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a:t>
            </a:r>
            <a:r>
              <a:rPr kumimoji="0" 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22ff46</a:t>
            </a:r>
          </a:p>
        </p:txBody>
      </p:sp>
      <p:sp>
        <p:nvSpPr>
          <p:cNvPr id="623640" name="Rectangle 24"/>
          <p:cNvSpPr>
            <a:spLocks noChangeArrowheads="1"/>
          </p:cNvSpPr>
          <p:nvPr/>
        </p:nvSpPr>
        <p:spPr bwMode="auto">
          <a:xfrm>
            <a:off x="2176463" y="4220766"/>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x0022ff47</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23642" name="Rectangle 26"/>
          <p:cNvSpPr/>
          <p:nvPr/>
        </p:nvSpPr>
        <p:spPr>
          <a:xfrm>
            <a:off x="1547813" y="2132410"/>
            <a:ext cx="5886450" cy="629840"/>
          </a:xfrm>
          <a:prstGeom prst="rect">
            <a:avLst/>
          </a:prstGeom>
          <a:solidFill>
            <a:srgbClr val="FFCC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100" dirty="0">
                <a:solidFill>
                  <a:srgbClr val="000066"/>
                </a:solidFill>
                <a:latin typeface="Times New Roman" panose="02020603050405020304" pitchFamily="18" charset="0"/>
                <a:ea typeface="楷体_GB2312" panose="02010609030101010101" pitchFamily="49" charset="-122"/>
              </a:rPr>
              <a:t>间接寻址：通过存放变量地址的变量去访问变量</a:t>
            </a:r>
          </a:p>
        </p:txBody>
      </p:sp>
      <p:sp>
        <p:nvSpPr>
          <p:cNvPr id="623644" name="Rectangle 28"/>
          <p:cNvSpPr>
            <a:spLocks noChangeArrowheads="1"/>
          </p:cNvSpPr>
          <p:nvPr/>
        </p:nvSpPr>
        <p:spPr bwMode="auto">
          <a:xfrm>
            <a:off x="1385888" y="3626644"/>
            <a:ext cx="38862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&amp;a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4" name="Group 33"/>
          <p:cNvGrpSpPr/>
          <p:nvPr/>
        </p:nvGrpSpPr>
        <p:grpSpPr>
          <a:xfrm>
            <a:off x="5328047" y="3752850"/>
            <a:ext cx="972740" cy="1674019"/>
            <a:chOff x="3515" y="2432"/>
            <a:chExt cx="817" cy="1406"/>
          </a:xfrm>
        </p:grpSpPr>
        <p:sp>
          <p:nvSpPr>
            <p:cNvPr id="15376" name="Line 30"/>
            <p:cNvSpPr/>
            <p:nvPr/>
          </p:nvSpPr>
          <p:spPr>
            <a:xfrm>
              <a:off x="4014" y="3838"/>
              <a:ext cx="318" cy="0"/>
            </a:xfrm>
            <a:prstGeom prst="line">
              <a:avLst/>
            </a:prstGeom>
            <a:ln w="38100" cap="flat" cmpd="sng">
              <a:solidFill>
                <a:srgbClr val="800000"/>
              </a:solidFill>
              <a:prstDash val="solid"/>
              <a:headEnd type="none" w="sm" len="sm"/>
              <a:tailEnd type="none" w="sm" len="sm"/>
            </a:ln>
          </p:spPr>
        </p:sp>
        <p:sp>
          <p:nvSpPr>
            <p:cNvPr id="15377" name="Line 31"/>
            <p:cNvSpPr/>
            <p:nvPr/>
          </p:nvSpPr>
          <p:spPr>
            <a:xfrm flipV="1">
              <a:off x="4332" y="2432"/>
              <a:ext cx="0" cy="1406"/>
            </a:xfrm>
            <a:prstGeom prst="line">
              <a:avLst/>
            </a:prstGeom>
            <a:ln w="38100" cap="flat" cmpd="sng">
              <a:solidFill>
                <a:srgbClr val="800000"/>
              </a:solidFill>
              <a:prstDash val="solid"/>
              <a:headEnd type="none" w="sm" len="sm"/>
              <a:tailEnd type="none" w="sm" len="sm"/>
            </a:ln>
          </p:spPr>
        </p:sp>
        <p:sp>
          <p:nvSpPr>
            <p:cNvPr id="15378" name="Line 32"/>
            <p:cNvSpPr/>
            <p:nvPr/>
          </p:nvSpPr>
          <p:spPr>
            <a:xfrm flipH="1">
              <a:off x="3515" y="2432"/>
              <a:ext cx="817" cy="0"/>
            </a:xfrm>
            <a:prstGeom prst="line">
              <a:avLst/>
            </a:prstGeom>
            <a:ln w="38100" cap="flat" cmpd="sng">
              <a:solidFill>
                <a:srgbClr val="800000"/>
              </a:solidFill>
              <a:prstDash val="solid"/>
              <a:headEnd type="none" w="sm" len="sm"/>
              <a:tailEnd type="triangle" w="med" len="lg"/>
            </a:ln>
          </p:spPr>
        </p:sp>
      </p:grpSp>
      <p:sp>
        <p:nvSpPr>
          <p:cNvPr id="32" name="Rectangle 47"/>
          <p:cNvSpPr>
            <a:spLocks noChangeArrowheads="1"/>
          </p:cNvSpPr>
          <p:nvPr/>
        </p:nvSpPr>
        <p:spPr bwMode="auto">
          <a:xfrm>
            <a:off x="4967288" y="3571875"/>
            <a:ext cx="28575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3" name="Rectangle 32"/>
          <p:cNvSpPr>
            <a:spLocks noChangeArrowheads="1"/>
          </p:cNvSpPr>
          <p:nvPr/>
        </p:nvSpPr>
        <p:spPr bwMode="auto">
          <a:xfrm>
            <a:off x="3006328" y="3232547"/>
            <a:ext cx="110871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a=0;</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 name="内容占位符 1"/>
          <p:cNvSpPr>
            <a:spLocks noGrp="1"/>
          </p:cNvSpPr>
          <p:nvPr>
            <p:ph idx="1"/>
          </p:nvPr>
        </p:nvSpPr>
        <p:spPr>
          <a:xfrm>
            <a:off x="755650" y="5736590"/>
            <a:ext cx="7993380" cy="501015"/>
          </a:xfrm>
        </p:spPr>
        <p:txBody>
          <a:bodyPr/>
          <a:lstStyle/>
          <a:p>
            <a:r>
              <a:rPr lang="zh-CN" altLang="en-US" sz="2400" dirty="0"/>
              <a:t>能存放变量地址的变量就是指针</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23642"/>
                                        </p:tgtEl>
                                        <p:attrNameLst>
                                          <p:attrName>style.visibility</p:attrName>
                                        </p:attrNameLst>
                                      </p:cBhvr>
                                      <p:to>
                                        <p:strVal val="visible"/>
                                      </p:to>
                                    </p:set>
                                    <p:anim calcmode="lin" valueType="num">
                                      <p:cBhvr>
                                        <p:cTn id="12" dur="500" fill="hold"/>
                                        <p:tgtEl>
                                          <p:spTgt spid="623642"/>
                                        </p:tgtEl>
                                        <p:attrNameLst>
                                          <p:attrName>ppt_w</p:attrName>
                                        </p:attrNameLst>
                                      </p:cBhvr>
                                      <p:tavLst>
                                        <p:tav tm="0">
                                          <p:val>
                                            <p:fltVal val="0"/>
                                          </p:val>
                                        </p:tav>
                                        <p:tav tm="100000">
                                          <p:val>
                                            <p:strVal val="#ppt_w"/>
                                          </p:val>
                                        </p:tav>
                                      </p:tavLst>
                                    </p:anim>
                                    <p:anim calcmode="lin" valueType="num">
                                      <p:cBhvr>
                                        <p:cTn id="13" dur="500" fill="hold"/>
                                        <p:tgtEl>
                                          <p:spTgt spid="623642"/>
                                        </p:tgtEl>
                                        <p:attrNameLst>
                                          <p:attrName>ppt_h</p:attrName>
                                        </p:attrNameLst>
                                      </p:cBhvr>
                                      <p:tavLst>
                                        <p:tav tm="0">
                                          <p:val>
                                            <p:fltVal val="0"/>
                                          </p:val>
                                        </p:tav>
                                        <p:tav tm="100000">
                                          <p:val>
                                            <p:strVal val="#ppt_h"/>
                                          </p:val>
                                        </p:tav>
                                      </p:tavLst>
                                    </p:anim>
                                    <p:animEffect transition="in" filter="fade">
                                      <p:cBhvr>
                                        <p:cTn id="14" dur="500"/>
                                        <p:tgtEl>
                                          <p:spTgt spid="623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42"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977596" y="2896791"/>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6.1.2 </a:t>
            </a:r>
            <a:r>
              <a:rPr lang="zh-CN" altLang="en-US" sz="4000" b="1" dirty="0" smtClean="0">
                <a:effectLst>
                  <a:outerShdw blurRad="38100" dist="38100" dir="2700000" algn="tl">
                    <a:srgbClr val="C0C0C0"/>
                  </a:outerShdw>
                </a:effectLst>
                <a:ea typeface="黑体" panose="02010609060101010101" pitchFamily="2" charset="-122"/>
              </a:rPr>
              <a:t>指针变量</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80656906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a:xfrm>
            <a:off x="811213" y="951786"/>
            <a:ext cx="6132910" cy="629841"/>
          </a:xfrm>
        </p:spPr>
        <p:txBody>
          <a:bodyPr vert="horz" wrap="square" lIns="68580" tIns="34290" rIns="68580" bIns="34290" numCol="1" anchor="ctr" anchorCtr="0" compatLnSpc="1"/>
          <a:lstStyle/>
          <a:p>
            <a:pPr marL="0" marR="0" lvl="0" algn="l" rtl="0" fontAlgn="base" latinLnBrk="0">
              <a:lnSpc>
                <a:spcPct val="90000"/>
              </a:lnSpc>
              <a:buNone/>
            </a:pPr>
            <a:r>
              <a:rPr kumimoji="0" lang="zh-CN" altLang="en-US" sz="3600" b="1" i="0" u="none" strike="noStrike" kern="0" cap="none" spc="0" normalizeH="0" baseline="0" dirty="0">
                <a:latin typeface="+mj-lt"/>
                <a:ea typeface="+mj-ea"/>
                <a:cs typeface="+mj-cs"/>
              </a:rPr>
              <a:t>指针变量</a:t>
            </a:r>
          </a:p>
        </p:txBody>
      </p:sp>
      <p:sp>
        <p:nvSpPr>
          <p:cNvPr id="595971" name="Rectangle 3"/>
          <p:cNvSpPr>
            <a:spLocks noGrp="1"/>
          </p:cNvSpPr>
          <p:nvPr>
            <p:ph type="body" sz="half" idx="1"/>
          </p:nvPr>
        </p:nvSpPr>
        <p:spPr>
          <a:xfrm>
            <a:off x="1043608" y="1926669"/>
            <a:ext cx="6885384" cy="1731169"/>
          </a:xfrm>
        </p:spPr>
        <p:txBody>
          <a:bodyPr vert="horz" wrap="square" lIns="68580" tIns="34290" rIns="68580" bIns="34290" anchor="t">
            <a:normAutofit fontScale="97500"/>
          </a:bodyPr>
          <a:lstStyle/>
          <a:p>
            <a:pPr algn="l" eaLnBrk="1" hangingPunct="1">
              <a:lnSpc>
                <a:spcPct val="105000"/>
              </a:lnSpc>
              <a:buFont typeface="Monotype Sorts" pitchFamily="2" charset="2"/>
              <a:buChar char=""/>
            </a:pPr>
            <a:r>
              <a:rPr lang="zh-CN" altLang="en-US" kern="1200" dirty="0" smtClean="0"/>
              <a:t>存放</a:t>
            </a:r>
            <a:r>
              <a:rPr lang="zh-CN" altLang="en-US" kern="1200" dirty="0"/>
              <a:t>变量的地址需要一种特殊类型的变量</a:t>
            </a:r>
          </a:p>
          <a:p>
            <a:pPr algn="l" eaLnBrk="1" hangingPunct="1">
              <a:lnSpc>
                <a:spcPct val="105000"/>
              </a:lnSpc>
              <a:buFont typeface="Monotype Sorts" pitchFamily="2" charset="2"/>
              <a:buChar char=""/>
            </a:pPr>
            <a:r>
              <a:rPr lang="zh-CN" altLang="en-US" kern="1200" dirty="0"/>
              <a:t>指针变量——存放变量地址的</a:t>
            </a:r>
            <a:r>
              <a:rPr lang="zh-CN" altLang="en-US" kern="1200" dirty="0" smtClean="0"/>
              <a:t>变量</a:t>
            </a:r>
            <a:endParaRPr lang="en-US" altLang="zh-CN" kern="1200" dirty="0" smtClean="0"/>
          </a:p>
          <a:p>
            <a:pPr algn="l" eaLnBrk="1" hangingPunct="1">
              <a:lnSpc>
                <a:spcPct val="105000"/>
              </a:lnSpc>
              <a:buFont typeface="Monotype Sorts" pitchFamily="2" charset="2"/>
              <a:buChar char=""/>
            </a:pPr>
            <a:r>
              <a:rPr lang="zh-CN" altLang="en-US" kern="1200" dirty="0" smtClean="0"/>
              <a:t>指针变量值：地址</a:t>
            </a:r>
            <a:endParaRPr lang="zh-CN" altLang="en-US" dirty="0"/>
          </a:p>
          <a:p>
            <a:pPr eaLnBrk="1" hangingPunct="1">
              <a:lnSpc>
                <a:spcPct val="105000"/>
              </a:lnSpc>
              <a:buFont typeface="Monotype Sorts" pitchFamily="2" charset="2"/>
              <a:buChar char=""/>
            </a:pPr>
            <a:endParaRPr lang="zh-CN" altLang="en-US" kern="1200" dirty="0">
              <a:latin typeface="楷体_GB2312" panose="02010609030101010101" pitchFamily="49" charset="-122"/>
              <a:ea typeface="仿宋_GB2312" panose="02010609030101010101" pitchFamily="49" charset="-122"/>
            </a:endParaRPr>
          </a:p>
        </p:txBody>
      </p:sp>
      <p:grpSp>
        <p:nvGrpSpPr>
          <p:cNvPr id="18437" name="Group 4"/>
          <p:cNvGrpSpPr/>
          <p:nvPr/>
        </p:nvGrpSpPr>
        <p:grpSpPr>
          <a:xfrm>
            <a:off x="2000250" y="3804285"/>
            <a:ext cx="5372100" cy="2002631"/>
            <a:chOff x="720" y="2302"/>
            <a:chExt cx="4512" cy="1682"/>
          </a:xfrm>
        </p:grpSpPr>
        <p:sp>
          <p:nvSpPr>
            <p:cNvPr id="595973" name="Rectangle 5"/>
            <p:cNvSpPr>
              <a:spLocks noChangeArrowheads="1"/>
            </p:cNvSpPr>
            <p:nvPr/>
          </p:nvSpPr>
          <p:spPr bwMode="auto">
            <a:xfrm>
              <a:off x="720" y="2302"/>
              <a:ext cx="4512" cy="1682"/>
            </a:xfrm>
            <a:prstGeom prst="rect">
              <a:avLst/>
            </a:prstGeom>
            <a:solidFill>
              <a:schemeClr val="accent1">
                <a:lumMod val="40000"/>
                <a:lumOff val="60000"/>
              </a:schemeClr>
            </a:solidFill>
            <a:ln w="9525">
              <a:solidFill>
                <a:schemeClr val="tx1"/>
              </a:solidFill>
              <a:miter lim="800000"/>
            </a:ln>
            <a:effectLst/>
          </p:spPr>
          <p:txBody>
            <a:bodyPr wrap="none"/>
            <a:lstStyle/>
            <a:p>
              <a:pPr lvl="0" eaLnBrk="1" hangingPunct="1"/>
              <a:endParaRPr lang="zh-CN" altLang="en-US" sz="900" dirty="0"/>
            </a:p>
            <a:p>
              <a:pPr lvl="0" eaLnBrk="1" hangingPunct="1"/>
              <a:r>
                <a:rPr lang="zh-CN" altLang="en-US" sz="900" b="1" dirty="0">
                  <a:solidFill>
                    <a:srgbClr val="000066"/>
                  </a:solidFill>
                  <a:latin typeface="宋体" panose="02010600030101010101" pitchFamily="2" charset="-122"/>
                </a:rPr>
                <a:t>      </a:t>
              </a:r>
              <a:r>
                <a:rPr lang="zh-CN" altLang="en-US" sz="1800" b="1" dirty="0">
                  <a:solidFill>
                    <a:srgbClr val="000066"/>
                  </a:solidFill>
                  <a:latin typeface="楷体_GB2312" panose="02010609030101010101" pitchFamily="49" charset="-122"/>
                  <a:ea typeface="楷体_GB2312" panose="02010609030101010101" pitchFamily="49" charset="-122"/>
                </a:rPr>
                <a:t>指针变量</a:t>
              </a:r>
            </a:p>
            <a:p>
              <a:pPr lvl="0" eaLnBrk="1" hangingPunct="1"/>
              <a:endParaRPr lang="zh-CN" altLang="en-US" sz="1800" b="1" dirty="0">
                <a:solidFill>
                  <a:srgbClr val="000066"/>
                </a:solidFill>
                <a:latin typeface="楷体_GB2312" panose="02010609030101010101" pitchFamily="49" charset="-122"/>
                <a:ea typeface="楷体_GB2312" panose="02010609030101010101" pitchFamily="49" charset="-122"/>
              </a:endParaRPr>
            </a:p>
            <a:p>
              <a:pPr lvl="0" eaLnBrk="1" hangingPunct="1"/>
              <a:r>
                <a:rPr lang="zh-CN" altLang="en-US" sz="900" dirty="0">
                  <a:latin typeface="楷体_GB2312" panose="02010609030101010101" pitchFamily="49" charset="-122"/>
                  <a:ea typeface="楷体_GB2312" panose="02010609030101010101" pitchFamily="49" charset="-122"/>
                </a:rPr>
                <a:t>                 </a:t>
              </a:r>
            </a:p>
            <a:p>
              <a:pPr lvl="0" eaLnBrk="1" hangingPunct="1"/>
              <a:r>
                <a:rPr lang="zh-CN" altLang="en-US" sz="900" dirty="0">
                  <a:latin typeface="楷体_GB2312" panose="02010609030101010101" pitchFamily="49" charset="-122"/>
                  <a:ea typeface="楷体_GB2312" panose="02010609030101010101" pitchFamily="49" charset="-122"/>
                </a:rPr>
                <a:t>                        </a:t>
              </a:r>
              <a:r>
                <a:rPr lang="zh-CN" altLang="en-US" sz="1800" b="1" dirty="0">
                  <a:solidFill>
                    <a:srgbClr val="880000"/>
                  </a:solidFill>
                  <a:latin typeface="楷体_GB2312" panose="02010609030101010101" pitchFamily="49" charset="-122"/>
                  <a:ea typeface="楷体_GB2312" panose="02010609030101010101" pitchFamily="49" charset="-122"/>
                </a:rPr>
                <a:t>指向</a:t>
              </a:r>
              <a:endParaRPr lang="en-US" altLang="zh-CN" sz="1800" b="1" dirty="0">
                <a:solidFill>
                  <a:srgbClr val="000066"/>
                </a:solidFill>
                <a:latin typeface="楷体_GB2312" panose="02010609030101010101" pitchFamily="49" charset="-122"/>
                <a:ea typeface="楷体_GB2312" panose="02010609030101010101" pitchFamily="49" charset="-122"/>
              </a:endParaRPr>
            </a:p>
            <a:p>
              <a:pPr lvl="0" eaLnBrk="1" hangingPunct="1"/>
              <a:r>
                <a:rPr lang="zh-CN" altLang="en-US" sz="900" dirty="0">
                  <a:latin typeface="楷体_GB2312" panose="02010609030101010101" pitchFamily="49" charset="-122"/>
                  <a:ea typeface="楷体_GB2312" panose="02010609030101010101" pitchFamily="49" charset="-122"/>
                </a:rPr>
                <a:t>            </a:t>
              </a:r>
            </a:p>
            <a:p>
              <a:pPr lvl="0" eaLnBrk="1" hangingPunct="1"/>
              <a:r>
                <a:rPr lang="zh-CN" altLang="en-US" sz="900" dirty="0">
                  <a:latin typeface="楷体_GB2312" panose="02010609030101010101" pitchFamily="49" charset="-122"/>
                  <a:ea typeface="楷体_GB2312" panose="02010609030101010101" pitchFamily="49" charset="-122"/>
                </a:rPr>
                <a:t>          </a:t>
              </a:r>
            </a:p>
            <a:p>
              <a:pPr lvl="0" eaLnBrk="1" hangingPunct="1"/>
              <a:r>
                <a:rPr lang="zh-CN" altLang="en-US" sz="900" b="1" dirty="0">
                  <a:solidFill>
                    <a:srgbClr val="000066"/>
                  </a:solidFill>
                  <a:latin typeface="楷体_GB2312" panose="02010609030101010101" pitchFamily="49" charset="-122"/>
                  <a:ea typeface="楷体_GB2312" panose="02010609030101010101" pitchFamily="49" charset="-122"/>
                </a:rPr>
                <a:t>                 </a:t>
              </a:r>
              <a:r>
                <a:rPr lang="zh-CN" altLang="en-US" sz="900" b="1" dirty="0" smtClean="0">
                  <a:solidFill>
                    <a:srgbClr val="000066"/>
                  </a:solidFill>
                  <a:latin typeface="楷体_GB2312" panose="02010609030101010101" pitchFamily="49" charset="-122"/>
                  <a:ea typeface="楷体_GB2312" panose="02010609030101010101" pitchFamily="49" charset="-122"/>
                </a:rPr>
                <a:t> </a:t>
              </a:r>
              <a:r>
                <a:rPr lang="zh-CN" altLang="en-US" sz="1800" b="1" dirty="0" smtClean="0">
                  <a:solidFill>
                    <a:srgbClr val="000066"/>
                  </a:solidFill>
                  <a:latin typeface="楷体_GB2312" panose="02010609030101010101" pitchFamily="49" charset="-122"/>
                  <a:ea typeface="楷体_GB2312" panose="02010609030101010101" pitchFamily="49" charset="-122"/>
                </a:rPr>
                <a:t>变量</a:t>
              </a:r>
              <a:r>
                <a:rPr lang="en-US" altLang="zh-CN" sz="1800" b="1" dirty="0" smtClean="0">
                  <a:solidFill>
                    <a:srgbClr val="000066"/>
                  </a:solidFill>
                  <a:latin typeface="楷体_GB2312" panose="02010609030101010101" pitchFamily="49" charset="-122"/>
                  <a:ea typeface="楷体_GB2312" panose="02010609030101010101" pitchFamily="49" charset="-122"/>
                </a:rPr>
                <a:t>a</a:t>
              </a:r>
              <a:endParaRPr lang="zh-CN" altLang="en-US" sz="1800" b="1" dirty="0">
                <a:solidFill>
                  <a:srgbClr val="000066"/>
                </a:solidFill>
                <a:latin typeface="楷体_GB2312" panose="02010609030101010101" pitchFamily="49" charset="-122"/>
                <a:ea typeface="楷体_GB2312" panose="02010609030101010101" pitchFamily="49" charset="-122"/>
              </a:endParaRPr>
            </a:p>
          </p:txBody>
        </p:sp>
        <p:sp>
          <p:nvSpPr>
            <p:cNvPr id="595974" name="Rectangle 6"/>
            <p:cNvSpPr>
              <a:spLocks noChangeArrowheads="1"/>
            </p:cNvSpPr>
            <p:nvPr/>
          </p:nvSpPr>
          <p:spPr bwMode="auto">
            <a:xfrm>
              <a:off x="1872" y="2395"/>
              <a:ext cx="1968" cy="432"/>
            </a:xfrm>
            <a:prstGeom prst="rect">
              <a:avLst/>
            </a:prstGeom>
            <a:solidFill>
              <a:schemeClr val="accent1">
                <a:lumMod val="60000"/>
                <a:lumOff val="40000"/>
              </a:schemeClr>
            </a:solidFill>
            <a:ln w="9525">
              <a:solidFill>
                <a:schemeClr val="tx1"/>
              </a:solidFill>
              <a:miter lim="800000"/>
            </a:ln>
            <a:effectLst/>
          </p:spPr>
          <p:txBody>
            <a:bodyPr wrap="none" anchor="ctr"/>
            <a:lstStyle/>
            <a:p>
              <a:pPr lvl="0" algn="ctr" eaLnBrk="1" hangingPunct="1"/>
              <a:r>
                <a:rPr lang="zh-CN" altLang="en-US" sz="1800" b="1" dirty="0" smtClean="0">
                  <a:solidFill>
                    <a:srgbClr val="000066"/>
                  </a:solidFill>
                  <a:ea typeface="楷体_GB2312" panose="02010609030101010101" pitchFamily="49" charset="-122"/>
                </a:rPr>
                <a:t>变量</a:t>
              </a:r>
              <a:r>
                <a:rPr lang="en-US" altLang="zh-CN" sz="1800" b="1" dirty="0" smtClean="0">
                  <a:solidFill>
                    <a:srgbClr val="000066"/>
                  </a:solidFill>
                  <a:ea typeface="楷体_GB2312" panose="02010609030101010101" pitchFamily="49" charset="-122"/>
                </a:rPr>
                <a:t>a</a:t>
              </a:r>
              <a:r>
                <a:rPr lang="zh-CN" altLang="en-US" sz="1800" b="1" dirty="0" smtClean="0">
                  <a:solidFill>
                    <a:srgbClr val="000066"/>
                  </a:solidFill>
                  <a:ea typeface="楷体_GB2312" panose="02010609030101010101" pitchFamily="49" charset="-122"/>
                </a:rPr>
                <a:t>的</a:t>
              </a:r>
              <a:r>
                <a:rPr lang="zh-CN" altLang="en-US" sz="1800" b="1" dirty="0">
                  <a:solidFill>
                    <a:srgbClr val="000066"/>
                  </a:solidFill>
                  <a:ea typeface="楷体_GB2312" panose="02010609030101010101" pitchFamily="49" charset="-122"/>
                </a:rPr>
                <a:t>地址</a:t>
              </a:r>
              <a:endParaRPr lang="en-US" altLang="zh-CN" sz="1800" b="1" dirty="0">
                <a:solidFill>
                  <a:srgbClr val="000066"/>
                </a:solidFill>
                <a:ea typeface="楷体_GB2312" panose="02010609030101010101" pitchFamily="49" charset="-122"/>
              </a:endParaRPr>
            </a:p>
          </p:txBody>
        </p:sp>
        <p:sp>
          <p:nvSpPr>
            <p:cNvPr id="595975" name="Rectangle 7"/>
            <p:cNvSpPr>
              <a:spLocks noChangeArrowheads="1"/>
            </p:cNvSpPr>
            <p:nvPr/>
          </p:nvSpPr>
          <p:spPr bwMode="auto">
            <a:xfrm>
              <a:off x="2400" y="3407"/>
              <a:ext cx="1008" cy="384"/>
            </a:xfrm>
            <a:prstGeom prst="rect">
              <a:avLst/>
            </a:prstGeom>
            <a:solidFill>
              <a:schemeClr val="accent1">
                <a:lumMod val="60000"/>
                <a:lumOff val="40000"/>
              </a:schemeClr>
            </a:solidFill>
            <a:ln w="9525">
              <a:solidFill>
                <a:schemeClr val="tx1"/>
              </a:solidFill>
              <a:miter lim="800000"/>
            </a:ln>
            <a:effectLst/>
          </p:spPr>
          <p:txBody>
            <a:bodyPr wrap="none" anchor="ctr"/>
            <a:lstStyle/>
            <a:p>
              <a:pPr lvl="0" algn="ctr" eaLnBrk="1" hangingPunct="1"/>
              <a:r>
                <a:rPr lang="zh-CN" altLang="en-US" sz="1800" b="1" dirty="0">
                  <a:solidFill>
                    <a:srgbClr val="000066"/>
                  </a:solidFill>
                  <a:ea typeface="楷体_GB2312" panose="02010609030101010101" pitchFamily="49" charset="-122"/>
                </a:rPr>
                <a:t>变量值</a:t>
              </a:r>
            </a:p>
          </p:txBody>
        </p:sp>
        <p:sp>
          <p:nvSpPr>
            <p:cNvPr id="18444" name="Line 8"/>
            <p:cNvSpPr/>
            <p:nvPr/>
          </p:nvSpPr>
          <p:spPr>
            <a:xfrm flipH="1">
              <a:off x="2881" y="2827"/>
              <a:ext cx="6" cy="555"/>
            </a:xfrm>
            <a:prstGeom prst="line">
              <a:avLst/>
            </a:prstGeom>
            <a:ln w="57150" cap="flat" cmpd="thinThick">
              <a:solidFill>
                <a:srgbClr val="FF0000"/>
              </a:solidFill>
              <a:prstDash val="solid"/>
              <a:headEnd type="none" w="med" len="med"/>
              <a:tailEnd type="stealth" w="med" len="med"/>
            </a:ln>
          </p:spPr>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02" name="Rectangle 10"/>
          <p:cNvSpPr/>
          <p:nvPr/>
        </p:nvSpPr>
        <p:spPr>
          <a:xfrm>
            <a:off x="1331119" y="2834601"/>
            <a:ext cx="3780235" cy="389890"/>
          </a:xfrm>
          <a:prstGeom prst="rect">
            <a:avLst/>
          </a:prstGeom>
          <a:noFill/>
          <a:ln w="12700">
            <a:noFill/>
          </a:ln>
        </p:spPr>
        <p:txBody>
          <a:bodyPr lIns="67500" tIns="35100" rIns="67500" bIns="35100" anchor="ctr">
            <a:spAutoFit/>
          </a:bodyPr>
          <a:lstStyle/>
          <a:p>
            <a:pPr lvl="0" eaLnBrk="1" hangingPunct="1"/>
            <a:r>
              <a:rPr lang="zh-CN" altLang="en-US" sz="2100" b="1" dirty="0">
                <a:solidFill>
                  <a:srgbClr val="0070C0"/>
                </a:solidFill>
                <a:latin typeface="Times New Roman" panose="02020603050405020304" pitchFamily="18" charset="0"/>
                <a:ea typeface="仿宋_GB2312" panose="02010609030101010101" pitchFamily="49" charset="-122"/>
              </a:rPr>
              <a:t>指针变量所指向的变量的类型</a:t>
            </a:r>
          </a:p>
        </p:txBody>
      </p:sp>
      <p:sp>
        <p:nvSpPr>
          <p:cNvPr id="238603" name="Rectangle 11"/>
          <p:cNvSpPr/>
          <p:nvPr/>
        </p:nvSpPr>
        <p:spPr>
          <a:xfrm>
            <a:off x="1331308" y="3278901"/>
            <a:ext cx="7561172" cy="2500313"/>
          </a:xfrm>
          <a:prstGeom prst="rect">
            <a:avLst/>
          </a:prstGeom>
          <a:noFill/>
          <a:ln w="12700">
            <a:noFill/>
          </a:ln>
        </p:spPr>
        <p:txBody>
          <a:bodyPr wrap="none" anchor="ctr"/>
          <a:lstStyle/>
          <a:p>
            <a:pPr lvl="0" eaLnBrk="1" hangingPunct="1">
              <a:spcBef>
                <a:spcPct val="20000"/>
              </a:spcBef>
            </a:pPr>
            <a:r>
              <a:rPr lang="en-US" altLang="zh-CN" sz="2400" b="1" dirty="0">
                <a:latin typeface="Arial" panose="020B0604020202020204" pitchFamily="34" charset="0"/>
                <a:ea typeface="宋体" panose="02010600030101010101" pitchFamily="2" charset="-122"/>
              </a:rPr>
              <a:t>int  *p; </a:t>
            </a:r>
          </a:p>
          <a:p>
            <a:pPr lvl="1" eaLnBrk="1" hangingPunct="1">
              <a:spcBef>
                <a:spcPct val="20000"/>
              </a:spcBef>
            </a:pPr>
            <a:r>
              <a:rPr lang="en-US" altLang="zh-CN" sz="2100" b="1" dirty="0">
                <a:latin typeface="Arial" panose="020B0604020202020204" pitchFamily="34" charset="0"/>
                <a:ea typeface="宋体" panose="02010600030101010101" pitchFamily="2" charset="-122"/>
              </a:rPr>
              <a:t>p </a:t>
            </a:r>
            <a:r>
              <a:rPr lang="zh-CN" altLang="zh-CN" sz="2100" b="1" dirty="0">
                <a:latin typeface="Arial" panose="020B0604020202020204" pitchFamily="34" charset="0"/>
                <a:ea typeface="宋体" panose="02010600030101010101" pitchFamily="2" charset="-122"/>
              </a:rPr>
              <a:t>是整型指针，指向整型</a:t>
            </a:r>
            <a:r>
              <a:rPr lang="zh-CN" altLang="zh-CN" sz="2100" b="1" dirty="0" smtClean="0">
                <a:latin typeface="Arial" panose="020B0604020202020204" pitchFamily="34" charset="0"/>
                <a:ea typeface="宋体" panose="02010600030101010101" pitchFamily="2" charset="-122"/>
              </a:rPr>
              <a:t>变量</a:t>
            </a:r>
            <a:r>
              <a:rPr lang="zh-CN" altLang="en-US" sz="2100" b="1" dirty="0" smtClean="0"/>
              <a:t>，存放整型变量地址</a:t>
            </a:r>
            <a:endParaRPr lang="en-US" altLang="en-US" sz="2100" b="1" dirty="0">
              <a:latin typeface="Arial" panose="020B0604020202020204" pitchFamily="34" charset="0"/>
              <a:ea typeface="宋体" panose="02010600030101010101" pitchFamily="2" charset="-122"/>
            </a:endParaRPr>
          </a:p>
          <a:p>
            <a:pPr lvl="0" eaLnBrk="1" hangingPunct="1">
              <a:spcBef>
                <a:spcPct val="20000"/>
              </a:spcBef>
            </a:pPr>
            <a:r>
              <a:rPr lang="en-US" altLang="zh-CN" sz="2400" b="1" dirty="0">
                <a:latin typeface="Arial" panose="020B0604020202020204" pitchFamily="34" charset="0"/>
                <a:ea typeface="宋体" panose="02010600030101010101" pitchFamily="2" charset="-122"/>
              </a:rPr>
              <a:t>float *fp;   </a:t>
            </a:r>
          </a:p>
          <a:p>
            <a:pPr lvl="1" eaLnBrk="1" hangingPunct="1">
              <a:spcBef>
                <a:spcPct val="20000"/>
              </a:spcBef>
            </a:pPr>
            <a:r>
              <a:rPr lang="en-US" altLang="zh-CN" sz="2100" b="1" dirty="0">
                <a:latin typeface="Arial" panose="020B0604020202020204" pitchFamily="34" charset="0"/>
                <a:ea typeface="宋体" panose="02010600030101010101" pitchFamily="2" charset="-122"/>
              </a:rPr>
              <a:t>fp </a:t>
            </a:r>
            <a:r>
              <a:rPr lang="zh-CN" altLang="zh-CN" sz="2100" b="1" dirty="0">
                <a:latin typeface="Arial" panose="020B0604020202020204" pitchFamily="34" charset="0"/>
                <a:ea typeface="宋体" panose="02010600030101010101" pitchFamily="2" charset="-122"/>
              </a:rPr>
              <a:t>是浮点型指针，指向浮点型</a:t>
            </a:r>
            <a:r>
              <a:rPr lang="zh-CN" altLang="zh-CN" sz="2100" b="1" dirty="0" smtClean="0">
                <a:latin typeface="Arial" panose="020B0604020202020204" pitchFamily="34" charset="0"/>
                <a:ea typeface="宋体" panose="02010600030101010101" pitchFamily="2" charset="-122"/>
              </a:rPr>
              <a:t>变量</a:t>
            </a:r>
            <a:r>
              <a:rPr lang="zh-CN" altLang="en-US" sz="2100" b="1" dirty="0"/>
              <a:t>，</a:t>
            </a:r>
            <a:r>
              <a:rPr lang="zh-CN" altLang="en-US" sz="2100" b="1" dirty="0" smtClean="0"/>
              <a:t>存放</a:t>
            </a:r>
            <a:r>
              <a:rPr lang="zh-CN" altLang="en-US" sz="2100" b="1" dirty="0"/>
              <a:t>浮点</a:t>
            </a:r>
            <a:r>
              <a:rPr lang="zh-CN" altLang="en-US" sz="2100" b="1" dirty="0" smtClean="0"/>
              <a:t>变量地址</a:t>
            </a:r>
            <a:endParaRPr lang="zh-CN" altLang="en-US" sz="2100" b="1" dirty="0">
              <a:latin typeface="Arial" panose="020B0604020202020204" pitchFamily="34" charset="0"/>
              <a:ea typeface="宋体" panose="02010600030101010101" pitchFamily="2" charset="-122"/>
            </a:endParaRPr>
          </a:p>
          <a:p>
            <a:pPr lvl="0" eaLnBrk="1" hangingPunct="1">
              <a:spcBef>
                <a:spcPct val="20000"/>
              </a:spcBef>
            </a:pPr>
            <a:r>
              <a:rPr lang="en-US" altLang="zh-CN" sz="2400" b="1" dirty="0">
                <a:latin typeface="Arial" panose="020B0604020202020204" pitchFamily="34" charset="0"/>
                <a:ea typeface="宋体" panose="02010600030101010101" pitchFamily="2" charset="-122"/>
              </a:rPr>
              <a:t>char *cp;</a:t>
            </a:r>
          </a:p>
          <a:p>
            <a:pPr eaLnBrk="1" hangingPunct="1">
              <a:spcBef>
                <a:spcPct val="20000"/>
              </a:spcBef>
            </a:pPr>
            <a:r>
              <a:rPr lang="en-US" altLang="zh-CN" sz="2400" b="1" dirty="0">
                <a:latin typeface="Arial" panose="020B0604020202020204" pitchFamily="34" charset="0"/>
                <a:ea typeface="宋体" panose="02010600030101010101" pitchFamily="2" charset="-122"/>
              </a:rPr>
              <a:t>    </a:t>
            </a:r>
            <a:r>
              <a:rPr lang="en-US" altLang="zh-CN" sz="2100" b="1" dirty="0">
                <a:latin typeface="Arial" panose="020B0604020202020204" pitchFamily="34" charset="0"/>
                <a:ea typeface="宋体" panose="02010600030101010101" pitchFamily="2" charset="-122"/>
              </a:rPr>
              <a:t>cp </a:t>
            </a:r>
            <a:r>
              <a:rPr lang="zh-CN" altLang="zh-CN" sz="2100" b="1" dirty="0">
                <a:latin typeface="Arial" panose="020B0604020202020204" pitchFamily="34" charset="0"/>
                <a:ea typeface="宋体" panose="02010600030101010101" pitchFamily="2" charset="-122"/>
              </a:rPr>
              <a:t>是字符型指针，指向字符型</a:t>
            </a:r>
            <a:r>
              <a:rPr lang="zh-CN" altLang="zh-CN" sz="2100" b="1" dirty="0" smtClean="0">
                <a:latin typeface="Arial" panose="020B0604020202020204" pitchFamily="34" charset="0"/>
                <a:ea typeface="宋体" panose="02010600030101010101" pitchFamily="2" charset="-122"/>
              </a:rPr>
              <a:t>变量</a:t>
            </a:r>
            <a:r>
              <a:rPr lang="zh-CN" altLang="en-US" sz="2100" b="1" dirty="0"/>
              <a:t>，</a:t>
            </a:r>
            <a:r>
              <a:rPr lang="zh-CN" altLang="en-US" sz="2100" b="1" dirty="0" smtClean="0"/>
              <a:t>存放</a:t>
            </a:r>
            <a:r>
              <a:rPr lang="zh-CN" altLang="en-US" sz="2100" b="1" dirty="0"/>
              <a:t>字符</a:t>
            </a:r>
            <a:r>
              <a:rPr lang="zh-CN" altLang="en-US" sz="2100" b="1" dirty="0" smtClean="0"/>
              <a:t>变量地址</a:t>
            </a:r>
            <a:endParaRPr lang="en-US" altLang="en-US" sz="2100" b="1" dirty="0"/>
          </a:p>
        </p:txBody>
      </p:sp>
      <p:sp>
        <p:nvSpPr>
          <p:cNvPr id="238604" name="Line 12"/>
          <p:cNvSpPr/>
          <p:nvPr/>
        </p:nvSpPr>
        <p:spPr>
          <a:xfrm flipV="1">
            <a:off x="3779912" y="2290961"/>
            <a:ext cx="0" cy="561975"/>
          </a:xfrm>
          <a:prstGeom prst="line">
            <a:avLst/>
          </a:prstGeom>
          <a:ln w="38100" cap="flat" cmpd="sng">
            <a:solidFill>
              <a:srgbClr val="0070C0"/>
            </a:solidFill>
            <a:prstDash val="solid"/>
            <a:headEnd type="none" w="med" len="med"/>
            <a:tailEnd type="triangle" w="med" len="med"/>
          </a:ln>
        </p:spPr>
      </p:sp>
      <p:sp>
        <p:nvSpPr>
          <p:cNvPr id="19461" name="Rectangle 13"/>
          <p:cNvSpPr>
            <a:spLocks noGrp="1"/>
          </p:cNvSpPr>
          <p:nvPr>
            <p:ph idx="1"/>
          </p:nvPr>
        </p:nvSpPr>
        <p:spPr>
          <a:xfrm>
            <a:off x="3113485" y="1863329"/>
            <a:ext cx="3486150" cy="457200"/>
          </a:xfrm>
        </p:spPr>
        <p:txBody>
          <a:bodyPr vert="horz" wrap="square" lIns="69056" tIns="34528" rIns="69056" bIns="34528" anchor="t"/>
          <a:lstStyle/>
          <a:p>
            <a:pPr eaLnBrk="1" hangingPunct="1">
              <a:buNone/>
            </a:pPr>
            <a:r>
              <a:rPr lang="en-US" altLang="en-US" dirty="0">
                <a:solidFill>
                  <a:srgbClr val="CC0066"/>
                </a:solidFill>
              </a:rPr>
              <a:t>类型名  *</a:t>
            </a:r>
            <a:r>
              <a:rPr lang="en-US" altLang="zh-CN" dirty="0">
                <a:solidFill>
                  <a:srgbClr val="CC0066"/>
                </a:solidFill>
              </a:rPr>
              <a:t> </a:t>
            </a:r>
            <a:r>
              <a:rPr lang="zh-CN" altLang="en-US" b="1" dirty="0">
                <a:solidFill>
                  <a:srgbClr val="0070C0"/>
                </a:solidFill>
                <a:latin typeface="Times New Roman" panose="02020603050405020304" pitchFamily="18" charset="0"/>
                <a:ea typeface="仿宋_GB2312" panose="02010609030101010101" pitchFamily="49" charset="-122"/>
              </a:rPr>
              <a:t>指针变量名</a:t>
            </a:r>
            <a:endParaRPr lang="zh-CN" altLang="en-US" dirty="0">
              <a:solidFill>
                <a:schemeClr val="bg2"/>
              </a:solidFill>
            </a:endParaRPr>
          </a:p>
        </p:txBody>
      </p:sp>
      <p:sp>
        <p:nvSpPr>
          <p:cNvPr id="238606" name="Rectangle 14"/>
          <p:cNvSpPr/>
          <p:nvPr/>
        </p:nvSpPr>
        <p:spPr>
          <a:xfrm>
            <a:off x="5058053" y="2619375"/>
            <a:ext cx="1477010" cy="360680"/>
          </a:xfrm>
          <a:prstGeom prst="rect">
            <a:avLst/>
          </a:prstGeom>
          <a:noFill/>
          <a:ln w="9525">
            <a:noFill/>
          </a:ln>
        </p:spPr>
        <p:txBody>
          <a:bodyPr wrap="none" lIns="69056" tIns="34528" rIns="69056" bIns="34528">
            <a:spAutoFit/>
          </a:bodyPr>
          <a:lstStyle/>
          <a:p>
            <a:pPr lvl="0" algn="just" eaLnBrk="1" hangingPunct="1">
              <a:lnSpc>
                <a:spcPct val="90000"/>
              </a:lnSpc>
              <a:spcBef>
                <a:spcPct val="20000"/>
              </a:spcBef>
              <a:buClr>
                <a:schemeClr val="tx2"/>
              </a:buClr>
              <a:buSzPct val="80000"/>
            </a:pPr>
            <a:r>
              <a:rPr lang="zh-CN" altLang="en-US" sz="2100" b="1" dirty="0">
                <a:solidFill>
                  <a:srgbClr val="0070C0"/>
                </a:solidFill>
                <a:latin typeface="Times New Roman" panose="02020603050405020304" pitchFamily="18" charset="0"/>
                <a:ea typeface="仿宋_GB2312" panose="02010609030101010101" pitchFamily="49" charset="-122"/>
              </a:rPr>
              <a:t>指针声明符</a:t>
            </a:r>
            <a:endParaRPr lang="zh-CN" altLang="en-US" sz="2100" b="1" dirty="0">
              <a:solidFill>
                <a:schemeClr val="bg2"/>
              </a:solidFill>
              <a:latin typeface="Times New Roman" panose="02020603050405020304" pitchFamily="18" charset="0"/>
              <a:ea typeface="仿宋_GB2312" panose="02010609030101010101" pitchFamily="49" charset="-122"/>
            </a:endParaRPr>
          </a:p>
        </p:txBody>
      </p:sp>
      <p:sp>
        <p:nvSpPr>
          <p:cNvPr id="19463" name="Rectangle 16"/>
          <p:cNvSpPr>
            <a:spLocks noGrp="1"/>
          </p:cNvSpPr>
          <p:nvPr>
            <p:ph type="title"/>
          </p:nvPr>
        </p:nvSpPr>
        <p:spPr>
          <a:xfrm>
            <a:off x="793591" y="984885"/>
            <a:ext cx="4114800" cy="554831"/>
          </a:xfrm>
        </p:spPr>
        <p:txBody>
          <a:bodyPr vert="horz" wrap="square" lIns="68580" tIns="34290" rIns="68580" bIns="34290" anchor="ctr"/>
          <a:lstStyle/>
          <a:p>
            <a:pPr eaLnBrk="1" hangingPunct="1"/>
            <a:r>
              <a:rPr lang="zh-CN" altLang="en-US" sz="3600" dirty="0" smtClean="0"/>
              <a:t>定义指针变量</a:t>
            </a:r>
            <a:endParaRPr lang="zh-CN" altLang="en-US" sz="3000" dirty="0"/>
          </a:p>
        </p:txBody>
      </p:sp>
      <p:sp>
        <p:nvSpPr>
          <p:cNvPr id="238609" name="Line 17"/>
          <p:cNvSpPr/>
          <p:nvPr/>
        </p:nvSpPr>
        <p:spPr>
          <a:xfrm flipH="1" flipV="1">
            <a:off x="4521041" y="2199799"/>
            <a:ext cx="536734" cy="635318"/>
          </a:xfrm>
          <a:prstGeom prst="line">
            <a:avLst/>
          </a:prstGeom>
          <a:ln w="38100" cap="flat" cmpd="sng">
            <a:solidFill>
              <a:srgbClr val="0070C0"/>
            </a:solidFill>
            <a:prstDash val="solid"/>
            <a:headEnd type="none" w="med" len="med"/>
            <a:tailEnd type="triangle" w="med" len="med"/>
          </a:ln>
        </p:spPr>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03" name="Rectangle 11"/>
          <p:cNvSpPr/>
          <p:nvPr/>
        </p:nvSpPr>
        <p:spPr>
          <a:xfrm>
            <a:off x="827584" y="1514158"/>
            <a:ext cx="2088232" cy="2500313"/>
          </a:xfrm>
          <a:prstGeom prst="rect">
            <a:avLst/>
          </a:prstGeom>
          <a:noFill/>
          <a:ln w="12700">
            <a:noFill/>
          </a:ln>
        </p:spPr>
        <p:txBody>
          <a:bodyPr wrap="none" anchor="ctr"/>
          <a:lstStyle/>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a=0;</a:t>
            </a:r>
          </a:p>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*p;</a:t>
            </a:r>
          </a:p>
          <a:p>
            <a:pPr lvl="0" eaLnBrk="1" hangingPunct="1">
              <a:spcBef>
                <a:spcPct val="20000"/>
              </a:spcBef>
            </a:pPr>
            <a:r>
              <a:rPr lang="en-US" altLang="zh-CN" sz="2400" b="1" dirty="0"/>
              <a:t> </a:t>
            </a:r>
            <a:r>
              <a:rPr lang="en-US" altLang="zh-CN" sz="2400" b="1" dirty="0" smtClean="0"/>
              <a:t>   p=&amp;a;</a:t>
            </a:r>
            <a:endParaRPr lang="en-US" altLang="zh-CN" sz="2400" b="1" dirty="0" smtClean="0">
              <a:latin typeface="Arial" panose="020B0604020202020204" pitchFamily="34" charset="0"/>
              <a:ea typeface="宋体" panose="02010600030101010101" pitchFamily="2" charset="-122"/>
            </a:endParaRPr>
          </a:p>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endParaRPr lang="en-US" altLang="zh-CN" sz="2400" b="1" dirty="0">
              <a:latin typeface="Arial" panose="020B0604020202020204" pitchFamily="34" charset="0"/>
              <a:ea typeface="宋体" panose="02010600030101010101" pitchFamily="2" charset="-122"/>
            </a:endParaRPr>
          </a:p>
        </p:txBody>
      </p:sp>
      <p:sp>
        <p:nvSpPr>
          <p:cNvPr id="19463" name="Rectangle 16"/>
          <p:cNvSpPr>
            <a:spLocks noGrp="1"/>
          </p:cNvSpPr>
          <p:nvPr>
            <p:ph type="title"/>
          </p:nvPr>
        </p:nvSpPr>
        <p:spPr>
          <a:xfrm>
            <a:off x="793591" y="984885"/>
            <a:ext cx="4114800" cy="554831"/>
          </a:xfrm>
        </p:spPr>
        <p:txBody>
          <a:bodyPr vert="horz" wrap="square" lIns="68580" tIns="34290" rIns="68580" bIns="34290" anchor="ctr"/>
          <a:lstStyle/>
          <a:p>
            <a:pPr eaLnBrk="1" hangingPunct="1"/>
            <a:r>
              <a:rPr lang="zh-CN" altLang="en-US" sz="3600" dirty="0"/>
              <a:t>指针</a:t>
            </a:r>
            <a:r>
              <a:rPr lang="zh-CN" altLang="en-US" sz="3600" dirty="0" smtClean="0"/>
              <a:t>变量赋值</a:t>
            </a:r>
            <a:endParaRPr lang="zh-CN" altLang="en-US" sz="3000" dirty="0"/>
          </a:p>
        </p:txBody>
      </p:sp>
      <p:sp>
        <p:nvSpPr>
          <p:cNvPr id="10" name="Rectangle 7"/>
          <p:cNvSpPr>
            <a:spLocks noChangeArrowheads="1"/>
          </p:cNvSpPr>
          <p:nvPr/>
        </p:nvSpPr>
        <p:spPr bwMode="auto">
          <a:xfrm>
            <a:off x="3389917" y="2535138"/>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a:t>
            </a:r>
            <a:r>
              <a:rPr kumimoji="0" 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22ff44</a:t>
            </a:r>
          </a:p>
        </p:txBody>
      </p:sp>
      <p:grpSp>
        <p:nvGrpSpPr>
          <p:cNvPr id="11" name="Group 8"/>
          <p:cNvGrpSpPr/>
          <p:nvPr/>
        </p:nvGrpSpPr>
        <p:grpSpPr>
          <a:xfrm>
            <a:off x="4693651" y="2564904"/>
            <a:ext cx="2800350" cy="1914525"/>
            <a:chOff x="930" y="2049"/>
            <a:chExt cx="2352" cy="1608"/>
          </a:xfrm>
        </p:grpSpPr>
        <p:sp>
          <p:nvSpPr>
            <p:cNvPr id="12" name="Rectangle 9"/>
            <p:cNvSpPr/>
            <p:nvPr/>
          </p:nvSpPr>
          <p:spPr>
            <a:xfrm>
              <a:off x="930" y="204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p>
          </p:txBody>
        </p:sp>
        <p:sp>
          <p:nvSpPr>
            <p:cNvPr id="13" name="Rectangle 10"/>
            <p:cNvSpPr/>
            <p:nvPr/>
          </p:nvSpPr>
          <p:spPr>
            <a:xfrm>
              <a:off x="1026" y="2192"/>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4" name="Rectangle 11"/>
            <p:cNvSpPr/>
            <p:nvPr/>
          </p:nvSpPr>
          <p:spPr>
            <a:xfrm>
              <a:off x="1122" y="2328"/>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5" name="Rectangle 12"/>
            <p:cNvSpPr/>
            <p:nvPr/>
          </p:nvSpPr>
          <p:spPr>
            <a:xfrm>
              <a:off x="1218" y="2464"/>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6" name="Rectangle 13"/>
            <p:cNvSpPr/>
            <p:nvPr/>
          </p:nvSpPr>
          <p:spPr>
            <a:xfrm>
              <a:off x="1314" y="2600"/>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7" name="Rectangle 14"/>
            <p:cNvSpPr/>
            <p:nvPr/>
          </p:nvSpPr>
          <p:spPr>
            <a:xfrm>
              <a:off x="1410" y="2736"/>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8" name="Rectangle 15"/>
            <p:cNvSpPr/>
            <p:nvPr/>
          </p:nvSpPr>
          <p:spPr>
            <a:xfrm>
              <a:off x="1506" y="2873"/>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9" name="Rectangle 16"/>
            <p:cNvSpPr/>
            <p:nvPr/>
          </p:nvSpPr>
          <p:spPr>
            <a:xfrm>
              <a:off x="1602" y="300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20" name="Rectangle 17"/>
            <p:cNvSpPr/>
            <p:nvPr/>
          </p:nvSpPr>
          <p:spPr>
            <a:xfrm>
              <a:off x="1698" y="3145"/>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21" name="Rectangle 18"/>
            <p:cNvSpPr/>
            <p:nvPr/>
          </p:nvSpPr>
          <p:spPr>
            <a:xfrm>
              <a:off x="1794" y="3281"/>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22" name="Rectangle 19"/>
            <p:cNvSpPr/>
            <p:nvPr/>
          </p:nvSpPr>
          <p:spPr>
            <a:xfrm>
              <a:off x="1890" y="3417"/>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rgbClr val="880000"/>
                  </a:solidFill>
                  <a:latin typeface="Times New Roman" panose="02020603050405020304" pitchFamily="18" charset="0"/>
                </a:rPr>
                <a:t>0</a:t>
              </a:r>
              <a:r>
                <a:rPr lang="en-US" altLang="zh-CN" sz="1800" dirty="0">
                  <a:solidFill>
                    <a:srgbClr val="880000"/>
                  </a:solidFill>
                  <a:latin typeface="Times New Roman" panose="02020603050405020304" pitchFamily="18" charset="0"/>
                </a:rPr>
                <a:t>x0022ff44</a:t>
              </a:r>
            </a:p>
          </p:txBody>
        </p:sp>
      </p:grpSp>
      <p:sp>
        <p:nvSpPr>
          <p:cNvPr id="23" name="Rectangle 22"/>
          <p:cNvSpPr>
            <a:spLocks noChangeArrowheads="1"/>
          </p:cNvSpPr>
          <p:nvPr/>
        </p:nvSpPr>
        <p:spPr bwMode="auto">
          <a:xfrm>
            <a:off x="3506598" y="2742307"/>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x0022ff45</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 name="Rectangle 23"/>
          <p:cNvSpPr>
            <a:spLocks noChangeArrowheads="1"/>
          </p:cNvSpPr>
          <p:nvPr/>
        </p:nvSpPr>
        <p:spPr bwMode="auto">
          <a:xfrm>
            <a:off x="3632804" y="2942332"/>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a:t>
            </a:r>
            <a:r>
              <a:rPr kumimoji="0" 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22ff46</a:t>
            </a:r>
          </a:p>
        </p:txBody>
      </p:sp>
      <p:sp>
        <p:nvSpPr>
          <p:cNvPr id="25" name="Rectangle 24"/>
          <p:cNvSpPr>
            <a:spLocks noChangeArrowheads="1"/>
          </p:cNvSpPr>
          <p:nvPr/>
        </p:nvSpPr>
        <p:spPr bwMode="auto">
          <a:xfrm>
            <a:off x="3748295" y="3111401"/>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x0022ff47</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6" name="Rectangle 28"/>
          <p:cNvSpPr>
            <a:spLocks noChangeArrowheads="1"/>
          </p:cNvSpPr>
          <p:nvPr/>
        </p:nvSpPr>
        <p:spPr bwMode="auto">
          <a:xfrm>
            <a:off x="2957720" y="2517279"/>
            <a:ext cx="38862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&amp;a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27" name="Group 33"/>
          <p:cNvGrpSpPr/>
          <p:nvPr/>
        </p:nvGrpSpPr>
        <p:grpSpPr>
          <a:xfrm>
            <a:off x="6899879" y="2643485"/>
            <a:ext cx="972740" cy="1674019"/>
            <a:chOff x="3515" y="2432"/>
            <a:chExt cx="817" cy="1406"/>
          </a:xfrm>
        </p:grpSpPr>
        <p:sp>
          <p:nvSpPr>
            <p:cNvPr id="28" name="Line 30"/>
            <p:cNvSpPr/>
            <p:nvPr/>
          </p:nvSpPr>
          <p:spPr>
            <a:xfrm>
              <a:off x="4014" y="3838"/>
              <a:ext cx="318" cy="0"/>
            </a:xfrm>
            <a:prstGeom prst="line">
              <a:avLst/>
            </a:prstGeom>
            <a:ln w="38100" cap="flat" cmpd="sng">
              <a:solidFill>
                <a:srgbClr val="800000"/>
              </a:solidFill>
              <a:prstDash val="solid"/>
              <a:headEnd type="none" w="sm" len="sm"/>
              <a:tailEnd type="none" w="sm" len="sm"/>
            </a:ln>
          </p:spPr>
        </p:sp>
        <p:sp>
          <p:nvSpPr>
            <p:cNvPr id="29" name="Line 31"/>
            <p:cNvSpPr/>
            <p:nvPr/>
          </p:nvSpPr>
          <p:spPr>
            <a:xfrm flipV="1">
              <a:off x="4332" y="2432"/>
              <a:ext cx="0" cy="1406"/>
            </a:xfrm>
            <a:prstGeom prst="line">
              <a:avLst/>
            </a:prstGeom>
            <a:ln w="38100" cap="flat" cmpd="sng">
              <a:solidFill>
                <a:srgbClr val="800000"/>
              </a:solidFill>
              <a:prstDash val="solid"/>
              <a:headEnd type="none" w="sm" len="sm"/>
              <a:tailEnd type="none" w="sm" len="sm"/>
            </a:ln>
          </p:spPr>
        </p:sp>
        <p:sp>
          <p:nvSpPr>
            <p:cNvPr id="30" name="Line 32"/>
            <p:cNvSpPr/>
            <p:nvPr/>
          </p:nvSpPr>
          <p:spPr>
            <a:xfrm flipH="1">
              <a:off x="3515" y="2432"/>
              <a:ext cx="817" cy="0"/>
            </a:xfrm>
            <a:prstGeom prst="line">
              <a:avLst/>
            </a:prstGeom>
            <a:ln w="38100" cap="flat" cmpd="sng">
              <a:solidFill>
                <a:srgbClr val="800000"/>
              </a:solidFill>
              <a:prstDash val="solid"/>
              <a:headEnd type="none" w="sm" len="sm"/>
              <a:tailEnd type="triangle" w="med" len="lg"/>
            </a:ln>
          </p:spPr>
        </p:sp>
      </p:grpSp>
      <p:sp>
        <p:nvSpPr>
          <p:cNvPr id="31" name="Rectangle 32"/>
          <p:cNvSpPr>
            <a:spLocks noChangeArrowheads="1"/>
          </p:cNvSpPr>
          <p:nvPr/>
        </p:nvSpPr>
        <p:spPr bwMode="auto">
          <a:xfrm>
            <a:off x="4578160" y="2123182"/>
            <a:ext cx="110871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a=0;</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2" name="Rectangle 47"/>
          <p:cNvSpPr>
            <a:spLocks noChangeArrowheads="1"/>
          </p:cNvSpPr>
          <p:nvPr/>
        </p:nvSpPr>
        <p:spPr bwMode="auto">
          <a:xfrm>
            <a:off x="6487776" y="2460702"/>
            <a:ext cx="28575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3" name="Rectangle 47"/>
          <p:cNvSpPr>
            <a:spLocks noChangeArrowheads="1"/>
          </p:cNvSpPr>
          <p:nvPr/>
        </p:nvSpPr>
        <p:spPr bwMode="auto">
          <a:xfrm>
            <a:off x="7471127" y="4174629"/>
            <a:ext cx="442987" cy="461665"/>
          </a:xfrm>
          <a:prstGeom prst="rect">
            <a:avLst/>
          </a:prstGeom>
          <a:noFill/>
          <a:ln w="12700">
            <a:noFill/>
            <a:miter lim="800000"/>
            <a:headEnd type="none" w="sm" len="sm"/>
            <a:tailEnd type="none" w="sm" len="sm"/>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p</a:t>
            </a:r>
            <a:endPar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4" name="内容占位符 1"/>
          <p:cNvSpPr>
            <a:spLocks noGrp="1"/>
          </p:cNvSpPr>
          <p:nvPr>
            <p:ph idx="1"/>
          </p:nvPr>
        </p:nvSpPr>
        <p:spPr>
          <a:xfrm>
            <a:off x="911701" y="4817114"/>
            <a:ext cx="7993380" cy="501015"/>
          </a:xfrm>
        </p:spPr>
        <p:txBody>
          <a:bodyPr/>
          <a:lstStyle/>
          <a:p>
            <a:r>
              <a:rPr lang="zh-CN" altLang="en-US" sz="2400" dirty="0" smtClean="0"/>
              <a:t>指针变量定义后不能被直接使用，必须赋值后才能使用</a:t>
            </a:r>
            <a:endParaRPr lang="zh-CN" altLang="en-US" sz="2400" dirty="0"/>
          </a:p>
        </p:txBody>
      </p:sp>
      <p:sp>
        <p:nvSpPr>
          <p:cNvPr id="35" name="Line 32"/>
          <p:cNvSpPr/>
          <p:nvPr/>
        </p:nvSpPr>
        <p:spPr>
          <a:xfrm>
            <a:off x="4410757" y="2688217"/>
            <a:ext cx="1574244" cy="1694294"/>
          </a:xfrm>
          <a:prstGeom prst="line">
            <a:avLst/>
          </a:prstGeom>
          <a:ln w="38100" cap="flat" cmpd="sng">
            <a:solidFill>
              <a:srgbClr val="800000"/>
            </a:solidFill>
            <a:prstDash val="solid"/>
            <a:headEnd type="none" w="sm" len="sm"/>
            <a:tailEnd type="triangle" w="med" len="lg"/>
          </a:ln>
        </p:spPr>
      </p:sp>
    </p:spTree>
    <p:extLst>
      <p:ext uri="{BB962C8B-B14F-4D97-AF65-F5344CB8AC3E}">
        <p14:creationId xmlns:p14="http://schemas.microsoft.com/office/powerpoint/2010/main" val="3951101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38603"/>
                                        </p:tgtEl>
                                        <p:attrNameLst>
                                          <p:attrName>style.visibility</p:attrName>
                                        </p:attrNameLst>
                                      </p:cBhvr>
                                      <p:to>
                                        <p:strVal val="visible"/>
                                      </p:to>
                                    </p:set>
                                    <p:animEffect transition="in" filter="randombar(horizontal)">
                                      <p:cBhvr>
                                        <p:cTn id="7" dur="500"/>
                                        <p:tgtEl>
                                          <p:spTgt spid="238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down)">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60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p:nvPr/>
        </p:nvSpPr>
        <p:spPr>
          <a:xfrm>
            <a:off x="683568" y="1665050"/>
            <a:ext cx="7704856" cy="3780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p>
            <a:pPr marL="92075" indent="-92075">
              <a:lnSpc>
                <a:spcPct val="120000"/>
              </a:lnSpc>
              <a:spcBef>
                <a:spcPct val="20000"/>
              </a:spcBef>
              <a:buClr>
                <a:srgbClr val="A50021"/>
              </a:buClr>
              <a:buSzPct val="75000"/>
              <a:buFont typeface="Webdings" panose="05030102010509060703" pitchFamily="18" charset="2"/>
              <a:buChar char="·"/>
            </a:pPr>
            <a:r>
              <a:rPr lang="zh-CN" altLang="en-US" sz="2400" b="1" dirty="0" smtClean="0">
                <a:solidFill>
                  <a:schemeClr val="accent4"/>
                </a:solidFill>
                <a:effectLst>
                  <a:outerShdw blurRad="38100" dist="38100" dir="2700000" algn="tl">
                    <a:srgbClr val="C0C0C0"/>
                  </a:outerShdw>
                </a:effectLst>
                <a:latin typeface="+mn-lt"/>
                <a:ea typeface="+mn-ea"/>
                <a:sym typeface="+mn-ea"/>
              </a:rPr>
              <a:t>指针变量必须先定义，后使用</a:t>
            </a:r>
            <a:endParaRPr lang="en-US" altLang="zh-CN" sz="2400" b="1" dirty="0" smtClean="0">
              <a:solidFill>
                <a:schemeClr val="accent4"/>
              </a:solidFill>
              <a:effectLst>
                <a:outerShdw blurRad="38100" dist="38100" dir="2700000" algn="tl">
                  <a:srgbClr val="C0C0C0"/>
                </a:outerShdw>
              </a:effectLst>
              <a:latin typeface="+mn-lt"/>
              <a:ea typeface="+mn-ea"/>
              <a:sym typeface="+mn-ea"/>
            </a:endParaRPr>
          </a:p>
          <a:p>
            <a:pPr marL="92075" indent="-92075">
              <a:lnSpc>
                <a:spcPct val="120000"/>
              </a:lnSpc>
              <a:spcBef>
                <a:spcPct val="20000"/>
              </a:spcBef>
              <a:buClr>
                <a:srgbClr val="A50021"/>
              </a:buClr>
              <a:buSzPct val="75000"/>
              <a:buFont typeface="Webdings" panose="05030102010509060703" pitchFamily="18" charset="2"/>
              <a:buChar char="·"/>
            </a:pPr>
            <a:r>
              <a:rPr lang="zh-CN" altLang="en-US" sz="2400" b="1" dirty="0" smtClean="0">
                <a:solidFill>
                  <a:schemeClr val="accent4"/>
                </a:solidFill>
                <a:effectLst>
                  <a:outerShdw blurRad="38100" dist="38100" dir="2700000" algn="tl">
                    <a:srgbClr val="C0C0C0"/>
                  </a:outerShdw>
                </a:effectLst>
                <a:latin typeface="+mn-lt"/>
                <a:ea typeface="+mn-ea"/>
                <a:sym typeface="+mn-ea"/>
              </a:rPr>
              <a:t>使用前必须先给指针变量赋值或者初始化为某个变量的内存地址</a:t>
            </a:r>
            <a:endParaRPr lang="en-US" altLang="zh-CN" sz="2400" b="1" dirty="0" smtClean="0">
              <a:solidFill>
                <a:schemeClr val="accent4"/>
              </a:solidFill>
              <a:effectLst>
                <a:outerShdw blurRad="38100" dist="38100" dir="2700000" algn="tl">
                  <a:srgbClr val="C0C0C0"/>
                </a:outerShdw>
              </a:effectLst>
              <a:latin typeface="+mn-lt"/>
              <a:ea typeface="+mn-ea"/>
              <a:sym typeface="+mn-ea"/>
            </a:endParaRPr>
          </a:p>
          <a:p>
            <a:pPr marL="92075" indent="-92075">
              <a:lnSpc>
                <a:spcPct val="120000"/>
              </a:lnSpc>
              <a:spcBef>
                <a:spcPct val="20000"/>
              </a:spcBef>
              <a:buClr>
                <a:srgbClr val="A50021"/>
              </a:buClr>
              <a:buSzPct val="75000"/>
              <a:buFont typeface="Webdings" panose="05030102010509060703" pitchFamily="18" charset="2"/>
              <a:buChar char="·"/>
            </a:pPr>
            <a:r>
              <a:rPr lang="zh-CN" altLang="en-US" sz="2400" b="1" dirty="0" smtClean="0">
                <a:solidFill>
                  <a:schemeClr val="accent4"/>
                </a:solidFill>
                <a:effectLst>
                  <a:outerShdw blurRad="38100" dist="38100" dir="2700000" algn="tl">
                    <a:srgbClr val="C0C0C0"/>
                  </a:outerShdw>
                </a:effectLst>
                <a:latin typeface="+mn-lt"/>
                <a:ea typeface="+mn-ea"/>
                <a:sym typeface="+mn-ea"/>
              </a:rPr>
              <a:t>如果</a:t>
            </a:r>
            <a:r>
              <a:rPr lang="zh-CN" altLang="en-US" sz="2400" b="1" dirty="0">
                <a:solidFill>
                  <a:schemeClr val="accent4"/>
                </a:solidFill>
                <a:effectLst>
                  <a:outerShdw blurRad="38100" dist="38100" dir="2700000" algn="tl">
                    <a:srgbClr val="C0C0C0"/>
                  </a:outerShdw>
                </a:effectLst>
                <a:latin typeface="+mn-lt"/>
                <a:ea typeface="+mn-ea"/>
                <a:sym typeface="+mn-ea"/>
              </a:rPr>
              <a:t>定义指针变量时还没有想好要把它指向哪个变量，那么可以先将指针变量初始化为一个空</a:t>
            </a:r>
            <a:r>
              <a:rPr lang="zh-CN" altLang="en-US" sz="2400" b="1" dirty="0" smtClean="0">
                <a:solidFill>
                  <a:schemeClr val="accent4"/>
                </a:solidFill>
                <a:effectLst>
                  <a:outerShdw blurRad="38100" dist="38100" dir="2700000" algn="tl">
                    <a:srgbClr val="C0C0C0"/>
                  </a:outerShdw>
                </a:effectLst>
                <a:latin typeface="+mn-lt"/>
                <a:ea typeface="+mn-ea"/>
                <a:sym typeface="+mn-ea"/>
              </a:rPr>
              <a:t>指针，等需要的时候再赋为其他变量的地址</a:t>
            </a:r>
            <a:endParaRPr lang="en-US" altLang="zh-CN" sz="2400" b="1" dirty="0">
              <a:solidFill>
                <a:schemeClr val="accent4"/>
              </a:solidFill>
              <a:effectLst>
                <a:outerShdw blurRad="38100" dist="38100" dir="2700000" algn="tl">
                  <a:srgbClr val="C0C0C0"/>
                </a:outerShdw>
              </a:effectLst>
              <a:latin typeface="+mn-lt"/>
              <a:ea typeface="+mn-ea"/>
              <a:sym typeface="+mn-ea"/>
            </a:endParaRPr>
          </a:p>
          <a:p>
            <a:pPr>
              <a:lnSpc>
                <a:spcPct val="120000"/>
              </a:lnSpc>
              <a:spcBef>
                <a:spcPct val="20000"/>
              </a:spcBef>
              <a:buClr>
                <a:srgbClr val="A50021"/>
              </a:buClr>
              <a:buSzPct val="75000"/>
            </a:pPr>
            <a:r>
              <a:rPr lang="en-US" altLang="zh-CN" sz="2400" b="1" dirty="0">
                <a:solidFill>
                  <a:schemeClr val="accent4"/>
                </a:solidFill>
                <a:effectLst>
                  <a:outerShdw blurRad="38100" dist="38100" dir="2700000" algn="tl">
                    <a:srgbClr val="C0C0C0"/>
                  </a:outerShdw>
                </a:effectLst>
                <a:latin typeface="+mn-lt"/>
                <a:ea typeface="+mn-ea"/>
                <a:sym typeface="+mn-ea"/>
              </a:rPr>
              <a:t>	</a:t>
            </a:r>
            <a:r>
              <a:rPr lang="en-US" altLang="zh-CN" sz="2400" b="1" dirty="0">
                <a:solidFill>
                  <a:schemeClr val="accent4">
                    <a:lumMod val="75000"/>
                    <a:lumOff val="25000"/>
                  </a:schemeClr>
                </a:solidFill>
                <a:effectLst>
                  <a:outerShdw blurRad="38100" dist="38100" dir="2700000" algn="tl">
                    <a:srgbClr val="C0C0C0"/>
                  </a:outerShdw>
                </a:effectLst>
                <a:latin typeface="+mn-lt"/>
                <a:ea typeface="+mn-ea"/>
                <a:sym typeface="+mn-ea"/>
              </a:rPr>
              <a:t>p = 0</a:t>
            </a:r>
            <a:r>
              <a:rPr lang="en-US" altLang="zh-CN" sz="2400" b="1" dirty="0" smtClean="0">
                <a:solidFill>
                  <a:schemeClr val="accent4">
                    <a:lumMod val="75000"/>
                    <a:lumOff val="25000"/>
                  </a:schemeClr>
                </a:solidFill>
                <a:effectLst>
                  <a:outerShdw blurRad="38100" dist="38100" dir="2700000" algn="tl">
                    <a:srgbClr val="C0C0C0"/>
                  </a:outerShdw>
                </a:effectLst>
                <a:latin typeface="+mn-lt"/>
                <a:ea typeface="+mn-ea"/>
                <a:sym typeface="+mn-ea"/>
              </a:rPr>
              <a:t>;</a:t>
            </a:r>
            <a:endParaRPr lang="zh-CN" altLang="en-US" sz="2400" b="1" dirty="0">
              <a:solidFill>
                <a:schemeClr val="accent4">
                  <a:lumMod val="75000"/>
                  <a:lumOff val="25000"/>
                </a:schemeClr>
              </a:solidFill>
              <a:effectLst>
                <a:outerShdw blurRad="38100" dist="38100" dir="2700000" algn="tl">
                  <a:srgbClr val="C0C0C0"/>
                </a:outerShdw>
              </a:effectLst>
              <a:latin typeface="+mn-lt"/>
              <a:ea typeface="+mn-ea"/>
              <a:sym typeface="+mn-ea"/>
            </a:endParaRPr>
          </a:p>
          <a:p>
            <a:pPr>
              <a:lnSpc>
                <a:spcPct val="120000"/>
              </a:lnSpc>
              <a:spcBef>
                <a:spcPct val="20000"/>
              </a:spcBef>
              <a:buClr>
                <a:srgbClr val="A50021"/>
              </a:buClr>
              <a:buSzPct val="75000"/>
            </a:pPr>
            <a:r>
              <a:rPr lang="en-US" altLang="zh-CN" sz="2400" b="1" dirty="0">
                <a:solidFill>
                  <a:schemeClr val="accent4">
                    <a:lumMod val="75000"/>
                    <a:lumOff val="25000"/>
                  </a:schemeClr>
                </a:solidFill>
                <a:effectLst>
                  <a:outerShdw blurRad="38100" dist="38100" dir="2700000" algn="tl">
                    <a:srgbClr val="C0C0C0"/>
                  </a:outerShdw>
                </a:effectLst>
                <a:latin typeface="+mn-lt"/>
                <a:ea typeface="+mn-ea"/>
                <a:sym typeface="+mn-ea"/>
              </a:rPr>
              <a:t>     </a:t>
            </a:r>
            <a:r>
              <a:rPr lang="en-US" altLang="zh-CN" sz="2400" b="1" dirty="0" smtClean="0">
                <a:solidFill>
                  <a:schemeClr val="accent4">
                    <a:lumMod val="75000"/>
                    <a:lumOff val="25000"/>
                  </a:schemeClr>
                </a:solidFill>
                <a:effectLst>
                  <a:outerShdw blurRad="38100" dist="38100" dir="2700000" algn="tl">
                    <a:srgbClr val="C0C0C0"/>
                  </a:outerShdw>
                </a:effectLst>
                <a:latin typeface="+mn-lt"/>
                <a:ea typeface="+mn-ea"/>
                <a:sym typeface="+mn-ea"/>
              </a:rPr>
              <a:t>      p </a:t>
            </a:r>
            <a:r>
              <a:rPr lang="en-US" altLang="zh-CN" sz="2400" b="1" dirty="0">
                <a:solidFill>
                  <a:schemeClr val="accent4">
                    <a:lumMod val="75000"/>
                    <a:lumOff val="25000"/>
                  </a:schemeClr>
                </a:solidFill>
                <a:effectLst>
                  <a:outerShdw blurRad="38100" dist="38100" dir="2700000" algn="tl">
                    <a:srgbClr val="C0C0C0"/>
                  </a:outerShdw>
                </a:effectLst>
                <a:latin typeface="+mn-lt"/>
                <a:ea typeface="+mn-ea"/>
                <a:sym typeface="+mn-ea"/>
              </a:rPr>
              <a:t>= </a:t>
            </a:r>
            <a:r>
              <a:rPr lang="en-US" altLang="zh-CN" sz="2400" b="1" dirty="0">
                <a:solidFill>
                  <a:srgbClr val="FF0000"/>
                </a:solidFill>
                <a:effectLst>
                  <a:outerShdw blurRad="38100" dist="38100" dir="2700000" algn="tl">
                    <a:srgbClr val="C0C0C0"/>
                  </a:outerShdw>
                </a:effectLst>
                <a:latin typeface="+mn-lt"/>
                <a:ea typeface="+mn-ea"/>
                <a:sym typeface="+mn-ea"/>
              </a:rPr>
              <a:t>NULL</a:t>
            </a:r>
            <a:r>
              <a:rPr lang="en-US" altLang="zh-CN" sz="2400" b="1" dirty="0" smtClean="0">
                <a:solidFill>
                  <a:schemeClr val="accent4">
                    <a:lumMod val="75000"/>
                    <a:lumOff val="25000"/>
                  </a:schemeClr>
                </a:solidFill>
                <a:effectLst>
                  <a:outerShdw blurRad="38100" dist="38100" dir="2700000" algn="tl">
                    <a:srgbClr val="C0C0C0"/>
                  </a:outerShdw>
                </a:effectLst>
                <a:latin typeface="+mn-lt"/>
                <a:ea typeface="+mn-ea"/>
                <a:sym typeface="+mn-ea"/>
              </a:rPr>
              <a:t>; </a:t>
            </a:r>
            <a:r>
              <a:rPr lang="zh-CN" altLang="en-US" sz="2400" b="1" dirty="0" smtClean="0">
                <a:solidFill>
                  <a:schemeClr val="accent4">
                    <a:lumMod val="75000"/>
                    <a:lumOff val="25000"/>
                  </a:schemeClr>
                </a:solidFill>
                <a:effectLst>
                  <a:outerShdw blurRad="38100" dist="38100" dir="2700000" algn="tl">
                    <a:srgbClr val="C0C0C0"/>
                  </a:outerShdw>
                </a:effectLst>
                <a:latin typeface="+mn-lt"/>
                <a:ea typeface="+mn-ea"/>
                <a:sym typeface="+mn-ea"/>
              </a:rPr>
              <a:t>（注意：大写）</a:t>
            </a:r>
            <a:endParaRPr lang="en-US" altLang="zh-CN" sz="2400" b="1" dirty="0">
              <a:solidFill>
                <a:schemeClr val="accent4">
                  <a:lumMod val="75000"/>
                  <a:lumOff val="25000"/>
                </a:schemeClr>
              </a:solidFill>
              <a:effectLst>
                <a:outerShdw blurRad="38100" dist="38100" dir="2700000" algn="tl">
                  <a:srgbClr val="C0C0C0"/>
                </a:outerShdw>
              </a:effectLst>
              <a:latin typeface="+mn-lt"/>
              <a:ea typeface="+mn-ea"/>
            </a:endParaRPr>
          </a:p>
        </p:txBody>
      </p:sp>
      <p:sp>
        <p:nvSpPr>
          <p:cNvPr id="25603" name="Rectangle 5"/>
          <p:cNvSpPr>
            <a:spLocks noGrp="1"/>
          </p:cNvSpPr>
          <p:nvPr>
            <p:ph type="title"/>
          </p:nvPr>
        </p:nvSpPr>
        <p:spPr>
          <a:xfrm>
            <a:off x="755576" y="980728"/>
            <a:ext cx="6624736" cy="594360"/>
          </a:xfrm>
        </p:spPr>
        <p:txBody>
          <a:bodyPr vert="horz" wrap="square" lIns="68580" tIns="34290" rIns="68580" bIns="34290" anchor="ctr"/>
          <a:lstStyle/>
          <a:p>
            <a:pPr eaLnBrk="1" hangingPunct="1"/>
            <a:r>
              <a:rPr lang="zh-CN" altLang="en-US" sz="3200" dirty="0"/>
              <a:t>指针</a:t>
            </a:r>
            <a:r>
              <a:rPr lang="zh-CN" altLang="en-US" sz="3200" dirty="0" smtClean="0"/>
              <a:t>变量赋值或者初始化为空指针</a:t>
            </a:r>
            <a:endParaRPr lang="zh-CN" altLang="en-US" sz="3200" dirty="0"/>
          </a:p>
        </p:txBody>
      </p:sp>
      <p:sp>
        <p:nvSpPr>
          <p:cNvPr id="4" name="Rectangle 11"/>
          <p:cNvSpPr/>
          <p:nvPr/>
        </p:nvSpPr>
        <p:spPr>
          <a:xfrm>
            <a:off x="1259632" y="5517232"/>
            <a:ext cx="1836204" cy="1224136"/>
          </a:xfrm>
          <a:prstGeom prst="rect">
            <a:avLst/>
          </a:prstGeom>
          <a:noFill/>
          <a:ln w="12700">
            <a:noFill/>
          </a:ln>
        </p:spPr>
        <p:txBody>
          <a:bodyPr wrap="none" anchor="ctr"/>
          <a:lstStyle/>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*p;</a:t>
            </a:r>
          </a:p>
          <a:p>
            <a:pPr lvl="0" eaLnBrk="1" hangingPunct="1">
              <a:spcBef>
                <a:spcPct val="20000"/>
              </a:spcBef>
            </a:pPr>
            <a:r>
              <a:rPr lang="en-US" altLang="zh-CN" sz="2400" b="1" dirty="0"/>
              <a:t> </a:t>
            </a:r>
            <a:r>
              <a:rPr lang="en-US" altLang="zh-CN" sz="2400" b="1" dirty="0" smtClean="0"/>
              <a:t>  p=0;</a:t>
            </a:r>
            <a:r>
              <a:rPr lang="en-US" altLang="zh-CN" sz="2400" b="1" dirty="0" smtClean="0">
                <a:latin typeface="Arial" panose="020B0604020202020204" pitchFamily="34" charset="0"/>
                <a:ea typeface="宋体" panose="02010600030101010101" pitchFamily="2" charset="-122"/>
              </a:rPr>
              <a:t> </a:t>
            </a:r>
            <a:endParaRPr lang="en-US" altLang="zh-CN" sz="2400" b="1" dirty="0">
              <a:latin typeface="Arial" panose="020B0604020202020204" pitchFamily="34" charset="0"/>
              <a:ea typeface="宋体" panose="02010600030101010101" pitchFamily="2" charset="-122"/>
            </a:endParaRPr>
          </a:p>
        </p:txBody>
      </p:sp>
      <p:sp>
        <p:nvSpPr>
          <p:cNvPr id="6" name="Rectangle 11"/>
          <p:cNvSpPr/>
          <p:nvPr/>
        </p:nvSpPr>
        <p:spPr>
          <a:xfrm>
            <a:off x="3617894" y="5535186"/>
            <a:ext cx="1836204" cy="1224136"/>
          </a:xfrm>
          <a:prstGeom prst="rect">
            <a:avLst/>
          </a:prstGeom>
          <a:noFill/>
          <a:ln w="12700">
            <a:noFill/>
          </a:ln>
        </p:spPr>
        <p:txBody>
          <a:bodyPr wrap="none" anchor="ctr"/>
          <a:lstStyle/>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*p;</a:t>
            </a:r>
          </a:p>
          <a:p>
            <a:pPr lvl="0" eaLnBrk="1" hangingPunct="1">
              <a:spcBef>
                <a:spcPct val="20000"/>
              </a:spcBef>
            </a:pPr>
            <a:r>
              <a:rPr lang="en-US" altLang="zh-CN" sz="2400" b="1" dirty="0"/>
              <a:t> </a:t>
            </a:r>
            <a:r>
              <a:rPr lang="en-US" altLang="zh-CN" sz="2400" b="1" dirty="0" smtClean="0"/>
              <a:t>  p=NULL;</a:t>
            </a:r>
            <a:r>
              <a:rPr lang="en-US" altLang="zh-CN" sz="2400" b="1" dirty="0" smtClean="0">
                <a:latin typeface="Arial" panose="020B0604020202020204" pitchFamily="34" charset="0"/>
                <a:ea typeface="宋体" panose="02010600030101010101" pitchFamily="2" charset="-122"/>
              </a:rPr>
              <a:t> </a:t>
            </a:r>
            <a:endParaRPr lang="en-US" altLang="zh-CN" sz="2400" b="1"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8018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AutoShape 2"/>
          <p:cNvSpPr>
            <a:spLocks noGrp="1" noChangeArrowheads="1"/>
          </p:cNvSpPr>
          <p:nvPr>
            <p:ph type="title"/>
          </p:nvPr>
        </p:nvSpPr>
        <p:spPr>
          <a:xfrm>
            <a:off x="755650" y="765175"/>
            <a:ext cx="7924800" cy="784225"/>
          </a:xfrm>
        </p:spPr>
        <p:txBody>
          <a:bodyPr/>
          <a:lstStyle/>
          <a:p>
            <a:r>
              <a:rPr lang="zh-CN" altLang="en-US" dirty="0" smtClean="0"/>
              <a:t>指针变量初始化</a:t>
            </a:r>
            <a:endParaRPr lang="zh-CN" altLang="en-US" dirty="0"/>
          </a:p>
        </p:txBody>
      </p:sp>
      <p:sp>
        <p:nvSpPr>
          <p:cNvPr id="4" name="Rectangle 11"/>
          <p:cNvSpPr/>
          <p:nvPr/>
        </p:nvSpPr>
        <p:spPr>
          <a:xfrm>
            <a:off x="755650" y="1844824"/>
            <a:ext cx="2376264" cy="1420193"/>
          </a:xfrm>
          <a:prstGeom prst="rect">
            <a:avLst/>
          </a:prstGeom>
          <a:noFill/>
          <a:ln w="12700">
            <a:noFill/>
          </a:ln>
        </p:spPr>
        <p:txBody>
          <a:bodyPr wrap="none" anchor="ctr"/>
          <a:lstStyle/>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a=0;</a:t>
            </a:r>
          </a:p>
          <a:p>
            <a:pPr lvl="0" eaLnBrk="1" hangingPunct="1">
              <a:spcBef>
                <a:spcPct val="20000"/>
              </a:spcBef>
            </a:pPr>
            <a:r>
              <a:rPr lang="en-US" altLang="zh-CN" sz="2400" b="1" dirty="0" smtClean="0">
                <a:solidFill>
                  <a:srgbClr val="FF0000"/>
                </a:solidFill>
                <a:latin typeface="Arial" panose="020B0604020202020204" pitchFamily="34" charset="0"/>
                <a:ea typeface="宋体" panose="02010600030101010101" pitchFamily="2" charset="-122"/>
              </a:rPr>
              <a:t>    </a:t>
            </a:r>
            <a:r>
              <a:rPr lang="en-US" altLang="zh-CN" sz="2400" b="1" dirty="0" err="1" smtClean="0">
                <a:solidFill>
                  <a:srgbClr val="FF0000"/>
                </a:solidFill>
                <a:latin typeface="Arial" panose="020B0604020202020204" pitchFamily="34" charset="0"/>
                <a:ea typeface="宋体" panose="02010600030101010101" pitchFamily="2" charset="-122"/>
              </a:rPr>
              <a:t>int</a:t>
            </a:r>
            <a:r>
              <a:rPr lang="en-US" altLang="zh-CN" sz="2400" b="1" dirty="0" smtClean="0">
                <a:solidFill>
                  <a:srgbClr val="FF0000"/>
                </a:solidFill>
                <a:latin typeface="Arial" panose="020B0604020202020204" pitchFamily="34" charset="0"/>
                <a:ea typeface="宋体" panose="02010600030101010101" pitchFamily="2" charset="-122"/>
              </a:rPr>
              <a:t>  *p=&amp;a;</a:t>
            </a:r>
          </a:p>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endParaRPr lang="en-US" altLang="zh-CN" sz="2400" b="1" dirty="0">
              <a:latin typeface="Arial" panose="020B0604020202020204" pitchFamily="34" charset="0"/>
              <a:ea typeface="宋体" panose="02010600030101010101" pitchFamily="2" charset="-122"/>
            </a:endParaRPr>
          </a:p>
        </p:txBody>
      </p:sp>
      <p:sp>
        <p:nvSpPr>
          <p:cNvPr id="5" name="Rectangle 7"/>
          <p:cNvSpPr>
            <a:spLocks noChangeArrowheads="1"/>
          </p:cNvSpPr>
          <p:nvPr/>
        </p:nvSpPr>
        <p:spPr bwMode="auto">
          <a:xfrm>
            <a:off x="3484290" y="2175098"/>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a:t>
            </a:r>
            <a:r>
              <a:rPr kumimoji="0" 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22ff44</a:t>
            </a:r>
          </a:p>
        </p:txBody>
      </p:sp>
      <p:grpSp>
        <p:nvGrpSpPr>
          <p:cNvPr id="6" name="Group 8"/>
          <p:cNvGrpSpPr/>
          <p:nvPr/>
        </p:nvGrpSpPr>
        <p:grpSpPr>
          <a:xfrm>
            <a:off x="4788024" y="2204864"/>
            <a:ext cx="2800350" cy="1914525"/>
            <a:chOff x="930" y="2049"/>
            <a:chExt cx="2352" cy="1608"/>
          </a:xfrm>
        </p:grpSpPr>
        <p:sp>
          <p:nvSpPr>
            <p:cNvPr id="7" name="Rectangle 9"/>
            <p:cNvSpPr/>
            <p:nvPr/>
          </p:nvSpPr>
          <p:spPr>
            <a:xfrm>
              <a:off x="930" y="204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p>
          </p:txBody>
        </p:sp>
        <p:sp>
          <p:nvSpPr>
            <p:cNvPr id="8" name="Rectangle 10"/>
            <p:cNvSpPr/>
            <p:nvPr/>
          </p:nvSpPr>
          <p:spPr>
            <a:xfrm>
              <a:off x="1026" y="2192"/>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9" name="Rectangle 11"/>
            <p:cNvSpPr/>
            <p:nvPr/>
          </p:nvSpPr>
          <p:spPr>
            <a:xfrm>
              <a:off x="1122" y="2328"/>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0" name="Rectangle 12"/>
            <p:cNvSpPr/>
            <p:nvPr/>
          </p:nvSpPr>
          <p:spPr>
            <a:xfrm>
              <a:off x="1218" y="2464"/>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0</a:t>
              </a:r>
              <a:endParaRPr lang="zh-CN" altLang="en-US" sz="1800" b="0" dirty="0">
                <a:latin typeface="Times New Roman" panose="02020603050405020304" pitchFamily="18" charset="0"/>
              </a:endParaRPr>
            </a:p>
          </p:txBody>
        </p:sp>
        <p:sp>
          <p:nvSpPr>
            <p:cNvPr id="11" name="Rectangle 13"/>
            <p:cNvSpPr/>
            <p:nvPr/>
          </p:nvSpPr>
          <p:spPr>
            <a:xfrm>
              <a:off x="1314" y="2600"/>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2" name="Rectangle 14"/>
            <p:cNvSpPr/>
            <p:nvPr/>
          </p:nvSpPr>
          <p:spPr>
            <a:xfrm>
              <a:off x="1410" y="2736"/>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3" name="Rectangle 15"/>
            <p:cNvSpPr/>
            <p:nvPr/>
          </p:nvSpPr>
          <p:spPr>
            <a:xfrm>
              <a:off x="1506" y="2873"/>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4" name="Rectangle 16"/>
            <p:cNvSpPr/>
            <p:nvPr/>
          </p:nvSpPr>
          <p:spPr>
            <a:xfrm>
              <a:off x="1602" y="3009"/>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5" name="Rectangle 17"/>
            <p:cNvSpPr/>
            <p:nvPr/>
          </p:nvSpPr>
          <p:spPr>
            <a:xfrm>
              <a:off x="1698" y="3145"/>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6" name="Rectangle 18"/>
            <p:cNvSpPr/>
            <p:nvPr/>
          </p:nvSpPr>
          <p:spPr>
            <a:xfrm>
              <a:off x="1794" y="3281"/>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1800" b="0" dirty="0">
                  <a:latin typeface="Times New Roman" panose="02020603050405020304" pitchFamily="18" charset="0"/>
                </a:rPr>
                <a:t>Contents</a:t>
              </a:r>
              <a:endParaRPr lang="zh-CN" altLang="en-US" sz="1800" b="0" dirty="0">
                <a:latin typeface="Times New Roman" panose="02020603050405020304" pitchFamily="18" charset="0"/>
              </a:endParaRPr>
            </a:p>
          </p:txBody>
        </p:sp>
        <p:sp>
          <p:nvSpPr>
            <p:cNvPr id="17" name="Rectangle 19"/>
            <p:cNvSpPr/>
            <p:nvPr/>
          </p:nvSpPr>
          <p:spPr>
            <a:xfrm>
              <a:off x="1890" y="3417"/>
              <a:ext cx="1392"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rgbClr val="880000"/>
                  </a:solidFill>
                  <a:latin typeface="Times New Roman" panose="02020603050405020304" pitchFamily="18" charset="0"/>
                </a:rPr>
                <a:t>0</a:t>
              </a:r>
              <a:r>
                <a:rPr lang="en-US" altLang="zh-CN" sz="1800" dirty="0">
                  <a:solidFill>
                    <a:srgbClr val="880000"/>
                  </a:solidFill>
                  <a:latin typeface="Times New Roman" panose="02020603050405020304" pitchFamily="18" charset="0"/>
                </a:rPr>
                <a:t>x0022ff44</a:t>
              </a:r>
            </a:p>
          </p:txBody>
        </p:sp>
      </p:grpSp>
      <p:sp>
        <p:nvSpPr>
          <p:cNvPr id="18" name="Rectangle 22"/>
          <p:cNvSpPr>
            <a:spLocks noChangeArrowheads="1"/>
          </p:cNvSpPr>
          <p:nvPr/>
        </p:nvSpPr>
        <p:spPr bwMode="auto">
          <a:xfrm>
            <a:off x="3600971" y="2382267"/>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x0022ff45</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9" name="Rectangle 23"/>
          <p:cNvSpPr>
            <a:spLocks noChangeArrowheads="1"/>
          </p:cNvSpPr>
          <p:nvPr/>
        </p:nvSpPr>
        <p:spPr bwMode="auto">
          <a:xfrm>
            <a:off x="3727177" y="2582292"/>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a:t>
            </a:r>
            <a:r>
              <a:rPr kumimoji="0" 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22ff46</a:t>
            </a:r>
          </a:p>
        </p:txBody>
      </p:sp>
      <p:sp>
        <p:nvSpPr>
          <p:cNvPr id="20" name="Rectangle 24"/>
          <p:cNvSpPr>
            <a:spLocks noChangeArrowheads="1"/>
          </p:cNvSpPr>
          <p:nvPr/>
        </p:nvSpPr>
        <p:spPr bwMode="auto">
          <a:xfrm>
            <a:off x="3842668" y="2751361"/>
            <a:ext cx="105918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a:t>
            </a: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x0022ff47</a:t>
            </a:r>
            <a:endParaRPr kumimoji="0" lang="zh-CN" altLang="en-US" sz="135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1" name="Rectangle 28"/>
          <p:cNvSpPr>
            <a:spLocks noChangeArrowheads="1"/>
          </p:cNvSpPr>
          <p:nvPr/>
        </p:nvSpPr>
        <p:spPr bwMode="auto">
          <a:xfrm>
            <a:off x="3052093" y="2157239"/>
            <a:ext cx="38862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&amp;a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22" name="Group 33"/>
          <p:cNvGrpSpPr/>
          <p:nvPr/>
        </p:nvGrpSpPr>
        <p:grpSpPr>
          <a:xfrm>
            <a:off x="6994252" y="2283445"/>
            <a:ext cx="972740" cy="1674019"/>
            <a:chOff x="3515" y="2432"/>
            <a:chExt cx="817" cy="1406"/>
          </a:xfrm>
        </p:grpSpPr>
        <p:sp>
          <p:nvSpPr>
            <p:cNvPr id="23" name="Line 30"/>
            <p:cNvSpPr/>
            <p:nvPr/>
          </p:nvSpPr>
          <p:spPr>
            <a:xfrm>
              <a:off x="4014" y="3838"/>
              <a:ext cx="318" cy="0"/>
            </a:xfrm>
            <a:prstGeom prst="line">
              <a:avLst/>
            </a:prstGeom>
            <a:ln w="38100" cap="flat" cmpd="sng">
              <a:solidFill>
                <a:srgbClr val="800000"/>
              </a:solidFill>
              <a:prstDash val="solid"/>
              <a:headEnd type="none" w="sm" len="sm"/>
              <a:tailEnd type="none" w="sm" len="sm"/>
            </a:ln>
          </p:spPr>
        </p:sp>
        <p:sp>
          <p:nvSpPr>
            <p:cNvPr id="24" name="Line 31"/>
            <p:cNvSpPr/>
            <p:nvPr/>
          </p:nvSpPr>
          <p:spPr>
            <a:xfrm flipV="1">
              <a:off x="4332" y="2432"/>
              <a:ext cx="0" cy="1406"/>
            </a:xfrm>
            <a:prstGeom prst="line">
              <a:avLst/>
            </a:prstGeom>
            <a:ln w="38100" cap="flat" cmpd="sng">
              <a:solidFill>
                <a:srgbClr val="800000"/>
              </a:solidFill>
              <a:prstDash val="solid"/>
              <a:headEnd type="none" w="sm" len="sm"/>
              <a:tailEnd type="none" w="sm" len="sm"/>
            </a:ln>
          </p:spPr>
        </p:sp>
        <p:sp>
          <p:nvSpPr>
            <p:cNvPr id="25" name="Line 32"/>
            <p:cNvSpPr/>
            <p:nvPr/>
          </p:nvSpPr>
          <p:spPr>
            <a:xfrm flipH="1">
              <a:off x="3515" y="2432"/>
              <a:ext cx="817" cy="0"/>
            </a:xfrm>
            <a:prstGeom prst="line">
              <a:avLst/>
            </a:prstGeom>
            <a:ln w="38100" cap="flat" cmpd="sng">
              <a:solidFill>
                <a:srgbClr val="800000"/>
              </a:solidFill>
              <a:prstDash val="solid"/>
              <a:headEnd type="none" w="sm" len="sm"/>
              <a:tailEnd type="triangle" w="med" len="lg"/>
            </a:ln>
          </p:spPr>
        </p:sp>
      </p:grpSp>
      <p:sp>
        <p:nvSpPr>
          <p:cNvPr id="26" name="Rectangle 32"/>
          <p:cNvSpPr>
            <a:spLocks noChangeArrowheads="1"/>
          </p:cNvSpPr>
          <p:nvPr/>
        </p:nvSpPr>
        <p:spPr bwMode="auto">
          <a:xfrm>
            <a:off x="4672533" y="1763142"/>
            <a:ext cx="110871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a=0;</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7" name="Rectangle 47"/>
          <p:cNvSpPr>
            <a:spLocks noChangeArrowheads="1"/>
          </p:cNvSpPr>
          <p:nvPr/>
        </p:nvSpPr>
        <p:spPr bwMode="auto">
          <a:xfrm>
            <a:off x="6582149" y="2100662"/>
            <a:ext cx="285750" cy="297180"/>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135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8" name="Rectangle 47"/>
          <p:cNvSpPr>
            <a:spLocks noChangeArrowheads="1"/>
          </p:cNvSpPr>
          <p:nvPr/>
        </p:nvSpPr>
        <p:spPr bwMode="auto">
          <a:xfrm>
            <a:off x="7588372" y="3885853"/>
            <a:ext cx="328688" cy="369332"/>
          </a:xfrm>
          <a:prstGeom prst="rect">
            <a:avLst/>
          </a:prstGeom>
          <a:noFill/>
          <a:ln w="12700">
            <a:noFill/>
            <a:miter lim="800000"/>
            <a:headEnd type="none" w="sm" len="sm"/>
            <a:tailEnd type="none" w="sm" len="sm"/>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p</a:t>
            </a:r>
            <a:endParaRPr kumimoji="0" lang="zh-CN" altLang="en-US" sz="1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 name="矩形 1"/>
          <p:cNvSpPr/>
          <p:nvPr/>
        </p:nvSpPr>
        <p:spPr bwMode="auto">
          <a:xfrm>
            <a:off x="1619672" y="4869160"/>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&amp;a</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30" name="矩形 29"/>
          <p:cNvSpPr/>
          <p:nvPr/>
        </p:nvSpPr>
        <p:spPr bwMode="auto">
          <a:xfrm>
            <a:off x="4141986" y="4869160"/>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3" name="矩形 2"/>
          <p:cNvSpPr/>
          <p:nvPr/>
        </p:nvSpPr>
        <p:spPr>
          <a:xfrm>
            <a:off x="1835696" y="4365104"/>
            <a:ext cx="684002" cy="523220"/>
          </a:xfrm>
          <a:prstGeom prst="rect">
            <a:avLst/>
          </a:prstGeom>
        </p:spPr>
        <p:txBody>
          <a:bodyPr wrap="square">
            <a:spAutoFit/>
          </a:bodyPr>
          <a:lstStyle/>
          <a:p>
            <a:r>
              <a:rPr lang="en-US" altLang="zh-CN" sz="2800" b="1" dirty="0" smtClean="0"/>
              <a:t>p</a:t>
            </a:r>
            <a:endParaRPr lang="zh-CN" altLang="en-US" sz="2800" dirty="0"/>
          </a:p>
        </p:txBody>
      </p:sp>
      <p:sp>
        <p:nvSpPr>
          <p:cNvPr id="32" name="矩形 31"/>
          <p:cNvSpPr/>
          <p:nvPr/>
        </p:nvSpPr>
        <p:spPr>
          <a:xfrm>
            <a:off x="4549105" y="4345940"/>
            <a:ext cx="410308" cy="523220"/>
          </a:xfrm>
          <a:prstGeom prst="rect">
            <a:avLst/>
          </a:prstGeom>
        </p:spPr>
        <p:txBody>
          <a:bodyPr wrap="square">
            <a:spAutoFit/>
          </a:bodyPr>
          <a:lstStyle/>
          <a:p>
            <a:r>
              <a:rPr lang="en-US" altLang="zh-CN" sz="2800" b="1" dirty="0" smtClean="0"/>
              <a:t>a</a:t>
            </a:r>
            <a:endParaRPr lang="zh-CN" altLang="en-US" sz="2800" dirty="0"/>
          </a:p>
        </p:txBody>
      </p:sp>
      <p:cxnSp>
        <p:nvCxnSpPr>
          <p:cNvPr id="31" name="直接箭头连接符 30"/>
          <p:cNvCxnSpPr>
            <a:stCxn id="2" idx="3"/>
            <a:endCxn id="30" idx="1"/>
          </p:cNvCxnSpPr>
          <p:nvPr/>
        </p:nvCxnSpPr>
        <p:spPr bwMode="auto">
          <a:xfrm>
            <a:off x="2771800" y="5157192"/>
            <a:ext cx="137018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33" name="Line 32"/>
          <p:cNvSpPr/>
          <p:nvPr/>
        </p:nvSpPr>
        <p:spPr>
          <a:xfrm>
            <a:off x="4429863" y="2337793"/>
            <a:ext cx="1659367" cy="1619671"/>
          </a:xfrm>
          <a:prstGeom prst="line">
            <a:avLst/>
          </a:prstGeom>
          <a:ln w="38100" cap="flat" cmpd="sng">
            <a:solidFill>
              <a:srgbClr val="800000"/>
            </a:solidFill>
            <a:prstDash val="solid"/>
            <a:headEnd type="none" w="sm" len="sm"/>
            <a:tailEnd type="triangle" w="med" len="lg"/>
          </a:ln>
        </p:spPr>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 presetClass="entr" presetSubtype="0" fill="hold"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childTnLst>
                                </p:cTn>
                              </p:par>
                              <p:par>
                                <p:cTn id="10" presetID="22" presetClass="entr" presetSubtype="1"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up)">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down)">
                                      <p:cBhvr>
                                        <p:cTn id="17" dur="500"/>
                                        <p:tgtEl>
                                          <p:spTgt spid="22"/>
                                        </p:tgtEl>
                                      </p:cBhvr>
                                    </p:animEffect>
                                  </p:childTnLst>
                                </p:cTn>
                              </p:par>
                              <p:par>
                                <p:cTn id="18" presetID="22" presetClass="entr" presetSubtype="8"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left)">
                                      <p:cBhvr>
                                        <p:cTn id="2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AutoShape 2"/>
          <p:cNvSpPr>
            <a:spLocks noGrp="1" noChangeArrowheads="1"/>
          </p:cNvSpPr>
          <p:nvPr>
            <p:ph type="title"/>
          </p:nvPr>
        </p:nvSpPr>
        <p:spPr>
          <a:xfrm>
            <a:off x="755650" y="765175"/>
            <a:ext cx="7924800" cy="784225"/>
          </a:xfrm>
        </p:spPr>
        <p:txBody>
          <a:bodyPr/>
          <a:lstStyle/>
          <a:p>
            <a:r>
              <a:rPr lang="zh-CN" altLang="en-US" dirty="0" smtClean="0"/>
              <a:t>通过指针间接访问变量</a:t>
            </a:r>
            <a:endParaRPr lang="zh-CN" altLang="en-US" dirty="0"/>
          </a:p>
        </p:txBody>
      </p:sp>
      <p:sp>
        <p:nvSpPr>
          <p:cNvPr id="3" name="矩形 2"/>
          <p:cNvSpPr/>
          <p:nvPr/>
        </p:nvSpPr>
        <p:spPr bwMode="auto">
          <a:xfrm>
            <a:off x="5074022" y="2420888"/>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&amp;a</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4" name="矩形 3"/>
          <p:cNvSpPr/>
          <p:nvPr/>
        </p:nvSpPr>
        <p:spPr bwMode="auto">
          <a:xfrm>
            <a:off x="7596336" y="2420888"/>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p:nvSpPr>
        <p:spPr>
          <a:xfrm>
            <a:off x="5290046" y="1916832"/>
            <a:ext cx="684002" cy="523220"/>
          </a:xfrm>
          <a:prstGeom prst="rect">
            <a:avLst/>
          </a:prstGeom>
        </p:spPr>
        <p:txBody>
          <a:bodyPr wrap="square">
            <a:spAutoFit/>
          </a:bodyPr>
          <a:lstStyle/>
          <a:p>
            <a:r>
              <a:rPr lang="en-US" altLang="zh-CN" sz="2800" b="1" dirty="0" smtClean="0"/>
              <a:t>p</a:t>
            </a:r>
            <a:endParaRPr lang="zh-CN" altLang="en-US" sz="2800" dirty="0"/>
          </a:p>
        </p:txBody>
      </p:sp>
      <p:sp>
        <p:nvSpPr>
          <p:cNvPr id="6" name="矩形 5"/>
          <p:cNvSpPr/>
          <p:nvPr/>
        </p:nvSpPr>
        <p:spPr>
          <a:xfrm>
            <a:off x="8003455" y="1897668"/>
            <a:ext cx="410308" cy="523220"/>
          </a:xfrm>
          <a:prstGeom prst="rect">
            <a:avLst/>
          </a:prstGeom>
        </p:spPr>
        <p:txBody>
          <a:bodyPr wrap="square">
            <a:spAutoFit/>
          </a:bodyPr>
          <a:lstStyle/>
          <a:p>
            <a:r>
              <a:rPr lang="en-US" altLang="zh-CN" sz="2800" b="1" dirty="0" smtClean="0"/>
              <a:t>a</a:t>
            </a:r>
            <a:endParaRPr lang="zh-CN" altLang="en-US" sz="2800" dirty="0"/>
          </a:p>
        </p:txBody>
      </p:sp>
      <p:cxnSp>
        <p:nvCxnSpPr>
          <p:cNvPr id="7" name="直接箭头连接符 6"/>
          <p:cNvCxnSpPr>
            <a:stCxn id="3" idx="3"/>
            <a:endCxn id="4" idx="1"/>
          </p:cNvCxnSpPr>
          <p:nvPr/>
        </p:nvCxnSpPr>
        <p:spPr bwMode="auto">
          <a:xfrm>
            <a:off x="6226150" y="2708920"/>
            <a:ext cx="137018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8" name="矩形 7"/>
          <p:cNvSpPr/>
          <p:nvPr/>
        </p:nvSpPr>
        <p:spPr>
          <a:xfrm>
            <a:off x="7812360" y="2996952"/>
            <a:ext cx="774049" cy="523220"/>
          </a:xfrm>
          <a:prstGeom prst="rect">
            <a:avLst/>
          </a:prstGeom>
        </p:spPr>
        <p:txBody>
          <a:bodyPr wrap="square">
            <a:spAutoFit/>
          </a:bodyPr>
          <a:lstStyle/>
          <a:p>
            <a:r>
              <a:rPr lang="zh-CN" altLang="en-US" sz="2800" b="1" dirty="0" smtClean="0"/>
              <a:t>*</a:t>
            </a:r>
            <a:r>
              <a:rPr lang="en-US" altLang="zh-CN" sz="2800" b="1" dirty="0" smtClean="0"/>
              <a:t>p</a:t>
            </a:r>
            <a:endParaRPr lang="zh-CN" altLang="en-US" sz="2800" dirty="0"/>
          </a:p>
        </p:txBody>
      </p:sp>
      <p:sp>
        <p:nvSpPr>
          <p:cNvPr id="9" name="Rectangle 11"/>
          <p:cNvSpPr/>
          <p:nvPr/>
        </p:nvSpPr>
        <p:spPr>
          <a:xfrm>
            <a:off x="881922" y="2360830"/>
            <a:ext cx="2409954" cy="897732"/>
          </a:xfrm>
          <a:prstGeom prst="rect">
            <a:avLst/>
          </a:prstGeom>
          <a:noFill/>
          <a:ln w="12700">
            <a:noFill/>
          </a:ln>
        </p:spPr>
        <p:txBody>
          <a:bodyPr wrap="none" anchor="ctr"/>
          <a:lstStyle/>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a=0;</a:t>
            </a:r>
          </a:p>
          <a:p>
            <a:pPr lvl="0" eaLnBrk="1" hangingPunct="1">
              <a:spcBef>
                <a:spcPct val="20000"/>
              </a:spcBef>
            </a:pPr>
            <a:r>
              <a:rPr lang="en-US" altLang="zh-CN" sz="2400" b="1" dirty="0" smtClean="0">
                <a:latin typeface="Arial" panose="020B0604020202020204" pitchFamily="34" charset="0"/>
                <a:ea typeface="宋体" panose="02010600030101010101" pitchFamily="2" charset="-122"/>
              </a:rPr>
              <a:t>    </a:t>
            </a:r>
            <a:r>
              <a:rPr lang="en-US" altLang="zh-CN" sz="2400" b="1" dirty="0" err="1" smtClean="0">
                <a:latin typeface="Arial" panose="020B0604020202020204" pitchFamily="34" charset="0"/>
                <a:ea typeface="宋体" panose="02010600030101010101" pitchFamily="2" charset="-122"/>
              </a:rPr>
              <a:t>int</a:t>
            </a:r>
            <a:r>
              <a:rPr lang="en-US" altLang="zh-CN" sz="2400" b="1" dirty="0" smtClean="0">
                <a:latin typeface="Arial" panose="020B0604020202020204" pitchFamily="34" charset="0"/>
                <a:ea typeface="宋体" panose="02010600030101010101" pitchFamily="2" charset="-122"/>
              </a:rPr>
              <a:t>  *p=&amp;a;</a:t>
            </a:r>
            <a:endParaRPr lang="en-US" altLang="zh-CN" sz="2400" b="1" dirty="0">
              <a:latin typeface="Arial" panose="020B0604020202020204" pitchFamily="34" charset="0"/>
              <a:ea typeface="宋体" panose="02010600030101010101" pitchFamily="2" charset="-122"/>
            </a:endParaRPr>
          </a:p>
        </p:txBody>
      </p:sp>
      <p:sp>
        <p:nvSpPr>
          <p:cNvPr id="10" name="Rectangle 11"/>
          <p:cNvSpPr/>
          <p:nvPr/>
        </p:nvSpPr>
        <p:spPr>
          <a:xfrm>
            <a:off x="755650" y="1691842"/>
            <a:ext cx="2840205" cy="48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p>
            <a:pPr marL="92075" indent="-92075">
              <a:lnSpc>
                <a:spcPct val="120000"/>
              </a:lnSpc>
              <a:spcBef>
                <a:spcPct val="20000"/>
              </a:spcBef>
              <a:buClr>
                <a:srgbClr val="A50021"/>
              </a:buClr>
              <a:buSzPct val="75000"/>
              <a:buFont typeface="Webdings" panose="05030102010509060703" pitchFamily="18" charset="2"/>
              <a:buChar char="·"/>
            </a:pPr>
            <a:r>
              <a:rPr lang="zh-CN" altLang="en-US" sz="2400" b="1" dirty="0" smtClean="0">
                <a:solidFill>
                  <a:srgbClr val="0066FF"/>
                </a:solidFill>
                <a:effectLst>
                  <a:outerShdw blurRad="38100" dist="38100" dir="2700000" algn="tl">
                    <a:srgbClr val="C0C0C0"/>
                  </a:outerShdw>
                </a:effectLst>
                <a:latin typeface="+mn-lt"/>
                <a:ea typeface="+mn-ea"/>
              </a:rPr>
              <a:t>指针</a:t>
            </a:r>
            <a:r>
              <a:rPr lang="zh-CN" altLang="en-US" sz="2400" b="1" dirty="0">
                <a:solidFill>
                  <a:srgbClr val="0066FF"/>
                </a:solidFill>
                <a:effectLst>
                  <a:outerShdw blurRad="38100" dist="38100" dir="2700000" algn="tl">
                    <a:srgbClr val="C0C0C0"/>
                  </a:outerShdw>
                </a:effectLst>
                <a:latin typeface="+mn-lt"/>
                <a:ea typeface="+mn-ea"/>
              </a:rPr>
              <a:t>变量初始化</a:t>
            </a:r>
            <a:endParaRPr lang="en-US" altLang="zh-CN" sz="2400" b="1" dirty="0">
              <a:solidFill>
                <a:srgbClr val="0066FF"/>
              </a:solidFill>
              <a:effectLst>
                <a:outerShdw blurRad="38100" dist="38100" dir="2700000" algn="tl">
                  <a:srgbClr val="C0C0C0"/>
                </a:outerShdw>
              </a:effectLst>
              <a:latin typeface="+mn-lt"/>
              <a:ea typeface="+mn-ea"/>
            </a:endParaRPr>
          </a:p>
        </p:txBody>
      </p:sp>
      <p:sp>
        <p:nvSpPr>
          <p:cNvPr id="11" name="Rectangle 11"/>
          <p:cNvSpPr/>
          <p:nvPr/>
        </p:nvSpPr>
        <p:spPr>
          <a:xfrm>
            <a:off x="755649" y="3456145"/>
            <a:ext cx="2840205" cy="48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p>
            <a:pPr marL="92075" indent="-92075">
              <a:lnSpc>
                <a:spcPct val="120000"/>
              </a:lnSpc>
              <a:spcBef>
                <a:spcPct val="20000"/>
              </a:spcBef>
              <a:buClr>
                <a:srgbClr val="A50021"/>
              </a:buClr>
              <a:buSzPct val="75000"/>
              <a:buFont typeface="Webdings" panose="05030102010509060703" pitchFamily="18" charset="2"/>
              <a:buChar char="·"/>
            </a:pPr>
            <a:r>
              <a:rPr lang="zh-CN" altLang="en-US" sz="2400" b="1" dirty="0" smtClean="0">
                <a:solidFill>
                  <a:srgbClr val="0066FF"/>
                </a:solidFill>
                <a:effectLst>
                  <a:outerShdw blurRad="38100" dist="38100" dir="2700000" algn="tl">
                    <a:srgbClr val="C0C0C0"/>
                  </a:outerShdw>
                </a:effectLst>
                <a:latin typeface="+mn-lt"/>
                <a:ea typeface="+mn-ea"/>
              </a:rPr>
              <a:t>使用指针变量</a:t>
            </a:r>
            <a:endParaRPr lang="en-US" altLang="zh-CN" sz="2400" b="1" dirty="0">
              <a:solidFill>
                <a:srgbClr val="0066FF"/>
              </a:solidFill>
              <a:effectLst>
                <a:outerShdw blurRad="38100" dist="38100" dir="2700000" algn="tl">
                  <a:srgbClr val="C0C0C0"/>
                </a:outerShdw>
              </a:effectLst>
              <a:latin typeface="+mn-lt"/>
              <a:ea typeface="+mn-ea"/>
            </a:endParaRPr>
          </a:p>
        </p:txBody>
      </p:sp>
      <p:sp>
        <p:nvSpPr>
          <p:cNvPr id="12" name="Rectangle 11"/>
          <p:cNvSpPr/>
          <p:nvPr/>
        </p:nvSpPr>
        <p:spPr>
          <a:xfrm>
            <a:off x="1187624" y="4085187"/>
            <a:ext cx="2880320" cy="1764303"/>
          </a:xfrm>
          <a:prstGeom prst="rect">
            <a:avLst/>
          </a:prstGeom>
          <a:noFill/>
          <a:ln w="12700">
            <a:noFill/>
          </a:ln>
        </p:spPr>
        <p:txBody>
          <a:bodyPr wrap="none" anchor="ctr"/>
          <a:lstStyle/>
          <a:p>
            <a:pPr lvl="0" eaLnBrk="1" hangingPunct="1">
              <a:spcBef>
                <a:spcPct val="20000"/>
              </a:spcBef>
            </a:pPr>
            <a:r>
              <a:rPr lang="en-US" altLang="zh-CN" sz="2400" b="1" dirty="0" err="1"/>
              <a:t>int</a:t>
            </a:r>
            <a:r>
              <a:rPr lang="en-US" altLang="zh-CN" sz="2400" b="1" dirty="0"/>
              <a:t>  a=0;</a:t>
            </a:r>
          </a:p>
          <a:p>
            <a:pPr lvl="0" eaLnBrk="1" hangingPunct="1">
              <a:spcBef>
                <a:spcPct val="20000"/>
              </a:spcBef>
            </a:pPr>
            <a:r>
              <a:rPr lang="en-US" altLang="zh-CN" sz="2400" b="1" dirty="0" err="1" smtClean="0"/>
              <a:t>int</a:t>
            </a:r>
            <a:r>
              <a:rPr lang="en-US" altLang="zh-CN" sz="2400" b="1" dirty="0" smtClean="0"/>
              <a:t>  </a:t>
            </a:r>
            <a:r>
              <a:rPr lang="en-US" altLang="zh-CN" sz="2400" b="1" dirty="0"/>
              <a:t>*p=&amp;a;</a:t>
            </a:r>
          </a:p>
          <a:p>
            <a:pPr lvl="0" eaLnBrk="1" hangingPunct="1">
              <a:spcBef>
                <a:spcPct val="20000"/>
              </a:spcBef>
            </a:pPr>
            <a:r>
              <a:rPr lang="en-US" altLang="zh-CN" sz="2400" b="1" dirty="0" smtClean="0"/>
              <a:t>*p=1</a:t>
            </a:r>
            <a:r>
              <a:rPr lang="en-US" altLang="zh-CN" sz="2400" b="1" dirty="0"/>
              <a:t>;</a:t>
            </a:r>
          </a:p>
          <a:p>
            <a:pPr lvl="0" eaLnBrk="1" hangingPunct="1">
              <a:spcBef>
                <a:spcPct val="20000"/>
              </a:spcBef>
            </a:pPr>
            <a:r>
              <a:rPr lang="en-US" altLang="zh-CN" sz="2400" b="1" dirty="0" err="1"/>
              <a:t>printf</a:t>
            </a:r>
            <a:r>
              <a:rPr lang="en-US" altLang="zh-CN" sz="2400" b="1" dirty="0"/>
              <a:t>("%d",*</a:t>
            </a:r>
            <a:r>
              <a:rPr lang="en-US" altLang="zh-CN" sz="2400" b="1" dirty="0" smtClean="0"/>
              <a:t>p);</a:t>
            </a:r>
            <a:endParaRPr lang="en-US" altLang="zh-CN" sz="2400" b="1" dirty="0">
              <a:latin typeface="Arial" panose="020B0604020202020204" pitchFamily="34" charset="0"/>
              <a:ea typeface="宋体" panose="02010600030101010101" pitchFamily="2" charset="-122"/>
            </a:endParaRPr>
          </a:p>
        </p:txBody>
      </p:sp>
      <p:sp>
        <p:nvSpPr>
          <p:cNvPr id="13" name="Rectangle 11"/>
          <p:cNvSpPr/>
          <p:nvPr/>
        </p:nvSpPr>
        <p:spPr>
          <a:xfrm>
            <a:off x="3311997" y="4148658"/>
            <a:ext cx="2054336" cy="1000720"/>
          </a:xfrm>
          <a:prstGeom prst="rect">
            <a:avLst/>
          </a:prstGeom>
          <a:noFill/>
          <a:ln w="12700">
            <a:noFill/>
          </a:ln>
        </p:spPr>
        <p:txBody>
          <a:bodyPr wrap="none" anchor="ctr"/>
          <a:lstStyle/>
          <a:p>
            <a:pPr lvl="0" eaLnBrk="1" hangingPunct="1">
              <a:spcBef>
                <a:spcPct val="20000"/>
              </a:spcBef>
            </a:pPr>
            <a:r>
              <a:rPr lang="en-US" altLang="zh-CN" sz="2400" b="1" dirty="0" smtClean="0">
                <a:solidFill>
                  <a:srgbClr val="FF0000"/>
                </a:solidFill>
              </a:rPr>
              <a:t>*p</a:t>
            </a:r>
            <a:r>
              <a:rPr lang="zh-CN" altLang="en-US" sz="2400" b="1" dirty="0" smtClean="0">
                <a:solidFill>
                  <a:srgbClr val="FF0000"/>
                </a:solidFill>
              </a:rPr>
              <a:t>与</a:t>
            </a:r>
            <a:r>
              <a:rPr lang="en-US" altLang="zh-CN" sz="2400" b="1" dirty="0" smtClean="0">
                <a:solidFill>
                  <a:srgbClr val="FF0000"/>
                </a:solidFill>
              </a:rPr>
              <a:t>a</a:t>
            </a:r>
            <a:r>
              <a:rPr lang="zh-CN" altLang="en-US" sz="2400" b="1" dirty="0" smtClean="0">
                <a:solidFill>
                  <a:srgbClr val="FF0000"/>
                </a:solidFill>
              </a:rPr>
              <a:t>等价</a:t>
            </a:r>
            <a:endParaRPr lang="en-US" altLang="zh-CN" sz="2400" b="1" dirty="0">
              <a:solidFill>
                <a:srgbClr val="FF0000"/>
              </a:solidFill>
            </a:endParaRPr>
          </a:p>
        </p:txBody>
      </p:sp>
      <p:sp>
        <p:nvSpPr>
          <p:cNvPr id="14" name="矩形 13"/>
          <p:cNvSpPr/>
          <p:nvPr/>
        </p:nvSpPr>
        <p:spPr bwMode="auto">
          <a:xfrm>
            <a:off x="5074022" y="4353815"/>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&amp;a</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15" name="矩形 14"/>
          <p:cNvSpPr/>
          <p:nvPr/>
        </p:nvSpPr>
        <p:spPr bwMode="auto">
          <a:xfrm>
            <a:off x="7596336" y="4353815"/>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a:xfrm>
            <a:off x="5290046" y="3849759"/>
            <a:ext cx="684002" cy="523220"/>
          </a:xfrm>
          <a:prstGeom prst="rect">
            <a:avLst/>
          </a:prstGeom>
        </p:spPr>
        <p:txBody>
          <a:bodyPr wrap="square">
            <a:spAutoFit/>
          </a:bodyPr>
          <a:lstStyle/>
          <a:p>
            <a:r>
              <a:rPr lang="en-US" altLang="zh-CN" sz="2800" b="1" dirty="0" smtClean="0"/>
              <a:t>p</a:t>
            </a:r>
            <a:endParaRPr lang="zh-CN" altLang="en-US" sz="2800" dirty="0"/>
          </a:p>
        </p:txBody>
      </p:sp>
      <p:sp>
        <p:nvSpPr>
          <p:cNvPr id="17" name="矩形 16"/>
          <p:cNvSpPr/>
          <p:nvPr/>
        </p:nvSpPr>
        <p:spPr>
          <a:xfrm>
            <a:off x="8003455" y="3830595"/>
            <a:ext cx="410308" cy="523220"/>
          </a:xfrm>
          <a:prstGeom prst="rect">
            <a:avLst/>
          </a:prstGeom>
        </p:spPr>
        <p:txBody>
          <a:bodyPr wrap="square">
            <a:spAutoFit/>
          </a:bodyPr>
          <a:lstStyle/>
          <a:p>
            <a:r>
              <a:rPr lang="en-US" altLang="zh-CN" sz="2800" b="1" dirty="0" smtClean="0"/>
              <a:t>a</a:t>
            </a:r>
            <a:endParaRPr lang="zh-CN" altLang="en-US" sz="2800" dirty="0"/>
          </a:p>
        </p:txBody>
      </p:sp>
      <p:cxnSp>
        <p:nvCxnSpPr>
          <p:cNvPr id="18" name="直接箭头连接符 17"/>
          <p:cNvCxnSpPr>
            <a:stCxn id="14" idx="3"/>
            <a:endCxn id="15" idx="1"/>
          </p:cNvCxnSpPr>
          <p:nvPr/>
        </p:nvCxnSpPr>
        <p:spPr bwMode="auto">
          <a:xfrm>
            <a:off x="6226150" y="4641847"/>
            <a:ext cx="137018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9" name="矩形 18"/>
          <p:cNvSpPr/>
          <p:nvPr/>
        </p:nvSpPr>
        <p:spPr>
          <a:xfrm>
            <a:off x="7812360" y="4929879"/>
            <a:ext cx="774049" cy="523220"/>
          </a:xfrm>
          <a:prstGeom prst="rect">
            <a:avLst/>
          </a:prstGeom>
        </p:spPr>
        <p:txBody>
          <a:bodyPr wrap="square">
            <a:spAutoFit/>
          </a:bodyPr>
          <a:lstStyle/>
          <a:p>
            <a:r>
              <a:rPr lang="zh-CN" altLang="en-US" sz="2800" b="1" dirty="0" smtClean="0"/>
              <a:t>*</a:t>
            </a:r>
            <a:r>
              <a:rPr lang="en-US" altLang="zh-CN" sz="2800" b="1" dirty="0" smtClean="0"/>
              <a:t>p</a:t>
            </a:r>
            <a:endParaRPr lang="zh-CN" altLang="en-US" sz="2800" dirty="0"/>
          </a:p>
        </p:txBody>
      </p:sp>
      <p:sp>
        <p:nvSpPr>
          <p:cNvPr id="21" name="矩形 20"/>
          <p:cNvSpPr/>
          <p:nvPr/>
        </p:nvSpPr>
        <p:spPr bwMode="auto">
          <a:xfrm>
            <a:off x="7596336" y="4359603"/>
            <a:ext cx="1152128" cy="57606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0512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0855" y="628650"/>
            <a:ext cx="8527415" cy="994410"/>
          </a:xfrm>
        </p:spPr>
        <p:txBody>
          <a:bodyPr>
            <a:normAutofit/>
          </a:bodyPr>
          <a:lstStyle/>
          <a:p>
            <a:r>
              <a:rPr lang="en-US" altLang="zh-CN" sz="2800" dirty="0" smtClean="0">
                <a:latin typeface="华文仿宋" panose="02010600040101010101" pitchFamily="2" charset="-122"/>
                <a:ea typeface="华文仿宋" panose="02010600040101010101" pitchFamily="2" charset="-122"/>
                <a:sym typeface="+mn-ea"/>
              </a:rPr>
              <a:t>【</a:t>
            </a:r>
            <a:r>
              <a:rPr lang="zh-CN" altLang="en-US" sz="2800" dirty="0" smtClean="0">
                <a:sym typeface="+mn-ea"/>
              </a:rPr>
              <a:t>例</a:t>
            </a:r>
            <a:r>
              <a:rPr lang="en-US" altLang="zh-CN" sz="2800" dirty="0" smtClean="0">
                <a:sym typeface="+mn-ea"/>
              </a:rPr>
              <a:t>6-1</a:t>
            </a:r>
            <a:r>
              <a:rPr lang="zh-CN" altLang="en-US" sz="2800" dirty="0" smtClean="0">
                <a:sym typeface="+mn-ea"/>
              </a:rPr>
              <a:t>】</a:t>
            </a:r>
            <a:r>
              <a:rPr lang="zh-CN" altLang="en-US" sz="2800" dirty="0">
                <a:sym typeface="+mn-ea"/>
              </a:rPr>
              <a:t>使用指针</a:t>
            </a:r>
            <a:r>
              <a:rPr lang="zh-CN" altLang="en-US" sz="2800" dirty="0" smtClean="0">
                <a:sym typeface="+mn-ea"/>
              </a:rPr>
              <a:t>变量间接</a:t>
            </a:r>
            <a:r>
              <a:rPr lang="zh-CN" altLang="en-US" sz="2800" dirty="0">
                <a:sym typeface="+mn-ea"/>
              </a:rPr>
              <a:t>访问</a:t>
            </a:r>
            <a:r>
              <a:rPr lang="zh-CN" altLang="en-US" sz="2800" dirty="0" smtClean="0">
                <a:sym typeface="+mn-ea"/>
              </a:rPr>
              <a:t>变量</a:t>
            </a:r>
            <a:endParaRPr lang="zh-CN" altLang="en-US" sz="2800" dirty="0"/>
          </a:p>
        </p:txBody>
      </p:sp>
      <p:sp>
        <p:nvSpPr>
          <p:cNvPr id="3" name="内容占位符 2"/>
          <p:cNvSpPr>
            <a:spLocks noGrp="1"/>
          </p:cNvSpPr>
          <p:nvPr>
            <p:ph sz="half" idx="1"/>
          </p:nvPr>
        </p:nvSpPr>
        <p:spPr>
          <a:xfrm>
            <a:off x="826770" y="1556792"/>
            <a:ext cx="8191500" cy="5184576"/>
          </a:xfrm>
        </p:spPr>
        <p:txBody>
          <a:bodyPr>
            <a:noAutofit/>
          </a:bodyPr>
          <a:lstStyle/>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a:t>
            </a:r>
            <a:r>
              <a:rPr lang="en-US" altLang="zh-CN" sz="1800" kern="1200" dirty="0" smtClean="0">
                <a:solidFill>
                  <a:schemeClr val="tx1"/>
                </a:solidFill>
              </a:rPr>
              <a:t>include &lt;</a:t>
            </a:r>
            <a:r>
              <a:rPr lang="en-US" altLang="zh-CN" sz="1800" kern="1200" dirty="0">
                <a:solidFill>
                  <a:schemeClr val="tx1"/>
                </a:solidFill>
              </a:rPr>
              <a:t>stdio.h&gt;</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int main()</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int a=1;</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a:t>
            </a:r>
            <a:r>
              <a:rPr lang="en-US" altLang="zh-CN" sz="1800" kern="1200" dirty="0" smtClean="0">
                <a:solidFill>
                  <a:schemeClr val="tx1"/>
                </a:solidFill>
              </a:rPr>
              <a:t>float </a:t>
            </a:r>
            <a:r>
              <a:rPr lang="en-US" altLang="zh-CN" sz="1800" kern="1200" dirty="0">
                <a:solidFill>
                  <a:schemeClr val="tx1"/>
                </a:solidFill>
              </a:rPr>
              <a:t>b=3.14;</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char c='A';</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int *pa=&amp;a;	</a:t>
            </a:r>
            <a:r>
              <a:rPr lang="en-US" altLang="zh-CN" sz="1800" kern="1200" dirty="0" smtClean="0">
                <a:solidFill>
                  <a:schemeClr val="tx1"/>
                </a:solidFill>
              </a:rPr>
              <a:t>     //</a:t>
            </a:r>
            <a:r>
              <a:rPr lang="en-US" altLang="zh-CN" sz="1800" kern="1200" dirty="0">
                <a:solidFill>
                  <a:schemeClr val="tx1"/>
                </a:solidFill>
              </a:rPr>
              <a:t>定义指针变量pa并对其初始化，使其指向变量a</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a:t>
            </a:r>
            <a:r>
              <a:rPr lang="en-US" altLang="zh-CN" sz="1800" kern="1200" dirty="0" smtClean="0">
                <a:solidFill>
                  <a:schemeClr val="tx1"/>
                </a:solidFill>
              </a:rPr>
              <a:t>float </a:t>
            </a:r>
            <a:r>
              <a:rPr lang="en-US" altLang="zh-CN" sz="1800" kern="1200" dirty="0">
                <a:solidFill>
                  <a:schemeClr val="tx1"/>
                </a:solidFill>
              </a:rPr>
              <a:t>*pb=&amp;b</a:t>
            </a:r>
            <a:r>
              <a:rPr lang="en-US" altLang="zh-CN" sz="1800" kern="1200" dirty="0" smtClean="0">
                <a:solidFill>
                  <a:schemeClr val="tx1"/>
                </a:solidFill>
              </a:rPr>
              <a:t>;   //</a:t>
            </a:r>
            <a:r>
              <a:rPr lang="en-US" altLang="zh-CN" sz="1800" kern="1200" dirty="0">
                <a:solidFill>
                  <a:schemeClr val="tx1"/>
                </a:solidFill>
              </a:rPr>
              <a:t>定义指针变量pb并对其初始化，使其指向变量b</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char *pc=&amp;c;	</a:t>
            </a:r>
            <a:r>
              <a:rPr lang="en-US" altLang="zh-CN" sz="1800" kern="1200" dirty="0" smtClean="0">
                <a:solidFill>
                  <a:schemeClr val="tx1"/>
                </a:solidFill>
              </a:rPr>
              <a:t>    //</a:t>
            </a:r>
            <a:r>
              <a:rPr lang="en-US" altLang="zh-CN" sz="1800" kern="1200" dirty="0">
                <a:solidFill>
                  <a:schemeClr val="tx1"/>
                </a:solidFill>
              </a:rPr>
              <a:t>定义指针变量pc并对其初始化，使其指向变量c</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printf("a is %d,*pa is %d\n",a,*pa);	</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printf("b is %f,*pb is %f\n",b,*pb);</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printf("c is %c,*pc is %c\n",c,*pc);</a:t>
            </a:r>
          </a:p>
          <a:p>
            <a:pPr marL="342900" indent="-342900" algn="l" eaLnBrk="1" hangingPunct="1">
              <a:buClr>
                <a:schemeClr val="bg2"/>
              </a:buClr>
              <a:buFont typeface="Wingdings" panose="05000000000000000000" pitchFamily="2" charset="2"/>
              <a:buNone/>
            </a:pPr>
            <a:r>
              <a:rPr lang="en-US" altLang="zh-CN" sz="1800" kern="1200" dirty="0">
                <a:solidFill>
                  <a:schemeClr val="tx1"/>
                </a:solidFill>
              </a:rPr>
              <a:t>    return 0</a:t>
            </a:r>
            <a:r>
              <a:rPr lang="en-US" altLang="zh-CN" sz="1800" kern="1200" dirty="0" smtClean="0">
                <a:solidFill>
                  <a:schemeClr val="tx1"/>
                </a:solidFill>
              </a:rPr>
              <a:t>;</a:t>
            </a:r>
          </a:p>
          <a:p>
            <a:pPr marL="342900" indent="-342900" algn="l" eaLnBrk="1" hangingPunct="1">
              <a:buClr>
                <a:schemeClr val="bg2"/>
              </a:buClr>
              <a:buFont typeface="Wingdings" panose="05000000000000000000" pitchFamily="2" charset="2"/>
              <a:buNone/>
            </a:pPr>
            <a:r>
              <a:rPr lang="en-US" altLang="zh-CN" sz="1800" kern="1200" dirty="0" smtClean="0">
                <a:solidFill>
                  <a:schemeClr val="tx1"/>
                </a:solidFill>
              </a:rPr>
              <a:t>}</a:t>
            </a:r>
            <a:endParaRPr lang="en-US" altLang="zh-CN" sz="1800" kern="1200" dirty="0">
              <a:solidFill>
                <a:schemeClr val="tx1"/>
              </a:solidFill>
            </a:endParaRPr>
          </a:p>
        </p:txBody>
      </p:sp>
      <p:pic>
        <p:nvPicPr>
          <p:cNvPr id="2050" name="Picture 2" descr="C:\Users\home\AppData\Local\Temp\ksohtml\wps6924.tmp.jpg"/>
          <p:cNvPicPr>
            <a:picLocks noChangeAspect="1" noChangeArrowheads="1"/>
          </p:cNvPicPr>
          <p:nvPr/>
        </p:nvPicPr>
        <p:blipFill rotWithShape="1">
          <a:blip r:embed="rId3">
            <a:extLst>
              <a:ext uri="{28A0092B-C50C-407E-A947-70E740481C1C}">
                <a14:useLocalDpi xmlns:a14="http://schemas.microsoft.com/office/drawing/2010/main" val="0"/>
              </a:ext>
            </a:extLst>
          </a:blip>
          <a:srcRect r="54982"/>
          <a:stretch/>
        </p:blipFill>
        <p:spPr bwMode="auto">
          <a:xfrm>
            <a:off x="4932040" y="1700808"/>
            <a:ext cx="4015893" cy="13681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p:nvPr/>
        </p:nvSpPr>
        <p:spPr>
          <a:xfrm>
            <a:off x="683568" y="1665050"/>
            <a:ext cx="8280920" cy="5076318"/>
          </a:xfrm>
          <a:prstGeom prst="rect">
            <a:avLst/>
          </a:prstGeom>
          <a:noFill/>
          <a:ln w="9525">
            <a:noFill/>
          </a:ln>
        </p:spPr>
        <p:txBody>
          <a:bodyPr lIns="69056" tIns="34528" rIns="69056" bIns="3452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eaLnBrk="1" hangingPunct="1">
              <a:lnSpc>
                <a:spcPct val="120000"/>
              </a:lnSpc>
              <a:buNone/>
            </a:pPr>
            <a:r>
              <a:rPr lang="en-US" altLang="zh-CN" sz="2400" dirty="0"/>
              <a:t>1) </a:t>
            </a:r>
            <a:r>
              <a:rPr lang="zh-CN" altLang="en-US" sz="2400" dirty="0"/>
              <a:t>指针变量在定义后必须先赋值再引用，否则程序</a:t>
            </a:r>
            <a:r>
              <a:rPr lang="zh-CN" altLang="en-US" sz="2400" dirty="0" smtClean="0"/>
              <a:t>崩溃</a:t>
            </a:r>
            <a:endParaRPr lang="zh-CN" altLang="en-US" sz="2400" dirty="0"/>
          </a:p>
          <a:p>
            <a:pPr marL="342900" lvl="0" indent="-342900" eaLnBrk="1" hangingPunct="1">
              <a:spcBef>
                <a:spcPts val="0"/>
              </a:spcBef>
              <a:buNone/>
            </a:pPr>
            <a:r>
              <a:rPr lang="en-US" altLang="zh-CN" sz="2400" dirty="0"/>
              <a:t>	 </a:t>
            </a:r>
            <a:r>
              <a:rPr lang="en-US" altLang="zh-CN" sz="2400" dirty="0">
                <a:solidFill>
                  <a:schemeClr val="accent4">
                    <a:lumMod val="75000"/>
                    <a:lumOff val="25000"/>
                  </a:schemeClr>
                </a:solidFill>
              </a:rPr>
              <a:t>int *pa;     //定义指针变量pa但没有对其赋值</a:t>
            </a:r>
          </a:p>
          <a:p>
            <a:pPr marL="342900" lvl="0" indent="-342900" eaLnBrk="1" hangingPunct="1">
              <a:spcBef>
                <a:spcPts val="0"/>
              </a:spcBef>
              <a:buNone/>
            </a:pPr>
            <a:r>
              <a:rPr lang="en-US" altLang="zh-CN" sz="2400" dirty="0">
                <a:solidFill>
                  <a:schemeClr val="accent4">
                    <a:lumMod val="75000"/>
                    <a:lumOff val="25000"/>
                  </a:schemeClr>
                </a:solidFill>
              </a:rPr>
              <a:t>	 *pa=5;      //直接用未赋值的指针做写操作会出错</a:t>
            </a:r>
          </a:p>
          <a:p>
            <a:pPr marL="342900" lvl="0" indent="-342900" algn="just" eaLnBrk="1" hangingPunct="1">
              <a:lnSpc>
                <a:spcPct val="110000"/>
              </a:lnSpc>
              <a:spcBef>
                <a:spcPct val="0"/>
              </a:spcBef>
              <a:buNone/>
            </a:pPr>
            <a:r>
              <a:rPr lang="en-US" altLang="zh-CN" sz="2400" dirty="0"/>
              <a:t>2) </a:t>
            </a:r>
            <a:r>
              <a:rPr lang="zh-CN" altLang="en-US" sz="2400" dirty="0"/>
              <a:t>在定义指针变量时，可以同时对它赋初值，但不能用数值作为指针变量的</a:t>
            </a:r>
            <a:r>
              <a:rPr lang="zh-CN" altLang="en-US" sz="2400" dirty="0" smtClean="0"/>
              <a:t>初值</a:t>
            </a:r>
            <a:endParaRPr lang="zh-CN" altLang="en-US" sz="2400" dirty="0"/>
          </a:p>
          <a:p>
            <a:pPr eaLnBrk="1" hangingPunct="1">
              <a:lnSpc>
                <a:spcPct val="120000"/>
              </a:lnSpc>
              <a:spcBef>
                <a:spcPts val="0"/>
              </a:spcBef>
              <a:buNone/>
            </a:pPr>
            <a:r>
              <a:rPr lang="en-US" altLang="zh-CN" sz="2400" dirty="0"/>
              <a:t>	 </a:t>
            </a:r>
            <a:r>
              <a:rPr lang="en-US" altLang="zh-CN" sz="2400" dirty="0">
                <a:solidFill>
                  <a:schemeClr val="accent4">
                    <a:lumMod val="75000"/>
                    <a:lumOff val="25000"/>
                  </a:schemeClr>
                </a:solidFill>
              </a:rPr>
              <a:t>int *p=1000;</a:t>
            </a:r>
          </a:p>
          <a:p>
            <a:pPr eaLnBrk="1" hangingPunct="1">
              <a:lnSpc>
                <a:spcPct val="120000"/>
              </a:lnSpc>
              <a:spcBef>
                <a:spcPts val="0"/>
              </a:spcBef>
              <a:buNone/>
            </a:pPr>
            <a:r>
              <a:rPr lang="en-US" altLang="zh-CN" sz="2400" dirty="0">
                <a:solidFill>
                  <a:schemeClr val="accent4">
                    <a:lumMod val="75000"/>
                    <a:lumOff val="25000"/>
                  </a:schemeClr>
                </a:solidFill>
              </a:rPr>
              <a:t>      p = (int*)1000; </a:t>
            </a:r>
          </a:p>
        </p:txBody>
      </p:sp>
      <p:sp>
        <p:nvSpPr>
          <p:cNvPr id="25603" name="Rectangle 5"/>
          <p:cNvSpPr>
            <a:spLocks noGrp="1"/>
          </p:cNvSpPr>
          <p:nvPr>
            <p:ph type="title"/>
          </p:nvPr>
        </p:nvSpPr>
        <p:spPr>
          <a:xfrm>
            <a:off x="755576" y="980728"/>
            <a:ext cx="4899025" cy="594360"/>
          </a:xfrm>
        </p:spPr>
        <p:txBody>
          <a:bodyPr vert="horz" wrap="square" lIns="68580" tIns="34290" rIns="68580" bIns="34290" anchor="ctr"/>
          <a:lstStyle/>
          <a:p>
            <a:pPr eaLnBrk="1" hangingPunct="1"/>
            <a:r>
              <a:rPr lang="zh-CN" altLang="en-US" sz="3200" dirty="0"/>
              <a:t>指针变量使用</a:t>
            </a:r>
            <a:r>
              <a:rPr lang="zh-CN" altLang="en-US" sz="3200" dirty="0" smtClean="0">
                <a:solidFill>
                  <a:srgbClr val="FF0000"/>
                </a:solidFill>
              </a:rPr>
              <a:t>常见错误</a:t>
            </a:r>
            <a:endParaRPr lang="zh-CN" altLang="en-US" sz="32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a:t>
            </a:r>
            <a:r>
              <a:rPr lang="zh-CN" altLang="en-US" dirty="0" smtClean="0"/>
              <a:t>变量正确使用</a:t>
            </a:r>
            <a:endParaRPr lang="zh-CN" altLang="en-US" dirty="0"/>
          </a:p>
        </p:txBody>
      </p:sp>
      <p:sp>
        <p:nvSpPr>
          <p:cNvPr id="3" name="内容占位符 2"/>
          <p:cNvSpPr>
            <a:spLocks noGrp="1"/>
          </p:cNvSpPr>
          <p:nvPr>
            <p:ph idx="1"/>
          </p:nvPr>
        </p:nvSpPr>
        <p:spPr>
          <a:xfrm>
            <a:off x="755650" y="1700213"/>
            <a:ext cx="7993063" cy="4465091"/>
          </a:xfrm>
        </p:spPr>
        <p:txBody>
          <a:bodyPr/>
          <a:lstStyle/>
          <a:p>
            <a:pPr marL="0" indent="0">
              <a:buNone/>
            </a:pPr>
            <a:r>
              <a:rPr lang="en-US" altLang="zh-CN" sz="2000" dirty="0" smtClean="0"/>
              <a:t>#include &lt;</a:t>
            </a:r>
            <a:r>
              <a:rPr lang="en-US" altLang="zh-CN" sz="2000" dirty="0"/>
              <a:t>stdio.h&gt;</a:t>
            </a:r>
          </a:p>
          <a:p>
            <a:pPr marL="0" indent="0">
              <a:buNone/>
            </a:pPr>
            <a:r>
              <a:rPr lang="en-US" altLang="zh-CN" sz="2000" dirty="0"/>
              <a:t>int main()</a:t>
            </a:r>
          </a:p>
          <a:p>
            <a:pPr marL="0" indent="0">
              <a:buNone/>
            </a:pPr>
            <a:r>
              <a:rPr lang="en-US" altLang="zh-CN" sz="2000" dirty="0"/>
              <a:t>{</a:t>
            </a:r>
          </a:p>
          <a:p>
            <a:pPr marL="0" indent="0">
              <a:buNone/>
            </a:pPr>
            <a:r>
              <a:rPr lang="en-US" altLang="zh-CN" sz="2000" dirty="0"/>
              <a:t>    int a=0;</a:t>
            </a:r>
          </a:p>
          <a:p>
            <a:pPr marL="0" indent="0">
              <a:buNone/>
            </a:pPr>
            <a:r>
              <a:rPr lang="en-US" altLang="zh-CN" sz="2000" dirty="0"/>
              <a:t>    int *</a:t>
            </a:r>
            <a:r>
              <a:rPr lang="en-US" altLang="zh-CN" sz="2000" dirty="0" smtClean="0"/>
              <a:t>pa;</a:t>
            </a:r>
            <a:r>
              <a:rPr lang="en-US" altLang="zh-CN" sz="2000" dirty="0"/>
              <a:t>		</a:t>
            </a:r>
            <a:endParaRPr lang="en-US" altLang="zh-CN" sz="2000" dirty="0" smtClean="0"/>
          </a:p>
          <a:p>
            <a:pPr marL="0" indent="0">
              <a:buNone/>
            </a:pPr>
            <a:r>
              <a:rPr lang="en-US" altLang="zh-CN" sz="2000" dirty="0" smtClean="0"/>
              <a:t>    pa=&amp;a;</a:t>
            </a:r>
            <a:endParaRPr lang="en-US" altLang="zh-CN" sz="2000" dirty="0"/>
          </a:p>
          <a:p>
            <a:pPr marL="0" indent="0">
              <a:buNone/>
            </a:pPr>
            <a:r>
              <a:rPr lang="zh-CN" altLang="en-US" sz="2000" dirty="0" smtClean="0"/>
              <a:t>    </a:t>
            </a:r>
            <a:r>
              <a:rPr lang="en-US" altLang="zh-CN" sz="2000" dirty="0"/>
              <a:t>printf("a is %d,&amp;a is %</a:t>
            </a:r>
            <a:r>
              <a:rPr lang="en-US" altLang="zh-CN" sz="2000" dirty="0" err="1"/>
              <a:t>x,pa</a:t>
            </a:r>
            <a:r>
              <a:rPr lang="en-US" altLang="zh-CN" sz="2000" dirty="0"/>
              <a:t> </a:t>
            </a:r>
            <a:r>
              <a:rPr lang="en-US" altLang="zh-CN" sz="2000" dirty="0" smtClean="0"/>
              <a:t>is %</a:t>
            </a:r>
            <a:r>
              <a:rPr lang="en-US" altLang="zh-CN" sz="2000" dirty="0"/>
              <a:t>x\n",a,&amp;a,pa);</a:t>
            </a:r>
          </a:p>
          <a:p>
            <a:pPr marL="0" indent="0">
              <a:buNone/>
            </a:pPr>
            <a:r>
              <a:rPr lang="en-US" altLang="zh-CN" sz="2000" dirty="0"/>
              <a:t> </a:t>
            </a:r>
            <a:r>
              <a:rPr lang="en-US" altLang="zh-CN" sz="2000" dirty="0" smtClean="0"/>
              <a:t>   *</a:t>
            </a:r>
            <a:r>
              <a:rPr lang="en-US" altLang="zh-CN" sz="2000" dirty="0"/>
              <a:t>pa=5;		</a:t>
            </a:r>
            <a:endParaRPr lang="en-US" altLang="zh-CN" sz="2000" dirty="0" smtClean="0"/>
          </a:p>
          <a:p>
            <a:pPr marL="0" indent="0">
              <a:buNone/>
            </a:pPr>
            <a:r>
              <a:rPr lang="zh-CN" altLang="en-US" sz="2000" dirty="0" smtClean="0"/>
              <a:t>    </a:t>
            </a:r>
            <a:r>
              <a:rPr lang="en-US" altLang="zh-CN" sz="2000" dirty="0"/>
              <a:t>return 0;</a:t>
            </a:r>
          </a:p>
          <a:p>
            <a:pPr marL="0" indent="0">
              <a:buNone/>
            </a:pPr>
            <a:r>
              <a:rPr lang="en-US" altLang="zh-CN" sz="2000" dirty="0"/>
              <a:t>}</a:t>
            </a:r>
            <a:endParaRPr lang="zh-CN" altLang="en-US" sz="20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17</a:t>
            </a:fld>
            <a:endParaRPr lang="en-US" altLang="zh-CN" dirty="0"/>
          </a:p>
        </p:txBody>
      </p:sp>
    </p:spTree>
    <p:extLst>
      <p:ext uri="{BB962C8B-B14F-4D97-AF65-F5344CB8AC3E}">
        <p14:creationId xmlns:p14="http://schemas.microsoft.com/office/powerpoint/2010/main" val="2202799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AutoShape 2"/>
          <p:cNvSpPr>
            <a:spLocks noGrp="1" noChangeArrowheads="1"/>
          </p:cNvSpPr>
          <p:nvPr>
            <p:ph type="title"/>
          </p:nvPr>
        </p:nvSpPr>
        <p:spPr>
          <a:xfrm>
            <a:off x="755650" y="765175"/>
            <a:ext cx="7924800" cy="784225"/>
          </a:xfrm>
        </p:spPr>
        <p:txBody>
          <a:bodyPr/>
          <a:lstStyle/>
          <a:p>
            <a:r>
              <a:rPr lang="zh-CN" altLang="en-US" dirty="0" smtClean="0"/>
              <a:t>指针变量的其他运算</a:t>
            </a:r>
            <a:r>
              <a:rPr lang="en-US" altLang="zh-CN" dirty="0" smtClean="0"/>
              <a:t>—</a:t>
            </a:r>
            <a:r>
              <a:rPr lang="zh-CN" altLang="en-US" dirty="0" smtClean="0"/>
              <a:t>指针及运算符</a:t>
            </a:r>
            <a:endParaRPr lang="zh-CN" altLang="en-US" dirty="0"/>
          </a:p>
        </p:txBody>
      </p:sp>
      <p:sp>
        <p:nvSpPr>
          <p:cNvPr id="106499" name="Rectangle 3"/>
          <p:cNvSpPr>
            <a:spLocks noGrp="1" noChangeArrowheads="1"/>
          </p:cNvSpPr>
          <p:nvPr>
            <p:ph type="body" sz="half" idx="1"/>
          </p:nvPr>
        </p:nvSpPr>
        <p:spPr>
          <a:xfrm>
            <a:off x="773906" y="1556792"/>
            <a:ext cx="8262590" cy="5301208"/>
          </a:xfrm>
        </p:spPr>
        <p:txBody>
          <a:bodyPr>
            <a:noAutofit/>
          </a:bodyPr>
          <a:lstStyle/>
          <a:p>
            <a:r>
              <a:rPr lang="zh-CN" altLang="en-US" sz="3200" dirty="0" smtClean="0"/>
              <a:t>取</a:t>
            </a:r>
            <a:r>
              <a:rPr lang="zh-CN" altLang="en-US" sz="3200" dirty="0"/>
              <a:t>址运算符</a:t>
            </a:r>
            <a:r>
              <a:rPr lang="en-US" altLang="zh-CN" sz="3200" dirty="0"/>
              <a:t>(&amp;)</a:t>
            </a:r>
            <a:r>
              <a:rPr lang="zh-CN" altLang="en-US" sz="3200" dirty="0"/>
              <a:t>：对一般变量取其</a:t>
            </a:r>
            <a:r>
              <a:rPr lang="zh-CN" altLang="en-US" sz="3200" dirty="0" smtClean="0"/>
              <a:t>地址</a:t>
            </a:r>
            <a:endParaRPr lang="zh-CN" altLang="zh-CN" sz="3200" dirty="0">
              <a:sym typeface="+mn-ea"/>
            </a:endParaRPr>
          </a:p>
          <a:p>
            <a:pPr lvl="1" eaLnBrk="1" hangingPunct="1">
              <a:spcBef>
                <a:spcPct val="10000"/>
              </a:spcBef>
              <a:buNone/>
            </a:pPr>
            <a:r>
              <a:rPr lang="en-US" altLang="zh-CN" sz="2800" dirty="0">
                <a:sym typeface="+mn-ea"/>
              </a:rPr>
              <a:t>int  a = </a:t>
            </a:r>
            <a:r>
              <a:rPr lang="en-US" altLang="zh-CN" sz="2800" dirty="0" smtClean="0">
                <a:sym typeface="+mn-ea"/>
              </a:rPr>
              <a:t>3; </a:t>
            </a:r>
            <a:endParaRPr lang="en-US" altLang="zh-CN" sz="2800" dirty="0">
              <a:sym typeface="+mn-ea"/>
            </a:endParaRPr>
          </a:p>
          <a:p>
            <a:pPr lvl="1" eaLnBrk="1" hangingPunct="1">
              <a:spcBef>
                <a:spcPct val="10000"/>
              </a:spcBef>
              <a:buNone/>
            </a:pPr>
            <a:r>
              <a:rPr lang="en-US" altLang="zh-CN" sz="2800" dirty="0">
                <a:sym typeface="+mn-ea"/>
              </a:rPr>
              <a:t>int *p;</a:t>
            </a:r>
          </a:p>
          <a:p>
            <a:pPr lvl="1" eaLnBrk="1" hangingPunct="1">
              <a:spcBef>
                <a:spcPct val="10000"/>
              </a:spcBef>
              <a:buNone/>
            </a:pPr>
            <a:r>
              <a:rPr lang="en-US" altLang="zh-CN" sz="2800" dirty="0" smtClean="0">
                <a:solidFill>
                  <a:schemeClr val="tx1"/>
                </a:solidFill>
                <a:sym typeface="+mn-ea"/>
              </a:rPr>
              <a:t>p </a:t>
            </a:r>
            <a:r>
              <a:rPr lang="en-US" altLang="zh-CN" sz="2800" dirty="0">
                <a:solidFill>
                  <a:schemeClr val="tx1"/>
                </a:solidFill>
                <a:sym typeface="+mn-ea"/>
              </a:rPr>
              <a:t>= &amp;a;</a:t>
            </a:r>
            <a:r>
              <a:rPr lang="en-US" altLang="zh-CN" sz="2800" dirty="0">
                <a:sym typeface="+mn-ea"/>
              </a:rPr>
              <a:t>    </a:t>
            </a:r>
            <a:r>
              <a:rPr lang="en-US" altLang="zh-CN" sz="2800" dirty="0" smtClean="0">
                <a:sym typeface="+mn-ea"/>
              </a:rPr>
              <a:t>//</a:t>
            </a:r>
            <a:r>
              <a:rPr lang="en-US" altLang="en-US" sz="2800" dirty="0" smtClean="0">
                <a:sym typeface="+mn-ea"/>
              </a:rPr>
              <a:t>把 </a:t>
            </a:r>
            <a:r>
              <a:rPr lang="en-US" altLang="zh-CN" sz="2800" dirty="0">
                <a:sym typeface="+mn-ea"/>
              </a:rPr>
              <a:t>a </a:t>
            </a:r>
            <a:r>
              <a:rPr lang="en-US" altLang="en-US" sz="2800" dirty="0">
                <a:sym typeface="+mn-ea"/>
              </a:rPr>
              <a:t>的地址赋给 </a:t>
            </a:r>
            <a:r>
              <a:rPr lang="en-US" altLang="zh-CN" sz="2800" dirty="0">
                <a:sym typeface="+mn-ea"/>
              </a:rPr>
              <a:t>p，</a:t>
            </a:r>
            <a:r>
              <a:rPr lang="zh-CN" altLang="en-US" sz="2800" dirty="0">
                <a:sym typeface="+mn-ea"/>
              </a:rPr>
              <a:t>即 </a:t>
            </a:r>
            <a:r>
              <a:rPr lang="en-US" altLang="zh-CN" sz="2800" dirty="0">
                <a:sym typeface="+mn-ea"/>
              </a:rPr>
              <a:t>p </a:t>
            </a:r>
            <a:r>
              <a:rPr lang="zh-CN" altLang="en-US" sz="2800" dirty="0">
                <a:sym typeface="+mn-ea"/>
              </a:rPr>
              <a:t>指向 </a:t>
            </a:r>
            <a:r>
              <a:rPr lang="en-US" altLang="zh-CN" sz="2800" dirty="0" smtClean="0">
                <a:sym typeface="+mn-ea"/>
              </a:rPr>
              <a:t>a</a:t>
            </a:r>
            <a:endParaRPr lang="zh-CN" altLang="en-US" sz="2000" dirty="0" smtClean="0"/>
          </a:p>
          <a:p>
            <a:r>
              <a:rPr lang="zh-CN" altLang="en-US" sz="3200" dirty="0" smtClean="0"/>
              <a:t>取值</a:t>
            </a:r>
            <a:r>
              <a:rPr lang="zh-CN" altLang="en-US" sz="3200" dirty="0"/>
              <a:t>运算符</a:t>
            </a:r>
            <a:r>
              <a:rPr lang="en-US" altLang="zh-CN" sz="3200" dirty="0"/>
              <a:t>(*)</a:t>
            </a:r>
            <a:r>
              <a:rPr lang="zh-CN" altLang="en-US" sz="3200" dirty="0"/>
              <a:t>：访问指针所指向的变量</a:t>
            </a:r>
          </a:p>
          <a:p>
            <a:pPr marL="0" indent="0" algn="l">
              <a:buNone/>
            </a:pPr>
            <a:r>
              <a:rPr lang="zh-CN" altLang="en-US" dirty="0">
                <a:solidFill>
                  <a:schemeClr val="tx1"/>
                </a:solidFill>
                <a:sym typeface="+mn-ea"/>
              </a:rPr>
              <a:t>   *</a:t>
            </a:r>
            <a:r>
              <a:rPr lang="zh-CN" altLang="en-US" dirty="0" smtClean="0">
                <a:solidFill>
                  <a:schemeClr val="tx1"/>
                </a:solidFill>
                <a:sym typeface="+mn-ea"/>
              </a:rPr>
              <a:t>p</a:t>
            </a:r>
            <a:r>
              <a:rPr lang="zh-CN" altLang="en-US" dirty="0" smtClean="0">
                <a:sym typeface="+mn-ea"/>
              </a:rPr>
              <a:t>等价</a:t>
            </a:r>
            <a:r>
              <a:rPr lang="zh-CN" altLang="en-US" dirty="0">
                <a:sym typeface="+mn-ea"/>
              </a:rPr>
              <a:t>于 </a:t>
            </a:r>
            <a:r>
              <a:rPr lang="zh-CN" altLang="en-US" dirty="0" smtClean="0">
                <a:sym typeface="+mn-ea"/>
              </a:rPr>
              <a:t>a</a:t>
            </a:r>
            <a:endParaRPr lang="en-US" altLang="zh-CN" dirty="0" smtClean="0">
              <a:sym typeface="+mn-ea"/>
            </a:endParaRPr>
          </a:p>
          <a:p>
            <a:pPr marL="0" indent="0">
              <a:buNone/>
            </a:pPr>
            <a:r>
              <a:rPr lang="en-US" altLang="zh-CN" dirty="0">
                <a:sym typeface="+mn-ea"/>
              </a:rPr>
              <a:t> </a:t>
            </a:r>
            <a:r>
              <a:rPr lang="en-US" altLang="zh-CN" dirty="0" smtClean="0">
                <a:sym typeface="+mn-ea"/>
              </a:rPr>
              <a:t>  </a:t>
            </a:r>
            <a:r>
              <a:rPr lang="zh-CN" altLang="en-US" dirty="0" smtClean="0">
                <a:solidFill>
                  <a:srgbClr val="002060"/>
                </a:solidFill>
                <a:sym typeface="+mn-ea"/>
              </a:rPr>
              <a:t>*</a:t>
            </a:r>
            <a:r>
              <a:rPr lang="en-US" altLang="zh-CN" dirty="0" smtClean="0">
                <a:solidFill>
                  <a:srgbClr val="002060"/>
                </a:solidFill>
                <a:sym typeface="+mn-ea"/>
              </a:rPr>
              <a:t>p=1;</a:t>
            </a:r>
            <a:r>
              <a:rPr lang="en-US" altLang="zh-CN" dirty="0" smtClean="0">
                <a:sym typeface="+mn-ea"/>
              </a:rPr>
              <a:t>//</a:t>
            </a:r>
            <a:r>
              <a:rPr lang="zh-CN" altLang="en-US" dirty="0">
                <a:sym typeface="+mn-ea"/>
              </a:rPr>
              <a:t>修改指针变量</a:t>
            </a:r>
            <a:r>
              <a:rPr lang="en-US" altLang="zh-CN" dirty="0" smtClean="0">
                <a:sym typeface="+mn-ea"/>
              </a:rPr>
              <a:t>p</a:t>
            </a:r>
            <a:r>
              <a:rPr lang="zh-CN" altLang="en-US" dirty="0" smtClean="0">
                <a:sym typeface="+mn-ea"/>
              </a:rPr>
              <a:t>所</a:t>
            </a:r>
            <a:r>
              <a:rPr lang="zh-CN" altLang="en-US" dirty="0">
                <a:sym typeface="+mn-ea"/>
              </a:rPr>
              <a:t>指向的变量</a:t>
            </a:r>
            <a:r>
              <a:rPr lang="en-US" altLang="zh-CN" dirty="0">
                <a:sym typeface="+mn-ea"/>
              </a:rPr>
              <a:t>a</a:t>
            </a:r>
            <a:r>
              <a:rPr lang="zh-CN" altLang="en-US" dirty="0">
                <a:sym typeface="+mn-ea"/>
              </a:rPr>
              <a:t>的值，修改后</a:t>
            </a:r>
            <a:r>
              <a:rPr lang="en-US" altLang="zh-CN" dirty="0">
                <a:sym typeface="+mn-ea"/>
              </a:rPr>
              <a:t>a</a:t>
            </a:r>
            <a:r>
              <a:rPr lang="zh-CN" altLang="en-US" dirty="0">
                <a:sym typeface="+mn-ea"/>
              </a:rPr>
              <a:t>变量值为</a:t>
            </a:r>
            <a:r>
              <a:rPr lang="en-US" altLang="zh-CN" dirty="0">
                <a:sym typeface="+mn-ea"/>
              </a:rPr>
              <a:t>1</a:t>
            </a:r>
            <a:endParaRPr lang="zh-CN" altLang="en-US" dirty="0">
              <a:sym typeface="+mn-ea"/>
            </a:endParaRPr>
          </a:p>
        </p:txBody>
      </p:sp>
      <p:grpSp>
        <p:nvGrpSpPr>
          <p:cNvPr id="241682" name="Group 18"/>
          <p:cNvGrpSpPr/>
          <p:nvPr/>
        </p:nvGrpSpPr>
        <p:grpSpPr>
          <a:xfrm>
            <a:off x="5801820" y="2360263"/>
            <a:ext cx="2400300" cy="810816"/>
            <a:chOff x="1056" y="2535"/>
            <a:chExt cx="2016" cy="681"/>
          </a:xfrm>
        </p:grpSpPr>
        <p:sp>
          <p:nvSpPr>
            <p:cNvPr id="21512" name="Rectangle 19"/>
            <p:cNvSpPr/>
            <p:nvPr/>
          </p:nvSpPr>
          <p:spPr>
            <a:xfrm>
              <a:off x="2544" y="2583"/>
              <a:ext cx="278"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宋体" panose="02010600030101010101" pitchFamily="2" charset="-122"/>
                </a:rPr>
                <a:t>a</a:t>
              </a:r>
            </a:p>
          </p:txBody>
        </p:sp>
        <p:sp>
          <p:nvSpPr>
            <p:cNvPr id="21513" name="Rectangle 20"/>
            <p:cNvSpPr/>
            <p:nvPr/>
          </p:nvSpPr>
          <p:spPr>
            <a:xfrm>
              <a:off x="2304" y="2928"/>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100" b="1" dirty="0" smtClean="0">
                  <a:latin typeface="Arial" panose="020B0604020202020204" pitchFamily="34" charset="0"/>
                  <a:ea typeface="宋体" panose="02010600030101010101" pitchFamily="2" charset="-122"/>
                </a:rPr>
                <a:t>3</a:t>
              </a:r>
              <a:endParaRPr lang="en-US" altLang="zh-CN" sz="2400" b="1" dirty="0">
                <a:latin typeface="Arial" panose="020B0604020202020204" pitchFamily="34" charset="0"/>
                <a:ea typeface="宋体" panose="02010600030101010101" pitchFamily="2" charset="-122"/>
              </a:endParaRPr>
            </a:p>
          </p:txBody>
        </p:sp>
        <p:sp>
          <p:nvSpPr>
            <p:cNvPr id="21514" name="Rectangle 21"/>
            <p:cNvSpPr/>
            <p:nvPr/>
          </p:nvSpPr>
          <p:spPr>
            <a:xfrm>
              <a:off x="1056" y="2928"/>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zh-CN" altLang="en-US" sz="2100" b="1" dirty="0">
                  <a:solidFill>
                    <a:srgbClr val="0070C0"/>
                  </a:solidFill>
                  <a:latin typeface="Arial" panose="020B0604020202020204" pitchFamily="34" charset="0"/>
                  <a:ea typeface="宋体" panose="02010600030101010101" pitchFamily="2" charset="-122"/>
                </a:rPr>
                <a:t>&amp;</a:t>
              </a:r>
              <a:r>
                <a:rPr lang="en-US" altLang="zh-CN" sz="2100" b="1" dirty="0">
                  <a:solidFill>
                    <a:srgbClr val="0070C0"/>
                  </a:solidFill>
                  <a:latin typeface="Arial" panose="020B0604020202020204" pitchFamily="34" charset="0"/>
                  <a:ea typeface="宋体" panose="02010600030101010101" pitchFamily="2" charset="-122"/>
                </a:rPr>
                <a:t>a</a:t>
              </a:r>
            </a:p>
          </p:txBody>
        </p:sp>
        <p:sp>
          <p:nvSpPr>
            <p:cNvPr id="21515" name="Rectangle 22"/>
            <p:cNvSpPr/>
            <p:nvPr/>
          </p:nvSpPr>
          <p:spPr>
            <a:xfrm>
              <a:off x="1344" y="2535"/>
              <a:ext cx="291"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宋体" panose="02010600030101010101" pitchFamily="2" charset="-122"/>
                </a:rPr>
                <a:t>p</a:t>
              </a:r>
            </a:p>
          </p:txBody>
        </p:sp>
        <p:sp>
          <p:nvSpPr>
            <p:cNvPr id="21516" name="Line 23"/>
            <p:cNvSpPr/>
            <p:nvPr/>
          </p:nvSpPr>
          <p:spPr>
            <a:xfrm>
              <a:off x="1824" y="3072"/>
              <a:ext cx="480" cy="0"/>
            </a:xfrm>
            <a:prstGeom prst="line">
              <a:avLst/>
            </a:prstGeom>
            <a:ln w="38100" cap="flat" cmpd="sng">
              <a:solidFill>
                <a:schemeClr val="tx1"/>
              </a:solidFill>
              <a:prstDash val="solid"/>
              <a:headEnd type="none" w="med" len="med"/>
              <a:tailEnd type="triangle" w="med" len="med"/>
            </a:ln>
          </p:spPr>
        </p:sp>
      </p:grpSp>
    </p:spTree>
    <p:extLst>
      <p:ext uri="{BB962C8B-B14F-4D97-AF65-F5344CB8AC3E}">
        <p14:creationId xmlns:p14="http://schemas.microsoft.com/office/powerpoint/2010/main" val="4128661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3"/>
          <p:cNvSpPr>
            <a:spLocks noGrp="1"/>
          </p:cNvSpPr>
          <p:nvPr>
            <p:ph type="title"/>
          </p:nvPr>
        </p:nvSpPr>
        <p:spPr>
          <a:xfrm>
            <a:off x="797560" y="1096249"/>
            <a:ext cx="6294720" cy="514350"/>
          </a:xfrm>
        </p:spPr>
        <p:txBody>
          <a:bodyPr vert="horz" wrap="square" lIns="69056" tIns="34528" rIns="69056" bIns="34528" anchor="b">
            <a:normAutofit fontScale="90000"/>
          </a:bodyPr>
          <a:lstStyle/>
          <a:p>
            <a:pPr algn="l" eaLnBrk="1" hangingPunct="1"/>
            <a:r>
              <a:rPr lang="zh-CN" altLang="en-US" sz="3600" dirty="0" smtClean="0"/>
              <a:t>相同类型的指针变量赋值</a:t>
            </a:r>
            <a:endParaRPr lang="zh-CN" altLang="en-US" sz="3600" dirty="0"/>
          </a:p>
        </p:txBody>
      </p:sp>
      <p:grpSp>
        <p:nvGrpSpPr>
          <p:cNvPr id="24579" name="Group 14"/>
          <p:cNvGrpSpPr/>
          <p:nvPr/>
        </p:nvGrpSpPr>
        <p:grpSpPr>
          <a:xfrm>
            <a:off x="4229100" y="3657600"/>
            <a:ext cx="2400300" cy="801291"/>
            <a:chOff x="1056" y="2543"/>
            <a:chExt cx="2016" cy="673"/>
          </a:xfrm>
        </p:grpSpPr>
        <p:sp>
          <p:nvSpPr>
            <p:cNvPr id="24587" name="Rectangle 15"/>
            <p:cNvSpPr/>
            <p:nvPr/>
          </p:nvSpPr>
          <p:spPr>
            <a:xfrm>
              <a:off x="2544" y="2591"/>
              <a:ext cx="278"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楷体_GB2312" panose="02010609030101010101" pitchFamily="49" charset="-122"/>
                </a:rPr>
                <a:t>a</a:t>
              </a:r>
              <a:endParaRPr lang="en-US" altLang="zh-CN" sz="2100" b="1" dirty="0">
                <a:latin typeface="Arial" panose="020B0604020202020204" pitchFamily="34" charset="0"/>
                <a:ea typeface="宋体" panose="02010600030101010101" pitchFamily="2" charset="-122"/>
              </a:endParaRPr>
            </a:p>
          </p:txBody>
        </p:sp>
        <p:sp>
          <p:nvSpPr>
            <p:cNvPr id="24588" name="Rectangle 16"/>
            <p:cNvSpPr/>
            <p:nvPr/>
          </p:nvSpPr>
          <p:spPr>
            <a:xfrm>
              <a:off x="2304" y="2928"/>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a:latin typeface="Arial" panose="020B0604020202020204" pitchFamily="34" charset="0"/>
                  <a:ea typeface="宋体" panose="02010600030101010101" pitchFamily="2" charset="-122"/>
                </a:rPr>
                <a:t>0</a:t>
              </a:r>
            </a:p>
          </p:txBody>
        </p:sp>
        <p:sp>
          <p:nvSpPr>
            <p:cNvPr id="24589" name="Rectangle 17"/>
            <p:cNvSpPr/>
            <p:nvPr/>
          </p:nvSpPr>
          <p:spPr>
            <a:xfrm>
              <a:off x="1056" y="2928"/>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zh-CN" altLang="en-US" sz="2100" b="1" dirty="0">
                  <a:latin typeface="Arial" panose="020B0604020202020204" pitchFamily="34" charset="0"/>
                  <a:ea typeface="楷体_GB2312" panose="02010609030101010101" pitchFamily="49" charset="-122"/>
                </a:rPr>
                <a:t>&amp;</a:t>
              </a:r>
              <a:r>
                <a:rPr lang="en-US" altLang="zh-CN" sz="2100" b="1" dirty="0">
                  <a:latin typeface="Arial" panose="020B0604020202020204" pitchFamily="34" charset="0"/>
                  <a:ea typeface="楷体_GB2312" panose="02010609030101010101" pitchFamily="49" charset="-122"/>
                </a:rPr>
                <a:t>a</a:t>
              </a:r>
            </a:p>
          </p:txBody>
        </p:sp>
        <p:sp>
          <p:nvSpPr>
            <p:cNvPr id="24590" name="Rectangle 18"/>
            <p:cNvSpPr/>
            <p:nvPr/>
          </p:nvSpPr>
          <p:spPr>
            <a:xfrm>
              <a:off x="1200" y="2543"/>
              <a:ext cx="415"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楷体_GB2312" panose="02010609030101010101" pitchFamily="49" charset="-122"/>
                </a:rPr>
                <a:t>pa</a:t>
              </a:r>
              <a:endParaRPr lang="en-US" altLang="zh-CN" sz="2400" b="1" dirty="0">
                <a:latin typeface="Arial" panose="020B0604020202020204" pitchFamily="34" charset="0"/>
                <a:ea typeface="宋体" panose="02010600030101010101" pitchFamily="2" charset="-122"/>
              </a:endParaRPr>
            </a:p>
          </p:txBody>
        </p:sp>
        <p:sp>
          <p:nvSpPr>
            <p:cNvPr id="24591" name="Line 19"/>
            <p:cNvSpPr/>
            <p:nvPr/>
          </p:nvSpPr>
          <p:spPr>
            <a:xfrm>
              <a:off x="1824" y="3072"/>
              <a:ext cx="480" cy="0"/>
            </a:xfrm>
            <a:prstGeom prst="line">
              <a:avLst/>
            </a:prstGeom>
            <a:ln w="38100" cap="flat" cmpd="sng">
              <a:solidFill>
                <a:schemeClr val="tx1"/>
              </a:solidFill>
              <a:prstDash val="solid"/>
              <a:headEnd type="none" w="med" len="med"/>
              <a:tailEnd type="triangle" w="med" len="med"/>
            </a:ln>
          </p:spPr>
        </p:sp>
      </p:grpSp>
      <p:grpSp>
        <p:nvGrpSpPr>
          <p:cNvPr id="24580" name="Group 21"/>
          <p:cNvGrpSpPr/>
          <p:nvPr/>
        </p:nvGrpSpPr>
        <p:grpSpPr>
          <a:xfrm>
            <a:off x="4243388" y="4458891"/>
            <a:ext cx="1414463" cy="1028700"/>
            <a:chOff x="1068" y="3216"/>
            <a:chExt cx="1188" cy="864"/>
          </a:xfrm>
        </p:grpSpPr>
        <p:sp>
          <p:nvSpPr>
            <p:cNvPr id="24584" name="Rectangle 22"/>
            <p:cNvSpPr/>
            <p:nvPr/>
          </p:nvSpPr>
          <p:spPr>
            <a:xfrm>
              <a:off x="1068" y="3792"/>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zh-CN" altLang="en-US" sz="2100" b="1" dirty="0">
                  <a:latin typeface="Arial" panose="020B0604020202020204" pitchFamily="34" charset="0"/>
                  <a:ea typeface="楷体_GB2312" panose="02010609030101010101" pitchFamily="49" charset="-122"/>
                </a:rPr>
                <a:t>&amp;</a:t>
              </a:r>
              <a:r>
                <a:rPr lang="en-US" altLang="zh-CN" sz="2100" b="1" dirty="0">
                  <a:latin typeface="Arial" panose="020B0604020202020204" pitchFamily="34" charset="0"/>
                  <a:ea typeface="楷体_GB2312" panose="02010609030101010101" pitchFamily="49" charset="-122"/>
                </a:rPr>
                <a:t>a</a:t>
              </a:r>
              <a:endParaRPr lang="en-US" altLang="zh-CN" sz="2400" b="1" dirty="0">
                <a:latin typeface="Arial" panose="020B0604020202020204" pitchFamily="34" charset="0"/>
                <a:ea typeface="宋体" panose="02010600030101010101" pitchFamily="2" charset="-122"/>
              </a:endParaRPr>
            </a:p>
          </p:txBody>
        </p:sp>
        <p:sp>
          <p:nvSpPr>
            <p:cNvPr id="24585" name="Rectangle 23"/>
            <p:cNvSpPr/>
            <p:nvPr/>
          </p:nvSpPr>
          <p:spPr>
            <a:xfrm>
              <a:off x="1221" y="3407"/>
              <a:ext cx="428"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楷体_GB2312" panose="02010609030101010101" pitchFamily="49" charset="-122"/>
                </a:rPr>
                <a:t>pb</a:t>
              </a:r>
              <a:endParaRPr lang="en-US" altLang="zh-CN" sz="2400" b="1" dirty="0">
                <a:latin typeface="Arial" panose="020B0604020202020204" pitchFamily="34" charset="0"/>
                <a:ea typeface="宋体" panose="02010600030101010101" pitchFamily="2" charset="-122"/>
              </a:endParaRPr>
            </a:p>
          </p:txBody>
        </p:sp>
        <p:sp>
          <p:nvSpPr>
            <p:cNvPr id="24586" name="Line 24"/>
            <p:cNvSpPr/>
            <p:nvPr/>
          </p:nvSpPr>
          <p:spPr>
            <a:xfrm flipV="1">
              <a:off x="1836" y="3216"/>
              <a:ext cx="420" cy="576"/>
            </a:xfrm>
            <a:prstGeom prst="line">
              <a:avLst/>
            </a:prstGeom>
            <a:ln w="38100" cap="flat" cmpd="sng">
              <a:solidFill>
                <a:schemeClr val="tx1"/>
              </a:solidFill>
              <a:prstDash val="solid"/>
              <a:headEnd type="none" w="med" len="med"/>
              <a:tailEnd type="triangle" w="med" len="med"/>
            </a:ln>
          </p:spPr>
        </p:sp>
      </p:grpSp>
      <p:sp>
        <p:nvSpPr>
          <p:cNvPr id="248857" name="Text Box 25"/>
          <p:cNvSpPr txBox="1"/>
          <p:nvPr/>
        </p:nvSpPr>
        <p:spPr>
          <a:xfrm>
            <a:off x="6873002" y="3806388"/>
            <a:ext cx="634365" cy="915670"/>
          </a:xfrm>
          <a:prstGeom prst="rect">
            <a:avLst/>
          </a:prstGeom>
          <a:noFill/>
          <a:ln w="12700">
            <a:noFill/>
          </a:ln>
        </p:spPr>
        <p:txBody>
          <a:bodyPr wrap="none" lIns="67500" tIns="35100" rIns="67500" bIns="35100" anchor="ctr">
            <a:spAutoFit/>
          </a:bodyPr>
          <a:lstStyle/>
          <a:p>
            <a:pPr lvl="0" algn="ctr" eaLnBrk="1" hangingPunct="1">
              <a:spcBef>
                <a:spcPct val="50000"/>
              </a:spcBef>
            </a:pPr>
            <a:r>
              <a:rPr lang="zh-CN" altLang="en-US" sz="2100" b="1" dirty="0">
                <a:latin typeface="Arial" panose="020B0604020202020204" pitchFamily="34" charset="0"/>
                <a:ea typeface="楷体_GB2312" panose="02010609030101010101" pitchFamily="49" charset="-122"/>
              </a:rPr>
              <a:t>*</a:t>
            </a:r>
            <a:r>
              <a:rPr lang="en-US" altLang="zh-CN" sz="2100" b="1" dirty="0">
                <a:latin typeface="Arial" panose="020B0604020202020204" pitchFamily="34" charset="0"/>
                <a:ea typeface="楷体_GB2312" panose="02010609030101010101" pitchFamily="49" charset="-122"/>
              </a:rPr>
              <a:t>pa</a:t>
            </a:r>
            <a:r>
              <a:rPr lang="en-US" altLang="zh-CN" sz="2400" b="1" dirty="0">
                <a:latin typeface="Arial" panose="020B0604020202020204" pitchFamily="34" charset="0"/>
                <a:ea typeface="宋体" panose="02010600030101010101" pitchFamily="2" charset="-122"/>
              </a:rPr>
              <a:t> </a:t>
            </a:r>
          </a:p>
          <a:p>
            <a:pPr lvl="0" algn="ctr" eaLnBrk="1" hangingPunct="1">
              <a:spcBef>
                <a:spcPct val="50000"/>
              </a:spcBef>
            </a:pPr>
            <a:r>
              <a:rPr lang="en-US" altLang="zh-CN" sz="2100" b="1" dirty="0">
                <a:latin typeface="Arial" panose="020B0604020202020204" pitchFamily="34" charset="0"/>
                <a:ea typeface="楷体_GB2312" panose="02010609030101010101" pitchFamily="49" charset="-122"/>
              </a:rPr>
              <a:t>*pb</a:t>
            </a:r>
          </a:p>
        </p:txBody>
      </p:sp>
      <p:sp>
        <p:nvSpPr>
          <p:cNvPr id="248858" name="Rectangle 26"/>
          <p:cNvSpPr>
            <a:spLocks noGrp="1"/>
          </p:cNvSpPr>
          <p:nvPr>
            <p:ph idx="1"/>
          </p:nvPr>
        </p:nvSpPr>
        <p:spPr>
          <a:xfrm>
            <a:off x="739140" y="1771651"/>
            <a:ext cx="6929204" cy="1691838"/>
          </a:xfrm>
        </p:spPr>
        <p:txBody>
          <a:bodyPr vert="horz" wrap="square" lIns="69056" tIns="34528" rIns="69056" bIns="34528" anchor="t"/>
          <a:lstStyle/>
          <a:p>
            <a:pPr marL="271780" lvl="1" indent="0" algn="l">
              <a:lnSpc>
                <a:spcPct val="120000"/>
              </a:lnSpc>
              <a:buNone/>
            </a:pPr>
            <a:r>
              <a:rPr lang="zh-CN" altLang="en-US" dirty="0">
                <a:solidFill>
                  <a:schemeClr val="tx1"/>
                </a:solidFill>
                <a:cs typeface="+mn-ea"/>
              </a:rPr>
              <a:t>int a = 0, *pa, *pb;</a:t>
            </a:r>
          </a:p>
          <a:p>
            <a:pPr marL="271780" lvl="1" indent="0" algn="l">
              <a:lnSpc>
                <a:spcPct val="120000"/>
              </a:lnSpc>
              <a:buNone/>
            </a:pPr>
            <a:r>
              <a:rPr lang="zh-CN" altLang="en-US" dirty="0">
                <a:solidFill>
                  <a:schemeClr val="tx1"/>
                </a:solidFill>
                <a:cs typeface="+mn-ea"/>
              </a:rPr>
              <a:t>pa = &amp;a;  </a:t>
            </a:r>
            <a:r>
              <a:rPr lang="en-US" altLang="zh-CN" dirty="0" smtClean="0">
                <a:solidFill>
                  <a:schemeClr val="tx1"/>
                </a:solidFill>
                <a:cs typeface="+mn-ea"/>
              </a:rPr>
              <a:t>//</a:t>
            </a:r>
            <a:r>
              <a:rPr lang="zh-CN" altLang="en-US" dirty="0" smtClean="0">
                <a:solidFill>
                  <a:schemeClr val="tx1"/>
                </a:solidFill>
                <a:cs typeface="+mn-ea"/>
              </a:rPr>
              <a:t>把 </a:t>
            </a:r>
            <a:r>
              <a:rPr lang="zh-CN" altLang="en-US" dirty="0">
                <a:solidFill>
                  <a:schemeClr val="tx1"/>
                </a:solidFill>
                <a:cs typeface="+mn-ea"/>
              </a:rPr>
              <a:t>a 的地址赋给 pa，即 pa 指向 a</a:t>
            </a:r>
          </a:p>
          <a:p>
            <a:pPr marL="271780" lvl="1" indent="0" algn="l">
              <a:lnSpc>
                <a:spcPct val="120000"/>
              </a:lnSpc>
              <a:buNone/>
            </a:pPr>
            <a:r>
              <a:rPr lang="zh-CN" altLang="en-US" dirty="0">
                <a:solidFill>
                  <a:schemeClr val="tx1"/>
                </a:solidFill>
                <a:cs typeface="+mn-ea"/>
              </a:rPr>
              <a:t>pb = pa;   </a:t>
            </a:r>
            <a:r>
              <a:rPr lang="en-US" altLang="zh-CN" dirty="0" smtClean="0">
                <a:solidFill>
                  <a:schemeClr val="tx1"/>
                </a:solidFill>
                <a:cs typeface="+mn-ea"/>
              </a:rPr>
              <a:t>//</a:t>
            </a:r>
            <a:r>
              <a:rPr lang="zh-CN" altLang="en-US" dirty="0" smtClean="0">
                <a:solidFill>
                  <a:schemeClr val="tx1"/>
                </a:solidFill>
                <a:cs typeface="+mn-ea"/>
              </a:rPr>
              <a:t>p</a:t>
            </a:r>
            <a:r>
              <a:rPr lang="en-US" altLang="zh-CN" dirty="0" smtClean="0">
                <a:solidFill>
                  <a:schemeClr val="tx1"/>
                </a:solidFill>
                <a:cs typeface="+mn-ea"/>
              </a:rPr>
              <a:t>b</a:t>
            </a:r>
            <a:r>
              <a:rPr lang="zh-CN" altLang="en-US" dirty="0" smtClean="0">
                <a:solidFill>
                  <a:schemeClr val="tx1"/>
                </a:solidFill>
                <a:cs typeface="+mn-ea"/>
              </a:rPr>
              <a:t> </a:t>
            </a:r>
            <a:r>
              <a:rPr lang="zh-CN" altLang="en-US" dirty="0">
                <a:solidFill>
                  <a:schemeClr val="tx1"/>
                </a:solidFill>
                <a:cs typeface="+mn-ea"/>
              </a:rPr>
              <a:t>也指向 a</a:t>
            </a:r>
          </a:p>
        </p:txBody>
      </p:sp>
      <p:sp>
        <p:nvSpPr>
          <p:cNvPr id="248859" name="Rectangle 27"/>
          <p:cNvSpPr/>
          <p:nvPr/>
        </p:nvSpPr>
        <p:spPr>
          <a:xfrm>
            <a:off x="1233171" y="5733256"/>
            <a:ext cx="4424680" cy="360680"/>
          </a:xfrm>
          <a:prstGeom prst="rect">
            <a:avLst/>
          </a:prstGeom>
          <a:noFill/>
          <a:ln w="9525">
            <a:noFill/>
          </a:ln>
        </p:spPr>
        <p:txBody>
          <a:bodyPr wrap="none" lIns="69056" tIns="34528" rIns="69056" bIns="34528">
            <a:spAutoFit/>
          </a:bodyPr>
          <a:lstStyle/>
          <a:p>
            <a:pPr lvl="0" algn="just" eaLnBrk="1" hangingPunct="1">
              <a:lnSpc>
                <a:spcPct val="90000"/>
              </a:lnSpc>
              <a:spcBef>
                <a:spcPct val="20000"/>
              </a:spcBef>
              <a:buClr>
                <a:schemeClr val="tx2"/>
              </a:buClr>
              <a:buSzPct val="80000"/>
            </a:pPr>
            <a:r>
              <a:rPr lang="zh-CN" altLang="en-US" sz="2100" b="1" dirty="0">
                <a:solidFill>
                  <a:srgbClr val="FF0000"/>
                </a:solidFill>
                <a:latin typeface="Arial" panose="020B0604020202020204" pitchFamily="34" charset="0"/>
                <a:ea typeface="仿宋_GB2312" panose="02010609030101010101" pitchFamily="49" charset="-122"/>
              </a:rPr>
              <a:t>注意：相同类型的指针才能相互赋值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3"/>
          <p:cNvSpPr>
            <a:spLocks noGrp="1"/>
          </p:cNvSpPr>
          <p:nvPr>
            <p:ph type="title"/>
          </p:nvPr>
        </p:nvSpPr>
        <p:spPr>
          <a:xfrm>
            <a:off x="797560" y="1096249"/>
            <a:ext cx="6294720" cy="514350"/>
          </a:xfrm>
        </p:spPr>
        <p:txBody>
          <a:bodyPr vert="horz" wrap="square" lIns="69056" tIns="34528" rIns="69056" bIns="34528" anchor="b">
            <a:normAutofit fontScale="90000"/>
          </a:bodyPr>
          <a:lstStyle/>
          <a:p>
            <a:pPr algn="l" eaLnBrk="1" hangingPunct="1"/>
            <a:r>
              <a:rPr lang="zh-CN" altLang="en-US" sz="3600" dirty="0" smtClean="0"/>
              <a:t>自增自减运算</a:t>
            </a:r>
            <a:endParaRPr lang="zh-CN" altLang="en-US" sz="3600" dirty="0"/>
          </a:p>
        </p:txBody>
      </p:sp>
      <p:sp>
        <p:nvSpPr>
          <p:cNvPr id="2" name="内容占位符 1"/>
          <p:cNvSpPr>
            <a:spLocks noGrp="1"/>
          </p:cNvSpPr>
          <p:nvPr>
            <p:ph idx="1"/>
          </p:nvPr>
        </p:nvSpPr>
        <p:spPr>
          <a:xfrm>
            <a:off x="755650" y="1556792"/>
            <a:ext cx="8208838" cy="2160835"/>
          </a:xfrm>
        </p:spPr>
        <p:txBody>
          <a:bodyPr/>
          <a:lstStyle/>
          <a:p>
            <a:r>
              <a:rPr lang="en-US" altLang="zh-CN" dirty="0" smtClean="0">
                <a:solidFill>
                  <a:schemeClr val="accent4"/>
                </a:solidFill>
              </a:rPr>
              <a:t>p++; ++p; </a:t>
            </a:r>
            <a:r>
              <a:rPr lang="zh-CN" altLang="en-US" dirty="0" smtClean="0">
                <a:solidFill>
                  <a:schemeClr val="accent4"/>
                </a:solidFill>
              </a:rPr>
              <a:t>相当于</a:t>
            </a:r>
            <a:r>
              <a:rPr lang="en-US" altLang="zh-CN" dirty="0" smtClean="0">
                <a:solidFill>
                  <a:schemeClr val="accent4"/>
                </a:solidFill>
              </a:rPr>
              <a:t>p=p+1;</a:t>
            </a:r>
          </a:p>
          <a:p>
            <a:r>
              <a:rPr lang="en-US" altLang="zh-CN" dirty="0" smtClean="0">
                <a:solidFill>
                  <a:schemeClr val="accent4"/>
                </a:solidFill>
              </a:rPr>
              <a:t>p--; --p</a:t>
            </a:r>
            <a:r>
              <a:rPr lang="en-US" altLang="zh-CN" dirty="0">
                <a:solidFill>
                  <a:schemeClr val="accent4"/>
                </a:solidFill>
              </a:rPr>
              <a:t>; </a:t>
            </a:r>
            <a:r>
              <a:rPr lang="zh-CN" altLang="en-US" dirty="0">
                <a:solidFill>
                  <a:schemeClr val="accent4"/>
                </a:solidFill>
              </a:rPr>
              <a:t>相当于</a:t>
            </a:r>
            <a:r>
              <a:rPr lang="en-US" altLang="zh-CN" dirty="0" smtClean="0">
                <a:solidFill>
                  <a:schemeClr val="accent4"/>
                </a:solidFill>
              </a:rPr>
              <a:t>p=p-1</a:t>
            </a:r>
            <a:r>
              <a:rPr lang="en-US" altLang="zh-CN" dirty="0">
                <a:solidFill>
                  <a:schemeClr val="accent4"/>
                </a:solidFill>
              </a:rPr>
              <a:t>;</a:t>
            </a:r>
          </a:p>
          <a:p>
            <a:r>
              <a:rPr lang="zh-CN" altLang="en-US" dirty="0" smtClean="0">
                <a:solidFill>
                  <a:schemeClr val="accent4"/>
                </a:solidFill>
              </a:rPr>
              <a:t>指针变量的自增自减运算，即加上它指向变量所占用的内存字节数</a:t>
            </a:r>
            <a:endParaRPr lang="en-US" altLang="zh-CN" dirty="0" smtClean="0">
              <a:solidFill>
                <a:schemeClr val="accent4"/>
              </a:solidFill>
            </a:endParaRPr>
          </a:p>
        </p:txBody>
      </p:sp>
      <p:sp>
        <p:nvSpPr>
          <p:cNvPr id="3" name="矩形 2"/>
          <p:cNvSpPr/>
          <p:nvPr/>
        </p:nvSpPr>
        <p:spPr>
          <a:xfrm>
            <a:off x="3655729" y="3501008"/>
            <a:ext cx="5488271" cy="3139321"/>
          </a:xfrm>
          <a:prstGeom prst="rect">
            <a:avLst/>
          </a:prstGeom>
        </p:spPr>
        <p:txBody>
          <a:bodyPr wrap="square">
            <a:spAutoFit/>
          </a:bodyPr>
          <a:lstStyle/>
          <a:p>
            <a:r>
              <a:rPr lang="zh-CN" altLang="en-US" sz="1800" b="1" dirty="0"/>
              <a:t>#include &lt;stdio.h&gt;</a:t>
            </a:r>
          </a:p>
          <a:p>
            <a:r>
              <a:rPr lang="zh-CN" altLang="en-US" sz="1800" b="1" dirty="0"/>
              <a:t>int main()</a:t>
            </a:r>
          </a:p>
          <a:p>
            <a:r>
              <a:rPr lang="zh-CN" altLang="en-US" sz="1800" b="1" dirty="0"/>
              <a:t>{</a:t>
            </a:r>
          </a:p>
          <a:p>
            <a:r>
              <a:rPr lang="zh-CN" altLang="en-US" sz="1800" b="1" dirty="0"/>
              <a:t>    int a=0;</a:t>
            </a:r>
          </a:p>
          <a:p>
            <a:r>
              <a:rPr lang="zh-CN" altLang="en-US" sz="1800" b="1" dirty="0"/>
              <a:t>    int *pa;</a:t>
            </a:r>
          </a:p>
          <a:p>
            <a:r>
              <a:rPr lang="zh-CN" altLang="en-US" sz="1800" b="1" dirty="0"/>
              <a:t>    pa=&amp;a;</a:t>
            </a:r>
          </a:p>
          <a:p>
            <a:r>
              <a:rPr lang="zh-CN" altLang="en-US" sz="1800" b="1" dirty="0"/>
              <a:t>    printf("a is %d,&amp;a is %x,pa is %x\n",a,&amp;a,pa);</a:t>
            </a:r>
          </a:p>
          <a:p>
            <a:r>
              <a:rPr lang="zh-CN" altLang="en-US" sz="1800" b="1" dirty="0"/>
              <a:t>    </a:t>
            </a:r>
            <a:r>
              <a:rPr lang="zh-CN" altLang="en-US" sz="1800" b="1" dirty="0">
                <a:solidFill>
                  <a:srgbClr val="FF0000"/>
                </a:solidFill>
              </a:rPr>
              <a:t>pa++</a:t>
            </a:r>
            <a:r>
              <a:rPr lang="zh-CN" altLang="en-US" sz="1800" b="1" dirty="0"/>
              <a:t>;</a:t>
            </a:r>
          </a:p>
          <a:p>
            <a:r>
              <a:rPr lang="zh-CN" altLang="en-US" sz="1800" b="1" dirty="0"/>
              <a:t>    printf("a is %d,&amp;a is %x,pa is %x\n",a,&amp;a,pa);</a:t>
            </a:r>
          </a:p>
          <a:p>
            <a:r>
              <a:rPr lang="zh-CN" altLang="en-US" sz="1800" b="1" dirty="0"/>
              <a:t>    return 0;</a:t>
            </a:r>
          </a:p>
          <a:p>
            <a:r>
              <a:rPr lang="zh-CN" altLang="en-US" sz="1800" b="1" dirty="0"/>
              <a:t>}</a:t>
            </a:r>
          </a:p>
        </p:txBody>
      </p:sp>
      <p:sp>
        <p:nvSpPr>
          <p:cNvPr id="18" name="内容占位符 1"/>
          <p:cNvSpPr txBox="1">
            <a:spLocks/>
          </p:cNvSpPr>
          <p:nvPr/>
        </p:nvSpPr>
        <p:spPr bwMode="auto">
          <a:xfrm>
            <a:off x="755139" y="3817740"/>
            <a:ext cx="2592725" cy="1627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rgbClr val="0066FF"/>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rgbClr val="0066FF"/>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rgbClr val="0066FF"/>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rgbClr val="0066FF"/>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rgbClr val="0066FF"/>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kern="0" dirty="0" smtClean="0">
                <a:solidFill>
                  <a:srgbClr val="3333FF"/>
                </a:solidFill>
              </a:rPr>
              <a:t>自增自减后，</a:t>
            </a:r>
            <a:r>
              <a:rPr lang="en-US" altLang="zh-CN" kern="0" dirty="0" smtClean="0">
                <a:solidFill>
                  <a:srgbClr val="3333FF"/>
                </a:solidFill>
              </a:rPr>
              <a:t>p</a:t>
            </a:r>
            <a:r>
              <a:rPr lang="zh-CN" altLang="en-US" kern="0" dirty="0" smtClean="0">
                <a:solidFill>
                  <a:srgbClr val="3333FF"/>
                </a:solidFill>
              </a:rPr>
              <a:t>不再指向原来的变量</a:t>
            </a:r>
            <a:endParaRPr lang="zh-CN" altLang="en-US" kern="0" dirty="0">
              <a:solidFill>
                <a:srgbClr val="3333FF"/>
              </a:solidFill>
            </a:endParaRPr>
          </a:p>
        </p:txBody>
      </p:sp>
      <p:pic>
        <p:nvPicPr>
          <p:cNvPr id="4" name="图片 3"/>
          <p:cNvPicPr>
            <a:picLocks noChangeAspect="1"/>
          </p:cNvPicPr>
          <p:nvPr/>
        </p:nvPicPr>
        <p:blipFill rotWithShape="1">
          <a:blip r:embed="rId2"/>
          <a:srcRect b="22548"/>
          <a:stretch/>
        </p:blipFill>
        <p:spPr>
          <a:xfrm>
            <a:off x="3491880" y="714648"/>
            <a:ext cx="5520539" cy="742031"/>
          </a:xfrm>
          <a:prstGeom prst="rect">
            <a:avLst/>
          </a:prstGeom>
        </p:spPr>
      </p:pic>
      <p:cxnSp>
        <p:nvCxnSpPr>
          <p:cNvPr id="7" name="直接箭头连接符 6"/>
          <p:cNvCxnSpPr/>
          <p:nvPr/>
        </p:nvCxnSpPr>
        <p:spPr bwMode="auto">
          <a:xfrm flipV="1">
            <a:off x="8172400" y="1456680"/>
            <a:ext cx="0" cy="532160"/>
          </a:xfrm>
          <a:prstGeom prst="straightConnector1">
            <a:avLst/>
          </a:prstGeom>
          <a:solidFill>
            <a:schemeClr val="accent1"/>
          </a:solidFill>
          <a:ln w="38100" cap="flat" cmpd="sng" algn="ctr">
            <a:solidFill>
              <a:srgbClr val="FF0000"/>
            </a:solidFill>
            <a:prstDash val="solid"/>
            <a:round/>
            <a:headEnd type="none" w="med" len="med"/>
            <a:tailEnd type="triangle"/>
          </a:ln>
        </p:spPr>
      </p:cxnSp>
      <p:sp>
        <p:nvSpPr>
          <p:cNvPr id="12" name="内容占位符 1"/>
          <p:cNvSpPr txBox="1">
            <a:spLocks/>
          </p:cNvSpPr>
          <p:nvPr/>
        </p:nvSpPr>
        <p:spPr bwMode="auto">
          <a:xfrm>
            <a:off x="755138" y="5257963"/>
            <a:ext cx="2592725" cy="57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rgbClr val="0066FF"/>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rgbClr val="0066FF"/>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rgbClr val="0066FF"/>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rgbClr val="0066FF"/>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rgbClr val="0066FF"/>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dirty="0">
                <a:solidFill>
                  <a:srgbClr val="FF0000"/>
                </a:solidFill>
              </a:rPr>
              <a:t>地址</a:t>
            </a:r>
            <a:r>
              <a:rPr lang="zh-CN" altLang="en-US" dirty="0">
                <a:solidFill>
                  <a:schemeClr val="accent4"/>
                </a:solidFill>
              </a:rPr>
              <a:t>自增自减</a:t>
            </a:r>
          </a:p>
        </p:txBody>
      </p:sp>
    </p:spTree>
    <p:extLst>
      <p:ext uri="{BB962C8B-B14F-4D97-AF65-F5344CB8AC3E}">
        <p14:creationId xmlns:p14="http://schemas.microsoft.com/office/powerpoint/2010/main" val="409089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3"/>
          <p:cNvSpPr>
            <a:spLocks noGrp="1"/>
          </p:cNvSpPr>
          <p:nvPr>
            <p:ph type="title"/>
          </p:nvPr>
        </p:nvSpPr>
        <p:spPr>
          <a:xfrm>
            <a:off x="797560" y="1096249"/>
            <a:ext cx="6294720" cy="514350"/>
          </a:xfrm>
        </p:spPr>
        <p:txBody>
          <a:bodyPr vert="horz" wrap="square" lIns="69056" tIns="34528" rIns="69056" bIns="34528" anchor="b">
            <a:normAutofit fontScale="90000"/>
          </a:bodyPr>
          <a:lstStyle/>
          <a:p>
            <a:pPr algn="l" eaLnBrk="1" hangingPunct="1"/>
            <a:r>
              <a:rPr lang="zh-CN" altLang="en-US" sz="3600" dirty="0" smtClean="0"/>
              <a:t>自增自减运算</a:t>
            </a:r>
            <a:endParaRPr lang="zh-CN" altLang="en-US" sz="3600" dirty="0"/>
          </a:p>
        </p:txBody>
      </p:sp>
      <p:sp>
        <p:nvSpPr>
          <p:cNvPr id="2" name="内容占位符 1"/>
          <p:cNvSpPr>
            <a:spLocks noGrp="1"/>
          </p:cNvSpPr>
          <p:nvPr>
            <p:ph idx="1"/>
          </p:nvPr>
        </p:nvSpPr>
        <p:spPr>
          <a:xfrm>
            <a:off x="755650" y="1700808"/>
            <a:ext cx="6336630" cy="3024336"/>
          </a:xfrm>
        </p:spPr>
        <p:txBody>
          <a:bodyPr/>
          <a:lstStyle/>
          <a:p>
            <a:r>
              <a:rPr lang="en-US" altLang="zh-CN" dirty="0" smtClean="0">
                <a:solidFill>
                  <a:schemeClr val="accent4"/>
                </a:solidFill>
              </a:rPr>
              <a:t>(*p)++; ++(*p); </a:t>
            </a:r>
          </a:p>
          <a:p>
            <a:r>
              <a:rPr lang="en-US" altLang="zh-CN" dirty="0" smtClean="0">
                <a:solidFill>
                  <a:schemeClr val="accent4"/>
                </a:solidFill>
              </a:rPr>
              <a:t>*p=*p+1;</a:t>
            </a:r>
          </a:p>
          <a:p>
            <a:r>
              <a:rPr lang="en-US" altLang="zh-CN" dirty="0" smtClean="0">
                <a:solidFill>
                  <a:schemeClr val="accent4"/>
                </a:solidFill>
              </a:rPr>
              <a:t>(*p)--; --(*p); </a:t>
            </a:r>
          </a:p>
          <a:p>
            <a:r>
              <a:rPr lang="en-US" altLang="zh-CN" dirty="0" smtClean="0">
                <a:solidFill>
                  <a:schemeClr val="accent4"/>
                </a:solidFill>
              </a:rPr>
              <a:t>*p=*p-1;</a:t>
            </a:r>
          </a:p>
          <a:p>
            <a:r>
              <a:rPr lang="zh-CN" altLang="en-US" dirty="0" smtClean="0">
                <a:solidFill>
                  <a:schemeClr val="accent4"/>
                </a:solidFill>
              </a:rPr>
              <a:t>指针变量</a:t>
            </a:r>
            <a:r>
              <a:rPr lang="en-US" altLang="zh-CN" dirty="0" smtClean="0">
                <a:solidFill>
                  <a:schemeClr val="accent4"/>
                </a:solidFill>
              </a:rPr>
              <a:t>p</a:t>
            </a:r>
            <a:r>
              <a:rPr lang="zh-CN" altLang="en-US" dirty="0" smtClean="0">
                <a:solidFill>
                  <a:schemeClr val="accent4"/>
                </a:solidFill>
              </a:rPr>
              <a:t>指向的变量的值加</a:t>
            </a:r>
            <a:r>
              <a:rPr lang="en-US" altLang="zh-CN" dirty="0" smtClean="0">
                <a:solidFill>
                  <a:schemeClr val="accent4"/>
                </a:solidFill>
              </a:rPr>
              <a:t>/</a:t>
            </a:r>
            <a:r>
              <a:rPr lang="zh-CN" altLang="en-US" dirty="0" smtClean="0">
                <a:solidFill>
                  <a:schemeClr val="accent4"/>
                </a:solidFill>
              </a:rPr>
              <a:t>减</a:t>
            </a:r>
            <a:r>
              <a:rPr lang="en-US" altLang="zh-CN" dirty="0" smtClean="0">
                <a:solidFill>
                  <a:schemeClr val="accent4"/>
                </a:solidFill>
              </a:rPr>
              <a:t>1</a:t>
            </a:r>
            <a:endParaRPr lang="en-US" altLang="zh-CN" dirty="0">
              <a:solidFill>
                <a:schemeClr val="accent4"/>
              </a:solidFill>
            </a:endParaRPr>
          </a:p>
        </p:txBody>
      </p:sp>
      <p:sp>
        <p:nvSpPr>
          <p:cNvPr id="6" name="内容占位符 1"/>
          <p:cNvSpPr txBox="1">
            <a:spLocks/>
          </p:cNvSpPr>
          <p:nvPr/>
        </p:nvSpPr>
        <p:spPr bwMode="auto">
          <a:xfrm>
            <a:off x="755650" y="4653136"/>
            <a:ext cx="2592725" cy="57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rgbClr val="0066FF"/>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rgbClr val="0066FF"/>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rgbClr val="0066FF"/>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rgbClr val="0066FF"/>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rgbClr val="0066FF"/>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dirty="0" smtClean="0">
                <a:solidFill>
                  <a:srgbClr val="FF0000"/>
                </a:solidFill>
              </a:rPr>
              <a:t>值</a:t>
            </a:r>
            <a:r>
              <a:rPr lang="zh-CN" altLang="en-US" dirty="0" smtClean="0">
                <a:solidFill>
                  <a:schemeClr val="accent4"/>
                </a:solidFill>
              </a:rPr>
              <a:t>自</a:t>
            </a:r>
            <a:r>
              <a:rPr lang="zh-CN" altLang="en-US" dirty="0">
                <a:solidFill>
                  <a:schemeClr val="accent4"/>
                </a:solidFill>
              </a:rPr>
              <a:t>增自减</a:t>
            </a:r>
          </a:p>
        </p:txBody>
      </p:sp>
    </p:spTree>
    <p:extLst>
      <p:ext uri="{BB962C8B-B14F-4D97-AF65-F5344CB8AC3E}">
        <p14:creationId xmlns:p14="http://schemas.microsoft.com/office/powerpoint/2010/main" val="1936872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3"/>
          <p:cNvSpPr>
            <a:spLocks noGrp="1"/>
          </p:cNvSpPr>
          <p:nvPr>
            <p:ph type="title"/>
          </p:nvPr>
        </p:nvSpPr>
        <p:spPr>
          <a:xfrm>
            <a:off x="797560" y="1096249"/>
            <a:ext cx="6294720" cy="514350"/>
          </a:xfrm>
        </p:spPr>
        <p:txBody>
          <a:bodyPr vert="horz" wrap="square" lIns="69056" tIns="34528" rIns="69056" bIns="34528" anchor="b">
            <a:normAutofit fontScale="90000"/>
          </a:bodyPr>
          <a:lstStyle/>
          <a:p>
            <a:pPr algn="l" eaLnBrk="1" hangingPunct="1"/>
            <a:r>
              <a:rPr lang="zh-CN" altLang="en-US" sz="3600" dirty="0" smtClean="0"/>
              <a:t>自增自减运算</a:t>
            </a:r>
            <a:endParaRPr lang="zh-CN" altLang="en-US" sz="3600" dirty="0"/>
          </a:p>
        </p:txBody>
      </p:sp>
      <p:pic>
        <p:nvPicPr>
          <p:cNvPr id="4" name="图片 3"/>
          <p:cNvPicPr>
            <a:picLocks noChangeAspect="1"/>
          </p:cNvPicPr>
          <p:nvPr/>
        </p:nvPicPr>
        <p:blipFill>
          <a:blip r:embed="rId2"/>
          <a:stretch>
            <a:fillRect/>
          </a:stretch>
        </p:blipFill>
        <p:spPr>
          <a:xfrm>
            <a:off x="4427984" y="188640"/>
            <a:ext cx="4386487" cy="1224136"/>
          </a:xfrm>
          <a:prstGeom prst="rect">
            <a:avLst/>
          </a:prstGeom>
        </p:spPr>
      </p:pic>
      <p:sp>
        <p:nvSpPr>
          <p:cNvPr id="6" name="矩形 5"/>
          <p:cNvSpPr/>
          <p:nvPr/>
        </p:nvSpPr>
        <p:spPr>
          <a:xfrm>
            <a:off x="899592" y="1772816"/>
            <a:ext cx="7776864" cy="4893647"/>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int a=0;</a:t>
            </a:r>
          </a:p>
          <a:p>
            <a:r>
              <a:rPr lang="zh-CN" altLang="en-US" sz="2400" b="1" dirty="0">
                <a:effectLst>
                  <a:outerShdw blurRad="38100" dist="38100" dir="2700000" algn="tl">
                    <a:srgbClr val="000000">
                      <a:alpha val="43137"/>
                    </a:srgbClr>
                  </a:outerShdw>
                </a:effectLst>
              </a:rPr>
              <a:t>    int *pa;</a:t>
            </a:r>
          </a:p>
          <a:p>
            <a:r>
              <a:rPr lang="zh-CN" altLang="en-US" sz="2400" b="1" dirty="0">
                <a:effectLst>
                  <a:outerShdw blurRad="38100" dist="38100" dir="2700000" algn="tl">
                    <a:srgbClr val="000000">
                      <a:alpha val="43137"/>
                    </a:srgbClr>
                  </a:outerShdw>
                </a:effectLst>
              </a:rPr>
              <a:t>    pa=&amp;a;  //pa指向a</a:t>
            </a:r>
          </a:p>
          <a:p>
            <a:r>
              <a:rPr lang="zh-CN" altLang="en-US" sz="2400" b="1" dirty="0">
                <a:effectLst>
                  <a:outerShdw blurRad="38100" dist="38100" dir="2700000" algn="tl">
                    <a:srgbClr val="000000">
                      <a:alpha val="43137"/>
                    </a:srgbClr>
                  </a:outerShdw>
                </a:effectLst>
              </a:rPr>
              <a:t>    printf("a is %d,&amp;a is %x,pa is %x\n",a,&amp;a,pa);</a:t>
            </a:r>
          </a:p>
          <a:p>
            <a:r>
              <a:rPr lang="zh-CN" altLang="en-US" sz="2400" b="1" dirty="0">
                <a:effectLst>
                  <a:outerShdw blurRad="38100" dist="38100" dir="2700000" algn="tl">
                    <a:srgbClr val="000000">
                      <a:alpha val="43137"/>
                    </a:srgbClr>
                  </a:outerShdw>
                </a:effectLst>
              </a:rPr>
              <a:t>    printf("a is %d,*pa is %d\n",a,*pa);</a:t>
            </a:r>
          </a:p>
          <a:p>
            <a:r>
              <a:rPr lang="zh-CN" altLang="en-US" sz="2400" b="1" dirty="0">
                <a:solidFill>
                  <a:srgbClr val="FF0000"/>
                </a:solidFill>
                <a:effectLst>
                  <a:outerShdw blurRad="38100" dist="38100" dir="2700000" algn="tl">
                    <a:srgbClr val="000000">
                      <a:alpha val="43137"/>
                    </a:srgbClr>
                  </a:outerShdw>
                </a:effectLst>
              </a:rPr>
              <a:t>    (*pa)++;</a:t>
            </a:r>
          </a:p>
          <a:p>
            <a:r>
              <a:rPr lang="zh-CN" altLang="en-US" sz="2400" b="1" dirty="0">
                <a:effectLst>
                  <a:outerShdw blurRad="38100" dist="38100" dir="2700000" algn="tl">
                    <a:srgbClr val="000000">
                      <a:alpha val="43137"/>
                    </a:srgbClr>
                  </a:outerShdw>
                </a:effectLst>
              </a:rPr>
              <a:t>    printf("a is %d,&amp;a is %x,pa is %x\n",a,&amp;a,pa);</a:t>
            </a:r>
          </a:p>
          <a:p>
            <a:r>
              <a:rPr lang="zh-CN" altLang="en-US" sz="2400" b="1" dirty="0">
                <a:effectLst>
                  <a:outerShdw blurRad="38100" dist="38100" dir="2700000" algn="tl">
                    <a:srgbClr val="000000">
                      <a:alpha val="43137"/>
                    </a:srgbClr>
                  </a:outerShdw>
                </a:effectLst>
              </a:rPr>
              <a:t>    printf("a is %d,*pa is %d\n",a,*pa);</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25367191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3"/>
          <p:cNvSpPr>
            <a:spLocks noGrp="1"/>
          </p:cNvSpPr>
          <p:nvPr>
            <p:ph type="title"/>
          </p:nvPr>
        </p:nvSpPr>
        <p:spPr>
          <a:xfrm>
            <a:off x="797560" y="1096249"/>
            <a:ext cx="6294720" cy="514350"/>
          </a:xfrm>
        </p:spPr>
        <p:txBody>
          <a:bodyPr vert="horz" wrap="square" lIns="69056" tIns="34528" rIns="69056" bIns="34528" anchor="b">
            <a:normAutofit fontScale="90000"/>
          </a:bodyPr>
          <a:lstStyle/>
          <a:p>
            <a:pPr algn="l" eaLnBrk="1" hangingPunct="1"/>
            <a:r>
              <a:rPr lang="zh-CN" altLang="en-US" sz="3600" dirty="0" smtClean="0"/>
              <a:t>指针变量的其他运算</a:t>
            </a:r>
            <a:endParaRPr lang="zh-CN" altLang="en-US" sz="3600" dirty="0"/>
          </a:p>
        </p:txBody>
      </p:sp>
      <p:sp>
        <p:nvSpPr>
          <p:cNvPr id="2" name="内容占位符 1"/>
          <p:cNvSpPr>
            <a:spLocks noGrp="1"/>
          </p:cNvSpPr>
          <p:nvPr>
            <p:ph idx="1"/>
          </p:nvPr>
        </p:nvSpPr>
        <p:spPr>
          <a:xfrm>
            <a:off x="755650" y="1700808"/>
            <a:ext cx="8064822" cy="3168352"/>
          </a:xfrm>
        </p:spPr>
        <p:txBody>
          <a:bodyPr/>
          <a:lstStyle/>
          <a:p>
            <a:r>
              <a:rPr lang="zh-CN" altLang="en-US" dirty="0" smtClean="0">
                <a:solidFill>
                  <a:schemeClr val="accent4"/>
                </a:solidFill>
              </a:rPr>
              <a:t>指针的加减整数运算</a:t>
            </a:r>
            <a:endParaRPr lang="en-US" altLang="zh-CN" dirty="0" smtClean="0">
              <a:solidFill>
                <a:schemeClr val="accent4"/>
              </a:solidFill>
            </a:endParaRPr>
          </a:p>
          <a:p>
            <a:pPr lvl="1"/>
            <a:r>
              <a:rPr lang="zh-CN" altLang="en-US" dirty="0" smtClean="0">
                <a:solidFill>
                  <a:schemeClr val="accent4"/>
                </a:solidFill>
              </a:rPr>
              <a:t>当一个指针指向数组中的某个元素时，可以通过对指针加、减一个整数来访问数组中的其他数组元素</a:t>
            </a:r>
            <a:endParaRPr lang="en-US" altLang="zh-CN" dirty="0" smtClean="0">
              <a:solidFill>
                <a:schemeClr val="accent4"/>
              </a:solidFill>
            </a:endParaRPr>
          </a:p>
          <a:p>
            <a:r>
              <a:rPr lang="zh-CN" altLang="en-US" dirty="0" smtClean="0">
                <a:solidFill>
                  <a:schemeClr val="accent4"/>
                </a:solidFill>
              </a:rPr>
              <a:t>关系运算</a:t>
            </a:r>
            <a:endParaRPr lang="en-US" altLang="zh-CN" dirty="0" smtClean="0">
              <a:solidFill>
                <a:schemeClr val="accent4"/>
              </a:solidFill>
            </a:endParaRPr>
          </a:p>
          <a:p>
            <a:pPr lvl="1"/>
            <a:r>
              <a:rPr lang="zh-CN" altLang="en-US" dirty="0" smtClean="0">
                <a:solidFill>
                  <a:schemeClr val="accent4"/>
                </a:solidFill>
              </a:rPr>
              <a:t>通过关系运算判断两个指针的值是否相等从而确定它们是否指向同一个变量</a:t>
            </a:r>
            <a:endParaRPr lang="en-US" altLang="zh-CN" dirty="0">
              <a:solidFill>
                <a:schemeClr val="accent4"/>
              </a:solidFill>
            </a:endParaRPr>
          </a:p>
        </p:txBody>
      </p:sp>
    </p:spTree>
    <p:extLst>
      <p:ext uri="{BB962C8B-B14F-4D97-AF65-F5344CB8AC3E}">
        <p14:creationId xmlns:p14="http://schemas.microsoft.com/office/powerpoint/2010/main" val="65521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755577" y="1844824"/>
            <a:ext cx="7704855" cy="4824536"/>
          </a:xfrm>
        </p:spPr>
        <p:txBody>
          <a:bodyPr/>
          <a:lstStyle/>
          <a:p>
            <a:pPr marL="0" indent="0">
              <a:buNone/>
            </a:pPr>
            <a:r>
              <a:rPr lang="en-US" altLang="zh-CN" dirty="0"/>
              <a:t>(1) </a:t>
            </a:r>
            <a:r>
              <a:rPr lang="zh-CN" altLang="en-US" dirty="0"/>
              <a:t>当 </a:t>
            </a:r>
            <a:r>
              <a:rPr lang="en-US" altLang="zh-CN" dirty="0"/>
              <a:t>p = &amp;a </a:t>
            </a:r>
            <a:r>
              <a:rPr lang="zh-CN" altLang="en-US" dirty="0"/>
              <a:t>后，*</a:t>
            </a:r>
            <a:r>
              <a:rPr lang="en-US" altLang="zh-CN" dirty="0"/>
              <a:t>p </a:t>
            </a:r>
            <a:r>
              <a:rPr lang="zh-CN" altLang="en-US" dirty="0"/>
              <a:t>与 </a:t>
            </a:r>
            <a:r>
              <a:rPr lang="en-US" altLang="zh-CN" dirty="0"/>
              <a:t>a </a:t>
            </a:r>
            <a:r>
              <a:rPr lang="zh-CN" altLang="en-US" dirty="0"/>
              <a:t>相同</a:t>
            </a:r>
          </a:p>
          <a:p>
            <a:pPr marL="0" indent="0">
              <a:buNone/>
            </a:pPr>
            <a:r>
              <a:rPr lang="en-US" altLang="zh-CN" dirty="0" smtClean="0"/>
              <a:t>(2)  &amp;*p</a:t>
            </a:r>
            <a:r>
              <a:rPr lang="zh-CN" altLang="en-US" dirty="0" smtClean="0"/>
              <a:t>（即</a:t>
            </a:r>
            <a:r>
              <a:rPr lang="en-US" altLang="zh-CN" dirty="0" smtClean="0"/>
              <a:t>p</a:t>
            </a:r>
            <a:r>
              <a:rPr lang="zh-CN" altLang="en-US" dirty="0" smtClean="0"/>
              <a:t>）</a:t>
            </a:r>
            <a:r>
              <a:rPr lang="en-US" altLang="zh-CN" dirty="0" smtClean="0"/>
              <a:t> </a:t>
            </a:r>
            <a:r>
              <a:rPr lang="zh-CN" altLang="en-US" dirty="0"/>
              <a:t>与 </a:t>
            </a:r>
            <a:r>
              <a:rPr lang="en-US" altLang="zh-CN" dirty="0"/>
              <a:t>&amp;a </a:t>
            </a:r>
            <a:r>
              <a:rPr lang="zh-CN" altLang="en-US" dirty="0" smtClean="0"/>
              <a:t>相同，是</a:t>
            </a:r>
            <a:r>
              <a:rPr lang="zh-CN" altLang="en-US" dirty="0" smtClean="0">
                <a:solidFill>
                  <a:srgbClr val="FF0000"/>
                </a:solidFill>
              </a:rPr>
              <a:t>地址</a:t>
            </a:r>
            <a:endParaRPr lang="en-US" altLang="zh-CN" dirty="0" smtClean="0">
              <a:solidFill>
                <a:srgbClr val="FF0000"/>
              </a:solidFill>
            </a:endParaRPr>
          </a:p>
          <a:p>
            <a:pPr marL="0" indent="0">
              <a:buNone/>
            </a:pPr>
            <a:r>
              <a:rPr lang="zh-CN" altLang="en-US" dirty="0" smtClean="0">
                <a:solidFill>
                  <a:srgbClr val="FF0000"/>
                </a:solidFill>
              </a:rPr>
              <a:t>    （*与</a:t>
            </a:r>
            <a:r>
              <a:rPr lang="en-US" altLang="zh-CN" dirty="0" smtClean="0">
                <a:solidFill>
                  <a:srgbClr val="FF0000"/>
                </a:solidFill>
              </a:rPr>
              <a:t>&amp;</a:t>
            </a:r>
            <a:r>
              <a:rPr lang="zh-CN" altLang="en-US" dirty="0" smtClean="0">
                <a:solidFill>
                  <a:srgbClr val="FF0000"/>
                </a:solidFill>
              </a:rPr>
              <a:t>互逆，相互抵消）</a:t>
            </a:r>
            <a:endParaRPr lang="zh-CN" altLang="en-US" dirty="0">
              <a:solidFill>
                <a:srgbClr val="FF0000"/>
              </a:solidFill>
            </a:endParaRPr>
          </a:p>
          <a:p>
            <a:pPr marL="0" indent="0">
              <a:buNone/>
            </a:pPr>
            <a:r>
              <a:rPr lang="zh-CN" altLang="en-US" dirty="0"/>
              <a:t>      *</a:t>
            </a:r>
            <a:r>
              <a:rPr lang="en-US" altLang="zh-CN" dirty="0"/>
              <a:t>&amp;a </a:t>
            </a:r>
            <a:r>
              <a:rPr lang="zh-CN" altLang="en-US" dirty="0" smtClean="0"/>
              <a:t>与  </a:t>
            </a:r>
            <a:r>
              <a:rPr lang="en-US" altLang="zh-CN" dirty="0" smtClean="0"/>
              <a:t>a   </a:t>
            </a:r>
            <a:r>
              <a:rPr lang="zh-CN" altLang="en-US" dirty="0" smtClean="0"/>
              <a:t>相同</a:t>
            </a:r>
            <a:r>
              <a:rPr lang="zh-CN" altLang="en-US" dirty="0"/>
              <a:t>，是</a:t>
            </a:r>
            <a:r>
              <a:rPr lang="zh-CN" altLang="en-US" dirty="0" smtClean="0">
                <a:solidFill>
                  <a:srgbClr val="FF0000"/>
                </a:solidFill>
              </a:rPr>
              <a:t>变量</a:t>
            </a:r>
            <a:r>
              <a:rPr lang="en-US" altLang="zh-CN" dirty="0" smtClean="0"/>
              <a:t>      </a:t>
            </a:r>
            <a:endParaRPr lang="en-US" altLang="zh-CN" dirty="0"/>
          </a:p>
          <a:p>
            <a:pPr marL="0" indent="0">
              <a:buNone/>
            </a:pPr>
            <a:r>
              <a:rPr lang="en-US" altLang="zh-CN" dirty="0"/>
              <a:t>(3) </a:t>
            </a:r>
            <a:r>
              <a:rPr lang="en-US" altLang="zh-CN" dirty="0" smtClean="0"/>
              <a:t>  </a:t>
            </a:r>
            <a:r>
              <a:rPr lang="en-US" altLang="zh-CN" dirty="0"/>
              <a:t>(*p)++  </a:t>
            </a:r>
            <a:r>
              <a:rPr lang="zh-CN" altLang="en-US" dirty="0"/>
              <a:t>等价于 </a:t>
            </a:r>
            <a:r>
              <a:rPr lang="en-US" altLang="zh-CN" dirty="0"/>
              <a:t>a++</a:t>
            </a:r>
          </a:p>
          <a:p>
            <a:pPr marL="0" indent="0">
              <a:buNone/>
            </a:pPr>
            <a:r>
              <a:rPr lang="en-US" altLang="zh-CN" dirty="0"/>
              <a:t>     </a:t>
            </a:r>
            <a:r>
              <a:rPr lang="en-US" altLang="zh-CN" dirty="0" smtClean="0"/>
              <a:t>   </a:t>
            </a:r>
            <a:r>
              <a:rPr lang="zh-CN" altLang="en-US" dirty="0" smtClean="0"/>
              <a:t>将 </a:t>
            </a:r>
            <a:r>
              <a:rPr lang="en-US" altLang="zh-CN" dirty="0"/>
              <a:t>p </a:t>
            </a:r>
            <a:r>
              <a:rPr lang="zh-CN" altLang="en-US" dirty="0"/>
              <a:t>所指向的变量值加</a:t>
            </a:r>
            <a:r>
              <a:rPr lang="en-US" altLang="zh-CN" dirty="0"/>
              <a:t>1</a:t>
            </a:r>
          </a:p>
          <a:p>
            <a:pPr marL="0" indent="0">
              <a:buNone/>
            </a:pPr>
            <a:r>
              <a:rPr lang="en-US" altLang="zh-CN" dirty="0" smtClean="0"/>
              <a:t>(4)   </a:t>
            </a:r>
            <a:r>
              <a:rPr lang="en-US" altLang="zh-CN" dirty="0"/>
              <a:t>*p++   </a:t>
            </a:r>
            <a:r>
              <a:rPr lang="zh-CN" altLang="en-US" dirty="0"/>
              <a:t>等价于 *</a:t>
            </a:r>
            <a:r>
              <a:rPr lang="en-US" altLang="zh-CN" dirty="0"/>
              <a:t>(p++)</a:t>
            </a:r>
          </a:p>
          <a:p>
            <a:pPr marL="0" indent="0">
              <a:buNone/>
            </a:pPr>
            <a:r>
              <a:rPr lang="en-US" altLang="zh-CN" dirty="0"/>
              <a:t>        </a:t>
            </a:r>
            <a:r>
              <a:rPr lang="zh-CN" altLang="en-US" dirty="0"/>
              <a:t>先取 *</a:t>
            </a:r>
            <a:r>
              <a:rPr lang="en-US" altLang="zh-CN" dirty="0"/>
              <a:t>p</a:t>
            </a:r>
            <a:r>
              <a:rPr lang="zh-CN" altLang="en-US" dirty="0"/>
              <a:t>，然后 </a:t>
            </a:r>
            <a:r>
              <a:rPr lang="en-US" altLang="zh-CN" dirty="0"/>
              <a:t>p </a:t>
            </a:r>
            <a:r>
              <a:rPr lang="zh-CN" altLang="en-US" dirty="0"/>
              <a:t>自加，此时</a:t>
            </a:r>
            <a:r>
              <a:rPr lang="en-US" altLang="zh-CN" dirty="0"/>
              <a:t>p</a:t>
            </a:r>
            <a:r>
              <a:rPr lang="zh-CN" altLang="en-US" dirty="0"/>
              <a:t>不再指向</a:t>
            </a:r>
            <a:r>
              <a:rPr lang="en-US" altLang="zh-CN" dirty="0"/>
              <a:t>a</a:t>
            </a:r>
          </a:p>
          <a:p>
            <a:pPr marL="0" indent="0">
              <a:buNone/>
            </a:pPr>
            <a:endParaRPr lang="zh-CN" altLang="en-US" dirty="0"/>
          </a:p>
        </p:txBody>
      </p:sp>
      <p:grpSp>
        <p:nvGrpSpPr>
          <p:cNvPr id="9" name="Group 2056"/>
          <p:cNvGrpSpPr>
            <a:grpSpLocks/>
          </p:cNvGrpSpPr>
          <p:nvPr/>
        </p:nvGrpSpPr>
        <p:grpSpPr bwMode="auto">
          <a:xfrm>
            <a:off x="2175669" y="481657"/>
            <a:ext cx="3797300" cy="1068387"/>
            <a:chOff x="2976" y="-1"/>
            <a:chExt cx="2392" cy="673"/>
          </a:xfrm>
        </p:grpSpPr>
        <p:grpSp>
          <p:nvGrpSpPr>
            <p:cNvPr id="10" name="Group 2057"/>
            <p:cNvGrpSpPr>
              <a:grpSpLocks/>
            </p:cNvGrpSpPr>
            <p:nvPr/>
          </p:nvGrpSpPr>
          <p:grpSpPr bwMode="auto">
            <a:xfrm>
              <a:off x="2976" y="-1"/>
              <a:ext cx="2016" cy="673"/>
              <a:chOff x="1056" y="2543"/>
              <a:chExt cx="2016" cy="673"/>
            </a:xfrm>
          </p:grpSpPr>
          <p:sp>
            <p:nvSpPr>
              <p:cNvPr id="12" name="Rectangle 2058"/>
              <p:cNvSpPr>
                <a:spLocks noChangeArrowheads="1"/>
              </p:cNvSpPr>
              <p:nvPr/>
            </p:nvSpPr>
            <p:spPr bwMode="auto">
              <a:xfrm>
                <a:off x="2544" y="2591"/>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t>a</a:t>
                </a:r>
              </a:p>
            </p:txBody>
          </p:sp>
          <p:sp>
            <p:nvSpPr>
              <p:cNvPr id="13" name="Rectangle 2059"/>
              <p:cNvSpPr>
                <a:spLocks noChangeArrowheads="1"/>
              </p:cNvSpPr>
              <p:nvPr/>
            </p:nvSpPr>
            <p:spPr bwMode="auto">
              <a:xfrm>
                <a:off x="2304" y="2928"/>
                <a:ext cx="768" cy="2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b="1"/>
                  <a:t>3</a:t>
                </a:r>
                <a:endParaRPr kumimoji="1" lang="zh-CN" altLang="en-US" sz="3200" b="1"/>
              </a:p>
            </p:txBody>
          </p:sp>
          <p:sp>
            <p:nvSpPr>
              <p:cNvPr id="14" name="Rectangle 2060"/>
              <p:cNvSpPr>
                <a:spLocks noChangeArrowheads="1"/>
              </p:cNvSpPr>
              <p:nvPr/>
            </p:nvSpPr>
            <p:spPr bwMode="auto">
              <a:xfrm>
                <a:off x="1056" y="2928"/>
                <a:ext cx="768" cy="2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b="1" dirty="0"/>
                  <a:t>&amp;</a:t>
                </a:r>
                <a:r>
                  <a:rPr lang="en-US" altLang="zh-CN" sz="2800" b="1" dirty="0"/>
                  <a:t>a</a:t>
                </a:r>
                <a:endParaRPr kumimoji="1" lang="en-US" altLang="zh-CN" sz="3200" b="1" dirty="0"/>
              </a:p>
            </p:txBody>
          </p:sp>
          <p:sp>
            <p:nvSpPr>
              <p:cNvPr id="15" name="Rectangle 2061"/>
              <p:cNvSpPr>
                <a:spLocks noChangeArrowheads="1"/>
              </p:cNvSpPr>
              <p:nvPr/>
            </p:nvSpPr>
            <p:spPr bwMode="auto">
              <a:xfrm>
                <a:off x="1344" y="2543"/>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t>p</a:t>
                </a:r>
              </a:p>
            </p:txBody>
          </p:sp>
          <p:sp>
            <p:nvSpPr>
              <p:cNvPr id="16" name="Line 2062"/>
              <p:cNvSpPr>
                <a:spLocks noChangeShapeType="1"/>
              </p:cNvSpPr>
              <p:nvPr/>
            </p:nvSpPr>
            <p:spPr bwMode="auto">
              <a:xfrm>
                <a:off x="1824" y="3072"/>
                <a:ext cx="48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11" name="Rectangle 2063"/>
            <p:cNvSpPr>
              <a:spLocks noChangeArrowheads="1"/>
            </p:cNvSpPr>
            <p:nvPr/>
          </p:nvSpPr>
          <p:spPr bwMode="auto">
            <a:xfrm>
              <a:off x="5030" y="336"/>
              <a:ext cx="338" cy="327"/>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2800" b="1" dirty="0"/>
                <a:t>*</a:t>
              </a:r>
              <a:r>
                <a:rPr lang="en-US" altLang="zh-CN" sz="2800" b="1" dirty="0"/>
                <a:t>p</a:t>
              </a:r>
            </a:p>
          </p:txBody>
        </p:sp>
      </p:grpSp>
      <p:sp>
        <p:nvSpPr>
          <p:cNvPr id="2" name="矩形 1"/>
          <p:cNvSpPr/>
          <p:nvPr/>
        </p:nvSpPr>
        <p:spPr>
          <a:xfrm>
            <a:off x="5843645" y="198139"/>
            <a:ext cx="2071571" cy="1384995"/>
          </a:xfrm>
          <a:prstGeom prst="rect">
            <a:avLst/>
          </a:prstGeom>
        </p:spPr>
        <p:txBody>
          <a:bodyPr wrap="square">
            <a:spAutoFit/>
          </a:bodyPr>
          <a:lstStyle/>
          <a:p>
            <a:r>
              <a:rPr lang="zh-CN" altLang="en-US" sz="2800" b="1" dirty="0" smtClean="0"/>
              <a:t>    int </a:t>
            </a:r>
            <a:r>
              <a:rPr lang="zh-CN" altLang="en-US" sz="2800" b="1" dirty="0"/>
              <a:t>a</a:t>
            </a:r>
            <a:r>
              <a:rPr lang="zh-CN" altLang="en-US" sz="2800" b="1" dirty="0" smtClean="0"/>
              <a:t>=</a:t>
            </a:r>
            <a:r>
              <a:rPr lang="en-US" altLang="zh-CN" sz="2800" b="1" dirty="0" smtClean="0"/>
              <a:t>3</a:t>
            </a:r>
            <a:r>
              <a:rPr lang="zh-CN" altLang="en-US" sz="2800" b="1" dirty="0" smtClean="0"/>
              <a:t>;</a:t>
            </a:r>
            <a:endParaRPr lang="zh-CN" altLang="en-US" sz="2800" b="1" dirty="0"/>
          </a:p>
          <a:p>
            <a:r>
              <a:rPr lang="zh-CN" altLang="en-US" sz="2800" b="1" dirty="0"/>
              <a:t>    int *</a:t>
            </a:r>
            <a:r>
              <a:rPr lang="zh-CN" altLang="en-US" sz="2800" b="1" dirty="0" smtClean="0"/>
              <a:t>p;</a:t>
            </a:r>
            <a:endParaRPr lang="zh-CN" altLang="en-US" sz="2800" b="1" dirty="0"/>
          </a:p>
          <a:p>
            <a:r>
              <a:rPr lang="zh-CN" altLang="en-US" sz="2800" b="1" dirty="0"/>
              <a:t>    </a:t>
            </a:r>
            <a:r>
              <a:rPr lang="zh-CN" altLang="en-US" sz="2800" b="1" dirty="0" smtClean="0"/>
              <a:t>p=&amp;</a:t>
            </a:r>
            <a:r>
              <a:rPr lang="zh-CN" altLang="en-US" sz="2800" b="1" dirty="0"/>
              <a:t>a;</a:t>
            </a:r>
          </a:p>
        </p:txBody>
      </p:sp>
    </p:spTree>
    <p:extLst>
      <p:ext uri="{BB962C8B-B14F-4D97-AF65-F5344CB8AC3E}">
        <p14:creationId xmlns:p14="http://schemas.microsoft.com/office/powerpoint/2010/main" val="2770630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977596" y="2896791"/>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6.1.3 </a:t>
            </a:r>
            <a:r>
              <a:rPr lang="zh-CN" altLang="en-US" sz="4000" b="1" dirty="0" smtClean="0">
                <a:effectLst>
                  <a:outerShdw blurRad="38100" dist="38100" dir="2700000" algn="tl">
                    <a:srgbClr val="C0C0C0"/>
                  </a:outerShdw>
                </a:effectLst>
                <a:ea typeface="黑体" panose="02010609060101010101" pitchFamily="2" charset="-122"/>
              </a:rPr>
              <a:t>指针与数组</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188020716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title"/>
          </p:nvPr>
        </p:nvSpPr>
        <p:spPr>
          <a:xfrm>
            <a:off x="744220" y="835343"/>
            <a:ext cx="8435975" cy="723900"/>
          </a:xfrm>
          <a:noFill/>
        </p:spPr>
        <p:txBody>
          <a:bodyPr lIns="92075" tIns="46038" rIns="92075" bIns="46038" anchor="b"/>
          <a:lstStyle/>
          <a:p>
            <a:pPr eaLnBrk="1" hangingPunct="1"/>
            <a:r>
              <a:rPr lang="zh-CN" altLang="en-US" dirty="0" smtClean="0"/>
              <a:t>指针与数组</a:t>
            </a:r>
          </a:p>
        </p:txBody>
      </p:sp>
      <p:sp>
        <p:nvSpPr>
          <p:cNvPr id="47108" name="Rectangle 30"/>
          <p:cNvSpPr>
            <a:spLocks noChangeArrowheads="1"/>
          </p:cNvSpPr>
          <p:nvPr/>
        </p:nvSpPr>
        <p:spPr bwMode="auto">
          <a:xfrm>
            <a:off x="596265" y="4016375"/>
            <a:ext cx="3276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Tx/>
              <a:buFontTx/>
              <a:buNone/>
            </a:pPr>
            <a:endParaRPr kumimoji="1" lang="zh-CN" altLang="en-US"/>
          </a:p>
        </p:txBody>
      </p:sp>
      <p:sp>
        <p:nvSpPr>
          <p:cNvPr id="26" name="内容占位符 1"/>
          <p:cNvSpPr>
            <a:spLocks noGrp="1"/>
          </p:cNvSpPr>
          <p:nvPr>
            <p:ph idx="1"/>
          </p:nvPr>
        </p:nvSpPr>
        <p:spPr>
          <a:xfrm>
            <a:off x="759730" y="1772816"/>
            <a:ext cx="7488758" cy="2376264"/>
          </a:xfrm>
        </p:spPr>
        <p:txBody>
          <a:bodyPr/>
          <a:lstStyle/>
          <a:p>
            <a:r>
              <a:rPr lang="zh-CN" altLang="en-US" dirty="0" smtClean="0">
                <a:solidFill>
                  <a:schemeClr val="accent4"/>
                </a:solidFill>
              </a:rPr>
              <a:t>指针不仅可以用来访问单个变量，也可以用来遍历访问数组</a:t>
            </a:r>
            <a:endParaRPr lang="en-US" altLang="zh-CN" dirty="0" smtClean="0">
              <a:solidFill>
                <a:schemeClr val="accent4"/>
              </a:solidFill>
            </a:endParaRPr>
          </a:p>
          <a:p>
            <a:r>
              <a:rPr lang="zh-CN" altLang="en-US" dirty="0" smtClean="0">
                <a:solidFill>
                  <a:schemeClr val="accent4"/>
                </a:solidFill>
              </a:rPr>
              <a:t>数量名是数组的第一个元素的内存地址，可以用数组名作为一个常量指针来引用数组元素</a:t>
            </a:r>
            <a:endParaRPr lang="en-US" altLang="zh-CN" dirty="0" smtClean="0">
              <a:solidFill>
                <a:schemeClr val="accent4"/>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title"/>
          </p:nvPr>
        </p:nvSpPr>
        <p:spPr>
          <a:xfrm>
            <a:off x="744220" y="835343"/>
            <a:ext cx="8435975" cy="723900"/>
          </a:xfrm>
          <a:noFill/>
        </p:spPr>
        <p:txBody>
          <a:bodyPr lIns="92075" tIns="46038" rIns="92075" bIns="46038" anchor="b"/>
          <a:lstStyle/>
          <a:p>
            <a:pPr eaLnBrk="1" hangingPunct="1"/>
            <a:r>
              <a:rPr lang="zh-CN" altLang="en-US" dirty="0" smtClean="0"/>
              <a:t>数组名和地址间的关系</a:t>
            </a:r>
          </a:p>
        </p:txBody>
      </p:sp>
      <p:sp>
        <p:nvSpPr>
          <p:cNvPr id="369674" name="Rectangle 10"/>
          <p:cNvSpPr>
            <a:spLocks noGrp="1" noChangeArrowheads="1"/>
          </p:cNvSpPr>
          <p:nvPr>
            <p:ph type="body" idx="1"/>
          </p:nvPr>
        </p:nvSpPr>
        <p:spPr>
          <a:xfrm>
            <a:off x="832741" y="1772817"/>
            <a:ext cx="7629551" cy="1609122"/>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a:bodyPr>
          <a:lstStyle/>
          <a:p>
            <a:pPr eaLnBrk="1" hangingPunct="1">
              <a:lnSpc>
                <a:spcPct val="90000"/>
              </a:lnSpc>
              <a:spcBef>
                <a:spcPct val="0"/>
              </a:spcBef>
              <a:buClrTx/>
              <a:buSzTx/>
              <a:buFontTx/>
              <a:buNone/>
            </a:pPr>
            <a:r>
              <a:rPr kumimoji="1" lang="en-US" altLang="zh-CN" sz="2400" dirty="0" smtClean="0"/>
              <a:t>    </a:t>
            </a:r>
            <a:r>
              <a:rPr kumimoji="1" lang="en-US" altLang="zh-CN" sz="2400" dirty="0" err="1" smtClean="0"/>
              <a:t>int</a:t>
            </a:r>
            <a:r>
              <a:rPr kumimoji="1" lang="en-US" altLang="zh-CN" sz="2400" dirty="0" smtClean="0"/>
              <a:t> a[100];</a:t>
            </a:r>
          </a:p>
          <a:p>
            <a:pPr eaLnBrk="1" hangingPunct="1">
              <a:lnSpc>
                <a:spcPct val="90000"/>
              </a:lnSpc>
              <a:spcBef>
                <a:spcPct val="0"/>
              </a:spcBef>
              <a:buClrTx/>
              <a:buSzTx/>
              <a:buFontTx/>
              <a:buNone/>
            </a:pPr>
            <a:r>
              <a:rPr lang="zh-CN" altLang="en-US" sz="2400" dirty="0" smtClean="0"/>
              <a:t>数组名</a:t>
            </a:r>
            <a:r>
              <a:rPr lang="en-US" altLang="zh-CN" sz="2400" dirty="0" smtClean="0">
                <a:solidFill>
                  <a:srgbClr val="FF0000"/>
                </a:solidFill>
              </a:rPr>
              <a:t>a</a:t>
            </a:r>
            <a:r>
              <a:rPr lang="zh-CN" altLang="en-US" sz="2400" dirty="0" smtClean="0"/>
              <a:t>代表一个地址，即数组首元素的地址（基地址）</a:t>
            </a:r>
            <a:endParaRPr lang="en-US" altLang="zh-CN" sz="2400" dirty="0" smtClean="0"/>
          </a:p>
          <a:p>
            <a:pPr eaLnBrk="1" hangingPunct="1">
              <a:lnSpc>
                <a:spcPct val="90000"/>
              </a:lnSpc>
              <a:spcBef>
                <a:spcPct val="0"/>
              </a:spcBef>
              <a:buClrTx/>
              <a:buSzTx/>
              <a:buFontTx/>
              <a:buNone/>
            </a:pPr>
            <a:r>
              <a:rPr lang="en-US" altLang="zh-CN" sz="2400" dirty="0" smtClean="0">
                <a:solidFill>
                  <a:srgbClr val="FF0000"/>
                </a:solidFill>
              </a:rPr>
              <a:t>    a[0]</a:t>
            </a:r>
            <a:r>
              <a:rPr lang="zh-CN" altLang="en-US" sz="2400" dirty="0">
                <a:solidFill>
                  <a:srgbClr val="FF0000"/>
                </a:solidFill>
              </a:rPr>
              <a:t>的地址</a:t>
            </a:r>
          </a:p>
          <a:p>
            <a:pPr eaLnBrk="1" hangingPunct="1">
              <a:lnSpc>
                <a:spcPct val="90000"/>
              </a:lnSpc>
              <a:spcBef>
                <a:spcPct val="0"/>
              </a:spcBef>
              <a:buClrTx/>
              <a:buSzTx/>
              <a:buFontTx/>
              <a:buNone/>
            </a:pPr>
            <a:r>
              <a:rPr lang="en-US" altLang="zh-CN" sz="2400" dirty="0" smtClean="0">
                <a:solidFill>
                  <a:srgbClr val="FF0000"/>
                </a:solidFill>
              </a:rPr>
              <a:t>a+i</a:t>
            </a:r>
            <a:r>
              <a:rPr kumimoji="1" lang="en-US" altLang="zh-CN" sz="2400" dirty="0" smtClean="0">
                <a:solidFill>
                  <a:schemeClr val="accent1"/>
                </a:solidFill>
              </a:rPr>
              <a:t> </a:t>
            </a:r>
            <a:r>
              <a:rPr kumimoji="1" lang="zh-CN" altLang="en-US" sz="2400" dirty="0" smtClean="0"/>
              <a:t>是距数组基地址的第</a:t>
            </a:r>
            <a:r>
              <a:rPr kumimoji="1" lang="en-US" altLang="zh-CN" sz="2400" dirty="0" err="1" smtClean="0"/>
              <a:t>i</a:t>
            </a:r>
            <a:r>
              <a:rPr kumimoji="1" lang="zh-CN" altLang="en-US" sz="2400" dirty="0" smtClean="0"/>
              <a:t>个偏移</a:t>
            </a:r>
            <a:endParaRPr lang="zh-CN" altLang="en-US" sz="2400" dirty="0" smtClean="0"/>
          </a:p>
        </p:txBody>
      </p:sp>
      <p:sp>
        <p:nvSpPr>
          <p:cNvPr id="47108" name="Rectangle 30"/>
          <p:cNvSpPr>
            <a:spLocks noChangeArrowheads="1"/>
          </p:cNvSpPr>
          <p:nvPr/>
        </p:nvSpPr>
        <p:spPr bwMode="auto">
          <a:xfrm>
            <a:off x="596265" y="4016375"/>
            <a:ext cx="3276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Tx/>
              <a:buFontTx/>
              <a:buNone/>
            </a:pPr>
            <a:endParaRPr kumimoji="1" lang="zh-CN" altLang="en-US"/>
          </a:p>
        </p:txBody>
      </p:sp>
      <p:grpSp>
        <p:nvGrpSpPr>
          <p:cNvPr id="369710" name="Group 46"/>
          <p:cNvGrpSpPr/>
          <p:nvPr/>
        </p:nvGrpSpPr>
        <p:grpSpPr bwMode="auto">
          <a:xfrm>
            <a:off x="2843808" y="3645024"/>
            <a:ext cx="5651501" cy="2895601"/>
            <a:chOff x="1837" y="960"/>
            <a:chExt cx="3560" cy="1824"/>
          </a:xfrm>
        </p:grpSpPr>
        <p:grpSp>
          <p:nvGrpSpPr>
            <p:cNvPr id="47113" name="Group 12"/>
            <p:cNvGrpSpPr/>
            <p:nvPr/>
          </p:nvGrpSpPr>
          <p:grpSpPr bwMode="auto">
            <a:xfrm>
              <a:off x="3840" y="1296"/>
              <a:ext cx="710" cy="1488"/>
              <a:chOff x="912" y="1008"/>
              <a:chExt cx="864" cy="1488"/>
            </a:xfrm>
          </p:grpSpPr>
          <p:sp>
            <p:nvSpPr>
              <p:cNvPr id="47135" name="Rectangle 13"/>
              <p:cNvSpPr>
                <a:spLocks noChangeArrowheads="1"/>
              </p:cNvSpPr>
              <p:nvPr/>
            </p:nvSpPr>
            <p:spPr bwMode="auto">
              <a:xfrm>
                <a:off x="912" y="1008"/>
                <a:ext cx="864" cy="14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36" name="Line 14"/>
              <p:cNvSpPr>
                <a:spLocks noChangeShapeType="1"/>
              </p:cNvSpPr>
              <p:nvPr/>
            </p:nvSpPr>
            <p:spPr bwMode="auto">
              <a:xfrm>
                <a:off x="912" y="1248"/>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37" name="Line 15"/>
              <p:cNvSpPr>
                <a:spLocks noChangeShapeType="1"/>
              </p:cNvSpPr>
              <p:nvPr/>
            </p:nvSpPr>
            <p:spPr bwMode="auto">
              <a:xfrm>
                <a:off x="912" y="1488"/>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38" name="Line 16"/>
              <p:cNvSpPr>
                <a:spLocks noChangeShapeType="1"/>
              </p:cNvSpPr>
              <p:nvPr/>
            </p:nvSpPr>
            <p:spPr bwMode="auto">
              <a:xfrm>
                <a:off x="912" y="1728"/>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39" name="Line 17"/>
              <p:cNvSpPr>
                <a:spLocks noChangeShapeType="1"/>
              </p:cNvSpPr>
              <p:nvPr/>
            </p:nvSpPr>
            <p:spPr bwMode="auto">
              <a:xfrm>
                <a:off x="912" y="2016"/>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40" name="Line 18"/>
              <p:cNvSpPr>
                <a:spLocks noChangeShapeType="1"/>
              </p:cNvSpPr>
              <p:nvPr/>
            </p:nvSpPr>
            <p:spPr bwMode="auto">
              <a:xfrm>
                <a:off x="912" y="2256"/>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grpSp>
        <p:sp>
          <p:nvSpPr>
            <p:cNvPr id="47114" name="Rectangle 19"/>
            <p:cNvSpPr>
              <a:spLocks noChangeArrowheads="1"/>
            </p:cNvSpPr>
            <p:nvPr/>
          </p:nvSpPr>
          <p:spPr bwMode="auto">
            <a:xfrm>
              <a:off x="1837" y="1253"/>
              <a:ext cx="3560" cy="31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a:solidFill>
                    <a:srgbClr val="002060"/>
                  </a:solidFill>
                </a:rPr>
                <a:t>a</a:t>
              </a:r>
              <a:r>
                <a:rPr kumimoji="1" lang="zh-CN" altLang="en-US" sz="2400" b="1" dirty="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a[0]  </a:t>
              </a:r>
              <a:r>
                <a:rPr lang="zh-CN" altLang="en-US" sz="2400" b="1" dirty="0" smtClean="0">
                  <a:effectLst>
                    <a:outerShdw blurRad="38100" dist="38100" dir="2700000" algn="tl">
                      <a:srgbClr val="C0C0C0"/>
                    </a:outerShdw>
                  </a:effectLst>
                </a:rPr>
                <a:t>0</a:t>
              </a:r>
              <a:r>
                <a:rPr lang="en-US" altLang="zh-CN" sz="2400" b="1" dirty="0" smtClean="0">
                  <a:effectLst>
                    <a:outerShdw blurRad="38100" dist="38100" dir="2700000" algn="tl">
                      <a:srgbClr val="C0C0C0"/>
                    </a:outerShdw>
                  </a:effectLst>
                </a:rPr>
                <a:t>x0022ff10</a:t>
              </a:r>
              <a:r>
                <a:rPr kumimoji="1" lang="en-US" altLang="zh-CN" sz="2400" b="1" dirty="0" smtClean="0"/>
                <a:t>              a[0]</a:t>
              </a:r>
              <a:r>
                <a:rPr kumimoji="1" lang="zh-CN" altLang="en-US" sz="2400" b="1" dirty="0" smtClean="0"/>
                <a:t>或</a:t>
              </a:r>
              <a:r>
                <a:rPr kumimoji="1" lang="en-US" altLang="zh-CN" sz="2400" b="1" dirty="0" smtClean="0"/>
                <a:t>*(a+0)</a:t>
              </a:r>
              <a:endParaRPr kumimoji="1" lang="en-US" altLang="zh-CN" sz="2400" b="1" dirty="0">
                <a:solidFill>
                  <a:schemeClr val="accent1"/>
                </a:solidFill>
              </a:endParaRPr>
            </a:p>
          </p:txBody>
        </p:sp>
        <p:sp>
          <p:nvSpPr>
            <p:cNvPr id="47115" name="Rectangle 20"/>
            <p:cNvSpPr>
              <a:spLocks noChangeArrowheads="1"/>
            </p:cNvSpPr>
            <p:nvPr/>
          </p:nvSpPr>
          <p:spPr bwMode="auto">
            <a:xfrm>
              <a:off x="1927" y="960"/>
              <a:ext cx="2352"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smtClean="0">
                  <a:latin typeface="Times New Roman" panose="02020603050405020304" pitchFamily="18" charset="0"/>
                </a:rPr>
                <a:t>表示地址  内存地址       </a:t>
              </a:r>
              <a:r>
                <a:rPr kumimoji="1" lang="zh-CN" altLang="en-US" sz="2400" b="1" dirty="0">
                  <a:latin typeface="Times New Roman" panose="02020603050405020304" pitchFamily="18" charset="0"/>
                </a:rPr>
                <a:t>内容        数组元素</a:t>
              </a:r>
              <a:endParaRPr kumimoji="1" lang="en-US" altLang="zh-CN" sz="2400" b="1" dirty="0">
                <a:latin typeface="Times New Roman" panose="02020603050405020304" pitchFamily="18" charset="0"/>
              </a:endParaRPr>
            </a:p>
          </p:txBody>
        </p:sp>
        <p:sp>
          <p:nvSpPr>
            <p:cNvPr id="47131" name="Rectangle 26"/>
            <p:cNvSpPr>
              <a:spLocks noChangeArrowheads="1"/>
            </p:cNvSpPr>
            <p:nvPr/>
          </p:nvSpPr>
          <p:spPr bwMode="auto">
            <a:xfrm>
              <a:off x="1896" y="1330"/>
              <a:ext cx="893" cy="24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endParaRPr kumimoji="1" lang="en-US" altLang="zh-CN" sz="2400" b="1" dirty="0">
                <a:solidFill>
                  <a:srgbClr val="002060"/>
                </a:solidFill>
              </a:endParaRPr>
            </a:p>
          </p:txBody>
        </p:sp>
      </p:grpSp>
      <p:sp>
        <p:nvSpPr>
          <p:cNvPr id="37" name="Rectangle 19"/>
          <p:cNvSpPr>
            <a:spLocks noChangeArrowheads="1"/>
          </p:cNvSpPr>
          <p:nvPr/>
        </p:nvSpPr>
        <p:spPr bwMode="auto">
          <a:xfrm>
            <a:off x="2483344" y="4469904"/>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solidFill>
                  <a:srgbClr val="002060"/>
                </a:solidFill>
              </a:rPr>
              <a:t>a+1</a:t>
            </a:r>
            <a:r>
              <a:rPr kumimoji="1" lang="zh-CN" altLang="en-US" sz="2400" b="1" dirty="0" smtClean="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a[1]  </a:t>
            </a:r>
            <a:r>
              <a:rPr lang="zh-CN" altLang="en-US" sz="2400" b="1" dirty="0" smtClean="0">
                <a:effectLst>
                  <a:outerShdw blurRad="38100" dist="38100" dir="2700000" algn="tl">
                    <a:srgbClr val="C0C0C0"/>
                  </a:outerShdw>
                </a:effectLst>
              </a:rPr>
              <a:t>0</a:t>
            </a:r>
            <a:r>
              <a:rPr lang="en-US" altLang="zh-CN" sz="2400" b="1" dirty="0" smtClean="0">
                <a:effectLst>
                  <a:outerShdw blurRad="38100" dist="38100" dir="2700000" algn="tl">
                    <a:srgbClr val="C0C0C0"/>
                  </a:outerShdw>
                </a:effectLst>
              </a:rPr>
              <a:t>x0022ff14</a:t>
            </a:r>
            <a:r>
              <a:rPr kumimoji="1" lang="en-US" altLang="zh-CN" sz="2400" b="1" dirty="0" smtClean="0"/>
              <a:t>              a[1]</a:t>
            </a:r>
            <a:r>
              <a:rPr kumimoji="1" lang="zh-CN" altLang="en-US" sz="2400" b="1" dirty="0" smtClean="0"/>
              <a:t>或</a:t>
            </a:r>
            <a:r>
              <a:rPr kumimoji="1" lang="en-US" altLang="zh-CN" sz="2400" b="1" dirty="0" smtClean="0"/>
              <a:t>*(a+1)</a:t>
            </a:r>
            <a:endParaRPr kumimoji="1" lang="en-US" altLang="zh-CN" sz="2400" b="1" dirty="0">
              <a:solidFill>
                <a:schemeClr val="accent1"/>
              </a:solidFill>
            </a:endParaRPr>
          </a:p>
        </p:txBody>
      </p:sp>
      <p:sp>
        <p:nvSpPr>
          <p:cNvPr id="39" name="Rectangle 19"/>
          <p:cNvSpPr>
            <a:spLocks noChangeArrowheads="1"/>
          </p:cNvSpPr>
          <p:nvPr/>
        </p:nvSpPr>
        <p:spPr bwMode="auto">
          <a:xfrm>
            <a:off x="2483344" y="4902770"/>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solidFill>
                  <a:srgbClr val="002060"/>
                </a:solidFill>
              </a:rPr>
              <a:t>a+2</a:t>
            </a:r>
            <a:r>
              <a:rPr kumimoji="1" lang="zh-CN" altLang="en-US" sz="2400" b="1" dirty="0" smtClean="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a[2]  </a:t>
            </a:r>
            <a:r>
              <a:rPr lang="zh-CN" altLang="en-US" sz="2400" b="1" dirty="0" smtClean="0">
                <a:effectLst>
                  <a:outerShdw blurRad="38100" dist="38100" dir="2700000" algn="tl">
                    <a:srgbClr val="C0C0C0"/>
                  </a:outerShdw>
                </a:effectLst>
              </a:rPr>
              <a:t>0</a:t>
            </a:r>
            <a:r>
              <a:rPr lang="en-US" altLang="zh-CN" sz="2400" b="1" dirty="0" smtClean="0">
                <a:effectLst>
                  <a:outerShdw blurRad="38100" dist="38100" dir="2700000" algn="tl">
                    <a:srgbClr val="C0C0C0"/>
                  </a:outerShdw>
                </a:effectLst>
              </a:rPr>
              <a:t>x0022ff18</a:t>
            </a:r>
            <a:r>
              <a:rPr kumimoji="1" lang="en-US" altLang="zh-CN" sz="2400" b="1" dirty="0" smtClean="0"/>
              <a:t>              a[2]</a:t>
            </a:r>
            <a:r>
              <a:rPr kumimoji="1" lang="zh-CN" altLang="en-US" sz="2400" b="1" dirty="0" smtClean="0"/>
              <a:t>或</a:t>
            </a:r>
            <a:r>
              <a:rPr kumimoji="1" lang="en-US" altLang="zh-CN" sz="2400" b="1" dirty="0" smtClean="0"/>
              <a:t>*(a+2)</a:t>
            </a:r>
            <a:endParaRPr kumimoji="1" lang="en-US" altLang="zh-CN" sz="2400" b="1" dirty="0">
              <a:solidFill>
                <a:schemeClr val="accent1"/>
              </a:solidFill>
            </a:endParaRPr>
          </a:p>
        </p:txBody>
      </p:sp>
      <p:sp>
        <p:nvSpPr>
          <p:cNvPr id="40" name="Rectangle 19"/>
          <p:cNvSpPr>
            <a:spLocks noChangeArrowheads="1"/>
          </p:cNvSpPr>
          <p:nvPr/>
        </p:nvSpPr>
        <p:spPr bwMode="auto">
          <a:xfrm>
            <a:off x="2627360" y="5694040"/>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solidFill>
                  <a:srgbClr val="002060"/>
                </a:solidFill>
              </a:rPr>
              <a:t>a+i</a:t>
            </a:r>
            <a:r>
              <a:rPr kumimoji="1" lang="zh-CN" altLang="en-US" sz="2400" b="1" dirty="0" smtClean="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a[i]   </a:t>
            </a:r>
            <a:r>
              <a:rPr lang="en-US" altLang="zh-CN" sz="2400" b="1" dirty="0" smtClean="0">
                <a:effectLst>
                  <a:outerShdw blurRad="38100" dist="38100" dir="2700000" algn="tl">
                    <a:srgbClr val="C0C0C0"/>
                  </a:outerShdw>
                </a:effectLst>
              </a:rPr>
              <a:t>…………</a:t>
            </a:r>
            <a:r>
              <a:rPr kumimoji="1" lang="en-US" altLang="zh-CN" sz="2400" b="1" dirty="0" smtClean="0"/>
              <a:t>                  a[i]</a:t>
            </a:r>
            <a:r>
              <a:rPr kumimoji="1" lang="zh-CN" altLang="en-US" sz="2400" b="1" dirty="0" smtClean="0"/>
              <a:t>或</a:t>
            </a:r>
            <a:r>
              <a:rPr kumimoji="1" lang="en-US" altLang="zh-CN" sz="2400" b="1" dirty="0" smtClean="0"/>
              <a:t>*(a+i)</a:t>
            </a:r>
            <a:endParaRPr kumimoji="1" lang="en-US" altLang="zh-CN" sz="2400" b="1" dirty="0">
              <a:solidFill>
                <a:schemeClr val="accent1"/>
              </a:solidFill>
            </a:endParaRPr>
          </a:p>
        </p:txBody>
      </p:sp>
      <p:sp>
        <p:nvSpPr>
          <p:cNvPr id="41" name="Rectangle 19"/>
          <p:cNvSpPr>
            <a:spLocks noChangeArrowheads="1"/>
          </p:cNvSpPr>
          <p:nvPr/>
        </p:nvSpPr>
        <p:spPr bwMode="auto">
          <a:xfrm>
            <a:off x="3059408" y="5262810"/>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t>………</a:t>
            </a:r>
            <a:endParaRPr kumimoji="1" lang="en-US" altLang="zh-CN" sz="2400" b="1" dirty="0"/>
          </a:p>
        </p:txBody>
      </p:sp>
      <p:sp>
        <p:nvSpPr>
          <p:cNvPr id="42" name="Rectangle 19"/>
          <p:cNvSpPr>
            <a:spLocks noChangeArrowheads="1"/>
          </p:cNvSpPr>
          <p:nvPr/>
        </p:nvSpPr>
        <p:spPr bwMode="auto">
          <a:xfrm>
            <a:off x="3096539" y="6054080"/>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t>………</a:t>
            </a:r>
            <a:endParaRPr kumimoji="1" lang="en-US" altLang="zh-CN" sz="2400" b="1" dirty="0"/>
          </a:p>
        </p:txBody>
      </p:sp>
    </p:spTree>
    <p:extLst>
      <p:ext uri="{BB962C8B-B14F-4D97-AF65-F5344CB8AC3E}">
        <p14:creationId xmlns:p14="http://schemas.microsoft.com/office/powerpoint/2010/main" val="401417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650" y="765175"/>
            <a:ext cx="8208838" cy="784225"/>
          </a:xfrm>
        </p:spPr>
        <p:txBody>
          <a:bodyPr/>
          <a:lstStyle/>
          <a:p>
            <a:r>
              <a:rPr lang="zh-CN" altLang="en-US" sz="2400" dirty="0" smtClean="0"/>
              <a:t>【例】分别用下标和数组</a:t>
            </a:r>
            <a:r>
              <a:rPr lang="zh-CN" altLang="en-US" sz="2400" dirty="0"/>
              <a:t>名做基地址完成数组的</a:t>
            </a:r>
            <a:r>
              <a:rPr lang="zh-CN" altLang="en-US" sz="2400" dirty="0" smtClean="0"/>
              <a:t>输入输出</a:t>
            </a:r>
            <a:endParaRPr lang="zh-CN" altLang="en-US" sz="2400" dirty="0"/>
          </a:p>
        </p:txBody>
      </p:sp>
      <p:sp>
        <p:nvSpPr>
          <p:cNvPr id="3" name="内容占位符 2"/>
          <p:cNvSpPr>
            <a:spLocks noGrp="1"/>
          </p:cNvSpPr>
          <p:nvPr>
            <p:ph idx="1"/>
          </p:nvPr>
        </p:nvSpPr>
        <p:spPr>
          <a:xfrm>
            <a:off x="4355976" y="1700808"/>
            <a:ext cx="4634577" cy="4680496"/>
          </a:xfrm>
        </p:spPr>
        <p:txBody>
          <a:bodyPr/>
          <a:lstStyle/>
          <a:p>
            <a:pPr marL="0" indent="0">
              <a:spcBef>
                <a:spcPts val="0"/>
              </a:spcBef>
              <a:buNone/>
            </a:pPr>
            <a:r>
              <a:rPr lang="en-US" altLang="zh-CN" sz="1800" dirty="0"/>
              <a:t>#include  &lt;</a:t>
            </a:r>
            <a:r>
              <a:rPr lang="en-US" altLang="zh-CN" sz="1800" dirty="0" err="1"/>
              <a:t>stdio.h</a:t>
            </a:r>
            <a:r>
              <a:rPr lang="en-US" altLang="zh-CN" sz="1800" dirty="0"/>
              <a:t>&gt;</a:t>
            </a:r>
          </a:p>
          <a:p>
            <a:pPr marL="0" indent="0">
              <a:spcBef>
                <a:spcPts val="0"/>
              </a:spcBef>
              <a:buNone/>
            </a:pPr>
            <a:r>
              <a:rPr lang="en-US" altLang="zh-CN" sz="1800" dirty="0" err="1"/>
              <a:t>int</a:t>
            </a:r>
            <a:r>
              <a:rPr lang="en-US" altLang="zh-CN" sz="1800" dirty="0"/>
              <a:t> main()</a:t>
            </a:r>
          </a:p>
          <a:p>
            <a:pPr marL="0" indent="0">
              <a:spcBef>
                <a:spcPts val="0"/>
              </a:spcBef>
              <a:buNone/>
            </a:pPr>
            <a:r>
              <a:rPr lang="en-US" altLang="zh-CN" sz="1800" dirty="0"/>
              <a:t>{</a:t>
            </a:r>
          </a:p>
          <a:p>
            <a:pPr marL="0" indent="0">
              <a:spcBef>
                <a:spcPts val="0"/>
              </a:spcBef>
              <a:buNone/>
            </a:pPr>
            <a:r>
              <a:rPr lang="en-US" altLang="zh-CN" sz="1800" dirty="0"/>
              <a:t>  </a:t>
            </a:r>
            <a:r>
              <a:rPr lang="en-US" altLang="zh-CN" sz="1800" dirty="0" err="1"/>
              <a:t>int</a:t>
            </a:r>
            <a:r>
              <a:rPr lang="en-US" altLang="zh-CN" sz="1800" dirty="0"/>
              <a:t> a[10];</a:t>
            </a:r>
          </a:p>
          <a:p>
            <a:pPr marL="0" indent="0">
              <a:spcBef>
                <a:spcPts val="0"/>
              </a:spcBef>
              <a:buNone/>
            </a:pPr>
            <a:r>
              <a:rPr lang="en-US" altLang="zh-CN" sz="1800" dirty="0"/>
              <a:t>  </a:t>
            </a:r>
            <a:r>
              <a:rPr lang="en-US" altLang="zh-CN" sz="1800" dirty="0" err="1"/>
              <a:t>int</a:t>
            </a:r>
            <a:r>
              <a:rPr lang="en-US" altLang="zh-CN" sz="1800" dirty="0"/>
              <a:t> </a:t>
            </a:r>
            <a:r>
              <a:rPr lang="en-US" altLang="zh-CN" sz="1800" dirty="0" err="1"/>
              <a:t>i</a:t>
            </a:r>
            <a:r>
              <a:rPr lang="en-US" altLang="zh-CN" sz="1800" dirty="0"/>
              <a:t>;</a:t>
            </a:r>
          </a:p>
          <a:p>
            <a:pPr marL="0" indent="0">
              <a:spcBef>
                <a:spcPts val="0"/>
              </a:spcBef>
              <a:buNone/>
            </a:pPr>
            <a:r>
              <a:rPr lang="en-US" altLang="zh-CN" sz="1800" dirty="0"/>
              <a:t>  for(</a:t>
            </a:r>
            <a:r>
              <a:rPr lang="en-US" altLang="zh-CN" sz="1800" dirty="0" err="1"/>
              <a:t>i</a:t>
            </a:r>
            <a:r>
              <a:rPr lang="en-US" altLang="zh-CN" sz="1800" dirty="0"/>
              <a:t>=0;i&lt;10;i++)</a:t>
            </a:r>
          </a:p>
          <a:p>
            <a:pPr marL="0" indent="0">
              <a:spcBef>
                <a:spcPts val="0"/>
              </a:spcBef>
              <a:buNone/>
            </a:pPr>
            <a:r>
              <a:rPr lang="en-US" altLang="zh-CN" sz="1800" dirty="0"/>
              <a:t>    </a:t>
            </a:r>
            <a:r>
              <a:rPr lang="en-US" altLang="zh-CN" sz="1800" dirty="0" err="1"/>
              <a:t>scanf</a:t>
            </a:r>
            <a:r>
              <a:rPr lang="en-US" altLang="zh-CN" sz="1800" dirty="0"/>
              <a:t>("%d",</a:t>
            </a:r>
            <a:r>
              <a:rPr lang="en-US" altLang="zh-CN" sz="1800" dirty="0" err="1">
                <a:solidFill>
                  <a:srgbClr val="FF0000"/>
                </a:solidFill>
              </a:rPr>
              <a:t>a+i</a:t>
            </a:r>
            <a:r>
              <a:rPr lang="en-US" altLang="zh-CN" sz="1800" dirty="0"/>
              <a:t>);    </a:t>
            </a:r>
            <a:endParaRPr lang="en-US" altLang="zh-CN" sz="1800" dirty="0" smtClean="0"/>
          </a:p>
          <a:p>
            <a:pPr marL="0" indent="0">
              <a:spcBef>
                <a:spcPts val="0"/>
              </a:spcBef>
              <a:buNone/>
            </a:pPr>
            <a:r>
              <a:rPr lang="en-US" altLang="zh-CN" sz="1800" dirty="0"/>
              <a:t> </a:t>
            </a:r>
            <a:r>
              <a:rPr lang="en-US" altLang="zh-CN" sz="1800" dirty="0" smtClean="0"/>
              <a:t>   //</a:t>
            </a:r>
            <a:r>
              <a:rPr lang="zh-CN" altLang="en-US" sz="1800" dirty="0"/>
              <a:t>这里用数组名</a:t>
            </a:r>
            <a:r>
              <a:rPr lang="en-US" altLang="zh-CN" sz="1800" dirty="0"/>
              <a:t>+</a:t>
            </a:r>
            <a:r>
              <a:rPr lang="zh-CN" altLang="en-US" sz="1800" dirty="0"/>
              <a:t>偏移表示数组元素的地址</a:t>
            </a:r>
          </a:p>
          <a:p>
            <a:pPr marL="0" indent="0">
              <a:spcBef>
                <a:spcPts val="0"/>
              </a:spcBef>
              <a:buNone/>
            </a:pPr>
            <a:r>
              <a:rPr lang="zh-CN" altLang="en-US" sz="1800" dirty="0"/>
              <a:t>  </a:t>
            </a:r>
            <a:r>
              <a:rPr lang="en-US" altLang="zh-CN" sz="1800" dirty="0"/>
              <a:t>for(</a:t>
            </a:r>
            <a:r>
              <a:rPr lang="en-US" altLang="zh-CN" sz="1800" dirty="0" err="1"/>
              <a:t>i</a:t>
            </a:r>
            <a:r>
              <a:rPr lang="en-US" altLang="zh-CN" sz="1800" dirty="0"/>
              <a:t>=0;i&lt;10;i++)</a:t>
            </a:r>
          </a:p>
          <a:p>
            <a:pPr marL="0" indent="0">
              <a:spcBef>
                <a:spcPts val="0"/>
              </a:spcBef>
              <a:buNone/>
            </a:pPr>
            <a:r>
              <a:rPr lang="en-US" altLang="zh-CN" sz="1800" dirty="0"/>
              <a:t>    </a:t>
            </a:r>
            <a:r>
              <a:rPr lang="en-US" altLang="zh-CN" sz="1800" dirty="0" err="1"/>
              <a:t>printf</a:t>
            </a:r>
            <a:r>
              <a:rPr lang="en-US" altLang="zh-CN" sz="1800" dirty="0"/>
              <a:t>("%d ",</a:t>
            </a:r>
            <a:r>
              <a:rPr lang="en-US" altLang="zh-CN" sz="1800" dirty="0">
                <a:solidFill>
                  <a:srgbClr val="FF0000"/>
                </a:solidFill>
              </a:rPr>
              <a:t>*(</a:t>
            </a:r>
            <a:r>
              <a:rPr lang="en-US" altLang="zh-CN" sz="1800" dirty="0" err="1">
                <a:solidFill>
                  <a:srgbClr val="FF0000"/>
                </a:solidFill>
              </a:rPr>
              <a:t>a+i</a:t>
            </a:r>
            <a:r>
              <a:rPr lang="en-US" altLang="zh-CN" sz="1800" dirty="0" smtClean="0">
                <a:solidFill>
                  <a:srgbClr val="FF0000"/>
                </a:solidFill>
              </a:rPr>
              <a:t>)</a:t>
            </a:r>
            <a:r>
              <a:rPr lang="en-US" altLang="zh-CN" sz="1800" dirty="0" smtClean="0"/>
              <a:t>);</a:t>
            </a:r>
          </a:p>
          <a:p>
            <a:pPr marL="0" indent="0">
              <a:spcBef>
                <a:spcPts val="0"/>
              </a:spcBef>
              <a:buNone/>
            </a:pPr>
            <a:r>
              <a:rPr lang="en-US" altLang="zh-CN" sz="1800" dirty="0"/>
              <a:t> </a:t>
            </a:r>
            <a:r>
              <a:rPr lang="en-US" altLang="zh-CN" sz="1800" dirty="0" smtClean="0"/>
              <a:t>   //</a:t>
            </a:r>
            <a:r>
              <a:rPr lang="zh-CN" altLang="en-US" sz="1800" dirty="0"/>
              <a:t>这里用指针常量引用法表示数组元素</a:t>
            </a:r>
          </a:p>
          <a:p>
            <a:pPr marL="0" indent="0">
              <a:spcBef>
                <a:spcPts val="0"/>
              </a:spcBef>
              <a:buNone/>
            </a:pPr>
            <a:r>
              <a:rPr lang="zh-CN" altLang="en-US" sz="1800" dirty="0"/>
              <a:t>  </a:t>
            </a:r>
            <a:r>
              <a:rPr lang="en-US" altLang="zh-CN" sz="1800" dirty="0"/>
              <a:t>return 0;</a:t>
            </a:r>
          </a:p>
          <a:p>
            <a:pPr marL="0" indent="0">
              <a:spcBef>
                <a:spcPts val="0"/>
              </a:spcBef>
              <a:buNone/>
            </a:pPr>
            <a:r>
              <a:rPr lang="en-US" altLang="zh-CN" sz="1800" dirty="0"/>
              <a:t>}</a:t>
            </a:r>
            <a:endParaRPr lang="zh-CN" altLang="en-US" sz="1800" dirty="0"/>
          </a:p>
        </p:txBody>
      </p:sp>
      <p:sp>
        <p:nvSpPr>
          <p:cNvPr id="5" name="矩形 4"/>
          <p:cNvSpPr/>
          <p:nvPr/>
        </p:nvSpPr>
        <p:spPr>
          <a:xfrm>
            <a:off x="971600" y="1700808"/>
            <a:ext cx="3240360" cy="3748719"/>
          </a:xfrm>
          <a:prstGeom prst="rect">
            <a:avLst/>
          </a:prstGeom>
        </p:spPr>
        <p:txBody>
          <a:bodyPr wrap="square">
            <a:spAutoFit/>
          </a:bodyPr>
          <a:lstStyle/>
          <a:p>
            <a:pPr>
              <a:lnSpc>
                <a:spcPct val="120000"/>
              </a:lnSpc>
            </a:pPr>
            <a:r>
              <a:rPr lang="zh-CN" altLang="en-US" sz="1800" b="1" dirty="0">
                <a:effectLst>
                  <a:outerShdw blurRad="38100" dist="38100" dir="2700000" algn="tl">
                    <a:srgbClr val="000000">
                      <a:alpha val="43137"/>
                    </a:srgbClr>
                  </a:outerShdw>
                </a:effectLst>
              </a:rPr>
              <a:t>#include  &lt;stdio.h&gt;</a:t>
            </a:r>
          </a:p>
          <a:p>
            <a:pPr>
              <a:lnSpc>
                <a:spcPct val="120000"/>
              </a:lnSpc>
            </a:pPr>
            <a:r>
              <a:rPr lang="zh-CN" altLang="en-US" sz="1800" b="1" dirty="0">
                <a:effectLst>
                  <a:outerShdw blurRad="38100" dist="38100" dir="2700000" algn="tl">
                    <a:srgbClr val="000000">
                      <a:alpha val="43137"/>
                    </a:srgbClr>
                  </a:outerShdw>
                </a:effectLst>
              </a:rPr>
              <a:t>int main()</a:t>
            </a:r>
          </a:p>
          <a:p>
            <a:pPr>
              <a:lnSpc>
                <a:spcPct val="120000"/>
              </a:lnSpc>
            </a:pPr>
            <a:r>
              <a:rPr lang="zh-CN" altLang="en-US" sz="1800" b="1" dirty="0">
                <a:effectLst>
                  <a:outerShdw blurRad="38100" dist="38100" dir="2700000" algn="tl">
                    <a:srgbClr val="000000">
                      <a:alpha val="43137"/>
                    </a:srgbClr>
                  </a:outerShdw>
                </a:effectLst>
              </a:rPr>
              <a:t>{</a:t>
            </a:r>
          </a:p>
          <a:p>
            <a:pPr>
              <a:lnSpc>
                <a:spcPct val="120000"/>
              </a:lnSpc>
            </a:pPr>
            <a:r>
              <a:rPr lang="zh-CN" altLang="en-US" sz="1800" b="1" dirty="0">
                <a:effectLst>
                  <a:outerShdw blurRad="38100" dist="38100" dir="2700000" algn="tl">
                    <a:srgbClr val="000000">
                      <a:alpha val="43137"/>
                    </a:srgbClr>
                  </a:outerShdw>
                </a:effectLst>
              </a:rPr>
              <a:t>  int a[10];</a:t>
            </a:r>
          </a:p>
          <a:p>
            <a:pPr>
              <a:lnSpc>
                <a:spcPct val="120000"/>
              </a:lnSpc>
            </a:pPr>
            <a:r>
              <a:rPr lang="zh-CN" altLang="en-US" sz="1800" b="1" dirty="0">
                <a:effectLst>
                  <a:outerShdw blurRad="38100" dist="38100" dir="2700000" algn="tl">
                    <a:srgbClr val="000000">
                      <a:alpha val="43137"/>
                    </a:srgbClr>
                  </a:outerShdw>
                </a:effectLst>
              </a:rPr>
              <a:t>  int i;</a:t>
            </a:r>
          </a:p>
          <a:p>
            <a:pPr>
              <a:lnSpc>
                <a:spcPct val="120000"/>
              </a:lnSpc>
            </a:pPr>
            <a:r>
              <a:rPr lang="zh-CN" altLang="en-US" sz="1800" b="1" dirty="0">
                <a:effectLst>
                  <a:outerShdw blurRad="38100" dist="38100" dir="2700000" algn="tl">
                    <a:srgbClr val="000000">
                      <a:alpha val="43137"/>
                    </a:srgbClr>
                  </a:outerShdw>
                </a:effectLst>
              </a:rPr>
              <a:t>  for(i=0;i&lt;10;i++)</a:t>
            </a:r>
          </a:p>
          <a:p>
            <a:pPr>
              <a:lnSpc>
                <a:spcPct val="120000"/>
              </a:lnSpc>
            </a:pPr>
            <a:r>
              <a:rPr lang="zh-CN" altLang="en-US" sz="1800" b="1" dirty="0">
                <a:effectLst>
                  <a:outerShdw blurRad="38100" dist="38100" dir="2700000" algn="tl">
                    <a:srgbClr val="000000">
                      <a:alpha val="43137"/>
                    </a:srgbClr>
                  </a:outerShdw>
                </a:effectLst>
              </a:rPr>
              <a:t>    scanf("%d",</a:t>
            </a:r>
            <a:r>
              <a:rPr lang="zh-CN" altLang="en-US" sz="1800" b="1" dirty="0">
                <a:solidFill>
                  <a:srgbClr val="FF0000"/>
                </a:solidFill>
                <a:effectLst>
                  <a:outerShdw blurRad="38100" dist="38100" dir="2700000" algn="tl">
                    <a:srgbClr val="000000">
                      <a:alpha val="43137"/>
                    </a:srgbClr>
                  </a:outerShdw>
                </a:effectLst>
              </a:rPr>
              <a:t>&amp;a[i]</a:t>
            </a:r>
            <a:r>
              <a:rPr lang="zh-CN" altLang="en-US" sz="1800" b="1" dirty="0">
                <a:effectLst>
                  <a:outerShdw blurRad="38100" dist="38100" dir="2700000" algn="tl">
                    <a:srgbClr val="000000">
                      <a:alpha val="43137"/>
                    </a:srgbClr>
                  </a:outerShdw>
                </a:effectLst>
              </a:rPr>
              <a:t>);   </a:t>
            </a:r>
          </a:p>
          <a:p>
            <a:pPr>
              <a:lnSpc>
                <a:spcPct val="120000"/>
              </a:lnSpc>
            </a:pPr>
            <a:r>
              <a:rPr lang="zh-CN" altLang="en-US" sz="1800" b="1" dirty="0">
                <a:effectLst>
                  <a:outerShdw blurRad="38100" dist="38100" dir="2700000" algn="tl">
                    <a:srgbClr val="000000">
                      <a:alpha val="43137"/>
                    </a:srgbClr>
                  </a:outerShdw>
                </a:effectLst>
              </a:rPr>
              <a:t>  for(i=0;i&lt;10;i++)</a:t>
            </a:r>
          </a:p>
          <a:p>
            <a:pPr>
              <a:lnSpc>
                <a:spcPct val="120000"/>
              </a:lnSpc>
            </a:pPr>
            <a:r>
              <a:rPr lang="zh-CN" altLang="en-US" sz="1800" b="1" dirty="0">
                <a:effectLst>
                  <a:outerShdw blurRad="38100" dist="38100" dir="2700000" algn="tl">
                    <a:srgbClr val="000000">
                      <a:alpha val="43137"/>
                    </a:srgbClr>
                  </a:outerShdw>
                </a:effectLst>
              </a:rPr>
              <a:t>    printf("%d ",</a:t>
            </a:r>
            <a:r>
              <a:rPr lang="zh-CN" altLang="en-US" sz="1800" b="1" dirty="0">
                <a:solidFill>
                  <a:srgbClr val="FF0000"/>
                </a:solidFill>
                <a:effectLst>
                  <a:outerShdw blurRad="38100" dist="38100" dir="2700000" algn="tl">
                    <a:srgbClr val="000000">
                      <a:alpha val="43137"/>
                    </a:srgbClr>
                  </a:outerShdw>
                </a:effectLst>
              </a:rPr>
              <a:t>a[i]</a:t>
            </a:r>
            <a:r>
              <a:rPr lang="zh-CN" altLang="en-US" sz="1800" b="1" dirty="0">
                <a:effectLst>
                  <a:outerShdw blurRad="38100" dist="38100" dir="2700000" algn="tl">
                    <a:srgbClr val="000000">
                      <a:alpha val="43137"/>
                    </a:srgbClr>
                  </a:outerShdw>
                </a:effectLst>
              </a:rPr>
              <a:t>);</a:t>
            </a:r>
          </a:p>
          <a:p>
            <a:pPr>
              <a:lnSpc>
                <a:spcPct val="120000"/>
              </a:lnSpc>
            </a:pPr>
            <a:r>
              <a:rPr lang="zh-CN" altLang="en-US" sz="1800" b="1" dirty="0">
                <a:effectLst>
                  <a:outerShdw blurRad="38100" dist="38100" dir="2700000" algn="tl">
                    <a:srgbClr val="000000">
                      <a:alpha val="43137"/>
                    </a:srgbClr>
                  </a:outerShdw>
                </a:effectLst>
              </a:rPr>
              <a:t>  return 0;</a:t>
            </a:r>
          </a:p>
          <a:p>
            <a:pPr>
              <a:lnSpc>
                <a:spcPct val="120000"/>
              </a:lnSpc>
            </a:pPr>
            <a:r>
              <a:rPr lang="zh-CN" altLang="en-US" sz="1800" b="1" dirty="0">
                <a:effectLst>
                  <a:outerShdw blurRad="38100" dist="38100" dir="2700000" algn="tl">
                    <a:srgbClr val="000000">
                      <a:alpha val="43137"/>
                    </a:srgbClr>
                  </a:outerShdw>
                </a:effectLst>
              </a:rPr>
              <a:t>}</a:t>
            </a:r>
          </a:p>
        </p:txBody>
      </p:sp>
      <p:sp>
        <p:nvSpPr>
          <p:cNvPr id="6" name="矩形 5"/>
          <p:cNvSpPr/>
          <p:nvPr/>
        </p:nvSpPr>
        <p:spPr>
          <a:xfrm>
            <a:off x="1331640" y="5744951"/>
            <a:ext cx="1080120" cy="523220"/>
          </a:xfrm>
          <a:prstGeom prst="rect">
            <a:avLst/>
          </a:prstGeom>
        </p:spPr>
        <p:txBody>
          <a:bodyPr wrap="square">
            <a:spAutoFit/>
          </a:bodyPr>
          <a:lstStyle/>
          <a:p>
            <a:r>
              <a:rPr lang="zh-CN" altLang="en-US" sz="2800" b="1" dirty="0">
                <a:effectLst>
                  <a:outerShdw blurRad="38100" dist="38100" dir="2700000" algn="tl">
                    <a:srgbClr val="000000">
                      <a:alpha val="43137"/>
                    </a:srgbClr>
                  </a:outerShdw>
                </a:effectLst>
              </a:rPr>
              <a:t>下标</a:t>
            </a:r>
          </a:p>
        </p:txBody>
      </p:sp>
      <p:sp>
        <p:nvSpPr>
          <p:cNvPr id="7" name="矩形 6"/>
          <p:cNvSpPr/>
          <p:nvPr/>
        </p:nvSpPr>
        <p:spPr>
          <a:xfrm>
            <a:off x="6372200" y="6119694"/>
            <a:ext cx="1486319" cy="523220"/>
          </a:xfrm>
          <a:prstGeom prst="rect">
            <a:avLst/>
          </a:prstGeom>
        </p:spPr>
        <p:txBody>
          <a:bodyPr wrap="square">
            <a:spAutoFit/>
          </a:bodyPr>
          <a:lstStyle/>
          <a:p>
            <a:r>
              <a:rPr lang="zh-CN" altLang="en-US" sz="2800" b="1" dirty="0" smtClean="0">
                <a:effectLst>
                  <a:outerShdw blurRad="38100" dist="38100" dir="2700000" algn="tl">
                    <a:srgbClr val="000000">
                      <a:alpha val="43137"/>
                    </a:srgbClr>
                  </a:outerShdw>
                </a:effectLst>
              </a:rPr>
              <a:t>数组名</a:t>
            </a:r>
            <a:endParaRPr lang="zh-CN" altLang="en-US" sz="2800" b="1" dirty="0">
              <a:effectLst>
                <a:outerShdw blurRad="38100" dist="38100" dir="2700000" algn="tl">
                  <a:srgbClr val="000000">
                    <a:alpha val="43137"/>
                  </a:srgbClr>
                </a:outerShdw>
              </a:effectLst>
            </a:endParaRPr>
          </a:p>
        </p:txBody>
      </p:sp>
      <p:cxnSp>
        <p:nvCxnSpPr>
          <p:cNvPr id="9" name="直接连接符 8"/>
          <p:cNvCxnSpPr/>
          <p:nvPr/>
        </p:nvCxnSpPr>
        <p:spPr bwMode="auto">
          <a:xfrm>
            <a:off x="3779912" y="1628800"/>
            <a:ext cx="0" cy="5229200"/>
          </a:xfrm>
          <a:prstGeom prst="line">
            <a:avLst/>
          </a:prstGeom>
          <a:solidFill>
            <a:schemeClr val="accent1"/>
          </a:solidFill>
          <a:ln w="38100" cap="flat" cmpd="sng" algn="ctr">
            <a:solidFill>
              <a:schemeClr val="tx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title"/>
          </p:nvPr>
        </p:nvSpPr>
        <p:spPr>
          <a:xfrm>
            <a:off x="744220" y="906190"/>
            <a:ext cx="8435975" cy="723900"/>
          </a:xfrm>
          <a:noFill/>
        </p:spPr>
        <p:txBody>
          <a:bodyPr lIns="92075" tIns="46038" rIns="92075" bIns="46038" anchor="b"/>
          <a:lstStyle/>
          <a:p>
            <a:pPr eaLnBrk="1" hangingPunct="1"/>
            <a:r>
              <a:rPr lang="zh-CN" altLang="en-US" dirty="0" smtClean="0"/>
              <a:t>通过指针变量访问数组</a:t>
            </a:r>
          </a:p>
        </p:txBody>
      </p:sp>
      <p:sp>
        <p:nvSpPr>
          <p:cNvPr id="369674" name="Rectangle 10"/>
          <p:cNvSpPr>
            <a:spLocks noGrp="1" noChangeArrowheads="1"/>
          </p:cNvSpPr>
          <p:nvPr>
            <p:ph type="body" idx="1"/>
          </p:nvPr>
        </p:nvSpPr>
        <p:spPr>
          <a:xfrm>
            <a:off x="827584" y="1636787"/>
            <a:ext cx="6711275" cy="2080245"/>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Autofit/>
          </a:bodyPr>
          <a:lstStyle/>
          <a:p>
            <a:pPr eaLnBrk="1" hangingPunct="1">
              <a:lnSpc>
                <a:spcPct val="90000"/>
              </a:lnSpc>
              <a:spcBef>
                <a:spcPct val="0"/>
              </a:spcBef>
              <a:buClrTx/>
              <a:buSzTx/>
              <a:buFontTx/>
              <a:buNone/>
            </a:pPr>
            <a:r>
              <a:rPr lang="en-US" altLang="zh-CN" sz="2000" dirty="0" err="1">
                <a:sym typeface="+mn-ea"/>
              </a:rPr>
              <a:t>int</a:t>
            </a:r>
            <a:r>
              <a:rPr lang="en-US" altLang="zh-CN" sz="2000" dirty="0">
                <a:sym typeface="+mn-ea"/>
              </a:rPr>
              <a:t> a[10], *p;</a:t>
            </a:r>
            <a:endParaRPr lang="en-US" altLang="zh-CN" sz="2000" dirty="0"/>
          </a:p>
          <a:p>
            <a:pPr eaLnBrk="1" hangingPunct="1">
              <a:lnSpc>
                <a:spcPct val="90000"/>
              </a:lnSpc>
              <a:spcBef>
                <a:spcPct val="0"/>
              </a:spcBef>
              <a:buClrTx/>
              <a:buSzTx/>
              <a:buFontTx/>
              <a:buNone/>
            </a:pPr>
            <a:r>
              <a:rPr lang="en-US" altLang="zh-CN" sz="2000" dirty="0">
                <a:sym typeface="+mn-ea"/>
              </a:rPr>
              <a:t>p=a;//</a:t>
            </a:r>
            <a:r>
              <a:rPr lang="zh-CN" altLang="en-US" sz="2000" dirty="0">
                <a:sym typeface="+mn-ea"/>
              </a:rPr>
              <a:t>或</a:t>
            </a:r>
            <a:r>
              <a:rPr lang="en-US" altLang="zh-CN" sz="2000" dirty="0">
                <a:sym typeface="+mn-ea"/>
              </a:rPr>
              <a:t>p=&amp;a[0];</a:t>
            </a:r>
          </a:p>
          <a:p>
            <a:pPr eaLnBrk="1" hangingPunct="1">
              <a:lnSpc>
                <a:spcPct val="90000"/>
              </a:lnSpc>
              <a:spcBef>
                <a:spcPct val="0"/>
              </a:spcBef>
              <a:buClrTx/>
              <a:buSzTx/>
              <a:buFontTx/>
              <a:buNone/>
            </a:pPr>
            <a:r>
              <a:rPr lang="en-US" altLang="zh-CN" sz="2000" dirty="0" err="1">
                <a:sym typeface="+mn-ea"/>
              </a:rPr>
              <a:t>那么p就指向a</a:t>
            </a:r>
            <a:r>
              <a:rPr lang="en-US" altLang="zh-CN" sz="2000" dirty="0">
                <a:sym typeface="+mn-ea"/>
              </a:rPr>
              <a:t>[0]，*</a:t>
            </a:r>
            <a:r>
              <a:rPr lang="en-US" altLang="zh-CN" sz="2000" dirty="0" err="1">
                <a:sym typeface="+mn-ea"/>
              </a:rPr>
              <a:t>p就等价于数组元素a</a:t>
            </a:r>
            <a:r>
              <a:rPr lang="en-US" altLang="zh-CN" sz="2000" dirty="0">
                <a:sym typeface="+mn-ea"/>
              </a:rPr>
              <a:t>[0]。</a:t>
            </a:r>
          </a:p>
          <a:p>
            <a:pPr eaLnBrk="1" hangingPunct="1">
              <a:lnSpc>
                <a:spcPct val="90000"/>
              </a:lnSpc>
              <a:spcBef>
                <a:spcPct val="0"/>
              </a:spcBef>
              <a:buClrTx/>
              <a:buSzTx/>
              <a:buFontTx/>
              <a:buNone/>
            </a:pPr>
            <a:r>
              <a:rPr lang="en-US" altLang="zh-CN" sz="2000" dirty="0">
                <a:sym typeface="+mn-ea"/>
              </a:rPr>
              <a:t>表达式p+1表示的是下一个元素的地址，即a[1]的地址</a:t>
            </a:r>
          </a:p>
          <a:p>
            <a:pPr eaLnBrk="1" hangingPunct="1">
              <a:lnSpc>
                <a:spcPct val="90000"/>
              </a:lnSpc>
              <a:spcBef>
                <a:spcPct val="0"/>
              </a:spcBef>
              <a:buClrTx/>
              <a:buSzTx/>
              <a:buFontTx/>
              <a:buNone/>
            </a:pPr>
            <a:r>
              <a:rPr lang="en-US" altLang="zh-CN" sz="2000" dirty="0">
                <a:sym typeface="+mn-ea"/>
              </a:rPr>
              <a:t>*(p+1)</a:t>
            </a:r>
            <a:r>
              <a:rPr lang="en-US" altLang="zh-CN" sz="2000" dirty="0" err="1">
                <a:sym typeface="+mn-ea"/>
              </a:rPr>
              <a:t>就表示数组元素a</a:t>
            </a:r>
            <a:r>
              <a:rPr lang="en-US" altLang="zh-CN" sz="2000" dirty="0">
                <a:sym typeface="+mn-ea"/>
              </a:rPr>
              <a:t>[1]。</a:t>
            </a:r>
          </a:p>
          <a:p>
            <a:pPr eaLnBrk="1" hangingPunct="1">
              <a:lnSpc>
                <a:spcPct val="90000"/>
              </a:lnSpc>
              <a:spcBef>
                <a:spcPct val="0"/>
              </a:spcBef>
              <a:buClrTx/>
              <a:buSzTx/>
              <a:buFontTx/>
              <a:buNone/>
            </a:pPr>
            <a:r>
              <a:rPr lang="en-US" altLang="zh-CN" sz="2000" dirty="0" err="1">
                <a:sym typeface="+mn-ea"/>
              </a:rPr>
              <a:t>表达式p+i表示的是a</a:t>
            </a:r>
            <a:r>
              <a:rPr lang="en-US" altLang="zh-CN" sz="2000" dirty="0">
                <a:sym typeface="+mn-ea"/>
              </a:rPr>
              <a:t>[</a:t>
            </a:r>
            <a:r>
              <a:rPr lang="en-US" altLang="zh-CN" sz="2000" dirty="0" err="1">
                <a:sym typeface="+mn-ea"/>
              </a:rPr>
              <a:t>i</a:t>
            </a:r>
            <a:r>
              <a:rPr lang="en-US" altLang="zh-CN" sz="2000" dirty="0">
                <a:sym typeface="+mn-ea"/>
              </a:rPr>
              <a:t>]</a:t>
            </a:r>
            <a:r>
              <a:rPr lang="en-US" altLang="zh-CN" sz="2000" dirty="0" err="1">
                <a:sym typeface="+mn-ea"/>
              </a:rPr>
              <a:t>的地址（即&amp;a</a:t>
            </a:r>
            <a:r>
              <a:rPr lang="en-US" altLang="zh-CN" sz="2000" dirty="0">
                <a:sym typeface="+mn-ea"/>
              </a:rPr>
              <a:t>[i]），</a:t>
            </a:r>
          </a:p>
          <a:p>
            <a:pPr eaLnBrk="1" hangingPunct="1">
              <a:lnSpc>
                <a:spcPct val="90000"/>
              </a:lnSpc>
              <a:spcBef>
                <a:spcPct val="0"/>
              </a:spcBef>
              <a:buClrTx/>
              <a:buSzTx/>
              <a:buFontTx/>
              <a:buNone/>
            </a:pPr>
            <a:r>
              <a:rPr lang="en-US" altLang="zh-CN" sz="2000" dirty="0">
                <a:sym typeface="+mn-ea"/>
              </a:rPr>
              <a:t>*(p+i) </a:t>
            </a:r>
            <a:r>
              <a:rPr lang="en-US" altLang="zh-CN" sz="2000" dirty="0" err="1">
                <a:sym typeface="+mn-ea"/>
              </a:rPr>
              <a:t>就表示数组元素a</a:t>
            </a:r>
            <a:r>
              <a:rPr lang="en-US" altLang="zh-CN" sz="2000" dirty="0">
                <a:sym typeface="+mn-ea"/>
              </a:rPr>
              <a:t>[i]。</a:t>
            </a:r>
            <a:endParaRPr lang="zh-CN" altLang="en-US" sz="2000" dirty="0"/>
          </a:p>
        </p:txBody>
      </p:sp>
      <p:sp>
        <p:nvSpPr>
          <p:cNvPr id="47108" name="Rectangle 30"/>
          <p:cNvSpPr>
            <a:spLocks noChangeArrowheads="1"/>
          </p:cNvSpPr>
          <p:nvPr/>
        </p:nvSpPr>
        <p:spPr bwMode="auto">
          <a:xfrm>
            <a:off x="524510" y="4088130"/>
            <a:ext cx="3276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Tx/>
              <a:buFontTx/>
              <a:buNone/>
            </a:pPr>
            <a:endParaRPr kumimoji="1" lang="zh-CN" altLang="en-US"/>
          </a:p>
        </p:txBody>
      </p:sp>
      <p:grpSp>
        <p:nvGrpSpPr>
          <p:cNvPr id="369710" name="Group 46"/>
          <p:cNvGrpSpPr/>
          <p:nvPr/>
        </p:nvGrpSpPr>
        <p:grpSpPr bwMode="auto">
          <a:xfrm>
            <a:off x="2771800" y="3717032"/>
            <a:ext cx="5651501" cy="2895600"/>
            <a:chOff x="1860" y="960"/>
            <a:chExt cx="3560" cy="1824"/>
          </a:xfrm>
        </p:grpSpPr>
        <p:grpSp>
          <p:nvGrpSpPr>
            <p:cNvPr id="47113" name="Group 12"/>
            <p:cNvGrpSpPr/>
            <p:nvPr/>
          </p:nvGrpSpPr>
          <p:grpSpPr bwMode="auto">
            <a:xfrm>
              <a:off x="3840" y="1296"/>
              <a:ext cx="710" cy="1488"/>
              <a:chOff x="912" y="1008"/>
              <a:chExt cx="864" cy="1488"/>
            </a:xfrm>
          </p:grpSpPr>
          <p:sp>
            <p:nvSpPr>
              <p:cNvPr id="47135" name="Rectangle 13"/>
              <p:cNvSpPr>
                <a:spLocks noChangeArrowheads="1"/>
              </p:cNvSpPr>
              <p:nvPr/>
            </p:nvSpPr>
            <p:spPr bwMode="auto">
              <a:xfrm>
                <a:off x="912" y="1008"/>
                <a:ext cx="864" cy="14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36" name="Line 14"/>
              <p:cNvSpPr>
                <a:spLocks noChangeShapeType="1"/>
              </p:cNvSpPr>
              <p:nvPr/>
            </p:nvSpPr>
            <p:spPr bwMode="auto">
              <a:xfrm>
                <a:off x="912" y="1248"/>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37" name="Line 15"/>
              <p:cNvSpPr>
                <a:spLocks noChangeShapeType="1"/>
              </p:cNvSpPr>
              <p:nvPr/>
            </p:nvSpPr>
            <p:spPr bwMode="auto">
              <a:xfrm>
                <a:off x="912" y="1488"/>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38" name="Line 16"/>
              <p:cNvSpPr>
                <a:spLocks noChangeShapeType="1"/>
              </p:cNvSpPr>
              <p:nvPr/>
            </p:nvSpPr>
            <p:spPr bwMode="auto">
              <a:xfrm>
                <a:off x="912" y="1728"/>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39" name="Line 17"/>
              <p:cNvSpPr>
                <a:spLocks noChangeShapeType="1"/>
              </p:cNvSpPr>
              <p:nvPr/>
            </p:nvSpPr>
            <p:spPr bwMode="auto">
              <a:xfrm>
                <a:off x="912" y="2016"/>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47140" name="Line 18"/>
              <p:cNvSpPr>
                <a:spLocks noChangeShapeType="1"/>
              </p:cNvSpPr>
              <p:nvPr/>
            </p:nvSpPr>
            <p:spPr bwMode="auto">
              <a:xfrm>
                <a:off x="912" y="2256"/>
                <a:ext cx="8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grpSp>
        <p:sp>
          <p:nvSpPr>
            <p:cNvPr id="47114" name="Rectangle 19"/>
            <p:cNvSpPr>
              <a:spLocks noChangeArrowheads="1"/>
            </p:cNvSpPr>
            <p:nvPr/>
          </p:nvSpPr>
          <p:spPr bwMode="auto">
            <a:xfrm>
              <a:off x="1860" y="1253"/>
              <a:ext cx="3560" cy="31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smtClean="0">
                  <a:solidFill>
                    <a:srgbClr val="002060"/>
                  </a:solidFill>
                </a:rPr>
                <a:t>p</a:t>
              </a:r>
              <a:r>
                <a:rPr kumimoji="1" lang="zh-CN" altLang="en-US" sz="2400" b="1" dirty="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a[0]  </a:t>
              </a:r>
              <a:r>
                <a:rPr lang="zh-CN" altLang="en-US" sz="2400" b="1" dirty="0" smtClean="0">
                  <a:effectLst>
                    <a:outerShdw blurRad="38100" dist="38100" dir="2700000" algn="tl">
                      <a:srgbClr val="C0C0C0"/>
                    </a:outerShdw>
                  </a:effectLst>
                </a:rPr>
                <a:t>0</a:t>
              </a:r>
              <a:r>
                <a:rPr lang="en-US" altLang="zh-CN" sz="2400" b="1" dirty="0" smtClean="0">
                  <a:effectLst>
                    <a:outerShdw blurRad="38100" dist="38100" dir="2700000" algn="tl">
                      <a:srgbClr val="C0C0C0"/>
                    </a:outerShdw>
                  </a:effectLst>
                </a:rPr>
                <a:t>x0022ff10</a:t>
              </a:r>
              <a:r>
                <a:rPr kumimoji="1" lang="en-US" altLang="zh-CN" sz="2400" b="1" dirty="0" smtClean="0"/>
                <a:t>              a[0]</a:t>
              </a:r>
              <a:r>
                <a:rPr kumimoji="1" lang="zh-CN" altLang="en-US" sz="2400" b="1" dirty="0" smtClean="0"/>
                <a:t>或</a:t>
              </a:r>
              <a:r>
                <a:rPr kumimoji="1" lang="en-US" altLang="zh-CN" sz="2400" b="1" dirty="0" smtClean="0"/>
                <a:t>*(p+0)</a:t>
              </a:r>
              <a:endParaRPr kumimoji="1" lang="en-US" altLang="zh-CN" sz="2400" b="1" dirty="0">
                <a:solidFill>
                  <a:schemeClr val="accent1"/>
                </a:solidFill>
              </a:endParaRPr>
            </a:p>
          </p:txBody>
        </p:sp>
        <p:sp>
          <p:nvSpPr>
            <p:cNvPr id="47115" name="Rectangle 20"/>
            <p:cNvSpPr>
              <a:spLocks noChangeArrowheads="1"/>
            </p:cNvSpPr>
            <p:nvPr/>
          </p:nvSpPr>
          <p:spPr bwMode="auto">
            <a:xfrm>
              <a:off x="1927" y="960"/>
              <a:ext cx="2352"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smtClean="0">
                  <a:latin typeface="Times New Roman" panose="02020603050405020304" pitchFamily="18" charset="0"/>
                </a:rPr>
                <a:t>表示地址  内存地址       </a:t>
              </a:r>
              <a:r>
                <a:rPr kumimoji="1" lang="zh-CN" altLang="en-US" sz="2400" b="1" dirty="0">
                  <a:latin typeface="Times New Roman" panose="02020603050405020304" pitchFamily="18" charset="0"/>
                </a:rPr>
                <a:t>内容        数组元素</a:t>
              </a:r>
              <a:endParaRPr kumimoji="1" lang="en-US" altLang="zh-CN" sz="2400" b="1" dirty="0">
                <a:latin typeface="Times New Roman" panose="02020603050405020304" pitchFamily="18" charset="0"/>
              </a:endParaRPr>
            </a:p>
          </p:txBody>
        </p:sp>
        <p:sp>
          <p:nvSpPr>
            <p:cNvPr id="47131" name="Rectangle 26"/>
            <p:cNvSpPr>
              <a:spLocks noChangeArrowheads="1"/>
            </p:cNvSpPr>
            <p:nvPr/>
          </p:nvSpPr>
          <p:spPr bwMode="auto">
            <a:xfrm>
              <a:off x="1896" y="1330"/>
              <a:ext cx="893" cy="24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endParaRPr kumimoji="1" lang="en-US" altLang="zh-CN" sz="2400" b="1" dirty="0">
                <a:solidFill>
                  <a:srgbClr val="002060"/>
                </a:solidFill>
              </a:endParaRPr>
            </a:p>
          </p:txBody>
        </p:sp>
      </p:grpSp>
      <p:sp>
        <p:nvSpPr>
          <p:cNvPr id="37" name="Rectangle 19"/>
          <p:cNvSpPr>
            <a:spLocks noChangeArrowheads="1"/>
          </p:cNvSpPr>
          <p:nvPr/>
        </p:nvSpPr>
        <p:spPr bwMode="auto">
          <a:xfrm>
            <a:off x="2446832" y="4541912"/>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smtClean="0">
                <a:solidFill>
                  <a:srgbClr val="002060"/>
                </a:solidFill>
              </a:rPr>
              <a:t>p+1</a:t>
            </a:r>
            <a:r>
              <a:rPr kumimoji="1" lang="zh-CN" altLang="en-US" sz="2400" b="1" dirty="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a[1]  </a:t>
            </a:r>
            <a:r>
              <a:rPr lang="zh-CN" altLang="en-US" sz="2400" b="1" dirty="0" smtClean="0">
                <a:effectLst>
                  <a:outerShdw blurRad="38100" dist="38100" dir="2700000" algn="tl">
                    <a:srgbClr val="C0C0C0"/>
                  </a:outerShdw>
                </a:effectLst>
              </a:rPr>
              <a:t>0</a:t>
            </a:r>
            <a:r>
              <a:rPr lang="en-US" altLang="zh-CN" sz="2400" b="1" dirty="0" smtClean="0">
                <a:effectLst>
                  <a:outerShdw blurRad="38100" dist="38100" dir="2700000" algn="tl">
                    <a:srgbClr val="C0C0C0"/>
                  </a:outerShdw>
                </a:effectLst>
              </a:rPr>
              <a:t>x0022ff14</a:t>
            </a:r>
            <a:r>
              <a:rPr kumimoji="1" lang="en-US" altLang="zh-CN" sz="2400" b="1" dirty="0" smtClean="0"/>
              <a:t>              a[1]</a:t>
            </a:r>
            <a:r>
              <a:rPr kumimoji="1" lang="zh-CN" altLang="en-US" sz="2400" b="1" dirty="0" smtClean="0"/>
              <a:t>或</a:t>
            </a:r>
            <a:r>
              <a:rPr kumimoji="1" lang="en-US" altLang="zh-CN" sz="2400" b="1" dirty="0" smtClean="0"/>
              <a:t>*(p+1)</a:t>
            </a:r>
            <a:endParaRPr kumimoji="1" lang="en-US" altLang="zh-CN" sz="2400" b="1" dirty="0">
              <a:solidFill>
                <a:schemeClr val="accent1"/>
              </a:solidFill>
            </a:endParaRPr>
          </a:p>
        </p:txBody>
      </p:sp>
      <p:sp>
        <p:nvSpPr>
          <p:cNvPr id="39" name="Rectangle 19"/>
          <p:cNvSpPr>
            <a:spLocks noChangeArrowheads="1"/>
          </p:cNvSpPr>
          <p:nvPr/>
        </p:nvSpPr>
        <p:spPr bwMode="auto">
          <a:xfrm>
            <a:off x="2374824" y="4974778"/>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a:solidFill>
                  <a:srgbClr val="002060"/>
                </a:solidFill>
              </a:rPr>
              <a:t>p</a:t>
            </a:r>
            <a:r>
              <a:rPr kumimoji="1" lang="en-US" altLang="zh-CN" sz="2400" b="1" dirty="0" smtClean="0">
                <a:solidFill>
                  <a:srgbClr val="002060"/>
                </a:solidFill>
              </a:rPr>
              <a:t>+2</a:t>
            </a:r>
            <a:r>
              <a:rPr kumimoji="1" lang="zh-CN" altLang="en-US" sz="2400" b="1" dirty="0" smtClean="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a[2]  </a:t>
            </a:r>
            <a:r>
              <a:rPr lang="zh-CN" altLang="en-US" sz="2400" b="1" dirty="0" smtClean="0">
                <a:effectLst>
                  <a:outerShdw blurRad="38100" dist="38100" dir="2700000" algn="tl">
                    <a:srgbClr val="C0C0C0"/>
                  </a:outerShdw>
                </a:effectLst>
              </a:rPr>
              <a:t>0</a:t>
            </a:r>
            <a:r>
              <a:rPr lang="en-US" altLang="zh-CN" sz="2400" b="1" dirty="0" smtClean="0">
                <a:effectLst>
                  <a:outerShdw blurRad="38100" dist="38100" dir="2700000" algn="tl">
                    <a:srgbClr val="C0C0C0"/>
                  </a:outerShdw>
                </a:effectLst>
              </a:rPr>
              <a:t>x0022ff18</a:t>
            </a:r>
            <a:r>
              <a:rPr kumimoji="1" lang="en-US" altLang="zh-CN" sz="2400" b="1" dirty="0" smtClean="0"/>
              <a:t>              a[2]</a:t>
            </a:r>
            <a:r>
              <a:rPr kumimoji="1" lang="zh-CN" altLang="en-US" sz="2400" b="1" dirty="0" smtClean="0"/>
              <a:t>或</a:t>
            </a:r>
            <a:r>
              <a:rPr kumimoji="1" lang="en-US" altLang="zh-CN" sz="2400" b="1" dirty="0" smtClean="0"/>
              <a:t>*(p+2)</a:t>
            </a:r>
            <a:endParaRPr kumimoji="1" lang="en-US" altLang="zh-CN" sz="2400" b="1" dirty="0">
              <a:solidFill>
                <a:schemeClr val="accent1"/>
              </a:solidFill>
            </a:endParaRPr>
          </a:p>
        </p:txBody>
      </p:sp>
      <p:sp>
        <p:nvSpPr>
          <p:cNvPr id="40" name="Rectangle 19"/>
          <p:cNvSpPr>
            <a:spLocks noChangeArrowheads="1"/>
          </p:cNvSpPr>
          <p:nvPr/>
        </p:nvSpPr>
        <p:spPr bwMode="auto">
          <a:xfrm>
            <a:off x="2446832" y="5766048"/>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solidFill>
                  <a:schemeClr val="bg2"/>
                </a:solidFill>
              </a:rPr>
              <a:t> </a:t>
            </a:r>
            <a:r>
              <a:rPr kumimoji="1" lang="en-US" altLang="zh-CN" sz="2400" b="1" dirty="0" smtClean="0">
                <a:solidFill>
                  <a:srgbClr val="002060"/>
                </a:solidFill>
              </a:rPr>
              <a:t>p+i</a:t>
            </a:r>
            <a:r>
              <a:rPr kumimoji="1" lang="zh-CN" altLang="en-US" sz="2400" b="1" dirty="0" smtClean="0">
                <a:solidFill>
                  <a:srgbClr val="002060"/>
                </a:solidFill>
              </a:rPr>
              <a:t>或</a:t>
            </a:r>
            <a:r>
              <a:rPr kumimoji="1" lang="en-US" altLang="zh-CN" sz="2400" b="1" dirty="0">
                <a:solidFill>
                  <a:srgbClr val="002060"/>
                </a:solidFill>
              </a:rPr>
              <a:t>&amp;</a:t>
            </a:r>
            <a:r>
              <a:rPr kumimoji="1" lang="en-US" altLang="zh-CN" sz="2400" b="1" dirty="0" smtClean="0">
                <a:solidFill>
                  <a:srgbClr val="002060"/>
                </a:solidFill>
              </a:rPr>
              <a:t>a[i]   </a:t>
            </a:r>
            <a:r>
              <a:rPr lang="en-US" altLang="zh-CN" sz="2400" b="1" dirty="0" smtClean="0">
                <a:effectLst>
                  <a:outerShdw blurRad="38100" dist="38100" dir="2700000" algn="tl">
                    <a:srgbClr val="C0C0C0"/>
                  </a:outerShdw>
                </a:effectLst>
              </a:rPr>
              <a:t>…………</a:t>
            </a:r>
            <a:r>
              <a:rPr kumimoji="1" lang="en-US" altLang="zh-CN" sz="2400" b="1" dirty="0" smtClean="0"/>
              <a:t>                  a[i]</a:t>
            </a:r>
            <a:r>
              <a:rPr kumimoji="1" lang="zh-CN" altLang="en-US" sz="2400" b="1" dirty="0" smtClean="0"/>
              <a:t>或</a:t>
            </a:r>
            <a:r>
              <a:rPr kumimoji="1" lang="en-US" altLang="zh-CN" sz="2400" b="1" dirty="0" smtClean="0"/>
              <a:t>*(</a:t>
            </a:r>
            <a:r>
              <a:rPr kumimoji="1" lang="en-US" altLang="zh-CN" sz="2400" b="1" dirty="0"/>
              <a:t>p</a:t>
            </a:r>
            <a:r>
              <a:rPr kumimoji="1" lang="en-US" altLang="zh-CN" sz="2400" b="1" dirty="0" smtClean="0"/>
              <a:t>+i)</a:t>
            </a:r>
            <a:endParaRPr kumimoji="1" lang="en-US" altLang="zh-CN" sz="2400" b="1" dirty="0">
              <a:solidFill>
                <a:schemeClr val="accent1"/>
              </a:solidFill>
            </a:endParaRPr>
          </a:p>
        </p:txBody>
      </p:sp>
      <p:sp>
        <p:nvSpPr>
          <p:cNvPr id="41" name="Rectangle 19"/>
          <p:cNvSpPr>
            <a:spLocks noChangeArrowheads="1"/>
          </p:cNvSpPr>
          <p:nvPr/>
        </p:nvSpPr>
        <p:spPr bwMode="auto">
          <a:xfrm>
            <a:off x="2950888" y="5334818"/>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t>………</a:t>
            </a:r>
            <a:endParaRPr kumimoji="1" lang="en-US" altLang="zh-CN" sz="2400" b="1" dirty="0"/>
          </a:p>
        </p:txBody>
      </p:sp>
      <p:sp>
        <p:nvSpPr>
          <p:cNvPr id="42" name="Rectangle 19"/>
          <p:cNvSpPr>
            <a:spLocks noChangeArrowheads="1"/>
          </p:cNvSpPr>
          <p:nvPr/>
        </p:nvSpPr>
        <p:spPr bwMode="auto">
          <a:xfrm>
            <a:off x="2988019" y="6126088"/>
            <a:ext cx="5651501"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2"/>
                </a:solidFill>
              </a:rPr>
              <a:t> </a:t>
            </a:r>
            <a:r>
              <a:rPr kumimoji="1" lang="en-US" altLang="zh-CN" sz="2400" b="1" dirty="0" smtClean="0"/>
              <a:t>………</a:t>
            </a:r>
            <a:endParaRPr kumimoji="1" lang="en-US" altLang="zh-CN" sz="2400"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a:spLocks/>
          </p:cNvSpPr>
          <p:nvPr/>
        </p:nvSpPr>
        <p:spPr>
          <a:xfrm>
            <a:off x="917965" y="1628800"/>
            <a:ext cx="8229600" cy="5040560"/>
          </a:xfrm>
          <a:prstGeom prst="rect">
            <a:avLst/>
          </a:prstGeom>
        </p:spPr>
        <p:txBody>
          <a:bodyPr/>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rgbClr val="3333FF"/>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pPr eaLnBrk="1" hangingPunct="1">
              <a:lnSpc>
                <a:spcPct val="90000"/>
              </a:lnSpc>
              <a:spcBef>
                <a:spcPct val="0"/>
              </a:spcBef>
              <a:buClrTx/>
              <a:buSzTx/>
              <a:buFontTx/>
              <a:buNone/>
            </a:pPr>
            <a:endParaRPr kumimoji="1" lang="en-US" altLang="zh-CN" dirty="0" smtClean="0">
              <a:sym typeface="+mn-ea"/>
            </a:endParaRPr>
          </a:p>
          <a:p>
            <a:pPr eaLnBrk="1" hangingPunct="1">
              <a:lnSpc>
                <a:spcPct val="90000"/>
              </a:lnSpc>
              <a:spcBef>
                <a:spcPct val="0"/>
              </a:spcBef>
              <a:buClrTx/>
              <a:buSzTx/>
              <a:buFontTx/>
              <a:buNone/>
            </a:pPr>
            <a:r>
              <a:rPr kumimoji="1" lang="en-US" altLang="zh-CN" dirty="0" err="1" smtClean="0">
                <a:sym typeface="+mn-ea"/>
              </a:rPr>
              <a:t>int</a:t>
            </a:r>
            <a:r>
              <a:rPr kumimoji="1" lang="en-US" altLang="zh-CN" dirty="0" smtClean="0">
                <a:sym typeface="+mn-ea"/>
              </a:rPr>
              <a:t> </a:t>
            </a:r>
            <a:r>
              <a:rPr kumimoji="1" lang="en-US" altLang="zh-CN" dirty="0">
                <a:sym typeface="+mn-ea"/>
              </a:rPr>
              <a:t>a[10], *p;</a:t>
            </a:r>
            <a:endParaRPr kumimoji="1" lang="en-US" altLang="zh-CN" dirty="0"/>
          </a:p>
          <a:p>
            <a:pPr eaLnBrk="1" hangingPunct="1">
              <a:lnSpc>
                <a:spcPct val="90000"/>
              </a:lnSpc>
              <a:spcBef>
                <a:spcPct val="0"/>
              </a:spcBef>
              <a:buClrTx/>
              <a:buSzTx/>
              <a:buFontTx/>
              <a:buNone/>
            </a:pPr>
            <a:r>
              <a:rPr kumimoji="1" lang="en-US" altLang="zh-CN" dirty="0">
                <a:sym typeface="+mn-ea"/>
              </a:rPr>
              <a:t>p=a</a:t>
            </a:r>
            <a:r>
              <a:rPr kumimoji="1" lang="en-US" altLang="zh-CN" dirty="0" smtClean="0">
                <a:sym typeface="+mn-ea"/>
              </a:rPr>
              <a:t>;           //</a:t>
            </a:r>
            <a:r>
              <a:rPr kumimoji="1" lang="zh-CN" altLang="en-US" dirty="0" smtClean="0">
                <a:sym typeface="+mn-ea"/>
              </a:rPr>
              <a:t>或</a:t>
            </a:r>
            <a:r>
              <a:rPr kumimoji="1" lang="en-US" altLang="zh-CN" dirty="0" smtClean="0">
                <a:sym typeface="+mn-ea"/>
              </a:rPr>
              <a:t>p</a:t>
            </a:r>
            <a:r>
              <a:rPr kumimoji="1" lang="en-US" altLang="zh-CN" dirty="0">
                <a:sym typeface="+mn-ea"/>
              </a:rPr>
              <a:t>=&amp;a[0];</a:t>
            </a:r>
          </a:p>
          <a:p>
            <a:pPr marL="0" indent="0">
              <a:buFont typeface="Webdings" panose="05030102010509060703" pitchFamily="18" charset="2"/>
              <a:buNone/>
            </a:pPr>
            <a:r>
              <a:rPr lang="zh-CN" altLang="en-US" dirty="0" smtClean="0"/>
              <a:t>则：    </a:t>
            </a:r>
            <a:endParaRPr lang="en-US" altLang="zh-CN" dirty="0" smtClean="0"/>
          </a:p>
          <a:p>
            <a:pPr marL="0" indent="0">
              <a:buFont typeface="Webdings" panose="05030102010509060703" pitchFamily="18" charset="2"/>
              <a:buNone/>
            </a:pPr>
            <a:r>
              <a:rPr lang="zh-CN" altLang="en-US" dirty="0" smtClean="0"/>
              <a:t>      *</a:t>
            </a:r>
            <a:r>
              <a:rPr lang="en-US" altLang="zh-CN" dirty="0" smtClean="0"/>
              <a:t>(a+i) </a:t>
            </a:r>
            <a:r>
              <a:rPr lang="zh-CN" altLang="en-US" dirty="0" smtClean="0">
                <a:solidFill>
                  <a:schemeClr val="accent4"/>
                </a:solidFill>
              </a:rPr>
              <a:t>等价于</a:t>
            </a:r>
            <a:r>
              <a:rPr lang="en-US" altLang="zh-CN" dirty="0" smtClean="0"/>
              <a:t> a[i]</a:t>
            </a:r>
          </a:p>
          <a:p>
            <a:pPr marL="0" indent="0">
              <a:buFont typeface="Webdings" panose="05030102010509060703" pitchFamily="18" charset="2"/>
              <a:buNone/>
            </a:pPr>
            <a:r>
              <a:rPr lang="en-US" altLang="zh-CN" dirty="0" smtClean="0"/>
              <a:t>      *(p+i) </a:t>
            </a:r>
            <a:r>
              <a:rPr lang="zh-CN" altLang="en-US" dirty="0" smtClean="0">
                <a:solidFill>
                  <a:schemeClr val="accent4"/>
                </a:solidFill>
              </a:rPr>
              <a:t>等价于</a:t>
            </a:r>
            <a:r>
              <a:rPr lang="en-US" altLang="zh-CN" dirty="0" smtClean="0"/>
              <a:t> p[i]</a:t>
            </a:r>
          </a:p>
          <a:p>
            <a:pPr marL="0" indent="0">
              <a:buFont typeface="Webdings" panose="05030102010509060703" pitchFamily="18" charset="2"/>
              <a:buNone/>
            </a:pPr>
            <a:r>
              <a:rPr lang="zh-CN" altLang="en-US" dirty="0" smtClean="0"/>
              <a:t>以下语句等价：</a:t>
            </a:r>
            <a:endParaRPr lang="en-US" altLang="zh-CN" dirty="0" smtClean="0"/>
          </a:p>
          <a:p>
            <a:pPr marL="0" indent="0">
              <a:buFont typeface="Webdings" panose="05030102010509060703" pitchFamily="18" charset="2"/>
              <a:buNone/>
            </a:pPr>
            <a:r>
              <a:rPr lang="en-US" altLang="zh-CN" dirty="0" smtClean="0"/>
              <a:t>    p=a</a:t>
            </a:r>
            <a:r>
              <a:rPr lang="zh-CN" altLang="en-US" dirty="0" smtClean="0"/>
              <a:t>；</a:t>
            </a:r>
            <a:r>
              <a:rPr lang="en-US" altLang="zh-CN" dirty="0" smtClean="0"/>
              <a:t>              p=&amp;a[0]</a:t>
            </a:r>
            <a:r>
              <a:rPr lang="zh-CN" altLang="en-US" dirty="0" smtClean="0"/>
              <a:t>；</a:t>
            </a:r>
            <a:endParaRPr lang="en-US" altLang="zh-CN" dirty="0" smtClean="0"/>
          </a:p>
          <a:p>
            <a:pPr marL="0" indent="0">
              <a:buFont typeface="Webdings" panose="05030102010509060703" pitchFamily="18" charset="2"/>
              <a:buNone/>
            </a:pPr>
            <a:r>
              <a:rPr lang="en-US" altLang="zh-CN" dirty="0" smtClean="0"/>
              <a:t>    p=a+1</a:t>
            </a:r>
            <a:r>
              <a:rPr lang="zh-CN" altLang="en-US" dirty="0" smtClean="0"/>
              <a:t>；</a:t>
            </a:r>
            <a:r>
              <a:rPr lang="en-US" altLang="zh-CN" dirty="0" smtClean="0"/>
              <a:t>          p=&amp;a[1]</a:t>
            </a:r>
            <a:r>
              <a:rPr lang="zh-CN" altLang="en-US" dirty="0" smtClean="0"/>
              <a:t>；</a:t>
            </a:r>
          </a:p>
        </p:txBody>
      </p:sp>
      <p:sp>
        <p:nvSpPr>
          <p:cNvPr id="7" name="标题 1"/>
          <p:cNvSpPr txBox="1">
            <a:spLocks/>
          </p:cNvSpPr>
          <p:nvPr/>
        </p:nvSpPr>
        <p:spPr>
          <a:xfrm>
            <a:off x="671513" y="907031"/>
            <a:ext cx="7284863" cy="622268"/>
          </a:xfrm>
          <a:prstGeom prst="rect">
            <a:avLst/>
          </a:prstGeom>
        </p:spPr>
        <p:txBody>
          <a:bodyPr/>
          <a:lst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9pPr>
          </a:lstStyle>
          <a:p>
            <a:r>
              <a:rPr lang="zh-CN" altLang="en-US" dirty="0" smtClean="0"/>
              <a:t>重要等价式</a:t>
            </a:r>
            <a:endParaRPr lang="zh-CN" altLang="en-US" sz="3200" dirty="0" smtClean="0"/>
          </a:p>
        </p:txBody>
      </p:sp>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485" y="5439698"/>
            <a:ext cx="693737"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135" y="6021288"/>
            <a:ext cx="693737"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1966685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772567"/>
            <a:ext cx="7992814" cy="784225"/>
          </a:xfrm>
        </p:spPr>
        <p:txBody>
          <a:bodyPr/>
          <a:lstStyle/>
          <a:p>
            <a:r>
              <a:rPr lang="en-US" altLang="zh-CN" sz="2800" dirty="0"/>
              <a:t>【</a:t>
            </a:r>
            <a:r>
              <a:rPr lang="zh-CN" altLang="en-US" sz="2800" dirty="0"/>
              <a:t>例</a:t>
            </a:r>
            <a:r>
              <a:rPr lang="en-US" altLang="zh-CN" sz="2800" dirty="0"/>
              <a:t>6-6】</a:t>
            </a:r>
            <a:r>
              <a:rPr lang="zh-CN" altLang="en-US" sz="2800" dirty="0" smtClean="0"/>
              <a:t>用</a:t>
            </a:r>
            <a:r>
              <a:rPr lang="zh-CN" altLang="en-US" sz="2800" dirty="0"/>
              <a:t>指针变量引用法完成数组的输入输出</a:t>
            </a:r>
          </a:p>
        </p:txBody>
      </p:sp>
      <p:sp>
        <p:nvSpPr>
          <p:cNvPr id="3" name="内容占位符 2"/>
          <p:cNvSpPr>
            <a:spLocks noGrp="1"/>
          </p:cNvSpPr>
          <p:nvPr>
            <p:ph idx="1"/>
          </p:nvPr>
        </p:nvSpPr>
        <p:spPr>
          <a:xfrm>
            <a:off x="827405" y="1583834"/>
            <a:ext cx="8209091" cy="5229542"/>
          </a:xfrm>
        </p:spPr>
        <p:txBody>
          <a:bodyPr/>
          <a:lstStyle/>
          <a:p>
            <a:pPr marL="0" indent="0">
              <a:buNone/>
            </a:pPr>
            <a:r>
              <a:rPr lang="zh-CN" altLang="en-US" sz="1800" dirty="0" smtClean="0"/>
              <a:t>#</a:t>
            </a:r>
            <a:r>
              <a:rPr lang="zh-CN" altLang="en-US" sz="1800" dirty="0"/>
              <a:t>include  &lt;stdio.h&gt;</a:t>
            </a:r>
          </a:p>
          <a:p>
            <a:pPr marL="0" indent="0">
              <a:buNone/>
            </a:pPr>
            <a:r>
              <a:rPr lang="zh-CN" altLang="en-US" sz="1800" dirty="0"/>
              <a:t>int main()</a:t>
            </a:r>
          </a:p>
          <a:p>
            <a:pPr marL="0" indent="0">
              <a:buNone/>
            </a:pPr>
            <a:r>
              <a:rPr lang="zh-CN" altLang="en-US" sz="1800" dirty="0" smtClean="0"/>
              <a:t>{</a:t>
            </a:r>
            <a:endParaRPr lang="en-US" altLang="zh-CN" sz="1800" dirty="0" smtClean="0"/>
          </a:p>
          <a:p>
            <a:pPr marL="0" indent="0">
              <a:buNone/>
            </a:pPr>
            <a:r>
              <a:rPr lang="zh-CN" altLang="en-US" sz="1800" dirty="0" smtClean="0"/>
              <a:t>    int </a:t>
            </a:r>
            <a:r>
              <a:rPr lang="zh-CN" altLang="en-US" sz="1800" dirty="0"/>
              <a:t>a[10];</a:t>
            </a:r>
          </a:p>
          <a:p>
            <a:pPr marL="0" indent="0">
              <a:buNone/>
            </a:pPr>
            <a:r>
              <a:rPr lang="zh-CN" altLang="en-US" sz="1800" dirty="0" smtClean="0"/>
              <a:t>    int </a:t>
            </a:r>
            <a:r>
              <a:rPr lang="zh-CN" altLang="en-US" sz="1800" dirty="0"/>
              <a:t>*p;</a:t>
            </a:r>
          </a:p>
          <a:p>
            <a:pPr marL="0" indent="0">
              <a:buNone/>
            </a:pPr>
            <a:r>
              <a:rPr lang="zh-CN" altLang="en-US" sz="1800" dirty="0" smtClean="0"/>
              <a:t>    for</a:t>
            </a:r>
            <a:r>
              <a:rPr lang="zh-CN" altLang="en-US" sz="1800" dirty="0"/>
              <a:t>(p=a;p&lt;a+10;p++)	</a:t>
            </a:r>
            <a:endParaRPr lang="en-US" altLang="zh-CN" sz="1800" dirty="0" smtClean="0"/>
          </a:p>
          <a:p>
            <a:pPr marL="0" indent="0">
              <a:buNone/>
            </a:pPr>
            <a:r>
              <a:rPr lang="en-US" altLang="zh-CN" sz="1800" dirty="0"/>
              <a:t> </a:t>
            </a:r>
            <a:r>
              <a:rPr lang="en-US" altLang="zh-CN" sz="1800" dirty="0" smtClean="0"/>
              <a:t>        </a:t>
            </a:r>
            <a:r>
              <a:rPr lang="zh-CN" altLang="en-US" sz="1800" dirty="0" smtClean="0"/>
              <a:t>/*</a:t>
            </a:r>
            <a:r>
              <a:rPr lang="zh-CN" altLang="en-US" sz="1800" dirty="0"/>
              <a:t>对p赋初值为数组名a</a:t>
            </a:r>
            <a:r>
              <a:rPr lang="zh-CN" altLang="en-US" sz="1800" dirty="0" smtClean="0"/>
              <a:t>（</a:t>
            </a:r>
            <a:r>
              <a:rPr lang="zh-CN" altLang="en-US" sz="1800" dirty="0"/>
              <a:t>即</a:t>
            </a:r>
            <a:r>
              <a:rPr lang="zh-CN" altLang="en-US" sz="1800" dirty="0" smtClean="0"/>
              <a:t>数组</a:t>
            </a:r>
            <a:r>
              <a:rPr lang="zh-CN" altLang="en-US" sz="1800" dirty="0"/>
              <a:t>首元素a[0]的地址），即p指向a[0]*/</a:t>
            </a:r>
          </a:p>
          <a:p>
            <a:pPr marL="0" indent="0">
              <a:buNone/>
            </a:pPr>
            <a:r>
              <a:rPr lang="zh-CN" altLang="en-US" sz="1800" dirty="0"/>
              <a:t>        scanf(</a:t>
            </a:r>
            <a:r>
              <a:rPr lang="en-US" altLang="zh-CN" sz="1800" dirty="0"/>
              <a:t>"%d"</a:t>
            </a:r>
            <a:r>
              <a:rPr lang="zh-CN" altLang="en-US" sz="1800" dirty="0"/>
              <a:t>,</a:t>
            </a:r>
            <a:r>
              <a:rPr lang="zh-CN" altLang="en-US" sz="1800" dirty="0">
                <a:solidFill>
                  <a:srgbClr val="FF0000"/>
                </a:solidFill>
              </a:rPr>
              <a:t>p</a:t>
            </a:r>
            <a:r>
              <a:rPr lang="zh-CN" altLang="en-US" sz="1800" dirty="0"/>
              <a:t>); </a:t>
            </a:r>
            <a:endParaRPr lang="en-US" altLang="zh-CN" sz="1800" dirty="0"/>
          </a:p>
          <a:p>
            <a:pPr marL="0" indent="0">
              <a:buNone/>
            </a:pPr>
            <a:r>
              <a:rPr lang="en-US" altLang="zh-CN" sz="1800" dirty="0" smtClean="0">
                <a:solidFill>
                  <a:srgbClr val="FF0000"/>
                </a:solidFill>
              </a:rPr>
              <a:t>        </a:t>
            </a:r>
            <a:r>
              <a:rPr lang="zh-CN" altLang="en-US" sz="1800" dirty="0" smtClean="0"/>
              <a:t>/</a:t>
            </a:r>
            <a:r>
              <a:rPr lang="en-US" altLang="zh-CN" sz="1800" dirty="0" smtClean="0"/>
              <a:t>*</a:t>
            </a:r>
            <a:r>
              <a:rPr lang="zh-CN" altLang="en-US" sz="1800" dirty="0" smtClean="0"/>
              <a:t>这里用指针变量p表示当前指向的数组元素的地址，进行数据输入，输入完一个元素后，p++，即p指向下一个数组元素，再输入</a:t>
            </a:r>
            <a:r>
              <a:rPr lang="en-US" altLang="zh-CN" sz="1800" dirty="0" smtClean="0"/>
              <a:t>*/</a:t>
            </a:r>
            <a:endParaRPr lang="zh-CN" altLang="en-US" sz="1800" dirty="0" smtClean="0"/>
          </a:p>
          <a:p>
            <a:pPr marL="0" indent="0">
              <a:buNone/>
            </a:pPr>
            <a:r>
              <a:rPr lang="zh-CN" altLang="en-US" sz="1800" dirty="0" smtClean="0"/>
              <a:t>    for</a:t>
            </a:r>
            <a:r>
              <a:rPr lang="zh-CN" altLang="en-US" sz="1800" dirty="0"/>
              <a:t>(p=a;p&lt;a+10;p++)</a:t>
            </a:r>
          </a:p>
          <a:p>
            <a:pPr marL="0" indent="0">
              <a:buNone/>
            </a:pPr>
            <a:r>
              <a:rPr lang="zh-CN" altLang="en-US" sz="1800" dirty="0" smtClean="0">
                <a:solidFill>
                  <a:schemeClr val="accent4"/>
                </a:solidFill>
              </a:rPr>
              <a:t>        </a:t>
            </a:r>
            <a:r>
              <a:rPr lang="zh-CN" altLang="en-US" sz="1800" dirty="0"/>
              <a:t>printf("%d ",</a:t>
            </a:r>
            <a:r>
              <a:rPr lang="zh-CN" altLang="en-US" sz="1800" dirty="0">
                <a:solidFill>
                  <a:srgbClr val="FF0000"/>
                </a:solidFill>
              </a:rPr>
              <a:t>*p</a:t>
            </a:r>
            <a:r>
              <a:rPr lang="zh-CN" altLang="en-US" sz="1800" dirty="0"/>
              <a:t>);	//这里用指针变量引用法逐个访问数组元素</a:t>
            </a:r>
          </a:p>
          <a:p>
            <a:pPr marL="0" indent="0">
              <a:buNone/>
            </a:pPr>
            <a:r>
              <a:rPr lang="zh-CN" altLang="en-US" sz="1800" dirty="0" smtClean="0"/>
              <a:t>    return </a:t>
            </a:r>
            <a:r>
              <a:rPr lang="zh-CN" altLang="en-US" sz="1800" dirty="0"/>
              <a:t>0;</a:t>
            </a:r>
          </a:p>
          <a:p>
            <a:pPr marL="0" indent="0">
              <a:buNone/>
            </a:pPr>
            <a:r>
              <a:rPr lang="zh-CN" altLang="en-US" sz="1800" dirty="0"/>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772567"/>
            <a:ext cx="8352928" cy="784225"/>
          </a:xfrm>
        </p:spPr>
        <p:txBody>
          <a:bodyPr/>
          <a:lstStyle/>
          <a:p>
            <a:r>
              <a:rPr lang="en-US" altLang="zh-CN" sz="2800" dirty="0"/>
              <a:t>【</a:t>
            </a:r>
            <a:r>
              <a:rPr lang="zh-CN" altLang="en-US" sz="2800" dirty="0"/>
              <a:t>例</a:t>
            </a:r>
            <a:r>
              <a:rPr lang="en-US" altLang="zh-CN" sz="2800" dirty="0" smtClean="0"/>
              <a:t>6-7】</a:t>
            </a:r>
            <a:r>
              <a:rPr lang="zh-CN" altLang="en-US" sz="2800" dirty="0" smtClean="0"/>
              <a:t>用</a:t>
            </a:r>
            <a:r>
              <a:rPr lang="zh-CN" altLang="en-US" sz="2800" dirty="0"/>
              <a:t>指针变量</a:t>
            </a:r>
            <a:r>
              <a:rPr lang="zh-CN" altLang="en-US" sz="2800" dirty="0" smtClean="0"/>
              <a:t>引用数组元素完成数组的逆序</a:t>
            </a:r>
            <a:endParaRPr lang="zh-CN" altLang="en-US" sz="2800" dirty="0"/>
          </a:p>
        </p:txBody>
      </p:sp>
      <p:sp>
        <p:nvSpPr>
          <p:cNvPr id="3" name="内容占位符 2"/>
          <p:cNvSpPr>
            <a:spLocks noGrp="1"/>
          </p:cNvSpPr>
          <p:nvPr>
            <p:ph idx="1"/>
          </p:nvPr>
        </p:nvSpPr>
        <p:spPr>
          <a:xfrm>
            <a:off x="4283968" y="1628458"/>
            <a:ext cx="3672587" cy="5102542"/>
          </a:xfrm>
        </p:spPr>
        <p:txBody>
          <a:bodyPr/>
          <a:lstStyle/>
          <a:p>
            <a:pPr marL="0" indent="0">
              <a:spcBef>
                <a:spcPts val="0"/>
              </a:spcBef>
              <a:buNone/>
            </a:pPr>
            <a:r>
              <a:rPr lang="en-US" altLang="zh-CN" sz="1600" dirty="0"/>
              <a:t>#include  &lt;</a:t>
            </a:r>
            <a:r>
              <a:rPr lang="en-US" altLang="zh-CN" sz="1600" dirty="0" err="1"/>
              <a:t>stdio.h</a:t>
            </a:r>
            <a:r>
              <a:rPr lang="en-US" altLang="zh-CN" sz="1600" dirty="0"/>
              <a:t>&gt;</a:t>
            </a:r>
          </a:p>
          <a:p>
            <a:pPr marL="0" indent="0">
              <a:spcBef>
                <a:spcPts val="0"/>
              </a:spcBef>
              <a:buNone/>
            </a:pPr>
            <a:r>
              <a:rPr lang="en-US" altLang="zh-CN" sz="1600" dirty="0" err="1"/>
              <a:t>int</a:t>
            </a:r>
            <a:r>
              <a:rPr lang="en-US" altLang="zh-CN" sz="1600" dirty="0"/>
              <a:t> main()</a:t>
            </a:r>
          </a:p>
          <a:p>
            <a:pPr marL="0" indent="0">
              <a:spcBef>
                <a:spcPts val="0"/>
              </a:spcBef>
              <a:buNone/>
            </a:pPr>
            <a:r>
              <a:rPr lang="en-US" altLang="zh-CN" sz="1600" dirty="0"/>
              <a:t>{</a:t>
            </a:r>
          </a:p>
          <a:p>
            <a:pPr marL="0" indent="0">
              <a:spcBef>
                <a:spcPts val="0"/>
              </a:spcBef>
              <a:buNone/>
            </a:pPr>
            <a:r>
              <a:rPr lang="en-US" altLang="zh-CN" sz="1600" dirty="0"/>
              <a:t>    </a:t>
            </a:r>
            <a:r>
              <a:rPr lang="en-US" altLang="zh-CN" sz="1600" dirty="0" err="1"/>
              <a:t>int</a:t>
            </a:r>
            <a:r>
              <a:rPr lang="en-US" altLang="zh-CN" sz="1600" dirty="0"/>
              <a:t> a[10];</a:t>
            </a:r>
          </a:p>
          <a:p>
            <a:pPr marL="0" indent="0">
              <a:spcBef>
                <a:spcPts val="0"/>
              </a:spcBef>
              <a:buNone/>
            </a:pPr>
            <a:r>
              <a:rPr lang="en-US" altLang="zh-CN" sz="1600" dirty="0"/>
              <a:t>    </a:t>
            </a:r>
            <a:r>
              <a:rPr lang="en-US" altLang="zh-CN" sz="1600" dirty="0" err="1"/>
              <a:t>int</a:t>
            </a:r>
            <a:r>
              <a:rPr lang="en-US" altLang="zh-CN" sz="1600" dirty="0"/>
              <a:t> </a:t>
            </a:r>
            <a:r>
              <a:rPr lang="en-US" altLang="zh-CN" sz="1600" dirty="0">
                <a:solidFill>
                  <a:srgbClr val="FF0000"/>
                </a:solidFill>
              </a:rPr>
              <a:t>*p,*</a:t>
            </a:r>
            <a:r>
              <a:rPr lang="en-US" altLang="zh-CN" sz="1600" dirty="0" err="1">
                <a:solidFill>
                  <a:srgbClr val="FF0000"/>
                </a:solidFill>
              </a:rPr>
              <a:t>q</a:t>
            </a:r>
            <a:r>
              <a:rPr lang="en-US" altLang="zh-CN" sz="1600" dirty="0" err="1"/>
              <a:t>,temp</a:t>
            </a:r>
            <a:r>
              <a:rPr lang="en-US" altLang="zh-CN" sz="1600" dirty="0"/>
              <a:t>;</a:t>
            </a:r>
          </a:p>
          <a:p>
            <a:pPr marL="0" indent="0">
              <a:spcBef>
                <a:spcPts val="0"/>
              </a:spcBef>
              <a:buNone/>
            </a:pPr>
            <a:r>
              <a:rPr lang="en-US" altLang="zh-CN" sz="1600" dirty="0"/>
              <a:t>    for(p=</a:t>
            </a:r>
            <a:r>
              <a:rPr lang="en-US" altLang="zh-CN" sz="1600" dirty="0" err="1"/>
              <a:t>a;p</a:t>
            </a:r>
            <a:r>
              <a:rPr lang="en-US" altLang="zh-CN" sz="1600" dirty="0"/>
              <a:t>&lt;a+10;p++)</a:t>
            </a:r>
          </a:p>
          <a:p>
            <a:pPr marL="0" indent="0">
              <a:spcBef>
                <a:spcPts val="0"/>
              </a:spcBef>
              <a:buNone/>
            </a:pPr>
            <a:r>
              <a:rPr lang="en-US" altLang="zh-CN" sz="1600" dirty="0"/>
              <a:t>        </a:t>
            </a:r>
            <a:r>
              <a:rPr lang="en-US" altLang="zh-CN" sz="1600" dirty="0" err="1"/>
              <a:t>scanf</a:t>
            </a:r>
            <a:r>
              <a:rPr lang="en-US" altLang="zh-CN" sz="1600" dirty="0"/>
              <a:t>("%</a:t>
            </a:r>
            <a:r>
              <a:rPr lang="en-US" altLang="zh-CN" sz="1600" dirty="0" err="1"/>
              <a:t>d",p</a:t>
            </a:r>
            <a:r>
              <a:rPr lang="en-US" altLang="zh-CN" sz="1600" dirty="0"/>
              <a:t>);</a:t>
            </a:r>
          </a:p>
          <a:p>
            <a:pPr marL="0" indent="0">
              <a:spcBef>
                <a:spcPts val="0"/>
              </a:spcBef>
              <a:buNone/>
            </a:pPr>
            <a:r>
              <a:rPr lang="en-US" altLang="zh-CN" sz="1600" dirty="0"/>
              <a:t>    for(p=</a:t>
            </a:r>
            <a:r>
              <a:rPr lang="en-US" altLang="zh-CN" sz="1600" dirty="0" err="1"/>
              <a:t>a,q</a:t>
            </a:r>
            <a:r>
              <a:rPr lang="en-US" altLang="zh-CN" sz="1600" dirty="0"/>
              <a:t>=a+9;p&lt;</a:t>
            </a:r>
            <a:r>
              <a:rPr lang="en-US" altLang="zh-CN" sz="1600" dirty="0" err="1"/>
              <a:t>q;p</a:t>
            </a:r>
            <a:r>
              <a:rPr lang="en-US" altLang="zh-CN" sz="1600" dirty="0"/>
              <a:t>++,q--){</a:t>
            </a:r>
          </a:p>
          <a:p>
            <a:pPr marL="0" indent="0">
              <a:spcBef>
                <a:spcPts val="0"/>
              </a:spcBef>
              <a:buNone/>
            </a:pPr>
            <a:r>
              <a:rPr lang="en-US" altLang="zh-CN" sz="1600" dirty="0"/>
              <a:t>        temp=*p;</a:t>
            </a:r>
          </a:p>
          <a:p>
            <a:pPr marL="0" indent="0">
              <a:spcBef>
                <a:spcPts val="0"/>
              </a:spcBef>
              <a:buNone/>
            </a:pPr>
            <a:r>
              <a:rPr lang="en-US" altLang="zh-CN" sz="1600" dirty="0"/>
              <a:t>        *p=*q;</a:t>
            </a:r>
          </a:p>
          <a:p>
            <a:pPr marL="0" indent="0">
              <a:spcBef>
                <a:spcPts val="0"/>
              </a:spcBef>
              <a:buNone/>
            </a:pPr>
            <a:r>
              <a:rPr lang="en-US" altLang="zh-CN" sz="1600" dirty="0"/>
              <a:t>        *q=temp;</a:t>
            </a:r>
          </a:p>
          <a:p>
            <a:pPr marL="0" indent="0">
              <a:spcBef>
                <a:spcPts val="0"/>
              </a:spcBef>
              <a:buNone/>
            </a:pPr>
            <a:r>
              <a:rPr lang="en-US" altLang="zh-CN" sz="1600" dirty="0"/>
              <a:t>    }</a:t>
            </a:r>
          </a:p>
          <a:p>
            <a:pPr marL="0" indent="0">
              <a:spcBef>
                <a:spcPts val="0"/>
              </a:spcBef>
              <a:buNone/>
            </a:pPr>
            <a:r>
              <a:rPr lang="en-US" altLang="zh-CN" sz="1600" dirty="0"/>
              <a:t>    </a:t>
            </a:r>
            <a:r>
              <a:rPr lang="en-US" altLang="zh-CN" sz="1600" dirty="0" err="1"/>
              <a:t>printf</a:t>
            </a:r>
            <a:r>
              <a:rPr lang="en-US" altLang="zh-CN" sz="1600" dirty="0"/>
              <a:t>("after inverse:");</a:t>
            </a:r>
          </a:p>
          <a:p>
            <a:pPr marL="0" indent="0">
              <a:spcBef>
                <a:spcPts val="0"/>
              </a:spcBef>
              <a:buNone/>
            </a:pPr>
            <a:r>
              <a:rPr lang="en-US" altLang="zh-CN" sz="1600" dirty="0"/>
              <a:t>    for(p=</a:t>
            </a:r>
            <a:r>
              <a:rPr lang="en-US" altLang="zh-CN" sz="1600" dirty="0" err="1"/>
              <a:t>a;p</a:t>
            </a:r>
            <a:r>
              <a:rPr lang="en-US" altLang="zh-CN" sz="1600" dirty="0"/>
              <a:t>&lt;a+10;p++)</a:t>
            </a:r>
          </a:p>
          <a:p>
            <a:pPr marL="0" indent="0">
              <a:spcBef>
                <a:spcPts val="0"/>
              </a:spcBef>
              <a:buNone/>
            </a:pPr>
            <a:r>
              <a:rPr lang="en-US" altLang="zh-CN" sz="1600" dirty="0"/>
              <a:t>        </a:t>
            </a:r>
            <a:r>
              <a:rPr lang="en-US" altLang="zh-CN" sz="1600" dirty="0" err="1"/>
              <a:t>printf</a:t>
            </a:r>
            <a:r>
              <a:rPr lang="en-US" altLang="zh-CN" sz="1600" dirty="0"/>
              <a:t>("%d ",*p);</a:t>
            </a:r>
          </a:p>
          <a:p>
            <a:pPr marL="0" indent="0">
              <a:spcBef>
                <a:spcPts val="0"/>
              </a:spcBef>
              <a:buNone/>
            </a:pPr>
            <a:r>
              <a:rPr lang="en-US" altLang="zh-CN" sz="1600" dirty="0"/>
              <a:t>    return 0;</a:t>
            </a:r>
          </a:p>
          <a:p>
            <a:pPr marL="0" indent="0">
              <a:spcBef>
                <a:spcPts val="0"/>
              </a:spcBef>
              <a:buNone/>
            </a:pPr>
            <a:r>
              <a:rPr lang="en-US" altLang="zh-CN" sz="1600" dirty="0"/>
              <a:t>}</a:t>
            </a:r>
            <a:endParaRPr lang="zh-CN" altLang="en-US" sz="1600" dirty="0"/>
          </a:p>
        </p:txBody>
      </p:sp>
      <p:sp>
        <p:nvSpPr>
          <p:cNvPr id="5" name="矩形 4"/>
          <p:cNvSpPr/>
          <p:nvPr/>
        </p:nvSpPr>
        <p:spPr>
          <a:xfrm>
            <a:off x="899592" y="1628458"/>
            <a:ext cx="3600400" cy="4801314"/>
          </a:xfrm>
          <a:prstGeom prst="rect">
            <a:avLst/>
          </a:prstGeom>
        </p:spPr>
        <p:txBody>
          <a:bodyPr wrap="square">
            <a:spAutoFit/>
          </a:bodyPr>
          <a:lstStyle/>
          <a:p>
            <a:r>
              <a:rPr lang="zh-CN" altLang="en-US" sz="1800" b="1" dirty="0">
                <a:effectLst>
                  <a:outerShdw blurRad="38100" dist="38100" dir="2700000" algn="tl">
                    <a:srgbClr val="000000">
                      <a:alpha val="43137"/>
                    </a:srgbClr>
                  </a:outerShdw>
                </a:effectLst>
              </a:rPr>
              <a:t>#include  &lt;stdio.h&gt;</a:t>
            </a:r>
          </a:p>
          <a:p>
            <a:r>
              <a:rPr lang="zh-CN" altLang="en-US" sz="1800" b="1" dirty="0">
                <a:effectLst>
                  <a:outerShdw blurRad="38100" dist="38100" dir="2700000" algn="tl">
                    <a:srgbClr val="000000">
                      <a:alpha val="43137"/>
                    </a:srgbClr>
                  </a:outerShdw>
                </a:effectLst>
              </a:rPr>
              <a:t>int main()</a:t>
            </a:r>
          </a:p>
          <a:p>
            <a:r>
              <a:rPr lang="zh-CN" altLang="en-US" sz="1800" b="1" dirty="0">
                <a:effectLst>
                  <a:outerShdw blurRad="38100" dist="38100" dir="2700000" algn="tl">
                    <a:srgbClr val="000000">
                      <a:alpha val="43137"/>
                    </a:srgbClr>
                  </a:outerShdw>
                </a:effectLst>
              </a:rPr>
              <a:t>{</a:t>
            </a:r>
          </a:p>
          <a:p>
            <a:r>
              <a:rPr lang="zh-CN" altLang="en-US" sz="1800" b="1" dirty="0">
                <a:effectLst>
                  <a:outerShdw blurRad="38100" dist="38100" dir="2700000" algn="tl">
                    <a:srgbClr val="000000">
                      <a:alpha val="43137"/>
                    </a:srgbClr>
                  </a:outerShdw>
                </a:effectLst>
              </a:rPr>
              <a:t>    int a[10];</a:t>
            </a:r>
          </a:p>
          <a:p>
            <a:r>
              <a:rPr lang="zh-CN" altLang="en-US" sz="1800" b="1" dirty="0">
                <a:effectLst>
                  <a:outerShdw blurRad="38100" dist="38100" dir="2700000" algn="tl">
                    <a:srgbClr val="000000">
                      <a:alpha val="43137"/>
                    </a:srgbClr>
                  </a:outerShdw>
                </a:effectLst>
              </a:rPr>
              <a:t>    int </a:t>
            </a:r>
            <a:r>
              <a:rPr lang="zh-CN" altLang="en-US" sz="1800" b="1" dirty="0">
                <a:solidFill>
                  <a:srgbClr val="FF0000"/>
                </a:solidFill>
                <a:effectLst>
                  <a:outerShdw blurRad="38100" dist="38100" dir="2700000" algn="tl">
                    <a:srgbClr val="000000">
                      <a:alpha val="43137"/>
                    </a:srgbClr>
                  </a:outerShdw>
                </a:effectLst>
              </a:rPr>
              <a:t>p</a:t>
            </a:r>
            <a:r>
              <a:rPr lang="zh-CN" altLang="en-US" sz="1800" b="1" dirty="0">
                <a:effectLst>
                  <a:outerShdw blurRad="38100" dist="38100" dir="2700000" algn="tl">
                    <a:srgbClr val="000000">
                      <a:alpha val="43137"/>
                    </a:srgbClr>
                  </a:outerShdw>
                </a:effectLst>
              </a:rPr>
              <a:t>,</a:t>
            </a:r>
            <a:r>
              <a:rPr lang="zh-CN" altLang="en-US" sz="1800" b="1" dirty="0">
                <a:solidFill>
                  <a:srgbClr val="FF0000"/>
                </a:solidFill>
                <a:effectLst>
                  <a:outerShdw blurRad="38100" dist="38100" dir="2700000" algn="tl">
                    <a:srgbClr val="000000">
                      <a:alpha val="43137"/>
                    </a:srgbClr>
                  </a:outerShdw>
                </a:effectLst>
              </a:rPr>
              <a:t>q</a:t>
            </a:r>
            <a:r>
              <a:rPr lang="zh-CN" altLang="en-US" sz="1800" b="1" dirty="0">
                <a:effectLst>
                  <a:outerShdw blurRad="38100" dist="38100" dir="2700000" algn="tl">
                    <a:srgbClr val="000000">
                      <a:alpha val="43137"/>
                    </a:srgbClr>
                  </a:outerShdw>
                </a:effectLst>
              </a:rPr>
              <a:t>,temp,i;</a:t>
            </a:r>
          </a:p>
          <a:p>
            <a:r>
              <a:rPr lang="zh-CN" altLang="en-US" sz="1800" b="1" dirty="0">
                <a:effectLst>
                  <a:outerShdw blurRad="38100" dist="38100" dir="2700000" algn="tl">
                    <a:srgbClr val="000000">
                      <a:alpha val="43137"/>
                    </a:srgbClr>
                  </a:outerShdw>
                </a:effectLst>
              </a:rPr>
              <a:t>    for(i=0;i&lt;10;i++)</a:t>
            </a:r>
          </a:p>
          <a:p>
            <a:r>
              <a:rPr lang="zh-CN" altLang="en-US" sz="1800" b="1" dirty="0">
                <a:effectLst>
                  <a:outerShdw blurRad="38100" dist="38100" dir="2700000" algn="tl">
                    <a:srgbClr val="000000">
                      <a:alpha val="43137"/>
                    </a:srgbClr>
                  </a:outerShdw>
                </a:effectLst>
              </a:rPr>
              <a:t>        scanf("%d",&amp;a[i]);</a:t>
            </a:r>
          </a:p>
          <a:p>
            <a:r>
              <a:rPr lang="zh-CN" altLang="en-US" sz="1800" b="1" dirty="0">
                <a:effectLst>
                  <a:outerShdw blurRad="38100" dist="38100" dir="2700000" algn="tl">
                    <a:srgbClr val="000000">
                      <a:alpha val="43137"/>
                    </a:srgbClr>
                  </a:outerShdw>
                </a:effectLst>
              </a:rPr>
              <a:t>    for(p=0,q=9;p&lt;q;p++,q--){</a:t>
            </a:r>
          </a:p>
          <a:p>
            <a:r>
              <a:rPr lang="zh-CN" altLang="en-US" sz="1800" b="1" dirty="0">
                <a:effectLst>
                  <a:outerShdw blurRad="38100" dist="38100" dir="2700000" algn="tl">
                    <a:srgbClr val="000000">
                      <a:alpha val="43137"/>
                    </a:srgbClr>
                  </a:outerShdw>
                </a:effectLst>
              </a:rPr>
              <a:t>        temp=a[p];</a:t>
            </a:r>
          </a:p>
          <a:p>
            <a:r>
              <a:rPr lang="zh-CN" altLang="en-US" sz="1800" b="1" dirty="0">
                <a:effectLst>
                  <a:outerShdw blurRad="38100" dist="38100" dir="2700000" algn="tl">
                    <a:srgbClr val="000000">
                      <a:alpha val="43137"/>
                    </a:srgbClr>
                  </a:outerShdw>
                </a:effectLst>
              </a:rPr>
              <a:t>        a[p]=a[q];</a:t>
            </a:r>
          </a:p>
          <a:p>
            <a:r>
              <a:rPr lang="zh-CN" altLang="en-US" sz="1800" b="1" dirty="0">
                <a:effectLst>
                  <a:outerShdw blurRad="38100" dist="38100" dir="2700000" algn="tl">
                    <a:srgbClr val="000000">
                      <a:alpha val="43137"/>
                    </a:srgbClr>
                  </a:outerShdw>
                </a:effectLst>
              </a:rPr>
              <a:t>        a[q]=temp;</a:t>
            </a:r>
          </a:p>
          <a:p>
            <a:r>
              <a:rPr lang="zh-CN" altLang="en-US" sz="1800" b="1" dirty="0">
                <a:effectLst>
                  <a:outerShdw blurRad="38100" dist="38100" dir="2700000" algn="tl">
                    <a:srgbClr val="000000">
                      <a:alpha val="43137"/>
                    </a:srgbClr>
                  </a:outerShdw>
                </a:effectLst>
              </a:rPr>
              <a:t>    }</a:t>
            </a:r>
          </a:p>
          <a:p>
            <a:r>
              <a:rPr lang="zh-CN" altLang="en-US" sz="1800" b="1" dirty="0">
                <a:effectLst>
                  <a:outerShdw blurRad="38100" dist="38100" dir="2700000" algn="tl">
                    <a:srgbClr val="000000">
                      <a:alpha val="43137"/>
                    </a:srgbClr>
                  </a:outerShdw>
                </a:effectLst>
              </a:rPr>
              <a:t>    printf("after inverse:");</a:t>
            </a:r>
          </a:p>
          <a:p>
            <a:r>
              <a:rPr lang="zh-CN" altLang="en-US" sz="1800" b="1" dirty="0">
                <a:effectLst>
                  <a:outerShdw blurRad="38100" dist="38100" dir="2700000" algn="tl">
                    <a:srgbClr val="000000">
                      <a:alpha val="43137"/>
                    </a:srgbClr>
                  </a:outerShdw>
                </a:effectLst>
              </a:rPr>
              <a:t>    for(i=0;i&lt;10;i++)</a:t>
            </a:r>
          </a:p>
          <a:p>
            <a:r>
              <a:rPr lang="zh-CN" altLang="en-US" sz="1800" b="1" dirty="0">
                <a:effectLst>
                  <a:outerShdw blurRad="38100" dist="38100" dir="2700000" algn="tl">
                    <a:srgbClr val="000000">
                      <a:alpha val="43137"/>
                    </a:srgbClr>
                  </a:outerShdw>
                </a:effectLst>
              </a:rPr>
              <a:t>        printf("%d ",a[i]);</a:t>
            </a:r>
          </a:p>
          <a:p>
            <a:r>
              <a:rPr lang="zh-CN" altLang="en-US" sz="1800" b="1" dirty="0">
                <a:effectLst>
                  <a:outerShdw blurRad="38100" dist="38100" dir="2700000" algn="tl">
                    <a:srgbClr val="000000">
                      <a:alpha val="43137"/>
                    </a:srgbClr>
                  </a:outerShdw>
                </a:effectLst>
              </a:rPr>
              <a:t>    return 0;</a:t>
            </a:r>
          </a:p>
          <a:p>
            <a:r>
              <a:rPr lang="zh-CN" altLang="en-US" sz="1800" b="1" dirty="0">
                <a:effectLst>
                  <a:outerShdw blurRad="38100" dist="38100" dir="2700000" algn="tl">
                    <a:srgbClr val="000000">
                      <a:alpha val="43137"/>
                    </a:srgbClr>
                  </a:outerShdw>
                </a:effectLst>
              </a:rPr>
              <a:t>}</a:t>
            </a:r>
          </a:p>
        </p:txBody>
      </p:sp>
      <p:graphicFrame>
        <p:nvGraphicFramePr>
          <p:cNvPr id="6" name="表格 5"/>
          <p:cNvGraphicFramePr>
            <a:graphicFrameLocks noGrp="1"/>
          </p:cNvGraphicFramePr>
          <p:nvPr>
            <p:extLst>
              <p:ext uri="{D42A27DB-BD31-4B8C-83A1-F6EECF244321}">
                <p14:modId xmlns:p14="http://schemas.microsoft.com/office/powerpoint/2010/main" val="2984185677"/>
              </p:ext>
            </p:extLst>
          </p:nvPr>
        </p:nvGraphicFramePr>
        <p:xfrm>
          <a:off x="7596336" y="1916832"/>
          <a:ext cx="527720" cy="3708400"/>
        </p:xfrm>
        <a:graphic>
          <a:graphicData uri="http://schemas.openxmlformats.org/drawingml/2006/table">
            <a:tbl>
              <a:tblPr firstRow="1" bandRow="1">
                <a:tableStyleId>{5C22544A-7EE6-4342-B048-85BDC9FD1C3A}</a:tableStyleId>
              </a:tblPr>
              <a:tblGrid>
                <a:gridCol w="527720">
                  <a:extLst>
                    <a:ext uri="{9D8B030D-6E8A-4147-A177-3AD203B41FA5}">
                      <a16:colId xmlns:a16="http://schemas.microsoft.com/office/drawing/2014/main" val="837963930"/>
                    </a:ext>
                  </a:extLst>
                </a:gridCol>
              </a:tblGrid>
              <a:tr h="370840">
                <a:tc>
                  <a:txBody>
                    <a:bodyPr/>
                    <a:lstStyle/>
                    <a:p>
                      <a:r>
                        <a:rPr lang="en-US" altLang="zh-CN" b="1" dirty="0" smtClean="0">
                          <a:solidFill>
                            <a:schemeClr val="accent4"/>
                          </a:solidFill>
                          <a:effectLst>
                            <a:outerShdw blurRad="38100" dist="38100" dir="2700000" algn="tl">
                              <a:srgbClr val="000000">
                                <a:alpha val="43137"/>
                              </a:srgbClr>
                            </a:outerShdw>
                          </a:effectLst>
                        </a:rPr>
                        <a:t>a[0]</a:t>
                      </a:r>
                      <a:endParaRPr lang="zh-CN" altLang="en-US" b="1" dirty="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403392558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a[1]</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9485771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a[2]</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37042781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a[3]</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42897462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a[4]</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16386956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a[5]</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2757087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a[6]</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12768555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a[7]</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4197494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a[8]</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42827083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accent4"/>
                          </a:solidFill>
                          <a:effectLst>
                            <a:outerShdw blurRad="38100" dist="38100" dir="2700000" algn="tl">
                              <a:srgbClr val="000000">
                                <a:alpha val="43137"/>
                              </a:srgbClr>
                            </a:outerShdw>
                          </a:effectLst>
                        </a:rPr>
                        <a:t>a[9]</a:t>
                      </a:r>
                      <a:endParaRPr lang="zh-CN" altLang="en-US" b="1" dirty="0" smtClean="0">
                        <a:solidFill>
                          <a:schemeClr val="accent4"/>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2926331915"/>
                  </a:ext>
                </a:extLst>
              </a:tr>
            </a:tbl>
          </a:graphicData>
        </a:graphic>
      </p:graphicFrame>
      <p:grpSp>
        <p:nvGrpSpPr>
          <p:cNvPr id="7" name="Group 2056"/>
          <p:cNvGrpSpPr>
            <a:grpSpLocks/>
          </p:cNvGrpSpPr>
          <p:nvPr/>
        </p:nvGrpSpPr>
        <p:grpSpPr bwMode="auto">
          <a:xfrm>
            <a:off x="7077217" y="1546168"/>
            <a:ext cx="2048142" cy="730250"/>
            <a:chOff x="4128" y="-2693"/>
            <a:chExt cx="1031" cy="460"/>
          </a:xfrm>
        </p:grpSpPr>
        <p:grpSp>
          <p:nvGrpSpPr>
            <p:cNvPr id="8" name="Group 2057"/>
            <p:cNvGrpSpPr>
              <a:grpSpLocks/>
            </p:cNvGrpSpPr>
            <p:nvPr/>
          </p:nvGrpSpPr>
          <p:grpSpPr bwMode="auto">
            <a:xfrm>
              <a:off x="4679" y="-2693"/>
              <a:ext cx="480" cy="437"/>
              <a:chOff x="2759" y="-149"/>
              <a:chExt cx="480" cy="437"/>
            </a:xfrm>
          </p:grpSpPr>
          <p:sp>
            <p:nvSpPr>
              <p:cNvPr id="12" name="Rectangle 2060"/>
              <p:cNvSpPr>
                <a:spLocks noChangeArrowheads="1"/>
              </p:cNvSpPr>
              <p:nvPr/>
            </p:nvSpPr>
            <p:spPr bwMode="auto">
              <a:xfrm>
                <a:off x="2921" y="61"/>
                <a:ext cx="318" cy="22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dirty="0"/>
                  <a:t>&amp;</a:t>
                </a:r>
                <a:r>
                  <a:rPr lang="en-US" altLang="zh-CN" sz="1800" b="1" dirty="0" smtClean="0"/>
                  <a:t>a[0]</a:t>
                </a:r>
                <a:endParaRPr kumimoji="1" lang="en-US" altLang="zh-CN" sz="1800" b="1" dirty="0"/>
              </a:p>
            </p:txBody>
          </p:sp>
          <p:sp>
            <p:nvSpPr>
              <p:cNvPr id="13" name="Rectangle 2061"/>
              <p:cNvSpPr>
                <a:spLocks noChangeArrowheads="1"/>
              </p:cNvSpPr>
              <p:nvPr/>
            </p:nvSpPr>
            <p:spPr bwMode="auto">
              <a:xfrm>
                <a:off x="3005" y="-149"/>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dirty="0"/>
                  <a:t>p</a:t>
                </a:r>
              </a:p>
            </p:txBody>
          </p:sp>
          <p:sp>
            <p:nvSpPr>
              <p:cNvPr id="14" name="Line 2062"/>
              <p:cNvSpPr>
                <a:spLocks noChangeShapeType="1"/>
              </p:cNvSpPr>
              <p:nvPr/>
            </p:nvSpPr>
            <p:spPr bwMode="auto">
              <a:xfrm flipH="1" flipV="1">
                <a:off x="2759" y="175"/>
                <a:ext cx="15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9" name="Rectangle 2063"/>
            <p:cNvSpPr>
              <a:spLocks noChangeArrowheads="1"/>
            </p:cNvSpPr>
            <p:nvPr/>
          </p:nvSpPr>
          <p:spPr bwMode="auto">
            <a:xfrm>
              <a:off x="4128" y="-2467"/>
              <a:ext cx="208" cy="234"/>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a:t>*</a:t>
              </a:r>
              <a:r>
                <a:rPr lang="en-US" altLang="zh-CN" sz="1800" b="1" dirty="0"/>
                <a:t>p</a:t>
              </a:r>
            </a:p>
          </p:txBody>
        </p:sp>
      </p:grpSp>
      <p:grpSp>
        <p:nvGrpSpPr>
          <p:cNvPr id="15" name="Group 2056"/>
          <p:cNvGrpSpPr>
            <a:grpSpLocks/>
          </p:cNvGrpSpPr>
          <p:nvPr/>
        </p:nvGrpSpPr>
        <p:grpSpPr bwMode="auto">
          <a:xfrm>
            <a:off x="7063772" y="4894982"/>
            <a:ext cx="2048142" cy="730250"/>
            <a:chOff x="4128" y="-2693"/>
            <a:chExt cx="1031" cy="460"/>
          </a:xfrm>
        </p:grpSpPr>
        <p:grpSp>
          <p:nvGrpSpPr>
            <p:cNvPr id="16" name="Group 2057"/>
            <p:cNvGrpSpPr>
              <a:grpSpLocks/>
            </p:cNvGrpSpPr>
            <p:nvPr/>
          </p:nvGrpSpPr>
          <p:grpSpPr bwMode="auto">
            <a:xfrm>
              <a:off x="4679" y="-2693"/>
              <a:ext cx="480" cy="437"/>
              <a:chOff x="2759" y="-149"/>
              <a:chExt cx="480" cy="437"/>
            </a:xfrm>
          </p:grpSpPr>
          <p:sp>
            <p:nvSpPr>
              <p:cNvPr id="18" name="Rectangle 2060"/>
              <p:cNvSpPr>
                <a:spLocks noChangeArrowheads="1"/>
              </p:cNvSpPr>
              <p:nvPr/>
            </p:nvSpPr>
            <p:spPr bwMode="auto">
              <a:xfrm>
                <a:off x="2921" y="61"/>
                <a:ext cx="318" cy="22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dirty="0"/>
                  <a:t>&amp;</a:t>
                </a:r>
                <a:r>
                  <a:rPr lang="en-US" altLang="zh-CN" sz="1800" b="1" dirty="0" smtClean="0"/>
                  <a:t>a[9]</a:t>
                </a:r>
                <a:endParaRPr kumimoji="1" lang="en-US" altLang="zh-CN" sz="1800" b="1" dirty="0"/>
              </a:p>
            </p:txBody>
          </p:sp>
          <p:sp>
            <p:nvSpPr>
              <p:cNvPr id="19" name="Rectangle 2061"/>
              <p:cNvSpPr>
                <a:spLocks noChangeArrowheads="1"/>
              </p:cNvSpPr>
              <p:nvPr/>
            </p:nvSpPr>
            <p:spPr bwMode="auto">
              <a:xfrm>
                <a:off x="3005" y="-149"/>
                <a:ext cx="1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dirty="0" smtClean="0"/>
                  <a:t>q</a:t>
                </a:r>
                <a:endParaRPr lang="en-US" altLang="zh-CN" sz="1800" b="1" dirty="0"/>
              </a:p>
            </p:txBody>
          </p:sp>
          <p:sp>
            <p:nvSpPr>
              <p:cNvPr id="20" name="Line 2062"/>
              <p:cNvSpPr>
                <a:spLocks noChangeShapeType="1"/>
              </p:cNvSpPr>
              <p:nvPr/>
            </p:nvSpPr>
            <p:spPr bwMode="auto">
              <a:xfrm flipH="1" flipV="1">
                <a:off x="2759" y="175"/>
                <a:ext cx="15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17" name="Rectangle 2063"/>
            <p:cNvSpPr>
              <a:spLocks noChangeArrowheads="1"/>
            </p:cNvSpPr>
            <p:nvPr/>
          </p:nvSpPr>
          <p:spPr bwMode="auto">
            <a:xfrm>
              <a:off x="4128" y="-2467"/>
              <a:ext cx="208" cy="234"/>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smtClean="0"/>
                <a:t>*</a:t>
              </a:r>
              <a:r>
                <a:rPr lang="en-US" altLang="zh-CN" sz="1800" b="1" dirty="0" smtClean="0"/>
                <a:t>q</a:t>
              </a:r>
              <a:endParaRPr lang="en-US" altLang="zh-CN" sz="1800" b="1" dirty="0"/>
            </a:p>
          </p:txBody>
        </p:sp>
      </p:grpSp>
      <p:sp>
        <p:nvSpPr>
          <p:cNvPr id="21" name="矩形 20"/>
          <p:cNvSpPr/>
          <p:nvPr/>
        </p:nvSpPr>
        <p:spPr>
          <a:xfrm>
            <a:off x="1319674" y="6258252"/>
            <a:ext cx="1080120" cy="523220"/>
          </a:xfrm>
          <a:prstGeom prst="rect">
            <a:avLst/>
          </a:prstGeom>
        </p:spPr>
        <p:txBody>
          <a:bodyPr wrap="square">
            <a:spAutoFit/>
          </a:bodyPr>
          <a:lstStyle/>
          <a:p>
            <a:r>
              <a:rPr lang="zh-CN" altLang="en-US" sz="2800" b="1" dirty="0">
                <a:effectLst>
                  <a:outerShdw blurRad="38100" dist="38100" dir="2700000" algn="tl">
                    <a:srgbClr val="000000">
                      <a:alpha val="43137"/>
                    </a:srgbClr>
                  </a:outerShdw>
                </a:effectLst>
              </a:rPr>
              <a:t>下标</a:t>
            </a:r>
          </a:p>
        </p:txBody>
      </p:sp>
      <p:sp>
        <p:nvSpPr>
          <p:cNvPr id="22" name="矩形 21"/>
          <p:cNvSpPr/>
          <p:nvPr/>
        </p:nvSpPr>
        <p:spPr>
          <a:xfrm>
            <a:off x="5304046" y="6334780"/>
            <a:ext cx="1860242" cy="523220"/>
          </a:xfrm>
          <a:prstGeom prst="rect">
            <a:avLst/>
          </a:prstGeom>
        </p:spPr>
        <p:txBody>
          <a:bodyPr wrap="square">
            <a:spAutoFit/>
          </a:bodyPr>
          <a:lstStyle/>
          <a:p>
            <a:r>
              <a:rPr lang="zh-CN" altLang="en-US" sz="2800" b="1" dirty="0" smtClean="0">
                <a:effectLst>
                  <a:outerShdw blurRad="38100" dist="38100" dir="2700000" algn="tl">
                    <a:srgbClr val="000000">
                      <a:alpha val="43137"/>
                    </a:srgbClr>
                  </a:outerShdw>
                </a:effectLst>
              </a:rPr>
              <a:t>指针变量</a:t>
            </a:r>
            <a:endParaRPr lang="zh-CN" altLang="en-US" sz="2800" b="1" dirty="0">
              <a:effectLst>
                <a:outerShdw blurRad="38100" dist="38100" dir="2700000" algn="tl">
                  <a:srgbClr val="000000">
                    <a:alpha val="43137"/>
                  </a:srgbClr>
                </a:outerShdw>
              </a:effectLst>
            </a:endParaRPr>
          </a:p>
        </p:txBody>
      </p:sp>
      <p:cxnSp>
        <p:nvCxnSpPr>
          <p:cNvPr id="23" name="直接连接符 22"/>
          <p:cNvCxnSpPr/>
          <p:nvPr/>
        </p:nvCxnSpPr>
        <p:spPr bwMode="auto">
          <a:xfrm>
            <a:off x="4139952" y="1628458"/>
            <a:ext cx="0" cy="5229542"/>
          </a:xfrm>
          <a:prstGeom prst="line">
            <a:avLst/>
          </a:prstGeom>
          <a:solidFill>
            <a:schemeClr val="accent1"/>
          </a:solidFill>
          <a:ln w="38100" cap="flat" cmpd="sng" algn="ctr">
            <a:solidFill>
              <a:schemeClr val="tx1"/>
            </a:solidFill>
            <a:prstDash val="solid"/>
            <a:round/>
            <a:headEnd type="none" w="med" len="med"/>
            <a:tailEnd type="none" w="med" len="med"/>
          </a:ln>
        </p:spPr>
      </p:cxnSp>
    </p:spTree>
    <p:extLst>
      <p:ext uri="{BB962C8B-B14F-4D97-AF65-F5344CB8AC3E}">
        <p14:creationId xmlns:p14="http://schemas.microsoft.com/office/powerpoint/2010/main" val="4070040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5" name="Rectangle 7"/>
          <p:cNvSpPr/>
          <p:nvPr/>
        </p:nvSpPr>
        <p:spPr>
          <a:xfrm>
            <a:off x="681355" y="2348880"/>
            <a:ext cx="8211125" cy="446405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lnSpc>
                <a:spcPct val="90000"/>
              </a:lnSpc>
              <a:buNone/>
            </a:pPr>
            <a:r>
              <a:rPr lang="en-US" altLang="zh-CN" sz="2800" dirty="0"/>
              <a:t>double  *p, *q;</a:t>
            </a:r>
          </a:p>
          <a:p>
            <a:pPr marL="342900" lvl="0" indent="-342900" algn="just" eaLnBrk="1" hangingPunct="1">
              <a:lnSpc>
                <a:spcPct val="90000"/>
              </a:lnSpc>
            </a:pPr>
            <a:r>
              <a:rPr lang="en-US" altLang="zh-CN" sz="2800" dirty="0"/>
              <a:t>q - p</a:t>
            </a:r>
          </a:p>
          <a:p>
            <a:pPr marL="742950" lvl="1" indent="-285750" algn="just" eaLnBrk="1" hangingPunct="1">
              <a:lnSpc>
                <a:spcPct val="90000"/>
              </a:lnSpc>
              <a:buNone/>
            </a:pPr>
            <a:r>
              <a:rPr lang="zh-CN" altLang="en-US" sz="2400" dirty="0"/>
              <a:t>两个相同类型的指针相减，表示它们之间相隔的存储</a:t>
            </a:r>
            <a:r>
              <a:rPr lang="zh-CN" altLang="en-US" sz="2400" dirty="0" smtClean="0"/>
              <a:t>单的</a:t>
            </a:r>
            <a:r>
              <a:rPr lang="zh-CN" altLang="en-US" sz="2400" dirty="0"/>
              <a:t>数目</a:t>
            </a:r>
          </a:p>
          <a:p>
            <a:pPr marL="342900" lvl="0" indent="-342900" algn="just" eaLnBrk="1" hangingPunct="1">
              <a:lnSpc>
                <a:spcPct val="90000"/>
              </a:lnSpc>
            </a:pPr>
            <a:r>
              <a:rPr lang="en-US" altLang="zh-CN" sz="2800" dirty="0"/>
              <a:t>p + 1 / p-1</a:t>
            </a:r>
          </a:p>
          <a:p>
            <a:pPr marL="742950" lvl="1" indent="-285750" algn="just" eaLnBrk="1" hangingPunct="1">
              <a:lnSpc>
                <a:spcPct val="90000"/>
              </a:lnSpc>
              <a:buNone/>
            </a:pPr>
            <a:r>
              <a:rPr lang="zh-CN" altLang="en-US" sz="2400" dirty="0"/>
              <a:t>指向下一个存储单元 </a:t>
            </a:r>
            <a:r>
              <a:rPr lang="en-US" altLang="zh-CN" sz="2400" dirty="0"/>
              <a:t>/ </a:t>
            </a:r>
            <a:r>
              <a:rPr lang="zh-CN" altLang="en-US" sz="2400" dirty="0"/>
              <a:t>指向上一个存储单元</a:t>
            </a:r>
          </a:p>
          <a:p>
            <a:pPr marL="342900" lvl="0" indent="-342900" algn="just" eaLnBrk="1" hangingPunct="1">
              <a:lnSpc>
                <a:spcPct val="90000"/>
              </a:lnSpc>
            </a:pPr>
            <a:r>
              <a:rPr lang="en-US" altLang="zh-CN" sz="2800" dirty="0" smtClean="0"/>
              <a:t>p </a:t>
            </a:r>
            <a:r>
              <a:rPr lang="en-US" altLang="zh-CN" sz="2800" dirty="0"/>
              <a:t>&lt; q</a:t>
            </a:r>
          </a:p>
          <a:p>
            <a:pPr marL="742950" lvl="1" indent="-285750" algn="just" eaLnBrk="1" hangingPunct="1">
              <a:lnSpc>
                <a:spcPct val="90000"/>
              </a:lnSpc>
              <a:buNone/>
            </a:pPr>
            <a:r>
              <a:rPr lang="zh-CN" altLang="en-US" sz="2400" dirty="0"/>
              <a:t>两个相同类型指针可以用关系运算符比较</a:t>
            </a:r>
            <a:r>
              <a:rPr lang="zh-CN" altLang="en-US" sz="2400" dirty="0" smtClean="0"/>
              <a:t>大小</a:t>
            </a:r>
            <a:endParaRPr lang="en-US" altLang="zh-CN" sz="2400" dirty="0" smtClean="0"/>
          </a:p>
          <a:p>
            <a:pPr lvl="0" algn="just" eaLnBrk="1" hangingPunct="1">
              <a:lnSpc>
                <a:spcPct val="90000"/>
              </a:lnSpc>
            </a:pPr>
            <a:r>
              <a:rPr lang="zh-CN" altLang="en-US" sz="2800" dirty="0">
                <a:solidFill>
                  <a:srgbClr val="FF0000"/>
                </a:solidFill>
              </a:rPr>
              <a:t>其他操作都是非法的</a:t>
            </a:r>
          </a:p>
          <a:p>
            <a:pPr lvl="1" algn="just" eaLnBrk="1" hangingPunct="1">
              <a:lnSpc>
                <a:spcPct val="90000"/>
              </a:lnSpc>
              <a:buNone/>
            </a:pPr>
            <a:r>
              <a:rPr lang="zh-CN" altLang="en-US" sz="2400" dirty="0"/>
              <a:t>指针相加、相乘和相除，或指针加上和减去一个浮点数</a:t>
            </a:r>
          </a:p>
          <a:p>
            <a:pPr marL="742950" lvl="1" indent="-285750" algn="just" eaLnBrk="1" hangingPunct="1">
              <a:lnSpc>
                <a:spcPct val="90000"/>
              </a:lnSpc>
              <a:buNone/>
            </a:pPr>
            <a:endParaRPr lang="zh-CN" altLang="en-US" sz="2400" dirty="0"/>
          </a:p>
        </p:txBody>
      </p:sp>
      <p:sp>
        <p:nvSpPr>
          <p:cNvPr id="51203" name="Rectangle 8"/>
          <p:cNvSpPr/>
          <p:nvPr/>
        </p:nvSpPr>
        <p:spPr>
          <a:xfrm>
            <a:off x="755015" y="978535"/>
            <a:ext cx="6335713" cy="642938"/>
          </a:xfrm>
          <a:prstGeom prst="rect">
            <a:avLst/>
          </a:prstGeom>
          <a:noFill/>
          <a:ln w="9525">
            <a:noFill/>
          </a:ln>
        </p:spPr>
        <p:txBody>
          <a:bodyPr lIns="92075" tIns="46038" rIns="92075" bIns="46038" anchor="b"/>
          <a:lstStyle/>
          <a:p>
            <a:pPr lvl="0" algn="l" eaLnBrk="1" hangingPunct="1"/>
            <a:r>
              <a:rPr lang="zh-CN" altLang="en-US" sz="3600" b="1" dirty="0">
                <a:solidFill>
                  <a:schemeClr val="tx2"/>
                </a:solidFill>
                <a:effectLst>
                  <a:outerShdw blurRad="38100" dist="38100" dir="2700000" algn="tl">
                    <a:srgbClr val="C0C0C0"/>
                  </a:outerShdw>
                </a:effectLst>
                <a:latin typeface="+mj-lt"/>
                <a:ea typeface="+mj-ea"/>
                <a:cs typeface="+mj-cs"/>
              </a:rPr>
              <a:t>指针的算术运算和比较运算</a:t>
            </a:r>
          </a:p>
        </p:txBody>
      </p:sp>
      <p:grpSp>
        <p:nvGrpSpPr>
          <p:cNvPr id="51204" name="Group 9"/>
          <p:cNvGrpSpPr/>
          <p:nvPr/>
        </p:nvGrpSpPr>
        <p:grpSpPr>
          <a:xfrm>
            <a:off x="3779912" y="1693168"/>
            <a:ext cx="5334000" cy="1447800"/>
            <a:chOff x="2256" y="960"/>
            <a:chExt cx="3360" cy="912"/>
          </a:xfrm>
        </p:grpSpPr>
        <p:sp>
          <p:nvSpPr>
            <p:cNvPr id="51205" name="Line 10"/>
            <p:cNvSpPr/>
            <p:nvPr/>
          </p:nvSpPr>
          <p:spPr>
            <a:xfrm>
              <a:off x="3840" y="1584"/>
              <a:ext cx="710" cy="0"/>
            </a:xfrm>
            <a:prstGeom prst="line">
              <a:avLst/>
            </a:prstGeom>
            <a:ln w="9525" cap="flat" cmpd="sng">
              <a:solidFill>
                <a:schemeClr val="tx1"/>
              </a:solidFill>
              <a:prstDash val="solid"/>
              <a:headEnd type="none" w="med" len="med"/>
              <a:tailEnd type="none" w="med" len="med"/>
            </a:ln>
          </p:spPr>
        </p:sp>
        <p:grpSp>
          <p:nvGrpSpPr>
            <p:cNvPr id="51206" name="Group 11"/>
            <p:cNvGrpSpPr/>
            <p:nvPr/>
          </p:nvGrpSpPr>
          <p:grpSpPr>
            <a:xfrm>
              <a:off x="2256" y="960"/>
              <a:ext cx="3360" cy="912"/>
              <a:chOff x="2256" y="960"/>
              <a:chExt cx="3360" cy="912"/>
            </a:xfrm>
          </p:grpSpPr>
          <p:sp>
            <p:nvSpPr>
              <p:cNvPr id="51207" name="Rectangle 12"/>
              <p:cNvSpPr/>
              <p:nvPr/>
            </p:nvSpPr>
            <p:spPr>
              <a:xfrm>
                <a:off x="2256" y="1296"/>
                <a:ext cx="240" cy="240"/>
              </a:xfrm>
              <a:prstGeom prst="rect">
                <a:avLst/>
              </a:prstGeom>
              <a:noFill/>
              <a:ln w="12700">
                <a:noFill/>
              </a:ln>
            </p:spPr>
            <p:txBody>
              <a:bodyPr wrap="none" anchor="ctr"/>
              <a:lstStyle/>
              <a:p>
                <a:pPr lvl="0" algn="r" eaLnBrk="1" hangingPunct="1"/>
                <a:r>
                  <a:rPr lang="en-US" altLang="zh-CN" sz="2400" b="1" dirty="0">
                    <a:solidFill>
                      <a:srgbClr val="CC0066"/>
                    </a:solidFill>
                    <a:latin typeface="Arial" panose="020B0604020202020204" pitchFamily="34" charset="0"/>
                    <a:ea typeface="宋体" panose="02010600030101010101" pitchFamily="2" charset="-122"/>
                  </a:rPr>
                  <a:t> p</a:t>
                </a:r>
              </a:p>
            </p:txBody>
          </p:sp>
          <p:sp>
            <p:nvSpPr>
              <p:cNvPr id="51208" name="Rectangle 13"/>
              <p:cNvSpPr/>
              <p:nvPr/>
            </p:nvSpPr>
            <p:spPr>
              <a:xfrm>
                <a:off x="2304" y="1584"/>
                <a:ext cx="192" cy="240"/>
              </a:xfrm>
              <a:prstGeom prst="rect">
                <a:avLst/>
              </a:prstGeom>
              <a:noFill/>
              <a:ln w="12700">
                <a:noFill/>
              </a:ln>
            </p:spPr>
            <p:txBody>
              <a:bodyPr wrap="none" anchor="ctr"/>
              <a:lstStyle/>
              <a:p>
                <a:pPr lvl="0" algn="r" eaLnBrk="1" hangingPunct="1"/>
                <a:r>
                  <a:rPr lang="en-US" altLang="zh-CN" sz="2400" b="1" dirty="0">
                    <a:solidFill>
                      <a:srgbClr val="CC0066"/>
                    </a:solidFill>
                    <a:latin typeface="Arial" panose="020B0604020202020204" pitchFamily="34" charset="0"/>
                    <a:ea typeface="宋体" panose="02010600030101010101" pitchFamily="2" charset="-122"/>
                  </a:rPr>
                  <a:t>q</a:t>
                </a:r>
              </a:p>
            </p:txBody>
          </p:sp>
          <p:sp>
            <p:nvSpPr>
              <p:cNvPr id="51209" name="Rectangle 14"/>
              <p:cNvSpPr/>
              <p:nvPr/>
            </p:nvSpPr>
            <p:spPr>
              <a:xfrm>
                <a:off x="3840" y="1296"/>
                <a:ext cx="720" cy="576"/>
              </a:xfrm>
              <a:prstGeom prst="rect">
                <a:avLst/>
              </a:prstGeom>
              <a:noFill/>
              <a:ln w="9525" cap="flat" cmpd="sng">
                <a:solidFill>
                  <a:schemeClr val="tx1"/>
                </a:solidFill>
                <a:prstDash val="solid"/>
                <a:miter/>
                <a:headEnd type="none" w="med" len="med"/>
                <a:tailEnd type="none" w="med" len="med"/>
              </a:ln>
            </p:spPr>
            <p:txBody>
              <a:bodyPr wrap="none" lIns="92075" tIns="46038" rIns="92075" bIns="46038" anchor="ctr"/>
              <a:lstStyle/>
              <a:p>
                <a:pPr lvl="0" eaLnBrk="1" hangingPunct="1"/>
                <a:endParaRPr lang="zh-CN" altLang="en-US" dirty="0">
                  <a:latin typeface="Arial" panose="020B0604020202020204" pitchFamily="34" charset="0"/>
                  <a:ea typeface="宋体" panose="02010600030101010101" pitchFamily="2" charset="-122"/>
                </a:endParaRPr>
              </a:p>
            </p:txBody>
          </p:sp>
          <p:sp>
            <p:nvSpPr>
              <p:cNvPr id="51210" name="Rectangle 15"/>
              <p:cNvSpPr/>
              <p:nvPr/>
            </p:nvSpPr>
            <p:spPr>
              <a:xfrm>
                <a:off x="3216" y="1344"/>
                <a:ext cx="2208" cy="240"/>
              </a:xfrm>
              <a:prstGeom prst="rect">
                <a:avLst/>
              </a:prstGeom>
              <a:noFill/>
              <a:ln w="12700">
                <a:noFill/>
              </a:ln>
            </p:spPr>
            <p:txBody>
              <a:bodyPr wrap="none" anchor="ctr"/>
              <a:lstStyle/>
              <a:p>
                <a:pPr lvl="0" eaLnBrk="1" hangingPunct="1"/>
                <a:r>
                  <a:rPr lang="en-US" altLang="zh-CN" sz="2400" b="1" dirty="0">
                    <a:latin typeface="Arial" panose="020B0604020202020204" pitchFamily="34" charset="0"/>
                    <a:ea typeface="宋体" panose="02010600030101010101" pitchFamily="2" charset="-122"/>
                  </a:rPr>
                  <a:t>3000                        a[0]</a:t>
                </a:r>
                <a:endParaRPr lang="en-US" altLang="zh-CN" sz="2400" b="1" dirty="0">
                  <a:solidFill>
                    <a:schemeClr val="accent1"/>
                  </a:solidFill>
                  <a:latin typeface="Arial" panose="020B0604020202020204" pitchFamily="34" charset="0"/>
                  <a:ea typeface="宋体" panose="02010600030101010101" pitchFamily="2" charset="-122"/>
                </a:endParaRPr>
              </a:p>
            </p:txBody>
          </p:sp>
          <p:sp>
            <p:nvSpPr>
              <p:cNvPr id="51211" name="Rectangle 16"/>
              <p:cNvSpPr/>
              <p:nvPr/>
            </p:nvSpPr>
            <p:spPr>
              <a:xfrm>
                <a:off x="3264" y="960"/>
                <a:ext cx="2352" cy="288"/>
              </a:xfrm>
              <a:prstGeom prst="rect">
                <a:avLst/>
              </a:prstGeom>
              <a:noFill/>
              <a:ln w="12700">
                <a:noFill/>
              </a:ln>
            </p:spPr>
            <p:txBody>
              <a:bodyPr wrap="none" anchor="ctr"/>
              <a:lstStyle/>
              <a:p>
                <a:pPr lvl="0" eaLnBrk="1" hangingPunct="1"/>
                <a:r>
                  <a:rPr lang="zh-CN" altLang="en-US" sz="2400" b="1" dirty="0">
                    <a:latin typeface="Times New Roman" panose="02020603050405020304" pitchFamily="18" charset="0"/>
                    <a:ea typeface="宋体" panose="02010600030101010101" pitchFamily="2" charset="-122"/>
                  </a:rPr>
                  <a:t>地址       内容        数组元素</a:t>
                </a:r>
                <a:endParaRPr lang="en-US" altLang="zh-CN" sz="2400" b="1" dirty="0">
                  <a:latin typeface="Times New Roman" panose="02020603050405020304" pitchFamily="18" charset="0"/>
                  <a:ea typeface="宋体" panose="02010600030101010101" pitchFamily="2" charset="-122"/>
                </a:endParaRPr>
              </a:p>
            </p:txBody>
          </p:sp>
          <p:sp>
            <p:nvSpPr>
              <p:cNvPr id="51212" name="Rectangle 17"/>
              <p:cNvSpPr/>
              <p:nvPr/>
            </p:nvSpPr>
            <p:spPr>
              <a:xfrm>
                <a:off x="3216" y="1632"/>
                <a:ext cx="2208" cy="240"/>
              </a:xfrm>
              <a:prstGeom prst="rect">
                <a:avLst/>
              </a:prstGeom>
              <a:noFill/>
              <a:ln w="12700">
                <a:noFill/>
              </a:ln>
            </p:spPr>
            <p:txBody>
              <a:bodyPr wrap="none" anchor="ctr"/>
              <a:lstStyle/>
              <a:p>
                <a:pPr lvl="0" eaLnBrk="1" hangingPunct="1"/>
                <a:r>
                  <a:rPr lang="en-US" altLang="zh-CN" sz="2400" b="1" dirty="0">
                    <a:latin typeface="Arial" panose="020B0604020202020204" pitchFamily="34" charset="0"/>
                    <a:ea typeface="宋体" panose="02010600030101010101" pitchFamily="2" charset="-122"/>
                  </a:rPr>
                  <a:t>3008                        a[1]</a:t>
                </a:r>
                <a:endParaRPr lang="en-US" altLang="zh-CN" sz="2400" b="1" dirty="0">
                  <a:solidFill>
                    <a:schemeClr val="accent1"/>
                  </a:solidFill>
                  <a:latin typeface="Arial" panose="020B0604020202020204" pitchFamily="34" charset="0"/>
                  <a:ea typeface="宋体" panose="02010600030101010101" pitchFamily="2" charset="-122"/>
                </a:endParaRPr>
              </a:p>
            </p:txBody>
          </p:sp>
          <p:sp>
            <p:nvSpPr>
              <p:cNvPr id="51213" name="Rectangle 18"/>
              <p:cNvSpPr/>
              <p:nvPr/>
            </p:nvSpPr>
            <p:spPr>
              <a:xfrm>
                <a:off x="2496" y="1296"/>
                <a:ext cx="576" cy="240"/>
              </a:xfrm>
              <a:prstGeom prst="rect">
                <a:avLst/>
              </a:prstGeom>
              <a:noFill/>
              <a:ln w="12700">
                <a:noFill/>
              </a:ln>
            </p:spPr>
            <p:txBody>
              <a:bodyPr wrap="none" anchor="ctr"/>
              <a:lstStyle/>
              <a:p>
                <a:pPr lvl="0" algn="r" eaLnBrk="1" hangingPunct="1"/>
                <a:r>
                  <a:rPr lang="en-US" altLang="zh-CN" sz="2400" b="1" dirty="0">
                    <a:solidFill>
                      <a:schemeClr val="bg2"/>
                    </a:solidFill>
                    <a:latin typeface="Arial" panose="020B0604020202020204" pitchFamily="34" charset="0"/>
                    <a:ea typeface="宋体" panose="02010600030101010101" pitchFamily="2" charset="-122"/>
                  </a:rPr>
                  <a:t> a</a:t>
                </a:r>
              </a:p>
            </p:txBody>
          </p:sp>
          <p:sp>
            <p:nvSpPr>
              <p:cNvPr id="51214" name="Rectangle 19"/>
              <p:cNvSpPr/>
              <p:nvPr/>
            </p:nvSpPr>
            <p:spPr>
              <a:xfrm>
                <a:off x="2496" y="1584"/>
                <a:ext cx="576" cy="240"/>
              </a:xfrm>
              <a:prstGeom prst="rect">
                <a:avLst/>
              </a:prstGeom>
              <a:noFill/>
              <a:ln w="12700">
                <a:noFill/>
              </a:ln>
            </p:spPr>
            <p:txBody>
              <a:bodyPr wrap="none" anchor="ctr"/>
              <a:lstStyle/>
              <a:p>
                <a:pPr lvl="0" algn="r" eaLnBrk="1" hangingPunct="1"/>
                <a:r>
                  <a:rPr lang="en-US" altLang="zh-CN" sz="2400" b="1" dirty="0">
                    <a:solidFill>
                      <a:schemeClr val="bg2"/>
                    </a:solidFill>
                    <a:latin typeface="Arial" panose="020B0604020202020204" pitchFamily="34" charset="0"/>
                    <a:ea typeface="宋体" panose="02010600030101010101" pitchFamily="2" charset="-122"/>
                  </a:rPr>
                  <a:t>a+1</a:t>
                </a: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p:nvPr/>
        </p:nvSpPr>
        <p:spPr>
          <a:xfrm>
            <a:off x="717550" y="2205355"/>
            <a:ext cx="5003800" cy="403225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buNone/>
            </a:pPr>
            <a:r>
              <a:rPr lang="en-US" altLang="zh-CN" sz="2400" dirty="0"/>
              <a:t># include &lt;stdio.h&gt;</a:t>
            </a:r>
          </a:p>
          <a:p>
            <a:pPr marL="342900" lvl="0" indent="-342900" algn="just" eaLnBrk="1" hangingPunct="1">
              <a:buNone/>
            </a:pPr>
            <a:r>
              <a:rPr lang="en-US" altLang="zh-CN" sz="2400" dirty="0"/>
              <a:t>int main </a:t>
            </a:r>
            <a:r>
              <a:rPr lang="en-US" altLang="zh-CN" sz="2400" dirty="0" smtClean="0"/>
              <a:t>()</a:t>
            </a:r>
            <a:endParaRPr lang="en-US" altLang="zh-CN" sz="2400" dirty="0"/>
          </a:p>
          <a:p>
            <a:pPr marL="342900" lvl="0" indent="-342900" algn="just" eaLnBrk="1" hangingPunct="1">
              <a:buNone/>
            </a:pPr>
            <a:r>
              <a:rPr lang="en-US" altLang="zh-CN" sz="2400" dirty="0"/>
              <a:t>{    double a[2], *p, *q;</a:t>
            </a:r>
          </a:p>
          <a:p>
            <a:pPr marL="342900" lvl="0" indent="-342900" algn="just" eaLnBrk="1" hangingPunct="1">
              <a:buNone/>
            </a:pPr>
            <a:r>
              <a:rPr lang="en-US" altLang="zh-CN" sz="2400" dirty="0"/>
              <a:t>     p = </a:t>
            </a:r>
            <a:r>
              <a:rPr lang="en-US" altLang="zh-CN" sz="2400" dirty="0" smtClean="0"/>
              <a:t>a;</a:t>
            </a:r>
            <a:endParaRPr lang="en-US" altLang="zh-CN" sz="2400" dirty="0"/>
          </a:p>
          <a:p>
            <a:pPr marL="342900" lvl="0" indent="-342900" algn="just" eaLnBrk="1" hangingPunct="1">
              <a:buNone/>
            </a:pPr>
            <a:r>
              <a:rPr lang="zh-CN" altLang="en-US" sz="2400" dirty="0"/>
              <a:t>     </a:t>
            </a:r>
            <a:r>
              <a:rPr lang="en-US" altLang="zh-CN" sz="2400" dirty="0"/>
              <a:t>q = p + 1; </a:t>
            </a:r>
          </a:p>
          <a:p>
            <a:pPr marL="342900" lvl="0" indent="-342900" algn="just" eaLnBrk="1" hangingPunct="1">
              <a:buNone/>
            </a:pPr>
            <a:r>
              <a:rPr lang="en-US" altLang="zh-CN" sz="2400" dirty="0"/>
              <a:t>     printf ("%d\n", </a:t>
            </a:r>
            <a:r>
              <a:rPr lang="en-US" altLang="zh-CN" sz="2400" dirty="0">
                <a:solidFill>
                  <a:srgbClr val="CC0066"/>
                </a:solidFill>
              </a:rPr>
              <a:t>q - p</a:t>
            </a:r>
            <a:r>
              <a:rPr lang="en-US" altLang="zh-CN" sz="2400" dirty="0"/>
              <a:t>); </a:t>
            </a:r>
          </a:p>
          <a:p>
            <a:pPr marL="342900" lvl="0" indent="-342900" algn="just" eaLnBrk="1" hangingPunct="1">
              <a:buNone/>
            </a:pPr>
            <a:r>
              <a:rPr lang="en-US" altLang="zh-CN" sz="2400" dirty="0"/>
              <a:t>     printf ("%d\n", </a:t>
            </a:r>
            <a:r>
              <a:rPr lang="en-US" altLang="zh-CN" sz="2400" dirty="0">
                <a:solidFill>
                  <a:srgbClr val="CC0066"/>
                </a:solidFill>
              </a:rPr>
              <a:t>(int) q - (int) p</a:t>
            </a:r>
            <a:r>
              <a:rPr lang="en-US" altLang="zh-CN" sz="2400" dirty="0"/>
              <a:t>); </a:t>
            </a:r>
          </a:p>
          <a:p>
            <a:pPr marL="342900" lvl="0" indent="-342900" algn="just" eaLnBrk="1" hangingPunct="1">
              <a:buNone/>
            </a:pPr>
            <a:r>
              <a:rPr lang="en-US" altLang="zh-CN" sz="2400" dirty="0"/>
              <a:t>     return 0; </a:t>
            </a:r>
          </a:p>
          <a:p>
            <a:pPr marL="342900" lvl="0" indent="-342900" algn="just" eaLnBrk="1" hangingPunct="1">
              <a:buNone/>
            </a:pPr>
            <a:r>
              <a:rPr lang="zh-CN" altLang="en-US" sz="2400" dirty="0"/>
              <a:t>}</a:t>
            </a:r>
          </a:p>
        </p:txBody>
      </p:sp>
      <p:sp>
        <p:nvSpPr>
          <p:cNvPr id="50179" name="Rectangle 8"/>
          <p:cNvSpPr/>
          <p:nvPr/>
        </p:nvSpPr>
        <p:spPr>
          <a:xfrm>
            <a:off x="717550" y="786765"/>
            <a:ext cx="8197850" cy="766445"/>
          </a:xfrm>
          <a:prstGeom prst="rect">
            <a:avLst/>
          </a:prstGeom>
          <a:noFill/>
          <a:ln w="9525">
            <a:noFill/>
          </a:ln>
        </p:spPr>
        <p:txBody>
          <a:bodyPr lIns="92075" tIns="46038" rIns="92075" bIns="46038" anchor="b"/>
          <a:lstStyle/>
          <a:p>
            <a:pPr lvl="0" eaLnBrk="1" hangingPunct="1"/>
            <a:r>
              <a:rPr lang="zh-CN" altLang="en-US" sz="2400" b="1" dirty="0">
                <a:solidFill>
                  <a:schemeClr val="hlink"/>
                </a:solidFill>
                <a:effectLst>
                  <a:outerShdw blurRad="38100" dist="38100" dir="2700000" algn="tl">
                    <a:srgbClr val="000000">
                      <a:alpha val="43137"/>
                    </a:srgbClr>
                  </a:outerShdw>
                </a:effectLst>
                <a:latin typeface="+mj-ea"/>
                <a:ea typeface="+mj-ea"/>
              </a:rPr>
              <a:t>例</a:t>
            </a:r>
            <a:r>
              <a:rPr lang="en-US" altLang="zh-CN" sz="2400" b="1" dirty="0">
                <a:solidFill>
                  <a:schemeClr val="hlink"/>
                </a:solidFill>
                <a:effectLst>
                  <a:outerShdw blurRad="38100" dist="38100" dir="2700000" algn="tl">
                    <a:srgbClr val="000000">
                      <a:alpha val="43137"/>
                    </a:srgbClr>
                  </a:outerShdw>
                </a:effectLst>
                <a:latin typeface="+mj-ea"/>
                <a:ea typeface="+mj-ea"/>
              </a:rPr>
              <a:t>:</a:t>
            </a:r>
            <a:r>
              <a:rPr lang="zh-CN" altLang="en-US" sz="2400" b="1" dirty="0">
                <a:solidFill>
                  <a:schemeClr val="hlink"/>
                </a:solidFill>
                <a:effectLst>
                  <a:outerShdw blurRad="38100" dist="38100" dir="2700000" algn="tl">
                    <a:srgbClr val="000000">
                      <a:alpha val="43137"/>
                    </a:srgbClr>
                  </a:outerShdw>
                </a:effectLst>
                <a:latin typeface="+mj-ea"/>
                <a:ea typeface="+mj-ea"/>
              </a:rPr>
              <a:t>使用指针计算数组元素个数和数组元素的存储单元数 </a:t>
            </a:r>
          </a:p>
        </p:txBody>
      </p:sp>
      <p:sp>
        <p:nvSpPr>
          <p:cNvPr id="373769" name="Rectangle 9"/>
          <p:cNvSpPr/>
          <p:nvPr/>
        </p:nvSpPr>
        <p:spPr>
          <a:xfrm>
            <a:off x="7839075" y="5594827"/>
            <a:ext cx="457200" cy="944562"/>
          </a:xfrm>
          <a:prstGeom prst="rect">
            <a:avLst/>
          </a:prstGeom>
          <a:noFill/>
          <a:ln w="12700" cap="flat" cmpd="sng">
            <a:solidFill>
              <a:schemeClr val="tx1"/>
            </a:solidFill>
            <a:prstDash val="sysDot"/>
            <a:miter/>
            <a:headEnd type="none" w="sm" len="sm"/>
            <a:tailEnd type="none" w="sm" len="sm"/>
          </a:ln>
        </p:spPr>
        <p:txBody>
          <a:bodyPr>
            <a:spAutoFit/>
          </a:bodyPr>
          <a:lstStyle/>
          <a:p>
            <a:pPr lvl="0" algn="ctr" eaLnBrk="1" hangingPunct="1">
              <a:spcBef>
                <a:spcPct val="30000"/>
              </a:spcBef>
            </a:pPr>
            <a:r>
              <a:rPr lang="en-US" altLang="zh-CN" sz="2400" b="1" dirty="0">
                <a:latin typeface="Arial" panose="020B0604020202020204" pitchFamily="34" charset="0"/>
                <a:ea typeface="宋体" panose="02010600030101010101" pitchFamily="2" charset="-122"/>
              </a:rPr>
              <a:t>1</a:t>
            </a:r>
          </a:p>
          <a:p>
            <a:pPr lvl="0" algn="ctr" eaLnBrk="1" hangingPunct="1">
              <a:spcBef>
                <a:spcPct val="30000"/>
              </a:spcBef>
            </a:pPr>
            <a:r>
              <a:rPr lang="en-US" altLang="zh-CN" sz="2400" b="1" dirty="0">
                <a:latin typeface="Arial" panose="020B0604020202020204" pitchFamily="34" charset="0"/>
                <a:ea typeface="宋体" panose="02010600030101010101" pitchFamily="2" charset="-122"/>
              </a:rPr>
              <a:t>8</a:t>
            </a:r>
          </a:p>
        </p:txBody>
      </p:sp>
      <p:sp>
        <p:nvSpPr>
          <p:cNvPr id="373770" name="Rectangle 10"/>
          <p:cNvSpPr/>
          <p:nvPr/>
        </p:nvSpPr>
        <p:spPr>
          <a:xfrm>
            <a:off x="4283075" y="4436110"/>
            <a:ext cx="3556000" cy="420688"/>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zh-CN" altLang="en-US" sz="2400" b="1" dirty="0">
                <a:solidFill>
                  <a:schemeClr val="bg2"/>
                </a:solidFill>
                <a:latin typeface="仿宋_GB2312" panose="02010609030101010101" pitchFamily="49" charset="-122"/>
                <a:ea typeface="仿宋_GB2312" panose="02010609030101010101" pitchFamily="49" charset="-122"/>
              </a:rPr>
              <a:t>指针</a:t>
            </a:r>
            <a:r>
              <a:rPr lang="en-US" altLang="zh-CN" sz="2400" b="1" dirty="0">
                <a:solidFill>
                  <a:schemeClr val="bg2"/>
                </a:solidFill>
                <a:latin typeface="仿宋_GB2312" panose="02010609030101010101" pitchFamily="49" charset="-122"/>
                <a:ea typeface="仿宋_GB2312" panose="02010609030101010101" pitchFamily="49" charset="-122"/>
              </a:rPr>
              <a:t>p</a:t>
            </a:r>
            <a:r>
              <a:rPr lang="zh-CN" altLang="en-US" sz="2400" b="1" dirty="0">
                <a:solidFill>
                  <a:schemeClr val="bg2"/>
                </a:solidFill>
                <a:latin typeface="仿宋_GB2312" panose="02010609030101010101" pitchFamily="49" charset="-122"/>
                <a:ea typeface="仿宋_GB2312" panose="02010609030101010101" pitchFamily="49" charset="-122"/>
              </a:rPr>
              <a:t>和</a:t>
            </a:r>
            <a:r>
              <a:rPr lang="en-US" altLang="zh-CN" sz="2400" b="1" dirty="0">
                <a:solidFill>
                  <a:schemeClr val="bg2"/>
                </a:solidFill>
                <a:latin typeface="仿宋_GB2312" panose="02010609030101010101" pitchFamily="49" charset="-122"/>
                <a:ea typeface="仿宋_GB2312" panose="02010609030101010101" pitchFamily="49" charset="-122"/>
              </a:rPr>
              <a:t>q</a:t>
            </a:r>
            <a:r>
              <a:rPr lang="zh-CN" altLang="en-US" sz="2400" b="1" dirty="0">
                <a:solidFill>
                  <a:schemeClr val="bg2"/>
                </a:solidFill>
                <a:latin typeface="仿宋_GB2312" panose="02010609030101010101" pitchFamily="49" charset="-122"/>
                <a:ea typeface="仿宋_GB2312" panose="02010609030101010101" pitchFamily="49" charset="-122"/>
              </a:rPr>
              <a:t>之间元素的个数</a:t>
            </a:r>
          </a:p>
        </p:txBody>
      </p:sp>
      <p:sp>
        <p:nvSpPr>
          <p:cNvPr id="373771" name="Rectangle 11"/>
          <p:cNvSpPr/>
          <p:nvPr/>
        </p:nvSpPr>
        <p:spPr>
          <a:xfrm>
            <a:off x="5507038" y="4870133"/>
            <a:ext cx="3249612"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zh-CN" altLang="en-US" sz="2400" b="1" dirty="0">
                <a:solidFill>
                  <a:schemeClr val="bg2"/>
                </a:solidFill>
                <a:latin typeface="仿宋_GB2312" panose="02010609030101010101" pitchFamily="49" charset="-122"/>
                <a:ea typeface="仿宋_GB2312" panose="02010609030101010101" pitchFamily="49" charset="-122"/>
              </a:rPr>
              <a:t>指针</a:t>
            </a:r>
            <a:r>
              <a:rPr lang="en-US" altLang="zh-CN" sz="2400" b="1" dirty="0">
                <a:solidFill>
                  <a:schemeClr val="bg2"/>
                </a:solidFill>
                <a:latin typeface="仿宋_GB2312" panose="02010609030101010101" pitchFamily="49" charset="-122"/>
                <a:ea typeface="仿宋_GB2312" panose="02010609030101010101" pitchFamily="49" charset="-122"/>
              </a:rPr>
              <a:t>p</a:t>
            </a:r>
            <a:r>
              <a:rPr lang="zh-CN" altLang="en-US" sz="2400" b="1" dirty="0">
                <a:solidFill>
                  <a:schemeClr val="bg2"/>
                </a:solidFill>
                <a:latin typeface="仿宋_GB2312" panose="02010609030101010101" pitchFamily="49" charset="-122"/>
                <a:ea typeface="仿宋_GB2312" panose="02010609030101010101" pitchFamily="49" charset="-122"/>
              </a:rPr>
              <a:t>和</a:t>
            </a:r>
            <a:r>
              <a:rPr lang="en-US" altLang="zh-CN" sz="2400" b="1" dirty="0">
                <a:solidFill>
                  <a:schemeClr val="bg2"/>
                </a:solidFill>
                <a:latin typeface="仿宋_GB2312" panose="02010609030101010101" pitchFamily="49" charset="-122"/>
                <a:ea typeface="仿宋_GB2312" panose="02010609030101010101" pitchFamily="49" charset="-122"/>
              </a:rPr>
              <a:t>q</a:t>
            </a:r>
            <a:r>
              <a:rPr lang="zh-CN" altLang="en-US" sz="2400" b="1" dirty="0">
                <a:solidFill>
                  <a:schemeClr val="bg2"/>
                </a:solidFill>
                <a:latin typeface="仿宋_GB2312" panose="02010609030101010101" pitchFamily="49" charset="-122"/>
                <a:ea typeface="仿宋_GB2312" panose="02010609030101010101" pitchFamily="49" charset="-122"/>
              </a:rPr>
              <a:t>之间的字节数</a:t>
            </a:r>
          </a:p>
        </p:txBody>
      </p:sp>
      <p:sp>
        <p:nvSpPr>
          <p:cNvPr id="373772" name="Line 12"/>
          <p:cNvSpPr/>
          <p:nvPr/>
        </p:nvSpPr>
        <p:spPr>
          <a:xfrm>
            <a:off x="3336290" y="5300980"/>
            <a:ext cx="762000" cy="0"/>
          </a:xfrm>
          <a:prstGeom prst="line">
            <a:avLst/>
          </a:prstGeom>
          <a:ln w="38100" cap="flat" cmpd="sng">
            <a:solidFill>
              <a:schemeClr val="bg2"/>
            </a:solidFill>
            <a:prstDash val="solid"/>
            <a:headEnd type="none" w="med" len="med"/>
            <a:tailEnd type="none" w="med" len="med"/>
          </a:ln>
        </p:spPr>
      </p:sp>
      <p:sp>
        <p:nvSpPr>
          <p:cNvPr id="373773" name="Rectangle 13"/>
          <p:cNvSpPr/>
          <p:nvPr/>
        </p:nvSpPr>
        <p:spPr>
          <a:xfrm>
            <a:off x="3201035" y="5373688"/>
            <a:ext cx="1103313"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zh-CN" altLang="en-US" sz="2400" b="1" dirty="0">
                <a:solidFill>
                  <a:schemeClr val="bg2"/>
                </a:solidFill>
                <a:latin typeface="仿宋_GB2312" panose="02010609030101010101" pitchFamily="49" charset="-122"/>
                <a:ea typeface="仿宋_GB2312" panose="02010609030101010101" pitchFamily="49" charset="-122"/>
              </a:rPr>
              <a:t>地址值</a:t>
            </a:r>
          </a:p>
        </p:txBody>
      </p:sp>
      <p:grpSp>
        <p:nvGrpSpPr>
          <p:cNvPr id="373774" name="Group 14"/>
          <p:cNvGrpSpPr/>
          <p:nvPr/>
        </p:nvGrpSpPr>
        <p:grpSpPr>
          <a:xfrm>
            <a:off x="3581400" y="1854200"/>
            <a:ext cx="5334000" cy="1447800"/>
            <a:chOff x="2256" y="960"/>
            <a:chExt cx="3360" cy="912"/>
          </a:xfrm>
        </p:grpSpPr>
        <p:sp>
          <p:nvSpPr>
            <p:cNvPr id="50186" name="Line 15"/>
            <p:cNvSpPr/>
            <p:nvPr/>
          </p:nvSpPr>
          <p:spPr>
            <a:xfrm>
              <a:off x="3840" y="1584"/>
              <a:ext cx="710" cy="0"/>
            </a:xfrm>
            <a:prstGeom prst="line">
              <a:avLst/>
            </a:prstGeom>
            <a:ln w="9525" cap="flat" cmpd="sng">
              <a:solidFill>
                <a:schemeClr val="tx1"/>
              </a:solidFill>
              <a:prstDash val="solid"/>
              <a:headEnd type="none" w="med" len="med"/>
              <a:tailEnd type="none" w="med" len="med"/>
            </a:ln>
          </p:spPr>
        </p:sp>
        <p:grpSp>
          <p:nvGrpSpPr>
            <p:cNvPr id="50187" name="Group 16"/>
            <p:cNvGrpSpPr/>
            <p:nvPr/>
          </p:nvGrpSpPr>
          <p:grpSpPr>
            <a:xfrm>
              <a:off x="2256" y="960"/>
              <a:ext cx="3360" cy="912"/>
              <a:chOff x="2256" y="960"/>
              <a:chExt cx="3360" cy="912"/>
            </a:xfrm>
          </p:grpSpPr>
          <p:sp>
            <p:nvSpPr>
              <p:cNvPr id="50188" name="Rectangle 17"/>
              <p:cNvSpPr/>
              <p:nvPr/>
            </p:nvSpPr>
            <p:spPr>
              <a:xfrm>
                <a:off x="2256" y="1296"/>
                <a:ext cx="240" cy="240"/>
              </a:xfrm>
              <a:prstGeom prst="rect">
                <a:avLst/>
              </a:prstGeom>
              <a:noFill/>
              <a:ln w="12700">
                <a:noFill/>
              </a:ln>
            </p:spPr>
            <p:txBody>
              <a:bodyPr wrap="none" anchor="ctr"/>
              <a:lstStyle/>
              <a:p>
                <a:pPr lvl="0" algn="r" eaLnBrk="1" hangingPunct="1"/>
                <a:r>
                  <a:rPr lang="en-US" altLang="zh-CN" sz="2400" b="1" dirty="0">
                    <a:solidFill>
                      <a:srgbClr val="CC0066"/>
                    </a:solidFill>
                    <a:latin typeface="Arial" panose="020B0604020202020204" pitchFamily="34" charset="0"/>
                    <a:ea typeface="宋体" panose="02010600030101010101" pitchFamily="2" charset="-122"/>
                  </a:rPr>
                  <a:t> p</a:t>
                </a:r>
              </a:p>
            </p:txBody>
          </p:sp>
          <p:sp>
            <p:nvSpPr>
              <p:cNvPr id="50189" name="Rectangle 18"/>
              <p:cNvSpPr/>
              <p:nvPr/>
            </p:nvSpPr>
            <p:spPr>
              <a:xfrm>
                <a:off x="2304" y="1584"/>
                <a:ext cx="192" cy="240"/>
              </a:xfrm>
              <a:prstGeom prst="rect">
                <a:avLst/>
              </a:prstGeom>
              <a:noFill/>
              <a:ln w="12700">
                <a:noFill/>
              </a:ln>
            </p:spPr>
            <p:txBody>
              <a:bodyPr wrap="none" anchor="ctr"/>
              <a:lstStyle/>
              <a:p>
                <a:pPr lvl="0" algn="r" eaLnBrk="1" hangingPunct="1"/>
                <a:r>
                  <a:rPr lang="en-US" altLang="zh-CN" sz="2400" b="1" dirty="0">
                    <a:solidFill>
                      <a:srgbClr val="CC0066"/>
                    </a:solidFill>
                    <a:latin typeface="Arial" panose="020B0604020202020204" pitchFamily="34" charset="0"/>
                    <a:ea typeface="宋体" panose="02010600030101010101" pitchFamily="2" charset="-122"/>
                  </a:rPr>
                  <a:t>q</a:t>
                </a:r>
              </a:p>
            </p:txBody>
          </p:sp>
          <p:sp>
            <p:nvSpPr>
              <p:cNvPr id="50190" name="Rectangle 19"/>
              <p:cNvSpPr/>
              <p:nvPr/>
            </p:nvSpPr>
            <p:spPr>
              <a:xfrm>
                <a:off x="3840" y="1296"/>
                <a:ext cx="720" cy="576"/>
              </a:xfrm>
              <a:prstGeom prst="rect">
                <a:avLst/>
              </a:prstGeom>
              <a:noFill/>
              <a:ln w="9525" cap="flat" cmpd="sng">
                <a:solidFill>
                  <a:schemeClr val="tx1"/>
                </a:solidFill>
                <a:prstDash val="solid"/>
                <a:miter/>
                <a:headEnd type="none" w="med" len="med"/>
                <a:tailEnd type="none" w="med" len="med"/>
              </a:ln>
            </p:spPr>
            <p:txBody>
              <a:bodyPr wrap="none" lIns="92075" tIns="46038" rIns="92075" bIns="46038" anchor="ctr"/>
              <a:lstStyle/>
              <a:p>
                <a:pPr lvl="0" eaLnBrk="1" hangingPunct="1"/>
                <a:endParaRPr lang="zh-CN" altLang="en-US" dirty="0">
                  <a:latin typeface="Arial" panose="020B0604020202020204" pitchFamily="34" charset="0"/>
                  <a:ea typeface="宋体" panose="02010600030101010101" pitchFamily="2" charset="-122"/>
                </a:endParaRPr>
              </a:p>
            </p:txBody>
          </p:sp>
          <p:sp>
            <p:nvSpPr>
              <p:cNvPr id="50191" name="Rectangle 20"/>
              <p:cNvSpPr/>
              <p:nvPr/>
            </p:nvSpPr>
            <p:spPr>
              <a:xfrm>
                <a:off x="3216" y="1344"/>
                <a:ext cx="2208" cy="240"/>
              </a:xfrm>
              <a:prstGeom prst="rect">
                <a:avLst/>
              </a:prstGeom>
              <a:noFill/>
              <a:ln w="12700">
                <a:noFill/>
              </a:ln>
            </p:spPr>
            <p:txBody>
              <a:bodyPr wrap="none" anchor="ctr"/>
              <a:lstStyle/>
              <a:p>
                <a:pPr lvl="0" eaLnBrk="1" hangingPunct="1"/>
                <a:r>
                  <a:rPr lang="en-US" altLang="zh-CN" sz="2400" b="1" dirty="0">
                    <a:latin typeface="Arial" panose="020B0604020202020204" pitchFamily="34" charset="0"/>
                    <a:ea typeface="宋体" panose="02010600030101010101" pitchFamily="2" charset="-122"/>
                  </a:rPr>
                  <a:t>3000                        a[0]</a:t>
                </a:r>
                <a:endParaRPr lang="en-US" altLang="zh-CN" sz="2400" b="1" dirty="0">
                  <a:solidFill>
                    <a:schemeClr val="accent1"/>
                  </a:solidFill>
                  <a:latin typeface="Arial" panose="020B0604020202020204" pitchFamily="34" charset="0"/>
                  <a:ea typeface="宋体" panose="02010600030101010101" pitchFamily="2" charset="-122"/>
                </a:endParaRPr>
              </a:p>
            </p:txBody>
          </p:sp>
          <p:sp>
            <p:nvSpPr>
              <p:cNvPr id="50192" name="Rectangle 21"/>
              <p:cNvSpPr/>
              <p:nvPr/>
            </p:nvSpPr>
            <p:spPr>
              <a:xfrm>
                <a:off x="3264" y="960"/>
                <a:ext cx="2352" cy="288"/>
              </a:xfrm>
              <a:prstGeom prst="rect">
                <a:avLst/>
              </a:prstGeom>
              <a:noFill/>
              <a:ln w="12700">
                <a:noFill/>
              </a:ln>
            </p:spPr>
            <p:txBody>
              <a:bodyPr wrap="none" anchor="ctr"/>
              <a:lstStyle/>
              <a:p>
                <a:pPr lvl="0" eaLnBrk="1" hangingPunct="1"/>
                <a:r>
                  <a:rPr lang="zh-CN" altLang="en-US" sz="2400" b="1" dirty="0">
                    <a:latin typeface="Times New Roman" panose="02020603050405020304" pitchFamily="18" charset="0"/>
                    <a:ea typeface="宋体" panose="02010600030101010101" pitchFamily="2" charset="-122"/>
                  </a:rPr>
                  <a:t>地址       内容        数组元素</a:t>
                </a:r>
                <a:endParaRPr lang="en-US" altLang="zh-CN" sz="2400" b="1" dirty="0">
                  <a:latin typeface="Times New Roman" panose="02020603050405020304" pitchFamily="18" charset="0"/>
                  <a:ea typeface="宋体" panose="02010600030101010101" pitchFamily="2" charset="-122"/>
                </a:endParaRPr>
              </a:p>
            </p:txBody>
          </p:sp>
          <p:sp>
            <p:nvSpPr>
              <p:cNvPr id="50193" name="Rectangle 22"/>
              <p:cNvSpPr/>
              <p:nvPr/>
            </p:nvSpPr>
            <p:spPr>
              <a:xfrm>
                <a:off x="3216" y="1632"/>
                <a:ext cx="2208" cy="240"/>
              </a:xfrm>
              <a:prstGeom prst="rect">
                <a:avLst/>
              </a:prstGeom>
              <a:noFill/>
              <a:ln w="12700">
                <a:noFill/>
              </a:ln>
            </p:spPr>
            <p:txBody>
              <a:bodyPr wrap="none" anchor="ctr"/>
              <a:lstStyle/>
              <a:p>
                <a:pPr lvl="0" eaLnBrk="1" hangingPunct="1"/>
                <a:r>
                  <a:rPr lang="en-US" altLang="zh-CN" sz="2400" b="1" dirty="0">
                    <a:latin typeface="Arial" panose="020B0604020202020204" pitchFamily="34" charset="0"/>
                    <a:ea typeface="宋体" panose="02010600030101010101" pitchFamily="2" charset="-122"/>
                  </a:rPr>
                  <a:t>3008                        a[1]</a:t>
                </a:r>
                <a:endParaRPr lang="en-US" altLang="zh-CN" sz="2400" b="1" dirty="0">
                  <a:solidFill>
                    <a:schemeClr val="accent1"/>
                  </a:solidFill>
                  <a:latin typeface="Arial" panose="020B0604020202020204" pitchFamily="34" charset="0"/>
                  <a:ea typeface="宋体" panose="02010600030101010101" pitchFamily="2" charset="-122"/>
                </a:endParaRPr>
              </a:p>
            </p:txBody>
          </p:sp>
          <p:sp>
            <p:nvSpPr>
              <p:cNvPr id="50194" name="Rectangle 23"/>
              <p:cNvSpPr/>
              <p:nvPr/>
            </p:nvSpPr>
            <p:spPr>
              <a:xfrm>
                <a:off x="2496" y="1296"/>
                <a:ext cx="576" cy="240"/>
              </a:xfrm>
              <a:prstGeom prst="rect">
                <a:avLst/>
              </a:prstGeom>
              <a:noFill/>
              <a:ln w="12700">
                <a:noFill/>
              </a:ln>
            </p:spPr>
            <p:txBody>
              <a:bodyPr wrap="none" anchor="ctr"/>
              <a:lstStyle/>
              <a:p>
                <a:pPr lvl="0" algn="r" eaLnBrk="1" hangingPunct="1"/>
                <a:r>
                  <a:rPr lang="en-US" altLang="zh-CN" sz="2400" b="1" dirty="0">
                    <a:solidFill>
                      <a:schemeClr val="bg2"/>
                    </a:solidFill>
                    <a:latin typeface="Arial" panose="020B0604020202020204" pitchFamily="34" charset="0"/>
                    <a:ea typeface="宋体" panose="02010600030101010101" pitchFamily="2" charset="-122"/>
                  </a:rPr>
                  <a:t> a</a:t>
                </a:r>
              </a:p>
            </p:txBody>
          </p:sp>
          <p:sp>
            <p:nvSpPr>
              <p:cNvPr id="50195" name="Rectangle 24"/>
              <p:cNvSpPr/>
              <p:nvPr/>
            </p:nvSpPr>
            <p:spPr>
              <a:xfrm>
                <a:off x="2496" y="1584"/>
                <a:ext cx="576" cy="240"/>
              </a:xfrm>
              <a:prstGeom prst="rect">
                <a:avLst/>
              </a:prstGeom>
              <a:noFill/>
              <a:ln w="12700">
                <a:noFill/>
              </a:ln>
            </p:spPr>
            <p:txBody>
              <a:bodyPr wrap="none" anchor="ctr"/>
              <a:lstStyle/>
              <a:p>
                <a:pPr lvl="0" algn="r" eaLnBrk="1" hangingPunct="1"/>
                <a:r>
                  <a:rPr lang="en-US" altLang="zh-CN" sz="2400" b="1" dirty="0">
                    <a:solidFill>
                      <a:schemeClr val="bg2"/>
                    </a:solidFill>
                    <a:latin typeface="Arial" panose="020B0604020202020204" pitchFamily="34" charset="0"/>
                    <a:ea typeface="宋体" panose="02010600030101010101" pitchFamily="2" charset="-122"/>
                  </a:rPr>
                  <a:t>a+1</a:t>
                </a:r>
              </a:p>
            </p:txBody>
          </p:sp>
        </p:grpSp>
      </p:grpSp>
      <p:sp>
        <p:nvSpPr>
          <p:cNvPr id="20" name="Rectangle 13"/>
          <p:cNvSpPr/>
          <p:nvPr/>
        </p:nvSpPr>
        <p:spPr>
          <a:xfrm>
            <a:off x="6071686" y="5860733"/>
            <a:ext cx="1417055" cy="425374"/>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zh-CN" altLang="en-US" sz="2400" b="1" dirty="0" smtClean="0">
                <a:solidFill>
                  <a:schemeClr val="bg2"/>
                </a:solidFill>
                <a:latin typeface="仿宋_GB2312" panose="02010609030101010101" pitchFamily="49" charset="-122"/>
                <a:ea typeface="仿宋_GB2312" panose="02010609030101010101" pitchFamily="49" charset="-122"/>
              </a:rPr>
              <a:t>输出结果</a:t>
            </a:r>
            <a:endParaRPr lang="zh-CN" altLang="en-US" sz="2400" b="1" dirty="0">
              <a:solidFill>
                <a:schemeClr val="bg2"/>
              </a:solidFill>
              <a:latin typeface="仿宋_GB2312" panose="02010609030101010101" pitchFamily="49" charset="-122"/>
              <a:ea typeface="仿宋_GB2312" panose="0201060903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54579" y="-19521"/>
            <a:ext cx="8494133" cy="784225"/>
          </a:xfrm>
        </p:spPr>
        <p:txBody>
          <a:bodyPr/>
          <a:lstStyle/>
          <a:p>
            <a:pPr>
              <a:defRPr/>
            </a:pPr>
            <a:r>
              <a:rPr lang="zh-CN" altLang="en-US" dirty="0" smtClean="0"/>
              <a:t>案例</a:t>
            </a:r>
            <a:r>
              <a:rPr lang="en-US" altLang="zh-CN" dirty="0" smtClean="0"/>
              <a:t>:</a:t>
            </a:r>
            <a:endParaRPr lang="zh-CN" altLang="en-US" dirty="0"/>
          </a:p>
        </p:txBody>
      </p:sp>
      <p:sp>
        <p:nvSpPr>
          <p:cNvPr id="3" name="内容占位符 2"/>
          <p:cNvSpPr>
            <a:spLocks noGrp="1"/>
          </p:cNvSpPr>
          <p:nvPr>
            <p:ph idx="1"/>
          </p:nvPr>
        </p:nvSpPr>
        <p:spPr>
          <a:xfrm>
            <a:off x="107504" y="1021876"/>
            <a:ext cx="6320988" cy="5647484"/>
          </a:xfrm>
        </p:spPr>
        <p:txBody>
          <a:bodyPr/>
          <a:lstStyle/>
          <a:p>
            <a:pPr marL="0" indent="0">
              <a:spcBef>
                <a:spcPts val="0"/>
              </a:spcBef>
              <a:buNone/>
              <a:defRPr/>
            </a:pPr>
            <a:r>
              <a:rPr lang="en-US" altLang="zh-CN" sz="2000" dirty="0" smtClean="0"/>
              <a:t>#include &lt;</a:t>
            </a:r>
            <a:r>
              <a:rPr lang="en-US" altLang="zh-CN" sz="2000" dirty="0" err="1" smtClean="0"/>
              <a:t>stdio.h</a:t>
            </a:r>
            <a:r>
              <a:rPr lang="en-US" altLang="zh-CN" sz="2000" dirty="0" smtClean="0"/>
              <a:t>&gt;</a:t>
            </a:r>
          </a:p>
          <a:p>
            <a:pPr marL="0" indent="0">
              <a:spcBef>
                <a:spcPts val="0"/>
              </a:spcBef>
              <a:buNone/>
              <a:defRPr/>
            </a:pPr>
            <a:r>
              <a:rPr lang="en-US" altLang="zh-CN" sz="2000" dirty="0" err="1" smtClean="0"/>
              <a:t>int</a:t>
            </a:r>
            <a:r>
              <a:rPr lang="en-US" altLang="zh-CN" sz="2000" dirty="0" smtClean="0"/>
              <a:t> main()</a:t>
            </a:r>
          </a:p>
          <a:p>
            <a:pPr marL="0" indent="0">
              <a:spcBef>
                <a:spcPts val="0"/>
              </a:spcBef>
              <a:buNone/>
              <a:defRPr/>
            </a:pPr>
            <a:r>
              <a:rPr lang="en-US" altLang="zh-CN" sz="2000" dirty="0" smtClean="0"/>
              <a:t>{</a:t>
            </a:r>
          </a:p>
          <a:p>
            <a:pPr marL="0" indent="0">
              <a:spcBef>
                <a:spcPts val="0"/>
              </a:spcBef>
              <a:buNone/>
              <a:defRPr/>
            </a:pPr>
            <a:r>
              <a:rPr lang="en-US" altLang="zh-CN" sz="2000" dirty="0"/>
              <a:t> </a:t>
            </a:r>
            <a:r>
              <a:rPr lang="en-US" altLang="zh-CN" sz="2000" dirty="0" smtClean="0"/>
              <a:t> </a:t>
            </a:r>
            <a:r>
              <a:rPr lang="en-US" altLang="zh-CN" sz="2000" dirty="0" err="1" smtClean="0"/>
              <a:t>int</a:t>
            </a:r>
            <a:r>
              <a:rPr lang="en-US" altLang="zh-CN" sz="2000" dirty="0" smtClean="0"/>
              <a:t> a[5]={10,20,30,40,50};</a:t>
            </a:r>
          </a:p>
          <a:p>
            <a:pPr marL="0" indent="0">
              <a:spcBef>
                <a:spcPts val="0"/>
              </a:spcBef>
              <a:buNone/>
              <a:defRPr/>
            </a:pPr>
            <a:r>
              <a:rPr lang="en-US" altLang="zh-CN" sz="2000" dirty="0" smtClean="0"/>
              <a:t>  </a:t>
            </a:r>
            <a:r>
              <a:rPr lang="en-US" altLang="zh-CN" sz="2000" dirty="0" err="1" smtClean="0"/>
              <a:t>int</a:t>
            </a:r>
            <a:r>
              <a:rPr lang="en-US" altLang="zh-CN" sz="2000" dirty="0" smtClean="0"/>
              <a:t> *p=</a:t>
            </a:r>
            <a:r>
              <a:rPr lang="en-US" altLang="zh-CN" sz="2000" dirty="0" err="1" smtClean="0"/>
              <a:t>a,x,y,z,m,n</a:t>
            </a:r>
            <a:r>
              <a:rPr lang="en-US" altLang="zh-CN" sz="2000" dirty="0" smtClean="0"/>
              <a:t>;</a:t>
            </a:r>
          </a:p>
          <a:p>
            <a:pPr marL="0" indent="0">
              <a:spcBef>
                <a:spcPts val="0"/>
              </a:spcBef>
              <a:buNone/>
              <a:defRPr/>
            </a:pPr>
            <a:r>
              <a:rPr lang="en-US" altLang="zh-CN" sz="2000" dirty="0" smtClean="0"/>
              <a:t>  x=*++p;       //p</a:t>
            </a:r>
            <a:r>
              <a:rPr lang="zh-CN" altLang="en-US" sz="2000" dirty="0" smtClean="0"/>
              <a:t>指向</a:t>
            </a:r>
            <a:r>
              <a:rPr lang="en-US" altLang="zh-CN" sz="2000" dirty="0"/>
              <a:t>a[1] </a:t>
            </a:r>
            <a:r>
              <a:rPr lang="zh-CN" altLang="en-US" sz="2000" dirty="0" smtClean="0"/>
              <a:t>，得</a:t>
            </a:r>
            <a:r>
              <a:rPr lang="en-US" altLang="zh-CN" sz="2000" dirty="0" smtClean="0"/>
              <a:t>a[1</a:t>
            </a:r>
            <a:r>
              <a:rPr lang="en-US" altLang="zh-CN" sz="2000" dirty="0"/>
              <a:t>]</a:t>
            </a:r>
            <a:r>
              <a:rPr lang="zh-CN" altLang="en-US" sz="2000" dirty="0"/>
              <a:t>的</a:t>
            </a:r>
            <a:r>
              <a:rPr lang="zh-CN" altLang="en-US" sz="2000" dirty="0" smtClean="0"/>
              <a:t>值</a:t>
            </a:r>
            <a:r>
              <a:rPr lang="en-US" altLang="zh-CN" sz="2000" dirty="0" smtClean="0"/>
              <a:t>20</a:t>
            </a:r>
          </a:p>
          <a:p>
            <a:pPr marL="0" indent="0">
              <a:spcBef>
                <a:spcPts val="0"/>
              </a:spcBef>
              <a:buNone/>
              <a:defRPr/>
            </a:pPr>
            <a:r>
              <a:rPr lang="en-US" altLang="zh-CN" sz="2000" dirty="0" smtClean="0"/>
              <a:t>  y=++*p</a:t>
            </a:r>
            <a:r>
              <a:rPr lang="en-US" altLang="zh-CN" sz="2000" dirty="0"/>
              <a:t>;       // </a:t>
            </a:r>
            <a:r>
              <a:rPr lang="en-US" altLang="zh-CN" sz="2000" dirty="0" smtClean="0"/>
              <a:t>a[1]</a:t>
            </a:r>
            <a:r>
              <a:rPr lang="zh-CN" altLang="en-US" sz="2000" dirty="0" smtClean="0"/>
              <a:t>值</a:t>
            </a:r>
            <a:r>
              <a:rPr lang="en-US" altLang="zh-CN" sz="2000" dirty="0" smtClean="0"/>
              <a:t>+1</a:t>
            </a:r>
            <a:r>
              <a:rPr lang="zh-CN" altLang="en-US" sz="2000" dirty="0" smtClean="0"/>
              <a:t>得</a:t>
            </a:r>
            <a:r>
              <a:rPr lang="en-US" altLang="zh-CN" sz="2000" dirty="0" smtClean="0"/>
              <a:t>21</a:t>
            </a:r>
          </a:p>
          <a:p>
            <a:pPr marL="0" indent="0">
              <a:spcBef>
                <a:spcPts val="0"/>
              </a:spcBef>
              <a:buNone/>
              <a:defRPr/>
            </a:pPr>
            <a:r>
              <a:rPr lang="en-US" altLang="zh-CN" sz="2000" dirty="0" smtClean="0"/>
              <a:t>  z=</a:t>
            </a:r>
            <a:r>
              <a:rPr lang="en-US" altLang="zh-CN" sz="2000" dirty="0"/>
              <a:t>(*p)++; </a:t>
            </a:r>
            <a:r>
              <a:rPr lang="en-US" altLang="zh-CN" sz="2000" dirty="0" smtClean="0"/>
              <a:t>   // a[1]</a:t>
            </a:r>
            <a:r>
              <a:rPr lang="zh-CN" altLang="en-US" sz="2000" dirty="0"/>
              <a:t>的</a:t>
            </a:r>
            <a:r>
              <a:rPr lang="zh-CN" altLang="en-US" sz="2000" dirty="0" smtClean="0"/>
              <a:t>值</a:t>
            </a:r>
            <a:r>
              <a:rPr lang="en-US" altLang="zh-CN" sz="2000" dirty="0" smtClean="0"/>
              <a:t>21</a:t>
            </a:r>
            <a:r>
              <a:rPr lang="zh-CN" altLang="en-US" sz="2000" dirty="0" smtClean="0"/>
              <a:t>赋给</a:t>
            </a:r>
            <a:r>
              <a:rPr lang="en-US" altLang="zh-CN" sz="2000" dirty="0" smtClean="0"/>
              <a:t>z</a:t>
            </a:r>
            <a:r>
              <a:rPr lang="zh-CN" altLang="en-US" sz="2000" dirty="0" smtClean="0"/>
              <a:t>，</a:t>
            </a:r>
            <a:r>
              <a:rPr lang="en-US" altLang="zh-CN" sz="2000" dirty="0" smtClean="0"/>
              <a:t>a[1]</a:t>
            </a:r>
            <a:r>
              <a:rPr lang="zh-CN" altLang="en-US" sz="2000" dirty="0" smtClean="0"/>
              <a:t>自加</a:t>
            </a:r>
            <a:r>
              <a:rPr lang="en-US" altLang="zh-CN" sz="2000" dirty="0" smtClean="0"/>
              <a:t>1</a:t>
            </a:r>
            <a:r>
              <a:rPr lang="zh-CN" altLang="en-US" sz="2000" dirty="0" smtClean="0"/>
              <a:t>得</a:t>
            </a:r>
            <a:r>
              <a:rPr lang="en-US" altLang="zh-CN" sz="2000" dirty="0" smtClean="0"/>
              <a:t>22</a:t>
            </a:r>
          </a:p>
          <a:p>
            <a:pPr marL="0" indent="0">
              <a:spcBef>
                <a:spcPts val="0"/>
              </a:spcBef>
              <a:buNone/>
              <a:defRPr/>
            </a:pPr>
            <a:r>
              <a:rPr lang="en-US" altLang="zh-CN" sz="2000" dirty="0" smtClean="0"/>
              <a:t>  m=*</a:t>
            </a:r>
            <a:r>
              <a:rPr lang="en-US" altLang="zh-CN" sz="2000" dirty="0"/>
              <a:t>p++; </a:t>
            </a:r>
            <a:r>
              <a:rPr lang="en-US" altLang="zh-CN" sz="2000" dirty="0" smtClean="0"/>
              <a:t>    // </a:t>
            </a:r>
            <a:r>
              <a:rPr lang="en-US" altLang="zh-CN" sz="2000" dirty="0"/>
              <a:t>a[1]</a:t>
            </a:r>
            <a:r>
              <a:rPr lang="zh-CN" altLang="en-US" sz="2000" dirty="0"/>
              <a:t>的</a:t>
            </a:r>
            <a:r>
              <a:rPr lang="zh-CN" altLang="en-US" sz="2000" dirty="0" smtClean="0"/>
              <a:t>值</a:t>
            </a:r>
            <a:r>
              <a:rPr lang="en-US" altLang="zh-CN" sz="2000" dirty="0" smtClean="0"/>
              <a:t>22</a:t>
            </a:r>
            <a:r>
              <a:rPr lang="zh-CN" altLang="en-US" sz="2000" dirty="0" smtClean="0"/>
              <a:t>赋给</a:t>
            </a:r>
            <a:r>
              <a:rPr lang="en-US" altLang="zh-CN" sz="2000" dirty="0" smtClean="0"/>
              <a:t>m</a:t>
            </a:r>
            <a:r>
              <a:rPr lang="zh-CN" altLang="en-US" sz="2000" dirty="0" smtClean="0"/>
              <a:t>，</a:t>
            </a:r>
            <a:r>
              <a:rPr lang="en-US" altLang="zh-CN" sz="2000" dirty="0" smtClean="0"/>
              <a:t>p</a:t>
            </a:r>
            <a:r>
              <a:rPr lang="zh-CN" altLang="en-US" sz="2000" dirty="0" smtClean="0"/>
              <a:t>自</a:t>
            </a:r>
            <a:r>
              <a:rPr lang="zh-CN" altLang="en-US" sz="2000" dirty="0"/>
              <a:t>加</a:t>
            </a:r>
            <a:r>
              <a:rPr lang="en-US" altLang="zh-CN" sz="2000" dirty="0" smtClean="0"/>
              <a:t>1</a:t>
            </a:r>
            <a:r>
              <a:rPr lang="zh-CN" altLang="en-US" sz="2000" dirty="0" smtClean="0"/>
              <a:t>指向</a:t>
            </a:r>
            <a:r>
              <a:rPr lang="en-US" altLang="zh-CN" sz="2000" dirty="0" smtClean="0"/>
              <a:t>a[2]</a:t>
            </a:r>
          </a:p>
          <a:p>
            <a:pPr marL="0" indent="0">
              <a:spcBef>
                <a:spcPts val="0"/>
              </a:spcBef>
              <a:buNone/>
              <a:defRPr/>
            </a:pPr>
            <a:r>
              <a:rPr lang="en-US" altLang="zh-CN" sz="2000" dirty="0" smtClean="0"/>
              <a:t>  n=*(</a:t>
            </a:r>
            <a:r>
              <a:rPr lang="en-US" altLang="zh-CN" sz="2000" dirty="0"/>
              <a:t>p++); </a:t>
            </a:r>
            <a:r>
              <a:rPr lang="en-US" altLang="zh-CN" sz="2000" dirty="0" smtClean="0"/>
              <a:t>  // a[2]</a:t>
            </a:r>
            <a:r>
              <a:rPr lang="zh-CN" altLang="en-US" sz="2000" dirty="0"/>
              <a:t>的</a:t>
            </a:r>
            <a:r>
              <a:rPr lang="zh-CN" altLang="en-US" sz="2000" dirty="0" smtClean="0"/>
              <a:t>值</a:t>
            </a:r>
            <a:r>
              <a:rPr lang="en-US" altLang="zh-CN" sz="2000" dirty="0" smtClean="0"/>
              <a:t>30</a:t>
            </a:r>
            <a:r>
              <a:rPr lang="zh-CN" altLang="en-US" sz="2000" dirty="0" smtClean="0"/>
              <a:t>赋给</a:t>
            </a:r>
            <a:r>
              <a:rPr lang="en-US" altLang="zh-CN" sz="2000" dirty="0" smtClean="0"/>
              <a:t>n</a:t>
            </a:r>
            <a:r>
              <a:rPr lang="zh-CN" altLang="en-US" sz="2000" dirty="0" smtClean="0"/>
              <a:t>，</a:t>
            </a:r>
            <a:r>
              <a:rPr lang="en-US" altLang="zh-CN" sz="2000" dirty="0"/>
              <a:t>p</a:t>
            </a:r>
            <a:r>
              <a:rPr lang="zh-CN" altLang="en-US" sz="2000" dirty="0"/>
              <a:t>自加</a:t>
            </a:r>
            <a:r>
              <a:rPr lang="en-US" altLang="zh-CN" sz="2000" dirty="0"/>
              <a:t>1</a:t>
            </a:r>
            <a:r>
              <a:rPr lang="zh-CN" altLang="en-US" sz="2000" dirty="0"/>
              <a:t>指向</a:t>
            </a:r>
            <a:r>
              <a:rPr lang="en-US" altLang="zh-CN" sz="2000" dirty="0" smtClean="0"/>
              <a:t>a[3]</a:t>
            </a:r>
          </a:p>
          <a:p>
            <a:pPr marL="0" indent="0">
              <a:spcBef>
                <a:spcPts val="0"/>
              </a:spcBef>
              <a:buNone/>
              <a:defRPr/>
            </a:pPr>
            <a:r>
              <a:rPr lang="en-US" altLang="zh-CN" sz="2000" dirty="0" smtClean="0"/>
              <a:t>  </a:t>
            </a:r>
            <a:r>
              <a:rPr lang="en-US" altLang="zh-CN" sz="2000" dirty="0" err="1" smtClean="0"/>
              <a:t>printf</a:t>
            </a:r>
            <a:r>
              <a:rPr lang="en-US" altLang="zh-CN" sz="2000" dirty="0" smtClean="0"/>
              <a:t>("%d %d %d %d %d\</a:t>
            </a:r>
            <a:r>
              <a:rPr lang="en-US" altLang="zh-CN" sz="2000" dirty="0" err="1" smtClean="0"/>
              <a:t>n",x</a:t>
            </a:r>
            <a:r>
              <a:rPr lang="en-US" altLang="zh-CN" sz="2000" dirty="0" smtClean="0"/>
              <a:t> ,</a:t>
            </a:r>
            <a:r>
              <a:rPr lang="en-US" altLang="zh-CN" sz="2000" dirty="0" err="1" smtClean="0"/>
              <a:t>y,z,m,n</a:t>
            </a:r>
            <a:r>
              <a:rPr lang="en-US" altLang="zh-CN" sz="2000" dirty="0" smtClean="0"/>
              <a:t>);</a:t>
            </a:r>
          </a:p>
          <a:p>
            <a:pPr marL="0" indent="0">
              <a:spcBef>
                <a:spcPts val="0"/>
              </a:spcBef>
              <a:buNone/>
              <a:defRPr/>
            </a:pPr>
            <a:r>
              <a:rPr lang="en-US" altLang="zh-CN" sz="2000" dirty="0" smtClean="0"/>
              <a:t>  for(p=</a:t>
            </a:r>
            <a:r>
              <a:rPr lang="en-US" altLang="zh-CN" sz="2000" dirty="0" err="1" smtClean="0"/>
              <a:t>a;p</a:t>
            </a:r>
            <a:r>
              <a:rPr lang="en-US" altLang="zh-CN" sz="2000" dirty="0" smtClean="0"/>
              <a:t>&lt;a+5;p++)</a:t>
            </a:r>
          </a:p>
          <a:p>
            <a:pPr marL="0" indent="0">
              <a:spcBef>
                <a:spcPts val="0"/>
              </a:spcBef>
              <a:buNone/>
              <a:defRPr/>
            </a:pPr>
            <a:r>
              <a:rPr lang="en-US" altLang="zh-CN" sz="2000" dirty="0" smtClean="0"/>
              <a:t>       </a:t>
            </a:r>
            <a:r>
              <a:rPr lang="en-US" altLang="zh-CN" sz="2000" dirty="0" err="1" smtClean="0"/>
              <a:t>printf</a:t>
            </a:r>
            <a:r>
              <a:rPr lang="en-US" altLang="zh-CN" sz="2000" dirty="0" smtClean="0"/>
              <a:t>("%d ",*p);</a:t>
            </a:r>
          </a:p>
          <a:p>
            <a:pPr marL="0" indent="0">
              <a:spcBef>
                <a:spcPts val="0"/>
              </a:spcBef>
              <a:buNone/>
              <a:defRPr/>
            </a:pPr>
            <a:r>
              <a:rPr lang="en-US" altLang="zh-CN" sz="2000" dirty="0" smtClean="0"/>
              <a:t>  return  0;</a:t>
            </a:r>
          </a:p>
          <a:p>
            <a:pPr marL="0" indent="0">
              <a:spcBef>
                <a:spcPts val="0"/>
              </a:spcBef>
              <a:buNone/>
              <a:defRPr/>
            </a:pPr>
            <a:r>
              <a:rPr lang="en-US" altLang="zh-CN" sz="2000" dirty="0" smtClean="0"/>
              <a:t>}</a:t>
            </a:r>
            <a:endParaRPr lang="zh-CN" altLang="en-US" sz="1600" dirty="0"/>
          </a:p>
        </p:txBody>
      </p:sp>
      <p:sp>
        <p:nvSpPr>
          <p:cNvPr id="7" name="TextBox 6"/>
          <p:cNvSpPr txBox="1"/>
          <p:nvPr/>
        </p:nvSpPr>
        <p:spPr>
          <a:xfrm>
            <a:off x="1513313" y="154233"/>
            <a:ext cx="5976664" cy="461665"/>
          </a:xfrm>
          <a:prstGeom prst="rect">
            <a:avLst/>
          </a:prstGeom>
          <a:noFill/>
        </p:spPr>
        <p:txBody>
          <a:bodyPr wrap="square" rtlCol="0">
            <a:spAutoFit/>
          </a:bodyPr>
          <a:lstStyle/>
          <a:p>
            <a:r>
              <a:rPr lang="zh-CN" altLang="en-US" sz="2400" b="1" dirty="0" smtClean="0">
                <a:solidFill>
                  <a:schemeClr val="bg2"/>
                </a:solidFill>
                <a:latin typeface="+mj-lt"/>
              </a:rPr>
              <a:t>求*</a:t>
            </a:r>
            <a:r>
              <a:rPr lang="en-US" altLang="zh-CN" sz="2400" b="1" dirty="0" smtClean="0">
                <a:solidFill>
                  <a:schemeClr val="bg2"/>
                </a:solidFill>
                <a:latin typeface="+mj-lt"/>
              </a:rPr>
              <a:t>++p  ++*p  (</a:t>
            </a:r>
            <a:r>
              <a:rPr lang="zh-CN" altLang="en-US" sz="2400" b="1" dirty="0" smtClean="0">
                <a:solidFill>
                  <a:schemeClr val="bg2"/>
                </a:solidFill>
                <a:latin typeface="+mj-lt"/>
              </a:rPr>
              <a:t>*</a:t>
            </a:r>
            <a:r>
              <a:rPr lang="en-US" altLang="zh-CN" sz="2400" b="1" dirty="0" smtClean="0">
                <a:solidFill>
                  <a:schemeClr val="bg2"/>
                </a:solidFill>
                <a:latin typeface="+mj-lt"/>
              </a:rPr>
              <a:t>p)++  *p++  *(p++)</a:t>
            </a:r>
            <a:endParaRPr lang="zh-CN" altLang="en-US" sz="2400" b="1" dirty="0">
              <a:solidFill>
                <a:schemeClr val="bg2"/>
              </a:solidFill>
              <a:latin typeface="+mj-lt"/>
            </a:endParaRPr>
          </a:p>
        </p:txBody>
      </p:sp>
      <p:grpSp>
        <p:nvGrpSpPr>
          <p:cNvPr id="19" name="组合 18"/>
          <p:cNvGrpSpPr/>
          <p:nvPr/>
        </p:nvGrpSpPr>
        <p:grpSpPr>
          <a:xfrm>
            <a:off x="6232755" y="3356992"/>
            <a:ext cx="2992501" cy="1093016"/>
            <a:chOff x="6151005" y="402161"/>
            <a:chExt cx="2992501" cy="1093016"/>
          </a:xfrm>
        </p:grpSpPr>
        <p:sp>
          <p:nvSpPr>
            <p:cNvPr id="4" name="TextBox 3"/>
            <p:cNvSpPr txBox="1"/>
            <p:nvPr/>
          </p:nvSpPr>
          <p:spPr>
            <a:xfrm>
              <a:off x="6253299" y="402161"/>
              <a:ext cx="2890207" cy="461665"/>
            </a:xfrm>
            <a:prstGeom prst="rect">
              <a:avLst/>
            </a:prstGeom>
            <a:noFill/>
          </p:spPr>
          <p:txBody>
            <a:bodyPr wrap="square" rtlCol="0">
              <a:spAutoFit/>
            </a:bodyPr>
            <a:lstStyle/>
            <a:p>
              <a:r>
                <a:rPr lang="en-US" altLang="zh-CN" sz="2400" b="1" dirty="0" smtClean="0">
                  <a:solidFill>
                    <a:schemeClr val="bg2"/>
                  </a:solidFill>
                </a:rPr>
                <a:t>a[i] </a:t>
              </a:r>
              <a:r>
                <a:rPr lang="zh-CN" altLang="en-US" sz="2400" b="1" dirty="0" smtClean="0">
                  <a:solidFill>
                    <a:schemeClr val="bg2"/>
                  </a:solidFill>
                </a:rPr>
                <a:t>等价于</a:t>
              </a:r>
              <a:r>
                <a:rPr lang="en-US" altLang="zh-CN" sz="2400" b="1" dirty="0" smtClean="0">
                  <a:solidFill>
                    <a:schemeClr val="bg2"/>
                  </a:solidFill>
                </a:rPr>
                <a:t> *(a+i)</a:t>
              </a:r>
              <a:endParaRPr lang="zh-CN" altLang="en-US" sz="2400" b="1" dirty="0">
                <a:solidFill>
                  <a:schemeClr val="bg2"/>
                </a:solidFill>
              </a:endParaRPr>
            </a:p>
          </p:txBody>
        </p:sp>
        <p:sp>
          <p:nvSpPr>
            <p:cNvPr id="5" name="TextBox 4"/>
            <p:cNvSpPr txBox="1"/>
            <p:nvPr/>
          </p:nvSpPr>
          <p:spPr>
            <a:xfrm>
              <a:off x="6151005" y="1125845"/>
              <a:ext cx="936104" cy="369332"/>
            </a:xfrm>
            <a:prstGeom prst="rect">
              <a:avLst/>
            </a:prstGeom>
            <a:noFill/>
          </p:spPr>
          <p:txBody>
            <a:bodyPr wrap="square" rtlCol="0">
              <a:spAutoFit/>
            </a:bodyPr>
            <a:lstStyle/>
            <a:p>
              <a:r>
                <a:rPr lang="zh-CN" altLang="en-US" sz="1800" b="1" dirty="0">
                  <a:solidFill>
                    <a:schemeClr val="bg2"/>
                  </a:solidFill>
                  <a:effectLst>
                    <a:outerShdw blurRad="38100" dist="38100" dir="2700000" algn="tl">
                      <a:srgbClr val="000000">
                        <a:alpha val="43137"/>
                      </a:srgbClr>
                    </a:outerShdw>
                  </a:effectLst>
                </a:rPr>
                <a:t>下标法</a:t>
              </a:r>
            </a:p>
          </p:txBody>
        </p:sp>
        <p:sp>
          <p:nvSpPr>
            <p:cNvPr id="6" name="TextBox 5"/>
            <p:cNvSpPr txBox="1"/>
            <p:nvPr/>
          </p:nvSpPr>
          <p:spPr>
            <a:xfrm>
              <a:off x="7903829" y="1125845"/>
              <a:ext cx="936104" cy="369332"/>
            </a:xfrm>
            <a:prstGeom prst="rect">
              <a:avLst/>
            </a:prstGeom>
            <a:noFill/>
          </p:spPr>
          <p:txBody>
            <a:bodyPr wrap="square" rtlCol="0">
              <a:spAutoFit/>
            </a:bodyPr>
            <a:lstStyle/>
            <a:p>
              <a:r>
                <a:rPr lang="zh-CN" altLang="en-US" sz="1800" b="1" dirty="0" smtClean="0">
                  <a:solidFill>
                    <a:schemeClr val="bg2"/>
                  </a:solidFill>
                  <a:effectLst>
                    <a:outerShdw blurRad="38100" dist="38100" dir="2700000" algn="tl">
                      <a:srgbClr val="000000">
                        <a:alpha val="43137"/>
                      </a:srgbClr>
                    </a:outerShdw>
                  </a:effectLst>
                </a:rPr>
                <a:t>指针法</a:t>
              </a:r>
              <a:endParaRPr lang="zh-CN" altLang="en-US" sz="1800" b="1" dirty="0">
                <a:solidFill>
                  <a:schemeClr val="bg2"/>
                </a:solidFill>
                <a:effectLst>
                  <a:outerShdw blurRad="38100" dist="38100" dir="2700000" algn="tl">
                    <a:srgbClr val="000000">
                      <a:alpha val="43137"/>
                    </a:srgbClr>
                  </a:outerShdw>
                </a:effectLst>
              </a:endParaRPr>
            </a:p>
          </p:txBody>
        </p:sp>
        <p:cxnSp>
          <p:nvCxnSpPr>
            <p:cNvPr id="17" name="直接箭头连接符 16"/>
            <p:cNvCxnSpPr/>
            <p:nvPr/>
          </p:nvCxnSpPr>
          <p:spPr bwMode="auto">
            <a:xfrm flipV="1">
              <a:off x="8335877" y="824883"/>
              <a:ext cx="0" cy="360040"/>
            </a:xfrm>
            <a:prstGeom prst="straightConnector1">
              <a:avLst/>
            </a:prstGeom>
            <a:solidFill>
              <a:schemeClr val="accent1"/>
            </a:solidFill>
            <a:ln w="19050" cap="flat" cmpd="sng" algn="ctr">
              <a:solidFill>
                <a:schemeClr val="tx1"/>
              </a:solidFill>
              <a:prstDash val="solid"/>
              <a:round/>
              <a:headEnd type="none" w="med" len="med"/>
              <a:tailEnd type="triangle"/>
            </a:ln>
          </p:spPr>
        </p:cxnSp>
        <p:cxnSp>
          <p:nvCxnSpPr>
            <p:cNvPr id="20" name="直接箭头连接符 19"/>
            <p:cNvCxnSpPr/>
            <p:nvPr/>
          </p:nvCxnSpPr>
          <p:spPr bwMode="auto">
            <a:xfrm flipV="1">
              <a:off x="6619057" y="863075"/>
              <a:ext cx="0" cy="360040"/>
            </a:xfrm>
            <a:prstGeom prst="straightConnector1">
              <a:avLst/>
            </a:prstGeom>
            <a:solidFill>
              <a:schemeClr val="accent1"/>
            </a:solidFill>
            <a:ln w="19050" cap="flat" cmpd="sng" algn="ctr">
              <a:solidFill>
                <a:schemeClr val="tx1"/>
              </a:solidFill>
              <a:prstDash val="solid"/>
              <a:round/>
              <a:headEnd type="none" w="med" len="med"/>
              <a:tailEnd type="triangle"/>
            </a:ln>
          </p:spPr>
        </p:cxnSp>
      </p:grpSp>
      <p:graphicFrame>
        <p:nvGraphicFramePr>
          <p:cNvPr id="21" name="表格 20"/>
          <p:cNvGraphicFramePr>
            <a:graphicFrameLocks noGrp="1"/>
          </p:cNvGraphicFramePr>
          <p:nvPr>
            <p:extLst>
              <p:ext uri="{D42A27DB-BD31-4B8C-83A1-F6EECF244321}">
                <p14:modId xmlns:p14="http://schemas.microsoft.com/office/powerpoint/2010/main" val="766407379"/>
              </p:ext>
            </p:extLst>
          </p:nvPr>
        </p:nvGraphicFramePr>
        <p:xfrm>
          <a:off x="5916488" y="2081312"/>
          <a:ext cx="3048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tblGrid>
              <a:tr h="370840">
                <a:tc>
                  <a:txBody>
                    <a:bodyPr/>
                    <a:lstStyle/>
                    <a:p>
                      <a:pPr algn="ctr"/>
                      <a:r>
                        <a:rPr lang="en-US" altLang="zh-CN" dirty="0" smtClean="0"/>
                        <a:t>a[0]</a:t>
                      </a:r>
                      <a:endParaRPr lang="zh-CN" altLang="en-US" dirty="0"/>
                    </a:p>
                  </a:txBody>
                  <a:tcPr/>
                </a:tc>
                <a:tc>
                  <a:txBody>
                    <a:bodyPr/>
                    <a:lstStyle/>
                    <a:p>
                      <a:pPr algn="ctr"/>
                      <a:r>
                        <a:rPr lang="en-US" altLang="zh-CN" dirty="0" smtClean="0"/>
                        <a:t>a[1]</a:t>
                      </a:r>
                      <a:endParaRPr lang="zh-CN" altLang="en-US" dirty="0"/>
                    </a:p>
                  </a:txBody>
                  <a:tcPr/>
                </a:tc>
                <a:tc>
                  <a:txBody>
                    <a:bodyPr/>
                    <a:lstStyle/>
                    <a:p>
                      <a:pPr algn="ctr"/>
                      <a:r>
                        <a:rPr lang="en-US" altLang="zh-CN" dirty="0" smtClean="0"/>
                        <a:t>a[2]</a:t>
                      </a:r>
                      <a:endParaRPr lang="zh-CN" altLang="en-US" dirty="0"/>
                    </a:p>
                  </a:txBody>
                  <a:tcPr/>
                </a:tc>
                <a:tc>
                  <a:txBody>
                    <a:bodyPr/>
                    <a:lstStyle/>
                    <a:p>
                      <a:pPr algn="ctr"/>
                      <a:r>
                        <a:rPr lang="en-US" altLang="zh-CN" dirty="0" smtClean="0"/>
                        <a:t>a[3]</a:t>
                      </a:r>
                      <a:endParaRPr lang="zh-CN" altLang="en-US" dirty="0"/>
                    </a:p>
                  </a:txBody>
                  <a:tcPr/>
                </a:tc>
                <a:tc>
                  <a:txBody>
                    <a:bodyPr/>
                    <a:lstStyle/>
                    <a:p>
                      <a:pPr algn="ctr"/>
                      <a:r>
                        <a:rPr lang="en-US" altLang="zh-CN" dirty="0" smtClean="0"/>
                        <a:t>a[4]</a:t>
                      </a:r>
                      <a:endParaRPr lang="zh-CN" altLang="en-US" dirty="0"/>
                    </a:p>
                  </a:txBody>
                  <a:tcPr/>
                </a:tc>
                <a:extLst>
                  <a:ext uri="{0D108BD9-81ED-4DB2-BD59-A6C34878D82A}">
                    <a16:rowId xmlns:a16="http://schemas.microsoft.com/office/drawing/2014/main" val="1534354532"/>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588074806"/>
              </p:ext>
            </p:extLst>
          </p:nvPr>
        </p:nvGraphicFramePr>
        <p:xfrm>
          <a:off x="5916488" y="2469214"/>
          <a:ext cx="3048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tblGrid>
              <a:tr h="370840">
                <a:tc>
                  <a:txBody>
                    <a:bodyPr/>
                    <a:lstStyle/>
                    <a:p>
                      <a:pPr algn="ctr"/>
                      <a:r>
                        <a:rPr lang="en-US" altLang="zh-CN" dirty="0" smtClean="0"/>
                        <a:t>10</a:t>
                      </a:r>
                      <a:endParaRPr lang="zh-CN" altLang="en-US" dirty="0"/>
                    </a:p>
                  </a:txBody>
                  <a:tcPr/>
                </a:tc>
                <a:tc>
                  <a:txBody>
                    <a:bodyPr/>
                    <a:lstStyle/>
                    <a:p>
                      <a:pPr algn="ctr"/>
                      <a:r>
                        <a:rPr lang="en-US" altLang="zh-CN" dirty="0" smtClean="0"/>
                        <a:t>20</a:t>
                      </a:r>
                      <a:endParaRPr lang="zh-CN" altLang="en-US" dirty="0"/>
                    </a:p>
                  </a:txBody>
                  <a:tcPr/>
                </a:tc>
                <a:tc>
                  <a:txBody>
                    <a:bodyPr/>
                    <a:lstStyle/>
                    <a:p>
                      <a:pPr algn="ctr"/>
                      <a:r>
                        <a:rPr lang="en-US" altLang="zh-CN" dirty="0" smtClean="0"/>
                        <a:t>30</a:t>
                      </a:r>
                      <a:endParaRPr lang="zh-CN" altLang="en-US" dirty="0"/>
                    </a:p>
                  </a:txBody>
                  <a:tcPr/>
                </a:tc>
                <a:tc>
                  <a:txBody>
                    <a:bodyPr/>
                    <a:lstStyle/>
                    <a:p>
                      <a:pPr algn="ctr"/>
                      <a:r>
                        <a:rPr lang="en-US" altLang="zh-CN" dirty="0" smtClean="0"/>
                        <a:t>40</a:t>
                      </a:r>
                      <a:endParaRPr lang="zh-CN" altLang="en-US" dirty="0"/>
                    </a:p>
                  </a:txBody>
                  <a:tcPr/>
                </a:tc>
                <a:tc>
                  <a:txBody>
                    <a:bodyPr/>
                    <a:lstStyle/>
                    <a:p>
                      <a:pPr algn="ctr"/>
                      <a:r>
                        <a:rPr lang="en-US" altLang="zh-CN" dirty="0" smtClean="0"/>
                        <a:t>50</a:t>
                      </a:r>
                      <a:endParaRPr lang="zh-CN" altLang="en-US" dirty="0"/>
                    </a:p>
                  </a:txBody>
                  <a:tcPr/>
                </a:tc>
                <a:extLst>
                  <a:ext uri="{0D108BD9-81ED-4DB2-BD59-A6C34878D82A}">
                    <a16:rowId xmlns:a16="http://schemas.microsoft.com/office/drawing/2014/main" val="1534354532"/>
                  </a:ext>
                </a:extLst>
              </a:tr>
            </a:tbl>
          </a:graphicData>
        </a:graphic>
      </p:graphicFrame>
      <p:grpSp>
        <p:nvGrpSpPr>
          <p:cNvPr id="31" name="组合 30"/>
          <p:cNvGrpSpPr/>
          <p:nvPr/>
        </p:nvGrpSpPr>
        <p:grpSpPr>
          <a:xfrm>
            <a:off x="5925319" y="1124180"/>
            <a:ext cx="614871" cy="2007615"/>
            <a:chOff x="5991418" y="1133372"/>
            <a:chExt cx="614871" cy="2007615"/>
          </a:xfrm>
        </p:grpSpPr>
        <p:sp>
          <p:nvSpPr>
            <p:cNvPr id="23" name="Rectangle 2060"/>
            <p:cNvSpPr>
              <a:spLocks noChangeArrowheads="1"/>
            </p:cNvSpPr>
            <p:nvPr/>
          </p:nvSpPr>
          <p:spPr bwMode="auto">
            <a:xfrm>
              <a:off x="5991418" y="1492856"/>
              <a:ext cx="614871" cy="32737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dirty="0" smtClean="0"/>
                <a:t>a</a:t>
              </a:r>
              <a:endParaRPr kumimoji="1" lang="en-US" altLang="zh-CN" sz="1800" b="1" dirty="0"/>
            </a:p>
          </p:txBody>
        </p:sp>
        <p:grpSp>
          <p:nvGrpSpPr>
            <p:cNvPr id="30" name="组合 29"/>
            <p:cNvGrpSpPr/>
            <p:nvPr/>
          </p:nvGrpSpPr>
          <p:grpSpPr>
            <a:xfrm>
              <a:off x="6034934" y="1133372"/>
              <a:ext cx="462109" cy="2007615"/>
              <a:chOff x="4529124" y="836712"/>
              <a:chExt cx="462109" cy="2007615"/>
            </a:xfrm>
          </p:grpSpPr>
          <p:grpSp>
            <p:nvGrpSpPr>
              <p:cNvPr id="27" name="组合 26"/>
              <p:cNvGrpSpPr/>
              <p:nvPr/>
            </p:nvGrpSpPr>
            <p:grpSpPr>
              <a:xfrm>
                <a:off x="4594855" y="836712"/>
                <a:ext cx="396378" cy="936104"/>
                <a:chOff x="4594855" y="836712"/>
                <a:chExt cx="396378" cy="936104"/>
              </a:xfrm>
            </p:grpSpPr>
            <p:sp>
              <p:nvSpPr>
                <p:cNvPr id="24" name="Rectangle 2061"/>
                <p:cNvSpPr>
                  <a:spLocks noChangeArrowheads="1"/>
                </p:cNvSpPr>
                <p:nvPr/>
              </p:nvSpPr>
              <p:spPr bwMode="auto">
                <a:xfrm>
                  <a:off x="4594855" y="836712"/>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a:t>p</a:t>
                  </a:r>
                </a:p>
              </p:txBody>
            </p:sp>
            <p:cxnSp>
              <p:nvCxnSpPr>
                <p:cNvPr id="26" name="直接箭头连接符 25"/>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sp>
            <p:nvSpPr>
              <p:cNvPr id="29" name="Rectangle 2063"/>
              <p:cNvSpPr>
                <a:spLocks noChangeArrowheads="1"/>
              </p:cNvSpPr>
              <p:nvPr/>
            </p:nvSpPr>
            <p:spPr bwMode="auto">
              <a:xfrm>
                <a:off x="4529124" y="2472814"/>
                <a:ext cx="412590" cy="37151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a:t>*</a:t>
                </a:r>
                <a:r>
                  <a:rPr lang="en-US" altLang="zh-CN" sz="1800" b="1" dirty="0" smtClean="0"/>
                  <a:t>p</a:t>
                </a:r>
                <a:endParaRPr lang="en-US" altLang="zh-CN" sz="1800" b="1" dirty="0"/>
              </a:p>
            </p:txBody>
          </p:sp>
        </p:grpSp>
      </p:grpSp>
      <p:pic>
        <p:nvPicPr>
          <p:cNvPr id="34" name="图片 33"/>
          <p:cNvPicPr>
            <a:picLocks noChangeAspect="1"/>
          </p:cNvPicPr>
          <p:nvPr/>
        </p:nvPicPr>
        <p:blipFill>
          <a:blip r:embed="rId2"/>
          <a:stretch>
            <a:fillRect/>
          </a:stretch>
        </p:blipFill>
        <p:spPr>
          <a:xfrm>
            <a:off x="4867244" y="5330747"/>
            <a:ext cx="3667125" cy="981075"/>
          </a:xfrm>
          <a:prstGeom prst="rect">
            <a:avLst/>
          </a:prstGeom>
        </p:spPr>
      </p:pic>
    </p:spTree>
    <p:extLst>
      <p:ext uri="{BB962C8B-B14F-4D97-AF65-F5344CB8AC3E}">
        <p14:creationId xmlns:p14="http://schemas.microsoft.com/office/powerpoint/2010/main" val="15564313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p:cNvSpPr/>
          <p:nvPr/>
        </p:nvSpPr>
        <p:spPr>
          <a:xfrm>
            <a:off x="-48515" y="13263"/>
            <a:ext cx="4572000" cy="6740307"/>
          </a:xfrm>
          <a:prstGeom prst="rect">
            <a:avLst/>
          </a:prstGeom>
        </p:spPr>
        <p:txBody>
          <a:bodyPr>
            <a:spAutoFit/>
          </a:bodyPr>
          <a:lstStyle/>
          <a:p>
            <a:r>
              <a:rPr lang="zh-CN" altLang="en-US" sz="1600" b="1" dirty="0">
                <a:effectLst>
                  <a:outerShdw blurRad="38100" dist="38100" dir="2700000" algn="tl">
                    <a:srgbClr val="000000">
                      <a:alpha val="43137"/>
                    </a:srgbClr>
                  </a:outerShdw>
                </a:effectLst>
              </a:rPr>
              <a:t>#include &lt;stdio.h&gt;</a:t>
            </a:r>
          </a:p>
          <a:p>
            <a:r>
              <a:rPr lang="zh-CN" altLang="en-US" sz="1600" b="1" dirty="0">
                <a:effectLst>
                  <a:outerShdw blurRad="38100" dist="38100" dir="2700000" algn="tl">
                    <a:srgbClr val="000000">
                      <a:alpha val="43137"/>
                    </a:srgbClr>
                  </a:outerShdw>
                </a:effectLst>
              </a:rPr>
              <a:t>int main()</a:t>
            </a:r>
          </a:p>
          <a:p>
            <a:r>
              <a:rPr lang="zh-CN" altLang="en-US" sz="1600" b="1" dirty="0">
                <a:effectLst>
                  <a:outerShdw blurRad="38100" dist="38100" dir="2700000" algn="tl">
                    <a:srgbClr val="000000">
                      <a:alpha val="43137"/>
                    </a:srgbClr>
                  </a:outerShdw>
                </a:effectLst>
              </a:rPr>
              <a:t>{</a:t>
            </a:r>
          </a:p>
          <a:p>
            <a:r>
              <a:rPr lang="zh-CN" altLang="en-US" sz="1600" b="1" dirty="0">
                <a:effectLst>
                  <a:outerShdw blurRad="38100" dist="38100" dir="2700000" algn="tl">
                    <a:srgbClr val="000000">
                      <a:alpha val="43137"/>
                    </a:srgbClr>
                  </a:outerShdw>
                </a:effectLst>
              </a:rPr>
              <a:t>	int a[5]={</a:t>
            </a:r>
            <a:r>
              <a:rPr lang="zh-CN" altLang="en-US" sz="1600" b="1" dirty="0" smtClean="0">
                <a:effectLst>
                  <a:outerShdw blurRad="38100" dist="38100" dir="2700000" algn="tl">
                    <a:srgbClr val="000000">
                      <a:alpha val="43137"/>
                    </a:srgbClr>
                  </a:outerShdw>
                </a:effectLst>
              </a:rPr>
              <a:t>1</a:t>
            </a:r>
            <a:r>
              <a:rPr lang="en-US" altLang="zh-CN" sz="1600" b="1" dirty="0" smtClean="0">
                <a:effectLst>
                  <a:outerShdw blurRad="38100" dist="38100" dir="2700000" algn="tl">
                    <a:srgbClr val="000000">
                      <a:alpha val="43137"/>
                    </a:srgbClr>
                  </a:outerShdw>
                </a:effectLst>
              </a:rPr>
              <a:t>0</a:t>
            </a:r>
            <a:r>
              <a:rPr lang="zh-CN" altLang="en-US" sz="1600" b="1" dirty="0" smtClean="0">
                <a:effectLst>
                  <a:outerShdw blurRad="38100" dist="38100" dir="2700000" algn="tl">
                    <a:srgbClr val="000000">
                      <a:alpha val="43137"/>
                    </a:srgbClr>
                  </a:outerShdw>
                </a:effectLst>
              </a:rPr>
              <a:t>,</a:t>
            </a:r>
            <a:r>
              <a:rPr lang="en-US" altLang="zh-CN" sz="1600" b="1" dirty="0" smtClean="0">
                <a:effectLst>
                  <a:outerShdw blurRad="38100" dist="38100" dir="2700000" algn="tl">
                    <a:srgbClr val="000000">
                      <a:alpha val="43137"/>
                    </a:srgbClr>
                  </a:outerShdw>
                </a:effectLst>
              </a:rPr>
              <a:t>20</a:t>
            </a:r>
            <a:r>
              <a:rPr lang="zh-CN" altLang="en-US" sz="1600" b="1" dirty="0" smtClean="0">
                <a:effectLst>
                  <a:outerShdw blurRad="38100" dist="38100" dir="2700000" algn="tl">
                    <a:srgbClr val="000000">
                      <a:alpha val="43137"/>
                    </a:srgbClr>
                  </a:outerShdw>
                </a:effectLst>
              </a:rPr>
              <a:t>,</a:t>
            </a:r>
            <a:r>
              <a:rPr lang="en-US" altLang="zh-CN" sz="1600" b="1" dirty="0" smtClean="0">
                <a:effectLst>
                  <a:outerShdw blurRad="38100" dist="38100" dir="2700000" algn="tl">
                    <a:srgbClr val="000000">
                      <a:alpha val="43137"/>
                    </a:srgbClr>
                  </a:outerShdw>
                </a:effectLst>
              </a:rPr>
              <a:t>30</a:t>
            </a:r>
            <a:r>
              <a:rPr lang="zh-CN" altLang="en-US" sz="1600" b="1" dirty="0" smtClean="0">
                <a:effectLst>
                  <a:outerShdw blurRad="38100" dist="38100" dir="2700000" algn="tl">
                    <a:srgbClr val="000000">
                      <a:alpha val="43137"/>
                    </a:srgbClr>
                  </a:outerShdw>
                </a:effectLst>
              </a:rPr>
              <a:t>,</a:t>
            </a:r>
            <a:r>
              <a:rPr lang="en-US" altLang="zh-CN" sz="1600" b="1" dirty="0" smtClean="0">
                <a:effectLst>
                  <a:outerShdw blurRad="38100" dist="38100" dir="2700000" algn="tl">
                    <a:srgbClr val="000000">
                      <a:alpha val="43137"/>
                    </a:srgbClr>
                  </a:outerShdw>
                </a:effectLst>
              </a:rPr>
              <a:t>40</a:t>
            </a:r>
            <a:r>
              <a:rPr lang="zh-CN" altLang="en-US" sz="1600" b="1" dirty="0" smtClean="0">
                <a:effectLst>
                  <a:outerShdw blurRad="38100" dist="38100" dir="2700000" algn="tl">
                    <a:srgbClr val="000000">
                      <a:alpha val="43137"/>
                    </a:srgbClr>
                  </a:outerShdw>
                </a:effectLst>
              </a:rPr>
              <a:t>,</a:t>
            </a:r>
            <a:r>
              <a:rPr lang="en-US" altLang="zh-CN" sz="1600" b="1" dirty="0" smtClean="0">
                <a:effectLst>
                  <a:outerShdw blurRad="38100" dist="38100" dir="2700000" algn="tl">
                    <a:srgbClr val="000000">
                      <a:alpha val="43137"/>
                    </a:srgbClr>
                  </a:outerShdw>
                </a:effectLst>
              </a:rPr>
              <a:t>50</a:t>
            </a:r>
            <a:r>
              <a:rPr lang="zh-CN" altLang="en-US" sz="1600" b="1" dirty="0" smtClean="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a:t>
            </a:r>
          </a:p>
          <a:p>
            <a:r>
              <a:rPr lang="zh-CN" altLang="en-US" sz="1600" b="1" dirty="0">
                <a:effectLst>
                  <a:outerShdw blurRad="38100" dist="38100" dir="2700000" algn="tl">
                    <a:srgbClr val="000000">
                      <a:alpha val="43137"/>
                    </a:srgbClr>
                  </a:outerShdw>
                </a:effectLst>
              </a:rPr>
              <a:t>	int *p=a,x,y,z,m,n,i;</a:t>
            </a:r>
          </a:p>
          <a:p>
            <a:r>
              <a:rPr lang="zh-CN" altLang="en-US" sz="1600" b="1" dirty="0">
                <a:effectLst>
                  <a:outerShdw blurRad="38100" dist="38100" dir="2700000" algn="tl">
                    <a:srgbClr val="000000">
                      <a:alpha val="43137"/>
                    </a:srgbClr>
                  </a:outerShdw>
                </a:effectLst>
              </a:rPr>
              <a:t>	for(i=0;i&lt;5;i++)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a:t>
            </a:r>
            <a:r>
              <a:rPr lang="zh-CN" altLang="en-US" sz="1600" b="1" dirty="0">
                <a:effectLst>
                  <a:outerShdw blurRad="38100" dist="38100" dir="2700000" algn="tl">
                    <a:srgbClr val="000000">
                      <a:alpha val="43137"/>
                    </a:srgbClr>
                  </a:outerShdw>
                </a:effectLst>
              </a:rPr>
              <a:t>printf("%x </a:t>
            </a:r>
            <a:r>
              <a:rPr lang="zh-CN" altLang="en-US" sz="1600" b="1" dirty="0" smtClean="0">
                <a:effectLst>
                  <a:outerShdw blurRad="38100" dist="38100" dir="2700000" algn="tl">
                    <a:srgbClr val="000000">
                      <a:alpha val="43137"/>
                    </a:srgbClr>
                  </a:outerShdw>
                </a:effectLst>
              </a:rPr>
              <a:t>",a</a:t>
            </a:r>
            <a:r>
              <a:rPr lang="zh-CN" altLang="en-US" sz="1600" b="1" dirty="0">
                <a:effectLst>
                  <a:outerShdw blurRad="38100" dist="38100" dir="2700000" algn="tl">
                    <a:srgbClr val="000000">
                      <a:alpha val="43137"/>
                    </a:srgbClr>
                  </a:outerShdw>
                </a:effectLst>
              </a:rPr>
              <a:t>+</a:t>
            </a:r>
            <a:r>
              <a:rPr lang="zh-CN" altLang="en-US" sz="1600" b="1" dirty="0" smtClean="0">
                <a:effectLst>
                  <a:outerShdw blurRad="38100" dist="38100" dir="2700000" algn="tl">
                    <a:srgbClr val="000000">
                      <a:alpha val="43137"/>
                    </a:srgbClr>
                  </a:outerShdw>
                </a:effectLst>
              </a:rPr>
              <a:t>i)</a:t>
            </a:r>
            <a:r>
              <a:rPr lang="zh-CN" altLang="en-US" sz="1600" b="1" dirty="0">
                <a:effectLst>
                  <a:outerShdw blurRad="38100" dist="38100" dir="2700000" algn="tl">
                    <a:srgbClr val="000000">
                      <a:alpha val="43137"/>
                    </a:srgbClr>
                  </a:outerShdw>
                </a:effectLst>
              </a:rPr>
              <a:t>;</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("\n");</a:t>
            </a:r>
          </a:p>
          <a:p>
            <a:r>
              <a:rPr lang="zh-CN" altLang="en-US" sz="1600" b="1" dirty="0">
                <a:effectLst>
                  <a:outerShdw blurRad="38100" dist="38100" dir="2700000" algn="tl">
                    <a:srgbClr val="000000">
                      <a:alpha val="43137"/>
                    </a:srgbClr>
                  </a:outerShdw>
                </a:effectLst>
              </a:rPr>
              <a:t>	x=*++p;</a:t>
            </a:r>
          </a:p>
          <a:p>
            <a:r>
              <a:rPr lang="zh-CN" altLang="en-US" sz="1600" b="1" dirty="0">
                <a:effectLst>
                  <a:outerShdw blurRad="38100" dist="38100" dir="2700000" algn="tl">
                    <a:srgbClr val="000000">
                      <a:alpha val="43137"/>
                    </a:srgbClr>
                  </a:outerShdw>
                </a:effectLst>
              </a:rPr>
              <a:t>	printf("x=%d \n",x);</a:t>
            </a:r>
          </a:p>
          <a:p>
            <a:r>
              <a:rPr lang="zh-CN" altLang="en-US" sz="1600" b="1" dirty="0">
                <a:effectLst>
                  <a:outerShdw blurRad="38100" dist="38100" dir="2700000" algn="tl">
                    <a:srgbClr val="000000">
                      <a:alpha val="43137"/>
                    </a:srgbClr>
                  </a:outerShdw>
                </a:effectLst>
              </a:rPr>
              <a:t>	printf("px=%x \n",p);</a:t>
            </a:r>
          </a:p>
          <a:p>
            <a:r>
              <a:rPr lang="zh-CN" altLang="en-US" sz="1600" b="1" dirty="0">
                <a:effectLst>
                  <a:outerShdw blurRad="38100" dist="38100" dir="2700000" algn="tl">
                    <a:srgbClr val="000000">
                      <a:alpha val="43137"/>
                    </a:srgbClr>
                  </a:outerShdw>
                </a:effectLst>
              </a:rPr>
              <a:t>	for(i=0;i&lt;5;i++)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("%d ",a[i]);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("\n");</a:t>
            </a:r>
          </a:p>
          <a:p>
            <a:r>
              <a:rPr lang="zh-CN" altLang="en-US" sz="1600" b="1" dirty="0">
                <a:effectLst>
                  <a:outerShdw blurRad="38100" dist="38100" dir="2700000" algn="tl">
                    <a:srgbClr val="000000">
                      <a:alpha val="43137"/>
                    </a:srgbClr>
                  </a:outerShdw>
                </a:effectLst>
              </a:rPr>
              <a:t>	y=++*p;</a:t>
            </a:r>
          </a:p>
          <a:p>
            <a:r>
              <a:rPr lang="zh-CN" altLang="en-US" sz="1600" b="1" dirty="0">
                <a:effectLst>
                  <a:outerShdw blurRad="38100" dist="38100" dir="2700000" algn="tl">
                    <a:srgbClr val="000000">
                      <a:alpha val="43137"/>
                    </a:srgbClr>
                  </a:outerShdw>
                </a:effectLst>
              </a:rPr>
              <a:t>	printf("y=%d \n",y);</a:t>
            </a:r>
          </a:p>
          <a:p>
            <a:r>
              <a:rPr lang="zh-CN" altLang="en-US" sz="1600" b="1" dirty="0">
                <a:effectLst>
                  <a:outerShdw blurRad="38100" dist="38100" dir="2700000" algn="tl">
                    <a:srgbClr val="000000">
                      <a:alpha val="43137"/>
                    </a:srgbClr>
                  </a:outerShdw>
                </a:effectLst>
              </a:rPr>
              <a:t>	printf("py=%x \n",p);</a:t>
            </a:r>
          </a:p>
          <a:p>
            <a:r>
              <a:rPr lang="zh-CN" altLang="en-US" sz="1600" b="1" dirty="0">
                <a:effectLst>
                  <a:outerShdw blurRad="38100" dist="38100" dir="2700000" algn="tl">
                    <a:srgbClr val="000000">
                      <a:alpha val="43137"/>
                    </a:srgbClr>
                  </a:outerShdw>
                </a:effectLst>
              </a:rPr>
              <a:t>	for(i=0;i&lt;5;i++)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("%d ",a[i]);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("\n");</a:t>
            </a:r>
          </a:p>
          <a:p>
            <a:r>
              <a:rPr lang="zh-CN" altLang="en-US" sz="1600" b="1" dirty="0">
                <a:effectLst>
                  <a:outerShdw blurRad="38100" dist="38100" dir="2700000" algn="tl">
                    <a:srgbClr val="000000">
                      <a:alpha val="43137"/>
                    </a:srgbClr>
                  </a:outerShdw>
                </a:effectLst>
              </a:rPr>
              <a:t>	z</a:t>
            </a:r>
            <a:r>
              <a:rPr lang="zh-CN" altLang="en-US" sz="1600" b="1" dirty="0" smtClean="0">
                <a:effectLst>
                  <a:outerShdw blurRad="38100" dist="38100" dir="2700000" algn="tl">
                    <a:srgbClr val="000000">
                      <a:alpha val="43137"/>
                    </a:srgbClr>
                  </a:outerShdw>
                </a:effectLst>
              </a:rPr>
              <a:t>=</a:t>
            </a:r>
            <a:r>
              <a:rPr lang="zh-CN" altLang="en-US" sz="1600" b="1" dirty="0"/>
              <a:t>(*p)++;</a:t>
            </a:r>
            <a:r>
              <a:rPr lang="zh-CN" altLang="en-US" sz="1600" b="1" dirty="0">
                <a:effectLst>
                  <a:outerShdw blurRad="38100" dist="38100" dir="2700000" algn="tl">
                    <a:srgbClr val="000000">
                      <a:alpha val="43137"/>
                    </a:srgbClr>
                  </a:outerShdw>
                </a:effectLst>
              </a:rPr>
              <a:t> </a:t>
            </a:r>
          </a:p>
          <a:p>
            <a:r>
              <a:rPr lang="zh-CN" altLang="en-US" sz="1600" b="1" dirty="0">
                <a:effectLst>
                  <a:outerShdw blurRad="38100" dist="38100" dir="2700000" algn="tl">
                    <a:srgbClr val="000000">
                      <a:alpha val="43137"/>
                    </a:srgbClr>
                  </a:outerShdw>
                </a:effectLst>
              </a:rPr>
              <a:t>	printf("z=%d \n",z);</a:t>
            </a:r>
          </a:p>
          <a:p>
            <a:r>
              <a:rPr lang="zh-CN" altLang="en-US" sz="1600" b="1" dirty="0">
                <a:effectLst>
                  <a:outerShdw blurRad="38100" dist="38100" dir="2700000" algn="tl">
                    <a:srgbClr val="000000">
                      <a:alpha val="43137"/>
                    </a:srgbClr>
                  </a:outerShdw>
                </a:effectLst>
              </a:rPr>
              <a:t>	printf("pz=%x \n",p);</a:t>
            </a:r>
          </a:p>
          <a:p>
            <a:r>
              <a:rPr lang="zh-CN" altLang="en-US" sz="1600" b="1" dirty="0">
                <a:effectLst>
                  <a:outerShdw blurRad="38100" dist="38100" dir="2700000" algn="tl">
                    <a:srgbClr val="000000">
                      <a:alpha val="43137"/>
                    </a:srgbClr>
                  </a:outerShdw>
                </a:effectLst>
              </a:rPr>
              <a:t>	for(i=0;i&lt;5;i++)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("%d ",a[i]);</a:t>
            </a:r>
          </a:p>
          <a:p>
            <a:r>
              <a:rPr lang="zh-CN" altLang="en-US" sz="1600" b="1" dirty="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printf</a:t>
            </a:r>
            <a:r>
              <a:rPr lang="zh-CN" altLang="en-US" sz="1600" b="1" dirty="0">
                <a:effectLst>
                  <a:outerShdw blurRad="38100" dist="38100" dir="2700000" algn="tl">
                    <a:srgbClr val="000000">
                      <a:alpha val="43137"/>
                    </a:srgbClr>
                  </a:outerShdw>
                </a:effectLst>
              </a:rPr>
              <a:t>("\n");</a:t>
            </a:r>
          </a:p>
          <a:p>
            <a:r>
              <a:rPr lang="zh-CN" altLang="en-US" sz="1600" b="1" dirty="0">
                <a:effectLst>
                  <a:outerShdw blurRad="38100" dist="38100" dir="2700000" algn="tl">
                    <a:srgbClr val="000000">
                      <a:alpha val="43137"/>
                    </a:srgbClr>
                  </a:outerShdw>
                </a:effectLst>
              </a:rPr>
              <a:t>	</a:t>
            </a:r>
          </a:p>
        </p:txBody>
      </p:sp>
      <p:sp>
        <p:nvSpPr>
          <p:cNvPr id="11" name="矩形 10"/>
          <p:cNvSpPr/>
          <p:nvPr/>
        </p:nvSpPr>
        <p:spPr>
          <a:xfrm>
            <a:off x="2483768" y="-72039"/>
            <a:ext cx="4572000" cy="3293209"/>
          </a:xfrm>
          <a:prstGeom prst="rect">
            <a:avLst/>
          </a:prstGeom>
        </p:spPr>
        <p:txBody>
          <a:bodyPr>
            <a:spAutoFit/>
          </a:bodyPr>
          <a:lstStyle/>
          <a:p>
            <a:r>
              <a:rPr lang="zh-CN" altLang="en-US" sz="1600" b="1" dirty="0"/>
              <a:t>	m</a:t>
            </a:r>
            <a:r>
              <a:rPr lang="zh-CN" altLang="en-US" sz="1600" b="1" dirty="0" smtClean="0"/>
              <a:t>=</a:t>
            </a:r>
            <a:r>
              <a:rPr lang="zh-CN" altLang="en-US" sz="1600" b="1" dirty="0" smtClean="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p++;</a:t>
            </a:r>
            <a:endParaRPr lang="zh-CN" altLang="en-US" sz="1600" b="1" dirty="0"/>
          </a:p>
          <a:p>
            <a:r>
              <a:rPr lang="zh-CN" altLang="en-US" sz="1600" b="1" dirty="0"/>
              <a:t>	printf("m=%d \n",m);</a:t>
            </a:r>
          </a:p>
          <a:p>
            <a:r>
              <a:rPr lang="zh-CN" altLang="en-US" sz="1600" b="1" dirty="0"/>
              <a:t>	printf("pm=%x \n",p);</a:t>
            </a:r>
          </a:p>
          <a:p>
            <a:r>
              <a:rPr lang="zh-CN" altLang="en-US" sz="1600" b="1" dirty="0"/>
              <a:t>	for(i=0;i&lt;5;i++)</a:t>
            </a:r>
          </a:p>
          <a:p>
            <a:r>
              <a:rPr lang="zh-CN" altLang="en-US" sz="1600" b="1" dirty="0"/>
              <a:t>        </a:t>
            </a:r>
            <a:r>
              <a:rPr lang="zh-CN" altLang="en-US" sz="1600" b="1" dirty="0" smtClean="0"/>
              <a:t>           printf</a:t>
            </a:r>
            <a:r>
              <a:rPr lang="zh-CN" altLang="en-US" sz="1600" b="1" dirty="0"/>
              <a:t>("%d ",a[i]);</a:t>
            </a:r>
          </a:p>
          <a:p>
            <a:r>
              <a:rPr lang="zh-CN" altLang="en-US" sz="1600" b="1" dirty="0"/>
              <a:t>   </a:t>
            </a:r>
            <a:r>
              <a:rPr lang="zh-CN" altLang="en-US" sz="1600" b="1" dirty="0" smtClean="0"/>
              <a:t>             </a:t>
            </a:r>
            <a:r>
              <a:rPr lang="zh-CN" altLang="en-US" sz="1600" b="1" dirty="0"/>
              <a:t>printf("\n");</a:t>
            </a:r>
          </a:p>
          <a:p>
            <a:r>
              <a:rPr lang="zh-CN" altLang="en-US" sz="1600" b="1" dirty="0"/>
              <a:t>	n=*(p++);</a:t>
            </a:r>
          </a:p>
          <a:p>
            <a:r>
              <a:rPr lang="zh-CN" altLang="en-US" sz="1600" b="1" dirty="0"/>
              <a:t>	printf("n=%d \n",n);</a:t>
            </a:r>
          </a:p>
          <a:p>
            <a:r>
              <a:rPr lang="zh-CN" altLang="en-US" sz="1600" b="1" dirty="0"/>
              <a:t>	printf("pn=%x \n",p);</a:t>
            </a:r>
          </a:p>
          <a:p>
            <a:r>
              <a:rPr lang="zh-CN" altLang="en-US" sz="1600" b="1" dirty="0"/>
              <a:t>	for(p=a;p&lt;a+5;p++)</a:t>
            </a:r>
          </a:p>
          <a:p>
            <a:r>
              <a:rPr lang="zh-CN" altLang="en-US" sz="1600" b="1" dirty="0"/>
              <a:t>      </a:t>
            </a:r>
            <a:r>
              <a:rPr lang="zh-CN" altLang="en-US" sz="1600" b="1" dirty="0" smtClean="0"/>
              <a:t>             </a:t>
            </a:r>
            <a:r>
              <a:rPr lang="zh-CN" altLang="en-US" sz="1600" b="1" dirty="0"/>
              <a:t>printf("%d ",*p);</a:t>
            </a:r>
          </a:p>
          <a:p>
            <a:r>
              <a:rPr lang="zh-CN" altLang="en-US" sz="1600" b="1" dirty="0"/>
              <a:t>   </a:t>
            </a:r>
            <a:r>
              <a:rPr lang="zh-CN" altLang="en-US" sz="1600" b="1" dirty="0" smtClean="0"/>
              <a:t>             return  </a:t>
            </a:r>
            <a:r>
              <a:rPr lang="zh-CN" altLang="en-US" sz="1600" b="1" dirty="0"/>
              <a:t>0;</a:t>
            </a:r>
          </a:p>
          <a:p>
            <a:r>
              <a:rPr lang="zh-CN" altLang="en-US" sz="1600" b="1" dirty="0" smtClean="0"/>
              <a:t>                }</a:t>
            </a:r>
            <a:endParaRPr lang="zh-CN" altLang="en-US" sz="1600" b="1" dirty="0"/>
          </a:p>
        </p:txBody>
      </p:sp>
      <p:pic>
        <p:nvPicPr>
          <p:cNvPr id="14" name="图片 13"/>
          <p:cNvPicPr>
            <a:picLocks noChangeAspect="1"/>
          </p:cNvPicPr>
          <p:nvPr/>
        </p:nvPicPr>
        <p:blipFill>
          <a:blip r:embed="rId2"/>
          <a:stretch>
            <a:fillRect/>
          </a:stretch>
        </p:blipFill>
        <p:spPr>
          <a:xfrm>
            <a:off x="5269037" y="3383417"/>
            <a:ext cx="3874963" cy="3473483"/>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4185052766"/>
              </p:ext>
            </p:extLst>
          </p:nvPr>
        </p:nvGraphicFramePr>
        <p:xfrm>
          <a:off x="5292079" y="2537042"/>
          <a:ext cx="3600400" cy="37084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1991495778"/>
                    </a:ext>
                  </a:extLst>
                </a:gridCol>
                <a:gridCol w="720080">
                  <a:extLst>
                    <a:ext uri="{9D8B030D-6E8A-4147-A177-3AD203B41FA5}">
                      <a16:colId xmlns:a16="http://schemas.microsoft.com/office/drawing/2014/main" val="3806676138"/>
                    </a:ext>
                  </a:extLst>
                </a:gridCol>
                <a:gridCol w="720080">
                  <a:extLst>
                    <a:ext uri="{9D8B030D-6E8A-4147-A177-3AD203B41FA5}">
                      <a16:colId xmlns:a16="http://schemas.microsoft.com/office/drawing/2014/main" val="3630192659"/>
                    </a:ext>
                  </a:extLst>
                </a:gridCol>
                <a:gridCol w="720080">
                  <a:extLst>
                    <a:ext uri="{9D8B030D-6E8A-4147-A177-3AD203B41FA5}">
                      <a16:colId xmlns:a16="http://schemas.microsoft.com/office/drawing/2014/main" val="308032044"/>
                    </a:ext>
                  </a:extLst>
                </a:gridCol>
                <a:gridCol w="720080">
                  <a:extLst>
                    <a:ext uri="{9D8B030D-6E8A-4147-A177-3AD203B41FA5}">
                      <a16:colId xmlns:a16="http://schemas.microsoft.com/office/drawing/2014/main" val="2211841049"/>
                    </a:ext>
                  </a:extLst>
                </a:gridCol>
              </a:tblGrid>
              <a:tr h="370840">
                <a:tc>
                  <a:txBody>
                    <a:bodyPr/>
                    <a:lstStyle/>
                    <a:p>
                      <a:pPr algn="ctr"/>
                      <a:r>
                        <a:rPr lang="en-US" altLang="zh-CN" dirty="0" smtClean="0"/>
                        <a:t>a[0]</a:t>
                      </a:r>
                      <a:endParaRPr lang="zh-CN" altLang="en-US" dirty="0"/>
                    </a:p>
                  </a:txBody>
                  <a:tcPr/>
                </a:tc>
                <a:tc>
                  <a:txBody>
                    <a:bodyPr/>
                    <a:lstStyle/>
                    <a:p>
                      <a:pPr algn="ctr"/>
                      <a:r>
                        <a:rPr lang="en-US" altLang="zh-CN" dirty="0" smtClean="0"/>
                        <a:t>a[1]</a:t>
                      </a:r>
                      <a:endParaRPr lang="zh-CN" altLang="en-US" dirty="0"/>
                    </a:p>
                  </a:txBody>
                  <a:tcPr/>
                </a:tc>
                <a:tc>
                  <a:txBody>
                    <a:bodyPr/>
                    <a:lstStyle/>
                    <a:p>
                      <a:pPr algn="ctr"/>
                      <a:r>
                        <a:rPr lang="en-US" altLang="zh-CN" dirty="0" smtClean="0"/>
                        <a:t>a[2]</a:t>
                      </a:r>
                      <a:endParaRPr lang="zh-CN" altLang="en-US" dirty="0"/>
                    </a:p>
                  </a:txBody>
                  <a:tcPr/>
                </a:tc>
                <a:tc>
                  <a:txBody>
                    <a:bodyPr/>
                    <a:lstStyle/>
                    <a:p>
                      <a:pPr algn="ctr"/>
                      <a:r>
                        <a:rPr lang="en-US" altLang="zh-CN" dirty="0" smtClean="0"/>
                        <a:t>a[3]</a:t>
                      </a:r>
                      <a:endParaRPr lang="zh-CN" altLang="en-US" dirty="0"/>
                    </a:p>
                  </a:txBody>
                  <a:tcPr/>
                </a:tc>
                <a:tc>
                  <a:txBody>
                    <a:bodyPr/>
                    <a:lstStyle/>
                    <a:p>
                      <a:pPr algn="ctr"/>
                      <a:r>
                        <a:rPr lang="en-US" altLang="zh-CN" dirty="0" smtClean="0"/>
                        <a:t>a[4]</a:t>
                      </a:r>
                      <a:endParaRPr lang="zh-CN" altLang="en-US" dirty="0"/>
                    </a:p>
                  </a:txBody>
                  <a:tcPr/>
                </a:tc>
                <a:extLst>
                  <a:ext uri="{0D108BD9-81ED-4DB2-BD59-A6C34878D82A}">
                    <a16:rowId xmlns:a16="http://schemas.microsoft.com/office/drawing/2014/main" val="1534354532"/>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177833841"/>
              </p:ext>
            </p:extLst>
          </p:nvPr>
        </p:nvGraphicFramePr>
        <p:xfrm>
          <a:off x="5292080" y="2924944"/>
          <a:ext cx="3600400" cy="37084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1991495778"/>
                    </a:ext>
                  </a:extLst>
                </a:gridCol>
                <a:gridCol w="720080">
                  <a:extLst>
                    <a:ext uri="{9D8B030D-6E8A-4147-A177-3AD203B41FA5}">
                      <a16:colId xmlns:a16="http://schemas.microsoft.com/office/drawing/2014/main" val="3806676138"/>
                    </a:ext>
                  </a:extLst>
                </a:gridCol>
                <a:gridCol w="720080">
                  <a:extLst>
                    <a:ext uri="{9D8B030D-6E8A-4147-A177-3AD203B41FA5}">
                      <a16:colId xmlns:a16="http://schemas.microsoft.com/office/drawing/2014/main" val="3630192659"/>
                    </a:ext>
                  </a:extLst>
                </a:gridCol>
                <a:gridCol w="720080">
                  <a:extLst>
                    <a:ext uri="{9D8B030D-6E8A-4147-A177-3AD203B41FA5}">
                      <a16:colId xmlns:a16="http://schemas.microsoft.com/office/drawing/2014/main" val="308032044"/>
                    </a:ext>
                  </a:extLst>
                </a:gridCol>
                <a:gridCol w="720080">
                  <a:extLst>
                    <a:ext uri="{9D8B030D-6E8A-4147-A177-3AD203B41FA5}">
                      <a16:colId xmlns:a16="http://schemas.microsoft.com/office/drawing/2014/main" val="2211841049"/>
                    </a:ext>
                  </a:extLst>
                </a:gridCol>
              </a:tblGrid>
              <a:tr h="370840">
                <a:tc>
                  <a:txBody>
                    <a:bodyPr/>
                    <a:lstStyle/>
                    <a:p>
                      <a:pPr algn="ctr"/>
                      <a:r>
                        <a:rPr lang="en-US" altLang="zh-CN" dirty="0" smtClean="0"/>
                        <a:t>10   </a:t>
                      </a:r>
                      <a:endParaRPr lang="zh-CN" altLang="en-US" dirty="0"/>
                    </a:p>
                  </a:txBody>
                  <a:tcPr/>
                </a:tc>
                <a:tc>
                  <a:txBody>
                    <a:bodyPr/>
                    <a:lstStyle/>
                    <a:p>
                      <a:pPr algn="ctr"/>
                      <a:r>
                        <a:rPr lang="en-US" altLang="zh-CN" dirty="0" smtClean="0"/>
                        <a:t>20</a:t>
                      </a:r>
                      <a:endParaRPr lang="zh-CN" altLang="en-US" dirty="0"/>
                    </a:p>
                  </a:txBody>
                  <a:tcPr/>
                </a:tc>
                <a:tc>
                  <a:txBody>
                    <a:bodyPr/>
                    <a:lstStyle/>
                    <a:p>
                      <a:pPr algn="ctr"/>
                      <a:r>
                        <a:rPr lang="en-US" altLang="zh-CN" dirty="0" smtClean="0"/>
                        <a:t>30</a:t>
                      </a:r>
                      <a:endParaRPr lang="zh-CN" altLang="en-US" dirty="0"/>
                    </a:p>
                  </a:txBody>
                  <a:tcPr/>
                </a:tc>
                <a:tc>
                  <a:txBody>
                    <a:bodyPr/>
                    <a:lstStyle/>
                    <a:p>
                      <a:pPr algn="ctr"/>
                      <a:r>
                        <a:rPr lang="en-US" altLang="zh-CN" dirty="0" smtClean="0"/>
                        <a:t>40</a:t>
                      </a:r>
                      <a:endParaRPr lang="zh-CN" altLang="en-US" dirty="0"/>
                    </a:p>
                  </a:txBody>
                  <a:tcPr/>
                </a:tc>
                <a:tc>
                  <a:txBody>
                    <a:bodyPr/>
                    <a:lstStyle/>
                    <a:p>
                      <a:pPr algn="ctr"/>
                      <a:r>
                        <a:rPr lang="en-US" altLang="zh-CN" dirty="0" smtClean="0"/>
                        <a:t>50</a:t>
                      </a:r>
                      <a:endParaRPr lang="zh-CN" altLang="en-US" dirty="0"/>
                    </a:p>
                  </a:txBody>
                  <a:tcPr/>
                </a:tc>
                <a:extLst>
                  <a:ext uri="{0D108BD9-81ED-4DB2-BD59-A6C34878D82A}">
                    <a16:rowId xmlns:a16="http://schemas.microsoft.com/office/drawing/2014/main" val="1534354532"/>
                  </a:ext>
                </a:extLst>
              </a:tr>
            </a:tbl>
          </a:graphicData>
        </a:graphic>
      </p:graphicFrame>
      <p:grpSp>
        <p:nvGrpSpPr>
          <p:cNvPr id="7" name="组合 6"/>
          <p:cNvGrpSpPr/>
          <p:nvPr/>
        </p:nvGrpSpPr>
        <p:grpSpPr>
          <a:xfrm>
            <a:off x="5355684" y="1603633"/>
            <a:ext cx="792487" cy="936104"/>
            <a:chOff x="5813802" y="1133372"/>
            <a:chExt cx="792487" cy="936104"/>
          </a:xfrm>
        </p:grpSpPr>
        <p:sp>
          <p:nvSpPr>
            <p:cNvPr id="8" name="Rectangle 2060"/>
            <p:cNvSpPr>
              <a:spLocks noChangeArrowheads="1"/>
            </p:cNvSpPr>
            <p:nvPr/>
          </p:nvSpPr>
          <p:spPr bwMode="auto">
            <a:xfrm>
              <a:off x="5991418" y="1492856"/>
              <a:ext cx="614871" cy="32737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dirty="0" smtClean="0"/>
                <a:t>a</a:t>
              </a:r>
              <a:endParaRPr kumimoji="1" lang="en-US" altLang="zh-CN" sz="1800" b="1" dirty="0"/>
            </a:p>
          </p:txBody>
        </p:sp>
        <p:grpSp>
          <p:nvGrpSpPr>
            <p:cNvPr id="9" name="组合 8"/>
            <p:cNvGrpSpPr/>
            <p:nvPr/>
          </p:nvGrpSpPr>
          <p:grpSpPr>
            <a:xfrm>
              <a:off x="5813802" y="1133372"/>
              <a:ext cx="683241" cy="936104"/>
              <a:chOff x="4307992" y="836712"/>
              <a:chExt cx="683241" cy="936104"/>
            </a:xfrm>
          </p:grpSpPr>
          <p:grpSp>
            <p:nvGrpSpPr>
              <p:cNvPr id="12" name="组合 11"/>
              <p:cNvGrpSpPr/>
              <p:nvPr/>
            </p:nvGrpSpPr>
            <p:grpSpPr>
              <a:xfrm>
                <a:off x="4594855" y="836712"/>
                <a:ext cx="396378" cy="936104"/>
                <a:chOff x="4594855" y="836712"/>
                <a:chExt cx="396378" cy="936104"/>
              </a:xfrm>
            </p:grpSpPr>
            <p:sp>
              <p:nvSpPr>
                <p:cNvPr id="15" name="Rectangle 2061"/>
                <p:cNvSpPr>
                  <a:spLocks noChangeArrowheads="1"/>
                </p:cNvSpPr>
                <p:nvPr/>
              </p:nvSpPr>
              <p:spPr bwMode="auto">
                <a:xfrm>
                  <a:off x="4594855" y="836712"/>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a:t>p</a:t>
                  </a:r>
                </a:p>
              </p:txBody>
            </p:sp>
            <p:cxnSp>
              <p:nvCxnSpPr>
                <p:cNvPr id="16" name="直接箭头连接符 15"/>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sp>
            <p:nvSpPr>
              <p:cNvPr id="13" name="Rectangle 2063"/>
              <p:cNvSpPr>
                <a:spLocks noChangeArrowheads="1"/>
              </p:cNvSpPr>
              <p:nvPr/>
            </p:nvSpPr>
            <p:spPr bwMode="auto">
              <a:xfrm>
                <a:off x="4307992" y="1401303"/>
                <a:ext cx="412590" cy="37151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a:t>*</a:t>
                </a:r>
                <a:r>
                  <a:rPr lang="en-US" altLang="zh-CN" sz="1800" b="1" dirty="0" smtClean="0"/>
                  <a:t>p</a:t>
                </a:r>
                <a:endParaRPr lang="en-US" altLang="zh-CN" sz="1800" b="1" dirty="0"/>
              </a:p>
            </p:txBody>
          </p:sp>
        </p:grpSp>
      </p:grpSp>
    </p:spTree>
    <p:extLst>
      <p:ext uri="{BB962C8B-B14F-4D97-AF65-F5344CB8AC3E}">
        <p14:creationId xmlns:p14="http://schemas.microsoft.com/office/powerpoint/2010/main" val="4133639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16390"/>
            <a:ext cx="7924800" cy="784225"/>
          </a:xfrm>
        </p:spPr>
        <p:txBody>
          <a:bodyPr/>
          <a:lstStyle/>
          <a:p>
            <a:pPr>
              <a:defRPr/>
            </a:pPr>
            <a:r>
              <a:rPr lang="zh-CN" altLang="en-US" dirty="0" smtClean="0"/>
              <a:t>案例</a:t>
            </a:r>
            <a:r>
              <a:rPr lang="en-US" altLang="zh-CN" dirty="0" smtClean="0"/>
              <a:t>:</a:t>
            </a:r>
            <a:endParaRPr lang="zh-CN" altLang="en-US" dirty="0"/>
          </a:p>
        </p:txBody>
      </p:sp>
      <p:sp>
        <p:nvSpPr>
          <p:cNvPr id="3" name="内容占位符 2"/>
          <p:cNvSpPr>
            <a:spLocks noGrp="1"/>
          </p:cNvSpPr>
          <p:nvPr>
            <p:ph idx="1"/>
          </p:nvPr>
        </p:nvSpPr>
        <p:spPr>
          <a:xfrm>
            <a:off x="395536" y="1440160"/>
            <a:ext cx="8353177" cy="5373216"/>
          </a:xfrm>
        </p:spPr>
        <p:txBody>
          <a:bodyPr/>
          <a:lstStyle/>
          <a:p>
            <a:pPr marL="0" indent="0">
              <a:buFont typeface="Webdings" pitchFamily="18" charset="2"/>
              <a:buNone/>
              <a:defRPr/>
            </a:pPr>
            <a:r>
              <a:rPr lang="en-US" altLang="zh-CN" sz="2000" dirty="0" smtClean="0"/>
              <a:t>#</a:t>
            </a:r>
            <a:r>
              <a:rPr lang="en-US" altLang="zh-CN" sz="2000" dirty="0" smtClean="0">
                <a:solidFill>
                  <a:schemeClr val="tx1"/>
                </a:solidFill>
              </a:rPr>
              <a:t>include &lt;stdio.h&gt;</a:t>
            </a:r>
          </a:p>
          <a:p>
            <a:pPr marL="0" indent="0">
              <a:buFont typeface="Webdings" pitchFamily="18" charset="2"/>
              <a:buNone/>
              <a:defRPr/>
            </a:pPr>
            <a:r>
              <a:rPr lang="en-US" altLang="zh-CN" sz="2000" dirty="0" smtClean="0">
                <a:solidFill>
                  <a:schemeClr val="tx1"/>
                </a:solidFill>
              </a:rPr>
              <a:t>int main()</a:t>
            </a:r>
          </a:p>
          <a:p>
            <a:pPr marL="0" indent="0">
              <a:buFont typeface="Webdings" pitchFamily="18" charset="2"/>
              <a:buNone/>
              <a:defRPr/>
            </a:pPr>
            <a:r>
              <a:rPr lang="en-US" altLang="zh-CN" sz="2000" dirty="0" smtClean="0">
                <a:solidFill>
                  <a:schemeClr val="tx1"/>
                </a:solidFill>
              </a:rPr>
              <a:t>{</a:t>
            </a:r>
          </a:p>
          <a:p>
            <a:pPr marL="0" indent="0">
              <a:buFont typeface="Webdings" pitchFamily="18" charset="2"/>
              <a:buNone/>
              <a:defRPr/>
            </a:pPr>
            <a:r>
              <a:rPr lang="en-US" altLang="zh-CN" sz="2000" dirty="0" smtClean="0">
                <a:solidFill>
                  <a:schemeClr val="tx1"/>
                </a:solidFill>
              </a:rPr>
              <a:t>	int a[100]={12,20,30,40,50,60,70,80,90,100};</a:t>
            </a:r>
          </a:p>
          <a:p>
            <a:pPr marL="0" indent="0">
              <a:buFont typeface="Webdings" pitchFamily="18" charset="2"/>
              <a:buNone/>
              <a:defRPr/>
            </a:pPr>
            <a:r>
              <a:rPr lang="en-US" altLang="zh-CN" sz="2000" dirty="0" smtClean="0">
                <a:solidFill>
                  <a:schemeClr val="tx1"/>
                </a:solidFill>
              </a:rPr>
              <a:t>	int *p=a+3,x,y,z,*m,*n;</a:t>
            </a:r>
          </a:p>
          <a:p>
            <a:pPr marL="0" indent="0">
              <a:buFont typeface="Webdings" pitchFamily="18" charset="2"/>
              <a:buNone/>
              <a:defRPr/>
            </a:pPr>
            <a:r>
              <a:rPr lang="en-US" altLang="zh-CN" sz="2000" dirty="0" smtClean="0">
                <a:solidFill>
                  <a:schemeClr val="tx1"/>
                </a:solidFill>
              </a:rPr>
              <a:t>	x=*p;             //a[3]</a:t>
            </a:r>
            <a:r>
              <a:rPr lang="zh-CN" altLang="en-US" sz="2000" dirty="0" smtClean="0">
                <a:solidFill>
                  <a:schemeClr val="tx1"/>
                </a:solidFill>
              </a:rPr>
              <a:t>的值</a:t>
            </a:r>
            <a:endParaRPr lang="en-US" altLang="zh-CN" sz="2000" dirty="0" smtClean="0">
              <a:solidFill>
                <a:schemeClr val="tx1"/>
              </a:solidFill>
            </a:endParaRPr>
          </a:p>
          <a:p>
            <a:pPr marL="0" indent="0">
              <a:buFont typeface="Webdings" pitchFamily="18" charset="2"/>
              <a:buNone/>
              <a:defRPr/>
            </a:pPr>
            <a:r>
              <a:rPr lang="en-US" altLang="zh-CN" sz="2000" dirty="0" smtClean="0">
                <a:solidFill>
                  <a:schemeClr val="tx1"/>
                </a:solidFill>
              </a:rPr>
              <a:t>	y=*(++p);      //p</a:t>
            </a:r>
            <a:r>
              <a:rPr lang="zh-CN" altLang="en-US" sz="2000" dirty="0" smtClean="0">
                <a:solidFill>
                  <a:schemeClr val="tx1"/>
                </a:solidFill>
              </a:rPr>
              <a:t>指向</a:t>
            </a:r>
            <a:r>
              <a:rPr lang="en-US" altLang="zh-CN" sz="2000" dirty="0" smtClean="0">
                <a:solidFill>
                  <a:schemeClr val="tx1"/>
                </a:solidFill>
              </a:rPr>
              <a:t>a[4]</a:t>
            </a:r>
            <a:r>
              <a:rPr lang="zh-CN" altLang="en-US" sz="2000" dirty="0" smtClean="0">
                <a:solidFill>
                  <a:schemeClr val="tx1"/>
                </a:solidFill>
              </a:rPr>
              <a:t>，</a:t>
            </a:r>
            <a:r>
              <a:rPr lang="en-US" altLang="zh-CN" sz="2000" dirty="0" smtClean="0">
                <a:solidFill>
                  <a:schemeClr val="tx1"/>
                </a:solidFill>
              </a:rPr>
              <a:t>a[4]</a:t>
            </a:r>
            <a:r>
              <a:rPr lang="zh-CN" altLang="en-US" sz="2000" dirty="0" smtClean="0">
                <a:solidFill>
                  <a:schemeClr val="tx1"/>
                </a:solidFill>
              </a:rPr>
              <a:t>的值</a:t>
            </a:r>
            <a:endParaRPr lang="en-US" altLang="zh-CN" sz="2000" dirty="0" smtClean="0">
              <a:solidFill>
                <a:schemeClr val="tx1"/>
              </a:solidFill>
            </a:endParaRPr>
          </a:p>
          <a:p>
            <a:pPr marL="0" indent="0">
              <a:buNone/>
              <a:defRPr/>
            </a:pPr>
            <a:r>
              <a:rPr lang="en-US" altLang="zh-CN" sz="2000" dirty="0" smtClean="0">
                <a:solidFill>
                  <a:schemeClr val="tx1"/>
                </a:solidFill>
              </a:rPr>
              <a:t>	z=(*p</a:t>
            </a:r>
            <a:r>
              <a:rPr lang="en-US" altLang="zh-CN" sz="2000" dirty="0">
                <a:solidFill>
                  <a:schemeClr val="tx1"/>
                </a:solidFill>
              </a:rPr>
              <a:t>)++; </a:t>
            </a:r>
            <a:r>
              <a:rPr lang="en-US" altLang="zh-CN" sz="2000" dirty="0" smtClean="0">
                <a:solidFill>
                  <a:schemeClr val="tx1"/>
                </a:solidFill>
              </a:rPr>
              <a:t>     //</a:t>
            </a:r>
            <a:r>
              <a:rPr lang="en-US" altLang="zh-CN" sz="2000" dirty="0">
                <a:solidFill>
                  <a:schemeClr val="tx1"/>
                </a:solidFill>
              </a:rPr>
              <a:t>p</a:t>
            </a:r>
            <a:r>
              <a:rPr lang="zh-CN" altLang="en-US" sz="2000" dirty="0">
                <a:solidFill>
                  <a:schemeClr val="tx1"/>
                </a:solidFill>
              </a:rPr>
              <a:t>指向</a:t>
            </a:r>
            <a:r>
              <a:rPr lang="en-US" altLang="zh-CN" sz="2000" dirty="0">
                <a:solidFill>
                  <a:schemeClr val="tx1"/>
                </a:solidFill>
              </a:rPr>
              <a:t>a[4]</a:t>
            </a:r>
            <a:r>
              <a:rPr lang="zh-CN" altLang="en-US" sz="2000" dirty="0" smtClean="0">
                <a:solidFill>
                  <a:schemeClr val="tx1"/>
                </a:solidFill>
              </a:rPr>
              <a:t>，取</a:t>
            </a:r>
            <a:r>
              <a:rPr lang="en-US" altLang="zh-CN" sz="2000" dirty="0" smtClean="0">
                <a:solidFill>
                  <a:schemeClr val="tx1"/>
                </a:solidFill>
              </a:rPr>
              <a:t>a[4</a:t>
            </a:r>
            <a:r>
              <a:rPr lang="en-US" altLang="zh-CN" sz="2000" dirty="0">
                <a:solidFill>
                  <a:schemeClr val="tx1"/>
                </a:solidFill>
              </a:rPr>
              <a:t>]</a:t>
            </a:r>
            <a:r>
              <a:rPr lang="zh-CN" altLang="en-US" sz="2000" dirty="0">
                <a:solidFill>
                  <a:schemeClr val="tx1"/>
                </a:solidFill>
              </a:rPr>
              <a:t>的</a:t>
            </a:r>
            <a:r>
              <a:rPr lang="zh-CN" altLang="en-US" sz="2000" dirty="0" smtClean="0">
                <a:solidFill>
                  <a:schemeClr val="tx1"/>
                </a:solidFill>
              </a:rPr>
              <a:t>值，然后</a:t>
            </a:r>
            <a:r>
              <a:rPr lang="en-US" altLang="zh-CN" sz="2000" dirty="0" smtClean="0">
                <a:solidFill>
                  <a:schemeClr val="tx1"/>
                </a:solidFill>
              </a:rPr>
              <a:t>a[4]+1</a:t>
            </a:r>
            <a:r>
              <a:rPr lang="zh-CN" altLang="en-US" sz="2000" dirty="0" smtClean="0">
                <a:solidFill>
                  <a:schemeClr val="tx1"/>
                </a:solidFill>
              </a:rPr>
              <a:t>得</a:t>
            </a:r>
            <a:r>
              <a:rPr lang="en-US" altLang="zh-CN" sz="2000" dirty="0" smtClean="0">
                <a:solidFill>
                  <a:schemeClr val="tx1"/>
                </a:solidFill>
              </a:rPr>
              <a:t>51</a:t>
            </a:r>
          </a:p>
          <a:p>
            <a:pPr marL="0" indent="0">
              <a:buFont typeface="Webdings" pitchFamily="18" charset="2"/>
              <a:buNone/>
              <a:defRPr/>
            </a:pPr>
            <a:r>
              <a:rPr lang="en-US" altLang="zh-CN" sz="2000" dirty="0" smtClean="0">
                <a:solidFill>
                  <a:schemeClr val="tx1"/>
                </a:solidFill>
              </a:rPr>
              <a:t>	m=&amp;*p;</a:t>
            </a:r>
          </a:p>
          <a:p>
            <a:pPr marL="0" indent="0">
              <a:buFont typeface="Webdings" pitchFamily="18" charset="2"/>
              <a:buNone/>
              <a:defRPr/>
            </a:pPr>
            <a:r>
              <a:rPr lang="en-US" altLang="zh-CN" sz="2000" dirty="0" smtClean="0">
                <a:solidFill>
                  <a:schemeClr val="tx1"/>
                </a:solidFill>
              </a:rPr>
              <a:t>	n=*&amp;p;</a:t>
            </a:r>
          </a:p>
          <a:p>
            <a:pPr marL="0" indent="0">
              <a:buFont typeface="Webdings" pitchFamily="18" charset="2"/>
              <a:buNone/>
              <a:defRPr/>
            </a:pPr>
            <a:r>
              <a:rPr lang="en-US" altLang="zh-CN" sz="2000" dirty="0" smtClean="0">
                <a:solidFill>
                  <a:schemeClr val="tx1"/>
                </a:solidFill>
              </a:rPr>
              <a:t>	</a:t>
            </a:r>
            <a:r>
              <a:rPr lang="en-US" altLang="zh-CN" sz="2000" dirty="0" err="1" smtClean="0">
                <a:solidFill>
                  <a:schemeClr val="tx1"/>
                </a:solidFill>
              </a:rPr>
              <a:t>printf</a:t>
            </a:r>
            <a:r>
              <a:rPr lang="en-US" altLang="zh-CN" sz="2000" dirty="0" smtClean="0">
                <a:solidFill>
                  <a:schemeClr val="tx1"/>
                </a:solidFill>
              </a:rPr>
              <a:t>("%d %d %d %d %d %x %x\</a:t>
            </a:r>
            <a:r>
              <a:rPr lang="en-US" altLang="zh-CN" sz="2000" dirty="0" err="1" smtClean="0">
                <a:solidFill>
                  <a:schemeClr val="tx1"/>
                </a:solidFill>
              </a:rPr>
              <a:t>n",x</a:t>
            </a:r>
            <a:r>
              <a:rPr lang="en-US" altLang="zh-CN" sz="2000" dirty="0" smtClean="0">
                <a:solidFill>
                  <a:schemeClr val="tx1"/>
                </a:solidFill>
              </a:rPr>
              <a:t> ,</a:t>
            </a:r>
            <a:r>
              <a:rPr lang="en-US" altLang="zh-CN" sz="2000" dirty="0" err="1" smtClean="0">
                <a:solidFill>
                  <a:schemeClr val="tx1"/>
                </a:solidFill>
              </a:rPr>
              <a:t>y,z</a:t>
            </a:r>
            <a:r>
              <a:rPr lang="en-US" altLang="zh-CN" sz="2000" dirty="0" smtClean="0">
                <a:solidFill>
                  <a:schemeClr val="tx1"/>
                </a:solidFill>
              </a:rPr>
              <a:t>,*</a:t>
            </a:r>
            <a:r>
              <a:rPr lang="en-US" altLang="zh-CN" sz="2000" dirty="0" err="1" smtClean="0">
                <a:solidFill>
                  <a:schemeClr val="tx1"/>
                </a:solidFill>
              </a:rPr>
              <a:t>p,a</a:t>
            </a:r>
            <a:r>
              <a:rPr lang="en-US" altLang="zh-CN" sz="2000" dirty="0" smtClean="0">
                <a:solidFill>
                  <a:schemeClr val="tx1"/>
                </a:solidFill>
              </a:rPr>
              <a:t>[4],</a:t>
            </a:r>
            <a:r>
              <a:rPr lang="en-US" altLang="zh-CN" sz="2000" dirty="0" err="1" smtClean="0">
                <a:solidFill>
                  <a:schemeClr val="tx1"/>
                </a:solidFill>
              </a:rPr>
              <a:t>m,n</a:t>
            </a:r>
            <a:r>
              <a:rPr lang="en-US" altLang="zh-CN" sz="2000" dirty="0" smtClean="0">
                <a:solidFill>
                  <a:schemeClr val="tx1"/>
                </a:solidFill>
              </a:rPr>
              <a:t>);</a:t>
            </a:r>
          </a:p>
          <a:p>
            <a:pPr marL="0" indent="0">
              <a:buFont typeface="Webdings" pitchFamily="18" charset="2"/>
              <a:buNone/>
              <a:defRPr/>
            </a:pPr>
            <a:r>
              <a:rPr lang="en-US" altLang="zh-CN" sz="2000" dirty="0" smtClean="0">
                <a:solidFill>
                  <a:schemeClr val="tx1"/>
                </a:solidFill>
              </a:rPr>
              <a:t>	return 0;</a:t>
            </a:r>
          </a:p>
          <a:p>
            <a:pPr marL="0" indent="0">
              <a:buFont typeface="Webdings" pitchFamily="18" charset="2"/>
              <a:buNone/>
              <a:defRPr/>
            </a:pPr>
            <a:r>
              <a:rPr lang="en-US" altLang="zh-CN" sz="1600" dirty="0" smtClean="0"/>
              <a:t>}</a:t>
            </a:r>
          </a:p>
          <a:p>
            <a:pPr marL="0" indent="0">
              <a:buFont typeface="Webdings" pitchFamily="18" charset="2"/>
              <a:buNone/>
              <a:defRPr/>
            </a:pPr>
            <a:endParaRPr lang="zh-CN" altLang="en-US" sz="1600" dirty="0"/>
          </a:p>
        </p:txBody>
      </p:sp>
      <p:sp>
        <p:nvSpPr>
          <p:cNvPr id="7" name="TextBox 6"/>
          <p:cNvSpPr txBox="1"/>
          <p:nvPr/>
        </p:nvSpPr>
        <p:spPr>
          <a:xfrm>
            <a:off x="1986189" y="581430"/>
            <a:ext cx="4267110" cy="461665"/>
          </a:xfrm>
          <a:prstGeom prst="rect">
            <a:avLst/>
          </a:prstGeom>
          <a:noFill/>
        </p:spPr>
        <p:txBody>
          <a:bodyPr wrap="square" rtlCol="0">
            <a:spAutoFit/>
          </a:bodyPr>
          <a:lstStyle/>
          <a:p>
            <a:r>
              <a:rPr lang="zh-CN" altLang="en-US" sz="2400" b="1" dirty="0" smtClean="0">
                <a:solidFill>
                  <a:schemeClr val="bg2"/>
                </a:solidFill>
                <a:latin typeface="+mj-lt"/>
              </a:rPr>
              <a:t>求*</a:t>
            </a:r>
            <a:r>
              <a:rPr lang="en-US" altLang="zh-CN" sz="2400" b="1" dirty="0" smtClean="0">
                <a:solidFill>
                  <a:schemeClr val="bg2"/>
                </a:solidFill>
                <a:latin typeface="+mj-lt"/>
              </a:rPr>
              <a:t>(++p)  (*p)++  &amp;*p  *&amp;p </a:t>
            </a:r>
            <a:endParaRPr lang="zh-CN" altLang="en-US" sz="2400" b="1" dirty="0">
              <a:solidFill>
                <a:schemeClr val="bg2"/>
              </a:solidFill>
              <a:latin typeface="+mj-lt"/>
            </a:endParaRPr>
          </a:p>
        </p:txBody>
      </p:sp>
      <p:grpSp>
        <p:nvGrpSpPr>
          <p:cNvPr id="19" name="组合 18"/>
          <p:cNvGrpSpPr/>
          <p:nvPr/>
        </p:nvGrpSpPr>
        <p:grpSpPr>
          <a:xfrm>
            <a:off x="6002040" y="188640"/>
            <a:ext cx="2992501" cy="1093016"/>
            <a:chOff x="6151005" y="402161"/>
            <a:chExt cx="2992501" cy="1093016"/>
          </a:xfrm>
        </p:grpSpPr>
        <p:sp>
          <p:nvSpPr>
            <p:cNvPr id="4" name="TextBox 3"/>
            <p:cNvSpPr txBox="1"/>
            <p:nvPr/>
          </p:nvSpPr>
          <p:spPr>
            <a:xfrm>
              <a:off x="6253299" y="402161"/>
              <a:ext cx="2890207" cy="461665"/>
            </a:xfrm>
            <a:prstGeom prst="rect">
              <a:avLst/>
            </a:prstGeom>
            <a:noFill/>
          </p:spPr>
          <p:txBody>
            <a:bodyPr wrap="square" rtlCol="0">
              <a:spAutoFit/>
            </a:bodyPr>
            <a:lstStyle/>
            <a:p>
              <a:r>
                <a:rPr lang="en-US" altLang="zh-CN" sz="2400" b="1" dirty="0" smtClean="0">
                  <a:solidFill>
                    <a:schemeClr val="bg2"/>
                  </a:solidFill>
                </a:rPr>
                <a:t>a[i] </a:t>
              </a:r>
              <a:r>
                <a:rPr lang="zh-CN" altLang="en-US" sz="2400" b="1" dirty="0" smtClean="0">
                  <a:solidFill>
                    <a:schemeClr val="bg2"/>
                  </a:solidFill>
                </a:rPr>
                <a:t>等价于</a:t>
              </a:r>
              <a:r>
                <a:rPr lang="en-US" altLang="zh-CN" sz="2400" b="1" dirty="0" smtClean="0">
                  <a:solidFill>
                    <a:schemeClr val="bg2"/>
                  </a:solidFill>
                </a:rPr>
                <a:t> *(a+i)</a:t>
              </a:r>
              <a:endParaRPr lang="zh-CN" altLang="en-US" sz="2400" b="1" dirty="0">
                <a:solidFill>
                  <a:schemeClr val="bg2"/>
                </a:solidFill>
              </a:endParaRPr>
            </a:p>
          </p:txBody>
        </p:sp>
        <p:sp>
          <p:nvSpPr>
            <p:cNvPr id="5" name="TextBox 4"/>
            <p:cNvSpPr txBox="1"/>
            <p:nvPr/>
          </p:nvSpPr>
          <p:spPr>
            <a:xfrm>
              <a:off x="6151005" y="1125845"/>
              <a:ext cx="936104" cy="369332"/>
            </a:xfrm>
            <a:prstGeom prst="rect">
              <a:avLst/>
            </a:prstGeom>
            <a:noFill/>
          </p:spPr>
          <p:txBody>
            <a:bodyPr wrap="square" rtlCol="0">
              <a:spAutoFit/>
            </a:bodyPr>
            <a:lstStyle/>
            <a:p>
              <a:r>
                <a:rPr lang="zh-CN" altLang="en-US" sz="1800" b="1" dirty="0">
                  <a:solidFill>
                    <a:schemeClr val="bg2"/>
                  </a:solidFill>
                  <a:effectLst>
                    <a:outerShdw blurRad="38100" dist="38100" dir="2700000" algn="tl">
                      <a:srgbClr val="000000">
                        <a:alpha val="43137"/>
                      </a:srgbClr>
                    </a:outerShdw>
                  </a:effectLst>
                </a:rPr>
                <a:t>下标法</a:t>
              </a:r>
            </a:p>
          </p:txBody>
        </p:sp>
        <p:sp>
          <p:nvSpPr>
            <p:cNvPr id="6" name="TextBox 5"/>
            <p:cNvSpPr txBox="1"/>
            <p:nvPr/>
          </p:nvSpPr>
          <p:spPr>
            <a:xfrm>
              <a:off x="7903829" y="1125845"/>
              <a:ext cx="936104" cy="369332"/>
            </a:xfrm>
            <a:prstGeom prst="rect">
              <a:avLst/>
            </a:prstGeom>
            <a:noFill/>
          </p:spPr>
          <p:txBody>
            <a:bodyPr wrap="square" rtlCol="0">
              <a:spAutoFit/>
            </a:bodyPr>
            <a:lstStyle/>
            <a:p>
              <a:r>
                <a:rPr lang="zh-CN" altLang="en-US" sz="1800" b="1" dirty="0" smtClean="0">
                  <a:solidFill>
                    <a:schemeClr val="bg2"/>
                  </a:solidFill>
                  <a:effectLst>
                    <a:outerShdw blurRad="38100" dist="38100" dir="2700000" algn="tl">
                      <a:srgbClr val="000000">
                        <a:alpha val="43137"/>
                      </a:srgbClr>
                    </a:outerShdw>
                  </a:effectLst>
                </a:rPr>
                <a:t>指针法</a:t>
              </a:r>
              <a:endParaRPr lang="zh-CN" altLang="en-US" sz="1800" b="1" dirty="0">
                <a:solidFill>
                  <a:schemeClr val="bg2"/>
                </a:solidFill>
                <a:effectLst>
                  <a:outerShdw blurRad="38100" dist="38100" dir="2700000" algn="tl">
                    <a:srgbClr val="000000">
                      <a:alpha val="43137"/>
                    </a:srgbClr>
                  </a:outerShdw>
                </a:effectLst>
              </a:endParaRPr>
            </a:p>
          </p:txBody>
        </p:sp>
        <p:cxnSp>
          <p:nvCxnSpPr>
            <p:cNvPr id="17" name="直接箭头连接符 16"/>
            <p:cNvCxnSpPr/>
            <p:nvPr/>
          </p:nvCxnSpPr>
          <p:spPr bwMode="auto">
            <a:xfrm flipV="1">
              <a:off x="8335877" y="824883"/>
              <a:ext cx="0" cy="360040"/>
            </a:xfrm>
            <a:prstGeom prst="straightConnector1">
              <a:avLst/>
            </a:prstGeom>
            <a:solidFill>
              <a:schemeClr val="accent1"/>
            </a:solidFill>
            <a:ln w="19050" cap="flat" cmpd="sng" algn="ctr">
              <a:solidFill>
                <a:schemeClr val="tx1"/>
              </a:solidFill>
              <a:prstDash val="solid"/>
              <a:round/>
              <a:headEnd type="none" w="med" len="med"/>
              <a:tailEnd type="triangle"/>
            </a:ln>
          </p:spPr>
        </p:cxnSp>
        <p:cxnSp>
          <p:nvCxnSpPr>
            <p:cNvPr id="20" name="直接箭头连接符 19"/>
            <p:cNvCxnSpPr/>
            <p:nvPr/>
          </p:nvCxnSpPr>
          <p:spPr bwMode="auto">
            <a:xfrm flipV="1">
              <a:off x="6619057" y="863075"/>
              <a:ext cx="0" cy="360040"/>
            </a:xfrm>
            <a:prstGeom prst="straightConnector1">
              <a:avLst/>
            </a:prstGeom>
            <a:solidFill>
              <a:schemeClr val="accent1"/>
            </a:solidFill>
            <a:ln w="19050" cap="flat" cmpd="sng" algn="ctr">
              <a:solidFill>
                <a:schemeClr val="tx1"/>
              </a:solidFill>
              <a:prstDash val="solid"/>
              <a:round/>
              <a:headEnd type="none" w="med" len="med"/>
              <a:tailEnd type="triangle"/>
            </a:ln>
          </p:spPr>
        </p:cxnSp>
      </p:grpSp>
      <p:graphicFrame>
        <p:nvGraphicFramePr>
          <p:cNvPr id="21" name="表格 20"/>
          <p:cNvGraphicFramePr>
            <a:graphicFrameLocks noGrp="1"/>
          </p:cNvGraphicFramePr>
          <p:nvPr>
            <p:extLst>
              <p:ext uri="{D42A27DB-BD31-4B8C-83A1-F6EECF244321}">
                <p14:modId xmlns:p14="http://schemas.microsoft.com/office/powerpoint/2010/main" val="487425256"/>
              </p:ext>
            </p:extLst>
          </p:nvPr>
        </p:nvGraphicFramePr>
        <p:xfrm>
          <a:off x="2652713" y="1777514"/>
          <a:ext cx="6096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gridCol w="609600">
                  <a:extLst>
                    <a:ext uri="{9D8B030D-6E8A-4147-A177-3AD203B41FA5}">
                      <a16:colId xmlns:a16="http://schemas.microsoft.com/office/drawing/2014/main" val="1426215473"/>
                    </a:ext>
                  </a:extLst>
                </a:gridCol>
                <a:gridCol w="609600">
                  <a:extLst>
                    <a:ext uri="{9D8B030D-6E8A-4147-A177-3AD203B41FA5}">
                      <a16:colId xmlns:a16="http://schemas.microsoft.com/office/drawing/2014/main" val="1393811753"/>
                    </a:ext>
                  </a:extLst>
                </a:gridCol>
                <a:gridCol w="609600">
                  <a:extLst>
                    <a:ext uri="{9D8B030D-6E8A-4147-A177-3AD203B41FA5}">
                      <a16:colId xmlns:a16="http://schemas.microsoft.com/office/drawing/2014/main" val="1001917840"/>
                    </a:ext>
                  </a:extLst>
                </a:gridCol>
                <a:gridCol w="609600">
                  <a:extLst>
                    <a:ext uri="{9D8B030D-6E8A-4147-A177-3AD203B41FA5}">
                      <a16:colId xmlns:a16="http://schemas.microsoft.com/office/drawing/2014/main" val="2055211927"/>
                    </a:ext>
                  </a:extLst>
                </a:gridCol>
                <a:gridCol w="609600">
                  <a:extLst>
                    <a:ext uri="{9D8B030D-6E8A-4147-A177-3AD203B41FA5}">
                      <a16:colId xmlns:a16="http://schemas.microsoft.com/office/drawing/2014/main" val="3126657181"/>
                    </a:ext>
                  </a:extLst>
                </a:gridCol>
              </a:tblGrid>
              <a:tr h="370840">
                <a:tc>
                  <a:txBody>
                    <a:bodyPr/>
                    <a:lstStyle/>
                    <a:p>
                      <a:pPr algn="ctr"/>
                      <a:r>
                        <a:rPr lang="en-US" altLang="zh-CN" dirty="0" smtClean="0"/>
                        <a:t>a[0]</a:t>
                      </a:r>
                      <a:endParaRPr lang="zh-CN" altLang="en-US" dirty="0"/>
                    </a:p>
                  </a:txBody>
                  <a:tcPr/>
                </a:tc>
                <a:tc>
                  <a:txBody>
                    <a:bodyPr/>
                    <a:lstStyle/>
                    <a:p>
                      <a:pPr algn="ctr"/>
                      <a:r>
                        <a:rPr lang="en-US" altLang="zh-CN" dirty="0" smtClean="0"/>
                        <a:t>a[1]</a:t>
                      </a:r>
                      <a:endParaRPr lang="zh-CN" altLang="en-US" dirty="0"/>
                    </a:p>
                  </a:txBody>
                  <a:tcPr/>
                </a:tc>
                <a:tc>
                  <a:txBody>
                    <a:bodyPr/>
                    <a:lstStyle/>
                    <a:p>
                      <a:pPr algn="ctr"/>
                      <a:r>
                        <a:rPr lang="en-US" altLang="zh-CN" dirty="0" smtClean="0"/>
                        <a:t>a[2]</a:t>
                      </a:r>
                      <a:endParaRPr lang="zh-CN" altLang="en-US" dirty="0"/>
                    </a:p>
                  </a:txBody>
                  <a:tcPr/>
                </a:tc>
                <a:tc>
                  <a:txBody>
                    <a:bodyPr/>
                    <a:lstStyle/>
                    <a:p>
                      <a:pPr algn="ctr"/>
                      <a:r>
                        <a:rPr lang="en-US" altLang="zh-CN" dirty="0" smtClean="0"/>
                        <a:t>a[3]</a:t>
                      </a:r>
                      <a:endParaRPr lang="zh-CN" altLang="en-US" dirty="0"/>
                    </a:p>
                  </a:txBody>
                  <a:tcPr/>
                </a:tc>
                <a:tc>
                  <a:txBody>
                    <a:bodyPr/>
                    <a:lstStyle/>
                    <a:p>
                      <a:pPr algn="ctr"/>
                      <a:r>
                        <a:rPr lang="en-US" altLang="zh-CN" dirty="0" smtClean="0"/>
                        <a:t>a[4]</a:t>
                      </a:r>
                      <a:endParaRPr lang="zh-CN" altLang="en-US" dirty="0"/>
                    </a:p>
                  </a:txBody>
                  <a:tcPr/>
                </a:tc>
                <a:tc>
                  <a:txBody>
                    <a:bodyPr/>
                    <a:lstStyle/>
                    <a:p>
                      <a:pPr algn="ctr"/>
                      <a:r>
                        <a:rPr lang="en-US" altLang="zh-CN" dirty="0" smtClean="0"/>
                        <a:t>a[5]</a:t>
                      </a:r>
                      <a:endParaRPr lang="zh-CN" altLang="en-US" dirty="0"/>
                    </a:p>
                  </a:txBody>
                  <a:tcPr/>
                </a:tc>
                <a:tc>
                  <a:txBody>
                    <a:bodyPr/>
                    <a:lstStyle/>
                    <a:p>
                      <a:pPr algn="ctr"/>
                      <a:r>
                        <a:rPr lang="en-US" altLang="zh-CN" dirty="0" smtClean="0"/>
                        <a:t>a[6]</a:t>
                      </a:r>
                      <a:endParaRPr lang="zh-CN" altLang="en-US" dirty="0"/>
                    </a:p>
                  </a:txBody>
                  <a:tcPr/>
                </a:tc>
                <a:tc>
                  <a:txBody>
                    <a:bodyPr/>
                    <a:lstStyle/>
                    <a:p>
                      <a:pPr algn="ctr"/>
                      <a:r>
                        <a:rPr lang="en-US" altLang="zh-CN" dirty="0" smtClean="0"/>
                        <a:t>a[7]</a:t>
                      </a:r>
                      <a:endParaRPr lang="zh-CN" altLang="en-US" dirty="0"/>
                    </a:p>
                  </a:txBody>
                  <a:tcPr/>
                </a:tc>
                <a:tc>
                  <a:txBody>
                    <a:bodyPr/>
                    <a:lstStyle/>
                    <a:p>
                      <a:pPr algn="ctr"/>
                      <a:r>
                        <a:rPr lang="en-US" altLang="zh-CN" dirty="0" smtClean="0"/>
                        <a:t>a[8]</a:t>
                      </a:r>
                      <a:endParaRPr lang="zh-CN" altLang="en-US" dirty="0"/>
                    </a:p>
                  </a:txBody>
                  <a:tcPr/>
                </a:tc>
                <a:tc>
                  <a:txBody>
                    <a:bodyPr/>
                    <a:lstStyle/>
                    <a:p>
                      <a:pPr algn="ctr"/>
                      <a:r>
                        <a:rPr lang="en-US" altLang="zh-CN" dirty="0" smtClean="0"/>
                        <a:t>a[9]</a:t>
                      </a:r>
                      <a:endParaRPr lang="zh-CN" altLang="en-US" dirty="0"/>
                    </a:p>
                  </a:txBody>
                  <a:tcPr/>
                </a:tc>
                <a:extLst>
                  <a:ext uri="{0D108BD9-81ED-4DB2-BD59-A6C34878D82A}">
                    <a16:rowId xmlns:a16="http://schemas.microsoft.com/office/drawing/2014/main" val="1534354532"/>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735668012"/>
              </p:ext>
            </p:extLst>
          </p:nvPr>
        </p:nvGraphicFramePr>
        <p:xfrm>
          <a:off x="2652713" y="2165416"/>
          <a:ext cx="6096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gridCol w="609600">
                  <a:extLst>
                    <a:ext uri="{9D8B030D-6E8A-4147-A177-3AD203B41FA5}">
                      <a16:colId xmlns:a16="http://schemas.microsoft.com/office/drawing/2014/main" val="1426215473"/>
                    </a:ext>
                  </a:extLst>
                </a:gridCol>
                <a:gridCol w="609600">
                  <a:extLst>
                    <a:ext uri="{9D8B030D-6E8A-4147-A177-3AD203B41FA5}">
                      <a16:colId xmlns:a16="http://schemas.microsoft.com/office/drawing/2014/main" val="1393811753"/>
                    </a:ext>
                  </a:extLst>
                </a:gridCol>
                <a:gridCol w="609600">
                  <a:extLst>
                    <a:ext uri="{9D8B030D-6E8A-4147-A177-3AD203B41FA5}">
                      <a16:colId xmlns:a16="http://schemas.microsoft.com/office/drawing/2014/main" val="1001917840"/>
                    </a:ext>
                  </a:extLst>
                </a:gridCol>
                <a:gridCol w="609600">
                  <a:extLst>
                    <a:ext uri="{9D8B030D-6E8A-4147-A177-3AD203B41FA5}">
                      <a16:colId xmlns:a16="http://schemas.microsoft.com/office/drawing/2014/main" val="2055211927"/>
                    </a:ext>
                  </a:extLst>
                </a:gridCol>
                <a:gridCol w="609600">
                  <a:extLst>
                    <a:ext uri="{9D8B030D-6E8A-4147-A177-3AD203B41FA5}">
                      <a16:colId xmlns:a16="http://schemas.microsoft.com/office/drawing/2014/main" val="3126657181"/>
                    </a:ext>
                  </a:extLst>
                </a:gridCol>
              </a:tblGrid>
              <a:tr h="370840">
                <a:tc>
                  <a:txBody>
                    <a:bodyPr/>
                    <a:lstStyle/>
                    <a:p>
                      <a:pPr algn="ctr"/>
                      <a:r>
                        <a:rPr lang="en-US" altLang="zh-CN" dirty="0" smtClean="0"/>
                        <a:t>12</a:t>
                      </a:r>
                      <a:endParaRPr lang="zh-CN" altLang="en-US" dirty="0"/>
                    </a:p>
                  </a:txBody>
                  <a:tcPr/>
                </a:tc>
                <a:tc>
                  <a:txBody>
                    <a:bodyPr/>
                    <a:lstStyle/>
                    <a:p>
                      <a:pPr algn="ctr"/>
                      <a:r>
                        <a:rPr lang="en-US" altLang="zh-CN" dirty="0" smtClean="0"/>
                        <a:t>20</a:t>
                      </a:r>
                      <a:endParaRPr lang="zh-CN" altLang="en-US" dirty="0"/>
                    </a:p>
                  </a:txBody>
                  <a:tcPr/>
                </a:tc>
                <a:tc>
                  <a:txBody>
                    <a:bodyPr/>
                    <a:lstStyle/>
                    <a:p>
                      <a:pPr algn="ctr"/>
                      <a:r>
                        <a:rPr lang="en-US" altLang="zh-CN" dirty="0" smtClean="0"/>
                        <a:t>30</a:t>
                      </a:r>
                      <a:endParaRPr lang="zh-CN" altLang="en-US" dirty="0"/>
                    </a:p>
                  </a:txBody>
                  <a:tcPr/>
                </a:tc>
                <a:tc>
                  <a:txBody>
                    <a:bodyPr/>
                    <a:lstStyle/>
                    <a:p>
                      <a:pPr algn="ctr"/>
                      <a:r>
                        <a:rPr lang="en-US" altLang="zh-CN" dirty="0" smtClean="0"/>
                        <a:t>40</a:t>
                      </a:r>
                      <a:endParaRPr lang="zh-CN" altLang="en-US" dirty="0"/>
                    </a:p>
                  </a:txBody>
                  <a:tcPr/>
                </a:tc>
                <a:tc>
                  <a:txBody>
                    <a:bodyPr/>
                    <a:lstStyle/>
                    <a:p>
                      <a:pPr algn="ctr"/>
                      <a:r>
                        <a:rPr lang="en-US" altLang="zh-CN" dirty="0" smtClean="0"/>
                        <a:t>50</a:t>
                      </a:r>
                      <a:endParaRPr lang="zh-CN" altLang="en-US" dirty="0"/>
                    </a:p>
                  </a:txBody>
                  <a:tcPr/>
                </a:tc>
                <a:tc>
                  <a:txBody>
                    <a:bodyPr/>
                    <a:lstStyle/>
                    <a:p>
                      <a:pPr algn="ctr"/>
                      <a:r>
                        <a:rPr lang="en-US" altLang="zh-CN" dirty="0" smtClean="0"/>
                        <a:t>60</a:t>
                      </a:r>
                      <a:endParaRPr lang="zh-CN" altLang="en-US" dirty="0"/>
                    </a:p>
                  </a:txBody>
                  <a:tcPr/>
                </a:tc>
                <a:tc>
                  <a:txBody>
                    <a:bodyPr/>
                    <a:lstStyle/>
                    <a:p>
                      <a:pPr algn="ctr"/>
                      <a:r>
                        <a:rPr lang="en-US" altLang="zh-CN" dirty="0" smtClean="0"/>
                        <a:t>70</a:t>
                      </a:r>
                      <a:endParaRPr lang="zh-CN" altLang="en-US" dirty="0"/>
                    </a:p>
                  </a:txBody>
                  <a:tcPr/>
                </a:tc>
                <a:tc>
                  <a:txBody>
                    <a:bodyPr/>
                    <a:lstStyle/>
                    <a:p>
                      <a:pPr algn="ctr"/>
                      <a:r>
                        <a:rPr lang="en-US" altLang="zh-CN" dirty="0" smtClean="0"/>
                        <a:t>80</a:t>
                      </a:r>
                      <a:endParaRPr lang="zh-CN" altLang="en-US" dirty="0"/>
                    </a:p>
                  </a:txBody>
                  <a:tcPr/>
                </a:tc>
                <a:tc>
                  <a:txBody>
                    <a:bodyPr/>
                    <a:lstStyle/>
                    <a:p>
                      <a:pPr algn="ctr"/>
                      <a:r>
                        <a:rPr lang="en-US" altLang="zh-CN" dirty="0" smtClean="0"/>
                        <a:t>90</a:t>
                      </a:r>
                      <a:endParaRPr lang="zh-CN" altLang="en-US" dirty="0"/>
                    </a:p>
                  </a:txBody>
                  <a:tcPr/>
                </a:tc>
                <a:tc>
                  <a:txBody>
                    <a:bodyPr/>
                    <a:lstStyle/>
                    <a:p>
                      <a:pPr algn="ctr"/>
                      <a:r>
                        <a:rPr lang="en-US" altLang="zh-CN" dirty="0" smtClean="0"/>
                        <a:t>100</a:t>
                      </a:r>
                      <a:endParaRPr lang="zh-CN" altLang="en-US" dirty="0"/>
                    </a:p>
                  </a:txBody>
                  <a:tcPr/>
                </a:tc>
                <a:extLst>
                  <a:ext uri="{0D108BD9-81ED-4DB2-BD59-A6C34878D82A}">
                    <a16:rowId xmlns:a16="http://schemas.microsoft.com/office/drawing/2014/main" val="1534354532"/>
                  </a:ext>
                </a:extLst>
              </a:tr>
            </a:tbl>
          </a:graphicData>
        </a:graphic>
      </p:graphicFrame>
      <p:grpSp>
        <p:nvGrpSpPr>
          <p:cNvPr id="11" name="组合 10"/>
          <p:cNvGrpSpPr/>
          <p:nvPr/>
        </p:nvGrpSpPr>
        <p:grpSpPr>
          <a:xfrm>
            <a:off x="3923928" y="812662"/>
            <a:ext cx="614871" cy="2007596"/>
            <a:chOff x="4427984" y="836712"/>
            <a:chExt cx="614871" cy="2007596"/>
          </a:xfrm>
        </p:grpSpPr>
        <p:sp>
          <p:nvSpPr>
            <p:cNvPr id="23" name="Rectangle 2060"/>
            <p:cNvSpPr>
              <a:spLocks noChangeArrowheads="1"/>
            </p:cNvSpPr>
            <p:nvPr/>
          </p:nvSpPr>
          <p:spPr bwMode="auto">
            <a:xfrm>
              <a:off x="4427984" y="1170088"/>
              <a:ext cx="614871" cy="32737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dirty="0" smtClean="0"/>
                <a:t>a+3</a:t>
              </a:r>
              <a:endParaRPr kumimoji="1" lang="en-US" altLang="zh-CN" sz="1800" b="1" dirty="0"/>
            </a:p>
          </p:txBody>
        </p:sp>
        <p:grpSp>
          <p:nvGrpSpPr>
            <p:cNvPr id="30" name="组合 29"/>
            <p:cNvGrpSpPr/>
            <p:nvPr/>
          </p:nvGrpSpPr>
          <p:grpSpPr>
            <a:xfrm>
              <a:off x="4499992" y="836712"/>
              <a:ext cx="462416" cy="2007596"/>
              <a:chOff x="4528817" y="836712"/>
              <a:chExt cx="462416" cy="2007596"/>
            </a:xfrm>
          </p:grpSpPr>
          <p:grpSp>
            <p:nvGrpSpPr>
              <p:cNvPr id="27" name="组合 26"/>
              <p:cNvGrpSpPr/>
              <p:nvPr/>
            </p:nvGrpSpPr>
            <p:grpSpPr>
              <a:xfrm>
                <a:off x="4594855" y="836712"/>
                <a:ext cx="396378" cy="936104"/>
                <a:chOff x="4594855" y="836712"/>
                <a:chExt cx="396378" cy="936104"/>
              </a:xfrm>
            </p:grpSpPr>
            <p:sp>
              <p:nvSpPr>
                <p:cNvPr id="24" name="Rectangle 2061"/>
                <p:cNvSpPr>
                  <a:spLocks noChangeArrowheads="1"/>
                </p:cNvSpPr>
                <p:nvPr/>
              </p:nvSpPr>
              <p:spPr bwMode="auto">
                <a:xfrm>
                  <a:off x="4594855" y="836712"/>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a:t>p</a:t>
                  </a:r>
                </a:p>
              </p:txBody>
            </p:sp>
            <p:cxnSp>
              <p:nvCxnSpPr>
                <p:cNvPr id="26" name="直接箭头连接符 25"/>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sp>
            <p:nvSpPr>
              <p:cNvPr id="29" name="Rectangle 2063"/>
              <p:cNvSpPr>
                <a:spLocks noChangeArrowheads="1"/>
              </p:cNvSpPr>
              <p:nvPr/>
            </p:nvSpPr>
            <p:spPr bwMode="auto">
              <a:xfrm>
                <a:off x="4528817" y="2472833"/>
                <a:ext cx="413204" cy="371475"/>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a:t>*</a:t>
                </a:r>
                <a:r>
                  <a:rPr lang="en-US" altLang="zh-CN" sz="1800" b="1" dirty="0"/>
                  <a:t>p</a:t>
                </a:r>
              </a:p>
            </p:txBody>
          </p:sp>
        </p:grpSp>
      </p:grpSp>
      <p:pic>
        <p:nvPicPr>
          <p:cNvPr id="8" name="图片 7"/>
          <p:cNvPicPr>
            <a:picLocks noChangeAspect="1"/>
          </p:cNvPicPr>
          <p:nvPr/>
        </p:nvPicPr>
        <p:blipFill rotWithShape="1">
          <a:blip r:embed="rId2"/>
          <a:srcRect l="-1" r="8168" b="30780"/>
          <a:stretch/>
        </p:blipFill>
        <p:spPr>
          <a:xfrm>
            <a:off x="2924784" y="6207952"/>
            <a:ext cx="6048672" cy="408626"/>
          </a:xfrm>
          <a:prstGeom prst="rect">
            <a:avLst/>
          </a:prstGeom>
        </p:spPr>
      </p:pic>
      <p:sp>
        <p:nvSpPr>
          <p:cNvPr id="9" name="右大括号 8"/>
          <p:cNvSpPr/>
          <p:nvPr/>
        </p:nvSpPr>
        <p:spPr bwMode="auto">
          <a:xfrm>
            <a:off x="2864250" y="4987993"/>
            <a:ext cx="168945" cy="648072"/>
          </a:xfrm>
          <a:prstGeom prst="righ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 name="矩形 9"/>
          <p:cNvSpPr/>
          <p:nvPr/>
        </p:nvSpPr>
        <p:spPr bwMode="auto">
          <a:xfrm>
            <a:off x="3180043" y="5132364"/>
            <a:ext cx="5356317" cy="384867"/>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两条语句作用相同，</a:t>
            </a:r>
            <a:r>
              <a:rPr kumimoji="0" lang="en-US" altLang="zh-CN" sz="1600" b="1"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p</a:t>
            </a:r>
            <a:r>
              <a:rPr kumimoji="0" lang="zh-CN" altLang="en-US" sz="1600" b="1"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所指向的的地址值，</a:t>
            </a:r>
            <a:r>
              <a:rPr kumimoji="0" lang="en-US" altLang="zh-CN" sz="1600" b="1"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&amp;</a:t>
            </a:r>
            <a:r>
              <a:rPr kumimoji="0" lang="zh-CN" altLang="en-US" sz="1600" b="1"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和*相互抵消</a:t>
            </a:r>
          </a:p>
        </p:txBody>
      </p:sp>
    </p:spTree>
    <p:extLst>
      <p:ext uri="{BB962C8B-B14F-4D97-AF65-F5344CB8AC3E}">
        <p14:creationId xmlns:p14="http://schemas.microsoft.com/office/powerpoint/2010/main" val="8706641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69353" y="28437"/>
            <a:ext cx="8229600" cy="1024299"/>
          </a:xfrm>
        </p:spPr>
        <p:txBody>
          <a:bodyPr/>
          <a:lstStyle/>
          <a:p>
            <a:pPr>
              <a:defRPr/>
            </a:pPr>
            <a:r>
              <a:rPr lang="zh-CN" altLang="en-US" dirty="0" smtClean="0"/>
              <a:t>案例</a:t>
            </a:r>
            <a:r>
              <a:rPr lang="en-US" altLang="zh-CN" sz="2800" dirty="0"/>
              <a:t>:</a:t>
            </a:r>
            <a:r>
              <a:rPr lang="zh-CN" altLang="en-US" sz="2800" dirty="0" smtClean="0"/>
              <a:t>求</a:t>
            </a:r>
            <a:r>
              <a:rPr lang="en-US" altLang="zh-CN" sz="2800" dirty="0" smtClean="0"/>
              <a:t>p-a</a:t>
            </a:r>
            <a:r>
              <a:rPr lang="zh-CN" altLang="en-US" sz="2800" dirty="0" smtClean="0"/>
              <a:t>和</a:t>
            </a:r>
            <a:r>
              <a:rPr lang="en-US" altLang="zh-CN" sz="2800" dirty="0" smtClean="0"/>
              <a:t>++</a:t>
            </a:r>
            <a:r>
              <a:rPr lang="en-US" altLang="zh-CN" sz="2800" dirty="0"/>
              <a:t>(</a:t>
            </a:r>
            <a:r>
              <a:rPr lang="zh-CN" altLang="en-US" sz="2800" dirty="0" smtClean="0"/>
              <a:t>*</a:t>
            </a:r>
            <a:r>
              <a:rPr lang="en-US" altLang="zh-CN" sz="2800" dirty="0"/>
              <a:t>(</a:t>
            </a:r>
            <a:r>
              <a:rPr lang="en-US" altLang="zh-CN" sz="2800" dirty="0" smtClean="0"/>
              <a:t>++p)</a:t>
            </a:r>
            <a:r>
              <a:rPr lang="en-US" altLang="zh-CN" sz="2800" dirty="0"/>
              <a:t>)</a:t>
            </a:r>
            <a:r>
              <a:rPr lang="zh-CN" altLang="en-US" sz="2800" dirty="0" smtClean="0"/>
              <a:t>的值</a:t>
            </a:r>
            <a:r>
              <a:rPr lang="en-US" altLang="zh-CN" sz="2800" dirty="0" smtClean="0"/>
              <a:t>(1/2)</a:t>
            </a:r>
            <a:endParaRPr lang="zh-CN" altLang="en-US" sz="2800" dirty="0"/>
          </a:p>
        </p:txBody>
      </p:sp>
      <p:sp>
        <p:nvSpPr>
          <p:cNvPr id="3" name="内容占位符 2"/>
          <p:cNvSpPr>
            <a:spLocks noGrp="1"/>
          </p:cNvSpPr>
          <p:nvPr>
            <p:ph idx="1"/>
          </p:nvPr>
        </p:nvSpPr>
        <p:spPr>
          <a:xfrm>
            <a:off x="179512" y="1556792"/>
            <a:ext cx="9144000" cy="4608512"/>
          </a:xfrm>
        </p:spPr>
        <p:txBody>
          <a:bodyPr/>
          <a:lstStyle/>
          <a:p>
            <a:pPr marL="0" indent="0">
              <a:buFont typeface="Webdings" pitchFamily="18" charset="2"/>
              <a:buNone/>
              <a:defRPr/>
            </a:pPr>
            <a:r>
              <a:rPr lang="en-US" altLang="zh-CN" sz="2400" dirty="0"/>
              <a:t>#</a:t>
            </a:r>
            <a:r>
              <a:rPr lang="en-US" altLang="zh-CN" sz="2400" dirty="0" smtClean="0"/>
              <a:t>include &lt;</a:t>
            </a:r>
            <a:r>
              <a:rPr lang="en-US" altLang="zh-CN" sz="2400" dirty="0"/>
              <a:t>stdio.h&gt;</a:t>
            </a:r>
          </a:p>
          <a:p>
            <a:pPr marL="0" indent="0">
              <a:buFont typeface="Webdings" pitchFamily="18" charset="2"/>
              <a:buNone/>
              <a:defRPr/>
            </a:pPr>
            <a:r>
              <a:rPr lang="en-US" altLang="zh-CN" sz="2400" dirty="0"/>
              <a:t>int main</a:t>
            </a:r>
            <a:r>
              <a:rPr lang="en-US" altLang="zh-CN" sz="2400" dirty="0" smtClean="0"/>
              <a:t>()</a:t>
            </a:r>
            <a:endParaRPr lang="en-US" altLang="zh-CN" sz="2400" dirty="0"/>
          </a:p>
          <a:p>
            <a:pPr marL="0" indent="0">
              <a:buFont typeface="Webdings" pitchFamily="18" charset="2"/>
              <a:buNone/>
              <a:defRPr/>
            </a:pPr>
            <a:r>
              <a:rPr lang="en-US" altLang="zh-CN" sz="2400" dirty="0"/>
              <a:t>{</a:t>
            </a:r>
          </a:p>
          <a:p>
            <a:pPr marL="0" indent="0">
              <a:buFont typeface="Webdings" pitchFamily="18" charset="2"/>
              <a:buNone/>
              <a:defRPr/>
            </a:pPr>
            <a:r>
              <a:rPr lang="en-US" altLang="zh-CN" sz="2400" dirty="0" smtClean="0"/>
              <a:t>     int </a:t>
            </a:r>
            <a:r>
              <a:rPr lang="en-US" altLang="zh-CN" sz="2400" dirty="0"/>
              <a:t>a[]={0,1,2,20,77,15,30,7,8,9},*p=a+5;</a:t>
            </a:r>
          </a:p>
          <a:p>
            <a:pPr marL="0" indent="0">
              <a:buFont typeface="Webdings" pitchFamily="18" charset="2"/>
              <a:buNone/>
              <a:defRPr/>
            </a:pPr>
            <a:r>
              <a:rPr lang="en-US" altLang="zh-CN" sz="2400" dirty="0" smtClean="0"/>
              <a:t>     printf</a:t>
            </a:r>
            <a:r>
              <a:rPr lang="en-US" altLang="zh-CN" sz="2400" dirty="0"/>
              <a:t>("p-a=%d *p=%d\n",p-a,*p);</a:t>
            </a:r>
          </a:p>
          <a:p>
            <a:pPr marL="0" indent="0">
              <a:buFont typeface="Webdings" pitchFamily="18" charset="2"/>
              <a:buNone/>
              <a:defRPr/>
            </a:pPr>
            <a:r>
              <a:rPr lang="en-US" altLang="zh-CN" sz="2400" dirty="0" smtClean="0"/>
              <a:t>     printf</a:t>
            </a:r>
            <a:r>
              <a:rPr lang="en-US" altLang="zh-CN" sz="2400" dirty="0"/>
              <a:t>("p-a=%d *p=%d ++(*++p)=%d\n",p-a,*p,++(*++p));</a:t>
            </a:r>
          </a:p>
          <a:p>
            <a:pPr marL="0" indent="0">
              <a:buFont typeface="Webdings" pitchFamily="18" charset="2"/>
              <a:buNone/>
              <a:defRPr/>
            </a:pPr>
            <a:r>
              <a:rPr lang="en-US" altLang="zh-CN" sz="2400" dirty="0" smtClean="0"/>
              <a:t>     </a:t>
            </a:r>
            <a:r>
              <a:rPr lang="en-US" altLang="zh-CN" sz="2400" dirty="0" err="1" smtClean="0"/>
              <a:t>printf</a:t>
            </a:r>
            <a:r>
              <a:rPr lang="en-US" altLang="zh-CN" sz="2400" dirty="0"/>
              <a:t>("a[6]=%d",a[6]);</a:t>
            </a:r>
          </a:p>
          <a:p>
            <a:pPr marL="0" indent="0">
              <a:buFont typeface="Webdings" pitchFamily="18" charset="2"/>
              <a:buNone/>
              <a:defRPr/>
            </a:pPr>
            <a:r>
              <a:rPr lang="en-US" altLang="zh-CN" sz="2400" dirty="0" smtClean="0"/>
              <a:t>     return </a:t>
            </a:r>
            <a:r>
              <a:rPr lang="en-US" altLang="zh-CN" sz="2400" dirty="0"/>
              <a:t>0;</a:t>
            </a:r>
          </a:p>
          <a:p>
            <a:pPr marL="0" indent="0">
              <a:buFont typeface="Webdings" pitchFamily="18" charset="2"/>
              <a:buNone/>
              <a:defRPr/>
            </a:pPr>
            <a:r>
              <a:rPr lang="en-US" altLang="zh-CN" sz="2400" dirty="0"/>
              <a:t>} </a:t>
            </a:r>
            <a:endParaRPr lang="zh-CN" altLang="en-US" dirty="0"/>
          </a:p>
        </p:txBody>
      </p:sp>
      <p:sp>
        <p:nvSpPr>
          <p:cNvPr id="4" name="TextBox 3"/>
          <p:cNvSpPr txBox="1"/>
          <p:nvPr/>
        </p:nvSpPr>
        <p:spPr>
          <a:xfrm>
            <a:off x="4241137" y="1700808"/>
            <a:ext cx="4682692" cy="830997"/>
          </a:xfrm>
          <a:prstGeom prst="rect">
            <a:avLst/>
          </a:prstGeom>
          <a:noFill/>
        </p:spPr>
        <p:txBody>
          <a:bodyPr wrap="none" rtlCol="0">
            <a:spAutoFit/>
          </a:bodyPr>
          <a:lstStyle/>
          <a:p>
            <a:r>
              <a:rPr lang="en-US" altLang="zh-CN" sz="2400" b="1" dirty="0">
                <a:solidFill>
                  <a:schemeClr val="bg2"/>
                </a:solidFill>
                <a:latin typeface="+mn-lt"/>
              </a:rPr>
              <a:t>p</a:t>
            </a:r>
            <a:r>
              <a:rPr lang="en-US" altLang="zh-CN" sz="2400" b="1" dirty="0" smtClean="0">
                <a:solidFill>
                  <a:schemeClr val="bg2"/>
                </a:solidFill>
                <a:latin typeface="+mn-lt"/>
              </a:rPr>
              <a:t>rintf</a:t>
            </a:r>
            <a:r>
              <a:rPr lang="zh-CN" altLang="en-US" sz="2400" b="1" dirty="0" smtClean="0">
                <a:solidFill>
                  <a:schemeClr val="bg2"/>
                </a:solidFill>
                <a:latin typeface="+mn-lt"/>
              </a:rPr>
              <a:t>计算执行是从右向左执行，</a:t>
            </a:r>
            <a:endParaRPr lang="en-US" altLang="zh-CN" sz="2400" b="1" dirty="0" smtClean="0">
              <a:solidFill>
                <a:schemeClr val="bg2"/>
              </a:solidFill>
              <a:latin typeface="+mn-lt"/>
            </a:endParaRPr>
          </a:p>
          <a:p>
            <a:r>
              <a:rPr lang="zh-CN" altLang="en-US" sz="2400" b="1" dirty="0" smtClean="0">
                <a:solidFill>
                  <a:schemeClr val="bg2"/>
                </a:solidFill>
                <a:latin typeface="+mn-lt"/>
              </a:rPr>
              <a:t>见本页和下页</a:t>
            </a:r>
            <a:r>
              <a:rPr lang="en-US" altLang="zh-CN" sz="2400" b="1" dirty="0" smtClean="0">
                <a:solidFill>
                  <a:schemeClr val="bg2"/>
                </a:solidFill>
                <a:latin typeface="+mn-lt"/>
              </a:rPr>
              <a:t>PPt</a:t>
            </a:r>
            <a:r>
              <a:rPr lang="zh-CN" altLang="en-US" sz="2400" b="1" dirty="0" smtClean="0">
                <a:solidFill>
                  <a:schemeClr val="bg2"/>
                </a:solidFill>
                <a:latin typeface="+mn-lt"/>
              </a:rPr>
              <a:t>。</a:t>
            </a:r>
            <a:endParaRPr lang="zh-CN" altLang="en-US" sz="2400" b="1" dirty="0">
              <a:solidFill>
                <a:schemeClr val="bg2"/>
              </a:solidFill>
              <a:latin typeface="+mn-lt"/>
            </a:endParaRPr>
          </a:p>
        </p:txBody>
      </p:sp>
      <p:pic>
        <p:nvPicPr>
          <p:cNvPr id="6" name="图片 5"/>
          <p:cNvPicPr>
            <a:picLocks noChangeAspect="1"/>
          </p:cNvPicPr>
          <p:nvPr/>
        </p:nvPicPr>
        <p:blipFill>
          <a:blip r:embed="rId2"/>
          <a:stretch>
            <a:fillRect/>
          </a:stretch>
        </p:blipFill>
        <p:spPr>
          <a:xfrm>
            <a:off x="3347864" y="5231085"/>
            <a:ext cx="5553075" cy="1438275"/>
          </a:xfrm>
          <a:prstGeom prst="rect">
            <a:avLst/>
          </a:prstGeom>
        </p:spPr>
      </p:pic>
    </p:spTree>
    <p:extLst>
      <p:ext uri="{BB962C8B-B14F-4D97-AF65-F5344CB8AC3E}">
        <p14:creationId xmlns:p14="http://schemas.microsoft.com/office/powerpoint/2010/main" val="3540543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a:t>
            </a:r>
            <a:r>
              <a:rPr lang="en-US" altLang="zh-CN" dirty="0"/>
              <a:t>:</a:t>
            </a:r>
            <a:r>
              <a:rPr lang="zh-CN" altLang="en-US" sz="3200" dirty="0"/>
              <a:t>求</a:t>
            </a:r>
            <a:r>
              <a:rPr lang="en-US" altLang="zh-CN" sz="3200" dirty="0"/>
              <a:t>p-a</a:t>
            </a:r>
            <a:r>
              <a:rPr lang="zh-CN" altLang="en-US" sz="3200" dirty="0"/>
              <a:t>和</a:t>
            </a:r>
            <a:r>
              <a:rPr lang="en-US" altLang="zh-CN" sz="3200" dirty="0"/>
              <a:t>++(</a:t>
            </a:r>
            <a:r>
              <a:rPr lang="zh-CN" altLang="en-US" sz="3200" dirty="0"/>
              <a:t>*</a:t>
            </a:r>
            <a:r>
              <a:rPr lang="en-US" altLang="zh-CN" sz="3200" dirty="0"/>
              <a:t>(++p))</a:t>
            </a:r>
            <a:r>
              <a:rPr lang="zh-CN" altLang="en-US" sz="3200" dirty="0"/>
              <a:t>的</a:t>
            </a:r>
            <a:r>
              <a:rPr lang="zh-CN" altLang="en-US" sz="3200" dirty="0" smtClean="0"/>
              <a:t>值</a:t>
            </a:r>
            <a:r>
              <a:rPr lang="en-US" altLang="zh-CN" sz="3200" dirty="0" smtClean="0"/>
              <a:t>(2/2)</a:t>
            </a:r>
            <a:endParaRPr lang="zh-CN" altLang="en-US" sz="3200" dirty="0"/>
          </a:p>
        </p:txBody>
      </p:sp>
      <p:sp>
        <p:nvSpPr>
          <p:cNvPr id="4" name="矩形 3"/>
          <p:cNvSpPr/>
          <p:nvPr/>
        </p:nvSpPr>
        <p:spPr>
          <a:xfrm>
            <a:off x="35496" y="1988840"/>
            <a:ext cx="8928992" cy="3416320"/>
          </a:xfrm>
          <a:prstGeom prst="rect">
            <a:avLst/>
          </a:prstGeom>
        </p:spPr>
        <p:txBody>
          <a:bodyPr wrap="square">
            <a:spAutoFit/>
          </a:bodyPr>
          <a:lstStyle/>
          <a:p>
            <a:r>
              <a:rPr lang="en-US" altLang="zh-CN" sz="2400" b="1" dirty="0"/>
              <a:t>#include&lt;stdio.h&gt;</a:t>
            </a:r>
          </a:p>
          <a:p>
            <a:r>
              <a:rPr lang="en-US" altLang="zh-CN" sz="2400" b="1" dirty="0" err="1"/>
              <a:t>int</a:t>
            </a:r>
            <a:r>
              <a:rPr lang="en-US" altLang="zh-CN" sz="2400" b="1" dirty="0"/>
              <a:t> </a:t>
            </a:r>
            <a:r>
              <a:rPr lang="en-US" altLang="zh-CN" sz="2400" b="1" dirty="0" smtClean="0"/>
              <a:t>main()</a:t>
            </a:r>
            <a:endParaRPr lang="en-US" altLang="zh-CN" sz="2400" b="1" dirty="0"/>
          </a:p>
          <a:p>
            <a:r>
              <a:rPr lang="en-US" altLang="zh-CN" sz="2400" b="1" dirty="0"/>
              <a:t>{</a:t>
            </a:r>
          </a:p>
          <a:p>
            <a:r>
              <a:rPr lang="en-US" altLang="zh-CN" sz="2400" b="1" dirty="0"/>
              <a:t>     int a[]={0,1,2,20,77,15,30,7,8,9},*p=a+5;</a:t>
            </a:r>
          </a:p>
          <a:p>
            <a:r>
              <a:rPr lang="en-US" altLang="zh-CN" sz="2400" b="1" dirty="0"/>
              <a:t>     printf("p-a=%d *p=%d\n",p-a,*p);</a:t>
            </a:r>
          </a:p>
          <a:p>
            <a:r>
              <a:rPr lang="en-US" altLang="zh-CN" sz="2400" b="1" dirty="0" smtClean="0"/>
              <a:t>     printf</a:t>
            </a:r>
            <a:r>
              <a:rPr lang="en-US" altLang="zh-CN" sz="2400" b="1" dirty="0"/>
              <a:t>("++(*++p)=%d p-a=%d *p=%d \n",++(*++p),p-a,*p);</a:t>
            </a:r>
          </a:p>
          <a:p>
            <a:r>
              <a:rPr lang="en-US" altLang="zh-CN" sz="2400" b="1" dirty="0"/>
              <a:t>     </a:t>
            </a:r>
            <a:r>
              <a:rPr lang="en-US" altLang="zh-CN" sz="2400" b="1" dirty="0" err="1" smtClean="0"/>
              <a:t>printf</a:t>
            </a:r>
            <a:r>
              <a:rPr lang="en-US" altLang="zh-CN" sz="2400" b="1" dirty="0"/>
              <a:t>("a[6]=%d",a[6]);</a:t>
            </a:r>
          </a:p>
          <a:p>
            <a:r>
              <a:rPr lang="en-US" altLang="zh-CN" sz="2400" b="1" dirty="0"/>
              <a:t>     </a:t>
            </a:r>
            <a:r>
              <a:rPr lang="en-US" altLang="zh-CN" sz="2400" b="1" dirty="0" smtClean="0"/>
              <a:t>return </a:t>
            </a:r>
            <a:r>
              <a:rPr lang="en-US" altLang="zh-CN" sz="2400" b="1" dirty="0"/>
              <a:t>0;</a:t>
            </a:r>
          </a:p>
          <a:p>
            <a:r>
              <a:rPr lang="en-US" altLang="zh-CN" sz="2400" b="1" dirty="0"/>
              <a:t>} </a:t>
            </a:r>
          </a:p>
        </p:txBody>
      </p:sp>
      <p:pic>
        <p:nvPicPr>
          <p:cNvPr id="3" name="图片 2"/>
          <p:cNvPicPr>
            <a:picLocks noChangeAspect="1"/>
          </p:cNvPicPr>
          <p:nvPr/>
        </p:nvPicPr>
        <p:blipFill>
          <a:blip r:embed="rId2"/>
          <a:stretch>
            <a:fillRect/>
          </a:stretch>
        </p:blipFill>
        <p:spPr>
          <a:xfrm>
            <a:off x="2915816" y="5259660"/>
            <a:ext cx="5619750" cy="1409700"/>
          </a:xfrm>
          <a:prstGeom prst="rect">
            <a:avLst/>
          </a:prstGeom>
        </p:spPr>
      </p:pic>
    </p:spTree>
    <p:extLst>
      <p:ext uri="{BB962C8B-B14F-4D97-AF65-F5344CB8AC3E}">
        <p14:creationId xmlns:p14="http://schemas.microsoft.com/office/powerpoint/2010/main" val="1666435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977596" y="2896791"/>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6.1.4 </a:t>
            </a:r>
            <a:r>
              <a:rPr lang="zh-CN" altLang="en-US" sz="4000" b="1" dirty="0" smtClean="0">
                <a:effectLst>
                  <a:outerShdw blurRad="38100" dist="38100" dir="2700000" algn="tl">
                    <a:srgbClr val="C0C0C0"/>
                  </a:outerShdw>
                </a:effectLst>
                <a:ea typeface="黑体" panose="02010609060101010101" pitchFamily="2" charset="-122"/>
              </a:rPr>
              <a:t>指针与函数</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1228179740"/>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title"/>
          </p:nvPr>
        </p:nvSpPr>
        <p:spPr>
          <a:xfrm>
            <a:off x="744220" y="835343"/>
            <a:ext cx="8435975" cy="723900"/>
          </a:xfrm>
          <a:noFill/>
        </p:spPr>
        <p:txBody>
          <a:bodyPr lIns="92075" tIns="46038" rIns="92075" bIns="46038" anchor="b"/>
          <a:lstStyle/>
          <a:p>
            <a:pPr eaLnBrk="1" hangingPunct="1"/>
            <a:r>
              <a:rPr lang="zh-CN" altLang="en-US" dirty="0" smtClean="0"/>
              <a:t>指针与函数</a:t>
            </a:r>
          </a:p>
        </p:txBody>
      </p:sp>
      <p:sp>
        <p:nvSpPr>
          <p:cNvPr id="47108" name="Rectangle 30"/>
          <p:cNvSpPr>
            <a:spLocks noChangeArrowheads="1"/>
          </p:cNvSpPr>
          <p:nvPr/>
        </p:nvSpPr>
        <p:spPr bwMode="auto">
          <a:xfrm>
            <a:off x="596265" y="4016375"/>
            <a:ext cx="3276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Tx/>
              <a:buFontTx/>
              <a:buNone/>
            </a:pPr>
            <a:endParaRPr kumimoji="1" lang="zh-CN" altLang="en-US"/>
          </a:p>
        </p:txBody>
      </p:sp>
      <p:sp>
        <p:nvSpPr>
          <p:cNvPr id="26" name="内容占位符 1"/>
          <p:cNvSpPr>
            <a:spLocks noGrp="1"/>
          </p:cNvSpPr>
          <p:nvPr>
            <p:ph idx="1"/>
          </p:nvPr>
        </p:nvSpPr>
        <p:spPr>
          <a:xfrm>
            <a:off x="763185" y="1700808"/>
            <a:ext cx="7488758" cy="1296144"/>
          </a:xfrm>
        </p:spPr>
        <p:txBody>
          <a:bodyPr/>
          <a:lstStyle/>
          <a:p>
            <a:r>
              <a:rPr lang="zh-CN" altLang="en-US" dirty="0" smtClean="0"/>
              <a:t>本</a:t>
            </a:r>
            <a:r>
              <a:rPr lang="zh-CN" altLang="en-US" dirty="0"/>
              <a:t>节主要讨论在函数之间传递指针的几种方式</a:t>
            </a:r>
            <a:r>
              <a:rPr lang="zh-CN" altLang="en-US" dirty="0" smtClean="0"/>
              <a:t>，体验指针存在的</a:t>
            </a:r>
            <a:r>
              <a:rPr lang="zh-CN" altLang="en-US" dirty="0"/>
              <a:t>必要性和优势</a:t>
            </a:r>
            <a:r>
              <a:rPr lang="zh-CN" altLang="en-US" dirty="0" smtClean="0"/>
              <a:t>。</a:t>
            </a:r>
            <a:endParaRPr lang="zh-CN" altLang="en-US" dirty="0"/>
          </a:p>
        </p:txBody>
      </p:sp>
    </p:spTree>
    <p:extLst>
      <p:ext uri="{BB962C8B-B14F-4D97-AF65-F5344CB8AC3E}">
        <p14:creationId xmlns:p14="http://schemas.microsoft.com/office/powerpoint/2010/main" val="2418253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title"/>
          </p:nvPr>
        </p:nvSpPr>
        <p:spPr>
          <a:xfrm>
            <a:off x="744220" y="835343"/>
            <a:ext cx="8435975" cy="723900"/>
          </a:xfrm>
          <a:noFill/>
        </p:spPr>
        <p:txBody>
          <a:bodyPr lIns="92075" tIns="46038" rIns="92075" bIns="46038" anchor="b"/>
          <a:lstStyle/>
          <a:p>
            <a:pPr eaLnBrk="1" hangingPunct="1"/>
            <a:r>
              <a:rPr lang="zh-CN" altLang="en-US" dirty="0" smtClean="0"/>
              <a:t>指针与函数</a:t>
            </a:r>
          </a:p>
        </p:txBody>
      </p:sp>
      <p:sp>
        <p:nvSpPr>
          <p:cNvPr id="47108" name="Rectangle 30"/>
          <p:cNvSpPr>
            <a:spLocks noChangeArrowheads="1"/>
          </p:cNvSpPr>
          <p:nvPr/>
        </p:nvSpPr>
        <p:spPr bwMode="auto">
          <a:xfrm>
            <a:off x="596265" y="4016375"/>
            <a:ext cx="3276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Tx/>
              <a:buFontTx/>
              <a:buNone/>
            </a:pPr>
            <a:endParaRPr kumimoji="1" lang="zh-CN" altLang="en-US"/>
          </a:p>
        </p:txBody>
      </p:sp>
      <p:sp>
        <p:nvSpPr>
          <p:cNvPr id="26" name="内容占位符 1"/>
          <p:cNvSpPr>
            <a:spLocks noGrp="1"/>
          </p:cNvSpPr>
          <p:nvPr>
            <p:ph idx="1"/>
          </p:nvPr>
        </p:nvSpPr>
        <p:spPr>
          <a:xfrm>
            <a:off x="763185" y="1700808"/>
            <a:ext cx="7488758" cy="4536504"/>
          </a:xfrm>
        </p:spPr>
        <p:txBody>
          <a:bodyPr/>
          <a:lstStyle/>
          <a:p>
            <a:r>
              <a:rPr lang="en-US" altLang="zh-CN" dirty="0" smtClean="0"/>
              <a:t>C</a:t>
            </a:r>
            <a:r>
              <a:rPr lang="zh-CN" altLang="en-US" dirty="0" smtClean="0"/>
              <a:t>函数传递方式：</a:t>
            </a:r>
            <a:endParaRPr lang="en-US" altLang="zh-CN" dirty="0" smtClean="0"/>
          </a:p>
          <a:p>
            <a:pPr lvl="1"/>
            <a:r>
              <a:rPr lang="zh-CN" altLang="en-US" dirty="0" smtClean="0"/>
              <a:t>值传递</a:t>
            </a:r>
            <a:endParaRPr lang="en-US" altLang="zh-CN" dirty="0" smtClean="0"/>
          </a:p>
          <a:p>
            <a:pPr lvl="2"/>
            <a:r>
              <a:rPr lang="zh-CN" altLang="en-US" dirty="0" smtClean="0"/>
              <a:t>整型、实型、字符型等类型</a:t>
            </a:r>
            <a:endParaRPr lang="en-US" altLang="zh-CN" dirty="0" smtClean="0"/>
          </a:p>
          <a:p>
            <a:pPr lvl="2"/>
            <a:r>
              <a:rPr lang="zh-CN" altLang="en-US" dirty="0" smtClean="0"/>
              <a:t>单向</a:t>
            </a:r>
            <a:endParaRPr lang="en-US" altLang="zh-CN" dirty="0" smtClean="0"/>
          </a:p>
          <a:p>
            <a:pPr lvl="2"/>
            <a:r>
              <a:rPr lang="zh-CN" altLang="en-US" dirty="0"/>
              <a:t>被</a:t>
            </a:r>
            <a:r>
              <a:rPr lang="zh-CN" altLang="en-US" dirty="0" smtClean="0"/>
              <a:t>调函数通过</a:t>
            </a:r>
            <a:r>
              <a:rPr lang="en-US" altLang="zh-CN" dirty="0" smtClean="0"/>
              <a:t>return</a:t>
            </a:r>
            <a:r>
              <a:rPr lang="zh-CN" altLang="en-US" dirty="0" smtClean="0"/>
              <a:t>语句返回一个值</a:t>
            </a:r>
            <a:endParaRPr lang="en-US" altLang="zh-CN" dirty="0" smtClean="0"/>
          </a:p>
          <a:p>
            <a:pPr lvl="1"/>
            <a:r>
              <a:rPr lang="zh-CN" altLang="en-US" dirty="0" smtClean="0"/>
              <a:t>地址传递</a:t>
            </a:r>
            <a:endParaRPr lang="en-US" altLang="zh-CN" dirty="0" smtClean="0"/>
          </a:p>
          <a:p>
            <a:pPr lvl="2"/>
            <a:r>
              <a:rPr lang="zh-CN" altLang="en-US" dirty="0" smtClean="0"/>
              <a:t>数组、指针</a:t>
            </a:r>
            <a:endParaRPr lang="en-US" altLang="zh-CN" dirty="0" smtClean="0"/>
          </a:p>
          <a:p>
            <a:pPr lvl="2"/>
            <a:r>
              <a:rPr lang="zh-CN" altLang="en-US" dirty="0" smtClean="0"/>
              <a:t>双向</a:t>
            </a:r>
            <a:endParaRPr lang="en-US" altLang="zh-CN" dirty="0" smtClean="0"/>
          </a:p>
          <a:p>
            <a:pPr lvl="2"/>
            <a:r>
              <a:rPr lang="zh-CN" altLang="en-US" dirty="0" smtClean="0"/>
              <a:t>返回多个值</a:t>
            </a:r>
            <a:endParaRPr lang="en-US" altLang="zh-CN" dirty="0" smtClean="0"/>
          </a:p>
          <a:p>
            <a:endParaRPr lang="zh-CN" altLang="en-US" dirty="0"/>
          </a:p>
        </p:txBody>
      </p:sp>
    </p:spTree>
    <p:extLst>
      <p:ext uri="{BB962C8B-B14F-4D97-AF65-F5344CB8AC3E}">
        <p14:creationId xmlns:p14="http://schemas.microsoft.com/office/powerpoint/2010/main" val="486600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5268" name="Rectangle 4"/>
          <p:cNvSpPr>
            <a:spLocks noChangeArrowheads="1"/>
          </p:cNvSpPr>
          <p:nvPr/>
        </p:nvSpPr>
        <p:spPr bwMode="auto">
          <a:xfrm>
            <a:off x="1410891" y="2172970"/>
            <a:ext cx="3561160" cy="260604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accent2">
                    <a:lumMod val="75000"/>
                  </a:schemeClr>
                </a:solidFill>
                <a:effectLst/>
                <a:uLnTx/>
                <a:uFillTx/>
                <a:latin typeface="Courier New" panose="02070309020205020404" pitchFamily="49" charset="0"/>
                <a:ea typeface="宋体" panose="02010600030101010101" pitchFamily="2" charset="-122"/>
                <a:cs typeface="+mn-cs"/>
              </a:rPr>
              <a:t>int</a:t>
            </a: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main()</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a:t>
            </a:r>
            <a:r>
              <a:rPr kumimoji="1" lang="en-US" altLang="zh-CN" sz="1500" b="1" i="0" u="none" strike="noStrike" kern="1200" cap="none" spc="0" normalizeH="0" baseline="0" noProof="0" dirty="0">
                <a:ln>
                  <a:noFill/>
                </a:ln>
                <a:solidFill>
                  <a:schemeClr val="accent2">
                    <a:lumMod val="75000"/>
                  </a:schemeClr>
                </a:solidFill>
                <a:effectLst/>
                <a:uLnTx/>
                <a:uFillTx/>
                <a:latin typeface="Courier New" panose="02070309020205020404" pitchFamily="49" charset="0"/>
                <a:ea typeface="宋体" panose="02010600030101010101" pitchFamily="2" charset="-122"/>
                <a:cs typeface="+mn-cs"/>
              </a:rPr>
              <a:t>int</a:t>
            </a: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a, b;</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a = 5;</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b = 9;</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Swap(a, b);</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printf(</a:t>
            </a:r>
            <a:r>
              <a:rPr kumimoji="0"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a=%d,b=%d</a:t>
            </a:r>
            <a:r>
              <a:rPr kumimoji="0"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,a,b);</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a:t>
            </a:r>
            <a:r>
              <a:rPr kumimoji="1" lang="en-US" altLang="zh-CN" sz="1500" b="1" i="0" u="none" strike="noStrike" kern="1200" cap="none" spc="0" normalizeH="0" baseline="0" noProof="0" dirty="0">
                <a:ln>
                  <a:noFill/>
                </a:ln>
                <a:solidFill>
                  <a:schemeClr val="accent2">
                    <a:lumMod val="75000"/>
                  </a:schemeClr>
                </a:solidFill>
                <a:effectLst/>
                <a:uLnTx/>
                <a:uFillTx/>
                <a:latin typeface="Courier New" panose="02070309020205020404" pitchFamily="49" charset="0"/>
                <a:ea typeface="宋体" panose="02010600030101010101" pitchFamily="2" charset="-122"/>
                <a:cs typeface="+mn-cs"/>
              </a:rPr>
              <a:t>return</a:t>
            </a: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0;</a:t>
            </a:r>
          </a:p>
          <a:p>
            <a:pPr marL="0" marR="0" lvl="0" indent="0" algn="l" defTabSz="914400" rtl="0" eaLnBrk="1" fontAlgn="base" latinLnBrk="0" hangingPunct="1">
              <a:lnSpc>
                <a:spcPts val="22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a:t>
            </a:r>
            <a:endPar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p:txBody>
      </p:sp>
      <p:sp>
        <p:nvSpPr>
          <p:cNvPr id="395269" name="Rectangle 5"/>
          <p:cNvSpPr>
            <a:spLocks noChangeArrowheads="1"/>
          </p:cNvSpPr>
          <p:nvPr/>
        </p:nvSpPr>
        <p:spPr bwMode="auto">
          <a:xfrm>
            <a:off x="4939904" y="2095580"/>
            <a:ext cx="2811780" cy="1691640"/>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void</a:t>
            </a: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Swap(</a:t>
            </a:r>
            <a:r>
              <a:rPr kumimoji="1" lang="en-US" altLang="zh-CN" sz="15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int</a:t>
            </a:r>
            <a:r>
              <a:rPr kumimoji="1" lang="en-US" altLang="zh-CN" sz="15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x, </a:t>
            </a:r>
            <a:r>
              <a:rPr kumimoji="1" lang="en-US" altLang="zh-CN" sz="15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int</a:t>
            </a:r>
            <a:r>
              <a:rPr kumimoji="1" lang="en-US" altLang="zh-CN" sz="15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y</a:t>
            </a: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r>
              <a:rPr kumimoji="1" lang="en-US" altLang="zh-CN" sz="15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int</a:t>
            </a: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temp;</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temp = x;</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x = y;</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y = temp;</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5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a:t>
            </a:r>
          </a:p>
        </p:txBody>
      </p:sp>
      <p:sp>
        <p:nvSpPr>
          <p:cNvPr id="395270" name="Rectangle 6"/>
          <p:cNvSpPr/>
          <p:nvPr/>
        </p:nvSpPr>
        <p:spPr>
          <a:xfrm>
            <a:off x="2736056" y="4645899"/>
            <a:ext cx="466725" cy="389334"/>
          </a:xfrm>
          <a:prstGeom prst="rect">
            <a:avLst/>
          </a:prstGeom>
          <a:solidFill>
            <a:srgbClr val="000080"/>
          </a:solidFill>
          <a:ln w="12700">
            <a:noFill/>
          </a:ln>
          <a:effectLst>
            <a:outerShdw dist="35921" dir="2699999" algn="ctr" rotWithShape="0">
              <a:schemeClr val="accent2"/>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endParaRPr lang="zh-CN" altLang="en-US" sz="2100" dirty="0">
              <a:solidFill>
                <a:schemeClr val="bg1"/>
              </a:solidFill>
              <a:latin typeface="Times New Roman" panose="02020603050405020304" pitchFamily="18" charset="0"/>
            </a:endParaRPr>
          </a:p>
        </p:txBody>
      </p:sp>
      <p:sp>
        <p:nvSpPr>
          <p:cNvPr id="395271" name="Rectangle 7"/>
          <p:cNvSpPr/>
          <p:nvPr/>
        </p:nvSpPr>
        <p:spPr>
          <a:xfrm>
            <a:off x="5698331" y="4624467"/>
            <a:ext cx="466725" cy="389334"/>
          </a:xfrm>
          <a:prstGeom prst="rect">
            <a:avLst/>
          </a:prstGeom>
          <a:solidFill>
            <a:srgbClr val="008000"/>
          </a:solidFill>
          <a:ln w="12700">
            <a:noFill/>
          </a:ln>
          <a:effectLst>
            <a:outerShdw dist="35921" dir="2699999" algn="ctr" rotWithShape="0">
              <a:srgbClr val="FFFF00"/>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endParaRPr lang="zh-CN" altLang="en-US" sz="2100" dirty="0">
              <a:solidFill>
                <a:schemeClr val="bg1"/>
              </a:solidFill>
              <a:latin typeface="Times New Roman" panose="02020603050405020304" pitchFamily="18" charset="0"/>
            </a:endParaRPr>
          </a:p>
        </p:txBody>
      </p:sp>
      <p:sp>
        <p:nvSpPr>
          <p:cNvPr id="395272" name="Rectangle 8"/>
          <p:cNvSpPr/>
          <p:nvPr/>
        </p:nvSpPr>
        <p:spPr>
          <a:xfrm>
            <a:off x="4856560" y="4619705"/>
            <a:ext cx="466725" cy="389334"/>
          </a:xfrm>
          <a:prstGeom prst="rect">
            <a:avLst/>
          </a:prstGeom>
          <a:solidFill>
            <a:srgbClr val="008000"/>
          </a:solidFill>
          <a:ln w="12700">
            <a:noFill/>
          </a:ln>
          <a:effectLst>
            <a:outerShdw dist="35921" dir="2699999" algn="ctr" rotWithShape="0">
              <a:srgbClr val="FFFF00"/>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endParaRPr lang="zh-CN" altLang="en-US" sz="2100" dirty="0">
              <a:solidFill>
                <a:schemeClr val="bg1"/>
              </a:solidFill>
              <a:latin typeface="Times New Roman" panose="02020603050405020304" pitchFamily="18" charset="0"/>
            </a:endParaRPr>
          </a:p>
        </p:txBody>
      </p:sp>
      <p:sp>
        <p:nvSpPr>
          <p:cNvPr id="395273" name="Rectangle 9"/>
          <p:cNvSpPr/>
          <p:nvPr/>
        </p:nvSpPr>
        <p:spPr>
          <a:xfrm>
            <a:off x="3695700" y="4630420"/>
            <a:ext cx="466725" cy="389335"/>
          </a:xfrm>
          <a:prstGeom prst="rect">
            <a:avLst/>
          </a:prstGeom>
          <a:solidFill>
            <a:srgbClr val="000080"/>
          </a:solidFill>
          <a:ln w="12700">
            <a:noFill/>
          </a:ln>
          <a:effectLst>
            <a:outerShdw dist="35921" dir="2699999" algn="ctr" rotWithShape="0">
              <a:schemeClr val="accent2"/>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endParaRPr lang="zh-CN" altLang="en-US" sz="2100" dirty="0">
              <a:solidFill>
                <a:schemeClr val="bg1"/>
              </a:solidFill>
              <a:latin typeface="Times New Roman" panose="02020603050405020304" pitchFamily="18" charset="0"/>
            </a:endParaRPr>
          </a:p>
        </p:txBody>
      </p:sp>
      <p:sp>
        <p:nvSpPr>
          <p:cNvPr id="395274" name="Text Box 10"/>
          <p:cNvSpPr txBox="1"/>
          <p:nvPr/>
        </p:nvSpPr>
        <p:spPr>
          <a:xfrm>
            <a:off x="4940141" y="4645899"/>
            <a:ext cx="31623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2100" dirty="0">
                <a:solidFill>
                  <a:schemeClr val="bg1"/>
                </a:solidFill>
                <a:latin typeface="Times New Roman" panose="02020603050405020304" pitchFamily="18" charset="0"/>
              </a:rPr>
              <a:t>5</a:t>
            </a:r>
            <a:endParaRPr lang="en-US" altLang="zh-CN" sz="2100" dirty="0">
              <a:solidFill>
                <a:schemeClr val="hlink"/>
              </a:solidFill>
              <a:latin typeface="Times New Roman" panose="02020603050405020304" pitchFamily="18" charset="0"/>
            </a:endParaRPr>
          </a:p>
        </p:txBody>
      </p:sp>
      <p:sp>
        <p:nvSpPr>
          <p:cNvPr id="395275" name="Text Box 11"/>
          <p:cNvSpPr txBox="1"/>
          <p:nvPr/>
        </p:nvSpPr>
        <p:spPr>
          <a:xfrm>
            <a:off x="2814876" y="4631611"/>
            <a:ext cx="31623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2100" dirty="0">
                <a:solidFill>
                  <a:schemeClr val="bg1"/>
                </a:solidFill>
                <a:latin typeface="Times New Roman" panose="02020603050405020304" pitchFamily="18" charset="0"/>
              </a:rPr>
              <a:t>5</a:t>
            </a:r>
            <a:endParaRPr lang="en-US" altLang="zh-CN" sz="2100" dirty="0">
              <a:solidFill>
                <a:srgbClr val="CC3300"/>
              </a:solidFill>
              <a:latin typeface="Times New Roman" panose="02020603050405020304" pitchFamily="18" charset="0"/>
            </a:endParaRPr>
          </a:p>
        </p:txBody>
      </p:sp>
      <p:sp>
        <p:nvSpPr>
          <p:cNvPr id="395276" name="Text Box 12"/>
          <p:cNvSpPr txBox="1"/>
          <p:nvPr/>
        </p:nvSpPr>
        <p:spPr>
          <a:xfrm>
            <a:off x="2813447" y="4353005"/>
            <a:ext cx="34290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2100" dirty="0">
                <a:solidFill>
                  <a:schemeClr val="tx2"/>
                </a:solidFill>
                <a:latin typeface="Courier New" panose="02070309020205020404" pitchFamily="49" charset="0"/>
              </a:rPr>
              <a:t>a</a:t>
            </a:r>
          </a:p>
        </p:txBody>
      </p:sp>
      <p:sp>
        <p:nvSpPr>
          <p:cNvPr id="395277" name="Text Box 13"/>
          <p:cNvSpPr txBox="1"/>
          <p:nvPr/>
        </p:nvSpPr>
        <p:spPr>
          <a:xfrm>
            <a:off x="3795713" y="4341099"/>
            <a:ext cx="34290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2100" dirty="0">
                <a:solidFill>
                  <a:schemeClr val="tx2"/>
                </a:solidFill>
                <a:latin typeface="Courier New" panose="02070309020205020404" pitchFamily="49" charset="0"/>
              </a:rPr>
              <a:t>b</a:t>
            </a:r>
          </a:p>
        </p:txBody>
      </p:sp>
      <p:sp>
        <p:nvSpPr>
          <p:cNvPr id="36876" name="Line 14"/>
          <p:cNvSpPr/>
          <p:nvPr/>
        </p:nvSpPr>
        <p:spPr>
          <a:xfrm>
            <a:off x="4499372" y="1143080"/>
            <a:ext cx="0" cy="5143500"/>
          </a:xfrm>
          <a:prstGeom prst="line">
            <a:avLst/>
          </a:prstGeom>
          <a:ln w="57150" cap="flat" cmpd="sng">
            <a:solidFill>
              <a:srgbClr val="CC9900"/>
            </a:solidFill>
            <a:prstDash val="lgDashDotDot"/>
            <a:headEnd type="none" w="sm" len="sm"/>
            <a:tailEnd type="none" w="sm" len="sm"/>
          </a:ln>
        </p:spPr>
      </p:sp>
      <p:sp>
        <p:nvSpPr>
          <p:cNvPr id="36877" name="Line 15"/>
          <p:cNvSpPr/>
          <p:nvPr/>
        </p:nvSpPr>
        <p:spPr>
          <a:xfrm>
            <a:off x="1143000" y="2080101"/>
            <a:ext cx="6858000" cy="0"/>
          </a:xfrm>
          <a:prstGeom prst="line">
            <a:avLst/>
          </a:prstGeom>
          <a:ln w="57150" cap="flat" cmpd="sng">
            <a:solidFill>
              <a:srgbClr val="CC9900"/>
            </a:solidFill>
            <a:prstDash val="lgDashDotDot"/>
            <a:headEnd type="none" w="sm" len="sm"/>
            <a:tailEnd type="none" w="sm" len="sm"/>
          </a:ln>
        </p:spPr>
      </p:sp>
      <p:sp>
        <p:nvSpPr>
          <p:cNvPr id="395280" name="Rectangle 16"/>
          <p:cNvSpPr/>
          <p:nvPr/>
        </p:nvSpPr>
        <p:spPr>
          <a:xfrm>
            <a:off x="1494235" y="4687570"/>
            <a:ext cx="802481" cy="389335"/>
          </a:xfrm>
          <a:prstGeom prst="rect">
            <a:avLst/>
          </a:prstGeom>
          <a:solidFill>
            <a:srgbClr val="000080"/>
          </a:solidFill>
          <a:ln w="12700">
            <a:noFill/>
          </a:ln>
          <a:effectLst>
            <a:outerShdw dist="35921" dir="2699999" algn="ctr" rotWithShape="0">
              <a:schemeClr val="accent2"/>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chemeClr val="bg1"/>
                </a:solidFill>
                <a:latin typeface="幼圆" panose="02010509060101010101" pitchFamily="49" charset="-122"/>
                <a:ea typeface="幼圆" panose="02010509060101010101" pitchFamily="49" charset="-122"/>
              </a:rPr>
              <a:t>实 参</a:t>
            </a:r>
          </a:p>
        </p:txBody>
      </p:sp>
      <p:sp>
        <p:nvSpPr>
          <p:cNvPr id="395281" name="Rectangle 17"/>
          <p:cNvSpPr/>
          <p:nvPr/>
        </p:nvSpPr>
        <p:spPr>
          <a:xfrm>
            <a:off x="6569869" y="4633992"/>
            <a:ext cx="802481" cy="389334"/>
          </a:xfrm>
          <a:prstGeom prst="rect">
            <a:avLst/>
          </a:prstGeom>
          <a:solidFill>
            <a:srgbClr val="008000"/>
          </a:solidFill>
          <a:ln w="12700">
            <a:noFill/>
          </a:ln>
          <a:effectLst>
            <a:outerShdw dist="35921" dir="2699999" algn="ctr" rotWithShape="0">
              <a:srgbClr val="FFFF00"/>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1800" dirty="0">
                <a:solidFill>
                  <a:schemeClr val="bg1"/>
                </a:solidFill>
                <a:latin typeface="幼圆" panose="02010509060101010101" pitchFamily="49" charset="-122"/>
                <a:ea typeface="幼圆" panose="02010509060101010101" pitchFamily="49" charset="-122"/>
              </a:rPr>
              <a:t>形 参</a:t>
            </a:r>
          </a:p>
        </p:txBody>
      </p:sp>
      <p:grpSp>
        <p:nvGrpSpPr>
          <p:cNvPr id="2" name="Group 18"/>
          <p:cNvGrpSpPr/>
          <p:nvPr/>
        </p:nvGrpSpPr>
        <p:grpSpPr>
          <a:xfrm>
            <a:off x="2969419" y="4992370"/>
            <a:ext cx="2157413" cy="406004"/>
            <a:chOff x="1449" y="1885"/>
            <a:chExt cx="1812" cy="341"/>
          </a:xfrm>
        </p:grpSpPr>
        <p:sp>
          <p:nvSpPr>
            <p:cNvPr id="36918" name="Line 19"/>
            <p:cNvSpPr/>
            <p:nvPr/>
          </p:nvSpPr>
          <p:spPr>
            <a:xfrm>
              <a:off x="1479" y="2226"/>
              <a:ext cx="1782" cy="0"/>
            </a:xfrm>
            <a:prstGeom prst="line">
              <a:avLst/>
            </a:prstGeom>
            <a:ln w="57150" cap="sq" cmpd="sng">
              <a:solidFill>
                <a:schemeClr val="tx2"/>
              </a:solidFill>
              <a:prstDash val="solid"/>
              <a:headEnd type="none" w="sm" len="sm"/>
              <a:tailEnd type="none" w="sm" len="sm"/>
            </a:ln>
          </p:spPr>
        </p:sp>
        <p:sp>
          <p:nvSpPr>
            <p:cNvPr id="36919" name="Line 20"/>
            <p:cNvSpPr/>
            <p:nvPr/>
          </p:nvSpPr>
          <p:spPr>
            <a:xfrm flipV="1">
              <a:off x="1449" y="1940"/>
              <a:ext cx="0" cy="286"/>
            </a:xfrm>
            <a:prstGeom prst="line">
              <a:avLst/>
            </a:prstGeom>
            <a:ln w="57150" cap="sq" cmpd="sng">
              <a:solidFill>
                <a:schemeClr val="tx2"/>
              </a:solidFill>
              <a:prstDash val="solid"/>
              <a:headEnd type="none" w="sm" len="sm"/>
              <a:tailEnd type="none" w="sm" len="sm"/>
            </a:ln>
          </p:spPr>
        </p:sp>
        <p:sp>
          <p:nvSpPr>
            <p:cNvPr id="36920" name="Line 21"/>
            <p:cNvSpPr/>
            <p:nvPr/>
          </p:nvSpPr>
          <p:spPr>
            <a:xfrm flipV="1">
              <a:off x="3261" y="1885"/>
              <a:ext cx="0" cy="341"/>
            </a:xfrm>
            <a:prstGeom prst="line">
              <a:avLst/>
            </a:prstGeom>
            <a:ln w="57150" cap="sq" cmpd="sng">
              <a:solidFill>
                <a:schemeClr val="tx2"/>
              </a:solidFill>
              <a:prstDash val="solid"/>
              <a:headEnd type="none" w="sm" len="sm"/>
              <a:tailEnd type="triangle" w="med" len="med"/>
            </a:ln>
          </p:spPr>
        </p:sp>
      </p:grpSp>
      <p:grpSp>
        <p:nvGrpSpPr>
          <p:cNvPr id="3" name="Group 22"/>
          <p:cNvGrpSpPr/>
          <p:nvPr/>
        </p:nvGrpSpPr>
        <p:grpSpPr>
          <a:xfrm>
            <a:off x="3924300" y="5012611"/>
            <a:ext cx="2026444" cy="585788"/>
            <a:chOff x="2237" y="1909"/>
            <a:chExt cx="1702" cy="492"/>
          </a:xfrm>
        </p:grpSpPr>
        <p:sp>
          <p:nvSpPr>
            <p:cNvPr id="36915" name="Line 23"/>
            <p:cNvSpPr/>
            <p:nvPr/>
          </p:nvSpPr>
          <p:spPr>
            <a:xfrm>
              <a:off x="2237" y="2401"/>
              <a:ext cx="1702" cy="0"/>
            </a:xfrm>
            <a:prstGeom prst="line">
              <a:avLst/>
            </a:prstGeom>
            <a:ln w="57150" cap="sq" cmpd="sng">
              <a:solidFill>
                <a:schemeClr val="tx2"/>
              </a:solidFill>
              <a:prstDash val="solid"/>
              <a:headEnd type="none" w="sm" len="sm"/>
              <a:tailEnd type="none" w="sm" len="sm"/>
            </a:ln>
          </p:spPr>
        </p:sp>
        <p:sp>
          <p:nvSpPr>
            <p:cNvPr id="36916" name="Line 24"/>
            <p:cNvSpPr/>
            <p:nvPr/>
          </p:nvSpPr>
          <p:spPr>
            <a:xfrm flipV="1">
              <a:off x="3939" y="1909"/>
              <a:ext cx="0" cy="492"/>
            </a:xfrm>
            <a:prstGeom prst="line">
              <a:avLst/>
            </a:prstGeom>
            <a:ln w="57150" cap="sq" cmpd="sng">
              <a:solidFill>
                <a:schemeClr val="tx2"/>
              </a:solidFill>
              <a:prstDash val="solid"/>
              <a:headEnd type="none" w="sm" len="sm"/>
              <a:tailEnd type="triangle" w="med" len="med"/>
            </a:ln>
          </p:spPr>
        </p:sp>
        <p:sp>
          <p:nvSpPr>
            <p:cNvPr id="36917" name="Line 25"/>
            <p:cNvSpPr/>
            <p:nvPr/>
          </p:nvSpPr>
          <p:spPr>
            <a:xfrm flipV="1">
              <a:off x="2237" y="1921"/>
              <a:ext cx="0" cy="462"/>
            </a:xfrm>
            <a:prstGeom prst="line">
              <a:avLst/>
            </a:prstGeom>
            <a:ln w="57150" cap="sq" cmpd="sng">
              <a:solidFill>
                <a:schemeClr val="tx2"/>
              </a:solidFill>
              <a:prstDash val="solid"/>
              <a:headEnd type="none" w="sm" len="sm"/>
              <a:tailEnd type="none" w="sm" len="sm"/>
            </a:ln>
          </p:spPr>
        </p:sp>
      </p:grpSp>
      <p:sp>
        <p:nvSpPr>
          <p:cNvPr id="395290" name="Text Box 26"/>
          <p:cNvSpPr txBox="1"/>
          <p:nvPr/>
        </p:nvSpPr>
        <p:spPr>
          <a:xfrm>
            <a:off x="5785485" y="4624467"/>
            <a:ext cx="31623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2100" dirty="0">
                <a:solidFill>
                  <a:schemeClr val="bg1"/>
                </a:solidFill>
                <a:latin typeface="Times New Roman" panose="02020603050405020304" pitchFamily="18" charset="0"/>
              </a:rPr>
              <a:t>9</a:t>
            </a:r>
            <a:endParaRPr lang="en-US" altLang="zh-CN" sz="2100" dirty="0">
              <a:solidFill>
                <a:schemeClr val="hlink"/>
              </a:solidFill>
              <a:latin typeface="Times New Roman" panose="02020603050405020304" pitchFamily="18" charset="0"/>
            </a:endParaRPr>
          </a:p>
        </p:txBody>
      </p:sp>
      <p:sp>
        <p:nvSpPr>
          <p:cNvPr id="395291" name="Text Box 27"/>
          <p:cNvSpPr txBox="1"/>
          <p:nvPr/>
        </p:nvSpPr>
        <p:spPr>
          <a:xfrm>
            <a:off x="3795713" y="4624467"/>
            <a:ext cx="271463" cy="389334"/>
          </a:xfrm>
          <a:prstGeom prst="rect">
            <a:avLst/>
          </a:prstGeom>
          <a:noFill/>
          <a:ln w="12700">
            <a:noFill/>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en-US" altLang="zh-CN" sz="2100" dirty="0">
                <a:solidFill>
                  <a:schemeClr val="bg1"/>
                </a:solidFill>
                <a:latin typeface="Times New Roman" panose="02020603050405020304" pitchFamily="18" charset="0"/>
              </a:rPr>
              <a:t>9</a:t>
            </a:r>
          </a:p>
        </p:txBody>
      </p:sp>
      <p:grpSp>
        <p:nvGrpSpPr>
          <p:cNvPr id="4" name="Group 28"/>
          <p:cNvGrpSpPr/>
          <p:nvPr/>
        </p:nvGrpSpPr>
        <p:grpSpPr>
          <a:xfrm>
            <a:off x="4924425" y="5707936"/>
            <a:ext cx="889397" cy="411956"/>
            <a:chOff x="3085" y="2733"/>
            <a:chExt cx="747" cy="346"/>
          </a:xfrm>
        </p:grpSpPr>
        <p:sp>
          <p:nvSpPr>
            <p:cNvPr id="36912" name="Text Box 29"/>
            <p:cNvSpPr txBox="1"/>
            <p:nvPr/>
          </p:nvSpPr>
          <p:spPr>
            <a:xfrm>
              <a:off x="3085" y="2733"/>
              <a:ext cx="200" cy="346"/>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2100" dirty="0">
                  <a:solidFill>
                    <a:schemeClr val="accent2"/>
                  </a:solidFill>
                  <a:latin typeface="Courier New" panose="02070309020205020404" pitchFamily="49" charset="0"/>
                </a:rPr>
                <a:t>x</a:t>
              </a:r>
            </a:p>
          </p:txBody>
        </p:sp>
        <p:sp>
          <p:nvSpPr>
            <p:cNvPr id="36913" name="Text Box 30"/>
            <p:cNvSpPr txBox="1"/>
            <p:nvPr/>
          </p:nvSpPr>
          <p:spPr>
            <a:xfrm>
              <a:off x="3632" y="2733"/>
              <a:ext cx="200" cy="346"/>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2100" dirty="0">
                  <a:solidFill>
                    <a:schemeClr val="accent2"/>
                  </a:solidFill>
                  <a:latin typeface="Courier New" panose="02070309020205020404" pitchFamily="49" charset="0"/>
                </a:rPr>
                <a:t>y</a:t>
              </a:r>
            </a:p>
          </p:txBody>
        </p:sp>
        <p:sp>
          <p:nvSpPr>
            <p:cNvPr id="395295" name="AutoShape 31"/>
            <p:cNvSpPr>
              <a:spLocks noChangeArrowheads="1"/>
            </p:cNvSpPr>
            <p:nvPr/>
          </p:nvSpPr>
          <p:spPr bwMode="auto">
            <a:xfrm>
              <a:off x="3308"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grpSp>
        <p:nvGrpSpPr>
          <p:cNvPr id="5" name="Group 32"/>
          <p:cNvGrpSpPr/>
          <p:nvPr/>
        </p:nvGrpSpPr>
        <p:grpSpPr>
          <a:xfrm>
            <a:off x="3006328" y="5728176"/>
            <a:ext cx="1058465" cy="458391"/>
            <a:chOff x="1774" y="2750"/>
            <a:chExt cx="889" cy="385"/>
          </a:xfrm>
        </p:grpSpPr>
        <p:sp>
          <p:nvSpPr>
            <p:cNvPr id="395297" name="Text Box 33"/>
            <p:cNvSpPr txBox="1">
              <a:spLocks noChangeArrowheads="1"/>
            </p:cNvSpPr>
            <p:nvPr/>
          </p:nvSpPr>
          <p:spPr bwMode="auto">
            <a:xfrm>
              <a:off x="1774" y="2750"/>
              <a:ext cx="288" cy="346"/>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100" b="1" i="0" u="none" strike="noStrike" kern="120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a</a:t>
              </a:r>
              <a:endParaRPr kumimoji="1" lang="en-US" altLang="zh-CN" sz="21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p:txBody>
        </p:sp>
        <p:sp>
          <p:nvSpPr>
            <p:cNvPr id="395298" name="Text Box 34"/>
            <p:cNvSpPr txBox="1">
              <a:spLocks noChangeArrowheads="1"/>
            </p:cNvSpPr>
            <p:nvPr/>
          </p:nvSpPr>
          <p:spPr bwMode="auto">
            <a:xfrm>
              <a:off x="2375" y="2789"/>
              <a:ext cx="288" cy="346"/>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100" b="1" i="0" u="none" strike="noStrike" kern="120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b</a:t>
              </a:r>
              <a:endParaRPr kumimoji="1" lang="en-US" altLang="zh-CN" sz="21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p:txBody>
        </p:sp>
        <p:sp>
          <p:nvSpPr>
            <p:cNvPr id="395299" name="AutoShape 35"/>
            <p:cNvSpPr>
              <a:spLocks noChangeArrowheads="1"/>
            </p:cNvSpPr>
            <p:nvPr/>
          </p:nvSpPr>
          <p:spPr bwMode="auto">
            <a:xfrm>
              <a:off x="2024"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sp>
        <p:nvSpPr>
          <p:cNvPr id="395304" name="Text Box 40"/>
          <p:cNvSpPr txBox="1"/>
          <p:nvPr/>
        </p:nvSpPr>
        <p:spPr>
          <a:xfrm>
            <a:off x="4926806" y="4298236"/>
            <a:ext cx="34290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2100" dirty="0">
                <a:solidFill>
                  <a:schemeClr val="tx2"/>
                </a:solidFill>
                <a:latin typeface="Courier New" panose="02070309020205020404" pitchFamily="49" charset="0"/>
              </a:rPr>
              <a:t>x</a:t>
            </a:r>
          </a:p>
        </p:txBody>
      </p:sp>
      <p:sp>
        <p:nvSpPr>
          <p:cNvPr id="395305" name="Text Box 41"/>
          <p:cNvSpPr txBox="1"/>
          <p:nvPr/>
        </p:nvSpPr>
        <p:spPr>
          <a:xfrm>
            <a:off x="5737622" y="4286330"/>
            <a:ext cx="34290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2100" dirty="0">
                <a:solidFill>
                  <a:schemeClr val="tx2"/>
                </a:solidFill>
                <a:latin typeface="Courier New" panose="02070309020205020404" pitchFamily="49" charset="0"/>
              </a:rPr>
              <a:t>y</a:t>
            </a:r>
          </a:p>
        </p:txBody>
      </p:sp>
      <p:sp>
        <p:nvSpPr>
          <p:cNvPr id="395311" name="Text Box 47"/>
          <p:cNvSpPr txBox="1"/>
          <p:nvPr/>
        </p:nvSpPr>
        <p:spPr>
          <a:xfrm>
            <a:off x="5706666" y="4629230"/>
            <a:ext cx="414338" cy="411480"/>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50000"/>
              </a:spcBef>
              <a:buClr>
                <a:srgbClr val="000000"/>
              </a:buClr>
              <a:buNone/>
            </a:pPr>
            <a:r>
              <a:rPr lang="en-US" altLang="zh-CN" sz="2100" dirty="0">
                <a:solidFill>
                  <a:schemeClr val="bg1"/>
                </a:solidFill>
                <a:latin typeface="Times New Roman" panose="02020603050405020304" pitchFamily="18" charset="0"/>
              </a:rPr>
              <a:t>5</a:t>
            </a:r>
          </a:p>
        </p:txBody>
      </p:sp>
      <p:sp>
        <p:nvSpPr>
          <p:cNvPr id="395312" name="Rectangle 48"/>
          <p:cNvSpPr/>
          <p:nvPr/>
        </p:nvSpPr>
        <p:spPr>
          <a:xfrm>
            <a:off x="5239941" y="3931523"/>
            <a:ext cx="466725" cy="389334"/>
          </a:xfrm>
          <a:prstGeom prst="rect">
            <a:avLst/>
          </a:prstGeom>
          <a:solidFill>
            <a:srgbClr val="800000"/>
          </a:solidFill>
          <a:ln w="12700">
            <a:noFill/>
          </a:ln>
          <a:effectLst>
            <a:outerShdw dist="35921" dir="2699999" algn="ctr" rotWithShape="0">
              <a:srgbClr val="FFFF00"/>
            </a:outerShdw>
          </a:effectLst>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endParaRPr lang="zh-CN" altLang="en-US" sz="2100" dirty="0">
              <a:solidFill>
                <a:schemeClr val="bg1"/>
              </a:solidFill>
              <a:latin typeface="Times New Roman" panose="02020603050405020304" pitchFamily="18" charset="0"/>
            </a:endParaRPr>
          </a:p>
        </p:txBody>
      </p:sp>
      <p:sp>
        <p:nvSpPr>
          <p:cNvPr id="395310" name="Text Box 46"/>
          <p:cNvSpPr txBox="1"/>
          <p:nvPr/>
        </p:nvSpPr>
        <p:spPr>
          <a:xfrm>
            <a:off x="5266135" y="3931523"/>
            <a:ext cx="414338" cy="411480"/>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50000"/>
              </a:spcBef>
              <a:buClr>
                <a:srgbClr val="000000"/>
              </a:buClr>
              <a:buNone/>
            </a:pPr>
            <a:r>
              <a:rPr lang="en-US" altLang="zh-CN" sz="2100" dirty="0">
                <a:solidFill>
                  <a:schemeClr val="bg1"/>
                </a:solidFill>
                <a:latin typeface="Times New Roman" panose="02020603050405020304" pitchFamily="18" charset="0"/>
              </a:rPr>
              <a:t>5</a:t>
            </a:r>
          </a:p>
        </p:txBody>
      </p:sp>
      <p:sp>
        <p:nvSpPr>
          <p:cNvPr id="395313" name="Text Box 49"/>
          <p:cNvSpPr txBox="1"/>
          <p:nvPr/>
        </p:nvSpPr>
        <p:spPr>
          <a:xfrm>
            <a:off x="5166122" y="3716020"/>
            <a:ext cx="594360" cy="2971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en-US" altLang="zh-CN" sz="1350" dirty="0">
                <a:solidFill>
                  <a:schemeClr val="tx2"/>
                </a:solidFill>
                <a:latin typeface="Courier New" panose="02070309020205020404" pitchFamily="49" charset="0"/>
              </a:rPr>
              <a:t>temp</a:t>
            </a:r>
          </a:p>
        </p:txBody>
      </p:sp>
      <p:sp>
        <p:nvSpPr>
          <p:cNvPr id="395314" name="Line 50"/>
          <p:cNvSpPr/>
          <p:nvPr/>
        </p:nvSpPr>
        <p:spPr>
          <a:xfrm flipV="1">
            <a:off x="4950619" y="4073208"/>
            <a:ext cx="0" cy="539354"/>
          </a:xfrm>
          <a:prstGeom prst="line">
            <a:avLst/>
          </a:prstGeom>
          <a:ln w="57150" cap="flat" cmpd="sng">
            <a:solidFill>
              <a:schemeClr val="accent2"/>
            </a:solidFill>
            <a:prstDash val="solid"/>
            <a:headEnd type="none" w="sm" len="sm"/>
            <a:tailEnd type="none" w="sm" len="sm"/>
          </a:ln>
        </p:spPr>
      </p:sp>
      <p:sp>
        <p:nvSpPr>
          <p:cNvPr id="395315" name="Line 51"/>
          <p:cNvSpPr/>
          <p:nvPr/>
        </p:nvSpPr>
        <p:spPr>
          <a:xfrm>
            <a:off x="4939904" y="4094639"/>
            <a:ext cx="323850" cy="0"/>
          </a:xfrm>
          <a:prstGeom prst="line">
            <a:avLst/>
          </a:prstGeom>
          <a:ln w="57150" cap="flat" cmpd="sng">
            <a:solidFill>
              <a:schemeClr val="accent2"/>
            </a:solidFill>
            <a:prstDash val="solid"/>
            <a:headEnd type="none" w="sm" len="sm"/>
            <a:tailEnd type="triangle" w="sm" len="sm"/>
          </a:ln>
        </p:spPr>
      </p:sp>
      <p:sp>
        <p:nvSpPr>
          <p:cNvPr id="395318" name="Line 54"/>
          <p:cNvSpPr/>
          <p:nvPr/>
        </p:nvSpPr>
        <p:spPr>
          <a:xfrm flipV="1">
            <a:off x="6030516" y="4073208"/>
            <a:ext cx="0" cy="539354"/>
          </a:xfrm>
          <a:prstGeom prst="line">
            <a:avLst/>
          </a:prstGeom>
          <a:ln w="57150" cap="flat" cmpd="sng">
            <a:solidFill>
              <a:schemeClr val="accent2"/>
            </a:solidFill>
            <a:prstDash val="solid"/>
            <a:headEnd type="triangle" w="sm" len="sm"/>
            <a:tailEnd type="none" w="sm" len="sm"/>
          </a:ln>
        </p:spPr>
      </p:sp>
      <p:sp>
        <p:nvSpPr>
          <p:cNvPr id="395319" name="Line 55"/>
          <p:cNvSpPr/>
          <p:nvPr/>
        </p:nvSpPr>
        <p:spPr>
          <a:xfrm>
            <a:off x="5706666" y="4094639"/>
            <a:ext cx="323850" cy="0"/>
          </a:xfrm>
          <a:prstGeom prst="line">
            <a:avLst/>
          </a:prstGeom>
          <a:ln w="57150" cap="flat" cmpd="sng">
            <a:solidFill>
              <a:schemeClr val="accent2"/>
            </a:solidFill>
            <a:prstDash val="solid"/>
            <a:headEnd type="none" w="sm" len="sm"/>
            <a:tailEnd type="none" w="sm" len="sm"/>
          </a:ln>
        </p:spPr>
      </p:sp>
      <p:sp>
        <p:nvSpPr>
          <p:cNvPr id="395322" name="Line 58"/>
          <p:cNvSpPr/>
          <p:nvPr/>
        </p:nvSpPr>
        <p:spPr>
          <a:xfrm rot="5400000" flipV="1">
            <a:off x="5516166" y="5070951"/>
            <a:ext cx="0" cy="594122"/>
          </a:xfrm>
          <a:prstGeom prst="line">
            <a:avLst/>
          </a:prstGeom>
          <a:ln w="57150" cap="flat" cmpd="sng">
            <a:solidFill>
              <a:schemeClr val="accent2"/>
            </a:solidFill>
            <a:prstDash val="solid"/>
            <a:headEnd type="none" w="sm" len="sm"/>
            <a:tailEnd type="none" w="sm" len="sm"/>
          </a:ln>
        </p:spPr>
      </p:sp>
      <p:sp>
        <p:nvSpPr>
          <p:cNvPr id="395323" name="Line 59"/>
          <p:cNvSpPr/>
          <p:nvPr/>
        </p:nvSpPr>
        <p:spPr>
          <a:xfrm rot="5400000">
            <a:off x="5629275" y="5206683"/>
            <a:ext cx="323850" cy="0"/>
          </a:xfrm>
          <a:prstGeom prst="line">
            <a:avLst/>
          </a:prstGeom>
          <a:ln w="57150" cap="flat" cmpd="sng">
            <a:solidFill>
              <a:schemeClr val="accent2"/>
            </a:solidFill>
            <a:prstDash val="solid"/>
            <a:headEnd type="none" w="sm" len="sm"/>
            <a:tailEnd type="none" w="sm" len="sm"/>
          </a:ln>
        </p:spPr>
      </p:sp>
      <p:sp>
        <p:nvSpPr>
          <p:cNvPr id="395324" name="Line 60"/>
          <p:cNvSpPr/>
          <p:nvPr/>
        </p:nvSpPr>
        <p:spPr>
          <a:xfrm rot="5400000">
            <a:off x="5082779" y="5206683"/>
            <a:ext cx="323850" cy="0"/>
          </a:xfrm>
          <a:prstGeom prst="line">
            <a:avLst/>
          </a:prstGeom>
          <a:ln w="57150" cap="flat" cmpd="sng">
            <a:solidFill>
              <a:schemeClr val="accent2"/>
            </a:solidFill>
            <a:prstDash val="solid"/>
            <a:headEnd type="triangle" w="sm" len="sm"/>
            <a:tailEnd type="none" w="sm" len="sm"/>
          </a:ln>
        </p:spPr>
      </p:sp>
      <p:sp>
        <p:nvSpPr>
          <p:cNvPr id="395326" name="Text Box 62"/>
          <p:cNvSpPr txBox="1"/>
          <p:nvPr/>
        </p:nvSpPr>
        <p:spPr>
          <a:xfrm>
            <a:off x="4895850" y="4633992"/>
            <a:ext cx="414338" cy="411480"/>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50000"/>
              </a:spcBef>
              <a:buClr>
                <a:srgbClr val="000000"/>
              </a:buClr>
              <a:buNone/>
            </a:pPr>
            <a:r>
              <a:rPr lang="en-US" altLang="zh-CN" sz="2100" dirty="0">
                <a:solidFill>
                  <a:schemeClr val="bg1"/>
                </a:solidFill>
                <a:latin typeface="Times New Roman" panose="02020603050405020304" pitchFamily="18" charset="0"/>
              </a:rPr>
              <a:t>9</a:t>
            </a:r>
          </a:p>
        </p:txBody>
      </p:sp>
      <p:grpSp>
        <p:nvGrpSpPr>
          <p:cNvPr id="6" name="Group 63"/>
          <p:cNvGrpSpPr/>
          <p:nvPr/>
        </p:nvGrpSpPr>
        <p:grpSpPr>
          <a:xfrm>
            <a:off x="3275410" y="5724605"/>
            <a:ext cx="484584" cy="476250"/>
            <a:chOff x="1993" y="3152"/>
            <a:chExt cx="407" cy="400"/>
          </a:xfrm>
        </p:grpSpPr>
        <p:sp>
          <p:nvSpPr>
            <p:cNvPr id="36907" name="Line 64"/>
            <p:cNvSpPr/>
            <p:nvPr/>
          </p:nvSpPr>
          <p:spPr>
            <a:xfrm>
              <a:off x="1993" y="3152"/>
              <a:ext cx="407" cy="400"/>
            </a:xfrm>
            <a:prstGeom prst="line">
              <a:avLst/>
            </a:prstGeom>
            <a:ln w="57150" cap="sq" cmpd="sng">
              <a:solidFill>
                <a:srgbClr val="FF0000"/>
              </a:solidFill>
              <a:prstDash val="solid"/>
              <a:headEnd type="none" w="sm" len="sm"/>
              <a:tailEnd type="none" w="sm" len="sm"/>
            </a:ln>
          </p:spPr>
        </p:sp>
        <p:sp>
          <p:nvSpPr>
            <p:cNvPr id="36908" name="Line 65"/>
            <p:cNvSpPr/>
            <p:nvPr/>
          </p:nvSpPr>
          <p:spPr>
            <a:xfrm flipH="1">
              <a:off x="2002" y="3152"/>
              <a:ext cx="373" cy="372"/>
            </a:xfrm>
            <a:prstGeom prst="line">
              <a:avLst/>
            </a:prstGeom>
            <a:ln w="57150" cap="sq" cmpd="sng">
              <a:solidFill>
                <a:srgbClr val="FF0000"/>
              </a:solidFill>
              <a:prstDash val="solid"/>
              <a:headEnd type="none" w="sm" len="sm"/>
              <a:tailEnd type="none" w="sm" len="sm"/>
            </a:ln>
          </p:spPr>
        </p:sp>
      </p:grpSp>
      <p:sp>
        <p:nvSpPr>
          <p:cNvPr id="395330" name="Rectangle 66"/>
          <p:cNvSpPr>
            <a:spLocks noChangeArrowheads="1"/>
          </p:cNvSpPr>
          <p:nvPr/>
        </p:nvSpPr>
        <p:spPr bwMode="auto">
          <a:xfrm>
            <a:off x="1654969" y="3592592"/>
            <a:ext cx="1404938" cy="270272"/>
          </a:xfrm>
          <a:prstGeom prst="rect">
            <a:avLst/>
          </a:prstGeom>
          <a:noFill/>
          <a:ln w="5715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95331" name="Rectangle 67"/>
          <p:cNvSpPr>
            <a:spLocks noChangeArrowheads="1"/>
          </p:cNvSpPr>
          <p:nvPr/>
        </p:nvSpPr>
        <p:spPr bwMode="auto">
          <a:xfrm>
            <a:off x="6084094" y="2095580"/>
            <a:ext cx="1512094" cy="323850"/>
          </a:xfrm>
          <a:prstGeom prst="rect">
            <a:avLst/>
          </a:prstGeom>
          <a:noFill/>
          <a:ln w="5715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95333" name="Rectangle 69"/>
          <p:cNvSpPr>
            <a:spLocks noChangeArrowheads="1"/>
          </p:cNvSpPr>
          <p:nvPr/>
        </p:nvSpPr>
        <p:spPr bwMode="auto">
          <a:xfrm>
            <a:off x="5879306" y="5672217"/>
            <a:ext cx="2051447" cy="582216"/>
          </a:xfrm>
          <a:prstGeom prst="rect">
            <a:avLst/>
          </a:prstGeom>
          <a:solidFill>
            <a:srgbClr val="FFFF99"/>
          </a:solidFill>
          <a:ln w="28575">
            <a:solidFill>
              <a:srgbClr val="8000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350" b="1" i="0" u="none" strike="noStrike" kern="1200" cap="none" spc="0" normalizeH="0" baseline="0" noProof="0" dirty="0">
                <a:ln>
                  <a:noFill/>
                </a:ln>
                <a:solidFill>
                  <a:srgbClr val="000066"/>
                </a:solidFill>
                <a:effectLst/>
                <a:uLnTx/>
                <a:uFillTx/>
                <a:latin typeface="Courier New" panose="02070309020205020404" pitchFamily="49" charset="0"/>
                <a:ea typeface="宋体" panose="02010600030101010101" pitchFamily="2" charset="-122"/>
                <a:cs typeface="+mn-cs"/>
              </a:rPr>
              <a:t>x</a:t>
            </a:r>
            <a:r>
              <a:rPr kumimoji="0" lang="en-US" altLang="zh-CN" sz="1350" b="1" i="0" u="none" strike="noStrike" kern="1200" cap="none" spc="0" normalizeH="0" baseline="0" noProof="0" dirty="0">
                <a:ln>
                  <a:noFill/>
                </a:ln>
                <a:solidFill>
                  <a:srgbClr val="000066"/>
                </a:solidFill>
                <a:effectLst/>
                <a:uLnTx/>
                <a:uFillTx/>
                <a:latin typeface="Arial" panose="020B0604020202020204" pitchFamily="34" charset="0"/>
                <a:ea typeface="宋体" panose="02010600030101010101" pitchFamily="2" charset="-122"/>
                <a:cs typeface="+mn-cs"/>
              </a:rPr>
              <a:t> </a:t>
            </a:r>
            <a:r>
              <a:rPr kumimoji="0" lang="zh-CN" altLang="en-US" sz="1350" b="1" i="0" u="none" strike="noStrike" kern="1200" cap="none" spc="0" normalizeH="0" baseline="0" noProof="0">
                <a:ln>
                  <a:noFill/>
                </a:ln>
                <a:solidFill>
                  <a:srgbClr val="000066"/>
                </a:solidFill>
                <a:effectLst/>
                <a:uLnTx/>
                <a:uFillTx/>
                <a:latin typeface="Arial" panose="020B0604020202020204" pitchFamily="34" charset="0"/>
                <a:ea typeface="宋体" panose="02010600030101010101" pitchFamily="2" charset="-122"/>
                <a:cs typeface="+mn-cs"/>
              </a:rPr>
              <a:t>和 </a:t>
            </a:r>
            <a:r>
              <a:rPr kumimoji="0" lang="en-US" altLang="zh-CN" sz="1350" b="1" i="0" u="none" strike="noStrike" kern="1200" cap="none" spc="0" normalizeH="0" baseline="0" noProof="0" dirty="0">
                <a:ln>
                  <a:noFill/>
                </a:ln>
                <a:solidFill>
                  <a:srgbClr val="000066"/>
                </a:solidFill>
                <a:effectLst/>
                <a:uLnTx/>
                <a:uFillTx/>
                <a:latin typeface="Courier New" panose="02070309020205020404" pitchFamily="49" charset="0"/>
                <a:ea typeface="宋体" panose="02010600030101010101" pitchFamily="2" charset="-122"/>
                <a:cs typeface="+mn-cs"/>
              </a:rPr>
              <a:t>y</a:t>
            </a:r>
            <a:r>
              <a:rPr kumimoji="0" lang="zh-CN" altLang="en-US" sz="1350" b="1" i="0" u="none" strike="noStrike" kern="1200" cap="none" spc="0" normalizeH="0" baseline="0" noProof="0">
                <a:ln>
                  <a:noFill/>
                </a:ln>
                <a:solidFill>
                  <a:srgbClr val="000066"/>
                </a:solidFill>
                <a:effectLst/>
                <a:uLnTx/>
                <a:uFillTx/>
                <a:latin typeface="Courier New" panose="02070309020205020404" pitchFamily="49" charset="0"/>
                <a:ea typeface="宋体" panose="02010600030101010101" pitchFamily="2" charset="-122"/>
                <a:cs typeface="+mn-cs"/>
              </a:rPr>
              <a:t>是内部变量</a:t>
            </a: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350" b="1" i="0" u="none" strike="noStrike" kern="1200" cap="none" spc="0" normalizeH="0" baseline="0" noProof="0">
                <a:ln>
                  <a:noFill/>
                </a:ln>
                <a:solidFill>
                  <a:srgbClr val="000066"/>
                </a:solidFill>
                <a:effectLst/>
                <a:uLnTx/>
                <a:uFillTx/>
                <a:latin typeface="Courier New" panose="02070309020205020404" pitchFamily="49" charset="0"/>
                <a:ea typeface="宋体" panose="02010600030101010101" pitchFamily="2" charset="-122"/>
                <a:cs typeface="+mn-cs"/>
              </a:rPr>
              <a:t>单向值传递</a:t>
            </a:r>
            <a:endParaRPr kumimoji="0" lang="zh-CN" altLang="en-US" sz="1350" b="1" i="1" u="none" strike="noStrike" kern="1200" cap="none" spc="0" normalizeH="0" baseline="0" noProof="0">
              <a:ln>
                <a:noFill/>
              </a:ln>
              <a:solidFill>
                <a:srgbClr val="FF3300"/>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6905" name="Text Box 2"/>
          <p:cNvSpPr txBox="1"/>
          <p:nvPr/>
        </p:nvSpPr>
        <p:spPr>
          <a:xfrm>
            <a:off x="1385888" y="1706245"/>
            <a:ext cx="125222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zh-CN" altLang="en-US" sz="2100" dirty="0">
                <a:latin typeface="Times New Roman" panose="02020603050405020304" pitchFamily="18" charset="0"/>
                <a:ea typeface="华文仿宋" panose="02010600040101010101" pitchFamily="2" charset="-122"/>
              </a:rPr>
              <a:t>主调函数</a:t>
            </a:r>
          </a:p>
        </p:txBody>
      </p:sp>
      <p:sp>
        <p:nvSpPr>
          <p:cNvPr id="36906" name="Text Box 3"/>
          <p:cNvSpPr txBox="1"/>
          <p:nvPr/>
        </p:nvSpPr>
        <p:spPr>
          <a:xfrm>
            <a:off x="6715125" y="1706245"/>
            <a:ext cx="1252220" cy="411480"/>
          </a:xfrm>
          <a:prstGeom prst="rect">
            <a:avLst/>
          </a:prstGeom>
          <a:noFill/>
          <a:ln w="12700">
            <a:noFill/>
          </a:ln>
        </p:spPr>
        <p:txBody>
          <a:bodyPr wrap="non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zh-CN" altLang="en-US" sz="2100" dirty="0">
                <a:latin typeface="Times New Roman" panose="02020603050405020304" pitchFamily="18" charset="0"/>
                <a:ea typeface="华文仿宋" panose="02010600040101010101" pitchFamily="2" charset="-122"/>
              </a:rPr>
              <a:t>被调函数</a:t>
            </a:r>
          </a:p>
        </p:txBody>
      </p:sp>
      <p:sp>
        <p:nvSpPr>
          <p:cNvPr id="24578" name="Rectangle 13"/>
          <p:cNvSpPr>
            <a:spLocks noGrp="1"/>
          </p:cNvSpPr>
          <p:nvPr/>
        </p:nvSpPr>
        <p:spPr>
          <a:xfrm>
            <a:off x="1843594" y="262954"/>
            <a:ext cx="5560695" cy="951270"/>
          </a:xfrm>
          <a:prstGeom prst="roundRect">
            <a:avLst>
              <a:gd name="adj" fmla="val 29759"/>
            </a:avLst>
          </a:prstGeom>
          <a:noFill/>
          <a:ln>
            <a:noFill/>
          </a:ln>
          <a:effectLst/>
        </p:spPr>
        <p:txBody>
          <a:bodyPr vert="horz" wrap="square" lIns="69056" tIns="34528" rIns="69056" bIns="34528" numCol="1" anchor="b" anchorCtr="0" compatLnSpc="1">
            <a:normAutofit fontScale="65000" lnSpcReduction="20000"/>
          </a:bodyPr>
          <a:lst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9pPr>
          </a:lstStyle>
          <a:p>
            <a:pPr algn="l" eaLnBrk="1" hangingPunct="1">
              <a:spcAft>
                <a:spcPts val="600"/>
              </a:spcAft>
            </a:pPr>
            <a:r>
              <a:rPr lang="zh-CN" altLang="en-US" sz="3600" kern="0" dirty="0"/>
              <a:t>例：编写函数实现两数的</a:t>
            </a:r>
            <a:r>
              <a:rPr lang="zh-CN" altLang="en-US" sz="3600" kern="0" dirty="0" smtClean="0"/>
              <a:t>互换</a:t>
            </a:r>
            <a:endParaRPr lang="en-US" altLang="zh-CN" sz="3600" kern="0" dirty="0" smtClean="0"/>
          </a:p>
          <a:p>
            <a:pPr algn="l" eaLnBrk="1" hangingPunct="1"/>
            <a:r>
              <a:rPr lang="zh-CN" altLang="en-US" sz="3600" kern="0" dirty="0" smtClean="0">
                <a:solidFill>
                  <a:srgbClr val="FF0000"/>
                </a:solidFill>
              </a:rPr>
              <a:t>（利用单向值传递无法实现两数的互换）</a:t>
            </a:r>
            <a:endParaRPr lang="zh-CN" altLang="en-US" sz="32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5330"/>
                                        </p:tgtEl>
                                        <p:attrNameLst>
                                          <p:attrName>style.visibility</p:attrName>
                                        </p:attrNameLst>
                                      </p:cBhvr>
                                      <p:to>
                                        <p:strVal val="visible"/>
                                      </p:to>
                                    </p:set>
                                    <p:anim calcmode="lin" valueType="num">
                                      <p:cBhvr>
                                        <p:cTn id="7" dur="500" fill="hold"/>
                                        <p:tgtEl>
                                          <p:spTgt spid="395330"/>
                                        </p:tgtEl>
                                        <p:attrNameLst>
                                          <p:attrName>ppt_w</p:attrName>
                                        </p:attrNameLst>
                                      </p:cBhvr>
                                      <p:tavLst>
                                        <p:tav tm="0">
                                          <p:val>
                                            <p:fltVal val="0"/>
                                          </p:val>
                                        </p:tav>
                                        <p:tav tm="100000">
                                          <p:val>
                                            <p:strVal val="#ppt_w"/>
                                          </p:val>
                                        </p:tav>
                                      </p:tavLst>
                                    </p:anim>
                                    <p:anim calcmode="lin" valueType="num">
                                      <p:cBhvr>
                                        <p:cTn id="8" dur="500" fill="hold"/>
                                        <p:tgtEl>
                                          <p:spTgt spid="395330"/>
                                        </p:tgtEl>
                                        <p:attrNameLst>
                                          <p:attrName>ppt_h</p:attrName>
                                        </p:attrNameLst>
                                      </p:cBhvr>
                                      <p:tavLst>
                                        <p:tav tm="0">
                                          <p:val>
                                            <p:fltVal val="0"/>
                                          </p:val>
                                        </p:tav>
                                        <p:tav tm="100000">
                                          <p:val>
                                            <p:strVal val="#ppt_h"/>
                                          </p:val>
                                        </p:tav>
                                      </p:tavLst>
                                    </p:anim>
                                    <p:animEffect transition="in" filter="fade">
                                      <p:cBhvr>
                                        <p:cTn id="9" dur="500"/>
                                        <p:tgtEl>
                                          <p:spTgt spid="395330"/>
                                        </p:tgtEl>
                                      </p:cBhvr>
                                    </p:animEffect>
                                  </p:childTnLst>
                                </p:cTn>
                              </p:par>
                            </p:childTnLst>
                          </p:cTn>
                        </p:par>
                        <p:par>
                          <p:cTn id="10" fill="hold">
                            <p:stCondLst>
                              <p:cond delay="500"/>
                            </p:stCondLst>
                            <p:childTnLst>
                              <p:par>
                                <p:cTn id="11" presetID="14" presetClass="entr" presetSubtype="10" fill="hold" grpId="0" nodeType="afterEffect">
                                  <p:stCondLst>
                                    <p:cond delay="0"/>
                                  </p:stCondLst>
                                  <p:childTnLst>
                                    <p:set>
                                      <p:cBhvr>
                                        <p:cTn id="12" dur="1" fill="hold">
                                          <p:stCondLst>
                                            <p:cond delay="0"/>
                                          </p:stCondLst>
                                        </p:cTn>
                                        <p:tgtEl>
                                          <p:spTgt spid="395280"/>
                                        </p:tgtEl>
                                        <p:attrNameLst>
                                          <p:attrName>style.visibility</p:attrName>
                                        </p:attrNameLst>
                                      </p:cBhvr>
                                      <p:to>
                                        <p:strVal val="visible"/>
                                      </p:to>
                                    </p:set>
                                    <p:animEffect transition="in" filter="randombar(horizontal)">
                                      <p:cBhvr>
                                        <p:cTn id="13" dur="500"/>
                                        <p:tgtEl>
                                          <p:spTgt spid="39528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395276"/>
                                        </p:tgtEl>
                                        <p:attrNameLst>
                                          <p:attrName>style.visibility</p:attrName>
                                        </p:attrNameLst>
                                      </p:cBhvr>
                                      <p:to>
                                        <p:strVal val="visible"/>
                                      </p:to>
                                    </p:set>
                                  </p:childTnLst>
                                </p:cTn>
                              </p:par>
                            </p:childTnLst>
                          </p:cTn>
                        </p:par>
                        <p:par>
                          <p:cTn id="18" fill="hold">
                            <p:stCondLst>
                              <p:cond delay="500"/>
                            </p:stCondLst>
                            <p:childTnLst>
                              <p:par>
                                <p:cTn id="19" presetID="16" presetClass="entr" presetSubtype="37" fill="hold" grpId="0" nodeType="afterEffect">
                                  <p:stCondLst>
                                    <p:cond delay="0"/>
                                  </p:stCondLst>
                                  <p:childTnLst>
                                    <p:set>
                                      <p:cBhvr>
                                        <p:cTn id="20" dur="1" fill="hold">
                                          <p:stCondLst>
                                            <p:cond delay="0"/>
                                          </p:stCondLst>
                                        </p:cTn>
                                        <p:tgtEl>
                                          <p:spTgt spid="395270"/>
                                        </p:tgtEl>
                                        <p:attrNameLst>
                                          <p:attrName>style.visibility</p:attrName>
                                        </p:attrNameLst>
                                      </p:cBhvr>
                                      <p:to>
                                        <p:strVal val="visible"/>
                                      </p:to>
                                    </p:set>
                                    <p:animEffect transition="in" filter="barn(outVertical)">
                                      <p:cBhvr>
                                        <p:cTn id="21" dur="500"/>
                                        <p:tgtEl>
                                          <p:spTgt spid="395270"/>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395275"/>
                                        </p:tgtEl>
                                        <p:attrNameLst>
                                          <p:attrName>style.visibility</p:attrName>
                                        </p:attrNameLst>
                                      </p:cBhvr>
                                      <p:to>
                                        <p:strVal val="visible"/>
                                      </p:to>
                                    </p:set>
                                  </p:childTnLst>
                                </p:cTn>
                              </p:par>
                            </p:childTnLst>
                          </p:cTn>
                        </p:par>
                        <p:par>
                          <p:cTn id="25" fill="hold">
                            <p:stCondLst>
                              <p:cond delay="1500"/>
                            </p:stCondLst>
                            <p:childTnLst>
                              <p:par>
                                <p:cTn id="26" presetID="1" presetClass="entr" presetSubtype="0" fill="hold" grpId="0" nodeType="afterEffect">
                                  <p:stCondLst>
                                    <p:cond delay="0"/>
                                  </p:stCondLst>
                                  <p:childTnLst>
                                    <p:set>
                                      <p:cBhvr>
                                        <p:cTn id="27" dur="1" fill="hold">
                                          <p:stCondLst>
                                            <p:cond delay="499"/>
                                          </p:stCondLst>
                                        </p:cTn>
                                        <p:tgtEl>
                                          <p:spTgt spid="395277"/>
                                        </p:tgtEl>
                                        <p:attrNameLst>
                                          <p:attrName>style.visibility</p:attrName>
                                        </p:attrNameLst>
                                      </p:cBhvr>
                                      <p:to>
                                        <p:strVal val="visible"/>
                                      </p:to>
                                    </p:set>
                                  </p:childTnLst>
                                </p:cTn>
                              </p:par>
                            </p:childTnLst>
                          </p:cTn>
                        </p:par>
                        <p:par>
                          <p:cTn id="28" fill="hold">
                            <p:stCondLst>
                              <p:cond delay="2000"/>
                            </p:stCondLst>
                            <p:childTnLst>
                              <p:par>
                                <p:cTn id="29" presetID="16" presetClass="entr" presetSubtype="37" fill="hold" grpId="0" nodeType="afterEffect">
                                  <p:stCondLst>
                                    <p:cond delay="0"/>
                                  </p:stCondLst>
                                  <p:childTnLst>
                                    <p:set>
                                      <p:cBhvr>
                                        <p:cTn id="30" dur="1" fill="hold">
                                          <p:stCondLst>
                                            <p:cond delay="0"/>
                                          </p:stCondLst>
                                        </p:cTn>
                                        <p:tgtEl>
                                          <p:spTgt spid="395273"/>
                                        </p:tgtEl>
                                        <p:attrNameLst>
                                          <p:attrName>style.visibility</p:attrName>
                                        </p:attrNameLst>
                                      </p:cBhvr>
                                      <p:to>
                                        <p:strVal val="visible"/>
                                      </p:to>
                                    </p:set>
                                    <p:animEffect transition="in" filter="barn(outVertical)">
                                      <p:cBhvr>
                                        <p:cTn id="31" dur="500"/>
                                        <p:tgtEl>
                                          <p:spTgt spid="395273"/>
                                        </p:tgtEl>
                                      </p:cBhvr>
                                    </p:animEffect>
                                  </p:childTnLst>
                                </p:cTn>
                              </p:par>
                            </p:childTnLst>
                          </p:cTn>
                        </p:par>
                        <p:par>
                          <p:cTn id="32" fill="hold">
                            <p:stCondLst>
                              <p:cond delay="2500"/>
                            </p:stCondLst>
                            <p:childTnLst>
                              <p:par>
                                <p:cTn id="33" presetID="1" presetClass="entr" presetSubtype="0" fill="hold" grpId="0" nodeType="afterEffect">
                                  <p:stCondLst>
                                    <p:cond delay="0"/>
                                  </p:stCondLst>
                                  <p:childTnLst>
                                    <p:set>
                                      <p:cBhvr>
                                        <p:cTn id="34" dur="1" fill="hold">
                                          <p:stCondLst>
                                            <p:cond delay="499"/>
                                          </p:stCondLst>
                                        </p:cTn>
                                        <p:tgtEl>
                                          <p:spTgt spid="39529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95331"/>
                                        </p:tgtEl>
                                        <p:attrNameLst>
                                          <p:attrName>style.visibility</p:attrName>
                                        </p:attrNameLst>
                                      </p:cBhvr>
                                      <p:to>
                                        <p:strVal val="visible"/>
                                      </p:to>
                                    </p:set>
                                    <p:anim calcmode="lin" valueType="num">
                                      <p:cBhvr>
                                        <p:cTn id="39" dur="500" fill="hold"/>
                                        <p:tgtEl>
                                          <p:spTgt spid="395331"/>
                                        </p:tgtEl>
                                        <p:attrNameLst>
                                          <p:attrName>ppt_w</p:attrName>
                                        </p:attrNameLst>
                                      </p:cBhvr>
                                      <p:tavLst>
                                        <p:tav tm="0">
                                          <p:val>
                                            <p:fltVal val="0"/>
                                          </p:val>
                                        </p:tav>
                                        <p:tav tm="100000">
                                          <p:val>
                                            <p:strVal val="#ppt_w"/>
                                          </p:val>
                                        </p:tav>
                                      </p:tavLst>
                                    </p:anim>
                                    <p:anim calcmode="lin" valueType="num">
                                      <p:cBhvr>
                                        <p:cTn id="40" dur="500" fill="hold"/>
                                        <p:tgtEl>
                                          <p:spTgt spid="395331"/>
                                        </p:tgtEl>
                                        <p:attrNameLst>
                                          <p:attrName>ppt_h</p:attrName>
                                        </p:attrNameLst>
                                      </p:cBhvr>
                                      <p:tavLst>
                                        <p:tav tm="0">
                                          <p:val>
                                            <p:fltVal val="0"/>
                                          </p:val>
                                        </p:tav>
                                        <p:tav tm="100000">
                                          <p:val>
                                            <p:strVal val="#ppt_h"/>
                                          </p:val>
                                        </p:tav>
                                      </p:tavLst>
                                    </p:anim>
                                    <p:animEffect transition="in" filter="fade">
                                      <p:cBhvr>
                                        <p:cTn id="41" dur="500"/>
                                        <p:tgtEl>
                                          <p:spTgt spid="395331"/>
                                        </p:tgtEl>
                                      </p:cBhvr>
                                    </p:animEffect>
                                  </p:childTnLst>
                                </p:cTn>
                              </p:par>
                            </p:childTnLst>
                          </p:cTn>
                        </p:par>
                        <p:par>
                          <p:cTn id="42" fill="hold">
                            <p:stCondLst>
                              <p:cond delay="500"/>
                            </p:stCondLst>
                            <p:childTnLst>
                              <p:par>
                                <p:cTn id="43" presetID="14" presetClass="entr" presetSubtype="10" fill="hold" grpId="0" nodeType="afterEffect">
                                  <p:stCondLst>
                                    <p:cond delay="0"/>
                                  </p:stCondLst>
                                  <p:childTnLst>
                                    <p:set>
                                      <p:cBhvr>
                                        <p:cTn id="44" dur="1" fill="hold">
                                          <p:stCondLst>
                                            <p:cond delay="0"/>
                                          </p:stCondLst>
                                        </p:cTn>
                                        <p:tgtEl>
                                          <p:spTgt spid="395281"/>
                                        </p:tgtEl>
                                        <p:attrNameLst>
                                          <p:attrName>style.visibility</p:attrName>
                                        </p:attrNameLst>
                                      </p:cBhvr>
                                      <p:to>
                                        <p:strVal val="visible"/>
                                      </p:to>
                                    </p:set>
                                    <p:animEffect transition="in" filter="randombar(horizontal)">
                                      <p:cBhvr>
                                        <p:cTn id="45" dur="500"/>
                                        <p:tgtEl>
                                          <p:spTgt spid="39528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395304"/>
                                        </p:tgtEl>
                                        <p:attrNameLst>
                                          <p:attrName>style.visibility</p:attrName>
                                        </p:attrNameLst>
                                      </p:cBhvr>
                                      <p:to>
                                        <p:strVal val="visible"/>
                                      </p:to>
                                    </p:set>
                                  </p:childTnLst>
                                </p:cTn>
                              </p:par>
                            </p:childTnLst>
                          </p:cTn>
                        </p:par>
                        <p:par>
                          <p:cTn id="50" fill="hold">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395272"/>
                                        </p:tgtEl>
                                        <p:attrNameLst>
                                          <p:attrName>style.visibility</p:attrName>
                                        </p:attrNameLst>
                                      </p:cBhvr>
                                      <p:to>
                                        <p:strVal val="visible"/>
                                      </p:to>
                                    </p:set>
                                    <p:animEffect transition="in" filter="barn(outVertical)">
                                      <p:cBhvr>
                                        <p:cTn id="53" dur="500"/>
                                        <p:tgtEl>
                                          <p:spTgt spid="395272"/>
                                        </p:tgtEl>
                                      </p:cBhvr>
                                    </p:animEffec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395305"/>
                                        </p:tgtEl>
                                        <p:attrNameLst>
                                          <p:attrName>style.visibility</p:attrName>
                                        </p:attrNameLst>
                                      </p:cBhvr>
                                      <p:to>
                                        <p:strVal val="visible"/>
                                      </p:to>
                                    </p:set>
                                  </p:childTnLst>
                                </p:cTn>
                              </p:par>
                            </p:childTnLst>
                          </p:cTn>
                        </p:par>
                        <p:par>
                          <p:cTn id="57" fill="hold">
                            <p:stCondLst>
                              <p:cond delay="1500"/>
                            </p:stCondLst>
                            <p:childTnLst>
                              <p:par>
                                <p:cTn id="58" presetID="16" presetClass="entr" presetSubtype="37" fill="hold" grpId="0" nodeType="afterEffect">
                                  <p:stCondLst>
                                    <p:cond delay="0"/>
                                  </p:stCondLst>
                                  <p:childTnLst>
                                    <p:set>
                                      <p:cBhvr>
                                        <p:cTn id="59" dur="1" fill="hold">
                                          <p:stCondLst>
                                            <p:cond delay="0"/>
                                          </p:stCondLst>
                                        </p:cTn>
                                        <p:tgtEl>
                                          <p:spTgt spid="395271"/>
                                        </p:tgtEl>
                                        <p:attrNameLst>
                                          <p:attrName>style.visibility</p:attrName>
                                        </p:attrNameLst>
                                      </p:cBhvr>
                                      <p:to>
                                        <p:strVal val="visible"/>
                                      </p:to>
                                    </p:set>
                                    <p:animEffect transition="in" filter="barn(outVertical)">
                                      <p:cBhvr>
                                        <p:cTn id="60" dur="500"/>
                                        <p:tgtEl>
                                          <p:spTgt spid="395271"/>
                                        </p:tgtEl>
                                      </p:cBhvr>
                                    </p:animEffect>
                                  </p:childTnLst>
                                </p:cTn>
                              </p:par>
                            </p:childTnLst>
                          </p:cTn>
                        </p:par>
                        <p:par>
                          <p:cTn id="61" fill="hold">
                            <p:stCondLst>
                              <p:cond delay="2000"/>
                            </p:stCondLst>
                            <p:childTnLst>
                              <p:par>
                                <p:cTn id="62" presetID="16" presetClass="entr" presetSubtype="37" fill="hold" grpId="0" nodeType="afterEffect">
                                  <p:stCondLst>
                                    <p:cond delay="0"/>
                                  </p:stCondLst>
                                  <p:childTnLst>
                                    <p:set>
                                      <p:cBhvr>
                                        <p:cTn id="63" dur="1" fill="hold">
                                          <p:stCondLst>
                                            <p:cond delay="0"/>
                                          </p:stCondLst>
                                        </p:cTn>
                                        <p:tgtEl>
                                          <p:spTgt spid="395312"/>
                                        </p:tgtEl>
                                        <p:attrNameLst>
                                          <p:attrName>style.visibility</p:attrName>
                                        </p:attrNameLst>
                                      </p:cBhvr>
                                      <p:to>
                                        <p:strVal val="visible"/>
                                      </p:to>
                                    </p:set>
                                    <p:animEffect transition="in" filter="barn(outVertical)">
                                      <p:cBhvr>
                                        <p:cTn id="64" dur="500"/>
                                        <p:tgtEl>
                                          <p:spTgt spid="395312"/>
                                        </p:tgtEl>
                                      </p:cBhvr>
                                    </p:animEffect>
                                  </p:childTnLst>
                                </p:cTn>
                              </p:par>
                            </p:childTnLst>
                          </p:cTn>
                        </p:par>
                        <p:par>
                          <p:cTn id="65" fill="hold">
                            <p:stCondLst>
                              <p:cond delay="2500"/>
                            </p:stCondLst>
                            <p:childTnLst>
                              <p:par>
                                <p:cTn id="66" presetID="1" presetClass="entr" presetSubtype="0" fill="hold" grpId="0" nodeType="afterEffect">
                                  <p:stCondLst>
                                    <p:cond delay="0"/>
                                  </p:stCondLst>
                                  <p:childTnLst>
                                    <p:set>
                                      <p:cBhvr>
                                        <p:cTn id="67" dur="1" fill="hold">
                                          <p:stCondLst>
                                            <p:cond delay="499"/>
                                          </p:stCondLst>
                                        </p:cTn>
                                        <p:tgtEl>
                                          <p:spTgt spid="39531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wipe(left)">
                                      <p:cBhvr>
                                        <p:cTn id="72" dur="500"/>
                                        <p:tgtEl>
                                          <p:spTgt spid="2"/>
                                        </p:tgtEl>
                                      </p:cBhvr>
                                    </p:animEffect>
                                  </p:childTnLst>
                                </p:cTn>
                              </p:par>
                            </p:childTnLst>
                          </p:cTn>
                        </p:par>
                        <p:par>
                          <p:cTn id="73" fill="hold">
                            <p:stCondLst>
                              <p:cond delay="500"/>
                            </p:stCondLst>
                            <p:childTnLst>
                              <p:par>
                                <p:cTn id="74" presetID="1" presetClass="entr" presetSubtype="0" fill="hold" grpId="0" nodeType="afterEffect">
                                  <p:stCondLst>
                                    <p:cond delay="0"/>
                                  </p:stCondLst>
                                  <p:childTnLst>
                                    <p:set>
                                      <p:cBhvr>
                                        <p:cTn id="75" dur="1" fill="hold">
                                          <p:stCondLst>
                                            <p:cond delay="499"/>
                                          </p:stCondLst>
                                        </p:cTn>
                                        <p:tgtEl>
                                          <p:spTgt spid="39527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2"/>
                                        </p:tgtEl>
                                        <p:attrNameLst>
                                          <p:attrName>style.visibility</p:attrName>
                                        </p:attrNameLst>
                                      </p:cBhvr>
                                      <p:to>
                                        <p:strVal val="hidden"/>
                                      </p:to>
                                    </p:set>
                                  </p:childTnLst>
                                </p:cTn>
                              </p:par>
                            </p:childTnLst>
                          </p:cTn>
                        </p:par>
                        <p:par>
                          <p:cTn id="80" fill="hold">
                            <p:stCondLst>
                              <p:cond delay="0"/>
                            </p:stCondLst>
                            <p:childTnLst>
                              <p:par>
                                <p:cTn id="81" presetID="22" presetClass="entr" presetSubtype="8" fill="hold" nodeType="after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wipe(left)">
                                      <p:cBhvr>
                                        <p:cTn id="83" dur="500"/>
                                        <p:tgtEl>
                                          <p:spTgt spid="3"/>
                                        </p:tgtEl>
                                      </p:cBhvr>
                                    </p:animEffect>
                                  </p:childTnLst>
                                </p:cTn>
                              </p:par>
                            </p:childTnLst>
                          </p:cTn>
                        </p:par>
                        <p:par>
                          <p:cTn id="84" fill="hold">
                            <p:stCondLst>
                              <p:cond delay="500"/>
                            </p:stCondLst>
                            <p:childTnLst>
                              <p:par>
                                <p:cTn id="85" presetID="1" presetClass="entr" presetSubtype="0" fill="hold" grpId="0" nodeType="afterEffect">
                                  <p:stCondLst>
                                    <p:cond delay="0"/>
                                  </p:stCondLst>
                                  <p:childTnLst>
                                    <p:set>
                                      <p:cBhvr>
                                        <p:cTn id="86" dur="1" fill="hold">
                                          <p:stCondLst>
                                            <p:cond delay="499"/>
                                          </p:stCondLst>
                                        </p:cTn>
                                        <p:tgtEl>
                                          <p:spTgt spid="39529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3"/>
                                        </p:tgtEl>
                                        <p:attrNameLst>
                                          <p:attrName>style.visibility</p:attrName>
                                        </p:attrNameLst>
                                      </p:cBhvr>
                                      <p:to>
                                        <p:strVal val="hidden"/>
                                      </p:to>
                                    </p:set>
                                  </p:childTnLst>
                                </p:cTn>
                              </p:par>
                            </p:childTnLst>
                          </p:cTn>
                        </p:par>
                        <p:par>
                          <p:cTn id="91" fill="hold">
                            <p:stCondLst>
                              <p:cond delay="0"/>
                            </p:stCondLst>
                            <p:childTnLst>
                              <p:par>
                                <p:cTn id="92" presetID="22" presetClass="entr" presetSubtype="4" fill="hold" nodeType="afterEffect">
                                  <p:stCondLst>
                                    <p:cond delay="0"/>
                                  </p:stCondLst>
                                  <p:childTnLst>
                                    <p:set>
                                      <p:cBhvr>
                                        <p:cTn id="93" dur="1" fill="hold">
                                          <p:stCondLst>
                                            <p:cond delay="0"/>
                                          </p:stCondLst>
                                        </p:cTn>
                                        <p:tgtEl>
                                          <p:spTgt spid="395314"/>
                                        </p:tgtEl>
                                        <p:attrNameLst>
                                          <p:attrName>style.visibility</p:attrName>
                                        </p:attrNameLst>
                                      </p:cBhvr>
                                      <p:to>
                                        <p:strVal val="visible"/>
                                      </p:to>
                                    </p:set>
                                    <p:animEffect transition="in" filter="wipe(down)">
                                      <p:cBhvr>
                                        <p:cTn id="94" dur="500"/>
                                        <p:tgtEl>
                                          <p:spTgt spid="395314"/>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395315"/>
                                        </p:tgtEl>
                                        <p:attrNameLst>
                                          <p:attrName>style.visibility</p:attrName>
                                        </p:attrNameLst>
                                      </p:cBhvr>
                                      <p:to>
                                        <p:strVal val="visible"/>
                                      </p:to>
                                    </p:set>
                                    <p:animEffect transition="in" filter="wipe(left)">
                                      <p:cBhvr>
                                        <p:cTn id="98" dur="500"/>
                                        <p:tgtEl>
                                          <p:spTgt spid="395315"/>
                                        </p:tgtEl>
                                      </p:cBhvr>
                                    </p:animEffect>
                                  </p:childTnLst>
                                </p:cTn>
                              </p:par>
                            </p:childTnLst>
                          </p:cTn>
                        </p:par>
                        <p:par>
                          <p:cTn id="99" fill="hold">
                            <p:stCondLst>
                              <p:cond delay="1000"/>
                            </p:stCondLst>
                            <p:childTnLst>
                              <p:par>
                                <p:cTn id="100" presetID="1" presetClass="entr" presetSubtype="0" fill="hold" grpId="0" nodeType="afterEffect">
                                  <p:stCondLst>
                                    <p:cond delay="0"/>
                                  </p:stCondLst>
                                  <p:childTnLst>
                                    <p:set>
                                      <p:cBhvr>
                                        <p:cTn id="101" dur="1" fill="hold">
                                          <p:stCondLst>
                                            <p:cond delay="0"/>
                                          </p:stCondLst>
                                        </p:cTn>
                                        <p:tgtEl>
                                          <p:spTgt spid="395310"/>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395323"/>
                                        </p:tgtEl>
                                        <p:attrNameLst>
                                          <p:attrName>style.visibility</p:attrName>
                                        </p:attrNameLst>
                                      </p:cBhvr>
                                      <p:to>
                                        <p:strVal val="visible"/>
                                      </p:to>
                                    </p:set>
                                    <p:animEffect transition="in" filter="wipe(up)">
                                      <p:cBhvr>
                                        <p:cTn id="106" dur="500"/>
                                        <p:tgtEl>
                                          <p:spTgt spid="395323"/>
                                        </p:tgtEl>
                                      </p:cBhvr>
                                    </p:animEffect>
                                  </p:childTnLst>
                                </p:cTn>
                              </p:par>
                            </p:childTnLst>
                          </p:cTn>
                        </p:par>
                        <p:par>
                          <p:cTn id="107" fill="hold">
                            <p:stCondLst>
                              <p:cond delay="500"/>
                            </p:stCondLst>
                            <p:childTnLst>
                              <p:par>
                                <p:cTn id="108" presetID="22" presetClass="entr" presetSubtype="2" fill="hold" nodeType="afterEffect">
                                  <p:stCondLst>
                                    <p:cond delay="0"/>
                                  </p:stCondLst>
                                  <p:childTnLst>
                                    <p:set>
                                      <p:cBhvr>
                                        <p:cTn id="109" dur="1" fill="hold">
                                          <p:stCondLst>
                                            <p:cond delay="0"/>
                                          </p:stCondLst>
                                        </p:cTn>
                                        <p:tgtEl>
                                          <p:spTgt spid="395322"/>
                                        </p:tgtEl>
                                        <p:attrNameLst>
                                          <p:attrName>style.visibility</p:attrName>
                                        </p:attrNameLst>
                                      </p:cBhvr>
                                      <p:to>
                                        <p:strVal val="visible"/>
                                      </p:to>
                                    </p:set>
                                    <p:animEffect transition="in" filter="wipe(right)">
                                      <p:cBhvr>
                                        <p:cTn id="110" dur="500"/>
                                        <p:tgtEl>
                                          <p:spTgt spid="395322"/>
                                        </p:tgtEl>
                                      </p:cBhvr>
                                    </p:animEffect>
                                  </p:childTnLst>
                                </p:cTn>
                              </p:par>
                            </p:childTnLst>
                          </p:cTn>
                        </p:par>
                        <p:par>
                          <p:cTn id="111" fill="hold">
                            <p:stCondLst>
                              <p:cond delay="1000"/>
                            </p:stCondLst>
                            <p:childTnLst>
                              <p:par>
                                <p:cTn id="112" presetID="22" presetClass="entr" presetSubtype="4" fill="hold" nodeType="afterEffect">
                                  <p:stCondLst>
                                    <p:cond delay="0"/>
                                  </p:stCondLst>
                                  <p:childTnLst>
                                    <p:set>
                                      <p:cBhvr>
                                        <p:cTn id="113" dur="1" fill="hold">
                                          <p:stCondLst>
                                            <p:cond delay="0"/>
                                          </p:stCondLst>
                                        </p:cTn>
                                        <p:tgtEl>
                                          <p:spTgt spid="395324"/>
                                        </p:tgtEl>
                                        <p:attrNameLst>
                                          <p:attrName>style.visibility</p:attrName>
                                        </p:attrNameLst>
                                      </p:cBhvr>
                                      <p:to>
                                        <p:strVal val="visible"/>
                                      </p:to>
                                    </p:set>
                                    <p:animEffect transition="in" filter="wipe(down)">
                                      <p:cBhvr>
                                        <p:cTn id="114" dur="500"/>
                                        <p:tgtEl>
                                          <p:spTgt spid="395324"/>
                                        </p:tgtEl>
                                      </p:cBhvr>
                                    </p:animEffect>
                                  </p:childTnLst>
                                </p:cTn>
                              </p:par>
                            </p:childTnLst>
                          </p:cTn>
                        </p:par>
                        <p:par>
                          <p:cTn id="115" fill="hold">
                            <p:stCondLst>
                              <p:cond delay="1500"/>
                            </p:stCondLst>
                            <p:childTnLst>
                              <p:par>
                                <p:cTn id="116" presetID="1" presetClass="entr" presetSubtype="0" fill="hold" grpId="0" nodeType="afterEffect">
                                  <p:stCondLst>
                                    <p:cond delay="0"/>
                                  </p:stCondLst>
                                  <p:childTnLst>
                                    <p:set>
                                      <p:cBhvr>
                                        <p:cTn id="117" dur="1" fill="hold">
                                          <p:stCondLst>
                                            <p:cond delay="0"/>
                                          </p:stCondLst>
                                        </p:cTn>
                                        <p:tgtEl>
                                          <p:spTgt spid="395326"/>
                                        </p:tgtEl>
                                        <p:attrNameLst>
                                          <p:attrName>style.visibility</p:attrName>
                                        </p:attrNameLst>
                                      </p:cBhvr>
                                      <p:to>
                                        <p:strVal val="visible"/>
                                      </p:to>
                                    </p:set>
                                  </p:childTnLst>
                                </p:cTn>
                              </p:par>
                            </p:childTnLst>
                          </p:cTn>
                        </p:par>
                        <p:par>
                          <p:cTn id="118" fill="hold">
                            <p:stCondLst>
                              <p:cond delay="1500"/>
                            </p:stCondLst>
                            <p:childTnLst>
                              <p:par>
                                <p:cTn id="119" presetID="1" presetClass="exit" presetSubtype="0" fill="hold" grpId="1" nodeType="afterEffect">
                                  <p:stCondLst>
                                    <p:cond delay="0"/>
                                  </p:stCondLst>
                                  <p:childTnLst>
                                    <p:set>
                                      <p:cBhvr>
                                        <p:cTn id="120" dur="1" fill="hold">
                                          <p:stCondLst>
                                            <p:cond delay="0"/>
                                          </p:stCondLst>
                                        </p:cTn>
                                        <p:tgtEl>
                                          <p:spTgt spid="395274"/>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395319"/>
                                        </p:tgtEl>
                                        <p:attrNameLst>
                                          <p:attrName>style.visibility</p:attrName>
                                        </p:attrNameLst>
                                      </p:cBhvr>
                                      <p:to>
                                        <p:strVal val="visible"/>
                                      </p:to>
                                    </p:set>
                                    <p:animEffect transition="in" filter="wipe(left)">
                                      <p:cBhvr>
                                        <p:cTn id="125" dur="500"/>
                                        <p:tgtEl>
                                          <p:spTgt spid="395319"/>
                                        </p:tgtEl>
                                      </p:cBhvr>
                                    </p:animEffect>
                                  </p:childTnLst>
                                </p:cTn>
                              </p:par>
                            </p:childTnLst>
                          </p:cTn>
                        </p:par>
                        <p:par>
                          <p:cTn id="126" fill="hold">
                            <p:stCondLst>
                              <p:cond delay="500"/>
                            </p:stCondLst>
                            <p:childTnLst>
                              <p:par>
                                <p:cTn id="127" presetID="22" presetClass="entr" presetSubtype="1" fill="hold" nodeType="afterEffect">
                                  <p:stCondLst>
                                    <p:cond delay="0"/>
                                  </p:stCondLst>
                                  <p:childTnLst>
                                    <p:set>
                                      <p:cBhvr>
                                        <p:cTn id="128" dur="1" fill="hold">
                                          <p:stCondLst>
                                            <p:cond delay="0"/>
                                          </p:stCondLst>
                                        </p:cTn>
                                        <p:tgtEl>
                                          <p:spTgt spid="395318"/>
                                        </p:tgtEl>
                                        <p:attrNameLst>
                                          <p:attrName>style.visibility</p:attrName>
                                        </p:attrNameLst>
                                      </p:cBhvr>
                                      <p:to>
                                        <p:strVal val="visible"/>
                                      </p:to>
                                    </p:set>
                                    <p:animEffect transition="in" filter="wipe(up)">
                                      <p:cBhvr>
                                        <p:cTn id="129" dur="500"/>
                                        <p:tgtEl>
                                          <p:spTgt spid="395318"/>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95311"/>
                                        </p:tgtEl>
                                        <p:attrNameLst>
                                          <p:attrName>style.visibility</p:attrName>
                                        </p:attrNameLst>
                                      </p:cBhvr>
                                      <p:to>
                                        <p:strVal val="visible"/>
                                      </p:to>
                                    </p:set>
                                  </p:childTnLst>
                                </p:cTn>
                              </p:par>
                            </p:childTnLst>
                          </p:cTn>
                        </p:par>
                        <p:par>
                          <p:cTn id="133" fill="hold">
                            <p:stCondLst>
                              <p:cond delay="1000"/>
                            </p:stCondLst>
                            <p:childTnLst>
                              <p:par>
                                <p:cTn id="134" presetID="1" presetClass="exit" presetSubtype="0" fill="hold" grpId="1" nodeType="afterEffect">
                                  <p:stCondLst>
                                    <p:cond delay="0"/>
                                  </p:stCondLst>
                                  <p:childTnLst>
                                    <p:set>
                                      <p:cBhvr>
                                        <p:cTn id="135" dur="1" fill="hold">
                                          <p:stCondLst>
                                            <p:cond delay="0"/>
                                          </p:stCondLst>
                                        </p:cTn>
                                        <p:tgtEl>
                                          <p:spTgt spid="395290"/>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16" presetClass="entr" presetSubtype="37" fill="hold" nodeType="clickEffect">
                                  <p:stCondLst>
                                    <p:cond delay="0"/>
                                  </p:stCondLst>
                                  <p:childTnLst>
                                    <p:set>
                                      <p:cBhvr>
                                        <p:cTn id="139" dur="1" fill="hold">
                                          <p:stCondLst>
                                            <p:cond delay="0"/>
                                          </p:stCondLst>
                                        </p:cTn>
                                        <p:tgtEl>
                                          <p:spTgt spid="4"/>
                                        </p:tgtEl>
                                        <p:attrNameLst>
                                          <p:attrName>style.visibility</p:attrName>
                                        </p:attrNameLst>
                                      </p:cBhvr>
                                      <p:to>
                                        <p:strVal val="visible"/>
                                      </p:to>
                                    </p:set>
                                    <p:animEffect transition="in" filter="barn(outVertical)">
                                      <p:cBhvr>
                                        <p:cTn id="140" dur="500"/>
                                        <p:tgtEl>
                                          <p:spTgt spid="4"/>
                                        </p:tgtEl>
                                      </p:cBhvr>
                                    </p:animEffect>
                                  </p:childTnLst>
                                </p:cTn>
                              </p:par>
                            </p:childTnLst>
                          </p:cTn>
                        </p:par>
                      </p:childTnLst>
                    </p:cTn>
                  </p:par>
                  <p:par>
                    <p:cTn id="141" fill="hold">
                      <p:stCondLst>
                        <p:cond delay="indefinite"/>
                      </p:stCondLst>
                      <p:childTnLst>
                        <p:par>
                          <p:cTn id="142" fill="hold">
                            <p:stCondLst>
                              <p:cond delay="0"/>
                            </p:stCondLst>
                            <p:childTnLst>
                              <p:par>
                                <p:cTn id="143" presetID="16" presetClass="entr" presetSubtype="37" fill="hold" nodeType="clickEffect">
                                  <p:stCondLst>
                                    <p:cond delay="0"/>
                                  </p:stCondLst>
                                  <p:childTnLst>
                                    <p:set>
                                      <p:cBhvr>
                                        <p:cTn id="144" dur="1" fill="hold">
                                          <p:stCondLst>
                                            <p:cond delay="0"/>
                                          </p:stCondLst>
                                        </p:cTn>
                                        <p:tgtEl>
                                          <p:spTgt spid="5"/>
                                        </p:tgtEl>
                                        <p:attrNameLst>
                                          <p:attrName>style.visibility</p:attrName>
                                        </p:attrNameLst>
                                      </p:cBhvr>
                                      <p:to>
                                        <p:strVal val="visible"/>
                                      </p:to>
                                    </p:set>
                                    <p:animEffect transition="in" filter="barn(outVertical)">
                                      <p:cBhvr>
                                        <p:cTn id="145" dur="500"/>
                                        <p:tgtEl>
                                          <p:spTgt spid="5"/>
                                        </p:tgtEl>
                                      </p:cBhvr>
                                    </p:animEffect>
                                  </p:childTnLst>
                                </p:cTn>
                              </p:par>
                            </p:childTnLst>
                          </p:cTn>
                        </p:par>
                        <p:par>
                          <p:cTn id="146" fill="hold">
                            <p:stCondLst>
                              <p:cond delay="500"/>
                            </p:stCondLst>
                            <p:childTnLst>
                              <p:par>
                                <p:cTn id="147" presetID="9" presetClass="entr" presetSubtype="0" fill="hold" nodeType="afterEffect">
                                  <p:stCondLst>
                                    <p:cond delay="0"/>
                                  </p:stCondLst>
                                  <p:childTnLst>
                                    <p:set>
                                      <p:cBhvr>
                                        <p:cTn id="148" dur="1" fill="hold">
                                          <p:stCondLst>
                                            <p:cond delay="0"/>
                                          </p:stCondLst>
                                        </p:cTn>
                                        <p:tgtEl>
                                          <p:spTgt spid="6"/>
                                        </p:tgtEl>
                                        <p:attrNameLst>
                                          <p:attrName>style.visibility</p:attrName>
                                        </p:attrNameLst>
                                      </p:cBhvr>
                                      <p:to>
                                        <p:strVal val="visible"/>
                                      </p:to>
                                    </p:set>
                                    <p:animEffect transition="in" filter="dissolve">
                                      <p:cBhvr>
                                        <p:cTn id="149" dur="500"/>
                                        <p:tgtEl>
                                          <p:spTgt spid="6"/>
                                        </p:tgtEl>
                                      </p:cBhvr>
                                    </p:animEffect>
                                  </p:childTnLst>
                                  <p:subTnLst>
                                    <p:audio>
                                      <p:cMediaNode>
                                        <p:cTn display="0" masterRel="sameClick">
                                          <p:stCondLst>
                                            <p:cond evt="begin" delay="0">
                                              <p:tn val="147"/>
                                            </p:cond>
                                          </p:stCondLst>
                                          <p:endCondLst>
                                            <p:cond evt="onStopAudio" delay="0">
                                              <p:tgtEl>
                                                <p:sldTgt/>
                                              </p:tgtEl>
                                            </p:cond>
                                          </p:endCondLst>
                                        </p:cTn>
                                        <p:tgtEl>
                                          <p:sndTgt r:embed="rId2" name="DING.WAV"/>
                                        </p:tgtEl>
                                      </p:cMediaNode>
                                    </p:audio>
                                  </p:subTnLst>
                                </p:cTn>
                              </p:par>
                            </p:childTnLst>
                          </p:cTn>
                        </p:par>
                      </p:childTnLst>
                    </p:cTn>
                  </p:par>
                  <p:par>
                    <p:cTn id="150" fill="hold">
                      <p:stCondLst>
                        <p:cond delay="indefinite"/>
                      </p:stCondLst>
                      <p:childTnLst>
                        <p:par>
                          <p:cTn id="151" fill="hold">
                            <p:stCondLst>
                              <p:cond delay="0"/>
                            </p:stCondLst>
                            <p:childTnLst>
                              <p:par>
                                <p:cTn id="152" presetID="53" presetClass="entr" presetSubtype="16" fill="hold" grpId="0" nodeType="clickEffect">
                                  <p:stCondLst>
                                    <p:cond delay="0"/>
                                  </p:stCondLst>
                                  <p:childTnLst>
                                    <p:set>
                                      <p:cBhvr>
                                        <p:cTn id="153" dur="1" fill="hold">
                                          <p:stCondLst>
                                            <p:cond delay="0"/>
                                          </p:stCondLst>
                                        </p:cTn>
                                        <p:tgtEl>
                                          <p:spTgt spid="395333"/>
                                        </p:tgtEl>
                                        <p:attrNameLst>
                                          <p:attrName>style.visibility</p:attrName>
                                        </p:attrNameLst>
                                      </p:cBhvr>
                                      <p:to>
                                        <p:strVal val="visible"/>
                                      </p:to>
                                    </p:set>
                                    <p:anim calcmode="lin" valueType="num">
                                      <p:cBhvr>
                                        <p:cTn id="154" dur="500" fill="hold"/>
                                        <p:tgtEl>
                                          <p:spTgt spid="395333"/>
                                        </p:tgtEl>
                                        <p:attrNameLst>
                                          <p:attrName>ppt_w</p:attrName>
                                        </p:attrNameLst>
                                      </p:cBhvr>
                                      <p:tavLst>
                                        <p:tav tm="0">
                                          <p:val>
                                            <p:fltVal val="0"/>
                                          </p:val>
                                        </p:tav>
                                        <p:tav tm="100000">
                                          <p:val>
                                            <p:strVal val="#ppt_w"/>
                                          </p:val>
                                        </p:tav>
                                      </p:tavLst>
                                    </p:anim>
                                    <p:anim calcmode="lin" valueType="num">
                                      <p:cBhvr>
                                        <p:cTn id="155" dur="500" fill="hold"/>
                                        <p:tgtEl>
                                          <p:spTgt spid="395333"/>
                                        </p:tgtEl>
                                        <p:attrNameLst>
                                          <p:attrName>ppt_h</p:attrName>
                                        </p:attrNameLst>
                                      </p:cBhvr>
                                      <p:tavLst>
                                        <p:tav tm="0">
                                          <p:val>
                                            <p:fltVal val="0"/>
                                          </p:val>
                                        </p:tav>
                                        <p:tav tm="100000">
                                          <p:val>
                                            <p:strVal val="#ppt_h"/>
                                          </p:val>
                                        </p:tav>
                                      </p:tavLst>
                                    </p:anim>
                                    <p:animEffect transition="in" filter="fade">
                                      <p:cBhvr>
                                        <p:cTn id="156" dur="500"/>
                                        <p:tgtEl>
                                          <p:spTgt spid="395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70" grpId="0" bldLvl="0" animBg="1"/>
      <p:bldP spid="395271" grpId="0" bldLvl="0" animBg="1"/>
      <p:bldP spid="395272" grpId="0" bldLvl="0" animBg="1"/>
      <p:bldP spid="395273" grpId="0" bldLvl="0" animBg="1"/>
      <p:bldP spid="395274" grpId="0"/>
      <p:bldP spid="395274" grpId="1"/>
      <p:bldP spid="395275" grpId="0"/>
      <p:bldP spid="395276" grpId="0"/>
      <p:bldP spid="395277" grpId="0"/>
      <p:bldP spid="395280" grpId="0" bldLvl="0" animBg="1"/>
      <p:bldP spid="395281" grpId="0" bldLvl="0" animBg="1"/>
      <p:bldP spid="395290" grpId="0"/>
      <p:bldP spid="395290" grpId="1"/>
      <p:bldP spid="395291" grpId="0"/>
      <p:bldP spid="395304" grpId="0"/>
      <p:bldP spid="395305" grpId="0"/>
      <p:bldP spid="395311" grpId="0"/>
      <p:bldP spid="395312" grpId="0" bldLvl="0" animBg="1"/>
      <p:bldP spid="395310" grpId="0"/>
      <p:bldP spid="395313" grpId="0"/>
      <p:bldP spid="395326" grpId="0"/>
      <p:bldP spid="395330" grpId="0" bldLvl="0" animBg="1"/>
      <p:bldP spid="395331" grpId="0" bldLvl="0" animBg="1"/>
      <p:bldP spid="395333"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指针与函数</a:t>
            </a:r>
            <a:endParaRPr lang="zh-CN" altLang="en-US" dirty="0"/>
          </a:p>
        </p:txBody>
      </p:sp>
      <p:sp>
        <p:nvSpPr>
          <p:cNvPr id="3" name="内容占位符 2"/>
          <p:cNvSpPr>
            <a:spLocks noGrp="1"/>
          </p:cNvSpPr>
          <p:nvPr>
            <p:ph idx="1"/>
          </p:nvPr>
        </p:nvSpPr>
        <p:spPr/>
        <p:txBody>
          <a:bodyPr/>
          <a:lstStyle/>
          <a:p>
            <a:r>
              <a:rPr lang="zh-CN" altLang="en-US" sz="2400" dirty="0"/>
              <a:t>调用说明：main函数调用Swap函数时，先给两个</a:t>
            </a:r>
            <a:r>
              <a:rPr lang="zh-CN" altLang="en-US" sz="2400" dirty="0" smtClean="0"/>
              <a:t>形参变量</a:t>
            </a:r>
            <a:r>
              <a:rPr lang="zh-CN" altLang="en-US" sz="2400" dirty="0"/>
              <a:t>x和y分配空间，然后将实参的值按顺序单向传递给形参，相当于x=a，y=b，然后Swap函数里交换x和y的值。Swap函数返回时，Swap函数内的形参变量x和y的空间已经被释放，而主函数内的两个变量a和b的值没有任何改变。</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44</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4180" name="Rectangle 4"/>
          <p:cNvSpPr>
            <a:spLocks noChangeArrowheads="1"/>
          </p:cNvSpPr>
          <p:nvPr/>
        </p:nvSpPr>
        <p:spPr bwMode="auto">
          <a:xfrm>
            <a:off x="251520" y="1268760"/>
            <a:ext cx="4748212" cy="2638425"/>
          </a:xfrm>
          <a:prstGeom prst="rect">
            <a:avLst/>
          </a:prstGeom>
          <a:noFill/>
          <a:ln w="12700" cap="sq">
            <a:noFill/>
            <a:miter lim="800000"/>
            <a:headEnd type="none" w="sm" len="sm"/>
            <a:tailEnd type="none" w="sm" len="sm"/>
          </a:ln>
          <a:effectLst/>
        </p:spPr>
        <p:txBody>
          <a:bodyPr>
            <a:spAutoFit/>
          </a:bodyPr>
          <a:lstStyle/>
          <a:p>
            <a:pPr>
              <a:lnSpc>
                <a:spcPts val="2200"/>
              </a:lnSpc>
              <a:defRPr/>
            </a:pPr>
            <a:r>
              <a:rPr kumimoji="1" lang="en-US" altLang="zh-CN" sz="2000" b="1" dirty="0">
                <a:solidFill>
                  <a:schemeClr val="accent2">
                    <a:lumMod val="75000"/>
                  </a:schemeClr>
                </a:solidFill>
                <a:latin typeface="Courier New" pitchFamily="49" charset="0"/>
                <a:ea typeface="宋体" pitchFamily="2" charset="-122"/>
              </a:rPr>
              <a:t>int</a:t>
            </a:r>
            <a:r>
              <a:rPr kumimoji="1" lang="en-US" altLang="zh-CN" sz="2000" b="1" dirty="0">
                <a:latin typeface="Courier New" pitchFamily="49" charset="0"/>
                <a:ea typeface="宋体" pitchFamily="2" charset="-122"/>
              </a:rPr>
              <a:t> main()</a:t>
            </a:r>
          </a:p>
          <a:p>
            <a:pPr>
              <a:lnSpc>
                <a:spcPts val="2200"/>
              </a:lnSpc>
              <a:defRPr/>
            </a:pPr>
            <a:r>
              <a:rPr kumimoji="1" lang="en-US" altLang="zh-CN" sz="2000" b="1" dirty="0">
                <a:latin typeface="Courier New" pitchFamily="49" charset="0"/>
                <a:ea typeface="宋体" pitchFamily="2" charset="-122"/>
              </a:rPr>
              <a:t>{</a:t>
            </a:r>
          </a:p>
          <a:p>
            <a:pPr>
              <a:lnSpc>
                <a:spcPts val="2200"/>
              </a:lnSpc>
              <a:defRPr/>
            </a:pPr>
            <a:r>
              <a:rPr kumimoji="1" lang="en-US" altLang="zh-CN" sz="2000" b="1" dirty="0">
                <a:latin typeface="Courier New" pitchFamily="49" charset="0"/>
                <a:ea typeface="宋体" pitchFamily="2" charset="-122"/>
              </a:rPr>
              <a:t>  </a:t>
            </a:r>
            <a:r>
              <a:rPr kumimoji="1" lang="en-US" altLang="zh-CN" sz="2000" b="1" dirty="0">
                <a:solidFill>
                  <a:schemeClr val="accent2">
                    <a:lumMod val="75000"/>
                  </a:schemeClr>
                </a:solidFill>
                <a:latin typeface="Courier New" pitchFamily="49" charset="0"/>
                <a:ea typeface="宋体" pitchFamily="2" charset="-122"/>
              </a:rPr>
              <a:t>int</a:t>
            </a:r>
            <a:r>
              <a:rPr kumimoji="1" lang="en-US" altLang="zh-CN" sz="2000" b="1" dirty="0">
                <a:latin typeface="Courier New" pitchFamily="49" charset="0"/>
                <a:ea typeface="宋体" pitchFamily="2" charset="-122"/>
              </a:rPr>
              <a:t> a, b;</a:t>
            </a:r>
          </a:p>
          <a:p>
            <a:pPr>
              <a:lnSpc>
                <a:spcPts val="2200"/>
              </a:lnSpc>
              <a:defRPr/>
            </a:pPr>
            <a:r>
              <a:rPr kumimoji="1" lang="en-US" altLang="zh-CN" sz="2000" b="1" dirty="0">
                <a:latin typeface="Courier New" pitchFamily="49" charset="0"/>
                <a:ea typeface="宋体" pitchFamily="2" charset="-122"/>
              </a:rPr>
              <a:t>  a = 5;</a:t>
            </a:r>
          </a:p>
          <a:p>
            <a:pPr>
              <a:lnSpc>
                <a:spcPts val="2200"/>
              </a:lnSpc>
              <a:defRPr/>
            </a:pPr>
            <a:r>
              <a:rPr kumimoji="1" lang="en-US" altLang="zh-CN" sz="2000" b="1" dirty="0">
                <a:latin typeface="Courier New" pitchFamily="49" charset="0"/>
                <a:ea typeface="宋体" pitchFamily="2" charset="-122"/>
              </a:rPr>
              <a:t>  b = 9;</a:t>
            </a:r>
          </a:p>
          <a:p>
            <a:pPr>
              <a:lnSpc>
                <a:spcPts val="2200"/>
              </a:lnSpc>
              <a:defRPr/>
            </a:pPr>
            <a:r>
              <a:rPr kumimoji="1" lang="en-US" altLang="zh-CN" sz="2000" b="1" dirty="0">
                <a:latin typeface="Courier New" pitchFamily="49" charset="0"/>
                <a:ea typeface="宋体" pitchFamily="2" charset="-122"/>
              </a:rPr>
              <a:t>  Swap( &amp;a, &amp;b );</a:t>
            </a:r>
          </a:p>
          <a:p>
            <a:pPr>
              <a:lnSpc>
                <a:spcPts val="2200"/>
              </a:lnSpc>
              <a:defRPr/>
            </a:pPr>
            <a:r>
              <a:rPr kumimoji="1" lang="en-US" altLang="zh-CN" sz="2000" b="1" dirty="0">
                <a:latin typeface="Courier New" pitchFamily="49" charset="0"/>
                <a:ea typeface="宋体" pitchFamily="2" charset="-122"/>
              </a:rPr>
              <a:t>  printf(</a:t>
            </a:r>
            <a:r>
              <a:rPr lang="en-US" altLang="zh-CN" sz="2000" b="1" dirty="0">
                <a:effectLst>
                  <a:outerShdw blurRad="38100" dist="38100" dir="2700000" algn="tl">
                    <a:srgbClr val="C0C0C0"/>
                  </a:outerShdw>
                </a:effectLst>
                <a:ea typeface="宋体" pitchFamily="2" charset="-122"/>
              </a:rPr>
              <a:t>"</a:t>
            </a:r>
            <a:r>
              <a:rPr kumimoji="1" lang="en-US" altLang="zh-CN" sz="2000" b="1" dirty="0">
                <a:latin typeface="Courier New" pitchFamily="49" charset="0"/>
                <a:ea typeface="宋体" pitchFamily="2" charset="-122"/>
              </a:rPr>
              <a:t>a=%d,b=%d</a:t>
            </a:r>
            <a:r>
              <a:rPr lang="en-US" altLang="zh-CN" sz="2000" b="1" dirty="0">
                <a:effectLst>
                  <a:outerShdw blurRad="38100" dist="38100" dir="2700000" algn="tl">
                    <a:srgbClr val="C0C0C0"/>
                  </a:outerShdw>
                </a:effectLst>
                <a:ea typeface="宋体" pitchFamily="2" charset="-122"/>
              </a:rPr>
              <a:t>"</a:t>
            </a:r>
            <a:r>
              <a:rPr kumimoji="1" lang="en-US" altLang="zh-CN" sz="2000" b="1" dirty="0">
                <a:latin typeface="Courier New" pitchFamily="49" charset="0"/>
                <a:ea typeface="宋体" pitchFamily="2" charset="-122"/>
              </a:rPr>
              <a:t>,a,b);</a:t>
            </a:r>
          </a:p>
          <a:p>
            <a:pPr>
              <a:lnSpc>
                <a:spcPts val="2200"/>
              </a:lnSpc>
              <a:defRPr/>
            </a:pPr>
            <a:r>
              <a:rPr kumimoji="1" lang="en-US" altLang="zh-CN" sz="2000" b="1" dirty="0">
                <a:latin typeface="Courier New" pitchFamily="49" charset="0"/>
                <a:ea typeface="宋体" pitchFamily="2" charset="-122"/>
              </a:rPr>
              <a:t>  </a:t>
            </a:r>
            <a:r>
              <a:rPr kumimoji="1" lang="en-US" altLang="zh-CN" sz="2000" b="1" dirty="0">
                <a:solidFill>
                  <a:schemeClr val="accent2">
                    <a:lumMod val="75000"/>
                  </a:schemeClr>
                </a:solidFill>
                <a:latin typeface="Courier New" pitchFamily="49" charset="0"/>
                <a:ea typeface="宋体" pitchFamily="2" charset="-122"/>
              </a:rPr>
              <a:t>return</a:t>
            </a:r>
            <a:r>
              <a:rPr kumimoji="1" lang="en-US" altLang="zh-CN" sz="2000" b="1" dirty="0">
                <a:latin typeface="Courier New" pitchFamily="49" charset="0"/>
                <a:ea typeface="宋体" pitchFamily="2" charset="-122"/>
              </a:rPr>
              <a:t> 0;</a:t>
            </a:r>
          </a:p>
          <a:p>
            <a:pPr>
              <a:lnSpc>
                <a:spcPts val="2200"/>
              </a:lnSpc>
              <a:defRPr/>
            </a:pPr>
            <a:r>
              <a:rPr kumimoji="1" lang="en-US" altLang="zh-CN" sz="2000" b="1" dirty="0">
                <a:latin typeface="Courier New" pitchFamily="49" charset="0"/>
                <a:ea typeface="宋体" pitchFamily="2" charset="-122"/>
              </a:rPr>
              <a:t>}</a:t>
            </a:r>
            <a:endParaRPr kumimoji="1" lang="en-US" altLang="zh-CN" sz="2000" b="1" dirty="0">
              <a:effectLst>
                <a:outerShdw blurRad="38100" dist="38100" dir="2700000" algn="tl">
                  <a:srgbClr val="C0C0C0"/>
                </a:outerShdw>
              </a:effectLst>
              <a:latin typeface="Courier New" pitchFamily="49" charset="0"/>
              <a:ea typeface="宋体" pitchFamily="2" charset="-122"/>
            </a:endParaRPr>
          </a:p>
        </p:txBody>
      </p:sp>
      <p:sp>
        <p:nvSpPr>
          <p:cNvPr id="434181" name="Rectangle 5"/>
          <p:cNvSpPr>
            <a:spLocks noChangeArrowheads="1"/>
          </p:cNvSpPr>
          <p:nvPr/>
        </p:nvSpPr>
        <p:spPr bwMode="auto">
          <a:xfrm>
            <a:off x="5062538" y="1268413"/>
            <a:ext cx="3994150" cy="2225675"/>
          </a:xfrm>
          <a:prstGeom prst="rect">
            <a:avLst/>
          </a:prstGeom>
          <a:noFill/>
          <a:ln w="12700" cap="sq">
            <a:noFill/>
            <a:miter lim="800000"/>
            <a:headEnd type="none" w="sm" len="sm"/>
            <a:tailEnd type="none" w="sm" len="sm"/>
          </a:ln>
          <a:effectLst/>
        </p:spPr>
        <p:txBody>
          <a:bodyPr wrap="none">
            <a:spAutoFit/>
          </a:bodyPr>
          <a:lstStyle/>
          <a:p>
            <a:pPr>
              <a:defRPr/>
            </a:pPr>
            <a:r>
              <a:rPr kumimoji="1" lang="en-US" altLang="zh-CN" sz="2000" b="1" dirty="0">
                <a:solidFill>
                  <a:schemeClr val="accent2"/>
                </a:solidFill>
                <a:effectLst>
                  <a:outerShdw blurRad="38100" dist="38100" dir="2700000" algn="tl">
                    <a:srgbClr val="C0C0C0"/>
                  </a:outerShdw>
                </a:effectLst>
                <a:latin typeface="Courier New" pitchFamily="49" charset="0"/>
                <a:ea typeface="宋体" pitchFamily="2" charset="-122"/>
              </a:rPr>
              <a:t>void</a:t>
            </a:r>
            <a:r>
              <a:rPr kumimoji="1" lang="en-US" altLang="zh-CN" sz="2000" b="1" dirty="0">
                <a:effectLst>
                  <a:outerShdw blurRad="38100" dist="38100" dir="2700000" algn="tl">
                    <a:srgbClr val="C0C0C0"/>
                  </a:outerShdw>
                </a:effectLst>
                <a:latin typeface="Courier New" pitchFamily="49" charset="0"/>
                <a:ea typeface="宋体" pitchFamily="2" charset="-122"/>
              </a:rPr>
              <a:t> Swap(</a:t>
            </a:r>
            <a:r>
              <a:rPr kumimoji="1" lang="en-US" altLang="zh-CN" sz="2000" b="1" dirty="0">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dirty="0">
                <a:solidFill>
                  <a:schemeClr val="tx2"/>
                </a:solidFill>
                <a:effectLst>
                  <a:outerShdw blurRad="38100" dist="38100" dir="2700000" algn="tl">
                    <a:srgbClr val="C0C0C0"/>
                  </a:outerShdw>
                </a:effectLst>
                <a:latin typeface="Courier New" pitchFamily="49" charset="0"/>
                <a:ea typeface="宋体" pitchFamily="2" charset="-122"/>
              </a:rPr>
              <a:t> *x, </a:t>
            </a:r>
            <a:r>
              <a:rPr kumimoji="1" lang="en-US" altLang="zh-CN" sz="2000" b="1" dirty="0">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dirty="0">
                <a:solidFill>
                  <a:schemeClr val="tx2"/>
                </a:solidFill>
                <a:effectLst>
                  <a:outerShdw blurRad="38100" dist="38100" dir="2700000" algn="tl">
                    <a:srgbClr val="C0C0C0"/>
                  </a:outerShdw>
                </a:effectLst>
                <a:latin typeface="Courier New" pitchFamily="49" charset="0"/>
                <a:ea typeface="宋体" pitchFamily="2" charset="-122"/>
              </a:rPr>
              <a:t> *y</a:t>
            </a:r>
            <a:r>
              <a:rPr kumimoji="1" lang="en-US" altLang="zh-CN" sz="2000" b="1" dirty="0">
                <a:effectLst>
                  <a:outerShdw blurRad="38100" dist="38100" dir="2700000" algn="tl">
                    <a:srgbClr val="C0C0C0"/>
                  </a:outerShdw>
                </a:effectLst>
                <a:latin typeface="Courier New" pitchFamily="49" charset="0"/>
                <a:ea typeface="宋体" pitchFamily="2" charset="-122"/>
              </a:rPr>
              <a:t>)</a:t>
            </a:r>
          </a:p>
          <a:p>
            <a:pPr>
              <a:defRPr/>
            </a:pPr>
            <a:r>
              <a:rPr kumimoji="1" lang="en-US" altLang="zh-CN" sz="2000" b="1" dirty="0">
                <a:effectLst>
                  <a:outerShdw blurRad="38100" dist="38100" dir="2700000" algn="tl">
                    <a:srgbClr val="C0C0C0"/>
                  </a:outerShdw>
                </a:effectLst>
                <a:latin typeface="Courier New" pitchFamily="49" charset="0"/>
                <a:ea typeface="宋体" pitchFamily="2" charset="-122"/>
              </a:rPr>
              <a:t>{    </a:t>
            </a:r>
          </a:p>
          <a:p>
            <a:pPr>
              <a:defRPr/>
            </a:pPr>
            <a:r>
              <a:rPr kumimoji="1" lang="en-US" altLang="zh-CN" sz="2000" b="1" dirty="0">
                <a:effectLst>
                  <a:outerShdw blurRad="38100" dist="38100" dir="2700000" algn="tl">
                    <a:srgbClr val="C0C0C0"/>
                  </a:outerShdw>
                </a:effectLst>
                <a:latin typeface="Courier New" pitchFamily="49" charset="0"/>
                <a:ea typeface="宋体" pitchFamily="2" charset="-122"/>
              </a:rPr>
              <a:t>    </a:t>
            </a:r>
            <a:r>
              <a:rPr kumimoji="1" lang="en-US" altLang="zh-CN" sz="2000" b="1" dirty="0">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dirty="0">
                <a:effectLst>
                  <a:outerShdw blurRad="38100" dist="38100" dir="2700000" algn="tl">
                    <a:srgbClr val="C0C0C0"/>
                  </a:outerShdw>
                </a:effectLst>
                <a:latin typeface="Courier New" pitchFamily="49" charset="0"/>
                <a:ea typeface="宋体" pitchFamily="2" charset="-122"/>
              </a:rPr>
              <a:t> temp;</a:t>
            </a:r>
          </a:p>
          <a:p>
            <a:pPr>
              <a:defRPr/>
            </a:pPr>
            <a:r>
              <a:rPr kumimoji="1" lang="en-US" altLang="zh-CN" sz="2000" b="1" dirty="0">
                <a:effectLst>
                  <a:outerShdw blurRad="38100" dist="38100" dir="2700000" algn="tl">
                    <a:srgbClr val="C0C0C0"/>
                  </a:outerShdw>
                </a:effectLst>
                <a:latin typeface="Courier New" pitchFamily="49" charset="0"/>
                <a:ea typeface="宋体" pitchFamily="2" charset="-122"/>
              </a:rPr>
              <a:t>    temp = *x;</a:t>
            </a:r>
          </a:p>
          <a:p>
            <a:pPr>
              <a:defRPr/>
            </a:pPr>
            <a:r>
              <a:rPr kumimoji="1" lang="en-US" altLang="zh-CN" sz="2000" b="1" dirty="0">
                <a:effectLst>
                  <a:outerShdw blurRad="38100" dist="38100" dir="2700000" algn="tl">
                    <a:srgbClr val="C0C0C0"/>
                  </a:outerShdw>
                </a:effectLst>
                <a:latin typeface="Courier New" pitchFamily="49" charset="0"/>
                <a:ea typeface="宋体" pitchFamily="2" charset="-122"/>
              </a:rPr>
              <a:t>    *x = *y;</a:t>
            </a:r>
          </a:p>
          <a:p>
            <a:pPr>
              <a:defRPr/>
            </a:pPr>
            <a:r>
              <a:rPr kumimoji="1" lang="en-US" altLang="zh-CN" sz="2000" b="1" dirty="0">
                <a:effectLst>
                  <a:outerShdw blurRad="38100" dist="38100" dir="2700000" algn="tl">
                    <a:srgbClr val="C0C0C0"/>
                  </a:outerShdw>
                </a:effectLst>
                <a:latin typeface="Courier New" pitchFamily="49" charset="0"/>
                <a:ea typeface="宋体" pitchFamily="2" charset="-122"/>
              </a:rPr>
              <a:t>    *y = temp;</a:t>
            </a:r>
          </a:p>
          <a:p>
            <a:pPr>
              <a:defRPr/>
            </a:pPr>
            <a:r>
              <a:rPr kumimoji="1" lang="en-US" altLang="zh-CN" sz="2000" b="1" dirty="0">
                <a:effectLst>
                  <a:outerShdw blurRad="38100" dist="38100" dir="2700000" algn="tl">
                    <a:srgbClr val="C0C0C0"/>
                  </a:outerShdw>
                </a:effectLst>
                <a:latin typeface="Courier New" pitchFamily="49" charset="0"/>
                <a:ea typeface="宋体" pitchFamily="2" charset="-122"/>
              </a:rPr>
              <a:t>}</a:t>
            </a:r>
          </a:p>
        </p:txBody>
      </p:sp>
      <p:sp>
        <p:nvSpPr>
          <p:cNvPr id="434182" name="Rectangle 6"/>
          <p:cNvSpPr>
            <a:spLocks noChangeArrowheads="1"/>
          </p:cNvSpPr>
          <p:nvPr/>
        </p:nvSpPr>
        <p:spPr bwMode="auto">
          <a:xfrm>
            <a:off x="2390775" y="4668838"/>
            <a:ext cx="622300" cy="519112"/>
          </a:xfrm>
          <a:prstGeom prst="rect">
            <a:avLst/>
          </a:prstGeom>
          <a:solidFill>
            <a:srgbClr val="000080"/>
          </a:solidFill>
          <a:ln>
            <a:noFill/>
          </a:ln>
          <a:effectLst>
            <a:outerShdw dist="35921" dir="2700000" algn="ctr" rotWithShape="0">
              <a:schemeClr val="accent2"/>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183" name="Rectangle 7"/>
          <p:cNvSpPr>
            <a:spLocks noChangeArrowheads="1"/>
          </p:cNvSpPr>
          <p:nvPr/>
        </p:nvSpPr>
        <p:spPr bwMode="auto">
          <a:xfrm>
            <a:off x="6340475" y="4640263"/>
            <a:ext cx="622300" cy="519112"/>
          </a:xfrm>
          <a:prstGeom prst="rect">
            <a:avLst/>
          </a:prstGeom>
          <a:solidFill>
            <a:srgbClr val="008000"/>
          </a:solidFill>
          <a:ln>
            <a:noFill/>
          </a:ln>
          <a:effectLst>
            <a:outerShdw dist="35921" dir="2700000" algn="ctr" rotWithShape="0">
              <a:srgbClr val="FFFF00"/>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184" name="Rectangle 8"/>
          <p:cNvSpPr>
            <a:spLocks noChangeArrowheads="1"/>
          </p:cNvSpPr>
          <p:nvPr/>
        </p:nvSpPr>
        <p:spPr bwMode="auto">
          <a:xfrm>
            <a:off x="5224463" y="4633913"/>
            <a:ext cx="622300" cy="519112"/>
          </a:xfrm>
          <a:prstGeom prst="rect">
            <a:avLst/>
          </a:prstGeom>
          <a:solidFill>
            <a:srgbClr val="008000"/>
          </a:solidFill>
          <a:ln>
            <a:noFill/>
          </a:ln>
          <a:effectLst>
            <a:outerShdw dist="35921" dir="2700000" algn="ctr" rotWithShape="0">
              <a:srgbClr val="FFFF00"/>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185" name="Rectangle 9"/>
          <p:cNvSpPr>
            <a:spLocks noChangeArrowheads="1"/>
          </p:cNvSpPr>
          <p:nvPr/>
        </p:nvSpPr>
        <p:spPr bwMode="auto">
          <a:xfrm>
            <a:off x="3670300" y="4648200"/>
            <a:ext cx="622300" cy="519113"/>
          </a:xfrm>
          <a:prstGeom prst="rect">
            <a:avLst/>
          </a:prstGeom>
          <a:solidFill>
            <a:srgbClr val="000080"/>
          </a:solidFill>
          <a:ln>
            <a:noFill/>
          </a:ln>
          <a:effectLst>
            <a:outerShdw dist="35921" dir="2700000" algn="ctr" rotWithShape="0">
              <a:schemeClr val="accent2"/>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186" name="Text Box 10"/>
          <p:cNvSpPr txBox="1">
            <a:spLocks noChangeArrowheads="1"/>
          </p:cNvSpPr>
          <p:nvPr/>
        </p:nvSpPr>
        <p:spPr bwMode="auto">
          <a:xfrm>
            <a:off x="5265738" y="468788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en-US" altLang="zh-CN" sz="2400" dirty="0">
                <a:solidFill>
                  <a:schemeClr val="bg1"/>
                </a:solidFill>
                <a:latin typeface="Courier New" pitchFamily="49" charset="0"/>
              </a:rPr>
              <a:t>&amp;a</a:t>
            </a:r>
          </a:p>
        </p:txBody>
      </p:sp>
      <p:sp>
        <p:nvSpPr>
          <p:cNvPr id="434187" name="Text Box 11"/>
          <p:cNvSpPr txBox="1">
            <a:spLocks noChangeArrowheads="1"/>
          </p:cNvSpPr>
          <p:nvPr/>
        </p:nvSpPr>
        <p:spPr bwMode="auto">
          <a:xfrm>
            <a:off x="2401888" y="4652963"/>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en-US" altLang="zh-CN" sz="2800" dirty="0">
                <a:solidFill>
                  <a:schemeClr val="bg1"/>
                </a:solidFill>
                <a:latin typeface="Courier New" pitchFamily="49" charset="0"/>
              </a:rPr>
              <a:t>&amp;a</a:t>
            </a:r>
            <a:endParaRPr kumimoji="1" lang="en-US" altLang="zh-CN" sz="2800" dirty="0">
              <a:solidFill>
                <a:srgbClr val="CC3300"/>
              </a:solidFill>
              <a:latin typeface="Courier New" pitchFamily="49" charset="0"/>
            </a:endParaRPr>
          </a:p>
        </p:txBody>
      </p:sp>
      <p:sp>
        <p:nvSpPr>
          <p:cNvPr id="38922" name="Line 14"/>
          <p:cNvSpPr>
            <a:spLocks noChangeShapeType="1"/>
          </p:cNvSpPr>
          <p:nvPr/>
        </p:nvSpPr>
        <p:spPr bwMode="auto">
          <a:xfrm>
            <a:off x="4475163" y="-1588"/>
            <a:ext cx="0" cy="6858001"/>
          </a:xfrm>
          <a:prstGeom prst="line">
            <a:avLst/>
          </a:prstGeom>
          <a:noFill/>
          <a:ln w="57150">
            <a:solidFill>
              <a:srgbClr val="CC9900"/>
            </a:solidFill>
            <a:prstDash val="lgDashDot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3" name="Line 15"/>
          <p:cNvSpPr>
            <a:spLocks noChangeShapeType="1"/>
          </p:cNvSpPr>
          <p:nvPr/>
        </p:nvSpPr>
        <p:spPr bwMode="auto">
          <a:xfrm>
            <a:off x="0" y="1247775"/>
            <a:ext cx="9144000" cy="0"/>
          </a:xfrm>
          <a:prstGeom prst="line">
            <a:avLst/>
          </a:prstGeom>
          <a:noFill/>
          <a:ln w="57150">
            <a:solidFill>
              <a:srgbClr val="CC9900"/>
            </a:solidFill>
            <a:prstDash val="lgDashDot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4192" name="Rectangle 16"/>
          <p:cNvSpPr>
            <a:spLocks noChangeArrowheads="1"/>
          </p:cNvSpPr>
          <p:nvPr/>
        </p:nvSpPr>
        <p:spPr bwMode="auto">
          <a:xfrm>
            <a:off x="539750" y="5661025"/>
            <a:ext cx="863600" cy="449263"/>
          </a:xfrm>
          <a:prstGeom prst="rect">
            <a:avLst/>
          </a:prstGeom>
          <a:solidFill>
            <a:srgbClr val="000080"/>
          </a:solidFill>
          <a:ln>
            <a:noFill/>
          </a:ln>
          <a:effectLst>
            <a:outerShdw dist="35921" dir="2700000" algn="ctr" rotWithShape="0">
              <a:schemeClr val="accent2"/>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zh-CN" altLang="en-US" sz="2400">
                <a:solidFill>
                  <a:schemeClr val="bg1"/>
                </a:solidFill>
                <a:latin typeface="幼圆" pitchFamily="49" charset="-122"/>
                <a:ea typeface="幼圆" pitchFamily="49" charset="-122"/>
              </a:rPr>
              <a:t>实 参</a:t>
            </a:r>
          </a:p>
        </p:txBody>
      </p:sp>
      <p:sp>
        <p:nvSpPr>
          <p:cNvPr id="434193" name="Rectangle 17"/>
          <p:cNvSpPr>
            <a:spLocks noChangeArrowheads="1"/>
          </p:cNvSpPr>
          <p:nvPr/>
        </p:nvSpPr>
        <p:spPr bwMode="auto">
          <a:xfrm>
            <a:off x="6804025" y="5502275"/>
            <a:ext cx="863600" cy="447675"/>
          </a:xfrm>
          <a:prstGeom prst="rect">
            <a:avLst/>
          </a:prstGeom>
          <a:solidFill>
            <a:srgbClr val="008000"/>
          </a:solidFill>
          <a:ln>
            <a:noFill/>
          </a:ln>
          <a:effectLst>
            <a:outerShdw dist="35921" dir="2700000" algn="ctr" rotWithShape="0">
              <a:srgbClr val="FFFF00"/>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zh-CN" altLang="en-US" sz="2400">
                <a:solidFill>
                  <a:schemeClr val="bg1"/>
                </a:solidFill>
                <a:latin typeface="幼圆" pitchFamily="49" charset="-122"/>
                <a:ea typeface="幼圆" pitchFamily="49" charset="-122"/>
              </a:rPr>
              <a:t>形 参</a:t>
            </a:r>
          </a:p>
        </p:txBody>
      </p:sp>
      <p:grpSp>
        <p:nvGrpSpPr>
          <p:cNvPr id="2" name="Group 18"/>
          <p:cNvGrpSpPr>
            <a:grpSpLocks/>
          </p:cNvGrpSpPr>
          <p:nvPr/>
        </p:nvGrpSpPr>
        <p:grpSpPr bwMode="auto">
          <a:xfrm>
            <a:off x="2701925" y="5130800"/>
            <a:ext cx="2876550" cy="541338"/>
            <a:chOff x="1449" y="1885"/>
            <a:chExt cx="1812" cy="341"/>
          </a:xfrm>
        </p:grpSpPr>
        <p:sp>
          <p:nvSpPr>
            <p:cNvPr id="38973" name="Line 19"/>
            <p:cNvSpPr>
              <a:spLocks noChangeShapeType="1"/>
            </p:cNvSpPr>
            <p:nvPr/>
          </p:nvSpPr>
          <p:spPr bwMode="auto">
            <a:xfrm>
              <a:off x="1479" y="2226"/>
              <a:ext cx="1782" cy="0"/>
            </a:xfrm>
            <a:prstGeom prst="line">
              <a:avLst/>
            </a:prstGeom>
            <a:noFill/>
            <a:ln w="5715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4" name="Line 20"/>
            <p:cNvSpPr>
              <a:spLocks noChangeShapeType="1"/>
            </p:cNvSpPr>
            <p:nvPr/>
          </p:nvSpPr>
          <p:spPr bwMode="auto">
            <a:xfrm flipV="1">
              <a:off x="1449" y="1940"/>
              <a:ext cx="0" cy="286"/>
            </a:xfrm>
            <a:prstGeom prst="line">
              <a:avLst/>
            </a:prstGeom>
            <a:noFill/>
            <a:ln w="5715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5" name="Line 21"/>
            <p:cNvSpPr>
              <a:spLocks noChangeShapeType="1"/>
            </p:cNvSpPr>
            <p:nvPr/>
          </p:nvSpPr>
          <p:spPr bwMode="auto">
            <a:xfrm flipV="1">
              <a:off x="3261" y="1885"/>
              <a:ext cx="0" cy="341"/>
            </a:xfrm>
            <a:prstGeom prst="line">
              <a:avLst/>
            </a:prstGeom>
            <a:noFill/>
            <a:ln w="57150" cap="sq">
              <a:solidFill>
                <a:schemeClr val="tx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22"/>
          <p:cNvGrpSpPr>
            <a:grpSpLocks/>
          </p:cNvGrpSpPr>
          <p:nvPr/>
        </p:nvGrpSpPr>
        <p:grpSpPr bwMode="auto">
          <a:xfrm>
            <a:off x="3952875" y="5168900"/>
            <a:ext cx="2701925" cy="781050"/>
            <a:chOff x="2237" y="1909"/>
            <a:chExt cx="1702" cy="492"/>
          </a:xfrm>
        </p:grpSpPr>
        <p:sp>
          <p:nvSpPr>
            <p:cNvPr id="38970" name="Line 23"/>
            <p:cNvSpPr>
              <a:spLocks noChangeShapeType="1"/>
            </p:cNvSpPr>
            <p:nvPr/>
          </p:nvSpPr>
          <p:spPr bwMode="auto">
            <a:xfrm>
              <a:off x="2237" y="2401"/>
              <a:ext cx="1702" cy="0"/>
            </a:xfrm>
            <a:prstGeom prst="line">
              <a:avLst/>
            </a:prstGeom>
            <a:noFill/>
            <a:ln w="5715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1" name="Line 24"/>
            <p:cNvSpPr>
              <a:spLocks noChangeShapeType="1"/>
            </p:cNvSpPr>
            <p:nvPr/>
          </p:nvSpPr>
          <p:spPr bwMode="auto">
            <a:xfrm flipV="1">
              <a:off x="3939" y="1909"/>
              <a:ext cx="0" cy="492"/>
            </a:xfrm>
            <a:prstGeom prst="line">
              <a:avLst/>
            </a:prstGeom>
            <a:noFill/>
            <a:ln w="57150" cap="sq">
              <a:solidFill>
                <a:schemeClr val="tx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2" name="Line 25"/>
            <p:cNvSpPr>
              <a:spLocks noChangeShapeType="1"/>
            </p:cNvSpPr>
            <p:nvPr/>
          </p:nvSpPr>
          <p:spPr bwMode="auto">
            <a:xfrm flipV="1">
              <a:off x="2237" y="1921"/>
              <a:ext cx="0" cy="462"/>
            </a:xfrm>
            <a:prstGeom prst="line">
              <a:avLst/>
            </a:prstGeom>
            <a:noFill/>
            <a:ln w="5715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34202" name="Text Box 26"/>
          <p:cNvSpPr txBox="1">
            <a:spLocks noChangeArrowheads="1"/>
          </p:cNvSpPr>
          <p:nvPr/>
        </p:nvSpPr>
        <p:spPr bwMode="auto">
          <a:xfrm>
            <a:off x="6392863" y="468788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en-US" altLang="zh-CN" sz="2400" dirty="0">
                <a:solidFill>
                  <a:schemeClr val="bg1"/>
                </a:solidFill>
                <a:latin typeface="Courier New" pitchFamily="49" charset="0"/>
              </a:rPr>
              <a:t>&amp;b</a:t>
            </a:r>
          </a:p>
        </p:txBody>
      </p:sp>
      <p:sp>
        <p:nvSpPr>
          <p:cNvPr id="434203" name="Text Box 27"/>
          <p:cNvSpPr txBox="1">
            <a:spLocks noChangeArrowheads="1"/>
          </p:cNvSpPr>
          <p:nvPr/>
        </p:nvSpPr>
        <p:spPr bwMode="auto">
          <a:xfrm>
            <a:off x="3803650" y="46545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en-US" altLang="zh-CN" sz="2800" dirty="0">
                <a:solidFill>
                  <a:schemeClr val="bg1"/>
                </a:solidFill>
                <a:latin typeface="Courier New" pitchFamily="49" charset="0"/>
              </a:rPr>
              <a:t>&amp;b</a:t>
            </a:r>
          </a:p>
        </p:txBody>
      </p:sp>
      <p:grpSp>
        <p:nvGrpSpPr>
          <p:cNvPr id="4" name="Group 28"/>
          <p:cNvGrpSpPr>
            <a:grpSpLocks/>
          </p:cNvGrpSpPr>
          <p:nvPr/>
        </p:nvGrpSpPr>
        <p:grpSpPr bwMode="auto">
          <a:xfrm>
            <a:off x="5089525" y="6142038"/>
            <a:ext cx="1185863" cy="519112"/>
            <a:chOff x="3085" y="2733"/>
            <a:chExt cx="747" cy="327"/>
          </a:xfrm>
        </p:grpSpPr>
        <p:sp>
          <p:nvSpPr>
            <p:cNvPr id="38967" name="Text Box 29"/>
            <p:cNvSpPr txBox="1">
              <a:spLocks noChangeArrowheads="1"/>
            </p:cNvSpPr>
            <p:nvPr/>
          </p:nvSpPr>
          <p:spPr bwMode="auto">
            <a:xfrm>
              <a:off x="3085" y="2733"/>
              <a:ext cx="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accent2"/>
                  </a:solidFill>
                  <a:latin typeface="Courier New" pitchFamily="49" charset="0"/>
                </a:rPr>
                <a:t>x</a:t>
              </a:r>
            </a:p>
          </p:txBody>
        </p:sp>
        <p:sp>
          <p:nvSpPr>
            <p:cNvPr id="38968" name="Text Box 30"/>
            <p:cNvSpPr txBox="1">
              <a:spLocks noChangeArrowheads="1"/>
            </p:cNvSpPr>
            <p:nvPr/>
          </p:nvSpPr>
          <p:spPr bwMode="auto">
            <a:xfrm>
              <a:off x="3632" y="2733"/>
              <a:ext cx="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accent2"/>
                  </a:solidFill>
                  <a:latin typeface="Courier New" pitchFamily="49" charset="0"/>
                </a:rPr>
                <a:t>y</a:t>
              </a:r>
            </a:p>
          </p:txBody>
        </p:sp>
        <p:sp>
          <p:nvSpPr>
            <p:cNvPr id="434207" name="AutoShape 31"/>
            <p:cNvSpPr>
              <a:spLocks noChangeArrowheads="1"/>
            </p:cNvSpPr>
            <p:nvPr/>
          </p:nvSpPr>
          <p:spPr bwMode="auto">
            <a:xfrm>
              <a:off x="3308"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grpSp>
        <p:nvGrpSpPr>
          <p:cNvPr id="5" name="Group 32"/>
          <p:cNvGrpSpPr>
            <a:grpSpLocks/>
          </p:cNvGrpSpPr>
          <p:nvPr/>
        </p:nvGrpSpPr>
        <p:grpSpPr bwMode="auto">
          <a:xfrm>
            <a:off x="2555875" y="6111875"/>
            <a:ext cx="1350963" cy="581025"/>
            <a:chOff x="1774" y="2750"/>
            <a:chExt cx="851" cy="366"/>
          </a:xfrm>
        </p:grpSpPr>
        <p:sp>
          <p:nvSpPr>
            <p:cNvPr id="434209" name="Text Box 33"/>
            <p:cNvSpPr txBox="1">
              <a:spLocks noChangeArrowheads="1"/>
            </p:cNvSpPr>
            <p:nvPr/>
          </p:nvSpPr>
          <p:spPr bwMode="auto">
            <a:xfrm>
              <a:off x="1774" y="2750"/>
              <a:ext cx="250" cy="327"/>
            </a:xfrm>
            <a:prstGeom prst="rect">
              <a:avLst/>
            </a:prstGeom>
            <a:noFill/>
            <a:ln w="12700" cap="sq">
              <a:noFill/>
              <a:miter lim="800000"/>
              <a:headEnd type="none" w="sm" len="sm"/>
              <a:tailEnd type="none" w="sm" len="sm"/>
            </a:ln>
            <a:effectLst/>
          </p:spPr>
          <p:txBody>
            <a:bodyPr wrap="none">
              <a:spAutoFit/>
            </a:bodyPr>
            <a:lstStyle/>
            <a:p>
              <a:pPr>
                <a:defRPr/>
              </a:pPr>
              <a:r>
                <a:rPr kumimoji="1" lang="en-US" altLang="zh-CN" sz="2800" b="1" dirty="0">
                  <a:solidFill>
                    <a:schemeClr val="accent2"/>
                  </a:solidFill>
                  <a:latin typeface="Courier New" pitchFamily="49" charset="0"/>
                  <a:ea typeface="宋体" pitchFamily="2" charset="-122"/>
                </a:rPr>
                <a:t>a</a:t>
              </a:r>
              <a:endParaRPr kumimoji="1" lang="en-US" altLang="zh-CN" sz="2800" b="1" dirty="0">
                <a:solidFill>
                  <a:schemeClr val="accent2"/>
                </a:solidFill>
                <a:effectLst>
                  <a:outerShdw blurRad="38100" dist="38100" dir="2700000" algn="tl">
                    <a:srgbClr val="C0C0C0"/>
                  </a:outerShdw>
                </a:effectLst>
                <a:latin typeface="Courier New" pitchFamily="49" charset="0"/>
                <a:ea typeface="宋体" pitchFamily="2" charset="-122"/>
              </a:endParaRPr>
            </a:p>
          </p:txBody>
        </p:sp>
        <p:sp>
          <p:nvSpPr>
            <p:cNvPr id="434210" name="Text Box 34"/>
            <p:cNvSpPr txBox="1">
              <a:spLocks noChangeArrowheads="1"/>
            </p:cNvSpPr>
            <p:nvPr/>
          </p:nvSpPr>
          <p:spPr bwMode="auto">
            <a:xfrm>
              <a:off x="2375" y="2789"/>
              <a:ext cx="250" cy="327"/>
            </a:xfrm>
            <a:prstGeom prst="rect">
              <a:avLst/>
            </a:prstGeom>
            <a:noFill/>
            <a:ln w="12700" cap="sq">
              <a:noFill/>
              <a:miter lim="800000"/>
              <a:headEnd type="none" w="sm" len="sm"/>
              <a:tailEnd type="none" w="sm" len="sm"/>
            </a:ln>
            <a:effectLst/>
          </p:spPr>
          <p:txBody>
            <a:bodyPr wrap="none">
              <a:spAutoFit/>
            </a:bodyPr>
            <a:lstStyle/>
            <a:p>
              <a:pPr>
                <a:defRPr/>
              </a:pPr>
              <a:r>
                <a:rPr kumimoji="1" lang="en-US" altLang="zh-CN" sz="2800" b="1" dirty="0">
                  <a:solidFill>
                    <a:schemeClr val="accent2"/>
                  </a:solidFill>
                  <a:latin typeface="Courier New" pitchFamily="49" charset="0"/>
                  <a:ea typeface="宋体" pitchFamily="2" charset="-122"/>
                </a:rPr>
                <a:t>b</a:t>
              </a:r>
              <a:endParaRPr kumimoji="1" lang="en-US" altLang="zh-CN" sz="2800" b="1" dirty="0">
                <a:solidFill>
                  <a:schemeClr val="accent2"/>
                </a:solidFill>
                <a:effectLst>
                  <a:outerShdw blurRad="38100" dist="38100" dir="2700000" algn="tl">
                    <a:srgbClr val="C0C0C0"/>
                  </a:outerShdw>
                </a:effectLst>
                <a:latin typeface="Courier New" pitchFamily="49" charset="0"/>
                <a:ea typeface="宋体" pitchFamily="2" charset="-122"/>
              </a:endParaRPr>
            </a:p>
          </p:txBody>
        </p:sp>
        <p:sp>
          <p:nvSpPr>
            <p:cNvPr id="434211" name="AutoShape 35"/>
            <p:cNvSpPr>
              <a:spLocks noChangeArrowheads="1"/>
            </p:cNvSpPr>
            <p:nvPr/>
          </p:nvSpPr>
          <p:spPr bwMode="auto">
            <a:xfrm>
              <a:off x="2024"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sp>
        <p:nvSpPr>
          <p:cNvPr id="434216" name="Text Box 40"/>
          <p:cNvSpPr txBox="1">
            <a:spLocks noChangeArrowheads="1"/>
          </p:cNvSpPr>
          <p:nvPr/>
        </p:nvSpPr>
        <p:spPr bwMode="auto">
          <a:xfrm>
            <a:off x="5343525" y="4205288"/>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tx2"/>
                </a:solidFill>
                <a:latin typeface="Courier New" pitchFamily="49" charset="0"/>
              </a:rPr>
              <a:t>x</a:t>
            </a:r>
          </a:p>
        </p:txBody>
      </p:sp>
      <p:sp>
        <p:nvSpPr>
          <p:cNvPr id="434217" name="Text Box 41"/>
          <p:cNvSpPr txBox="1">
            <a:spLocks noChangeArrowheads="1"/>
          </p:cNvSpPr>
          <p:nvPr/>
        </p:nvSpPr>
        <p:spPr bwMode="auto">
          <a:xfrm>
            <a:off x="6424613" y="4205288"/>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tx2"/>
                </a:solidFill>
                <a:latin typeface="Courier New" pitchFamily="49" charset="0"/>
              </a:rPr>
              <a:t>y</a:t>
            </a:r>
          </a:p>
        </p:txBody>
      </p:sp>
      <p:sp>
        <p:nvSpPr>
          <p:cNvPr id="434223" name="Rectangle 47"/>
          <p:cNvSpPr>
            <a:spLocks noChangeArrowheads="1"/>
          </p:cNvSpPr>
          <p:nvPr/>
        </p:nvSpPr>
        <p:spPr bwMode="auto">
          <a:xfrm>
            <a:off x="5761038" y="3716338"/>
            <a:ext cx="622300" cy="519112"/>
          </a:xfrm>
          <a:prstGeom prst="rect">
            <a:avLst/>
          </a:prstGeom>
          <a:solidFill>
            <a:srgbClr val="800000"/>
          </a:solidFill>
          <a:ln>
            <a:noFill/>
          </a:ln>
          <a:effectLst>
            <a:outerShdw dist="35921" dir="2700000" algn="ctr" rotWithShape="0">
              <a:srgbClr val="FFFF00"/>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224" name="Text Box 48"/>
          <p:cNvSpPr txBox="1">
            <a:spLocks noChangeArrowheads="1"/>
          </p:cNvSpPr>
          <p:nvPr/>
        </p:nvSpPr>
        <p:spPr bwMode="auto">
          <a:xfrm>
            <a:off x="5748338" y="3716338"/>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50000"/>
              </a:spcBef>
              <a:buClrTx/>
              <a:buSzTx/>
              <a:buFontTx/>
              <a:buNone/>
            </a:pPr>
            <a:r>
              <a:rPr kumimoji="1" lang="en-US" altLang="zh-CN" sz="2800" dirty="0">
                <a:solidFill>
                  <a:schemeClr val="bg1"/>
                </a:solidFill>
                <a:latin typeface="Times New Roman" pitchFamily="18" charset="0"/>
              </a:rPr>
              <a:t>5</a:t>
            </a:r>
          </a:p>
        </p:txBody>
      </p:sp>
      <p:sp>
        <p:nvSpPr>
          <p:cNvPr id="434225" name="Text Box 49"/>
          <p:cNvSpPr txBox="1">
            <a:spLocks noChangeArrowheads="1"/>
          </p:cNvSpPr>
          <p:nvPr/>
        </p:nvSpPr>
        <p:spPr bwMode="auto">
          <a:xfrm>
            <a:off x="5634038" y="3429000"/>
            <a:ext cx="730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1800" dirty="0">
                <a:solidFill>
                  <a:schemeClr val="tx2"/>
                </a:solidFill>
                <a:latin typeface="Courier New" pitchFamily="49" charset="0"/>
              </a:rPr>
              <a:t>temp</a:t>
            </a:r>
          </a:p>
        </p:txBody>
      </p:sp>
      <p:sp>
        <p:nvSpPr>
          <p:cNvPr id="434226" name="Line 50"/>
          <p:cNvSpPr>
            <a:spLocks noChangeShapeType="1"/>
          </p:cNvSpPr>
          <p:nvPr/>
        </p:nvSpPr>
        <p:spPr bwMode="auto">
          <a:xfrm flipV="1">
            <a:off x="517525" y="3905250"/>
            <a:ext cx="0" cy="747713"/>
          </a:xfrm>
          <a:prstGeom prst="line">
            <a:avLst/>
          </a:prstGeom>
          <a:noFill/>
          <a:ln w="571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27" name="Line 51"/>
          <p:cNvSpPr>
            <a:spLocks noChangeShapeType="1"/>
          </p:cNvSpPr>
          <p:nvPr/>
        </p:nvSpPr>
        <p:spPr bwMode="auto">
          <a:xfrm>
            <a:off x="517525" y="3933825"/>
            <a:ext cx="5275263" cy="0"/>
          </a:xfrm>
          <a:prstGeom prst="line">
            <a:avLst/>
          </a:prstGeom>
          <a:noFill/>
          <a:ln w="57150">
            <a:solidFill>
              <a:srgbClr val="0000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34228" name="Line 52"/>
          <p:cNvSpPr>
            <a:spLocks noChangeShapeType="1"/>
          </p:cNvSpPr>
          <p:nvPr/>
        </p:nvSpPr>
        <p:spPr bwMode="auto">
          <a:xfrm flipV="1">
            <a:off x="1712913" y="4321175"/>
            <a:ext cx="0" cy="360363"/>
          </a:xfrm>
          <a:prstGeom prst="line">
            <a:avLst/>
          </a:prstGeom>
          <a:noFill/>
          <a:ln w="57150">
            <a:solidFill>
              <a:schemeClr val="accent2"/>
            </a:solidFill>
            <a:round/>
            <a:headEnd type="triangl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29" name="Line 53"/>
          <p:cNvSpPr>
            <a:spLocks noChangeShapeType="1"/>
          </p:cNvSpPr>
          <p:nvPr/>
        </p:nvSpPr>
        <p:spPr bwMode="auto">
          <a:xfrm rot="5400000">
            <a:off x="6008688" y="4260850"/>
            <a:ext cx="107950" cy="0"/>
          </a:xfrm>
          <a:prstGeom prst="line">
            <a:avLst/>
          </a:prstGeom>
          <a:noFill/>
          <a:ln w="5715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30" name="Line 54"/>
          <p:cNvSpPr>
            <a:spLocks noChangeShapeType="1"/>
          </p:cNvSpPr>
          <p:nvPr/>
        </p:nvSpPr>
        <p:spPr bwMode="auto">
          <a:xfrm rot="-5400000">
            <a:off x="1079501" y="4957762"/>
            <a:ext cx="0" cy="1095375"/>
          </a:xfrm>
          <a:prstGeom prst="line">
            <a:avLst/>
          </a:prstGeom>
          <a:noFill/>
          <a:ln w="5715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31" name="Line 55"/>
          <p:cNvSpPr>
            <a:spLocks noChangeShapeType="1"/>
          </p:cNvSpPr>
          <p:nvPr/>
        </p:nvSpPr>
        <p:spPr bwMode="auto">
          <a:xfrm rot="5400000">
            <a:off x="1465263" y="5362575"/>
            <a:ext cx="323850" cy="0"/>
          </a:xfrm>
          <a:prstGeom prst="line">
            <a:avLst/>
          </a:prstGeom>
          <a:noFill/>
          <a:ln w="5715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32" name="Line 56"/>
          <p:cNvSpPr>
            <a:spLocks noChangeShapeType="1"/>
          </p:cNvSpPr>
          <p:nvPr/>
        </p:nvSpPr>
        <p:spPr bwMode="auto">
          <a:xfrm rot="5400000">
            <a:off x="384175" y="5362575"/>
            <a:ext cx="323850" cy="0"/>
          </a:xfrm>
          <a:prstGeom prst="line">
            <a:avLst/>
          </a:prstGeom>
          <a:noFill/>
          <a:ln w="57150">
            <a:solidFill>
              <a:schemeClr val="accent2"/>
            </a:solidFill>
            <a:round/>
            <a:headEnd type="triangl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44" name="Rectangle 68"/>
          <p:cNvSpPr>
            <a:spLocks noChangeArrowheads="1"/>
          </p:cNvSpPr>
          <p:nvPr/>
        </p:nvSpPr>
        <p:spPr bwMode="auto">
          <a:xfrm>
            <a:off x="346075" y="4681538"/>
            <a:ext cx="622300" cy="519112"/>
          </a:xfrm>
          <a:prstGeom prst="rect">
            <a:avLst/>
          </a:prstGeom>
          <a:solidFill>
            <a:srgbClr val="000080"/>
          </a:solidFill>
          <a:ln>
            <a:noFill/>
          </a:ln>
          <a:effectLst>
            <a:outerShdw dist="35921" dir="2700000" algn="ctr" rotWithShape="0">
              <a:schemeClr val="accent2"/>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245" name="Rectangle 69"/>
          <p:cNvSpPr>
            <a:spLocks noChangeArrowheads="1"/>
          </p:cNvSpPr>
          <p:nvPr/>
        </p:nvSpPr>
        <p:spPr bwMode="auto">
          <a:xfrm>
            <a:off x="1408113" y="4675188"/>
            <a:ext cx="622300" cy="519112"/>
          </a:xfrm>
          <a:prstGeom prst="rect">
            <a:avLst/>
          </a:prstGeom>
          <a:solidFill>
            <a:srgbClr val="000080"/>
          </a:solidFill>
          <a:ln>
            <a:noFill/>
          </a:ln>
          <a:effectLst>
            <a:outerShdw dist="35921" dir="2700000" algn="ctr" rotWithShape="0">
              <a:schemeClr val="accent2"/>
            </a:outerShdw>
          </a:effectLst>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endParaRPr kumimoji="1" lang="zh-CN" altLang="en-US" sz="2800">
              <a:solidFill>
                <a:schemeClr val="bg1"/>
              </a:solidFill>
              <a:latin typeface="Times New Roman" pitchFamily="18" charset="0"/>
            </a:endParaRPr>
          </a:p>
        </p:txBody>
      </p:sp>
      <p:sp>
        <p:nvSpPr>
          <p:cNvPr id="434246" name="Text Box 70"/>
          <p:cNvSpPr txBox="1">
            <a:spLocks noChangeArrowheads="1"/>
          </p:cNvSpPr>
          <p:nvPr/>
        </p:nvSpPr>
        <p:spPr bwMode="auto">
          <a:xfrm>
            <a:off x="481013" y="46815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en-US" altLang="zh-CN" sz="2800" dirty="0">
                <a:solidFill>
                  <a:schemeClr val="bg1"/>
                </a:solidFill>
                <a:latin typeface="Times New Roman" pitchFamily="18" charset="0"/>
              </a:rPr>
              <a:t>5</a:t>
            </a:r>
            <a:endParaRPr kumimoji="1" lang="en-US" altLang="zh-CN" sz="2800" dirty="0">
              <a:solidFill>
                <a:srgbClr val="CC3300"/>
              </a:solidFill>
              <a:latin typeface="Times New Roman" pitchFamily="18" charset="0"/>
            </a:endParaRPr>
          </a:p>
        </p:txBody>
      </p:sp>
      <p:sp>
        <p:nvSpPr>
          <p:cNvPr id="434247" name="Text Box 71"/>
          <p:cNvSpPr txBox="1">
            <a:spLocks noChangeArrowheads="1"/>
          </p:cNvSpPr>
          <p:nvPr/>
        </p:nvSpPr>
        <p:spPr bwMode="auto">
          <a:xfrm>
            <a:off x="449263" y="4278313"/>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tx2"/>
                </a:solidFill>
                <a:latin typeface="Courier New" pitchFamily="49" charset="0"/>
              </a:rPr>
              <a:t>a</a:t>
            </a:r>
          </a:p>
        </p:txBody>
      </p:sp>
      <p:sp>
        <p:nvSpPr>
          <p:cNvPr id="434248" name="Text Box 72"/>
          <p:cNvSpPr txBox="1">
            <a:spLocks noChangeArrowheads="1"/>
          </p:cNvSpPr>
          <p:nvPr/>
        </p:nvSpPr>
        <p:spPr bwMode="auto">
          <a:xfrm>
            <a:off x="1682750" y="4278313"/>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tx2"/>
                </a:solidFill>
                <a:latin typeface="Courier New" pitchFamily="49" charset="0"/>
              </a:rPr>
              <a:t>b</a:t>
            </a:r>
          </a:p>
        </p:txBody>
      </p:sp>
      <p:sp>
        <p:nvSpPr>
          <p:cNvPr id="434249" name="Text Box 73"/>
          <p:cNvSpPr txBox="1">
            <a:spLocks noChangeArrowheads="1"/>
          </p:cNvSpPr>
          <p:nvPr/>
        </p:nvSpPr>
        <p:spPr bwMode="auto">
          <a:xfrm>
            <a:off x="1543050" y="46529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0"/>
              </a:spcBef>
              <a:buClrTx/>
              <a:buSzTx/>
              <a:buFontTx/>
              <a:buNone/>
            </a:pPr>
            <a:r>
              <a:rPr kumimoji="1" lang="en-US" altLang="zh-CN" sz="2800" dirty="0">
                <a:solidFill>
                  <a:schemeClr val="bg1"/>
                </a:solidFill>
                <a:latin typeface="Times New Roman" pitchFamily="18" charset="0"/>
              </a:rPr>
              <a:t>9</a:t>
            </a:r>
          </a:p>
        </p:txBody>
      </p:sp>
      <p:sp>
        <p:nvSpPr>
          <p:cNvPr id="434233" name="Text Box 57"/>
          <p:cNvSpPr txBox="1">
            <a:spLocks noChangeArrowheads="1"/>
          </p:cNvSpPr>
          <p:nvPr/>
        </p:nvSpPr>
        <p:spPr bwMode="auto">
          <a:xfrm>
            <a:off x="431800" y="4681538"/>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50000"/>
              </a:spcBef>
              <a:buClrTx/>
              <a:buSzTx/>
              <a:buFontTx/>
              <a:buNone/>
            </a:pPr>
            <a:r>
              <a:rPr kumimoji="1" lang="en-US" altLang="zh-CN" sz="2800" dirty="0">
                <a:solidFill>
                  <a:schemeClr val="bg1"/>
                </a:solidFill>
                <a:latin typeface="Times New Roman" pitchFamily="18" charset="0"/>
              </a:rPr>
              <a:t>9</a:t>
            </a:r>
          </a:p>
        </p:txBody>
      </p:sp>
      <p:sp>
        <p:nvSpPr>
          <p:cNvPr id="434222" name="Text Box 46"/>
          <p:cNvSpPr txBox="1">
            <a:spLocks noChangeArrowheads="1"/>
          </p:cNvSpPr>
          <p:nvPr/>
        </p:nvSpPr>
        <p:spPr bwMode="auto">
          <a:xfrm>
            <a:off x="1439863" y="4646613"/>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algn="ctr" eaLnBrk="1" hangingPunct="1">
              <a:spcBef>
                <a:spcPct val="50000"/>
              </a:spcBef>
              <a:buClrTx/>
              <a:buSzTx/>
              <a:buFontTx/>
              <a:buNone/>
            </a:pPr>
            <a:r>
              <a:rPr kumimoji="1" lang="en-US" altLang="zh-CN" sz="2800" dirty="0">
                <a:solidFill>
                  <a:schemeClr val="bg1"/>
                </a:solidFill>
                <a:latin typeface="Times New Roman" pitchFamily="18" charset="0"/>
              </a:rPr>
              <a:t>5</a:t>
            </a:r>
          </a:p>
        </p:txBody>
      </p:sp>
      <p:sp>
        <p:nvSpPr>
          <p:cNvPr id="434250" name="Line 74"/>
          <p:cNvSpPr>
            <a:spLocks noChangeShapeType="1"/>
          </p:cNvSpPr>
          <p:nvPr/>
        </p:nvSpPr>
        <p:spPr bwMode="auto">
          <a:xfrm>
            <a:off x="1684338" y="4337050"/>
            <a:ext cx="4392612" cy="0"/>
          </a:xfrm>
          <a:prstGeom prst="line">
            <a:avLst/>
          </a:prstGeom>
          <a:noFill/>
          <a:ln w="571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4268" name="Rectangle 92"/>
          <p:cNvSpPr>
            <a:spLocks noChangeArrowheads="1"/>
          </p:cNvSpPr>
          <p:nvPr/>
        </p:nvSpPr>
        <p:spPr bwMode="auto">
          <a:xfrm>
            <a:off x="539552" y="2636912"/>
            <a:ext cx="2357438" cy="360362"/>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4269" name="Rectangle 93"/>
          <p:cNvSpPr>
            <a:spLocks noChangeArrowheads="1"/>
          </p:cNvSpPr>
          <p:nvPr/>
        </p:nvSpPr>
        <p:spPr bwMode="auto">
          <a:xfrm>
            <a:off x="6588125" y="1268413"/>
            <a:ext cx="2376488"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4270" name="Text Box 94"/>
          <p:cNvSpPr txBox="1">
            <a:spLocks noChangeArrowheads="1"/>
          </p:cNvSpPr>
          <p:nvPr/>
        </p:nvSpPr>
        <p:spPr bwMode="auto">
          <a:xfrm>
            <a:off x="452438" y="5099050"/>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tx2"/>
                </a:solidFill>
                <a:latin typeface="Courier New" pitchFamily="49" charset="0"/>
              </a:rPr>
              <a:t>*x</a:t>
            </a:r>
          </a:p>
        </p:txBody>
      </p:sp>
      <p:sp>
        <p:nvSpPr>
          <p:cNvPr id="434271" name="Text Box 95"/>
          <p:cNvSpPr txBox="1">
            <a:spLocks noChangeArrowheads="1"/>
          </p:cNvSpPr>
          <p:nvPr/>
        </p:nvSpPr>
        <p:spPr bwMode="auto">
          <a:xfrm>
            <a:off x="1528763" y="5113338"/>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en-US" altLang="zh-CN" sz="2800" dirty="0">
                <a:solidFill>
                  <a:schemeClr val="tx2"/>
                </a:solidFill>
                <a:latin typeface="Courier New" pitchFamily="49" charset="0"/>
              </a:rPr>
              <a:t>*y</a:t>
            </a:r>
          </a:p>
        </p:txBody>
      </p:sp>
      <p:grpSp>
        <p:nvGrpSpPr>
          <p:cNvPr id="6" name="Group 96"/>
          <p:cNvGrpSpPr>
            <a:grpSpLocks/>
          </p:cNvGrpSpPr>
          <p:nvPr/>
        </p:nvGrpSpPr>
        <p:grpSpPr bwMode="auto">
          <a:xfrm>
            <a:off x="5351463" y="6107113"/>
            <a:ext cx="646112" cy="635000"/>
            <a:chOff x="1993" y="3152"/>
            <a:chExt cx="407" cy="400"/>
          </a:xfrm>
        </p:grpSpPr>
        <p:sp>
          <p:nvSpPr>
            <p:cNvPr id="38962" name="Line 97"/>
            <p:cNvSpPr>
              <a:spLocks noChangeShapeType="1"/>
            </p:cNvSpPr>
            <p:nvPr/>
          </p:nvSpPr>
          <p:spPr bwMode="auto">
            <a:xfrm>
              <a:off x="1993" y="3152"/>
              <a:ext cx="407" cy="400"/>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63" name="Line 98"/>
            <p:cNvSpPr>
              <a:spLocks noChangeShapeType="1"/>
            </p:cNvSpPr>
            <p:nvPr/>
          </p:nvSpPr>
          <p:spPr bwMode="auto">
            <a:xfrm flipH="1">
              <a:off x="2002" y="3152"/>
              <a:ext cx="373" cy="372"/>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34275" name="Rectangle 99"/>
          <p:cNvSpPr>
            <a:spLocks noChangeArrowheads="1"/>
          </p:cNvSpPr>
          <p:nvPr/>
        </p:nvSpPr>
        <p:spPr bwMode="auto">
          <a:xfrm>
            <a:off x="6315075" y="6037263"/>
            <a:ext cx="2735263" cy="776287"/>
          </a:xfrm>
          <a:prstGeom prst="rect">
            <a:avLst/>
          </a:prstGeom>
          <a:solidFill>
            <a:srgbClr val="FFFF99"/>
          </a:solidFill>
          <a:ln w="28575">
            <a:solidFill>
              <a:srgbClr val="800000"/>
            </a:solidFill>
            <a:miter lim="800000"/>
            <a:headEnd/>
            <a:tailEnd/>
          </a:ln>
          <a:effectLst/>
        </p:spPr>
        <p:txBody>
          <a:bodyPr wrap="none" anchor="ctr"/>
          <a:lstStyle/>
          <a:p>
            <a:pPr algn="ctr">
              <a:defRPr/>
            </a:pPr>
            <a:r>
              <a:rPr lang="zh-CN" altLang="en-US" b="1">
                <a:solidFill>
                  <a:srgbClr val="000066"/>
                </a:solidFill>
                <a:latin typeface="Courier New" pitchFamily="49" charset="0"/>
                <a:ea typeface="宋体" pitchFamily="2" charset="-122"/>
              </a:rPr>
              <a:t>交换的是</a:t>
            </a:r>
            <a:r>
              <a:rPr lang="en-US" altLang="zh-CN" b="1" dirty="0">
                <a:solidFill>
                  <a:srgbClr val="000066"/>
                </a:solidFill>
                <a:latin typeface="Courier New" pitchFamily="49" charset="0"/>
                <a:ea typeface="宋体" pitchFamily="2" charset="-122"/>
              </a:rPr>
              <a:t>x</a:t>
            </a:r>
            <a:r>
              <a:rPr lang="en-US" altLang="zh-CN" b="1" dirty="0">
                <a:solidFill>
                  <a:srgbClr val="000066"/>
                </a:solidFill>
                <a:ea typeface="宋体" pitchFamily="2" charset="-122"/>
              </a:rPr>
              <a:t> </a:t>
            </a:r>
            <a:r>
              <a:rPr lang="zh-CN" altLang="en-US" b="1">
                <a:solidFill>
                  <a:srgbClr val="000066"/>
                </a:solidFill>
                <a:ea typeface="宋体" pitchFamily="2" charset="-122"/>
              </a:rPr>
              <a:t>和 </a:t>
            </a:r>
            <a:r>
              <a:rPr lang="en-US" altLang="zh-CN" b="1" dirty="0">
                <a:solidFill>
                  <a:srgbClr val="000066"/>
                </a:solidFill>
                <a:latin typeface="Courier New" pitchFamily="49" charset="0"/>
                <a:ea typeface="宋体" pitchFamily="2" charset="-122"/>
              </a:rPr>
              <a:t>y</a:t>
            </a:r>
          </a:p>
          <a:p>
            <a:pPr algn="ctr">
              <a:defRPr/>
            </a:pPr>
            <a:r>
              <a:rPr lang="zh-CN" altLang="en-US" b="1">
                <a:solidFill>
                  <a:srgbClr val="000066"/>
                </a:solidFill>
                <a:latin typeface="Courier New" pitchFamily="49" charset="0"/>
                <a:ea typeface="宋体" pitchFamily="2" charset="-122"/>
              </a:rPr>
              <a:t>指向的单元内容</a:t>
            </a:r>
            <a:endParaRPr lang="zh-CN" altLang="en-US" b="1" i="1">
              <a:solidFill>
                <a:srgbClr val="FF3300"/>
              </a:solidFill>
              <a:effectLst>
                <a:outerShdw blurRad="38100" dist="38100" dir="2700000" algn="tl">
                  <a:srgbClr val="000000"/>
                </a:outerShdw>
              </a:effectLst>
              <a:ea typeface="宋体" pitchFamily="2" charset="-122"/>
            </a:endParaRPr>
          </a:p>
        </p:txBody>
      </p:sp>
      <p:sp>
        <p:nvSpPr>
          <p:cNvPr id="38959" name="Text Box 2"/>
          <p:cNvSpPr txBox="1">
            <a:spLocks noChangeArrowheads="1"/>
          </p:cNvSpPr>
          <p:nvPr/>
        </p:nvSpPr>
        <p:spPr bwMode="auto">
          <a:xfrm>
            <a:off x="611560" y="764704"/>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zh-CN" altLang="en-US" sz="2800" dirty="0">
                <a:latin typeface="Times New Roman" pitchFamily="18" charset="0"/>
                <a:ea typeface="华文仿宋" pitchFamily="2" charset="-122"/>
              </a:rPr>
              <a:t>主调函数</a:t>
            </a:r>
          </a:p>
        </p:txBody>
      </p:sp>
      <p:sp>
        <p:nvSpPr>
          <p:cNvPr id="38960" name="Text Box 3"/>
          <p:cNvSpPr txBox="1">
            <a:spLocks noChangeArrowheads="1"/>
          </p:cNvSpPr>
          <p:nvPr/>
        </p:nvSpPr>
        <p:spPr bwMode="auto">
          <a:xfrm>
            <a:off x="7429500" y="7493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bg2"/>
              </a:buClr>
              <a:buSzPct val="75000"/>
              <a:buFont typeface="Wingdings" pitchFamily="2" charset="2"/>
              <a:buChar char="n"/>
              <a:defRPr sz="3200" b="1">
                <a:solidFill>
                  <a:schemeClr val="tx1"/>
                </a:solidFill>
                <a:latin typeface="Arial" charset="0"/>
                <a:ea typeface="宋体" charset="-122"/>
              </a:defRPr>
            </a:lvl1pPr>
            <a:lvl2pPr marL="742950" indent="-285750" eaLnBrk="0" hangingPunct="0">
              <a:spcBef>
                <a:spcPct val="20000"/>
              </a:spcBef>
              <a:buClr>
                <a:schemeClr val="accent2"/>
              </a:buClr>
              <a:buSzPct val="80000"/>
              <a:buFont typeface="Wingdings" pitchFamily="2" charset="2"/>
              <a:buChar char="¨"/>
              <a:defRPr sz="2800" b="1">
                <a:solidFill>
                  <a:schemeClr val="tx1"/>
                </a:solidFill>
                <a:latin typeface="Arial" charset="0"/>
                <a:ea typeface="宋体" charset="-122"/>
              </a:defRPr>
            </a:lvl2pPr>
            <a:lvl3pPr marL="1143000" indent="-228600" eaLnBrk="0" hangingPunct="0">
              <a:spcBef>
                <a:spcPct val="20000"/>
              </a:spcBef>
              <a:buClr>
                <a:schemeClr val="bg2"/>
              </a:buClr>
              <a:buSzPct val="65000"/>
              <a:buFont typeface="Wingdings" pitchFamily="2" charset="2"/>
              <a:buChar char="n"/>
              <a:defRPr sz="2400" b="1">
                <a:solidFill>
                  <a:schemeClr val="tx1"/>
                </a:solidFill>
                <a:latin typeface="Arial" charset="0"/>
                <a:ea typeface="宋体" charset="-122"/>
              </a:defRPr>
            </a:lvl3pPr>
            <a:lvl4pPr marL="1600200" indent="-228600" eaLnBrk="0" hangingPunct="0">
              <a:spcBef>
                <a:spcPct val="20000"/>
              </a:spcBef>
              <a:buClr>
                <a:schemeClr val="accent2"/>
              </a:buClr>
              <a:buSzPct val="70000"/>
              <a:buFont typeface="Wingdings" pitchFamily="2" charset="2"/>
              <a:buChar char="¨"/>
              <a:defRPr sz="2000" b="1">
                <a:solidFill>
                  <a:schemeClr val="tx1"/>
                </a:solidFill>
                <a:latin typeface="Arial" charset="0"/>
                <a:ea typeface="宋体" charset="-122"/>
              </a:defRPr>
            </a:lvl4pPr>
            <a:lvl5pPr marL="2057400" indent="-228600" eaLnBrk="0" hangingPunct="0">
              <a:spcBef>
                <a:spcPct val="20000"/>
              </a:spcBef>
              <a:buClr>
                <a:schemeClr val="bg2"/>
              </a:buClr>
              <a:buFont typeface="Wingdings" pitchFamily="2" charset="2"/>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lr>
                <a:schemeClr val="bg2"/>
              </a:buClr>
              <a:buFont typeface="Wingdings" pitchFamily="2" charset="2"/>
              <a:buChar char="§"/>
              <a:defRPr sz="2000" b="1">
                <a:solidFill>
                  <a:schemeClr val="tx1"/>
                </a:solidFill>
                <a:latin typeface="Arial" charset="0"/>
                <a:ea typeface="宋体" charset="-122"/>
              </a:defRPr>
            </a:lvl9pPr>
          </a:lstStyle>
          <a:p>
            <a:pPr eaLnBrk="1" hangingPunct="1">
              <a:spcBef>
                <a:spcPct val="0"/>
              </a:spcBef>
              <a:buClrTx/>
              <a:buSzTx/>
              <a:buFontTx/>
              <a:buNone/>
            </a:pPr>
            <a:r>
              <a:rPr kumimoji="1" lang="zh-CN" altLang="en-US" sz="2800">
                <a:latin typeface="Times New Roman" pitchFamily="18" charset="0"/>
                <a:ea typeface="华文仿宋" pitchFamily="2" charset="-122"/>
              </a:rPr>
              <a:t>被调函数</a:t>
            </a:r>
          </a:p>
        </p:txBody>
      </p:sp>
      <p:sp>
        <p:nvSpPr>
          <p:cNvPr id="64" name="Rectangle 13"/>
          <p:cNvSpPr>
            <a:spLocks noGrp="1"/>
          </p:cNvSpPr>
          <p:nvPr/>
        </p:nvSpPr>
        <p:spPr>
          <a:xfrm>
            <a:off x="2079625" y="40323"/>
            <a:ext cx="5560695" cy="754380"/>
          </a:xfrm>
          <a:prstGeom prst="roundRect">
            <a:avLst>
              <a:gd name="adj" fmla="val 29759"/>
            </a:avLst>
          </a:prstGeom>
          <a:noFill/>
          <a:ln>
            <a:noFill/>
          </a:ln>
          <a:effectLst/>
        </p:spPr>
        <p:txBody>
          <a:bodyPr vert="horz" wrap="square" lIns="69056" tIns="34528" rIns="69056" bIns="34528" numCol="1" anchor="b" anchorCtr="0" compatLnSpc="1">
            <a:normAutofit fontScale="80000" lnSpcReduction="10000"/>
          </a:bodyPr>
          <a:lst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panose="020B0604020202020204" pitchFamily="34" charset="0"/>
                <a:ea typeface="黑体" panose="02010609060101010101" pitchFamily="2" charset="-122"/>
              </a:defRPr>
            </a:lvl9pPr>
          </a:lstStyle>
          <a:p>
            <a:pPr algn="l" eaLnBrk="1" hangingPunct="1"/>
            <a:r>
              <a:rPr lang="zh-CN" altLang="en-US" sz="3600" kern="0" dirty="0"/>
              <a:t>例：编写函数实现两数的互换</a:t>
            </a:r>
            <a:endParaRPr lang="zh-CN" altLang="en-US" sz="3200" dirty="0"/>
          </a:p>
        </p:txBody>
      </p:sp>
    </p:spTree>
    <p:extLst>
      <p:ext uri="{BB962C8B-B14F-4D97-AF65-F5344CB8AC3E}">
        <p14:creationId xmlns:p14="http://schemas.microsoft.com/office/powerpoint/2010/main" val="1118385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34268"/>
                                        </p:tgtEl>
                                        <p:attrNameLst>
                                          <p:attrName>style.visibility</p:attrName>
                                        </p:attrNameLst>
                                      </p:cBhvr>
                                      <p:to>
                                        <p:strVal val="visible"/>
                                      </p:to>
                                    </p:set>
                                    <p:anim calcmode="lin" valueType="num">
                                      <p:cBhvr>
                                        <p:cTn id="7" dur="500" fill="hold"/>
                                        <p:tgtEl>
                                          <p:spTgt spid="434268"/>
                                        </p:tgtEl>
                                        <p:attrNameLst>
                                          <p:attrName>ppt_w</p:attrName>
                                        </p:attrNameLst>
                                      </p:cBhvr>
                                      <p:tavLst>
                                        <p:tav tm="0">
                                          <p:val>
                                            <p:fltVal val="0"/>
                                          </p:val>
                                        </p:tav>
                                        <p:tav tm="100000">
                                          <p:val>
                                            <p:strVal val="#ppt_w"/>
                                          </p:val>
                                        </p:tav>
                                      </p:tavLst>
                                    </p:anim>
                                    <p:anim calcmode="lin" valueType="num">
                                      <p:cBhvr>
                                        <p:cTn id="8" dur="500" fill="hold"/>
                                        <p:tgtEl>
                                          <p:spTgt spid="434268"/>
                                        </p:tgtEl>
                                        <p:attrNameLst>
                                          <p:attrName>ppt_h</p:attrName>
                                        </p:attrNameLst>
                                      </p:cBhvr>
                                      <p:tavLst>
                                        <p:tav tm="0">
                                          <p:val>
                                            <p:fltVal val="0"/>
                                          </p:val>
                                        </p:tav>
                                        <p:tav tm="100000">
                                          <p:val>
                                            <p:strVal val="#ppt_h"/>
                                          </p:val>
                                        </p:tav>
                                      </p:tavLst>
                                    </p:anim>
                                    <p:animEffect transition="in" filter="fade">
                                      <p:cBhvr>
                                        <p:cTn id="9" dur="500"/>
                                        <p:tgtEl>
                                          <p:spTgt spid="434268"/>
                                        </p:tgtEl>
                                      </p:cBhvr>
                                    </p:animEffect>
                                  </p:childTnLst>
                                </p:cTn>
                              </p:par>
                            </p:childTnLst>
                          </p:cTn>
                        </p:par>
                        <p:par>
                          <p:cTn id="10" fill="hold" nodeType="afterGroup">
                            <p:stCondLst>
                              <p:cond delay="500"/>
                            </p:stCondLst>
                            <p:childTnLst>
                              <p:par>
                                <p:cTn id="11" presetID="14" presetClass="entr" presetSubtype="10" fill="hold" grpId="0" nodeType="afterEffect">
                                  <p:stCondLst>
                                    <p:cond delay="0"/>
                                  </p:stCondLst>
                                  <p:childTnLst>
                                    <p:set>
                                      <p:cBhvr>
                                        <p:cTn id="12" dur="1" fill="hold">
                                          <p:stCondLst>
                                            <p:cond delay="0"/>
                                          </p:stCondLst>
                                        </p:cTn>
                                        <p:tgtEl>
                                          <p:spTgt spid="434192"/>
                                        </p:tgtEl>
                                        <p:attrNameLst>
                                          <p:attrName>style.visibility</p:attrName>
                                        </p:attrNameLst>
                                      </p:cBhvr>
                                      <p:to>
                                        <p:strVal val="visible"/>
                                      </p:to>
                                    </p:set>
                                    <p:animEffect transition="in" filter="randombar(horizontal)">
                                      <p:cBhvr>
                                        <p:cTn id="13" dur="500"/>
                                        <p:tgtEl>
                                          <p:spTgt spid="43419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34247"/>
                                        </p:tgtEl>
                                        <p:attrNameLst>
                                          <p:attrName>style.visibility</p:attrName>
                                        </p:attrNameLst>
                                      </p:cBhvr>
                                      <p:to>
                                        <p:strVal val="visible"/>
                                      </p:to>
                                    </p:set>
                                  </p:childTnLst>
                                </p:cTn>
                              </p:par>
                            </p:childTnLst>
                          </p:cTn>
                        </p:par>
                        <p:par>
                          <p:cTn id="18" fill="hold" nodeType="afterGroup">
                            <p:stCondLst>
                              <p:cond delay="500"/>
                            </p:stCondLst>
                            <p:childTnLst>
                              <p:par>
                                <p:cTn id="19" presetID="16" presetClass="entr" presetSubtype="37" fill="hold" grpId="0" nodeType="afterEffect">
                                  <p:stCondLst>
                                    <p:cond delay="0"/>
                                  </p:stCondLst>
                                  <p:childTnLst>
                                    <p:set>
                                      <p:cBhvr>
                                        <p:cTn id="20" dur="1" fill="hold">
                                          <p:stCondLst>
                                            <p:cond delay="0"/>
                                          </p:stCondLst>
                                        </p:cTn>
                                        <p:tgtEl>
                                          <p:spTgt spid="434244"/>
                                        </p:tgtEl>
                                        <p:attrNameLst>
                                          <p:attrName>style.visibility</p:attrName>
                                        </p:attrNameLst>
                                      </p:cBhvr>
                                      <p:to>
                                        <p:strVal val="visible"/>
                                      </p:to>
                                    </p:set>
                                    <p:animEffect transition="in" filter="barn(outVertical)">
                                      <p:cBhvr>
                                        <p:cTn id="21" dur="500"/>
                                        <p:tgtEl>
                                          <p:spTgt spid="434244"/>
                                        </p:tgtEl>
                                      </p:cBhvr>
                                    </p:animEffect>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434246"/>
                                        </p:tgtEl>
                                        <p:attrNameLst>
                                          <p:attrName>style.visibility</p:attrName>
                                        </p:attrNameLst>
                                      </p:cBhvr>
                                      <p:to>
                                        <p:strVal val="visible"/>
                                      </p:to>
                                    </p:set>
                                  </p:childTnLst>
                                </p:cTn>
                              </p:par>
                            </p:childTnLst>
                          </p:cTn>
                        </p:par>
                        <p:par>
                          <p:cTn id="25" fill="hold" nodeType="afterGroup">
                            <p:stCondLst>
                              <p:cond delay="1500"/>
                            </p:stCondLst>
                            <p:childTnLst>
                              <p:par>
                                <p:cTn id="26" presetID="1" presetClass="entr" presetSubtype="0" fill="hold" grpId="0" nodeType="afterEffect">
                                  <p:stCondLst>
                                    <p:cond delay="0"/>
                                  </p:stCondLst>
                                  <p:childTnLst>
                                    <p:set>
                                      <p:cBhvr>
                                        <p:cTn id="27" dur="1" fill="hold">
                                          <p:stCondLst>
                                            <p:cond delay="499"/>
                                          </p:stCondLst>
                                        </p:cTn>
                                        <p:tgtEl>
                                          <p:spTgt spid="434248"/>
                                        </p:tgtEl>
                                        <p:attrNameLst>
                                          <p:attrName>style.visibility</p:attrName>
                                        </p:attrNameLst>
                                      </p:cBhvr>
                                      <p:to>
                                        <p:strVal val="visible"/>
                                      </p:to>
                                    </p:set>
                                  </p:childTnLst>
                                </p:cTn>
                              </p:par>
                            </p:childTnLst>
                          </p:cTn>
                        </p:par>
                        <p:par>
                          <p:cTn id="28" fill="hold" nodeType="afterGroup">
                            <p:stCondLst>
                              <p:cond delay="2000"/>
                            </p:stCondLst>
                            <p:childTnLst>
                              <p:par>
                                <p:cTn id="29" presetID="16" presetClass="entr" presetSubtype="37" fill="hold" grpId="0" nodeType="afterEffect">
                                  <p:stCondLst>
                                    <p:cond delay="0"/>
                                  </p:stCondLst>
                                  <p:childTnLst>
                                    <p:set>
                                      <p:cBhvr>
                                        <p:cTn id="30" dur="1" fill="hold">
                                          <p:stCondLst>
                                            <p:cond delay="0"/>
                                          </p:stCondLst>
                                        </p:cTn>
                                        <p:tgtEl>
                                          <p:spTgt spid="434245"/>
                                        </p:tgtEl>
                                        <p:attrNameLst>
                                          <p:attrName>style.visibility</p:attrName>
                                        </p:attrNameLst>
                                      </p:cBhvr>
                                      <p:to>
                                        <p:strVal val="visible"/>
                                      </p:to>
                                    </p:set>
                                    <p:animEffect transition="in" filter="barn(outVertical)">
                                      <p:cBhvr>
                                        <p:cTn id="31" dur="500"/>
                                        <p:tgtEl>
                                          <p:spTgt spid="434245"/>
                                        </p:tgtEl>
                                      </p:cBhvr>
                                    </p:animEffect>
                                  </p:childTnLst>
                                </p:cTn>
                              </p:par>
                            </p:childTnLst>
                          </p:cTn>
                        </p:par>
                        <p:par>
                          <p:cTn id="32" fill="hold" nodeType="afterGroup">
                            <p:stCondLst>
                              <p:cond delay="2500"/>
                            </p:stCondLst>
                            <p:childTnLst>
                              <p:par>
                                <p:cTn id="33" presetID="1" presetClass="entr" presetSubtype="0" fill="hold" grpId="0" nodeType="afterEffect">
                                  <p:stCondLst>
                                    <p:cond delay="0"/>
                                  </p:stCondLst>
                                  <p:childTnLst>
                                    <p:set>
                                      <p:cBhvr>
                                        <p:cTn id="34" dur="1" fill="hold">
                                          <p:stCondLst>
                                            <p:cond delay="499"/>
                                          </p:stCondLst>
                                        </p:cTn>
                                        <p:tgtEl>
                                          <p:spTgt spid="43424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0" fill="hold" grpId="0" nodeType="clickEffect">
                                  <p:stCondLst>
                                    <p:cond delay="0"/>
                                  </p:stCondLst>
                                  <p:childTnLst>
                                    <p:set>
                                      <p:cBhvr>
                                        <p:cTn id="38" dur="1" fill="hold">
                                          <p:stCondLst>
                                            <p:cond delay="0"/>
                                          </p:stCondLst>
                                        </p:cTn>
                                        <p:tgtEl>
                                          <p:spTgt spid="434269"/>
                                        </p:tgtEl>
                                        <p:attrNameLst>
                                          <p:attrName>style.visibility</p:attrName>
                                        </p:attrNameLst>
                                      </p:cBhvr>
                                      <p:to>
                                        <p:strVal val="visible"/>
                                      </p:to>
                                    </p:set>
                                    <p:anim calcmode="lin" valueType="num">
                                      <p:cBhvr>
                                        <p:cTn id="39" dur="500" fill="hold"/>
                                        <p:tgtEl>
                                          <p:spTgt spid="434269"/>
                                        </p:tgtEl>
                                        <p:attrNameLst>
                                          <p:attrName>ppt_w</p:attrName>
                                        </p:attrNameLst>
                                      </p:cBhvr>
                                      <p:tavLst>
                                        <p:tav tm="0">
                                          <p:val>
                                            <p:fltVal val="0"/>
                                          </p:val>
                                        </p:tav>
                                        <p:tav tm="100000">
                                          <p:val>
                                            <p:strVal val="#ppt_w"/>
                                          </p:val>
                                        </p:tav>
                                      </p:tavLst>
                                    </p:anim>
                                    <p:anim calcmode="lin" valueType="num">
                                      <p:cBhvr>
                                        <p:cTn id="40" dur="500" fill="hold"/>
                                        <p:tgtEl>
                                          <p:spTgt spid="434269"/>
                                        </p:tgtEl>
                                        <p:attrNameLst>
                                          <p:attrName>ppt_h</p:attrName>
                                        </p:attrNameLst>
                                      </p:cBhvr>
                                      <p:tavLst>
                                        <p:tav tm="0">
                                          <p:val>
                                            <p:fltVal val="0"/>
                                          </p:val>
                                        </p:tav>
                                        <p:tav tm="100000">
                                          <p:val>
                                            <p:strVal val="#ppt_h"/>
                                          </p:val>
                                        </p:tav>
                                      </p:tavLst>
                                    </p:anim>
                                    <p:animEffect transition="in" filter="fade">
                                      <p:cBhvr>
                                        <p:cTn id="41" dur="500"/>
                                        <p:tgtEl>
                                          <p:spTgt spid="434269"/>
                                        </p:tgtEl>
                                      </p:cBhvr>
                                    </p:animEffect>
                                  </p:childTnLst>
                                </p:cTn>
                              </p:par>
                            </p:childTnLst>
                          </p:cTn>
                        </p:par>
                        <p:par>
                          <p:cTn id="42" fill="hold" nodeType="afterGroup">
                            <p:stCondLst>
                              <p:cond delay="500"/>
                            </p:stCondLst>
                            <p:childTnLst>
                              <p:par>
                                <p:cTn id="43" presetID="14" presetClass="entr" presetSubtype="10" fill="hold" grpId="0" nodeType="afterEffect">
                                  <p:stCondLst>
                                    <p:cond delay="0"/>
                                  </p:stCondLst>
                                  <p:childTnLst>
                                    <p:set>
                                      <p:cBhvr>
                                        <p:cTn id="44" dur="1" fill="hold">
                                          <p:stCondLst>
                                            <p:cond delay="0"/>
                                          </p:stCondLst>
                                        </p:cTn>
                                        <p:tgtEl>
                                          <p:spTgt spid="434193"/>
                                        </p:tgtEl>
                                        <p:attrNameLst>
                                          <p:attrName>style.visibility</p:attrName>
                                        </p:attrNameLst>
                                      </p:cBhvr>
                                      <p:to>
                                        <p:strVal val="visible"/>
                                      </p:to>
                                    </p:set>
                                    <p:animEffect transition="in" filter="randombar(horizontal)">
                                      <p:cBhvr>
                                        <p:cTn id="45" dur="500"/>
                                        <p:tgtEl>
                                          <p:spTgt spid="43419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434216"/>
                                        </p:tgtEl>
                                        <p:attrNameLst>
                                          <p:attrName>style.visibility</p:attrName>
                                        </p:attrNameLst>
                                      </p:cBhvr>
                                      <p:to>
                                        <p:strVal val="visible"/>
                                      </p:to>
                                    </p:set>
                                  </p:childTnLst>
                                </p:cTn>
                              </p:par>
                            </p:childTnLst>
                          </p:cTn>
                        </p:par>
                        <p:par>
                          <p:cTn id="50" fill="hold" nodeType="afterGroup">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434184"/>
                                        </p:tgtEl>
                                        <p:attrNameLst>
                                          <p:attrName>style.visibility</p:attrName>
                                        </p:attrNameLst>
                                      </p:cBhvr>
                                      <p:to>
                                        <p:strVal val="visible"/>
                                      </p:to>
                                    </p:set>
                                    <p:animEffect transition="in" filter="barn(outVertical)">
                                      <p:cBhvr>
                                        <p:cTn id="53" dur="500"/>
                                        <p:tgtEl>
                                          <p:spTgt spid="434184"/>
                                        </p:tgtEl>
                                      </p:cBhvr>
                                    </p:animEffect>
                                  </p:childTnLst>
                                </p:cTn>
                              </p:par>
                            </p:childTnLst>
                          </p:cTn>
                        </p:par>
                        <p:par>
                          <p:cTn id="54" fill="hold" nodeType="afterGroup">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434217"/>
                                        </p:tgtEl>
                                        <p:attrNameLst>
                                          <p:attrName>style.visibility</p:attrName>
                                        </p:attrNameLst>
                                      </p:cBhvr>
                                      <p:to>
                                        <p:strVal val="visible"/>
                                      </p:to>
                                    </p:set>
                                  </p:childTnLst>
                                </p:cTn>
                              </p:par>
                            </p:childTnLst>
                          </p:cTn>
                        </p:par>
                        <p:par>
                          <p:cTn id="57" fill="hold" nodeType="afterGroup">
                            <p:stCondLst>
                              <p:cond delay="1500"/>
                            </p:stCondLst>
                            <p:childTnLst>
                              <p:par>
                                <p:cTn id="58" presetID="16" presetClass="entr" presetSubtype="37" fill="hold" grpId="0" nodeType="afterEffect">
                                  <p:stCondLst>
                                    <p:cond delay="0"/>
                                  </p:stCondLst>
                                  <p:childTnLst>
                                    <p:set>
                                      <p:cBhvr>
                                        <p:cTn id="59" dur="1" fill="hold">
                                          <p:stCondLst>
                                            <p:cond delay="0"/>
                                          </p:stCondLst>
                                        </p:cTn>
                                        <p:tgtEl>
                                          <p:spTgt spid="434183"/>
                                        </p:tgtEl>
                                        <p:attrNameLst>
                                          <p:attrName>style.visibility</p:attrName>
                                        </p:attrNameLst>
                                      </p:cBhvr>
                                      <p:to>
                                        <p:strVal val="visible"/>
                                      </p:to>
                                    </p:set>
                                    <p:animEffect transition="in" filter="barn(outVertical)">
                                      <p:cBhvr>
                                        <p:cTn id="60" dur="500"/>
                                        <p:tgtEl>
                                          <p:spTgt spid="434183"/>
                                        </p:tgtEl>
                                      </p:cBhvr>
                                    </p:animEffect>
                                  </p:childTnLst>
                                </p:cTn>
                              </p:par>
                            </p:childTnLst>
                          </p:cTn>
                        </p:par>
                        <p:par>
                          <p:cTn id="61" fill="hold" nodeType="afterGroup">
                            <p:stCondLst>
                              <p:cond delay="2000"/>
                            </p:stCondLst>
                            <p:childTnLst>
                              <p:par>
                                <p:cTn id="62" presetID="1" presetClass="entr" presetSubtype="0" fill="hold" grpId="0" nodeType="afterEffect">
                                  <p:stCondLst>
                                    <p:cond delay="0"/>
                                  </p:stCondLst>
                                  <p:childTnLst>
                                    <p:set>
                                      <p:cBhvr>
                                        <p:cTn id="63" dur="1" fill="hold">
                                          <p:stCondLst>
                                            <p:cond delay="499"/>
                                          </p:stCondLst>
                                        </p:cTn>
                                        <p:tgtEl>
                                          <p:spTgt spid="434225"/>
                                        </p:tgtEl>
                                        <p:attrNameLst>
                                          <p:attrName>style.visibility</p:attrName>
                                        </p:attrNameLst>
                                      </p:cBhvr>
                                      <p:to>
                                        <p:strVal val="visible"/>
                                      </p:to>
                                    </p:set>
                                  </p:childTnLst>
                                </p:cTn>
                              </p:par>
                            </p:childTnLst>
                          </p:cTn>
                        </p:par>
                        <p:par>
                          <p:cTn id="64" fill="hold" nodeType="afterGroup">
                            <p:stCondLst>
                              <p:cond delay="2500"/>
                            </p:stCondLst>
                            <p:childTnLst>
                              <p:par>
                                <p:cTn id="65" presetID="16" presetClass="entr" presetSubtype="37" fill="hold" grpId="0" nodeType="afterEffect">
                                  <p:stCondLst>
                                    <p:cond delay="0"/>
                                  </p:stCondLst>
                                  <p:childTnLst>
                                    <p:set>
                                      <p:cBhvr>
                                        <p:cTn id="66" dur="1" fill="hold">
                                          <p:stCondLst>
                                            <p:cond delay="0"/>
                                          </p:stCondLst>
                                        </p:cTn>
                                        <p:tgtEl>
                                          <p:spTgt spid="434223"/>
                                        </p:tgtEl>
                                        <p:attrNameLst>
                                          <p:attrName>style.visibility</p:attrName>
                                        </p:attrNameLst>
                                      </p:cBhvr>
                                      <p:to>
                                        <p:strVal val="visible"/>
                                      </p:to>
                                    </p:set>
                                    <p:animEffect transition="in" filter="barn(outVertical)">
                                      <p:cBhvr>
                                        <p:cTn id="67" dur="500"/>
                                        <p:tgtEl>
                                          <p:spTgt spid="43422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37" fill="hold" grpId="0" nodeType="clickEffect">
                                  <p:stCondLst>
                                    <p:cond delay="0"/>
                                  </p:stCondLst>
                                  <p:childTnLst>
                                    <p:set>
                                      <p:cBhvr>
                                        <p:cTn id="71" dur="1" fill="hold">
                                          <p:stCondLst>
                                            <p:cond delay="0"/>
                                          </p:stCondLst>
                                        </p:cTn>
                                        <p:tgtEl>
                                          <p:spTgt spid="434182"/>
                                        </p:tgtEl>
                                        <p:attrNameLst>
                                          <p:attrName>style.visibility</p:attrName>
                                        </p:attrNameLst>
                                      </p:cBhvr>
                                      <p:to>
                                        <p:strVal val="visible"/>
                                      </p:to>
                                    </p:set>
                                    <p:animEffect transition="in" filter="barn(outVertical)">
                                      <p:cBhvr>
                                        <p:cTn id="72" dur="500"/>
                                        <p:tgtEl>
                                          <p:spTgt spid="434182"/>
                                        </p:tgtEl>
                                      </p:cBhvr>
                                    </p:animEffect>
                                  </p:childTnLst>
                                </p:cTn>
                              </p:par>
                              <p:par>
                                <p:cTn id="73" presetID="1" presetClass="entr" presetSubtype="0" fill="hold" grpId="0" nodeType="withEffect">
                                  <p:stCondLst>
                                    <p:cond delay="0"/>
                                  </p:stCondLst>
                                  <p:childTnLst>
                                    <p:set>
                                      <p:cBhvr>
                                        <p:cTn id="74" dur="1" fill="hold">
                                          <p:stCondLst>
                                            <p:cond delay="499"/>
                                          </p:stCondLst>
                                        </p:cTn>
                                        <p:tgtEl>
                                          <p:spTgt spid="434187"/>
                                        </p:tgtEl>
                                        <p:attrNameLst>
                                          <p:attrName>style.visibility</p:attrName>
                                        </p:attrNameLst>
                                      </p:cBhvr>
                                      <p:to>
                                        <p:strVal val="visible"/>
                                      </p:to>
                                    </p:set>
                                  </p:childTnLst>
                                </p:cTn>
                              </p:par>
                            </p:childTnLst>
                          </p:cTn>
                        </p:par>
                        <p:par>
                          <p:cTn id="75" fill="hold" nodeType="afterGroup">
                            <p:stCondLst>
                              <p:cond delay="500"/>
                            </p:stCondLst>
                            <p:childTnLst>
                              <p:par>
                                <p:cTn id="76" presetID="22" presetClass="entr" presetSubtype="8" fill="hold" nodeType="after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wipe(left)">
                                      <p:cBhvr>
                                        <p:cTn id="78" dur="500"/>
                                        <p:tgtEl>
                                          <p:spTgt spid="2"/>
                                        </p:tgtEl>
                                      </p:cBhvr>
                                    </p:animEffect>
                                  </p:childTnLst>
                                </p:cTn>
                              </p:par>
                            </p:childTnLst>
                          </p:cTn>
                        </p:par>
                        <p:par>
                          <p:cTn id="79" fill="hold" nodeType="afterGroup">
                            <p:stCondLst>
                              <p:cond delay="1000"/>
                            </p:stCondLst>
                            <p:childTnLst>
                              <p:par>
                                <p:cTn id="80" presetID="1" presetClass="entr" presetSubtype="0" fill="hold" grpId="0" nodeType="afterEffect">
                                  <p:stCondLst>
                                    <p:cond delay="0"/>
                                  </p:stCondLst>
                                  <p:childTnLst>
                                    <p:set>
                                      <p:cBhvr>
                                        <p:cTn id="81" dur="1" fill="hold">
                                          <p:stCondLst>
                                            <p:cond delay="499"/>
                                          </p:stCondLst>
                                        </p:cTn>
                                        <p:tgtEl>
                                          <p:spTgt spid="434186"/>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xit" presetSubtype="0" fill="hold" nodeType="clickEffect">
                                  <p:stCondLst>
                                    <p:cond delay="0"/>
                                  </p:stCondLst>
                                  <p:childTnLst>
                                    <p:set>
                                      <p:cBhvr>
                                        <p:cTn id="85" dur="1" fill="hold">
                                          <p:stCondLst>
                                            <p:cond delay="0"/>
                                          </p:stCondLst>
                                        </p:cTn>
                                        <p:tgtEl>
                                          <p:spTgt spid="2"/>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499"/>
                                          </p:stCondLst>
                                        </p:cTn>
                                        <p:tgtEl>
                                          <p:spTgt spid="43427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37" fill="hold" grpId="0" nodeType="clickEffect">
                                  <p:stCondLst>
                                    <p:cond delay="0"/>
                                  </p:stCondLst>
                                  <p:childTnLst>
                                    <p:set>
                                      <p:cBhvr>
                                        <p:cTn id="91" dur="1" fill="hold">
                                          <p:stCondLst>
                                            <p:cond delay="0"/>
                                          </p:stCondLst>
                                        </p:cTn>
                                        <p:tgtEl>
                                          <p:spTgt spid="434185"/>
                                        </p:tgtEl>
                                        <p:attrNameLst>
                                          <p:attrName>style.visibility</p:attrName>
                                        </p:attrNameLst>
                                      </p:cBhvr>
                                      <p:to>
                                        <p:strVal val="visible"/>
                                      </p:to>
                                    </p:set>
                                    <p:animEffect transition="in" filter="barn(outVertical)">
                                      <p:cBhvr>
                                        <p:cTn id="92" dur="500"/>
                                        <p:tgtEl>
                                          <p:spTgt spid="434185"/>
                                        </p:tgtEl>
                                      </p:cBhvr>
                                    </p:animEffect>
                                  </p:childTnLst>
                                </p:cTn>
                              </p:par>
                              <p:par>
                                <p:cTn id="93" presetID="1" presetClass="entr" presetSubtype="0" fill="hold" grpId="0" nodeType="withEffect">
                                  <p:stCondLst>
                                    <p:cond delay="0"/>
                                  </p:stCondLst>
                                  <p:childTnLst>
                                    <p:set>
                                      <p:cBhvr>
                                        <p:cTn id="94" dur="1" fill="hold">
                                          <p:stCondLst>
                                            <p:cond delay="499"/>
                                          </p:stCondLst>
                                        </p:cTn>
                                        <p:tgtEl>
                                          <p:spTgt spid="434203"/>
                                        </p:tgtEl>
                                        <p:attrNameLst>
                                          <p:attrName>style.visibility</p:attrName>
                                        </p:attrNameLst>
                                      </p:cBhvr>
                                      <p:to>
                                        <p:strVal val="visible"/>
                                      </p:to>
                                    </p:set>
                                  </p:childTnLst>
                                </p:cTn>
                              </p:par>
                            </p:childTnLst>
                          </p:cTn>
                        </p:par>
                        <p:par>
                          <p:cTn id="95" fill="hold" nodeType="afterGroup">
                            <p:stCondLst>
                              <p:cond delay="500"/>
                            </p:stCondLst>
                            <p:childTnLst>
                              <p:par>
                                <p:cTn id="96" presetID="22" presetClass="entr" presetSubtype="8" fill="hold" nodeType="afterEffect">
                                  <p:stCondLst>
                                    <p:cond delay="0"/>
                                  </p:stCondLst>
                                  <p:childTnLst>
                                    <p:set>
                                      <p:cBhvr>
                                        <p:cTn id="97" dur="1" fill="hold">
                                          <p:stCondLst>
                                            <p:cond delay="0"/>
                                          </p:stCondLst>
                                        </p:cTn>
                                        <p:tgtEl>
                                          <p:spTgt spid="3"/>
                                        </p:tgtEl>
                                        <p:attrNameLst>
                                          <p:attrName>style.visibility</p:attrName>
                                        </p:attrNameLst>
                                      </p:cBhvr>
                                      <p:to>
                                        <p:strVal val="visible"/>
                                      </p:to>
                                    </p:set>
                                    <p:animEffect transition="in" filter="wipe(left)">
                                      <p:cBhvr>
                                        <p:cTn id="98" dur="500"/>
                                        <p:tgtEl>
                                          <p:spTgt spid="3"/>
                                        </p:tgtEl>
                                      </p:cBhvr>
                                    </p:animEffect>
                                  </p:childTnLst>
                                </p:cTn>
                              </p:par>
                            </p:childTnLst>
                          </p:cTn>
                        </p:par>
                        <p:par>
                          <p:cTn id="99" fill="hold" nodeType="afterGroup">
                            <p:stCondLst>
                              <p:cond delay="1000"/>
                            </p:stCondLst>
                            <p:childTnLst>
                              <p:par>
                                <p:cTn id="100" presetID="1" presetClass="entr" presetSubtype="0" fill="hold" grpId="0" nodeType="afterEffect">
                                  <p:stCondLst>
                                    <p:cond delay="0"/>
                                  </p:stCondLst>
                                  <p:childTnLst>
                                    <p:set>
                                      <p:cBhvr>
                                        <p:cTn id="101" dur="1" fill="hold">
                                          <p:stCondLst>
                                            <p:cond delay="499"/>
                                          </p:stCondLst>
                                        </p:cTn>
                                        <p:tgtEl>
                                          <p:spTgt spid="434202"/>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xit" presetSubtype="0" fill="hold" nodeType="clickEffect">
                                  <p:stCondLst>
                                    <p:cond delay="0"/>
                                  </p:stCondLst>
                                  <p:childTnLst>
                                    <p:set>
                                      <p:cBhvr>
                                        <p:cTn id="105" dur="1" fill="hold">
                                          <p:stCondLst>
                                            <p:cond delay="0"/>
                                          </p:stCondLst>
                                        </p:cTn>
                                        <p:tgtEl>
                                          <p:spTgt spid="3"/>
                                        </p:tgtEl>
                                        <p:attrNameLst>
                                          <p:attrName>style.visibility</p:attrName>
                                        </p:attrNameLst>
                                      </p:cBhvr>
                                      <p:to>
                                        <p:strVal val="hidden"/>
                                      </p:to>
                                    </p:set>
                                  </p:childTnLst>
                                </p:cTn>
                              </p:par>
                              <p:par>
                                <p:cTn id="106" presetID="1" presetClass="entr" presetSubtype="0" fill="hold" grpId="0" nodeType="withEffect">
                                  <p:stCondLst>
                                    <p:cond delay="0"/>
                                  </p:stCondLst>
                                  <p:childTnLst>
                                    <p:set>
                                      <p:cBhvr>
                                        <p:cTn id="107" dur="1" fill="hold">
                                          <p:stCondLst>
                                            <p:cond delay="499"/>
                                          </p:stCondLst>
                                        </p:cTn>
                                        <p:tgtEl>
                                          <p:spTgt spid="434271"/>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434226"/>
                                        </p:tgtEl>
                                        <p:attrNameLst>
                                          <p:attrName>style.visibility</p:attrName>
                                        </p:attrNameLst>
                                      </p:cBhvr>
                                      <p:to>
                                        <p:strVal val="visible"/>
                                      </p:to>
                                    </p:set>
                                    <p:animEffect transition="in" filter="wipe(down)">
                                      <p:cBhvr>
                                        <p:cTn id="112" dur="500"/>
                                        <p:tgtEl>
                                          <p:spTgt spid="434226"/>
                                        </p:tgtEl>
                                      </p:cBhvr>
                                    </p:animEffect>
                                  </p:childTnLst>
                                </p:cTn>
                              </p:par>
                            </p:childTnLst>
                          </p:cTn>
                        </p:par>
                        <p:par>
                          <p:cTn id="113" fill="hold" nodeType="afterGroup">
                            <p:stCondLst>
                              <p:cond delay="500"/>
                            </p:stCondLst>
                            <p:childTnLst>
                              <p:par>
                                <p:cTn id="114" presetID="22" presetClass="entr" presetSubtype="8" fill="hold" grpId="0" nodeType="afterEffect">
                                  <p:stCondLst>
                                    <p:cond delay="0"/>
                                  </p:stCondLst>
                                  <p:childTnLst>
                                    <p:set>
                                      <p:cBhvr>
                                        <p:cTn id="115" dur="1" fill="hold">
                                          <p:stCondLst>
                                            <p:cond delay="0"/>
                                          </p:stCondLst>
                                        </p:cTn>
                                        <p:tgtEl>
                                          <p:spTgt spid="434227"/>
                                        </p:tgtEl>
                                        <p:attrNameLst>
                                          <p:attrName>style.visibility</p:attrName>
                                        </p:attrNameLst>
                                      </p:cBhvr>
                                      <p:to>
                                        <p:strVal val="visible"/>
                                      </p:to>
                                    </p:set>
                                    <p:animEffect transition="in" filter="wipe(left)">
                                      <p:cBhvr>
                                        <p:cTn id="116" dur="500"/>
                                        <p:tgtEl>
                                          <p:spTgt spid="434227"/>
                                        </p:tgtEl>
                                      </p:cBhvr>
                                    </p:animEffect>
                                  </p:childTnLst>
                                </p:cTn>
                              </p:par>
                            </p:childTnLst>
                          </p:cTn>
                        </p:par>
                        <p:par>
                          <p:cTn id="117" fill="hold" nodeType="afterGroup">
                            <p:stCondLst>
                              <p:cond delay="1000"/>
                            </p:stCondLst>
                            <p:childTnLst>
                              <p:par>
                                <p:cTn id="118" presetID="1" presetClass="entr" presetSubtype="0" fill="hold" grpId="0" nodeType="afterEffect">
                                  <p:stCondLst>
                                    <p:cond delay="0"/>
                                  </p:stCondLst>
                                  <p:childTnLst>
                                    <p:set>
                                      <p:cBhvr>
                                        <p:cTn id="119" dur="1" fill="hold">
                                          <p:stCondLst>
                                            <p:cond delay="0"/>
                                          </p:stCondLst>
                                        </p:cTn>
                                        <p:tgtEl>
                                          <p:spTgt spid="434224"/>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434231"/>
                                        </p:tgtEl>
                                        <p:attrNameLst>
                                          <p:attrName>style.visibility</p:attrName>
                                        </p:attrNameLst>
                                      </p:cBhvr>
                                      <p:to>
                                        <p:strVal val="visible"/>
                                      </p:to>
                                    </p:set>
                                    <p:animEffect transition="in" filter="wipe(up)">
                                      <p:cBhvr>
                                        <p:cTn id="124" dur="500"/>
                                        <p:tgtEl>
                                          <p:spTgt spid="434231"/>
                                        </p:tgtEl>
                                      </p:cBhvr>
                                    </p:animEffect>
                                  </p:childTnLst>
                                </p:cTn>
                              </p:par>
                            </p:childTnLst>
                          </p:cTn>
                        </p:par>
                        <p:par>
                          <p:cTn id="125" fill="hold" nodeType="afterGroup">
                            <p:stCondLst>
                              <p:cond delay="500"/>
                            </p:stCondLst>
                            <p:childTnLst>
                              <p:par>
                                <p:cTn id="126" presetID="22" presetClass="entr" presetSubtype="2" fill="hold" grpId="0" nodeType="afterEffect">
                                  <p:stCondLst>
                                    <p:cond delay="0"/>
                                  </p:stCondLst>
                                  <p:childTnLst>
                                    <p:set>
                                      <p:cBhvr>
                                        <p:cTn id="127" dur="1" fill="hold">
                                          <p:stCondLst>
                                            <p:cond delay="0"/>
                                          </p:stCondLst>
                                        </p:cTn>
                                        <p:tgtEl>
                                          <p:spTgt spid="434230"/>
                                        </p:tgtEl>
                                        <p:attrNameLst>
                                          <p:attrName>style.visibility</p:attrName>
                                        </p:attrNameLst>
                                      </p:cBhvr>
                                      <p:to>
                                        <p:strVal val="visible"/>
                                      </p:to>
                                    </p:set>
                                    <p:animEffect transition="in" filter="wipe(right)">
                                      <p:cBhvr>
                                        <p:cTn id="128" dur="500"/>
                                        <p:tgtEl>
                                          <p:spTgt spid="434230"/>
                                        </p:tgtEl>
                                      </p:cBhvr>
                                    </p:animEffect>
                                  </p:childTnLst>
                                </p:cTn>
                              </p:par>
                            </p:childTnLst>
                          </p:cTn>
                        </p:par>
                        <p:par>
                          <p:cTn id="129" fill="hold" nodeType="afterGroup">
                            <p:stCondLst>
                              <p:cond delay="1000"/>
                            </p:stCondLst>
                            <p:childTnLst>
                              <p:par>
                                <p:cTn id="130" presetID="22" presetClass="entr" presetSubtype="4" fill="hold" grpId="0" nodeType="afterEffect">
                                  <p:stCondLst>
                                    <p:cond delay="0"/>
                                  </p:stCondLst>
                                  <p:childTnLst>
                                    <p:set>
                                      <p:cBhvr>
                                        <p:cTn id="131" dur="1" fill="hold">
                                          <p:stCondLst>
                                            <p:cond delay="0"/>
                                          </p:stCondLst>
                                        </p:cTn>
                                        <p:tgtEl>
                                          <p:spTgt spid="434232"/>
                                        </p:tgtEl>
                                        <p:attrNameLst>
                                          <p:attrName>style.visibility</p:attrName>
                                        </p:attrNameLst>
                                      </p:cBhvr>
                                      <p:to>
                                        <p:strVal val="visible"/>
                                      </p:to>
                                    </p:set>
                                    <p:animEffect transition="in" filter="wipe(down)">
                                      <p:cBhvr>
                                        <p:cTn id="132" dur="500"/>
                                        <p:tgtEl>
                                          <p:spTgt spid="434232"/>
                                        </p:tgtEl>
                                      </p:cBhvr>
                                    </p:animEffect>
                                  </p:childTnLst>
                                </p:cTn>
                              </p:par>
                            </p:childTnLst>
                          </p:cTn>
                        </p:par>
                        <p:par>
                          <p:cTn id="133" fill="hold" nodeType="afterGroup">
                            <p:stCondLst>
                              <p:cond delay="1500"/>
                            </p:stCondLst>
                            <p:childTnLst>
                              <p:par>
                                <p:cTn id="134" presetID="1" presetClass="entr" presetSubtype="0" fill="hold" grpId="0" nodeType="afterEffect">
                                  <p:stCondLst>
                                    <p:cond delay="0"/>
                                  </p:stCondLst>
                                  <p:childTnLst>
                                    <p:set>
                                      <p:cBhvr>
                                        <p:cTn id="135" dur="1" fill="hold">
                                          <p:stCondLst>
                                            <p:cond delay="0"/>
                                          </p:stCondLst>
                                        </p:cTn>
                                        <p:tgtEl>
                                          <p:spTgt spid="434233"/>
                                        </p:tgtEl>
                                        <p:attrNameLst>
                                          <p:attrName>style.visibility</p:attrName>
                                        </p:attrNameLst>
                                      </p:cBhvr>
                                      <p:to>
                                        <p:strVal val="visible"/>
                                      </p:to>
                                    </p:set>
                                  </p:childTnLst>
                                </p:cTn>
                              </p:par>
                            </p:childTnLst>
                          </p:cTn>
                        </p:par>
                        <p:par>
                          <p:cTn id="136" fill="hold" nodeType="afterGroup">
                            <p:stCondLst>
                              <p:cond delay="1500"/>
                            </p:stCondLst>
                            <p:childTnLst>
                              <p:par>
                                <p:cTn id="137" presetID="1" presetClass="exit" presetSubtype="0" fill="hold" grpId="1" nodeType="afterEffect">
                                  <p:stCondLst>
                                    <p:cond delay="0"/>
                                  </p:stCondLst>
                                  <p:childTnLst>
                                    <p:set>
                                      <p:cBhvr>
                                        <p:cTn id="138" dur="1" fill="hold">
                                          <p:stCondLst>
                                            <p:cond delay="0"/>
                                          </p:stCondLst>
                                        </p:cTn>
                                        <p:tgtEl>
                                          <p:spTgt spid="434246"/>
                                        </p:tgtEl>
                                        <p:attrNameLst>
                                          <p:attrName>style.visibility</p:attrName>
                                        </p:attrNameLst>
                                      </p:cBhvr>
                                      <p:to>
                                        <p:strVal val="hidden"/>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434229"/>
                                        </p:tgtEl>
                                        <p:attrNameLst>
                                          <p:attrName>style.visibility</p:attrName>
                                        </p:attrNameLst>
                                      </p:cBhvr>
                                      <p:to>
                                        <p:strVal val="visible"/>
                                      </p:to>
                                    </p:set>
                                    <p:animEffect transition="in" filter="wipe(left)">
                                      <p:cBhvr>
                                        <p:cTn id="143" dur="500"/>
                                        <p:tgtEl>
                                          <p:spTgt spid="434229"/>
                                        </p:tgtEl>
                                      </p:cBhvr>
                                    </p:animEffect>
                                  </p:childTnLst>
                                </p:cTn>
                              </p:par>
                            </p:childTnLst>
                          </p:cTn>
                        </p:par>
                        <p:par>
                          <p:cTn id="144" fill="hold" nodeType="afterGroup">
                            <p:stCondLst>
                              <p:cond delay="500"/>
                            </p:stCondLst>
                            <p:childTnLst>
                              <p:par>
                                <p:cTn id="145" presetID="22" presetClass="entr" presetSubtype="2" fill="hold" grpId="0" nodeType="afterEffect">
                                  <p:stCondLst>
                                    <p:cond delay="0"/>
                                  </p:stCondLst>
                                  <p:childTnLst>
                                    <p:set>
                                      <p:cBhvr>
                                        <p:cTn id="146" dur="1" fill="hold">
                                          <p:stCondLst>
                                            <p:cond delay="0"/>
                                          </p:stCondLst>
                                        </p:cTn>
                                        <p:tgtEl>
                                          <p:spTgt spid="434250"/>
                                        </p:tgtEl>
                                        <p:attrNameLst>
                                          <p:attrName>style.visibility</p:attrName>
                                        </p:attrNameLst>
                                      </p:cBhvr>
                                      <p:to>
                                        <p:strVal val="visible"/>
                                      </p:to>
                                    </p:set>
                                    <p:animEffect transition="in" filter="wipe(right)">
                                      <p:cBhvr>
                                        <p:cTn id="147" dur="500"/>
                                        <p:tgtEl>
                                          <p:spTgt spid="434250"/>
                                        </p:tgtEl>
                                      </p:cBhvr>
                                    </p:animEffect>
                                  </p:childTnLst>
                                </p:cTn>
                              </p:par>
                            </p:childTnLst>
                          </p:cTn>
                        </p:par>
                        <p:par>
                          <p:cTn id="148" fill="hold" nodeType="afterGroup">
                            <p:stCondLst>
                              <p:cond delay="1000"/>
                            </p:stCondLst>
                            <p:childTnLst>
                              <p:par>
                                <p:cTn id="149" presetID="22" presetClass="entr" presetSubtype="1" fill="hold" grpId="0" nodeType="afterEffect">
                                  <p:stCondLst>
                                    <p:cond delay="0"/>
                                  </p:stCondLst>
                                  <p:childTnLst>
                                    <p:set>
                                      <p:cBhvr>
                                        <p:cTn id="150" dur="1" fill="hold">
                                          <p:stCondLst>
                                            <p:cond delay="0"/>
                                          </p:stCondLst>
                                        </p:cTn>
                                        <p:tgtEl>
                                          <p:spTgt spid="434228"/>
                                        </p:tgtEl>
                                        <p:attrNameLst>
                                          <p:attrName>style.visibility</p:attrName>
                                        </p:attrNameLst>
                                      </p:cBhvr>
                                      <p:to>
                                        <p:strVal val="visible"/>
                                      </p:to>
                                    </p:set>
                                    <p:animEffect transition="in" filter="wipe(up)">
                                      <p:cBhvr>
                                        <p:cTn id="151" dur="500"/>
                                        <p:tgtEl>
                                          <p:spTgt spid="434228"/>
                                        </p:tgtEl>
                                      </p:cBhvr>
                                    </p:animEffect>
                                  </p:childTnLst>
                                </p:cTn>
                              </p:par>
                            </p:childTnLst>
                          </p:cTn>
                        </p:par>
                        <p:par>
                          <p:cTn id="152" fill="hold" nodeType="afterGroup">
                            <p:stCondLst>
                              <p:cond delay="1500"/>
                            </p:stCondLst>
                            <p:childTnLst>
                              <p:par>
                                <p:cTn id="153" presetID="1" presetClass="entr" presetSubtype="0" fill="hold" grpId="0" nodeType="afterEffect">
                                  <p:stCondLst>
                                    <p:cond delay="0"/>
                                  </p:stCondLst>
                                  <p:childTnLst>
                                    <p:set>
                                      <p:cBhvr>
                                        <p:cTn id="154" dur="1" fill="hold">
                                          <p:stCondLst>
                                            <p:cond delay="0"/>
                                          </p:stCondLst>
                                        </p:cTn>
                                        <p:tgtEl>
                                          <p:spTgt spid="434222"/>
                                        </p:tgtEl>
                                        <p:attrNameLst>
                                          <p:attrName>style.visibility</p:attrName>
                                        </p:attrNameLst>
                                      </p:cBhvr>
                                      <p:to>
                                        <p:strVal val="visible"/>
                                      </p:to>
                                    </p:set>
                                  </p:childTnLst>
                                </p:cTn>
                              </p:par>
                            </p:childTnLst>
                          </p:cTn>
                        </p:par>
                        <p:par>
                          <p:cTn id="155" fill="hold" nodeType="afterGroup">
                            <p:stCondLst>
                              <p:cond delay="1500"/>
                            </p:stCondLst>
                            <p:childTnLst>
                              <p:par>
                                <p:cTn id="156" presetID="1" presetClass="exit" presetSubtype="0" fill="hold" grpId="1" nodeType="afterEffect">
                                  <p:stCondLst>
                                    <p:cond delay="0"/>
                                  </p:stCondLst>
                                  <p:childTnLst>
                                    <p:set>
                                      <p:cBhvr>
                                        <p:cTn id="157" dur="1" fill="hold">
                                          <p:stCondLst>
                                            <p:cond delay="0"/>
                                          </p:stCondLst>
                                        </p:cTn>
                                        <p:tgtEl>
                                          <p:spTgt spid="434249"/>
                                        </p:tgtEl>
                                        <p:attrNameLst>
                                          <p:attrName>style.visibility</p:attrName>
                                        </p:attrNameLst>
                                      </p:cBhvr>
                                      <p:to>
                                        <p:strVal val="hidden"/>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37" fill="hold" nodeType="clickEffect">
                                  <p:stCondLst>
                                    <p:cond delay="0"/>
                                  </p:stCondLst>
                                  <p:childTnLst>
                                    <p:set>
                                      <p:cBhvr>
                                        <p:cTn id="161" dur="1" fill="hold">
                                          <p:stCondLst>
                                            <p:cond delay="0"/>
                                          </p:stCondLst>
                                        </p:cTn>
                                        <p:tgtEl>
                                          <p:spTgt spid="4"/>
                                        </p:tgtEl>
                                        <p:attrNameLst>
                                          <p:attrName>style.visibility</p:attrName>
                                        </p:attrNameLst>
                                      </p:cBhvr>
                                      <p:to>
                                        <p:strVal val="visible"/>
                                      </p:to>
                                    </p:set>
                                    <p:animEffect transition="in" filter="barn(outVertical)">
                                      <p:cBhvr>
                                        <p:cTn id="162" dur="500"/>
                                        <p:tgtEl>
                                          <p:spTgt spid="4"/>
                                        </p:tgtEl>
                                      </p:cBhvr>
                                    </p:animEffect>
                                  </p:childTnLst>
                                </p:cTn>
                              </p:par>
                            </p:childTnLst>
                          </p:cTn>
                        </p:par>
                        <p:par>
                          <p:cTn id="163" fill="hold" nodeType="afterGroup">
                            <p:stCondLst>
                              <p:cond delay="500"/>
                            </p:stCondLst>
                            <p:childTnLst>
                              <p:par>
                                <p:cTn id="164" presetID="9" presetClass="entr" presetSubtype="0" fill="hold" nodeType="afterEffect">
                                  <p:stCondLst>
                                    <p:cond delay="0"/>
                                  </p:stCondLst>
                                  <p:childTnLst>
                                    <p:set>
                                      <p:cBhvr>
                                        <p:cTn id="165" dur="1" fill="hold">
                                          <p:stCondLst>
                                            <p:cond delay="0"/>
                                          </p:stCondLst>
                                        </p:cTn>
                                        <p:tgtEl>
                                          <p:spTgt spid="6"/>
                                        </p:tgtEl>
                                        <p:attrNameLst>
                                          <p:attrName>style.visibility</p:attrName>
                                        </p:attrNameLst>
                                      </p:cBhvr>
                                      <p:to>
                                        <p:strVal val="visible"/>
                                      </p:to>
                                    </p:set>
                                    <p:animEffect transition="in" filter="dissolve">
                                      <p:cBhvr>
                                        <p:cTn id="166" dur="500"/>
                                        <p:tgtEl>
                                          <p:spTgt spid="6"/>
                                        </p:tgtEl>
                                      </p:cBhvr>
                                    </p:animEffect>
                                  </p:childTnLst>
                                  <p:subTnLst>
                                    <p:audio>
                                      <p:cMediaNode>
                                        <p:cTn display="0" masterRel="sameClick">
                                          <p:stCondLst>
                                            <p:cond evt="begin" delay="0">
                                              <p:tn val="164"/>
                                            </p:cond>
                                          </p:stCondLst>
                                          <p:endCondLst>
                                            <p:cond evt="onStopAudio" delay="0">
                                              <p:tgtEl>
                                                <p:sldTgt/>
                                              </p:tgtEl>
                                            </p:cond>
                                          </p:endCondLst>
                                        </p:cTn>
                                        <p:tgtEl>
                                          <p:sndTgt r:embed="rId3" name="DING.WAV"/>
                                        </p:tgtEl>
                                      </p:cMediaNode>
                                    </p:audio>
                                  </p:subTnLst>
                                </p:cTn>
                              </p:par>
                            </p:childTnLst>
                          </p:cTn>
                        </p:par>
                      </p:childTnLst>
                    </p:cTn>
                  </p:par>
                  <p:par>
                    <p:cTn id="167" fill="hold" nodeType="clickPar">
                      <p:stCondLst>
                        <p:cond delay="indefinite"/>
                      </p:stCondLst>
                      <p:childTnLst>
                        <p:par>
                          <p:cTn id="168" fill="hold" nodeType="withGroup">
                            <p:stCondLst>
                              <p:cond delay="0"/>
                            </p:stCondLst>
                            <p:childTnLst>
                              <p:par>
                                <p:cTn id="169" presetID="16" presetClass="entr" presetSubtype="37" fill="hold" nodeType="clickEffect">
                                  <p:stCondLst>
                                    <p:cond delay="0"/>
                                  </p:stCondLst>
                                  <p:childTnLst>
                                    <p:set>
                                      <p:cBhvr>
                                        <p:cTn id="170" dur="1" fill="hold">
                                          <p:stCondLst>
                                            <p:cond delay="0"/>
                                          </p:stCondLst>
                                        </p:cTn>
                                        <p:tgtEl>
                                          <p:spTgt spid="5"/>
                                        </p:tgtEl>
                                        <p:attrNameLst>
                                          <p:attrName>style.visibility</p:attrName>
                                        </p:attrNameLst>
                                      </p:cBhvr>
                                      <p:to>
                                        <p:strVal val="visible"/>
                                      </p:to>
                                    </p:set>
                                    <p:animEffect transition="in" filter="barn(outVertical)">
                                      <p:cBhvr>
                                        <p:cTn id="171" dur="500"/>
                                        <p:tgtEl>
                                          <p:spTgt spid="5"/>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53" presetClass="entr" presetSubtype="0" fill="hold" grpId="0" nodeType="clickEffect">
                                  <p:stCondLst>
                                    <p:cond delay="0"/>
                                  </p:stCondLst>
                                  <p:childTnLst>
                                    <p:set>
                                      <p:cBhvr>
                                        <p:cTn id="175" dur="1" fill="hold">
                                          <p:stCondLst>
                                            <p:cond delay="0"/>
                                          </p:stCondLst>
                                        </p:cTn>
                                        <p:tgtEl>
                                          <p:spTgt spid="434275"/>
                                        </p:tgtEl>
                                        <p:attrNameLst>
                                          <p:attrName>style.visibility</p:attrName>
                                        </p:attrNameLst>
                                      </p:cBhvr>
                                      <p:to>
                                        <p:strVal val="visible"/>
                                      </p:to>
                                    </p:set>
                                    <p:anim calcmode="lin" valueType="num">
                                      <p:cBhvr>
                                        <p:cTn id="176" dur="500" fill="hold"/>
                                        <p:tgtEl>
                                          <p:spTgt spid="434275"/>
                                        </p:tgtEl>
                                        <p:attrNameLst>
                                          <p:attrName>ppt_w</p:attrName>
                                        </p:attrNameLst>
                                      </p:cBhvr>
                                      <p:tavLst>
                                        <p:tav tm="0">
                                          <p:val>
                                            <p:fltVal val="0"/>
                                          </p:val>
                                        </p:tav>
                                        <p:tav tm="100000">
                                          <p:val>
                                            <p:strVal val="#ppt_w"/>
                                          </p:val>
                                        </p:tav>
                                      </p:tavLst>
                                    </p:anim>
                                    <p:anim calcmode="lin" valueType="num">
                                      <p:cBhvr>
                                        <p:cTn id="177" dur="500" fill="hold"/>
                                        <p:tgtEl>
                                          <p:spTgt spid="434275"/>
                                        </p:tgtEl>
                                        <p:attrNameLst>
                                          <p:attrName>ppt_h</p:attrName>
                                        </p:attrNameLst>
                                      </p:cBhvr>
                                      <p:tavLst>
                                        <p:tav tm="0">
                                          <p:val>
                                            <p:fltVal val="0"/>
                                          </p:val>
                                        </p:tav>
                                        <p:tav tm="100000">
                                          <p:val>
                                            <p:strVal val="#ppt_h"/>
                                          </p:val>
                                        </p:tav>
                                      </p:tavLst>
                                    </p:anim>
                                    <p:animEffect transition="in" filter="fade">
                                      <p:cBhvr>
                                        <p:cTn id="178" dur="500"/>
                                        <p:tgtEl>
                                          <p:spTgt spid="43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2" grpId="0" animBg="1" autoUpdateAnimBg="0"/>
      <p:bldP spid="434183" grpId="0" animBg="1" autoUpdateAnimBg="0"/>
      <p:bldP spid="434184" grpId="0" animBg="1" autoUpdateAnimBg="0"/>
      <p:bldP spid="434185" grpId="0" animBg="1" autoUpdateAnimBg="0"/>
      <p:bldP spid="434186" grpId="0" autoUpdateAnimBg="0"/>
      <p:bldP spid="434187" grpId="0" autoUpdateAnimBg="0"/>
      <p:bldP spid="434192" grpId="0" animBg="1" autoUpdateAnimBg="0"/>
      <p:bldP spid="434193" grpId="0" animBg="1" autoUpdateAnimBg="0"/>
      <p:bldP spid="434202" grpId="0" autoUpdateAnimBg="0"/>
      <p:bldP spid="434203" grpId="0" autoUpdateAnimBg="0"/>
      <p:bldP spid="434216" grpId="0" autoUpdateAnimBg="0"/>
      <p:bldP spid="434217" grpId="0" autoUpdateAnimBg="0"/>
      <p:bldP spid="434223" grpId="0" animBg="1" autoUpdateAnimBg="0"/>
      <p:bldP spid="434224" grpId="0"/>
      <p:bldP spid="434225" grpId="0" autoUpdateAnimBg="0"/>
      <p:bldP spid="434226" grpId="0" animBg="1"/>
      <p:bldP spid="434227" grpId="0" animBg="1"/>
      <p:bldP spid="434228" grpId="0" animBg="1"/>
      <p:bldP spid="434229" grpId="0" animBg="1"/>
      <p:bldP spid="434230" grpId="0" animBg="1"/>
      <p:bldP spid="434231" grpId="0" animBg="1"/>
      <p:bldP spid="434232" grpId="0" animBg="1"/>
      <p:bldP spid="434244" grpId="0" animBg="1" autoUpdateAnimBg="0"/>
      <p:bldP spid="434245" grpId="0" animBg="1" autoUpdateAnimBg="0"/>
      <p:bldP spid="434246" grpId="0" autoUpdateAnimBg="0"/>
      <p:bldP spid="434246" grpId="1"/>
      <p:bldP spid="434247" grpId="0" autoUpdateAnimBg="0"/>
      <p:bldP spid="434248" grpId="0" autoUpdateAnimBg="0"/>
      <p:bldP spid="434249" grpId="0" autoUpdateAnimBg="0"/>
      <p:bldP spid="434249" grpId="1"/>
      <p:bldP spid="434233" grpId="0"/>
      <p:bldP spid="434222" grpId="0"/>
      <p:bldP spid="434250" grpId="0" animBg="1"/>
      <p:bldP spid="434268" grpId="0" animBg="1"/>
      <p:bldP spid="434269" grpId="0" animBg="1"/>
      <p:bldP spid="434270" grpId="0" autoUpdateAnimBg="0"/>
      <p:bldP spid="434271" grpId="0" autoUpdateAnimBg="0"/>
      <p:bldP spid="43427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指针与函数</a:t>
            </a:r>
            <a:endParaRPr lang="zh-CN" altLang="en-US" dirty="0"/>
          </a:p>
        </p:txBody>
      </p:sp>
      <p:sp>
        <p:nvSpPr>
          <p:cNvPr id="3" name="内容占位符 2"/>
          <p:cNvSpPr>
            <a:spLocks noGrp="1"/>
          </p:cNvSpPr>
          <p:nvPr>
            <p:ph idx="1"/>
          </p:nvPr>
        </p:nvSpPr>
        <p:spPr/>
        <p:txBody>
          <a:bodyPr/>
          <a:lstStyle/>
          <a:p>
            <a:r>
              <a:rPr lang="zh-CN" altLang="en-US" sz="2400" dirty="0"/>
              <a:t>调用说明：main函数调用Swap函数时，先给两个形参指针变量</a:t>
            </a:r>
            <a:r>
              <a:rPr lang="en-US" altLang="zh-CN" sz="2400" dirty="0"/>
              <a:t>x</a:t>
            </a:r>
            <a:r>
              <a:rPr lang="zh-CN" altLang="en-US" sz="2400" dirty="0"/>
              <a:t>和</a:t>
            </a:r>
            <a:r>
              <a:rPr lang="en-US" altLang="zh-CN" sz="2400" dirty="0"/>
              <a:t>y</a:t>
            </a:r>
            <a:r>
              <a:rPr lang="zh-CN" altLang="en-US" sz="2400" dirty="0"/>
              <a:t>分配空间，然后将实参&amp;a和&amp;b的值按顺序单向传递给形参，所以</a:t>
            </a:r>
            <a:r>
              <a:rPr lang="en-US" altLang="zh-CN" sz="2400" dirty="0"/>
              <a:t>x</a:t>
            </a:r>
            <a:r>
              <a:rPr lang="zh-CN" altLang="en-US" sz="2400" dirty="0"/>
              <a:t>接收实参&amp;a，</a:t>
            </a:r>
            <a:r>
              <a:rPr lang="en-US" altLang="zh-CN" sz="2400" dirty="0"/>
              <a:t>y</a:t>
            </a:r>
            <a:r>
              <a:rPr lang="zh-CN" altLang="en-US" sz="2400" dirty="0"/>
              <a:t>接收实参&amp;b，相当于</a:t>
            </a:r>
            <a:r>
              <a:rPr lang="en-US" altLang="zh-CN" sz="2400" dirty="0"/>
              <a:t>x</a:t>
            </a:r>
            <a:r>
              <a:rPr lang="zh-CN" altLang="en-US" sz="2400" dirty="0"/>
              <a:t>=&amp;a，</a:t>
            </a:r>
            <a:r>
              <a:rPr lang="en-US" altLang="zh-CN" sz="2400" dirty="0"/>
              <a:t>y</a:t>
            </a:r>
            <a:r>
              <a:rPr lang="zh-CN" altLang="en-US" sz="2400" dirty="0"/>
              <a:t>=&amp;b，此时即建立了指向关系：</a:t>
            </a:r>
            <a:r>
              <a:rPr lang="en-US" altLang="zh-CN" sz="2400" dirty="0"/>
              <a:t>x</a:t>
            </a:r>
            <a:r>
              <a:rPr lang="zh-CN" altLang="en-US" sz="2400" dirty="0"/>
              <a:t>指向a变量，</a:t>
            </a:r>
            <a:r>
              <a:rPr lang="en-US" altLang="zh-CN" sz="2400" dirty="0"/>
              <a:t>y</a:t>
            </a:r>
            <a:r>
              <a:rPr lang="zh-CN" altLang="en-US" sz="2400" dirty="0"/>
              <a:t>指向b变量，所以操作*</a:t>
            </a:r>
            <a:r>
              <a:rPr lang="en-US" altLang="zh-CN" sz="2400" dirty="0"/>
              <a:t>x</a:t>
            </a:r>
            <a:r>
              <a:rPr lang="zh-CN" altLang="en-US" sz="2400" dirty="0"/>
              <a:t>等价于操作a，操作*</a:t>
            </a:r>
            <a:r>
              <a:rPr lang="en-US" altLang="zh-CN" sz="2400" dirty="0"/>
              <a:t>y</a:t>
            </a:r>
            <a:r>
              <a:rPr lang="zh-CN" altLang="en-US" sz="2400" dirty="0"/>
              <a:t>等价于操作b，Swap函数里交换*</a:t>
            </a:r>
            <a:r>
              <a:rPr lang="en-US" altLang="zh-CN" sz="2400" dirty="0"/>
              <a:t>x</a:t>
            </a:r>
            <a:r>
              <a:rPr lang="zh-CN" altLang="en-US" sz="2400" dirty="0"/>
              <a:t>和*</a:t>
            </a:r>
            <a:r>
              <a:rPr lang="en-US" altLang="zh-CN" sz="2400" dirty="0"/>
              <a:t>y</a:t>
            </a:r>
            <a:r>
              <a:rPr lang="zh-CN" altLang="en-US" sz="2400" dirty="0"/>
              <a:t>的值就是交换main函数里a和b的值。Swap函数返回时，虽然Swap函数内的形参变量</a:t>
            </a:r>
            <a:r>
              <a:rPr lang="en-US" altLang="zh-CN" sz="2400" dirty="0"/>
              <a:t>x</a:t>
            </a:r>
            <a:r>
              <a:rPr lang="zh-CN" altLang="en-US" sz="2400" dirty="0"/>
              <a:t>和</a:t>
            </a:r>
            <a:r>
              <a:rPr lang="en-US" altLang="zh-CN" sz="2400" dirty="0"/>
              <a:t>y</a:t>
            </a:r>
            <a:r>
              <a:rPr lang="zh-CN" altLang="en-US" sz="2400" dirty="0"/>
              <a:t>的空间已经被释放，但是a和b的值已经</a:t>
            </a:r>
            <a:r>
              <a:rPr lang="zh-CN" altLang="en-US" sz="2400" dirty="0" smtClean="0"/>
              <a:t>交换</a:t>
            </a:r>
            <a:r>
              <a:rPr lang="zh-CN" altLang="en-US" sz="2400" dirty="0"/>
              <a:t>完成</a:t>
            </a:r>
            <a:r>
              <a:rPr lang="zh-CN" altLang="en-US" sz="2400" dirty="0" smtClean="0"/>
              <a:t>。</a:t>
            </a:r>
            <a:endParaRPr lang="zh-CN" altLang="en-US" sz="24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46</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8"/>
          <p:cNvSpPr>
            <a:spLocks noGrp="1"/>
          </p:cNvSpPr>
          <p:nvPr>
            <p:ph type="title"/>
          </p:nvPr>
        </p:nvSpPr>
        <p:spPr>
          <a:xfrm>
            <a:off x="744855" y="908720"/>
            <a:ext cx="7706360" cy="669890"/>
          </a:xfrm>
        </p:spPr>
        <p:txBody>
          <a:bodyPr vert="horz" wrap="square" lIns="69056" tIns="34528" rIns="69056" bIns="34528" anchor="b"/>
          <a:lstStyle/>
          <a:p>
            <a:pPr algn="l" eaLnBrk="1" hangingPunct="1"/>
            <a:r>
              <a:rPr lang="zh-CN" altLang="en-US" sz="3600" dirty="0" smtClean="0"/>
              <a:t>指针与函数</a:t>
            </a:r>
            <a:endParaRPr lang="zh-CN" altLang="en-US" sz="3600" dirty="0"/>
          </a:p>
        </p:txBody>
      </p:sp>
      <p:sp>
        <p:nvSpPr>
          <p:cNvPr id="363529" name="Rectangle 9"/>
          <p:cNvSpPr>
            <a:spLocks noGrp="1"/>
          </p:cNvSpPr>
          <p:nvPr>
            <p:ph idx="1"/>
          </p:nvPr>
        </p:nvSpPr>
        <p:spPr>
          <a:xfrm>
            <a:off x="1027430" y="1597898"/>
            <a:ext cx="3714750" cy="2628900"/>
          </a:xfrm>
        </p:spPr>
        <p:txBody>
          <a:bodyPr vert="horz" wrap="square" lIns="69056" tIns="34528" rIns="69056" bIns="34528" anchor="t"/>
          <a:lstStyle/>
          <a:p>
            <a:pPr eaLnBrk="1" hangingPunct="1">
              <a:spcBef>
                <a:spcPct val="10000"/>
              </a:spcBef>
              <a:buNone/>
            </a:pPr>
            <a:r>
              <a:rPr lang="en-US" altLang="zh-CN" sz="2100" dirty="0">
                <a:solidFill>
                  <a:srgbClr val="FF0000"/>
                </a:solidFill>
              </a:rPr>
              <a:t>Swap (&amp;a, &amp;b);</a:t>
            </a:r>
          </a:p>
          <a:p>
            <a:pPr eaLnBrk="1" hangingPunct="1">
              <a:lnSpc>
                <a:spcPct val="110000"/>
              </a:lnSpc>
              <a:spcBef>
                <a:spcPct val="0"/>
              </a:spcBef>
              <a:buNone/>
            </a:pPr>
            <a:r>
              <a:rPr lang="en-US" altLang="zh-CN" sz="2100" dirty="0"/>
              <a:t>void S</a:t>
            </a:r>
            <a:r>
              <a:rPr lang="en-US" altLang="zh-CN" sz="2100" dirty="0" smtClean="0"/>
              <a:t>wap(</a:t>
            </a:r>
            <a:r>
              <a:rPr lang="en-US" altLang="zh-CN" sz="2100" dirty="0" smtClean="0">
                <a:solidFill>
                  <a:srgbClr val="FF0000"/>
                </a:solidFill>
              </a:rPr>
              <a:t>int </a:t>
            </a:r>
            <a:r>
              <a:rPr lang="en-US" altLang="zh-CN" sz="2100" dirty="0">
                <a:solidFill>
                  <a:srgbClr val="FF0000"/>
                </a:solidFill>
              </a:rPr>
              <a:t>*x, int *y</a:t>
            </a:r>
            <a:r>
              <a:rPr lang="en-US" altLang="zh-CN" sz="2100" dirty="0"/>
              <a:t>)</a:t>
            </a:r>
          </a:p>
          <a:p>
            <a:pPr eaLnBrk="1" hangingPunct="1">
              <a:lnSpc>
                <a:spcPct val="110000"/>
              </a:lnSpc>
              <a:spcBef>
                <a:spcPct val="0"/>
              </a:spcBef>
              <a:buNone/>
            </a:pPr>
            <a:r>
              <a:rPr lang="en-US" altLang="zh-CN" sz="2100" dirty="0"/>
              <a:t>{    int t;</a:t>
            </a:r>
          </a:p>
          <a:p>
            <a:pPr eaLnBrk="1" hangingPunct="1">
              <a:lnSpc>
                <a:spcPct val="110000"/>
              </a:lnSpc>
              <a:spcBef>
                <a:spcPct val="0"/>
              </a:spcBef>
              <a:buNone/>
            </a:pPr>
            <a:r>
              <a:rPr lang="en-US" altLang="zh-CN" sz="2100" dirty="0"/>
              <a:t>     t = *x; </a:t>
            </a:r>
          </a:p>
          <a:p>
            <a:pPr eaLnBrk="1" hangingPunct="1">
              <a:lnSpc>
                <a:spcPct val="110000"/>
              </a:lnSpc>
              <a:spcBef>
                <a:spcPct val="0"/>
              </a:spcBef>
              <a:buNone/>
            </a:pPr>
            <a:r>
              <a:rPr lang="en-US" altLang="zh-CN" sz="2100" dirty="0"/>
              <a:t>     *x = *y; </a:t>
            </a:r>
          </a:p>
          <a:p>
            <a:pPr eaLnBrk="1" hangingPunct="1">
              <a:lnSpc>
                <a:spcPct val="110000"/>
              </a:lnSpc>
              <a:spcBef>
                <a:spcPct val="0"/>
              </a:spcBef>
              <a:buNone/>
            </a:pPr>
            <a:r>
              <a:rPr lang="en-US" altLang="zh-CN" sz="2100" dirty="0"/>
              <a:t>     *y = t;</a:t>
            </a:r>
          </a:p>
          <a:p>
            <a:pPr eaLnBrk="1" hangingPunct="1">
              <a:lnSpc>
                <a:spcPct val="110000"/>
              </a:lnSpc>
              <a:spcBef>
                <a:spcPct val="0"/>
              </a:spcBef>
              <a:buNone/>
            </a:pPr>
            <a:r>
              <a:rPr lang="en-US" altLang="zh-CN" sz="2100" dirty="0"/>
              <a:t>}</a:t>
            </a:r>
          </a:p>
        </p:txBody>
      </p:sp>
      <p:sp>
        <p:nvSpPr>
          <p:cNvPr id="363530" name="Text Box 10"/>
          <p:cNvSpPr txBox="1"/>
          <p:nvPr/>
        </p:nvSpPr>
        <p:spPr>
          <a:xfrm>
            <a:off x="888365" y="4245610"/>
            <a:ext cx="8297545" cy="2434590"/>
          </a:xfrm>
          <a:prstGeom prst="rect">
            <a:avLst/>
          </a:prstGeom>
          <a:noFill/>
          <a:ln w="12700">
            <a:noFill/>
          </a:ln>
        </p:spPr>
        <p:txBody>
          <a:bodyPr wrap="square" lIns="67500" tIns="35100" rIns="67500" bIns="35100">
            <a:spAutoFit/>
          </a:bodyPr>
          <a:lstStyle/>
          <a:p>
            <a:pPr lvl="0" eaLnBrk="1" hangingPunct="1">
              <a:lnSpc>
                <a:spcPct val="110000"/>
              </a:lnSpc>
              <a:spcBef>
                <a:spcPct val="20000"/>
              </a:spcBef>
              <a:buClr>
                <a:srgbClr val="33CCCC"/>
              </a:buClr>
              <a:buSzPct val="80000"/>
              <a:buFont typeface="Wingdings" panose="05000000000000000000" pitchFamily="2" charset="2"/>
              <a:buNone/>
            </a:pPr>
            <a:r>
              <a:rPr lang="zh-CN" altLang="en-US" sz="2100" b="1" dirty="0">
                <a:latin typeface="宋体" panose="02010600030101010101" pitchFamily="2" charset="-122"/>
                <a:ea typeface="宋体" panose="02010600030101010101" pitchFamily="2" charset="-122"/>
              </a:rPr>
              <a:t>要通过函数调用来改变主调函数中某个变量的值：</a:t>
            </a:r>
            <a:endParaRPr lang="zh-CN" altLang="en-US" sz="2100" b="1" dirty="0">
              <a:latin typeface="Arial" panose="020B0604020202020204" pitchFamily="34" charset="0"/>
              <a:ea typeface="宋体" panose="02010600030101010101" pitchFamily="2" charset="-122"/>
            </a:endParaRPr>
          </a:p>
          <a:p>
            <a:pPr lvl="0" eaLnBrk="1" hangingPunct="1">
              <a:lnSpc>
                <a:spcPct val="110000"/>
              </a:lnSpc>
              <a:spcBef>
                <a:spcPct val="20000"/>
              </a:spcBef>
              <a:buClr>
                <a:srgbClr val="33CCCC"/>
              </a:buClr>
              <a:buSzPct val="80000"/>
              <a:buFont typeface="Wingdings" panose="05000000000000000000" pitchFamily="2" charset="2"/>
              <a:buNone/>
            </a:pPr>
            <a:r>
              <a:rPr lang="zh-CN" altLang="en-US" sz="2100" b="1" dirty="0">
                <a:latin typeface="Arial" panose="020B0604020202020204" pitchFamily="34" charset="0"/>
                <a:ea typeface="宋体" panose="02010600030101010101" pitchFamily="2" charset="-122"/>
              </a:rPr>
              <a:t>(1) 在主调函数中，</a:t>
            </a:r>
            <a:r>
              <a:rPr lang="zh-CN" altLang="en-US" sz="2100" b="1" dirty="0">
                <a:latin typeface="宋体" panose="02010600030101010101" pitchFamily="2" charset="-122"/>
                <a:ea typeface="宋体" panose="02010600030101010101" pitchFamily="2" charset="-122"/>
              </a:rPr>
              <a:t>将该变量的地址或者指向该变量的指针作为实参</a:t>
            </a:r>
            <a:endParaRPr lang="zh-CN" altLang="en-US" sz="2100" b="1" dirty="0">
              <a:latin typeface="Arial" panose="020B0604020202020204" pitchFamily="34" charset="0"/>
              <a:ea typeface="宋体" panose="02010600030101010101" pitchFamily="2" charset="-122"/>
            </a:endParaRPr>
          </a:p>
          <a:p>
            <a:pPr lvl="0" eaLnBrk="1" hangingPunct="1">
              <a:lnSpc>
                <a:spcPct val="110000"/>
              </a:lnSpc>
              <a:spcBef>
                <a:spcPct val="20000"/>
              </a:spcBef>
              <a:buClr>
                <a:srgbClr val="33CCCC"/>
              </a:buClr>
              <a:buSzPct val="80000"/>
              <a:buFont typeface="Wingdings" panose="05000000000000000000" pitchFamily="2" charset="2"/>
              <a:buNone/>
            </a:pPr>
            <a:r>
              <a:rPr lang="zh-CN" altLang="en-US" sz="2100" b="1" dirty="0">
                <a:latin typeface="Arial" panose="020B0604020202020204" pitchFamily="34" charset="0"/>
                <a:ea typeface="宋体" panose="02010600030101010101" pitchFamily="2" charset="-122"/>
              </a:rPr>
              <a:t>(2) 在被调函数中，</a:t>
            </a:r>
            <a:r>
              <a:rPr lang="zh-CN" altLang="en-US" sz="2100" b="1" dirty="0">
                <a:latin typeface="宋体" panose="02010600030101010101" pitchFamily="2" charset="-122"/>
                <a:ea typeface="宋体" panose="02010600030101010101" pitchFamily="2" charset="-122"/>
              </a:rPr>
              <a:t>用指针类型形参接受该变量的地址</a:t>
            </a:r>
            <a:r>
              <a:rPr lang="zh-CN" altLang="en-US" sz="2100" b="1" dirty="0">
                <a:latin typeface="Arial" panose="020B0604020202020204" pitchFamily="34" charset="0"/>
                <a:ea typeface="宋体" panose="02010600030101010101" pitchFamily="2" charset="-122"/>
              </a:rPr>
              <a:t> </a:t>
            </a:r>
          </a:p>
          <a:p>
            <a:pPr lvl="0" eaLnBrk="1" hangingPunct="1">
              <a:lnSpc>
                <a:spcPct val="110000"/>
              </a:lnSpc>
              <a:spcBef>
                <a:spcPct val="20000"/>
              </a:spcBef>
              <a:buClr>
                <a:srgbClr val="33CCCC"/>
              </a:buClr>
              <a:buSzPct val="80000"/>
              <a:buFont typeface="Wingdings" panose="05000000000000000000" pitchFamily="2" charset="2"/>
              <a:buNone/>
            </a:pPr>
            <a:r>
              <a:rPr lang="zh-CN" altLang="en-US" sz="2100" b="1" dirty="0">
                <a:latin typeface="Arial" panose="020B0604020202020204" pitchFamily="34" charset="0"/>
                <a:ea typeface="宋体" panose="02010600030101010101" pitchFamily="2" charset="-122"/>
              </a:rPr>
              <a:t>(3) 在被调函数中，改变形参所指向变量的值</a:t>
            </a:r>
          </a:p>
          <a:p>
            <a:pPr lvl="0" eaLnBrk="1" hangingPunct="1">
              <a:lnSpc>
                <a:spcPct val="110000"/>
              </a:lnSpc>
              <a:spcBef>
                <a:spcPct val="20000"/>
              </a:spcBef>
              <a:buClr>
                <a:srgbClr val="33CCCC"/>
              </a:buClr>
              <a:buSzPct val="80000"/>
              <a:buFont typeface="Wingdings" panose="05000000000000000000" pitchFamily="2" charset="2"/>
              <a:buNone/>
            </a:pPr>
            <a:r>
              <a:rPr lang="en-US" altLang="zh-CN" sz="2100" b="1" dirty="0">
                <a:latin typeface="Arial" panose="020B0604020202020204" pitchFamily="34" charset="0"/>
                <a:ea typeface="宋体" panose="02010600030101010101" pitchFamily="2" charset="-122"/>
              </a:rPr>
              <a:t>(4) </a:t>
            </a:r>
            <a:r>
              <a:rPr lang="zh-CN" altLang="en-US" sz="2100" b="1" dirty="0">
                <a:latin typeface="Arial" panose="020B0604020202020204" pitchFamily="34" charset="0"/>
                <a:ea typeface="宋体" panose="02010600030101010101" pitchFamily="2" charset="-122"/>
              </a:rPr>
              <a:t>也可以利用指针作为函数参数达到调用一次函数得到多个返回值的目的。</a:t>
            </a:r>
          </a:p>
        </p:txBody>
      </p:sp>
      <p:grpSp>
        <p:nvGrpSpPr>
          <p:cNvPr id="363531" name="Group 11"/>
          <p:cNvGrpSpPr/>
          <p:nvPr/>
        </p:nvGrpSpPr>
        <p:grpSpPr>
          <a:xfrm>
            <a:off x="5809060" y="1645445"/>
            <a:ext cx="2057400" cy="1625203"/>
            <a:chOff x="3696" y="1231"/>
            <a:chExt cx="1728" cy="1365"/>
          </a:xfrm>
        </p:grpSpPr>
        <p:grpSp>
          <p:nvGrpSpPr>
            <p:cNvPr id="40970" name="Group 12"/>
            <p:cNvGrpSpPr/>
            <p:nvPr/>
          </p:nvGrpSpPr>
          <p:grpSpPr>
            <a:xfrm>
              <a:off x="3936" y="1231"/>
              <a:ext cx="1277" cy="349"/>
              <a:chOff x="3936" y="1231"/>
              <a:chExt cx="1277" cy="349"/>
            </a:xfrm>
          </p:grpSpPr>
          <p:sp>
            <p:nvSpPr>
              <p:cNvPr id="40978" name="Rectangle 13"/>
              <p:cNvSpPr/>
              <p:nvPr/>
            </p:nvSpPr>
            <p:spPr>
              <a:xfrm>
                <a:off x="3936" y="1234"/>
                <a:ext cx="278"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宋体" panose="02010600030101010101" pitchFamily="2" charset="-122"/>
                  </a:rPr>
                  <a:t>a</a:t>
                </a:r>
              </a:p>
            </p:txBody>
          </p:sp>
          <p:sp>
            <p:nvSpPr>
              <p:cNvPr id="40979" name="Rectangle 14"/>
              <p:cNvSpPr/>
              <p:nvPr/>
            </p:nvSpPr>
            <p:spPr>
              <a:xfrm>
                <a:off x="4895" y="1231"/>
                <a:ext cx="318" cy="349"/>
              </a:xfrm>
              <a:prstGeom prst="rect">
                <a:avLst/>
              </a:prstGeom>
              <a:noFill/>
              <a:ln w="12700">
                <a:noFill/>
              </a:ln>
            </p:spPr>
            <p:txBody>
              <a:bodyPr wrap="square">
                <a:spAutoFit/>
              </a:bodyPr>
              <a:lstStyle/>
              <a:p>
                <a:pPr lvl="0" eaLnBrk="1" hangingPunct="1"/>
                <a:r>
                  <a:rPr lang="en-US" altLang="zh-CN" sz="2100" b="1" dirty="0">
                    <a:latin typeface="Arial" panose="020B0604020202020204" pitchFamily="34" charset="0"/>
                    <a:ea typeface="宋体" panose="02010600030101010101" pitchFamily="2" charset="-122"/>
                  </a:rPr>
                  <a:t>b</a:t>
                </a:r>
              </a:p>
            </p:txBody>
          </p:sp>
        </p:grpSp>
        <p:sp>
          <p:nvSpPr>
            <p:cNvPr id="40971" name="Line 15"/>
            <p:cNvSpPr/>
            <p:nvPr/>
          </p:nvSpPr>
          <p:spPr>
            <a:xfrm flipV="1">
              <a:off x="4032" y="1824"/>
              <a:ext cx="0" cy="480"/>
            </a:xfrm>
            <a:prstGeom prst="line">
              <a:avLst/>
            </a:prstGeom>
            <a:ln w="38100" cap="flat" cmpd="sng">
              <a:solidFill>
                <a:schemeClr val="tx1"/>
              </a:solidFill>
              <a:prstDash val="solid"/>
              <a:headEnd type="none" w="med" len="med"/>
              <a:tailEnd type="triangle" w="med" len="med"/>
            </a:ln>
          </p:spPr>
        </p:sp>
        <p:sp>
          <p:nvSpPr>
            <p:cNvPr id="40972" name="Line 16"/>
            <p:cNvSpPr/>
            <p:nvPr/>
          </p:nvSpPr>
          <p:spPr>
            <a:xfrm flipV="1">
              <a:off x="5088" y="1824"/>
              <a:ext cx="0" cy="480"/>
            </a:xfrm>
            <a:prstGeom prst="line">
              <a:avLst/>
            </a:prstGeom>
            <a:ln w="38100" cap="flat" cmpd="sng">
              <a:solidFill>
                <a:schemeClr val="tx1"/>
              </a:solidFill>
              <a:prstDash val="solid"/>
              <a:headEnd type="none" w="med" len="med"/>
              <a:tailEnd type="triangle" w="med" len="med"/>
            </a:ln>
          </p:spPr>
        </p:sp>
        <p:sp>
          <p:nvSpPr>
            <p:cNvPr id="40973" name="Text Box 17"/>
            <p:cNvSpPr txBox="1"/>
            <p:nvPr/>
          </p:nvSpPr>
          <p:spPr>
            <a:xfrm>
              <a:off x="3840" y="2265"/>
              <a:ext cx="480" cy="331"/>
            </a:xfrm>
            <a:prstGeom prst="rect">
              <a:avLst/>
            </a:prstGeom>
            <a:noFill/>
            <a:ln w="12700">
              <a:noFill/>
            </a:ln>
          </p:spPr>
          <p:txBody>
            <a:bodyPr lIns="67500" tIns="35100" rIns="67500" bIns="35100">
              <a:spAutoFit/>
            </a:bodyPr>
            <a:lstStyle/>
            <a:p>
              <a:pPr lvl="0" eaLnBrk="1" hangingPunct="1">
                <a:spcBef>
                  <a:spcPct val="50000"/>
                </a:spcBef>
              </a:pPr>
              <a:r>
                <a:rPr lang="en-US" altLang="zh-CN" sz="2100" b="1" dirty="0"/>
                <a:t> </a:t>
              </a:r>
              <a:r>
                <a:rPr lang="en-US" altLang="zh-CN" sz="2100" b="1" dirty="0" smtClean="0">
                  <a:latin typeface="Arial" panose="020B0604020202020204" pitchFamily="34" charset="0"/>
                  <a:ea typeface="宋体" panose="02010600030101010101" pitchFamily="2" charset="-122"/>
                </a:rPr>
                <a:t>x</a:t>
              </a:r>
              <a:endParaRPr lang="en-US" altLang="zh-CN" sz="2400" b="1" dirty="0">
                <a:latin typeface="Arial" panose="020B0604020202020204" pitchFamily="34" charset="0"/>
                <a:ea typeface="宋体" panose="02010600030101010101" pitchFamily="2" charset="-122"/>
              </a:endParaRPr>
            </a:p>
          </p:txBody>
        </p:sp>
        <p:sp>
          <p:nvSpPr>
            <p:cNvPr id="40974" name="Text Box 18"/>
            <p:cNvSpPr txBox="1"/>
            <p:nvPr/>
          </p:nvSpPr>
          <p:spPr>
            <a:xfrm>
              <a:off x="4896" y="2256"/>
              <a:ext cx="480" cy="331"/>
            </a:xfrm>
            <a:prstGeom prst="rect">
              <a:avLst/>
            </a:prstGeom>
            <a:noFill/>
            <a:ln w="12700">
              <a:noFill/>
            </a:ln>
          </p:spPr>
          <p:txBody>
            <a:bodyPr lIns="67500" tIns="35100" rIns="67500" bIns="35100">
              <a:spAutoFit/>
            </a:bodyPr>
            <a:lstStyle/>
            <a:p>
              <a:pPr lvl="0" eaLnBrk="1" hangingPunct="1">
                <a:spcBef>
                  <a:spcPct val="50000"/>
                </a:spcBef>
              </a:pPr>
              <a:r>
                <a:rPr lang="en-US" altLang="zh-CN" sz="2100" b="1" dirty="0"/>
                <a:t> </a:t>
              </a:r>
              <a:r>
                <a:rPr lang="en-US" altLang="zh-CN" sz="2100" b="1" dirty="0" smtClean="0">
                  <a:latin typeface="Arial" panose="020B0604020202020204" pitchFamily="34" charset="0"/>
                  <a:ea typeface="宋体" panose="02010600030101010101" pitchFamily="2" charset="-122"/>
                </a:rPr>
                <a:t>y</a:t>
              </a:r>
              <a:endParaRPr lang="en-US" altLang="zh-CN" sz="2400" b="1" dirty="0">
                <a:latin typeface="Arial" panose="020B0604020202020204" pitchFamily="34" charset="0"/>
                <a:ea typeface="宋体" panose="02010600030101010101" pitchFamily="2" charset="-122"/>
              </a:endParaRPr>
            </a:p>
          </p:txBody>
        </p:sp>
        <p:grpSp>
          <p:nvGrpSpPr>
            <p:cNvPr id="40975" name="Group 19"/>
            <p:cNvGrpSpPr/>
            <p:nvPr/>
          </p:nvGrpSpPr>
          <p:grpSpPr>
            <a:xfrm>
              <a:off x="3696" y="1536"/>
              <a:ext cx="1728" cy="288"/>
              <a:chOff x="3696" y="1536"/>
              <a:chExt cx="1728" cy="288"/>
            </a:xfrm>
          </p:grpSpPr>
          <p:sp>
            <p:nvSpPr>
              <p:cNvPr id="40976" name="Rectangle 20"/>
              <p:cNvSpPr/>
              <p:nvPr/>
            </p:nvSpPr>
            <p:spPr>
              <a:xfrm>
                <a:off x="3696" y="1536"/>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5</a:t>
                </a:r>
                <a:endParaRPr lang="zh-CN" altLang="en-US" sz="2400" b="1" dirty="0">
                  <a:latin typeface="Arial" panose="020B0604020202020204" pitchFamily="34" charset="0"/>
                  <a:ea typeface="宋体" panose="02010600030101010101" pitchFamily="2" charset="-122"/>
                </a:endParaRPr>
              </a:p>
            </p:txBody>
          </p:sp>
          <p:sp>
            <p:nvSpPr>
              <p:cNvPr id="40977" name="Rectangle 21"/>
              <p:cNvSpPr/>
              <p:nvPr/>
            </p:nvSpPr>
            <p:spPr>
              <a:xfrm>
                <a:off x="4656" y="1536"/>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9</a:t>
                </a:r>
                <a:endParaRPr lang="zh-CN" altLang="en-US" sz="2400" b="1" dirty="0">
                  <a:latin typeface="Arial" panose="020B0604020202020204" pitchFamily="34" charset="0"/>
                  <a:ea typeface="宋体" panose="02010600030101010101" pitchFamily="2" charset="-122"/>
                </a:endParaRPr>
              </a:p>
            </p:txBody>
          </p:sp>
        </p:grpSp>
      </p:grpSp>
      <p:grpSp>
        <p:nvGrpSpPr>
          <p:cNvPr id="363542" name="Group 22"/>
          <p:cNvGrpSpPr/>
          <p:nvPr/>
        </p:nvGrpSpPr>
        <p:grpSpPr>
          <a:xfrm>
            <a:off x="6012160" y="1101378"/>
            <a:ext cx="1550195" cy="351235"/>
            <a:chOff x="2455" y="1322"/>
            <a:chExt cx="1302" cy="295"/>
          </a:xfrm>
        </p:grpSpPr>
        <p:sp>
          <p:nvSpPr>
            <p:cNvPr id="40968" name="Rectangle 23"/>
            <p:cNvSpPr/>
            <p:nvPr/>
          </p:nvSpPr>
          <p:spPr>
            <a:xfrm>
              <a:off x="3421" y="1322"/>
              <a:ext cx="336" cy="288"/>
            </a:xfrm>
            <a:prstGeom prst="rect">
              <a:avLst/>
            </a:prstGeom>
            <a:solidFill>
              <a:schemeClr val="folHlink"/>
            </a:solidFill>
            <a:ln w="12700">
              <a:noFill/>
            </a:ln>
          </p:spPr>
          <p:txBody>
            <a:bodyPr wrap="none" anchor="ctr"/>
            <a:lstStyle/>
            <a:p>
              <a:pPr lvl="0" algn="ctr" eaLnBrk="1" hangingPunct="1"/>
              <a:r>
                <a:rPr lang="en-US" altLang="zh-CN" sz="2100" b="1" dirty="0">
                  <a:latin typeface="Arial" panose="020B0604020202020204" pitchFamily="34" charset="0"/>
                  <a:ea typeface="宋体" panose="02010600030101010101" pitchFamily="2" charset="-122"/>
                </a:rPr>
                <a:t>5</a:t>
              </a:r>
            </a:p>
          </p:txBody>
        </p:sp>
        <p:sp>
          <p:nvSpPr>
            <p:cNvPr id="40969" name="Rectangle 24"/>
            <p:cNvSpPr/>
            <p:nvPr/>
          </p:nvSpPr>
          <p:spPr>
            <a:xfrm>
              <a:off x="2455" y="1329"/>
              <a:ext cx="336" cy="288"/>
            </a:xfrm>
            <a:prstGeom prst="rect">
              <a:avLst/>
            </a:prstGeom>
            <a:solidFill>
              <a:schemeClr val="folHlink"/>
            </a:solidFill>
            <a:ln w="12700">
              <a:noFill/>
            </a:ln>
          </p:spPr>
          <p:txBody>
            <a:bodyPr wrap="none" anchor="ctr"/>
            <a:lstStyle/>
            <a:p>
              <a:pPr lvl="0" algn="ctr" eaLnBrk="1" hangingPunct="1"/>
              <a:r>
                <a:rPr lang="en-US" altLang="zh-CN" sz="2100" b="1" dirty="0">
                  <a:latin typeface="Arial" panose="020B0604020202020204" pitchFamily="34" charset="0"/>
                  <a:ea typeface="宋体" panose="02010600030101010101" pitchFamily="2" charset="-122"/>
                </a:rPr>
                <a:t>9</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矩形 6"/>
          <p:cNvSpPr/>
          <p:nvPr/>
        </p:nvSpPr>
        <p:spPr>
          <a:xfrm>
            <a:off x="35496" y="116632"/>
            <a:ext cx="9001000" cy="830997"/>
          </a:xfrm>
          <a:prstGeom prst="rect">
            <a:avLst/>
          </a:prstGeom>
        </p:spPr>
        <p:txBody>
          <a:bodyPr wrap="square">
            <a:spAutoFit/>
          </a:bodyPr>
          <a:lstStyle/>
          <a:p>
            <a:pPr marL="0" indent="0">
              <a:buNone/>
            </a:pPr>
            <a:r>
              <a:rPr lang="zh-CN" altLang="en-US" sz="24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【例6-9】编写函数求出main函数的两个整数变量a和b的最大值和最小值，并把结果存储到main函数的max和min变量中</a:t>
            </a:r>
            <a:r>
              <a:rPr lang="zh-CN" altLang="en-US" sz="2400" b="1" dirty="0" smtClean="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a:t>
            </a:r>
            <a:endParaRPr lang="zh-CN" altLang="en-US" sz="24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8" name="矩形 7"/>
          <p:cNvSpPr/>
          <p:nvPr/>
        </p:nvSpPr>
        <p:spPr>
          <a:xfrm>
            <a:off x="125962" y="980728"/>
            <a:ext cx="5670174" cy="4401205"/>
          </a:xfrm>
          <a:prstGeom prst="rect">
            <a:avLst/>
          </a:prstGeom>
        </p:spPr>
        <p:txBody>
          <a:bodyPr wrap="square">
            <a:spAutoFit/>
          </a:bodyPr>
          <a:lstStyle/>
          <a:p>
            <a:pPr marL="0" indent="0">
              <a:buNone/>
            </a:pPr>
            <a:r>
              <a:rPr lang="zh-CN" altLang="en-US" sz="2000" b="1" dirty="0">
                <a:effectLst>
                  <a:outerShdw blurRad="38100" dist="38100" dir="2700000" algn="tl">
                    <a:srgbClr val="000000">
                      <a:alpha val="43137"/>
                    </a:srgbClr>
                  </a:outerShdw>
                </a:effectLst>
              </a:rPr>
              <a:t># include &lt;stdio.h&gt;</a:t>
            </a:r>
          </a:p>
          <a:p>
            <a:r>
              <a:rPr lang="zh-CN" altLang="en-US" sz="2000" b="1" dirty="0">
                <a:effectLst>
                  <a:outerShdw blurRad="38100" dist="38100" dir="2700000" algn="tl">
                    <a:srgbClr val="000000">
                      <a:alpha val="43137"/>
                    </a:srgbClr>
                  </a:outerShdw>
                </a:effectLst>
              </a:rPr>
              <a:t>void maxmin( int x, int y,int *pmax,int *pmin );</a:t>
            </a:r>
          </a:p>
          <a:p>
            <a:pPr marL="0" indent="0">
              <a:buNone/>
            </a:pPr>
            <a:r>
              <a:rPr lang="zh-CN" altLang="en-US" sz="2000" b="1" dirty="0">
                <a:effectLst>
                  <a:outerShdw blurRad="38100" dist="38100" dir="2700000" algn="tl">
                    <a:srgbClr val="000000">
                      <a:alpha val="43137"/>
                    </a:srgbClr>
                  </a:outerShdw>
                </a:effectLst>
              </a:rPr>
              <a:t>int main ()</a:t>
            </a:r>
          </a:p>
          <a:p>
            <a:pPr marL="0" indent="0">
              <a:buNone/>
            </a:pPr>
            <a:r>
              <a:rPr lang="zh-CN" altLang="en-US" sz="2000" b="1" dirty="0">
                <a:effectLst>
                  <a:outerShdw blurRad="38100" dist="38100" dir="2700000" algn="tl">
                    <a:srgbClr val="000000">
                      <a:alpha val="43137"/>
                    </a:srgbClr>
                  </a:outerShdw>
                </a:effectLst>
              </a:rPr>
              <a:t>{</a:t>
            </a:r>
          </a:p>
          <a:p>
            <a:pPr marL="0" indent="0">
              <a:buNone/>
            </a:pPr>
            <a:r>
              <a:rPr lang="zh-CN" altLang="en-US" sz="2000" b="1" dirty="0">
                <a:effectLst>
                  <a:outerShdw blurRad="38100" dist="38100" dir="2700000" algn="tl">
                    <a:srgbClr val="000000">
                      <a:alpha val="43137"/>
                    </a:srgbClr>
                  </a:outerShdw>
                </a:effectLst>
              </a:rPr>
              <a:t>   int a, b,max,min;</a:t>
            </a:r>
          </a:p>
          <a:p>
            <a:pPr marL="0" indent="0">
              <a:buNone/>
            </a:pPr>
            <a:r>
              <a:rPr lang="zh-CN" altLang="en-US" sz="2000" b="1" dirty="0">
                <a:effectLst>
                  <a:outerShdw blurRad="38100" dist="38100" dir="2700000" algn="tl">
                    <a:srgbClr val="000000">
                      <a:alpha val="43137"/>
                    </a:srgbClr>
                  </a:outerShdw>
                </a:effectLst>
              </a:rPr>
              <a:t>   scanf("%d%d",&amp;a,&amp;b);</a:t>
            </a:r>
          </a:p>
          <a:p>
            <a:pPr marL="0" indent="0">
              <a:buNone/>
            </a:pPr>
            <a:r>
              <a:rPr lang="zh-CN" altLang="en-US" sz="2000" b="1" dirty="0">
                <a:effectLst>
                  <a:outerShdw blurRad="38100" dist="38100" dir="2700000" algn="tl">
                    <a:srgbClr val="000000">
                      <a:alpha val="43137"/>
                    </a:srgbClr>
                  </a:outerShdw>
                </a:effectLst>
              </a:rPr>
              <a:t>   maxmin(a, b,</a:t>
            </a:r>
            <a:r>
              <a:rPr lang="zh-CN" altLang="en-US" sz="2000" b="1" dirty="0">
                <a:solidFill>
                  <a:srgbClr val="FF3300"/>
                </a:solidFill>
                <a:effectLst>
                  <a:outerShdw blurRad="38100" dist="38100" dir="2700000" algn="tl">
                    <a:srgbClr val="000000">
                      <a:alpha val="43137"/>
                    </a:srgbClr>
                  </a:outerShdw>
                </a:effectLst>
              </a:rPr>
              <a:t>&amp;max</a:t>
            </a:r>
            <a:r>
              <a:rPr lang="zh-CN" altLang="en-US" sz="2000" b="1" dirty="0">
                <a:effectLst>
                  <a:outerShdw blurRad="38100" dist="38100" dir="2700000" algn="tl">
                    <a:srgbClr val="000000">
                      <a:alpha val="43137"/>
                    </a:srgbClr>
                  </a:outerShdw>
                </a:effectLst>
              </a:rPr>
              <a:t>,</a:t>
            </a:r>
            <a:r>
              <a:rPr lang="zh-CN" altLang="en-US" sz="2000" b="1" dirty="0">
                <a:solidFill>
                  <a:srgbClr val="3333FF"/>
                </a:solidFill>
                <a:effectLst>
                  <a:outerShdw blurRad="38100" dist="38100" dir="2700000" algn="tl">
                    <a:srgbClr val="000000">
                      <a:alpha val="43137"/>
                    </a:srgbClr>
                  </a:outerShdw>
                </a:effectLst>
              </a:rPr>
              <a:t>&amp;min</a:t>
            </a:r>
            <a:r>
              <a:rPr lang="zh-CN" altLang="en-US" sz="2000" b="1" dirty="0">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a:p>
            <a:pPr marL="0" indent="0">
              <a:buNone/>
            </a:pP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 printf ("max=%d min=%d", max, min);</a:t>
            </a:r>
          </a:p>
          <a:p>
            <a:pPr marL="0" indent="0">
              <a:buNone/>
            </a:pPr>
            <a:r>
              <a:rPr lang="zh-CN" altLang="en-US" sz="2000" b="1" dirty="0">
                <a:effectLst>
                  <a:outerShdw blurRad="38100" dist="38100" dir="2700000" algn="tl">
                    <a:srgbClr val="000000">
                      <a:alpha val="43137"/>
                    </a:srgbClr>
                  </a:outerShdw>
                </a:effectLst>
              </a:rPr>
              <a:t>   return 0;</a:t>
            </a:r>
          </a:p>
          <a:p>
            <a:pPr marL="0" indent="0">
              <a:buNone/>
            </a:pPr>
            <a:r>
              <a:rPr lang="zh-CN" altLang="en-US" sz="2000" b="1" dirty="0" smtClean="0">
                <a:effectLst>
                  <a:outerShdw blurRad="38100" dist="38100" dir="2700000" algn="tl">
                    <a:srgbClr val="000000">
                      <a:alpha val="43137"/>
                    </a:srgbClr>
                  </a:outerShdw>
                </a:effectLst>
              </a:rPr>
              <a:t>}</a:t>
            </a:r>
            <a:endParaRPr lang="en-US" altLang="zh-CN" sz="2000" b="1" dirty="0" smtClean="0">
              <a:effectLst>
                <a:outerShdw blurRad="38100" dist="38100" dir="2700000" algn="tl">
                  <a:srgbClr val="000000">
                    <a:alpha val="43137"/>
                  </a:srgbClr>
                </a:outerShdw>
              </a:effectLst>
            </a:endParaRPr>
          </a:p>
          <a:p>
            <a:pPr marL="0" indent="0">
              <a:buNone/>
            </a:pPr>
            <a:r>
              <a:rPr lang="zh-CN" altLang="en-US" sz="2000" b="1" dirty="0">
                <a:effectLst>
                  <a:outerShdw blurRad="38100" dist="38100" dir="2700000" algn="tl">
                    <a:srgbClr val="000000">
                      <a:alpha val="43137"/>
                    </a:srgbClr>
                  </a:outerShdw>
                </a:effectLst>
              </a:rPr>
              <a:t>void maxmin( int x, int y,int </a:t>
            </a:r>
            <a:r>
              <a:rPr lang="zh-CN" altLang="en-US" sz="2000" b="1" dirty="0">
                <a:solidFill>
                  <a:srgbClr val="FF0000"/>
                </a:solidFill>
                <a:effectLst>
                  <a:outerShdw blurRad="38100" dist="38100" dir="2700000" algn="tl">
                    <a:srgbClr val="000000">
                      <a:alpha val="43137"/>
                    </a:srgbClr>
                  </a:outerShdw>
                </a:effectLst>
              </a:rPr>
              <a:t>*pmax</a:t>
            </a:r>
            <a:r>
              <a:rPr lang="zh-CN" altLang="en-US" sz="2000" b="1" dirty="0">
                <a:effectLst>
                  <a:outerShdw blurRad="38100" dist="38100" dir="2700000" algn="tl">
                    <a:srgbClr val="000000">
                      <a:alpha val="43137"/>
                    </a:srgbClr>
                  </a:outerShdw>
                </a:effectLst>
              </a:rPr>
              <a:t>,int </a:t>
            </a:r>
            <a:r>
              <a:rPr lang="zh-CN" altLang="en-US" sz="2000" b="1" dirty="0">
                <a:solidFill>
                  <a:srgbClr val="3333FF"/>
                </a:solidFill>
                <a:effectLst>
                  <a:outerShdw blurRad="38100" dist="38100" dir="2700000" algn="tl">
                    <a:srgbClr val="000000">
                      <a:alpha val="43137"/>
                    </a:srgbClr>
                  </a:outerShdw>
                </a:effectLst>
              </a:rPr>
              <a:t>*pmin</a:t>
            </a:r>
            <a:r>
              <a:rPr lang="zh-CN" altLang="en-US" sz="2000" b="1" dirty="0">
                <a:effectLst>
                  <a:outerShdw blurRad="38100" dist="38100" dir="2700000" algn="tl">
                    <a:srgbClr val="000000">
                      <a:alpha val="43137"/>
                    </a:srgbClr>
                  </a:outerShdw>
                </a:effectLst>
              </a:rPr>
              <a:t>) {</a:t>
            </a:r>
          </a:p>
          <a:p>
            <a:pPr marL="0" indent="0">
              <a:buNone/>
            </a:pPr>
            <a:r>
              <a:rPr lang="zh-CN" altLang="en-US" sz="2000" b="1" dirty="0">
                <a:effectLst>
                  <a:outerShdw blurRad="38100" dist="38100" dir="2700000" algn="tl">
                    <a:srgbClr val="000000">
                      <a:alpha val="43137"/>
                    </a:srgbClr>
                  </a:outerShdw>
                </a:effectLst>
              </a:rPr>
              <a:t>   *pmax=x&gt;y?x:y;	</a:t>
            </a:r>
            <a:endParaRPr lang="en-US" altLang="zh-CN" sz="2000" b="1" dirty="0">
              <a:effectLst>
                <a:outerShdw blurRad="38100" dist="38100" dir="2700000" algn="tl">
                  <a:srgbClr val="000000">
                    <a:alpha val="43137"/>
                  </a:srgbClr>
                </a:outerShdw>
              </a:effectLst>
            </a:endParaRPr>
          </a:p>
          <a:p>
            <a:pPr marL="0" indent="0">
              <a:buNone/>
            </a:pPr>
            <a:r>
              <a:rPr lang="zh-CN" altLang="en-US" sz="2000" b="1" dirty="0">
                <a:effectLst>
                  <a:outerShdw blurRad="38100" dist="38100" dir="2700000" algn="tl">
                    <a:srgbClr val="000000">
                      <a:alpha val="43137"/>
                    </a:srgbClr>
                  </a:outerShdw>
                </a:effectLst>
              </a:rPr>
              <a:t>   *pmin=x&lt;y?x:y;	</a:t>
            </a:r>
            <a:endParaRPr lang="en-US" altLang="zh-CN" sz="2000" b="1" dirty="0">
              <a:effectLst>
                <a:outerShdw blurRad="38100" dist="38100" dir="2700000" algn="tl">
                  <a:srgbClr val="000000">
                    <a:alpha val="43137"/>
                  </a:srgbClr>
                </a:outerShdw>
              </a:effectLst>
            </a:endParaRPr>
          </a:p>
          <a:p>
            <a:pPr marL="0" indent="0">
              <a:buNone/>
            </a:pPr>
            <a:r>
              <a:rPr lang="zh-CN" altLang="en-US" sz="2000" b="1" dirty="0" smtClean="0">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p:txBody>
      </p:sp>
      <p:grpSp>
        <p:nvGrpSpPr>
          <p:cNvPr id="67" name="Group 11"/>
          <p:cNvGrpSpPr/>
          <p:nvPr/>
        </p:nvGrpSpPr>
        <p:grpSpPr>
          <a:xfrm>
            <a:off x="6076677" y="4646088"/>
            <a:ext cx="2320886" cy="1957387"/>
            <a:chOff x="3565" y="1231"/>
            <a:chExt cx="2020" cy="1644"/>
          </a:xfrm>
        </p:grpSpPr>
        <p:grpSp>
          <p:nvGrpSpPr>
            <p:cNvPr id="68" name="Group 12"/>
            <p:cNvGrpSpPr/>
            <p:nvPr/>
          </p:nvGrpSpPr>
          <p:grpSpPr>
            <a:xfrm>
              <a:off x="3766" y="1231"/>
              <a:ext cx="1712" cy="356"/>
              <a:chOff x="3766" y="1231"/>
              <a:chExt cx="1712" cy="356"/>
            </a:xfrm>
          </p:grpSpPr>
          <p:sp>
            <p:nvSpPr>
              <p:cNvPr id="76" name="Rectangle 13"/>
              <p:cNvSpPr/>
              <p:nvPr/>
            </p:nvSpPr>
            <p:spPr>
              <a:xfrm>
                <a:off x="3766" y="1231"/>
                <a:ext cx="628" cy="349"/>
              </a:xfrm>
              <a:prstGeom prst="rect">
                <a:avLst/>
              </a:prstGeom>
              <a:noFill/>
              <a:ln w="12700">
                <a:noFill/>
              </a:ln>
            </p:spPr>
            <p:txBody>
              <a:bodyPr wrap="none">
                <a:spAutoFit/>
              </a:bodyPr>
              <a:lstStyle/>
              <a:p>
                <a:pPr lvl="0" eaLnBrk="1" hangingPunct="1"/>
                <a:r>
                  <a:rPr lang="en-US" altLang="zh-CN" sz="2100" b="1" dirty="0" smtClean="0">
                    <a:latin typeface="Arial" panose="020B0604020202020204" pitchFamily="34" charset="0"/>
                    <a:ea typeface="宋体" panose="02010600030101010101" pitchFamily="2" charset="-122"/>
                  </a:rPr>
                  <a:t>max</a:t>
                </a:r>
                <a:endParaRPr lang="en-US" altLang="zh-CN" sz="2100" b="1" dirty="0">
                  <a:latin typeface="Arial" panose="020B0604020202020204" pitchFamily="34" charset="0"/>
                  <a:ea typeface="宋体" panose="02010600030101010101" pitchFamily="2" charset="-122"/>
                </a:endParaRPr>
              </a:p>
            </p:txBody>
          </p:sp>
          <p:sp>
            <p:nvSpPr>
              <p:cNvPr id="77" name="Rectangle 14"/>
              <p:cNvSpPr/>
              <p:nvPr/>
            </p:nvSpPr>
            <p:spPr>
              <a:xfrm>
                <a:off x="4772" y="1238"/>
                <a:ext cx="706" cy="349"/>
              </a:xfrm>
              <a:prstGeom prst="rect">
                <a:avLst/>
              </a:prstGeom>
              <a:noFill/>
              <a:ln w="12700">
                <a:noFill/>
              </a:ln>
            </p:spPr>
            <p:txBody>
              <a:bodyPr wrap="square">
                <a:spAutoFit/>
              </a:bodyPr>
              <a:lstStyle/>
              <a:p>
                <a:pPr lvl="0" eaLnBrk="1" hangingPunct="1"/>
                <a:r>
                  <a:rPr lang="en-US" altLang="zh-CN" sz="2100" b="1" dirty="0" smtClean="0">
                    <a:latin typeface="Arial" panose="020B0604020202020204" pitchFamily="34" charset="0"/>
                    <a:ea typeface="宋体" panose="02010600030101010101" pitchFamily="2" charset="-122"/>
                  </a:rPr>
                  <a:t>min</a:t>
                </a:r>
                <a:endParaRPr lang="en-US" altLang="zh-CN" sz="2100" b="1" dirty="0">
                  <a:latin typeface="Arial" panose="020B0604020202020204" pitchFamily="34" charset="0"/>
                  <a:ea typeface="宋体" panose="02010600030101010101" pitchFamily="2" charset="-122"/>
                </a:endParaRPr>
              </a:p>
            </p:txBody>
          </p:sp>
        </p:grpSp>
        <p:sp>
          <p:nvSpPr>
            <p:cNvPr id="69" name="Line 15"/>
            <p:cNvSpPr/>
            <p:nvPr/>
          </p:nvSpPr>
          <p:spPr>
            <a:xfrm flipV="1">
              <a:off x="4032" y="1824"/>
              <a:ext cx="0" cy="480"/>
            </a:xfrm>
            <a:prstGeom prst="line">
              <a:avLst/>
            </a:prstGeom>
            <a:ln w="38100" cap="flat" cmpd="sng">
              <a:solidFill>
                <a:schemeClr val="tx1"/>
              </a:solidFill>
              <a:prstDash val="solid"/>
              <a:headEnd type="none" w="med" len="med"/>
              <a:tailEnd type="triangle" w="med" len="med"/>
            </a:ln>
          </p:spPr>
        </p:sp>
        <p:sp>
          <p:nvSpPr>
            <p:cNvPr id="70" name="Line 16"/>
            <p:cNvSpPr/>
            <p:nvPr/>
          </p:nvSpPr>
          <p:spPr>
            <a:xfrm flipV="1">
              <a:off x="5088" y="1824"/>
              <a:ext cx="0" cy="480"/>
            </a:xfrm>
            <a:prstGeom prst="line">
              <a:avLst/>
            </a:prstGeom>
            <a:ln w="38100" cap="flat" cmpd="sng">
              <a:solidFill>
                <a:schemeClr val="tx1"/>
              </a:solidFill>
              <a:prstDash val="solid"/>
              <a:headEnd type="none" w="med" len="med"/>
              <a:tailEnd type="triangle" w="med" len="med"/>
            </a:ln>
          </p:spPr>
        </p:sp>
        <p:sp>
          <p:nvSpPr>
            <p:cNvPr id="71" name="Text Box 17"/>
            <p:cNvSpPr txBox="1"/>
            <p:nvPr/>
          </p:nvSpPr>
          <p:spPr>
            <a:xfrm>
              <a:off x="3565" y="1764"/>
              <a:ext cx="960" cy="331"/>
            </a:xfrm>
            <a:prstGeom prst="rect">
              <a:avLst/>
            </a:prstGeom>
            <a:noFill/>
            <a:ln w="12700">
              <a:noFill/>
            </a:ln>
          </p:spPr>
          <p:txBody>
            <a:bodyPr wrap="square" lIns="67500" tIns="35100" rIns="67500" bIns="35100">
              <a:spAutoFit/>
            </a:bodyPr>
            <a:lstStyle/>
            <a:p>
              <a:pPr lvl="0" eaLnBrk="1" hangingPunct="1">
                <a:spcBef>
                  <a:spcPct val="50000"/>
                </a:spcBef>
              </a:pPr>
              <a:r>
                <a:rPr lang="en-US" altLang="zh-CN" sz="2100" b="1" dirty="0"/>
                <a:t> </a:t>
              </a:r>
              <a:r>
                <a:rPr lang="en-US" altLang="zh-CN" sz="2100" b="1" dirty="0" smtClean="0"/>
                <a:t>*</a:t>
              </a:r>
              <a:r>
                <a:rPr lang="en-US" altLang="zh-CN" sz="2100" b="1" dirty="0" err="1" smtClean="0"/>
                <a:t>pmax</a:t>
              </a:r>
              <a:endParaRPr lang="en-US" altLang="zh-CN" sz="2400" b="1" dirty="0">
                <a:latin typeface="Arial" panose="020B0604020202020204" pitchFamily="34" charset="0"/>
                <a:ea typeface="宋体" panose="02010600030101010101" pitchFamily="2" charset="-122"/>
              </a:endParaRPr>
            </a:p>
          </p:txBody>
        </p:sp>
        <p:sp>
          <p:nvSpPr>
            <p:cNvPr id="72" name="Text Box 18"/>
            <p:cNvSpPr txBox="1"/>
            <p:nvPr/>
          </p:nvSpPr>
          <p:spPr>
            <a:xfrm>
              <a:off x="4591" y="1763"/>
              <a:ext cx="994" cy="331"/>
            </a:xfrm>
            <a:prstGeom prst="rect">
              <a:avLst/>
            </a:prstGeom>
            <a:noFill/>
            <a:ln w="12700">
              <a:noFill/>
            </a:ln>
          </p:spPr>
          <p:txBody>
            <a:bodyPr wrap="square" lIns="67500" tIns="35100" rIns="67500" bIns="35100">
              <a:spAutoFit/>
            </a:bodyPr>
            <a:lstStyle/>
            <a:p>
              <a:pPr lvl="0" eaLnBrk="1" hangingPunct="1">
                <a:spcBef>
                  <a:spcPct val="50000"/>
                </a:spcBef>
              </a:pPr>
              <a:r>
                <a:rPr lang="en-US" altLang="zh-CN" sz="2100" b="1" dirty="0"/>
                <a:t> </a:t>
              </a:r>
              <a:r>
                <a:rPr lang="en-US" altLang="zh-CN" sz="2100" b="1" dirty="0" smtClean="0"/>
                <a:t>*</a:t>
              </a:r>
              <a:r>
                <a:rPr lang="en-US" altLang="zh-CN" sz="2100" b="1" dirty="0" err="1" smtClean="0"/>
                <a:t>pmin</a:t>
              </a:r>
              <a:endParaRPr lang="en-US" altLang="zh-CN" sz="2400" b="1" dirty="0">
                <a:latin typeface="Arial" panose="020B0604020202020204" pitchFamily="34" charset="0"/>
                <a:ea typeface="宋体" panose="02010600030101010101" pitchFamily="2" charset="-122"/>
              </a:endParaRPr>
            </a:p>
          </p:txBody>
        </p:sp>
        <p:grpSp>
          <p:nvGrpSpPr>
            <p:cNvPr id="73" name="Group 19"/>
            <p:cNvGrpSpPr/>
            <p:nvPr/>
          </p:nvGrpSpPr>
          <p:grpSpPr>
            <a:xfrm>
              <a:off x="3696" y="1536"/>
              <a:ext cx="1819" cy="1339"/>
              <a:chOff x="3696" y="1536"/>
              <a:chExt cx="1819" cy="1339"/>
            </a:xfrm>
          </p:grpSpPr>
          <p:sp>
            <p:nvSpPr>
              <p:cNvPr id="74" name="Rectangle 20"/>
              <p:cNvSpPr/>
              <p:nvPr/>
            </p:nvSpPr>
            <p:spPr>
              <a:xfrm>
                <a:off x="3696" y="1536"/>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5</a:t>
                </a:r>
                <a:endParaRPr lang="zh-CN" altLang="en-US" sz="2400" b="1" dirty="0">
                  <a:latin typeface="Arial" panose="020B0604020202020204" pitchFamily="34" charset="0"/>
                  <a:ea typeface="宋体" panose="02010600030101010101" pitchFamily="2" charset="-122"/>
                </a:endParaRPr>
              </a:p>
            </p:txBody>
          </p:sp>
          <p:sp>
            <p:nvSpPr>
              <p:cNvPr id="75" name="Rectangle 21"/>
              <p:cNvSpPr/>
              <p:nvPr/>
            </p:nvSpPr>
            <p:spPr>
              <a:xfrm>
                <a:off x="4656" y="1536"/>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9</a:t>
                </a:r>
                <a:endParaRPr lang="zh-CN" altLang="en-US" sz="2400" b="1" dirty="0">
                  <a:latin typeface="Arial" panose="020B0604020202020204" pitchFamily="34" charset="0"/>
                  <a:ea typeface="宋体" panose="02010600030101010101" pitchFamily="2" charset="-122"/>
                </a:endParaRPr>
              </a:p>
            </p:txBody>
          </p:sp>
          <p:sp>
            <p:nvSpPr>
              <p:cNvPr id="96" name="Rectangle 20"/>
              <p:cNvSpPr/>
              <p:nvPr/>
            </p:nvSpPr>
            <p:spPr>
              <a:xfrm>
                <a:off x="3696" y="2587"/>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&amp;max</a:t>
                </a:r>
                <a:endParaRPr lang="zh-CN" altLang="en-US" sz="2400" b="1" dirty="0">
                  <a:latin typeface="Arial" panose="020B0604020202020204" pitchFamily="34" charset="0"/>
                  <a:ea typeface="宋体" panose="02010600030101010101" pitchFamily="2" charset="-122"/>
                </a:endParaRPr>
              </a:p>
            </p:txBody>
          </p:sp>
          <p:sp>
            <p:nvSpPr>
              <p:cNvPr id="97" name="Rectangle 21"/>
              <p:cNvSpPr/>
              <p:nvPr/>
            </p:nvSpPr>
            <p:spPr>
              <a:xfrm>
                <a:off x="4747" y="2587"/>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&amp;min</a:t>
                </a:r>
                <a:endParaRPr lang="zh-CN" altLang="en-US" sz="2400" b="1" dirty="0">
                  <a:latin typeface="Arial" panose="020B0604020202020204" pitchFamily="34" charset="0"/>
                  <a:ea typeface="宋体" panose="02010600030101010101" pitchFamily="2" charset="-122"/>
                </a:endParaRPr>
              </a:p>
            </p:txBody>
          </p:sp>
        </p:grpSp>
        <p:sp>
          <p:nvSpPr>
            <p:cNvPr id="31" name="Text Box 17"/>
            <p:cNvSpPr txBox="1"/>
            <p:nvPr/>
          </p:nvSpPr>
          <p:spPr>
            <a:xfrm>
              <a:off x="3584" y="2248"/>
              <a:ext cx="960" cy="331"/>
            </a:xfrm>
            <a:prstGeom prst="rect">
              <a:avLst/>
            </a:prstGeom>
            <a:noFill/>
            <a:ln w="12700">
              <a:noFill/>
            </a:ln>
          </p:spPr>
          <p:txBody>
            <a:bodyPr wrap="square" lIns="67500" tIns="35100" rIns="67500" bIns="35100">
              <a:spAutoFit/>
            </a:bodyPr>
            <a:lstStyle/>
            <a:p>
              <a:pPr lvl="0" algn="ctr" eaLnBrk="1" hangingPunct="1">
                <a:spcBef>
                  <a:spcPct val="50000"/>
                </a:spcBef>
              </a:pPr>
              <a:r>
                <a:rPr lang="en-US" altLang="zh-CN" sz="2100" b="1" dirty="0"/>
                <a:t> </a:t>
              </a:r>
              <a:r>
                <a:rPr lang="en-US" altLang="zh-CN" sz="2100" b="1" dirty="0" err="1" smtClean="0"/>
                <a:t>pmax</a:t>
              </a:r>
              <a:endParaRPr lang="en-US" altLang="zh-CN" sz="2400" b="1" dirty="0">
                <a:latin typeface="Arial" panose="020B0604020202020204" pitchFamily="34" charset="0"/>
                <a:ea typeface="宋体" panose="02010600030101010101" pitchFamily="2" charset="-122"/>
              </a:endParaRPr>
            </a:p>
          </p:txBody>
        </p:sp>
        <p:sp>
          <p:nvSpPr>
            <p:cNvPr id="32" name="Text Box 17"/>
            <p:cNvSpPr txBox="1"/>
            <p:nvPr/>
          </p:nvSpPr>
          <p:spPr>
            <a:xfrm>
              <a:off x="4608" y="2278"/>
              <a:ext cx="960" cy="331"/>
            </a:xfrm>
            <a:prstGeom prst="rect">
              <a:avLst/>
            </a:prstGeom>
            <a:noFill/>
            <a:ln w="12700">
              <a:noFill/>
            </a:ln>
          </p:spPr>
          <p:txBody>
            <a:bodyPr wrap="square" lIns="67500" tIns="35100" rIns="67500" bIns="35100">
              <a:spAutoFit/>
            </a:bodyPr>
            <a:lstStyle/>
            <a:p>
              <a:pPr lvl="0" algn="ctr" eaLnBrk="1" hangingPunct="1">
                <a:spcBef>
                  <a:spcPct val="50000"/>
                </a:spcBef>
              </a:pPr>
              <a:r>
                <a:rPr lang="en-US" altLang="zh-CN" sz="2100" b="1" dirty="0"/>
                <a:t> </a:t>
              </a:r>
              <a:r>
                <a:rPr lang="en-US" altLang="zh-CN" sz="2100" b="1" dirty="0" err="1" smtClean="0"/>
                <a:t>pmin</a:t>
              </a:r>
              <a:endParaRPr lang="en-US" altLang="zh-CN" sz="2400" b="1" dirty="0">
                <a:latin typeface="Arial" panose="020B0604020202020204" pitchFamily="34" charset="0"/>
                <a:ea typeface="宋体" panose="02010600030101010101" pitchFamily="2" charset="-122"/>
              </a:endParaRPr>
            </a:p>
          </p:txBody>
        </p:sp>
      </p:grpSp>
      <p:grpSp>
        <p:nvGrpSpPr>
          <p:cNvPr id="78" name="Group 11"/>
          <p:cNvGrpSpPr/>
          <p:nvPr/>
        </p:nvGrpSpPr>
        <p:grpSpPr>
          <a:xfrm>
            <a:off x="3522712" y="4580559"/>
            <a:ext cx="2057400" cy="1995487"/>
            <a:chOff x="3696" y="1193"/>
            <a:chExt cx="1728" cy="1676"/>
          </a:xfrm>
        </p:grpSpPr>
        <p:grpSp>
          <p:nvGrpSpPr>
            <p:cNvPr id="79" name="Group 12"/>
            <p:cNvGrpSpPr/>
            <p:nvPr/>
          </p:nvGrpSpPr>
          <p:grpSpPr>
            <a:xfrm>
              <a:off x="3936" y="1193"/>
              <a:ext cx="1277" cy="387"/>
              <a:chOff x="3936" y="1193"/>
              <a:chExt cx="1277" cy="387"/>
            </a:xfrm>
          </p:grpSpPr>
          <p:sp>
            <p:nvSpPr>
              <p:cNvPr id="87" name="Rectangle 13"/>
              <p:cNvSpPr/>
              <p:nvPr/>
            </p:nvSpPr>
            <p:spPr>
              <a:xfrm>
                <a:off x="3936" y="1193"/>
                <a:ext cx="278" cy="346"/>
              </a:xfrm>
              <a:prstGeom prst="rect">
                <a:avLst/>
              </a:prstGeom>
              <a:noFill/>
              <a:ln w="12700">
                <a:noFill/>
              </a:ln>
            </p:spPr>
            <p:txBody>
              <a:bodyPr wrap="none">
                <a:spAutoFit/>
              </a:bodyPr>
              <a:lstStyle/>
              <a:p>
                <a:pPr lvl="0" eaLnBrk="1" hangingPunct="1"/>
                <a:r>
                  <a:rPr lang="en-US" altLang="zh-CN" sz="2100" b="1" dirty="0">
                    <a:latin typeface="Arial" panose="020B0604020202020204" pitchFamily="34" charset="0"/>
                    <a:ea typeface="宋体" panose="02010600030101010101" pitchFamily="2" charset="-122"/>
                  </a:rPr>
                  <a:t>a</a:t>
                </a:r>
              </a:p>
            </p:txBody>
          </p:sp>
          <p:sp>
            <p:nvSpPr>
              <p:cNvPr id="88" name="Rectangle 14"/>
              <p:cNvSpPr/>
              <p:nvPr/>
            </p:nvSpPr>
            <p:spPr>
              <a:xfrm>
                <a:off x="4895" y="1231"/>
                <a:ext cx="318" cy="349"/>
              </a:xfrm>
              <a:prstGeom prst="rect">
                <a:avLst/>
              </a:prstGeom>
              <a:noFill/>
              <a:ln w="12700">
                <a:noFill/>
              </a:ln>
            </p:spPr>
            <p:txBody>
              <a:bodyPr wrap="square">
                <a:spAutoFit/>
              </a:bodyPr>
              <a:lstStyle/>
              <a:p>
                <a:pPr lvl="0" eaLnBrk="1" hangingPunct="1"/>
                <a:r>
                  <a:rPr lang="en-US" altLang="zh-CN" sz="2100" b="1" dirty="0">
                    <a:latin typeface="Arial" panose="020B0604020202020204" pitchFamily="34" charset="0"/>
                    <a:ea typeface="宋体" panose="02010600030101010101" pitchFamily="2" charset="-122"/>
                  </a:rPr>
                  <a:t>b</a:t>
                </a:r>
              </a:p>
            </p:txBody>
          </p:sp>
        </p:grpSp>
        <p:sp>
          <p:nvSpPr>
            <p:cNvPr id="80" name="Line 15"/>
            <p:cNvSpPr/>
            <p:nvPr/>
          </p:nvSpPr>
          <p:spPr>
            <a:xfrm>
              <a:off x="4032" y="1824"/>
              <a:ext cx="0" cy="480"/>
            </a:xfrm>
            <a:prstGeom prst="line">
              <a:avLst/>
            </a:prstGeom>
            <a:ln w="38100" cap="flat" cmpd="sng">
              <a:solidFill>
                <a:schemeClr val="tx1"/>
              </a:solidFill>
              <a:prstDash val="solid"/>
              <a:headEnd type="none" w="med" len="med"/>
              <a:tailEnd type="triangle" w="med" len="med"/>
            </a:ln>
          </p:spPr>
        </p:sp>
        <p:sp>
          <p:nvSpPr>
            <p:cNvPr id="81" name="Line 16"/>
            <p:cNvSpPr/>
            <p:nvPr/>
          </p:nvSpPr>
          <p:spPr>
            <a:xfrm>
              <a:off x="5088" y="1824"/>
              <a:ext cx="0" cy="480"/>
            </a:xfrm>
            <a:prstGeom prst="line">
              <a:avLst/>
            </a:prstGeom>
            <a:ln w="38100" cap="flat" cmpd="sng">
              <a:solidFill>
                <a:schemeClr val="tx1"/>
              </a:solidFill>
              <a:prstDash val="solid"/>
              <a:headEnd type="none" w="med" len="med"/>
              <a:tailEnd type="triangle" w="med" len="med"/>
            </a:ln>
          </p:spPr>
        </p:sp>
        <p:sp>
          <p:nvSpPr>
            <p:cNvPr id="82" name="Text Box 17"/>
            <p:cNvSpPr txBox="1"/>
            <p:nvPr/>
          </p:nvSpPr>
          <p:spPr>
            <a:xfrm>
              <a:off x="3878" y="2536"/>
              <a:ext cx="480" cy="331"/>
            </a:xfrm>
            <a:prstGeom prst="rect">
              <a:avLst/>
            </a:prstGeom>
            <a:noFill/>
            <a:ln w="12700">
              <a:noFill/>
            </a:ln>
          </p:spPr>
          <p:txBody>
            <a:bodyPr lIns="67500" tIns="35100" rIns="67500" bIns="35100">
              <a:spAutoFit/>
            </a:bodyPr>
            <a:lstStyle/>
            <a:p>
              <a:pPr lvl="0" eaLnBrk="1" hangingPunct="1">
                <a:spcBef>
                  <a:spcPct val="50000"/>
                </a:spcBef>
              </a:pPr>
              <a:r>
                <a:rPr lang="en-US" altLang="zh-CN" sz="2100" b="1" dirty="0"/>
                <a:t> </a:t>
              </a:r>
              <a:r>
                <a:rPr lang="en-US" altLang="zh-CN" sz="2100" b="1" dirty="0" smtClean="0">
                  <a:latin typeface="Arial" panose="020B0604020202020204" pitchFamily="34" charset="0"/>
                  <a:ea typeface="宋体" panose="02010600030101010101" pitchFamily="2" charset="-122"/>
                </a:rPr>
                <a:t>x</a:t>
              </a:r>
              <a:endParaRPr lang="en-US" altLang="zh-CN" sz="2400" b="1" dirty="0">
                <a:latin typeface="Arial" panose="020B0604020202020204" pitchFamily="34" charset="0"/>
                <a:ea typeface="宋体" panose="02010600030101010101" pitchFamily="2" charset="-122"/>
              </a:endParaRPr>
            </a:p>
          </p:txBody>
        </p:sp>
        <p:sp>
          <p:nvSpPr>
            <p:cNvPr id="83" name="Text Box 18"/>
            <p:cNvSpPr txBox="1"/>
            <p:nvPr/>
          </p:nvSpPr>
          <p:spPr>
            <a:xfrm>
              <a:off x="4892" y="2538"/>
              <a:ext cx="480" cy="331"/>
            </a:xfrm>
            <a:prstGeom prst="rect">
              <a:avLst/>
            </a:prstGeom>
            <a:noFill/>
            <a:ln w="12700">
              <a:noFill/>
            </a:ln>
          </p:spPr>
          <p:txBody>
            <a:bodyPr lIns="67500" tIns="35100" rIns="67500" bIns="35100">
              <a:spAutoFit/>
            </a:bodyPr>
            <a:lstStyle/>
            <a:p>
              <a:pPr lvl="0" eaLnBrk="1" hangingPunct="1">
                <a:spcBef>
                  <a:spcPct val="50000"/>
                </a:spcBef>
              </a:pPr>
              <a:r>
                <a:rPr lang="en-US" altLang="zh-CN" sz="2100" b="1" dirty="0"/>
                <a:t> </a:t>
              </a:r>
              <a:r>
                <a:rPr lang="en-US" altLang="zh-CN" sz="2100" b="1" dirty="0" smtClean="0">
                  <a:latin typeface="Arial" panose="020B0604020202020204" pitchFamily="34" charset="0"/>
                  <a:ea typeface="宋体" panose="02010600030101010101" pitchFamily="2" charset="-122"/>
                </a:rPr>
                <a:t>y</a:t>
              </a:r>
              <a:endParaRPr lang="en-US" altLang="zh-CN" sz="2400" b="1" dirty="0">
                <a:latin typeface="Arial" panose="020B0604020202020204" pitchFamily="34" charset="0"/>
                <a:ea typeface="宋体" panose="02010600030101010101" pitchFamily="2" charset="-122"/>
              </a:endParaRPr>
            </a:p>
          </p:txBody>
        </p:sp>
        <p:grpSp>
          <p:nvGrpSpPr>
            <p:cNvPr id="84" name="Group 19"/>
            <p:cNvGrpSpPr/>
            <p:nvPr/>
          </p:nvGrpSpPr>
          <p:grpSpPr>
            <a:xfrm>
              <a:off x="3696" y="1536"/>
              <a:ext cx="1728" cy="288"/>
              <a:chOff x="3696" y="1536"/>
              <a:chExt cx="1728" cy="288"/>
            </a:xfrm>
          </p:grpSpPr>
          <p:sp>
            <p:nvSpPr>
              <p:cNvPr id="85" name="Rectangle 20"/>
              <p:cNvSpPr/>
              <p:nvPr/>
            </p:nvSpPr>
            <p:spPr>
              <a:xfrm>
                <a:off x="3696" y="1536"/>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5</a:t>
                </a:r>
                <a:endParaRPr lang="zh-CN" altLang="en-US" sz="2400" b="1" dirty="0">
                  <a:latin typeface="Arial" panose="020B0604020202020204" pitchFamily="34" charset="0"/>
                  <a:ea typeface="宋体" panose="02010600030101010101" pitchFamily="2" charset="-122"/>
                </a:endParaRPr>
              </a:p>
            </p:txBody>
          </p:sp>
          <p:sp>
            <p:nvSpPr>
              <p:cNvPr id="86" name="Rectangle 21"/>
              <p:cNvSpPr/>
              <p:nvPr/>
            </p:nvSpPr>
            <p:spPr>
              <a:xfrm>
                <a:off x="4656" y="1536"/>
                <a:ext cx="768" cy="288"/>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9</a:t>
                </a:r>
                <a:endParaRPr lang="zh-CN" altLang="en-US" sz="2400" b="1" dirty="0">
                  <a:latin typeface="Arial" panose="020B0604020202020204" pitchFamily="34" charset="0"/>
                  <a:ea typeface="宋体" panose="02010600030101010101" pitchFamily="2" charset="-122"/>
                </a:endParaRPr>
              </a:p>
            </p:txBody>
          </p:sp>
        </p:grpSp>
      </p:grpSp>
      <p:sp>
        <p:nvSpPr>
          <p:cNvPr id="89" name="Rectangle 20"/>
          <p:cNvSpPr/>
          <p:nvPr/>
        </p:nvSpPr>
        <p:spPr>
          <a:xfrm>
            <a:off x="3481155" y="5912355"/>
            <a:ext cx="914400" cy="342900"/>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5</a:t>
            </a:r>
            <a:endParaRPr lang="zh-CN" altLang="en-US" sz="2400" b="1" dirty="0">
              <a:latin typeface="Arial" panose="020B0604020202020204" pitchFamily="34" charset="0"/>
              <a:ea typeface="宋体" panose="02010600030101010101" pitchFamily="2" charset="-122"/>
            </a:endParaRPr>
          </a:p>
        </p:txBody>
      </p:sp>
      <p:sp>
        <p:nvSpPr>
          <p:cNvPr id="90" name="Rectangle 21"/>
          <p:cNvSpPr/>
          <p:nvPr/>
        </p:nvSpPr>
        <p:spPr>
          <a:xfrm>
            <a:off x="4717331" y="5912355"/>
            <a:ext cx="914400" cy="342900"/>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smtClean="0">
                <a:latin typeface="Arial" panose="020B0604020202020204" pitchFamily="34" charset="0"/>
                <a:ea typeface="宋体" panose="02010600030101010101" pitchFamily="2" charset="-122"/>
              </a:rPr>
              <a:t>9</a:t>
            </a:r>
            <a:endParaRPr lang="zh-CN" altLang="en-US" sz="2400" b="1" dirty="0">
              <a:latin typeface="Arial" panose="020B0604020202020204" pitchFamily="34" charset="0"/>
              <a:ea typeface="宋体" panose="02010600030101010101" pitchFamily="2" charset="-122"/>
            </a:endParaRPr>
          </a:p>
        </p:txBody>
      </p:sp>
      <p:cxnSp>
        <p:nvCxnSpPr>
          <p:cNvPr id="13" name="直接连接符 12"/>
          <p:cNvCxnSpPr/>
          <p:nvPr/>
        </p:nvCxnSpPr>
        <p:spPr bwMode="auto">
          <a:xfrm>
            <a:off x="2787276" y="5617593"/>
            <a:ext cx="6033196" cy="20285"/>
          </a:xfrm>
          <a:prstGeom prst="line">
            <a:avLst/>
          </a:prstGeom>
          <a:solidFill>
            <a:schemeClr val="accent1"/>
          </a:solidFill>
          <a:ln w="9525" cap="flat" cmpd="sng" algn="ctr">
            <a:solidFill>
              <a:srgbClr val="FFC000"/>
            </a:solidFill>
            <a:prstDash val="solid"/>
            <a:round/>
            <a:headEnd type="none" w="med" len="med"/>
            <a:tailEnd type="none" w="med" len="med"/>
          </a:ln>
        </p:spPr>
      </p:cxnSp>
    </p:spTree>
    <p:extLst>
      <p:ext uri="{BB962C8B-B14F-4D97-AF65-F5344CB8AC3E}">
        <p14:creationId xmlns:p14="http://schemas.microsoft.com/office/powerpoint/2010/main" val="13892405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764704"/>
            <a:ext cx="7776864" cy="784225"/>
          </a:xfrm>
        </p:spPr>
        <p:txBody>
          <a:bodyPr/>
          <a:lstStyle/>
          <a:p>
            <a:r>
              <a:rPr lang="zh-CN" altLang="en-US" dirty="0" smtClean="0"/>
              <a:t>补充题 </a:t>
            </a:r>
            <a:endParaRPr lang="zh-CN" altLang="en-US" dirty="0"/>
          </a:p>
        </p:txBody>
      </p:sp>
      <p:sp>
        <p:nvSpPr>
          <p:cNvPr id="3" name="内容占位符 2"/>
          <p:cNvSpPr>
            <a:spLocks noGrp="1"/>
          </p:cNvSpPr>
          <p:nvPr>
            <p:ph idx="1"/>
          </p:nvPr>
        </p:nvSpPr>
        <p:spPr/>
        <p:txBody>
          <a:bodyPr/>
          <a:lstStyle/>
          <a:p>
            <a:r>
              <a:rPr lang="zh-CN" altLang="en-US" dirty="0"/>
              <a:t>例</a:t>
            </a:r>
            <a:r>
              <a:rPr lang="en-US" altLang="zh-CN" dirty="0"/>
              <a:t>:   </a:t>
            </a:r>
            <a:r>
              <a:rPr lang="zh-CN" altLang="en-US" dirty="0"/>
              <a:t>输入年和天数，输出对应的年、月、日。</a:t>
            </a:r>
          </a:p>
          <a:p>
            <a:pPr marL="0" indent="0">
              <a:buNone/>
            </a:pPr>
            <a:r>
              <a:rPr lang="zh-CN" altLang="en-US" dirty="0"/>
              <a:t>例如：输入</a:t>
            </a:r>
            <a:r>
              <a:rPr lang="en-US" altLang="zh-CN" dirty="0"/>
              <a:t>2000</a:t>
            </a:r>
            <a:r>
              <a:rPr lang="zh-CN" altLang="en-US" dirty="0"/>
              <a:t>和</a:t>
            </a:r>
            <a:r>
              <a:rPr lang="en-US" altLang="zh-CN" dirty="0"/>
              <a:t>61</a:t>
            </a:r>
            <a:r>
              <a:rPr lang="zh-CN" altLang="en-US" dirty="0"/>
              <a:t>，输出</a:t>
            </a:r>
            <a:r>
              <a:rPr lang="en-US" altLang="zh-CN" dirty="0"/>
              <a:t>2000-3-1</a:t>
            </a:r>
            <a:r>
              <a:rPr lang="zh-CN" altLang="en-US" dirty="0"/>
              <a:t>。</a:t>
            </a:r>
          </a:p>
          <a:p>
            <a:pPr marL="0" indent="0">
              <a:buNone/>
            </a:pPr>
            <a:r>
              <a:rPr lang="zh-CN" altLang="en-US" dirty="0"/>
              <a:t>定义函数</a:t>
            </a:r>
            <a:r>
              <a:rPr lang="en-US" altLang="zh-CN" dirty="0"/>
              <a:t>month_day(year, yearday, *pmonth, *pday)</a:t>
            </a:r>
          </a:p>
          <a:p>
            <a:pPr marL="0" indent="0">
              <a:buNone/>
            </a:pPr>
            <a:r>
              <a:rPr lang="zh-CN" altLang="en-US" dirty="0"/>
              <a:t>用</a:t>
            </a:r>
            <a:r>
              <a:rPr lang="en-US" altLang="zh-CN" dirty="0"/>
              <a:t>2</a:t>
            </a:r>
            <a:r>
              <a:rPr lang="zh-CN" altLang="en-US" dirty="0"/>
              <a:t>个指针作为函数的参数，带回</a:t>
            </a:r>
            <a:r>
              <a:rPr lang="en-US" altLang="zh-CN" dirty="0"/>
              <a:t>2</a:t>
            </a:r>
            <a:r>
              <a:rPr lang="zh-CN" altLang="en-US" dirty="0"/>
              <a:t>个结果</a:t>
            </a:r>
          </a:p>
          <a:p>
            <a:endParaRPr lang="zh-CN" altLang="en-US"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49</a:t>
            </a:fld>
            <a:endParaRPr lang="en-US" altLang="zh-CN" dirty="0"/>
          </a:p>
        </p:txBody>
      </p:sp>
    </p:spTree>
    <p:extLst>
      <p:ext uri="{BB962C8B-B14F-4D97-AF65-F5344CB8AC3E}">
        <p14:creationId xmlns:p14="http://schemas.microsoft.com/office/powerpoint/2010/main" val="4262410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5" name="Rectangle 13"/>
          <p:cNvSpPr>
            <a:spLocks noGrp="1" noChangeArrowheads="1"/>
          </p:cNvSpPr>
          <p:nvPr>
            <p:ph type="body" idx="1"/>
          </p:nvPr>
        </p:nvSpPr>
        <p:spPr>
          <a:xfrm>
            <a:off x="57150" y="116632"/>
            <a:ext cx="9086850" cy="6696744"/>
          </a:xfrm>
          <a:noFill/>
        </p:spPr>
        <p:txBody>
          <a:bodyPr lIns="92075" tIns="46038" rIns="92075" bIns="46038"/>
          <a:lstStyle/>
          <a:p>
            <a:pPr lvl="1">
              <a:spcBef>
                <a:spcPts val="0"/>
              </a:spcBef>
              <a:buNone/>
            </a:pPr>
            <a:r>
              <a:rPr kumimoji="1" lang="en-US" altLang="zh-CN" sz="1800" dirty="0"/>
              <a:t>#include&lt;stdio.h&gt;</a:t>
            </a:r>
          </a:p>
          <a:p>
            <a:pPr lvl="1">
              <a:spcBef>
                <a:spcPts val="0"/>
              </a:spcBef>
              <a:buNone/>
            </a:pPr>
            <a:r>
              <a:rPr kumimoji="1" lang="en-US" altLang="zh-CN" sz="1800" dirty="0"/>
              <a:t> void </a:t>
            </a:r>
            <a:r>
              <a:rPr kumimoji="1" lang="en-US" altLang="zh-CN" sz="1800" dirty="0" err="1"/>
              <a:t>month_day</a:t>
            </a:r>
            <a:r>
              <a:rPr kumimoji="1" lang="en-US" altLang="zh-CN" sz="1800" dirty="0"/>
              <a:t>(</a:t>
            </a:r>
            <a:r>
              <a:rPr kumimoji="1" lang="en-US" altLang="zh-CN" sz="1800" dirty="0" err="1"/>
              <a:t>int</a:t>
            </a:r>
            <a:r>
              <a:rPr kumimoji="1" lang="en-US" altLang="zh-CN" sz="1800" dirty="0"/>
              <a:t> </a:t>
            </a:r>
            <a:r>
              <a:rPr kumimoji="1" lang="en-US" altLang="zh-CN" sz="1800" dirty="0" err="1"/>
              <a:t>year,int</a:t>
            </a:r>
            <a:r>
              <a:rPr kumimoji="1" lang="en-US" altLang="zh-CN" sz="1800" dirty="0"/>
              <a:t> </a:t>
            </a:r>
            <a:r>
              <a:rPr kumimoji="1" lang="en-US" altLang="zh-CN" sz="1800" dirty="0" err="1"/>
              <a:t>yearday</a:t>
            </a:r>
            <a:r>
              <a:rPr kumimoji="1" lang="en-US" altLang="zh-CN" sz="1800" dirty="0"/>
              <a:t>, </a:t>
            </a:r>
            <a:r>
              <a:rPr kumimoji="1" lang="en-US" altLang="zh-CN" sz="1800" dirty="0" err="1"/>
              <a:t>int</a:t>
            </a:r>
            <a:r>
              <a:rPr kumimoji="1" lang="en-US" altLang="zh-CN" sz="1800" dirty="0"/>
              <a:t> *</a:t>
            </a:r>
            <a:r>
              <a:rPr kumimoji="1" lang="en-US" altLang="zh-CN" sz="1800" dirty="0" err="1"/>
              <a:t>pmonth,int</a:t>
            </a:r>
            <a:r>
              <a:rPr kumimoji="1" lang="en-US" altLang="zh-CN" sz="1800" dirty="0"/>
              <a:t> *</a:t>
            </a:r>
            <a:r>
              <a:rPr kumimoji="1" lang="en-US" altLang="zh-CN" sz="1800" dirty="0" err="1"/>
              <a:t>pday</a:t>
            </a:r>
            <a:r>
              <a:rPr kumimoji="1" lang="en-US" altLang="zh-CN" sz="1800" dirty="0"/>
              <a:t>);</a:t>
            </a:r>
            <a:endParaRPr kumimoji="1" lang="en-US" altLang="zh-CN" sz="1800" dirty="0" smtClean="0"/>
          </a:p>
          <a:p>
            <a:pPr lvl="1">
              <a:spcBef>
                <a:spcPts val="0"/>
              </a:spcBef>
              <a:buNone/>
            </a:pPr>
            <a:r>
              <a:rPr kumimoji="1" lang="en-US" altLang="zh-CN" sz="1800" dirty="0" err="1" smtClean="0"/>
              <a:t>int</a:t>
            </a:r>
            <a:r>
              <a:rPr kumimoji="1" lang="en-US" altLang="zh-CN" sz="1800" dirty="0" smtClean="0"/>
              <a:t> </a:t>
            </a:r>
            <a:r>
              <a:rPr kumimoji="1" lang="en-US" altLang="zh-CN" sz="1800" dirty="0"/>
              <a:t>main </a:t>
            </a:r>
            <a:r>
              <a:rPr kumimoji="1" lang="en-US" altLang="zh-CN" sz="1800" dirty="0" smtClean="0"/>
              <a:t>()</a:t>
            </a:r>
            <a:endParaRPr kumimoji="1" lang="en-US" altLang="zh-CN" sz="1800" dirty="0"/>
          </a:p>
          <a:p>
            <a:pPr lvl="1">
              <a:spcBef>
                <a:spcPts val="0"/>
              </a:spcBef>
              <a:buNone/>
            </a:pPr>
            <a:r>
              <a:rPr kumimoji="1" lang="en-US" altLang="zh-CN" sz="1800" dirty="0" smtClean="0"/>
              <a:t>{  </a:t>
            </a:r>
            <a:r>
              <a:rPr kumimoji="1" lang="en-US" altLang="zh-CN" sz="1800" dirty="0"/>
              <a:t>int day,month,year,yearday;</a:t>
            </a:r>
          </a:p>
          <a:p>
            <a:pPr lvl="1">
              <a:spcBef>
                <a:spcPts val="0"/>
              </a:spcBef>
              <a:buNone/>
            </a:pPr>
            <a:r>
              <a:rPr kumimoji="1" lang="en-US" altLang="zh-CN" sz="1800" dirty="0" smtClean="0"/>
              <a:t>   </a:t>
            </a:r>
            <a:r>
              <a:rPr kumimoji="1" lang="en-US" altLang="zh-CN" sz="1800" dirty="0" err="1" smtClean="0"/>
              <a:t>printf</a:t>
            </a:r>
            <a:r>
              <a:rPr kumimoji="1" lang="en-US" altLang="zh-CN" sz="1800" dirty="0"/>
              <a:t>("Input year and yearday: ");</a:t>
            </a:r>
          </a:p>
          <a:p>
            <a:pPr lvl="1">
              <a:spcBef>
                <a:spcPts val="0"/>
              </a:spcBef>
              <a:buNone/>
            </a:pPr>
            <a:r>
              <a:rPr kumimoji="1" lang="en-US" altLang="zh-CN" sz="1800" dirty="0"/>
              <a:t>    scanf("%d%d",&amp;year,&amp;yearday );</a:t>
            </a:r>
          </a:p>
          <a:p>
            <a:pPr lvl="1">
              <a:spcBef>
                <a:spcPts val="0"/>
              </a:spcBef>
              <a:buNone/>
            </a:pPr>
            <a:r>
              <a:rPr kumimoji="1" lang="en-US" altLang="zh-CN" sz="1800" dirty="0"/>
              <a:t>    month_day(year, yearday, &amp;month, &amp;day );</a:t>
            </a:r>
          </a:p>
          <a:p>
            <a:pPr lvl="1">
              <a:spcBef>
                <a:spcPts val="0"/>
              </a:spcBef>
              <a:buNone/>
            </a:pPr>
            <a:r>
              <a:rPr kumimoji="1" lang="en-US" altLang="zh-CN" sz="1800" dirty="0"/>
              <a:t>    printf ("%d-%d-%</a:t>
            </a:r>
            <a:r>
              <a:rPr kumimoji="1" lang="en-US" altLang="zh-CN" sz="1800" dirty="0" smtClean="0"/>
              <a:t>d\n</a:t>
            </a:r>
            <a:r>
              <a:rPr kumimoji="1" lang="en-US" altLang="zh-CN" sz="1800" dirty="0"/>
              <a:t>",year,month,day );</a:t>
            </a:r>
          </a:p>
          <a:p>
            <a:pPr lvl="1">
              <a:spcBef>
                <a:spcPts val="0"/>
              </a:spcBef>
              <a:buNone/>
            </a:pPr>
            <a:r>
              <a:rPr kumimoji="1" lang="en-US" altLang="zh-CN" sz="1800" dirty="0"/>
              <a:t>    </a:t>
            </a:r>
            <a:r>
              <a:rPr kumimoji="1" lang="en-US" altLang="zh-CN" sz="1800" dirty="0" smtClean="0"/>
              <a:t>return </a:t>
            </a:r>
            <a:r>
              <a:rPr kumimoji="1" lang="en-US" altLang="zh-CN" sz="1800" dirty="0"/>
              <a:t>0</a:t>
            </a:r>
            <a:r>
              <a:rPr kumimoji="1" lang="en-US" altLang="zh-CN" sz="1800" dirty="0" smtClean="0"/>
              <a:t>;}</a:t>
            </a:r>
          </a:p>
          <a:p>
            <a:pPr lvl="1">
              <a:spcBef>
                <a:spcPts val="0"/>
              </a:spcBef>
              <a:buNone/>
            </a:pPr>
            <a:r>
              <a:rPr lang="en-US" altLang="zh-CN" sz="1800" dirty="0"/>
              <a:t>void </a:t>
            </a:r>
            <a:r>
              <a:rPr lang="en-US" altLang="zh-CN" sz="1800" dirty="0" err="1"/>
              <a:t>month_day</a:t>
            </a:r>
            <a:r>
              <a:rPr lang="en-US" altLang="zh-CN" sz="1800" dirty="0"/>
              <a:t> ( </a:t>
            </a:r>
            <a:r>
              <a:rPr lang="en-US" altLang="zh-CN" sz="1800" dirty="0" err="1"/>
              <a:t>int</a:t>
            </a:r>
            <a:r>
              <a:rPr lang="en-US" altLang="zh-CN" sz="1800" dirty="0"/>
              <a:t> </a:t>
            </a:r>
            <a:r>
              <a:rPr lang="en-US" altLang="zh-CN" sz="1800" dirty="0" err="1"/>
              <a:t>year,int</a:t>
            </a:r>
            <a:r>
              <a:rPr lang="en-US" altLang="zh-CN" sz="1800" dirty="0"/>
              <a:t> </a:t>
            </a:r>
            <a:r>
              <a:rPr lang="en-US" altLang="zh-CN" sz="1800" dirty="0" err="1"/>
              <a:t>yearday,int</a:t>
            </a:r>
            <a:r>
              <a:rPr lang="en-US" altLang="zh-CN" sz="1800" dirty="0"/>
              <a:t> *</a:t>
            </a:r>
            <a:r>
              <a:rPr lang="en-US" altLang="zh-CN" sz="1800" dirty="0" err="1"/>
              <a:t>pmonth,int</a:t>
            </a:r>
            <a:r>
              <a:rPr lang="en-US" altLang="zh-CN" sz="1800" dirty="0"/>
              <a:t> *</a:t>
            </a:r>
            <a:r>
              <a:rPr lang="en-US" altLang="zh-CN" sz="1800" dirty="0" err="1"/>
              <a:t>pday</a:t>
            </a:r>
            <a:r>
              <a:rPr lang="en-US" altLang="zh-CN" sz="1800" dirty="0"/>
              <a:t>)</a:t>
            </a:r>
          </a:p>
          <a:p>
            <a:pPr lvl="1">
              <a:spcBef>
                <a:spcPts val="0"/>
              </a:spcBef>
              <a:buNone/>
            </a:pPr>
            <a:r>
              <a:rPr lang="en-US" altLang="zh-CN" sz="1800" dirty="0"/>
              <a:t>{   </a:t>
            </a:r>
            <a:r>
              <a:rPr lang="en-US" altLang="zh-CN" sz="1800" dirty="0" err="1"/>
              <a:t>int</a:t>
            </a:r>
            <a:r>
              <a:rPr lang="en-US" altLang="zh-CN" sz="1800" dirty="0"/>
              <a:t> </a:t>
            </a:r>
            <a:r>
              <a:rPr lang="en-US" altLang="zh-CN" sz="1800" dirty="0" err="1"/>
              <a:t>i,leap</a:t>
            </a:r>
            <a:r>
              <a:rPr lang="en-US" altLang="zh-CN" sz="1800" dirty="0"/>
              <a:t>;</a:t>
            </a:r>
          </a:p>
          <a:p>
            <a:pPr lvl="1">
              <a:spcBef>
                <a:spcPts val="0"/>
              </a:spcBef>
              <a:buNone/>
            </a:pPr>
            <a:r>
              <a:rPr lang="en-US" altLang="zh-CN" sz="1800" dirty="0"/>
              <a:t>    </a:t>
            </a:r>
            <a:r>
              <a:rPr lang="en-US" altLang="zh-CN" sz="1800" dirty="0" err="1"/>
              <a:t>int</a:t>
            </a:r>
            <a:r>
              <a:rPr lang="en-US" altLang="zh-CN" sz="1800" dirty="0"/>
              <a:t>  tab[2</a:t>
            </a:r>
            <a:r>
              <a:rPr lang="en-US" altLang="zh-CN" sz="1800" dirty="0" smtClean="0"/>
              <a:t>][13]=</a:t>
            </a:r>
          </a:p>
          <a:p>
            <a:pPr lvl="1">
              <a:spcBef>
                <a:spcPts val="0"/>
              </a:spcBef>
              <a:buNone/>
            </a:pPr>
            <a:r>
              <a:rPr lang="en-US" altLang="zh-CN" sz="1800" dirty="0"/>
              <a:t> </a:t>
            </a:r>
            <a:r>
              <a:rPr lang="en-US" altLang="zh-CN" sz="1800" dirty="0" smtClean="0"/>
              <a:t> {{</a:t>
            </a:r>
            <a:r>
              <a:rPr lang="en-US" altLang="zh-CN" sz="1800" dirty="0"/>
              <a:t>0,31,28,31,30,31,30,31,31,30,31,30,31</a:t>
            </a:r>
            <a:r>
              <a:rPr lang="en-US" altLang="zh-CN" sz="1800" dirty="0" smtClean="0"/>
              <a:t>},</a:t>
            </a:r>
          </a:p>
          <a:p>
            <a:pPr lvl="1">
              <a:spcBef>
                <a:spcPts val="0"/>
              </a:spcBef>
              <a:buNone/>
            </a:pPr>
            <a:r>
              <a:rPr lang="en-US" altLang="zh-CN" sz="1800" dirty="0"/>
              <a:t> </a:t>
            </a:r>
            <a:r>
              <a:rPr lang="en-US" altLang="zh-CN" sz="1800" dirty="0" smtClean="0"/>
              <a:t> {</a:t>
            </a:r>
            <a:r>
              <a:rPr lang="en-US" altLang="zh-CN" sz="1800" dirty="0"/>
              <a:t>0,31,29,31,30,31,30,31,31,30,31,30,31}};</a:t>
            </a:r>
          </a:p>
          <a:p>
            <a:pPr lvl="1">
              <a:spcBef>
                <a:spcPts val="0"/>
              </a:spcBef>
              <a:buNone/>
            </a:pPr>
            <a:r>
              <a:rPr lang="en-US" altLang="zh-CN" sz="1800" dirty="0"/>
              <a:t>    leap=(year%4==0&amp;&amp;year%100!=0)||(year%400==0);</a:t>
            </a:r>
          </a:p>
          <a:p>
            <a:pPr lvl="1">
              <a:spcBef>
                <a:spcPts val="0"/>
              </a:spcBef>
              <a:buNone/>
            </a:pPr>
            <a:r>
              <a:rPr lang="en-US" altLang="zh-CN" sz="1800" dirty="0"/>
              <a:t>    for (</a:t>
            </a:r>
            <a:r>
              <a:rPr lang="en-US" altLang="zh-CN" sz="1800" dirty="0" err="1"/>
              <a:t>i</a:t>
            </a:r>
            <a:r>
              <a:rPr lang="en-US" altLang="zh-CN" sz="1800" dirty="0"/>
              <a:t>=1; </a:t>
            </a:r>
            <a:r>
              <a:rPr lang="en-US" altLang="zh-CN" sz="1800" dirty="0" err="1"/>
              <a:t>yearday</a:t>
            </a:r>
            <a:r>
              <a:rPr lang="en-US" altLang="zh-CN" sz="1800" dirty="0"/>
              <a:t>&gt;tab[leap][</a:t>
            </a:r>
            <a:r>
              <a:rPr lang="en-US" altLang="zh-CN" sz="1800" dirty="0" err="1"/>
              <a:t>i</a:t>
            </a:r>
            <a:r>
              <a:rPr lang="en-US" altLang="zh-CN" sz="1800" dirty="0"/>
              <a:t>];</a:t>
            </a:r>
            <a:r>
              <a:rPr lang="en-US" altLang="zh-CN" sz="1800" dirty="0" err="1"/>
              <a:t>i</a:t>
            </a:r>
            <a:r>
              <a:rPr lang="en-US" altLang="zh-CN" sz="1800" dirty="0"/>
              <a:t>++)</a:t>
            </a:r>
          </a:p>
          <a:p>
            <a:pPr lvl="1">
              <a:spcBef>
                <a:spcPts val="0"/>
              </a:spcBef>
              <a:buNone/>
            </a:pPr>
            <a:r>
              <a:rPr lang="en-US" altLang="zh-CN" sz="1800" dirty="0"/>
              <a:t>        </a:t>
            </a:r>
            <a:r>
              <a:rPr lang="en-US" altLang="zh-CN" sz="1800" dirty="0" err="1"/>
              <a:t>yearday</a:t>
            </a:r>
            <a:r>
              <a:rPr lang="en-US" altLang="zh-CN" sz="1800" dirty="0"/>
              <a:t>=</a:t>
            </a:r>
            <a:r>
              <a:rPr lang="en-US" altLang="zh-CN" sz="1800" dirty="0" err="1"/>
              <a:t>yearday</a:t>
            </a:r>
            <a:r>
              <a:rPr lang="en-US" altLang="zh-CN" sz="1800" dirty="0"/>
              <a:t>-tab[leap][</a:t>
            </a:r>
            <a:r>
              <a:rPr lang="en-US" altLang="zh-CN" sz="1800" dirty="0" err="1"/>
              <a:t>i</a:t>
            </a:r>
            <a:r>
              <a:rPr lang="en-US" altLang="zh-CN" sz="1800" dirty="0"/>
              <a:t>];</a:t>
            </a:r>
          </a:p>
          <a:p>
            <a:pPr lvl="1">
              <a:spcBef>
                <a:spcPts val="0"/>
              </a:spcBef>
              <a:buNone/>
            </a:pPr>
            <a:r>
              <a:rPr lang="en-US" altLang="zh-CN" sz="1800" dirty="0"/>
              <a:t>    *</a:t>
            </a:r>
            <a:r>
              <a:rPr lang="en-US" altLang="zh-CN" sz="1800" dirty="0" err="1"/>
              <a:t>pmonth</a:t>
            </a:r>
            <a:r>
              <a:rPr lang="en-US" altLang="zh-CN" sz="1800" dirty="0"/>
              <a:t>=</a:t>
            </a:r>
            <a:r>
              <a:rPr lang="en-US" altLang="zh-CN" sz="1800" dirty="0" err="1"/>
              <a:t>i</a:t>
            </a:r>
            <a:r>
              <a:rPr lang="en-US" altLang="zh-CN" sz="1800" dirty="0"/>
              <a:t>;</a:t>
            </a:r>
          </a:p>
          <a:p>
            <a:pPr lvl="1">
              <a:spcBef>
                <a:spcPts val="0"/>
              </a:spcBef>
              <a:buNone/>
            </a:pPr>
            <a:r>
              <a:rPr lang="en-US" altLang="zh-CN" sz="1800" dirty="0"/>
              <a:t>    *</a:t>
            </a:r>
            <a:r>
              <a:rPr lang="en-US" altLang="zh-CN" sz="1800" dirty="0" err="1"/>
              <a:t>pday</a:t>
            </a:r>
            <a:r>
              <a:rPr lang="en-US" altLang="zh-CN" sz="1800" dirty="0"/>
              <a:t>=</a:t>
            </a:r>
            <a:r>
              <a:rPr lang="en-US" altLang="zh-CN" sz="1800" dirty="0" err="1"/>
              <a:t>yearday</a:t>
            </a:r>
            <a:r>
              <a:rPr lang="en-US" altLang="zh-CN" sz="1800" dirty="0"/>
              <a:t>;</a:t>
            </a:r>
          </a:p>
          <a:p>
            <a:pPr lvl="1">
              <a:spcBef>
                <a:spcPts val="0"/>
              </a:spcBef>
              <a:buNone/>
            </a:pPr>
            <a:r>
              <a:rPr lang="en-US" altLang="zh-CN" sz="1800" dirty="0" smtClean="0"/>
              <a:t>}</a:t>
            </a:r>
            <a:endParaRPr lang="en-US" altLang="zh-CN" sz="1800" dirty="0"/>
          </a:p>
        </p:txBody>
      </p:sp>
      <p:sp>
        <p:nvSpPr>
          <p:cNvPr id="4" name="Rectangle 12"/>
          <p:cNvSpPr>
            <a:spLocks noChangeArrowheads="1"/>
          </p:cNvSpPr>
          <p:nvPr/>
        </p:nvSpPr>
        <p:spPr bwMode="auto">
          <a:xfrm>
            <a:off x="2771800" y="6021288"/>
            <a:ext cx="5486400" cy="714375"/>
          </a:xfrm>
          <a:prstGeom prst="rect">
            <a:avLst/>
          </a:prstGeom>
          <a:noFill/>
          <a:ln w="12700">
            <a:solidFill>
              <a:schemeClr val="tx1"/>
            </a:solidFill>
            <a:prstDash val="sysDot"/>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000" b="1" dirty="0" smtClean="0"/>
              <a:t>Input </a:t>
            </a:r>
            <a:r>
              <a:rPr lang="en-US" altLang="zh-CN" sz="2000" b="1" dirty="0"/>
              <a:t>year and yearday: </a:t>
            </a:r>
            <a:r>
              <a:rPr lang="en-US" altLang="zh-CN" sz="2000" b="1" dirty="0">
                <a:solidFill>
                  <a:srgbClr val="CC0066"/>
                </a:solidFill>
              </a:rPr>
              <a:t>2000  61</a:t>
            </a:r>
            <a:r>
              <a:rPr lang="en-US" altLang="zh-CN" sz="2000" b="1" dirty="0"/>
              <a:t> </a:t>
            </a:r>
          </a:p>
          <a:p>
            <a:r>
              <a:rPr lang="en-US" altLang="zh-CN" sz="2000" b="1" dirty="0"/>
              <a:t>2000-3-1 </a:t>
            </a:r>
          </a:p>
        </p:txBody>
      </p:sp>
      <p:grpSp>
        <p:nvGrpSpPr>
          <p:cNvPr id="5" name="Group 13"/>
          <p:cNvGrpSpPr>
            <a:grpSpLocks/>
          </p:cNvGrpSpPr>
          <p:nvPr/>
        </p:nvGrpSpPr>
        <p:grpSpPr bwMode="auto">
          <a:xfrm>
            <a:off x="6084168" y="3716462"/>
            <a:ext cx="2895600" cy="2193926"/>
            <a:chOff x="3648" y="2755"/>
            <a:chExt cx="1824" cy="1382"/>
          </a:xfrm>
        </p:grpSpPr>
        <p:grpSp>
          <p:nvGrpSpPr>
            <p:cNvPr id="6" name="Group 14"/>
            <p:cNvGrpSpPr>
              <a:grpSpLocks/>
            </p:cNvGrpSpPr>
            <p:nvPr/>
          </p:nvGrpSpPr>
          <p:grpSpPr bwMode="auto">
            <a:xfrm>
              <a:off x="3792" y="2755"/>
              <a:ext cx="1455" cy="291"/>
              <a:chOff x="3936" y="1219"/>
              <a:chExt cx="1455" cy="291"/>
            </a:xfrm>
          </p:grpSpPr>
          <p:sp>
            <p:nvSpPr>
              <p:cNvPr id="14" name="Rectangle 15"/>
              <p:cNvSpPr>
                <a:spLocks noChangeArrowheads="1"/>
              </p:cNvSpPr>
              <p:nvPr/>
            </p:nvSpPr>
            <p:spPr bwMode="auto">
              <a:xfrm>
                <a:off x="3936" y="1222"/>
                <a:ext cx="7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t>month</a:t>
                </a:r>
              </a:p>
            </p:txBody>
          </p:sp>
          <p:sp>
            <p:nvSpPr>
              <p:cNvPr id="15" name="Rectangle 16"/>
              <p:cNvSpPr>
                <a:spLocks noChangeArrowheads="1"/>
              </p:cNvSpPr>
              <p:nvPr/>
            </p:nvSpPr>
            <p:spPr bwMode="auto">
              <a:xfrm>
                <a:off x="4944" y="1219"/>
                <a:ext cx="4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t>day</a:t>
                </a:r>
              </a:p>
            </p:txBody>
          </p:sp>
        </p:grpSp>
        <p:sp>
          <p:nvSpPr>
            <p:cNvPr id="7" name="Line 17"/>
            <p:cNvSpPr>
              <a:spLocks noChangeShapeType="1"/>
            </p:cNvSpPr>
            <p:nvPr/>
          </p:nvSpPr>
          <p:spPr bwMode="auto">
            <a:xfrm flipV="1">
              <a:off x="4080" y="3360"/>
              <a:ext cx="0" cy="48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8" name="Line 18"/>
            <p:cNvSpPr>
              <a:spLocks noChangeShapeType="1"/>
            </p:cNvSpPr>
            <p:nvPr/>
          </p:nvSpPr>
          <p:spPr bwMode="auto">
            <a:xfrm flipV="1">
              <a:off x="5088" y="3360"/>
              <a:ext cx="0" cy="48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9" name="Text Box 19"/>
            <p:cNvSpPr txBox="1">
              <a:spLocks noChangeArrowheads="1"/>
            </p:cNvSpPr>
            <p:nvPr/>
          </p:nvSpPr>
          <p:spPr bwMode="auto">
            <a:xfrm>
              <a:off x="3648" y="3849"/>
              <a:ext cx="864" cy="288"/>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2400" b="1" dirty="0"/>
                <a:t>pmonth</a:t>
              </a:r>
            </a:p>
          </p:txBody>
        </p:sp>
        <p:sp>
          <p:nvSpPr>
            <p:cNvPr id="10" name="Text Box 20"/>
            <p:cNvSpPr txBox="1">
              <a:spLocks noChangeArrowheads="1"/>
            </p:cNvSpPr>
            <p:nvPr/>
          </p:nvSpPr>
          <p:spPr bwMode="auto">
            <a:xfrm>
              <a:off x="4848" y="3840"/>
              <a:ext cx="624" cy="288"/>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2400" b="1" dirty="0"/>
                <a:t>pday</a:t>
              </a:r>
            </a:p>
          </p:txBody>
        </p:sp>
        <p:grpSp>
          <p:nvGrpSpPr>
            <p:cNvPr id="11" name="Group 21"/>
            <p:cNvGrpSpPr>
              <a:grpSpLocks/>
            </p:cNvGrpSpPr>
            <p:nvPr/>
          </p:nvGrpSpPr>
          <p:grpSpPr bwMode="auto">
            <a:xfrm>
              <a:off x="3744" y="3072"/>
              <a:ext cx="1728" cy="288"/>
              <a:chOff x="3696" y="1536"/>
              <a:chExt cx="1728" cy="288"/>
            </a:xfrm>
          </p:grpSpPr>
          <p:sp>
            <p:nvSpPr>
              <p:cNvPr id="12" name="Rectangle 22"/>
              <p:cNvSpPr>
                <a:spLocks noChangeArrowheads="1"/>
              </p:cNvSpPr>
              <p:nvPr/>
            </p:nvSpPr>
            <p:spPr bwMode="auto">
              <a:xfrm>
                <a:off x="3696" y="1536"/>
                <a:ext cx="768" cy="2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3200" b="1"/>
              </a:p>
            </p:txBody>
          </p:sp>
          <p:sp>
            <p:nvSpPr>
              <p:cNvPr id="13" name="Rectangle 23"/>
              <p:cNvSpPr>
                <a:spLocks noChangeArrowheads="1"/>
              </p:cNvSpPr>
              <p:nvPr/>
            </p:nvSpPr>
            <p:spPr bwMode="auto">
              <a:xfrm>
                <a:off x="4656" y="1536"/>
                <a:ext cx="768" cy="2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3200" b="1"/>
              </a:p>
            </p:txBody>
          </p:sp>
        </p:grpSp>
      </p:grpSp>
      <p:grpSp>
        <p:nvGrpSpPr>
          <p:cNvPr id="16" name="Group 24"/>
          <p:cNvGrpSpPr>
            <a:grpSpLocks/>
          </p:cNvGrpSpPr>
          <p:nvPr/>
        </p:nvGrpSpPr>
        <p:grpSpPr bwMode="auto">
          <a:xfrm>
            <a:off x="6565181" y="4227413"/>
            <a:ext cx="2057400" cy="457200"/>
            <a:chOff x="3552" y="2208"/>
            <a:chExt cx="1296" cy="288"/>
          </a:xfrm>
        </p:grpSpPr>
        <p:sp>
          <p:nvSpPr>
            <p:cNvPr id="17" name="Rectangle 25"/>
            <p:cNvSpPr>
              <a:spLocks noChangeArrowheads="1"/>
            </p:cNvSpPr>
            <p:nvPr/>
          </p:nvSpPr>
          <p:spPr bwMode="auto">
            <a:xfrm>
              <a:off x="3552" y="2208"/>
              <a:ext cx="336" cy="288"/>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t>3</a:t>
              </a:r>
            </a:p>
          </p:txBody>
        </p:sp>
        <p:sp>
          <p:nvSpPr>
            <p:cNvPr id="18" name="Rectangle 26"/>
            <p:cNvSpPr>
              <a:spLocks noChangeArrowheads="1"/>
            </p:cNvSpPr>
            <p:nvPr/>
          </p:nvSpPr>
          <p:spPr bwMode="auto">
            <a:xfrm>
              <a:off x="4512" y="2208"/>
              <a:ext cx="336" cy="288"/>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t>1</a:t>
              </a:r>
            </a:p>
          </p:txBody>
        </p:sp>
      </p:grpSp>
    </p:spTree>
    <p:extLst>
      <p:ext uri="{BB962C8B-B14F-4D97-AF65-F5344CB8AC3E}">
        <p14:creationId xmlns:p14="http://schemas.microsoft.com/office/powerpoint/2010/main" val="217610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61" name="Rectangle 9"/>
          <p:cNvSpPr>
            <a:spLocks noGrp="1"/>
          </p:cNvSpPr>
          <p:nvPr>
            <p:ph idx="1"/>
          </p:nvPr>
        </p:nvSpPr>
        <p:spPr>
          <a:xfrm>
            <a:off x="668021" y="1551940"/>
            <a:ext cx="7360364" cy="2237100"/>
          </a:xfrm>
          <a:ln w="12700"/>
        </p:spPr>
        <p:txBody>
          <a:bodyPr vert="horz" wrap="square" lIns="90488" tIns="44450" rIns="90488" bIns="44450" anchor="t"/>
          <a:lstStyle/>
          <a:p>
            <a:pPr eaLnBrk="1" hangingPunct="1"/>
            <a:r>
              <a:rPr lang="zh-CN" altLang="en-US" sz="2400" dirty="0"/>
              <a:t>数组名是一个指向数组首元素的常量指针，数组名 </a:t>
            </a:r>
          </a:p>
          <a:p>
            <a:pPr marL="0" indent="0" eaLnBrk="1" hangingPunct="1">
              <a:buNone/>
            </a:pPr>
            <a:r>
              <a:rPr lang="zh-CN" altLang="en-US" sz="2400" dirty="0"/>
              <a:t>   作函数参数，相当于指针作为函数的参数</a:t>
            </a:r>
          </a:p>
          <a:p>
            <a:pPr eaLnBrk="1" hangingPunct="1"/>
            <a:r>
              <a:rPr lang="zh-CN" altLang="en-US" sz="2400" dirty="0">
                <a:solidFill>
                  <a:srgbClr val="CC0066"/>
                </a:solidFill>
              </a:rPr>
              <a:t>数组名</a:t>
            </a:r>
            <a:r>
              <a:rPr lang="zh-CN" altLang="en-US" sz="2400" dirty="0"/>
              <a:t>做为实参，</a:t>
            </a:r>
            <a:r>
              <a:rPr lang="zh-CN" altLang="en-US" sz="2400" dirty="0" smtClean="0"/>
              <a:t>形参可以是</a:t>
            </a:r>
            <a:r>
              <a:rPr lang="zh-CN" altLang="en-US" sz="2400" dirty="0">
                <a:solidFill>
                  <a:srgbClr val="CC0066"/>
                </a:solidFill>
              </a:rPr>
              <a:t>指针</a:t>
            </a:r>
            <a:r>
              <a:rPr lang="zh-CN" altLang="en-US" sz="2400" dirty="0" smtClean="0">
                <a:solidFill>
                  <a:srgbClr val="CC0066"/>
                </a:solidFill>
              </a:rPr>
              <a:t>变量</a:t>
            </a:r>
            <a:endParaRPr lang="en-US" altLang="zh-CN" sz="2400" dirty="0" smtClean="0">
              <a:solidFill>
                <a:srgbClr val="CC0066"/>
              </a:solidFill>
            </a:endParaRPr>
          </a:p>
          <a:p>
            <a:pPr eaLnBrk="1" hangingPunct="1"/>
            <a:r>
              <a:rPr lang="zh-CN" altLang="en-US" sz="2400" dirty="0" smtClean="0">
                <a:solidFill>
                  <a:srgbClr val="CC0066"/>
                </a:solidFill>
              </a:rPr>
              <a:t>形参</a:t>
            </a:r>
            <a:r>
              <a:rPr lang="zh-CN" altLang="en-US" sz="2400" dirty="0">
                <a:solidFill>
                  <a:srgbClr val="CC0066"/>
                </a:solidFill>
              </a:rPr>
              <a:t>也</a:t>
            </a:r>
            <a:r>
              <a:rPr lang="zh-CN" altLang="en-US" sz="2400" dirty="0">
                <a:latin typeface="宋体" panose="02010600030101010101" pitchFamily="2" charset="-122"/>
                <a:sym typeface="+mn-ea"/>
              </a:rPr>
              <a:t>可以写成数组</a:t>
            </a:r>
            <a:r>
              <a:rPr lang="zh-CN" altLang="en-US" sz="2400" dirty="0" smtClean="0">
                <a:latin typeface="宋体" panose="02010600030101010101" pitchFamily="2" charset="-122"/>
                <a:sym typeface="+mn-ea"/>
              </a:rPr>
              <a:t>形式，</a:t>
            </a:r>
            <a:r>
              <a:rPr lang="zh-CN" altLang="en-US" sz="2400" dirty="0">
                <a:latin typeface="宋体" panose="02010600030101010101" pitchFamily="2" charset="-122"/>
                <a:sym typeface="+mn-ea"/>
              </a:rPr>
              <a:t>如</a:t>
            </a:r>
            <a:r>
              <a:rPr lang="zh-CN" altLang="en-US" sz="2400" dirty="0" smtClean="0">
                <a:latin typeface="宋体" panose="02010600030101010101" pitchFamily="2" charset="-122"/>
                <a:sym typeface="+mn-ea"/>
              </a:rPr>
              <a:t>：</a:t>
            </a:r>
            <a:r>
              <a:rPr lang="en-US" altLang="zh-CN" sz="2400" dirty="0" err="1" smtClean="0">
                <a:sym typeface="+mn-ea"/>
              </a:rPr>
              <a:t>int</a:t>
            </a:r>
            <a:r>
              <a:rPr lang="en-US" altLang="zh-CN" sz="2400" dirty="0" smtClean="0">
                <a:solidFill>
                  <a:schemeClr val="bg2"/>
                </a:solidFill>
                <a:sym typeface="+mn-ea"/>
              </a:rPr>
              <a:t> </a:t>
            </a:r>
            <a:r>
              <a:rPr lang="en-US" altLang="zh-CN" sz="2400" dirty="0">
                <a:solidFill>
                  <a:srgbClr val="CC0066"/>
                </a:solidFill>
                <a:sym typeface="+mn-ea"/>
              </a:rPr>
              <a:t>a[ ] </a:t>
            </a:r>
            <a:endParaRPr lang="zh-CN" altLang="en-US" sz="2400" dirty="0">
              <a:latin typeface="宋体" panose="02010600030101010101" pitchFamily="2" charset="-122"/>
              <a:sym typeface="+mn-ea"/>
            </a:endParaRPr>
          </a:p>
          <a:p>
            <a:pPr eaLnBrk="1" hangingPunct="1"/>
            <a:endParaRPr lang="zh-CN" altLang="en-US" sz="2400" dirty="0"/>
          </a:p>
        </p:txBody>
      </p:sp>
      <p:sp>
        <p:nvSpPr>
          <p:cNvPr id="54275" name="Rectangle 10"/>
          <p:cNvSpPr>
            <a:spLocks noGrp="1"/>
          </p:cNvSpPr>
          <p:nvPr>
            <p:ph type="title"/>
          </p:nvPr>
        </p:nvSpPr>
        <p:spPr>
          <a:xfrm>
            <a:off x="753110" y="878840"/>
            <a:ext cx="7848600" cy="723900"/>
          </a:xfrm>
        </p:spPr>
        <p:txBody>
          <a:bodyPr vert="horz" wrap="square" lIns="92075" tIns="46038" rIns="92075" bIns="46038" anchor="b"/>
          <a:lstStyle/>
          <a:p>
            <a:pPr eaLnBrk="1" hangingPunct="1"/>
            <a:r>
              <a:rPr lang="zh-CN" altLang="en-US" dirty="0"/>
              <a:t>数组名作为</a:t>
            </a:r>
            <a:r>
              <a:rPr lang="zh-CN" altLang="en-US" dirty="0" smtClean="0"/>
              <a:t>函数参数</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19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196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1961">
                                            <p:txEl>
                                              <p:pRg st="2" end="2"/>
                                            </p:txEl>
                                          </p:spTgt>
                                        </p:tgtEl>
                                        <p:attrNameLst>
                                          <p:attrName>style.visibility</p:attrName>
                                        </p:attrNameLst>
                                      </p:cBhvr>
                                      <p:to>
                                        <p:strVal val="visible"/>
                                      </p:to>
                                    </p:set>
                                    <p:anim calcmode="lin" valueType="num">
                                      <p:cBhvr additive="base">
                                        <p:cTn id="13" dur="500" fill="hold"/>
                                        <p:tgtEl>
                                          <p:spTgt spid="38196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19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1961">
                                            <p:txEl>
                                              <p:pRg st="3" end="3"/>
                                            </p:txEl>
                                          </p:spTgt>
                                        </p:tgtEl>
                                        <p:attrNameLst>
                                          <p:attrName>style.visibility</p:attrName>
                                        </p:attrNameLst>
                                      </p:cBhvr>
                                      <p:to>
                                        <p:strVal val="visible"/>
                                      </p:to>
                                    </p:set>
                                    <p:anim calcmode="lin" valueType="num">
                                      <p:cBhvr additive="base">
                                        <p:cTn id="19" dur="500" fill="hold"/>
                                        <p:tgtEl>
                                          <p:spTgt spid="38196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196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61"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10"/>
          <p:cNvSpPr>
            <a:spLocks noGrp="1"/>
          </p:cNvSpPr>
          <p:nvPr>
            <p:ph type="title"/>
          </p:nvPr>
        </p:nvSpPr>
        <p:spPr>
          <a:xfrm>
            <a:off x="753110" y="878840"/>
            <a:ext cx="7848600" cy="723900"/>
          </a:xfrm>
        </p:spPr>
        <p:txBody>
          <a:bodyPr vert="horz" wrap="square" lIns="92075" tIns="46038" rIns="92075" bIns="46038" anchor="b"/>
          <a:lstStyle/>
          <a:p>
            <a:pPr eaLnBrk="1" hangingPunct="1"/>
            <a:r>
              <a:rPr lang="zh-CN" altLang="en-US" dirty="0"/>
              <a:t>数组名作为</a:t>
            </a:r>
            <a:r>
              <a:rPr lang="zh-CN" altLang="en-US" dirty="0" smtClean="0"/>
              <a:t>函数参数</a:t>
            </a:r>
            <a:endParaRPr lang="zh-CN" altLang="en-US" dirty="0"/>
          </a:p>
        </p:txBody>
      </p:sp>
      <p:sp>
        <p:nvSpPr>
          <p:cNvPr id="2" name="矩形 1"/>
          <p:cNvSpPr/>
          <p:nvPr/>
        </p:nvSpPr>
        <p:spPr>
          <a:xfrm>
            <a:off x="4788024" y="2072784"/>
            <a:ext cx="4141873" cy="4154984"/>
          </a:xfrm>
          <a:prstGeom prst="rect">
            <a:avLst/>
          </a:prstGeom>
        </p:spPr>
        <p:txBody>
          <a:bodyPr wrap="square">
            <a:spAutoFit/>
          </a:bodyPr>
          <a:lstStyle/>
          <a:p>
            <a:r>
              <a:rPr lang="en-US" altLang="zh-CN" sz="2400" b="1" dirty="0">
                <a:effectLst>
                  <a:outerShdw blurRad="38100" dist="38100" dir="2700000" algn="tl">
                    <a:srgbClr val="000000">
                      <a:alpha val="43137"/>
                    </a:srgbClr>
                  </a:outerShdw>
                </a:effectLst>
              </a:rPr>
              <a:t>#include&lt;</a:t>
            </a:r>
            <a:r>
              <a:rPr lang="en-US" altLang="zh-CN" sz="2400" b="1" dirty="0" err="1">
                <a:effectLst>
                  <a:outerShdw blurRad="38100" dist="38100" dir="2700000" algn="tl">
                    <a:srgbClr val="000000">
                      <a:alpha val="43137"/>
                    </a:srgbClr>
                  </a:outerShdw>
                </a:effectLst>
              </a:rPr>
              <a:t>stdio.h</a:t>
            </a:r>
            <a:r>
              <a:rPr lang="en-US" altLang="zh-CN" sz="2400" b="1" dirty="0">
                <a:effectLst>
                  <a:outerShdw blurRad="38100" dist="38100" dir="2700000" algn="tl">
                    <a:srgbClr val="000000">
                      <a:alpha val="43137"/>
                    </a:srgbClr>
                  </a:outerShdw>
                </a:effectLst>
              </a:rPr>
              <a:t>&gt;</a:t>
            </a:r>
          </a:p>
          <a:p>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int</a:t>
            </a:r>
            <a:r>
              <a:rPr lang="en-US" altLang="zh-CN" sz="2400" b="1" dirty="0">
                <a:effectLst>
                  <a:outerShdw blurRad="38100" dist="38100" dir="2700000" algn="tl">
                    <a:srgbClr val="000000">
                      <a:alpha val="43137"/>
                    </a:srgbClr>
                  </a:outerShdw>
                </a:effectLst>
              </a:rPr>
              <a:t> sum (</a:t>
            </a:r>
            <a:r>
              <a:rPr lang="en-US" altLang="zh-CN" sz="2400" b="1" dirty="0" err="1">
                <a:effectLst>
                  <a:outerShdw blurRad="38100" dist="38100" dir="2700000" algn="tl">
                    <a:srgbClr val="000000">
                      <a:alpha val="43137"/>
                    </a:srgbClr>
                  </a:outerShdw>
                </a:effectLst>
              </a:rPr>
              <a:t>int</a:t>
            </a:r>
            <a:r>
              <a:rPr lang="en-US" altLang="zh-CN" sz="2400" b="1" dirty="0">
                <a:effectLst>
                  <a:outerShdw blurRad="38100" dist="38100" dir="2700000" algn="tl">
                    <a:srgbClr val="000000">
                      <a:alpha val="43137"/>
                    </a:srgbClr>
                  </a:outerShdw>
                </a:effectLst>
              </a:rPr>
              <a:t> </a:t>
            </a:r>
            <a:r>
              <a:rPr lang="en-US" altLang="zh-CN" sz="2400" b="1" dirty="0">
                <a:solidFill>
                  <a:srgbClr val="FF0000"/>
                </a:solidFill>
                <a:effectLst>
                  <a:outerShdw blurRad="38100" dist="38100" dir="2700000" algn="tl">
                    <a:srgbClr val="000000">
                      <a:alpha val="43137"/>
                    </a:srgbClr>
                  </a:outerShdw>
                </a:effectLst>
              </a:rPr>
              <a:t>a[]</a:t>
            </a:r>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int</a:t>
            </a:r>
            <a:r>
              <a:rPr lang="en-US" altLang="zh-CN" sz="2400" b="1" dirty="0">
                <a:effectLst>
                  <a:outerShdw blurRad="38100" dist="38100" dir="2700000" algn="tl">
                    <a:srgbClr val="000000">
                      <a:alpha val="43137"/>
                    </a:srgbClr>
                  </a:outerShdw>
                </a:effectLst>
              </a:rPr>
              <a:t> n)</a:t>
            </a:r>
          </a:p>
          <a:p>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int</a:t>
            </a:r>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a:t>
            </a:r>
            <a:r>
              <a:rPr lang="en-US" altLang="zh-CN" sz="2400" b="1" dirty="0">
                <a:effectLst>
                  <a:outerShdw blurRad="38100" dist="38100" dir="2700000" algn="tl">
                    <a:srgbClr val="000000">
                      <a:alpha val="43137"/>
                    </a:srgbClr>
                  </a:outerShdw>
                </a:effectLst>
              </a:rPr>
              <a:t>, s = 0;</a:t>
            </a:r>
          </a:p>
          <a:p>
            <a:r>
              <a:rPr lang="en-US" altLang="zh-CN" sz="2400" b="1" dirty="0">
                <a:effectLst>
                  <a:outerShdw blurRad="38100" dist="38100" dir="2700000" algn="tl">
                    <a:srgbClr val="000000">
                      <a:alpha val="43137"/>
                    </a:srgbClr>
                  </a:outerShdw>
                </a:effectLst>
              </a:rPr>
              <a:t>    for(</a:t>
            </a:r>
            <a:r>
              <a:rPr lang="en-US" altLang="zh-CN" sz="2400" b="1" dirty="0" err="1">
                <a:effectLst>
                  <a:outerShdw blurRad="38100" dist="38100" dir="2700000" algn="tl">
                    <a:srgbClr val="000000">
                      <a:alpha val="43137"/>
                    </a:srgbClr>
                  </a:outerShdw>
                </a:effectLst>
              </a:rPr>
              <a:t>i</a:t>
            </a:r>
            <a:r>
              <a:rPr lang="en-US" altLang="zh-CN" sz="2400" b="1" dirty="0">
                <a:effectLst>
                  <a:outerShdw blurRad="38100" dist="38100" dir="2700000" algn="tl">
                    <a:srgbClr val="000000">
                      <a:alpha val="43137"/>
                    </a:srgbClr>
                  </a:outerShdw>
                </a:effectLst>
              </a:rPr>
              <a:t>=0; </a:t>
            </a:r>
            <a:r>
              <a:rPr lang="en-US" altLang="zh-CN" sz="2400" b="1" dirty="0" err="1">
                <a:effectLst>
                  <a:outerShdw blurRad="38100" dist="38100" dir="2700000" algn="tl">
                    <a:srgbClr val="000000">
                      <a:alpha val="43137"/>
                    </a:srgbClr>
                  </a:outerShdw>
                </a:effectLst>
              </a:rPr>
              <a:t>i</a:t>
            </a:r>
            <a:r>
              <a:rPr lang="en-US" altLang="zh-CN" sz="2400" b="1" dirty="0">
                <a:effectLst>
                  <a:outerShdw blurRad="38100" dist="38100" dir="2700000" algn="tl">
                    <a:srgbClr val="000000">
                      <a:alpha val="43137"/>
                    </a:srgbClr>
                  </a:outerShdw>
                </a:effectLst>
              </a:rPr>
              <a:t>&lt;n; </a:t>
            </a:r>
            <a:r>
              <a:rPr lang="en-US" altLang="zh-CN" sz="2400" b="1" dirty="0" err="1">
                <a:effectLst>
                  <a:outerShdw blurRad="38100" dist="38100" dir="2700000" algn="tl">
                    <a:srgbClr val="000000">
                      <a:alpha val="43137"/>
                    </a:srgbClr>
                  </a:outerShdw>
                </a:effectLst>
              </a:rPr>
              <a:t>i</a:t>
            </a:r>
            <a:r>
              <a:rPr lang="en-US" altLang="zh-CN" sz="2400" b="1" dirty="0">
                <a:effectLst>
                  <a:outerShdw blurRad="38100" dist="38100" dir="2700000" algn="tl">
                    <a:srgbClr val="000000">
                      <a:alpha val="43137"/>
                    </a:srgbClr>
                  </a:outerShdw>
                </a:effectLst>
              </a:rPr>
              <a:t>++)</a:t>
            </a:r>
          </a:p>
          <a:p>
            <a:r>
              <a:rPr lang="en-US" altLang="zh-CN" sz="2400" b="1" dirty="0">
                <a:effectLst>
                  <a:outerShdw blurRad="38100" dist="38100" dir="2700000" algn="tl">
                    <a:srgbClr val="000000">
                      <a:alpha val="43137"/>
                    </a:srgbClr>
                  </a:outerShdw>
                </a:effectLst>
              </a:rPr>
              <a:t>         s += </a:t>
            </a:r>
            <a:r>
              <a:rPr lang="en-US" altLang="zh-CN" sz="2400" b="1" dirty="0">
                <a:solidFill>
                  <a:srgbClr val="FF3300"/>
                </a:solidFill>
                <a:effectLst>
                  <a:outerShdw blurRad="38100" dist="38100" dir="2700000" algn="tl">
                    <a:srgbClr val="000000">
                      <a:alpha val="43137"/>
                    </a:srgbClr>
                  </a:outerShdw>
                </a:effectLst>
              </a:rPr>
              <a:t>a[</a:t>
            </a:r>
            <a:r>
              <a:rPr lang="en-US" altLang="zh-CN" sz="2400" b="1" dirty="0" err="1">
                <a:solidFill>
                  <a:srgbClr val="FF3300"/>
                </a:solidFill>
                <a:effectLst>
                  <a:outerShdw blurRad="38100" dist="38100" dir="2700000" algn="tl">
                    <a:srgbClr val="000000">
                      <a:alpha val="43137"/>
                    </a:srgbClr>
                  </a:outerShdw>
                </a:effectLst>
              </a:rPr>
              <a:t>i</a:t>
            </a:r>
            <a:r>
              <a:rPr lang="en-US" altLang="zh-CN" sz="2400" b="1" dirty="0">
                <a:solidFill>
                  <a:srgbClr val="FF3300"/>
                </a:solidFill>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a:t>
            </a:r>
          </a:p>
          <a:p>
            <a:r>
              <a:rPr lang="en-US" altLang="zh-CN" sz="2400" b="1" dirty="0">
                <a:effectLst>
                  <a:outerShdw blurRad="38100" dist="38100" dir="2700000" algn="tl">
                    <a:srgbClr val="000000">
                      <a:alpha val="43137"/>
                    </a:srgbClr>
                  </a:outerShdw>
                </a:effectLst>
              </a:rPr>
              <a:t>   return(s);}</a:t>
            </a:r>
          </a:p>
          <a:p>
            <a:r>
              <a:rPr lang="en-US" altLang="zh-CN" sz="2400" b="1" dirty="0" err="1" smtClean="0">
                <a:effectLst>
                  <a:outerShdw blurRad="38100" dist="38100" dir="2700000" algn="tl">
                    <a:srgbClr val="000000">
                      <a:alpha val="43137"/>
                    </a:srgbClr>
                  </a:outerShdw>
                </a:effectLst>
              </a:rPr>
              <a:t>int</a:t>
            </a:r>
            <a:r>
              <a:rPr lang="en-US" altLang="zh-CN" sz="2400" b="1" dirty="0" smtClean="0">
                <a:effectLst>
                  <a:outerShdw blurRad="38100" dist="38100" dir="2700000" algn="tl">
                    <a:srgbClr val="000000">
                      <a:alpha val="43137"/>
                    </a:srgbClr>
                  </a:outerShdw>
                </a:effectLst>
              </a:rPr>
              <a:t> </a:t>
            </a:r>
            <a:r>
              <a:rPr lang="en-US" altLang="zh-CN" sz="2400" b="1" dirty="0">
                <a:effectLst>
                  <a:outerShdw blurRad="38100" dist="38100" dir="2700000" algn="tl">
                    <a:srgbClr val="000000">
                      <a:alpha val="43137"/>
                    </a:srgbClr>
                  </a:outerShdw>
                </a:effectLst>
              </a:rPr>
              <a:t>main( )</a:t>
            </a:r>
          </a:p>
          <a:p>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int</a:t>
            </a:r>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a:t>
            </a:r>
            <a:r>
              <a:rPr lang="en-US" altLang="zh-CN" sz="2400" b="1" dirty="0">
                <a:effectLst>
                  <a:outerShdw blurRad="38100" dist="38100" dir="2700000" algn="tl">
                    <a:srgbClr val="000000">
                      <a:alpha val="43137"/>
                    </a:srgbClr>
                  </a:outerShdw>
                </a:effectLst>
              </a:rPr>
              <a:t>;</a:t>
            </a:r>
          </a:p>
          <a:p>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int</a:t>
            </a:r>
            <a:r>
              <a:rPr lang="en-US" altLang="zh-CN" sz="2400" b="1" dirty="0">
                <a:effectLst>
                  <a:outerShdw blurRad="38100" dist="38100" dir="2700000" algn="tl">
                    <a:srgbClr val="000000">
                      <a:alpha val="43137"/>
                    </a:srgbClr>
                  </a:outerShdw>
                </a:effectLst>
              </a:rPr>
              <a:t> b[5] = {1, 4, 5, 7, 9};</a:t>
            </a:r>
          </a:p>
          <a:p>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printf</a:t>
            </a:r>
            <a:r>
              <a:rPr lang="en-US" altLang="zh-CN" sz="2400" b="1" dirty="0">
                <a:effectLst>
                  <a:outerShdw blurRad="38100" dist="38100" dir="2700000" algn="tl">
                    <a:srgbClr val="000000">
                      <a:alpha val="43137"/>
                    </a:srgbClr>
                  </a:outerShdw>
                </a:effectLst>
              </a:rPr>
              <a:t>("%d\n", sum(</a:t>
            </a:r>
            <a:r>
              <a:rPr lang="en-US" altLang="zh-CN" sz="2400" b="1" dirty="0">
                <a:solidFill>
                  <a:srgbClr val="FF0000"/>
                </a:solidFill>
                <a:effectLst>
                  <a:outerShdw blurRad="38100" dist="38100" dir="2700000" algn="tl">
                    <a:srgbClr val="000000">
                      <a:alpha val="43137"/>
                    </a:srgbClr>
                  </a:outerShdw>
                </a:effectLst>
              </a:rPr>
              <a:t>b</a:t>
            </a:r>
            <a:r>
              <a:rPr lang="en-US" altLang="zh-CN" sz="2400" b="1" dirty="0">
                <a:effectLst>
                  <a:outerShdw blurRad="38100" dist="38100" dir="2700000" algn="tl">
                    <a:srgbClr val="000000">
                      <a:alpha val="43137"/>
                    </a:srgbClr>
                  </a:outerShdw>
                </a:effectLst>
              </a:rPr>
              <a:t>, 5));</a:t>
            </a:r>
          </a:p>
          <a:p>
            <a:r>
              <a:rPr lang="en-US" altLang="zh-CN" sz="2400" b="1" dirty="0">
                <a:effectLst>
                  <a:outerShdw blurRad="38100" dist="38100" dir="2700000" algn="tl">
                    <a:srgbClr val="000000">
                      <a:alpha val="43137"/>
                    </a:srgbClr>
                  </a:outerShdw>
                </a:effectLst>
              </a:rPr>
              <a:t>    return 0;}</a:t>
            </a:r>
          </a:p>
        </p:txBody>
      </p:sp>
      <p:sp>
        <p:nvSpPr>
          <p:cNvPr id="3" name="矩形 2"/>
          <p:cNvSpPr/>
          <p:nvPr/>
        </p:nvSpPr>
        <p:spPr>
          <a:xfrm>
            <a:off x="692564" y="2072784"/>
            <a:ext cx="4176464" cy="4154984"/>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#include&lt;stdio.h&gt;</a:t>
            </a:r>
          </a:p>
          <a:p>
            <a:r>
              <a:rPr lang="zh-CN" altLang="en-US" sz="2400" b="1" dirty="0">
                <a:effectLst>
                  <a:outerShdw blurRad="38100" dist="38100" dir="2700000" algn="tl">
                    <a:srgbClr val="000000">
                      <a:alpha val="43137"/>
                    </a:srgbClr>
                  </a:outerShdw>
                </a:effectLst>
              </a:rPr>
              <a:t> int sum (int </a:t>
            </a:r>
            <a:r>
              <a:rPr lang="zh-CN" altLang="en-US" sz="2400" b="1" dirty="0">
                <a:solidFill>
                  <a:srgbClr val="FF0000"/>
                </a:solidFill>
                <a:effectLst>
                  <a:outerShdw blurRad="38100" dist="38100" dir="2700000" algn="tl">
                    <a:srgbClr val="000000">
                      <a:alpha val="43137"/>
                    </a:srgbClr>
                  </a:outerShdw>
                </a:effectLst>
              </a:rPr>
              <a:t>*a</a:t>
            </a:r>
            <a:r>
              <a:rPr lang="zh-CN" altLang="en-US" sz="2400" b="1" dirty="0">
                <a:effectLst>
                  <a:outerShdw blurRad="38100" dist="38100" dir="2700000" algn="tl">
                    <a:srgbClr val="000000">
                      <a:alpha val="43137"/>
                    </a:srgbClr>
                  </a:outerShdw>
                </a:effectLst>
              </a:rPr>
              <a:t>, int n)</a:t>
            </a:r>
          </a:p>
          <a:p>
            <a:r>
              <a:rPr lang="zh-CN" altLang="en-US" sz="2400" b="1" dirty="0">
                <a:effectLst>
                  <a:outerShdw blurRad="38100" dist="38100" dir="2700000" algn="tl">
                    <a:srgbClr val="000000">
                      <a:alpha val="43137"/>
                    </a:srgbClr>
                  </a:outerShdw>
                </a:effectLst>
              </a:rPr>
              <a:t>{   int i, s = 0;</a:t>
            </a:r>
          </a:p>
          <a:p>
            <a:r>
              <a:rPr lang="zh-CN" altLang="en-US" sz="2400" b="1" dirty="0">
                <a:effectLst>
                  <a:outerShdw blurRad="38100" dist="38100" dir="2700000" algn="tl">
                    <a:srgbClr val="000000">
                      <a:alpha val="43137"/>
                    </a:srgbClr>
                  </a:outerShdw>
                </a:effectLst>
              </a:rPr>
              <a:t>    for(i=0; i&lt;n; i++)</a:t>
            </a:r>
          </a:p>
          <a:p>
            <a:r>
              <a:rPr lang="zh-CN" altLang="en-US" sz="2400" b="1" dirty="0">
                <a:effectLst>
                  <a:outerShdw blurRad="38100" dist="38100" dir="2700000" algn="tl">
                    <a:srgbClr val="000000">
                      <a:alpha val="43137"/>
                    </a:srgbClr>
                  </a:outerShdw>
                </a:effectLst>
              </a:rPr>
              <a:t>         s += </a:t>
            </a:r>
            <a:r>
              <a:rPr lang="zh-CN" altLang="en-US" sz="2400" b="1" dirty="0">
                <a:solidFill>
                  <a:srgbClr val="FF3300"/>
                </a:solidFill>
                <a:effectLst>
                  <a:outerShdw blurRad="38100" dist="38100" dir="2700000" algn="tl">
                    <a:srgbClr val="000000">
                      <a:alpha val="43137"/>
                    </a:srgbClr>
                  </a:outerShdw>
                </a:effectLst>
              </a:rPr>
              <a:t>*(a+i)</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return(s);}</a:t>
            </a:r>
          </a:p>
          <a:p>
            <a:r>
              <a:rPr lang="zh-CN" altLang="en-US" sz="2400" b="1" dirty="0">
                <a:effectLst>
                  <a:outerShdw blurRad="38100" dist="38100" dir="2700000" algn="tl">
                    <a:srgbClr val="000000">
                      <a:alpha val="43137"/>
                    </a:srgbClr>
                  </a:outerShdw>
                </a:effectLst>
              </a:rPr>
              <a:t>int main( )</a:t>
            </a:r>
          </a:p>
          <a:p>
            <a:r>
              <a:rPr lang="zh-CN" altLang="en-US" sz="2400" b="1" dirty="0">
                <a:effectLst>
                  <a:outerShdw blurRad="38100" dist="38100" dir="2700000" algn="tl">
                    <a:srgbClr val="000000">
                      <a:alpha val="43137"/>
                    </a:srgbClr>
                  </a:outerShdw>
                </a:effectLst>
              </a:rPr>
              <a:t>{   int i;</a:t>
            </a:r>
          </a:p>
          <a:p>
            <a:r>
              <a:rPr lang="zh-CN" altLang="en-US" sz="2400" b="1" dirty="0">
                <a:effectLst>
                  <a:outerShdw blurRad="38100" dist="38100" dir="2700000" algn="tl">
                    <a:srgbClr val="000000">
                      <a:alpha val="43137"/>
                    </a:srgbClr>
                  </a:outerShdw>
                </a:effectLst>
              </a:rPr>
              <a:t>    int b[5] = {1, 4, 5, 7, 9};</a:t>
            </a:r>
          </a:p>
          <a:p>
            <a:r>
              <a:rPr lang="zh-CN" altLang="en-US" sz="2400" b="1" dirty="0">
                <a:effectLst>
                  <a:outerShdw blurRad="38100" dist="38100" dir="2700000" algn="tl">
                    <a:srgbClr val="000000">
                      <a:alpha val="43137"/>
                    </a:srgbClr>
                  </a:outerShdw>
                </a:effectLst>
              </a:rPr>
              <a:t>    printf("%d\n", sum(</a:t>
            </a:r>
            <a:r>
              <a:rPr lang="zh-CN" altLang="en-US" sz="2400" b="1" dirty="0">
                <a:solidFill>
                  <a:srgbClr val="FF0000"/>
                </a:solidFill>
                <a:effectLst>
                  <a:outerShdw blurRad="38100" dist="38100" dir="2700000" algn="tl">
                    <a:srgbClr val="000000">
                      <a:alpha val="43137"/>
                    </a:srgbClr>
                  </a:outerShdw>
                </a:effectLst>
              </a:rPr>
              <a:t>b</a:t>
            </a:r>
            <a:r>
              <a:rPr lang="zh-CN" altLang="en-US" sz="2400" b="1" dirty="0">
                <a:effectLst>
                  <a:outerShdw blurRad="38100" dist="38100" dir="2700000" algn="tl">
                    <a:srgbClr val="000000">
                      <a:alpha val="43137"/>
                    </a:srgbClr>
                  </a:outerShdw>
                </a:effectLst>
              </a:rPr>
              <a:t>, 5));</a:t>
            </a:r>
          </a:p>
          <a:p>
            <a:r>
              <a:rPr lang="zh-CN" altLang="en-US" sz="2400" b="1" dirty="0">
                <a:effectLst>
                  <a:outerShdw blurRad="38100" dist="38100" dir="2700000" algn="tl">
                    <a:srgbClr val="000000">
                      <a:alpha val="43137"/>
                    </a:srgbClr>
                  </a:outerShdw>
                </a:effectLst>
              </a:rPr>
              <a:t>    return 0;}</a:t>
            </a:r>
          </a:p>
        </p:txBody>
      </p:sp>
      <p:sp>
        <p:nvSpPr>
          <p:cNvPr id="4" name="矩形 3"/>
          <p:cNvSpPr/>
          <p:nvPr/>
        </p:nvSpPr>
        <p:spPr>
          <a:xfrm>
            <a:off x="971600" y="1627143"/>
            <a:ext cx="1415772" cy="461665"/>
          </a:xfrm>
          <a:prstGeom prst="rect">
            <a:avLst/>
          </a:prstGeom>
        </p:spPr>
        <p:txBody>
          <a:bodyPr wrap="none">
            <a:spAutoFit/>
          </a:bodyPr>
          <a:lstStyle/>
          <a:p>
            <a:r>
              <a:rPr lang="zh-CN" altLang="en-US" sz="2400" b="1" dirty="0">
                <a:solidFill>
                  <a:srgbClr val="CC0066"/>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指针变量</a:t>
            </a:r>
            <a:endParaRPr lang="zh-CN" altLang="en-US" sz="24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2" name="矩形 11"/>
          <p:cNvSpPr/>
          <p:nvPr/>
        </p:nvSpPr>
        <p:spPr>
          <a:xfrm>
            <a:off x="5436776" y="1627143"/>
            <a:ext cx="1422184" cy="461665"/>
          </a:xfrm>
          <a:prstGeom prst="rect">
            <a:avLst/>
          </a:prstGeom>
        </p:spPr>
        <p:txBody>
          <a:bodyPr wrap="none">
            <a:spAutoFit/>
          </a:bodyPr>
          <a:lstStyle/>
          <a:p>
            <a:r>
              <a:rPr lang="zh-CN" altLang="en-US" sz="2400" b="1" dirty="0" smtClean="0">
                <a:solidFill>
                  <a:srgbClr val="CC0066"/>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数组形式</a:t>
            </a:r>
            <a:endParaRPr lang="zh-CN" altLang="en-US" sz="24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7" name="Rectangle 20"/>
          <p:cNvSpPr/>
          <p:nvPr/>
        </p:nvSpPr>
        <p:spPr>
          <a:xfrm>
            <a:off x="3312203" y="6453336"/>
            <a:ext cx="3113650" cy="342900"/>
          </a:xfrm>
          <a:prstGeom prst="rect">
            <a:avLst/>
          </a:prstGeom>
          <a:noFill/>
          <a:ln w="12700" cap="flat" cmpd="sng">
            <a:solidFill>
              <a:schemeClr val="tx1"/>
            </a:solidFill>
            <a:prstDash val="solid"/>
            <a:miter/>
            <a:headEnd type="none" w="med" len="med"/>
            <a:tailEnd type="none" w="med" len="med"/>
          </a:ln>
        </p:spPr>
        <p:txBody>
          <a:bodyPr wrap="none" anchor="ctr"/>
          <a:lstStyle/>
          <a:p>
            <a:pPr lvl="0" algn="ctr" eaLnBrk="1" hangingPunct="1"/>
            <a:r>
              <a:rPr lang="zh-CN" altLang="en-US" sz="2400" b="1" dirty="0" smtClean="0">
                <a:effectLst>
                  <a:outerShdw blurRad="38100" dist="38100" dir="2700000" algn="tl">
                    <a:srgbClr val="000000">
                      <a:alpha val="43137"/>
                    </a:srgbClr>
                  </a:outerShdw>
                </a:effectLst>
                <a:latin typeface="+mj-ea"/>
                <a:ea typeface="+mj-ea"/>
              </a:rPr>
              <a:t>求数组元素的累加和</a:t>
            </a:r>
            <a:endParaRPr lang="zh-CN" altLang="en-US" sz="2400" b="1" dirty="0">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1543938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36"/>
          <p:cNvSpPr>
            <a:spLocks noGrp="1"/>
          </p:cNvSpPr>
          <p:nvPr>
            <p:ph idx="1"/>
          </p:nvPr>
        </p:nvSpPr>
        <p:spPr>
          <a:xfrm>
            <a:off x="439420" y="548680"/>
            <a:ext cx="4132580" cy="2589530"/>
          </a:xfrm>
          <a:ln w="12700" cap="rnd">
            <a:solidFill>
              <a:schemeClr val="tx1">
                <a:alpha val="100000"/>
              </a:schemeClr>
            </a:solidFill>
            <a:prstDash val="sysDot"/>
            <a:miter lim="800000"/>
          </a:ln>
        </p:spPr>
        <p:txBody>
          <a:bodyPr vert="horz" wrap="square" lIns="90488" tIns="44450" rIns="90488" bIns="44450" anchor="t"/>
          <a:lstStyle/>
          <a:p>
            <a:pPr eaLnBrk="1" hangingPunct="1">
              <a:buNone/>
            </a:pPr>
            <a:r>
              <a:rPr lang="en-US" altLang="zh-CN" sz="2400" kern="1200" dirty="0" err="1" smtClean="0"/>
              <a:t>int</a:t>
            </a:r>
            <a:r>
              <a:rPr lang="en-US" altLang="zh-CN" sz="2400" kern="1200" dirty="0" smtClean="0"/>
              <a:t> sum (</a:t>
            </a:r>
            <a:r>
              <a:rPr lang="en-US" altLang="zh-CN" sz="2400" kern="1200" dirty="0" err="1" smtClean="0"/>
              <a:t>int</a:t>
            </a:r>
            <a:r>
              <a:rPr lang="en-US" altLang="zh-CN" sz="2400" kern="1200" dirty="0" smtClean="0"/>
              <a:t> a[], </a:t>
            </a:r>
            <a:r>
              <a:rPr lang="en-US" altLang="zh-CN" sz="2400" kern="1200" dirty="0" err="1" smtClean="0"/>
              <a:t>int</a:t>
            </a:r>
            <a:r>
              <a:rPr lang="en-US" altLang="zh-CN" sz="2400" kern="1200" dirty="0" smtClean="0"/>
              <a:t> n)</a:t>
            </a:r>
          </a:p>
          <a:p>
            <a:pPr eaLnBrk="1" hangingPunct="1">
              <a:buNone/>
            </a:pPr>
            <a:r>
              <a:rPr lang="en-US" altLang="zh-CN" sz="2400" kern="1200" dirty="0" smtClean="0"/>
              <a:t>{   </a:t>
            </a:r>
            <a:r>
              <a:rPr lang="en-US" altLang="zh-CN" sz="2400" kern="1200" dirty="0" err="1" smtClean="0"/>
              <a:t>int</a:t>
            </a:r>
            <a:r>
              <a:rPr lang="en-US" altLang="zh-CN" sz="2400" kern="1200" dirty="0" smtClean="0"/>
              <a:t> </a:t>
            </a:r>
            <a:r>
              <a:rPr lang="en-US" altLang="zh-CN" sz="2400" kern="1200" dirty="0" err="1" smtClean="0"/>
              <a:t>i</a:t>
            </a:r>
            <a:r>
              <a:rPr lang="en-US" altLang="zh-CN" sz="2400" kern="1200" dirty="0" smtClean="0"/>
              <a:t>, s = 0;</a:t>
            </a:r>
          </a:p>
          <a:p>
            <a:pPr eaLnBrk="1" hangingPunct="1">
              <a:buNone/>
            </a:pPr>
            <a:r>
              <a:rPr lang="en-US" altLang="zh-CN" sz="2400" kern="1200" dirty="0" smtClean="0"/>
              <a:t>    for(</a:t>
            </a:r>
            <a:r>
              <a:rPr lang="en-US" altLang="zh-CN" sz="2400" kern="1200" dirty="0" err="1" smtClean="0"/>
              <a:t>i</a:t>
            </a:r>
            <a:r>
              <a:rPr lang="en-US" altLang="zh-CN" sz="2400" kern="1200" dirty="0" smtClean="0"/>
              <a:t>=0; </a:t>
            </a:r>
            <a:r>
              <a:rPr lang="en-US" altLang="zh-CN" sz="2400" kern="1200" dirty="0" err="1" smtClean="0"/>
              <a:t>i</a:t>
            </a:r>
            <a:r>
              <a:rPr lang="en-US" altLang="zh-CN" sz="2400" kern="1200" dirty="0" smtClean="0"/>
              <a:t>&lt;n; </a:t>
            </a:r>
            <a:r>
              <a:rPr lang="en-US" altLang="zh-CN" sz="2400" kern="1200" dirty="0" err="1" smtClean="0"/>
              <a:t>i</a:t>
            </a:r>
            <a:r>
              <a:rPr lang="en-US" altLang="zh-CN" sz="2400" kern="1200" dirty="0" smtClean="0"/>
              <a:t>++)</a:t>
            </a:r>
          </a:p>
          <a:p>
            <a:pPr eaLnBrk="1" hangingPunct="1">
              <a:buNone/>
            </a:pPr>
            <a:r>
              <a:rPr lang="en-US" altLang="zh-CN" sz="2400" kern="1200" dirty="0" smtClean="0"/>
              <a:t>         s += a[</a:t>
            </a:r>
            <a:r>
              <a:rPr lang="en-US" altLang="zh-CN" sz="2400" kern="1200" dirty="0" err="1" smtClean="0"/>
              <a:t>i</a:t>
            </a:r>
            <a:r>
              <a:rPr lang="en-US" altLang="zh-CN" sz="2400" kern="1200" dirty="0" smtClean="0"/>
              <a:t>]; </a:t>
            </a:r>
          </a:p>
          <a:p>
            <a:pPr eaLnBrk="1" hangingPunct="1">
              <a:buNone/>
            </a:pPr>
            <a:r>
              <a:rPr lang="en-US" altLang="zh-CN" sz="2400" kern="1200" dirty="0" smtClean="0"/>
              <a:t>   return(s);}     </a:t>
            </a:r>
            <a:endParaRPr lang="en-US" altLang="zh-CN" sz="2400" kern="1200" dirty="0"/>
          </a:p>
        </p:txBody>
      </p:sp>
      <p:sp>
        <p:nvSpPr>
          <p:cNvPr id="55299" name="Rectangle 37"/>
          <p:cNvSpPr/>
          <p:nvPr/>
        </p:nvSpPr>
        <p:spPr>
          <a:xfrm>
            <a:off x="4579340" y="692696"/>
            <a:ext cx="4329430" cy="2154555"/>
          </a:xfrm>
          <a:prstGeom prst="rect">
            <a:avLst/>
          </a:prstGeom>
          <a:noFill/>
          <a:ln w="12700">
            <a:noFill/>
          </a:ln>
        </p:spPr>
        <p:txBody>
          <a:bodyPr lIns="90488" tIns="44450" rIns="90488" bIns="4445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eaLnBrk="1" hangingPunct="1">
              <a:buNone/>
            </a:pPr>
            <a:r>
              <a:rPr lang="en-US" altLang="zh-CN" sz="2400" dirty="0"/>
              <a:t>int </a:t>
            </a:r>
            <a:r>
              <a:rPr lang="en-US" altLang="zh-CN" sz="2400" dirty="0" smtClean="0"/>
              <a:t>main( </a:t>
            </a:r>
            <a:r>
              <a:rPr lang="en-US" altLang="zh-CN" sz="2400" dirty="0"/>
              <a:t>)</a:t>
            </a:r>
          </a:p>
          <a:p>
            <a:pPr marL="342900" lvl="0" indent="-342900" eaLnBrk="1" hangingPunct="1">
              <a:buNone/>
            </a:pPr>
            <a:r>
              <a:rPr lang="en-US" altLang="zh-CN" sz="2400" dirty="0"/>
              <a:t>{   int i;</a:t>
            </a:r>
          </a:p>
          <a:p>
            <a:pPr marL="342900" lvl="0" indent="-342900" eaLnBrk="1" hangingPunct="1">
              <a:buNone/>
            </a:pPr>
            <a:r>
              <a:rPr lang="en-US" altLang="zh-CN" sz="2400" dirty="0"/>
              <a:t>    int b[5] = {1, 4, 5, 7, 9};</a:t>
            </a:r>
          </a:p>
          <a:p>
            <a:pPr marL="342900" lvl="0" indent="-342900" eaLnBrk="1" hangingPunct="1">
              <a:buNone/>
            </a:pPr>
            <a:r>
              <a:rPr lang="en-US" altLang="zh-CN" sz="2400" dirty="0"/>
              <a:t>    printf("%d\n", sum(</a:t>
            </a:r>
            <a:r>
              <a:rPr lang="en-US" altLang="zh-CN" sz="2400" dirty="0">
                <a:solidFill>
                  <a:srgbClr val="CC0066"/>
                </a:solidFill>
              </a:rPr>
              <a:t>b</a:t>
            </a:r>
            <a:r>
              <a:rPr lang="en-US" altLang="zh-CN" sz="2400" dirty="0"/>
              <a:t>, 5));</a:t>
            </a:r>
          </a:p>
          <a:p>
            <a:pPr marL="342900" lvl="0" indent="-342900" eaLnBrk="1" hangingPunct="1">
              <a:buNone/>
            </a:pPr>
            <a:r>
              <a:rPr lang="en-US" altLang="zh-CN" sz="2400" dirty="0"/>
              <a:t>    return 0;}</a:t>
            </a:r>
          </a:p>
        </p:txBody>
      </p:sp>
      <p:grpSp>
        <p:nvGrpSpPr>
          <p:cNvPr id="55300" name="Group 38"/>
          <p:cNvGrpSpPr/>
          <p:nvPr/>
        </p:nvGrpSpPr>
        <p:grpSpPr>
          <a:xfrm>
            <a:off x="690880" y="3827463"/>
            <a:ext cx="2876550" cy="2713037"/>
            <a:chOff x="446" y="2131"/>
            <a:chExt cx="1812" cy="1709"/>
          </a:xfrm>
        </p:grpSpPr>
        <p:sp>
          <p:nvSpPr>
            <p:cNvPr id="55312" name="Text Box 39"/>
            <p:cNvSpPr txBox="1"/>
            <p:nvPr/>
          </p:nvSpPr>
          <p:spPr>
            <a:xfrm>
              <a:off x="446" y="2131"/>
              <a:ext cx="322" cy="365"/>
            </a:xfrm>
            <a:prstGeom prst="rect">
              <a:avLst/>
            </a:prstGeom>
            <a:noFill/>
            <a:ln w="12700">
              <a:noFill/>
            </a:ln>
          </p:spPr>
          <p:txBody>
            <a:bodyPr wrap="none" lIns="90000" tIns="46800" rIns="90000" bIns="46800" anchor="ctr">
              <a:spAutoFit/>
            </a:bodyPr>
            <a:lstStyle/>
            <a:p>
              <a:pPr lvl="0" algn="ctr" eaLnBrk="1" hangingPunct="1">
                <a:spcBef>
                  <a:spcPct val="50000"/>
                </a:spcBef>
              </a:pPr>
              <a:r>
                <a:rPr lang="en-US" altLang="zh-CN" sz="2800" b="1" dirty="0">
                  <a:latin typeface="Arial" panose="020B0604020202020204" pitchFamily="34" charset="0"/>
                  <a:ea typeface="宋体" panose="02010600030101010101" pitchFamily="2" charset="-122"/>
                </a:rPr>
                <a:t>b</a:t>
              </a:r>
              <a:r>
                <a:rPr lang="en-US" altLang="zh-CN" sz="3200" b="1" dirty="0">
                  <a:latin typeface="Arial" panose="020B0604020202020204" pitchFamily="34" charset="0"/>
                  <a:ea typeface="宋体" panose="02010600030101010101" pitchFamily="2" charset="-122"/>
                </a:rPr>
                <a:t> </a:t>
              </a:r>
            </a:p>
          </p:txBody>
        </p:sp>
        <p:sp>
          <p:nvSpPr>
            <p:cNvPr id="55313" name="Rectangle 40"/>
            <p:cNvSpPr/>
            <p:nvPr/>
          </p:nvSpPr>
          <p:spPr>
            <a:xfrm>
              <a:off x="1110" y="2304"/>
              <a:ext cx="672" cy="1536"/>
            </a:xfrm>
            <a:prstGeom prst="rect">
              <a:avLst/>
            </a:prstGeom>
            <a:noFill/>
            <a:ln w="12700" cap="flat" cmpd="sng">
              <a:solidFill>
                <a:schemeClr val="tx1"/>
              </a:solidFill>
              <a:prstDash val="solid"/>
              <a:miter/>
              <a:headEnd type="none" w="med" len="med"/>
              <a:tailEnd type="none" w="med" len="med"/>
            </a:ln>
          </p:spPr>
          <p:txBody>
            <a:bodyPr wrap="none" lIns="90000" tIns="46800" rIns="90000" bIns="46800" anchor="ctr"/>
            <a:lstStyle/>
            <a:p>
              <a:pPr lvl="0" eaLnBrk="1" hangingPunct="1"/>
              <a:endParaRPr lang="zh-CN" altLang="en-US" dirty="0">
                <a:latin typeface="Arial" panose="020B0604020202020204" pitchFamily="34" charset="0"/>
                <a:ea typeface="宋体" panose="02010600030101010101" pitchFamily="2" charset="-122"/>
              </a:endParaRPr>
            </a:p>
          </p:txBody>
        </p:sp>
        <p:sp>
          <p:nvSpPr>
            <p:cNvPr id="55314" name="Line 41"/>
            <p:cNvSpPr/>
            <p:nvPr/>
          </p:nvSpPr>
          <p:spPr>
            <a:xfrm>
              <a:off x="1110" y="2640"/>
              <a:ext cx="672" cy="0"/>
            </a:xfrm>
            <a:prstGeom prst="line">
              <a:avLst/>
            </a:prstGeom>
            <a:ln w="12700" cap="flat" cmpd="sng">
              <a:solidFill>
                <a:schemeClr val="tx1"/>
              </a:solidFill>
              <a:prstDash val="solid"/>
              <a:headEnd type="none" w="med" len="med"/>
              <a:tailEnd type="none" w="med" len="med"/>
            </a:ln>
          </p:spPr>
        </p:sp>
        <p:sp>
          <p:nvSpPr>
            <p:cNvPr id="55315" name="Line 42"/>
            <p:cNvSpPr/>
            <p:nvPr/>
          </p:nvSpPr>
          <p:spPr>
            <a:xfrm>
              <a:off x="1110" y="3552"/>
              <a:ext cx="672" cy="0"/>
            </a:xfrm>
            <a:prstGeom prst="line">
              <a:avLst/>
            </a:prstGeom>
            <a:ln w="12700" cap="flat" cmpd="sng">
              <a:solidFill>
                <a:schemeClr val="tx1"/>
              </a:solidFill>
              <a:prstDash val="solid"/>
              <a:headEnd type="none" w="med" len="med"/>
              <a:tailEnd type="none" w="med" len="med"/>
            </a:ln>
          </p:spPr>
        </p:sp>
        <p:sp>
          <p:nvSpPr>
            <p:cNvPr id="55316" name="Rectangle 43"/>
            <p:cNvSpPr/>
            <p:nvPr/>
          </p:nvSpPr>
          <p:spPr>
            <a:xfrm>
              <a:off x="1787" y="2323"/>
              <a:ext cx="466" cy="288"/>
            </a:xfrm>
            <a:prstGeom prst="rect">
              <a:avLst/>
            </a:prstGeom>
            <a:noFill/>
            <a:ln w="12700">
              <a:noFill/>
            </a:ln>
          </p:spPr>
          <p:txBody>
            <a:bodyPr wrap="none" lIns="90000" tIns="46800" rIns="90000" bIns="46800" anchor="ctr">
              <a:spAutoFit/>
            </a:bodyPr>
            <a:lstStyle/>
            <a:p>
              <a:pPr lvl="0" algn="ctr" eaLnBrk="1" hangingPunct="1"/>
              <a:r>
                <a:rPr lang="en-US" altLang="zh-CN" sz="2400" b="1" dirty="0">
                  <a:latin typeface="Arial" panose="020B0604020202020204" pitchFamily="34" charset="0"/>
                  <a:ea typeface="宋体" panose="02010600030101010101" pitchFamily="2" charset="-122"/>
                </a:rPr>
                <a:t>b[0]</a:t>
              </a:r>
            </a:p>
          </p:txBody>
        </p:sp>
        <p:sp>
          <p:nvSpPr>
            <p:cNvPr id="55317" name="Rectangle 44"/>
            <p:cNvSpPr/>
            <p:nvPr/>
          </p:nvSpPr>
          <p:spPr>
            <a:xfrm>
              <a:off x="1781" y="3504"/>
              <a:ext cx="477" cy="327"/>
            </a:xfrm>
            <a:prstGeom prst="rect">
              <a:avLst/>
            </a:prstGeom>
            <a:noFill/>
            <a:ln w="12700">
              <a:noFill/>
            </a:ln>
          </p:spPr>
          <p:txBody>
            <a:bodyPr wrap="none" lIns="90000" tIns="46800" rIns="90000" bIns="46800" anchor="ctr">
              <a:spAutoFit/>
            </a:bodyPr>
            <a:lstStyle/>
            <a:p>
              <a:pPr lvl="0" algn="ctr" eaLnBrk="1" hangingPunct="1"/>
              <a:r>
                <a:rPr lang="en-US" altLang="zh-CN" sz="2400" b="1" dirty="0">
                  <a:latin typeface="Arial" panose="020B0604020202020204" pitchFamily="34" charset="0"/>
                  <a:ea typeface="宋体" panose="02010600030101010101" pitchFamily="2" charset="-122"/>
                </a:rPr>
                <a:t>b[5</a:t>
              </a:r>
              <a:r>
                <a:rPr lang="en-US" altLang="zh-CN" sz="28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p:txBody>
        </p:sp>
        <p:sp>
          <p:nvSpPr>
            <p:cNvPr id="55318" name="Line 45"/>
            <p:cNvSpPr/>
            <p:nvPr/>
          </p:nvSpPr>
          <p:spPr>
            <a:xfrm>
              <a:off x="628" y="2333"/>
              <a:ext cx="480" cy="0"/>
            </a:xfrm>
            <a:prstGeom prst="line">
              <a:avLst/>
            </a:prstGeom>
            <a:ln w="38100" cap="flat" cmpd="sng">
              <a:solidFill>
                <a:schemeClr val="bg2"/>
              </a:solidFill>
              <a:prstDash val="solid"/>
              <a:headEnd type="none" w="med" len="med"/>
              <a:tailEnd type="triangle" w="med" len="med"/>
            </a:ln>
          </p:spPr>
        </p:sp>
      </p:grpSp>
      <p:grpSp>
        <p:nvGrpSpPr>
          <p:cNvPr id="384046" name="Group 46"/>
          <p:cNvGrpSpPr/>
          <p:nvPr/>
        </p:nvGrpSpPr>
        <p:grpSpPr>
          <a:xfrm>
            <a:off x="706438" y="4254500"/>
            <a:ext cx="1055688" cy="814388"/>
            <a:chOff x="679" y="2400"/>
            <a:chExt cx="665" cy="513"/>
          </a:xfrm>
        </p:grpSpPr>
        <p:sp>
          <p:nvSpPr>
            <p:cNvPr id="55310" name="Rectangle 47"/>
            <p:cNvSpPr/>
            <p:nvPr/>
          </p:nvSpPr>
          <p:spPr>
            <a:xfrm>
              <a:off x="679" y="2586"/>
              <a:ext cx="239" cy="327"/>
            </a:xfrm>
            <a:prstGeom prst="rect">
              <a:avLst/>
            </a:prstGeom>
            <a:noFill/>
            <a:ln w="12700">
              <a:noFill/>
            </a:ln>
          </p:spPr>
          <p:txBody>
            <a:bodyPr wrap="none" lIns="90000" tIns="46800" rIns="90000" bIns="46800" anchor="ctr">
              <a:spAutoFit/>
            </a:bodyPr>
            <a:lstStyle/>
            <a:p>
              <a:pPr lvl="0" algn="ctr" eaLnBrk="1" hangingPunct="1"/>
              <a:r>
                <a:rPr lang="en-US" altLang="zh-CN" sz="2800" b="1" dirty="0">
                  <a:latin typeface="Arial" panose="020B0604020202020204" pitchFamily="34" charset="0"/>
                  <a:ea typeface="宋体" panose="02010600030101010101" pitchFamily="2" charset="-122"/>
                </a:rPr>
                <a:t>a</a:t>
              </a:r>
            </a:p>
          </p:txBody>
        </p:sp>
        <p:sp>
          <p:nvSpPr>
            <p:cNvPr id="55311" name="Line 48"/>
            <p:cNvSpPr/>
            <p:nvPr/>
          </p:nvSpPr>
          <p:spPr>
            <a:xfrm flipV="1">
              <a:off x="864" y="2400"/>
              <a:ext cx="480" cy="336"/>
            </a:xfrm>
            <a:prstGeom prst="line">
              <a:avLst/>
            </a:prstGeom>
            <a:ln w="38100" cap="flat" cmpd="sng">
              <a:solidFill>
                <a:schemeClr val="bg2"/>
              </a:solidFill>
              <a:prstDash val="solid"/>
              <a:headEnd type="none" w="med" len="med"/>
              <a:tailEnd type="triangle" w="med" len="med"/>
            </a:ln>
          </p:spPr>
        </p:sp>
      </p:grpSp>
      <p:sp>
        <p:nvSpPr>
          <p:cNvPr id="384049" name="Rectangle 49"/>
          <p:cNvSpPr/>
          <p:nvPr/>
        </p:nvSpPr>
        <p:spPr>
          <a:xfrm>
            <a:off x="3810000" y="3906838"/>
            <a:ext cx="1538288"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sum(</a:t>
            </a:r>
            <a:r>
              <a:rPr lang="en-US" altLang="zh-CN" sz="2400" b="1" dirty="0">
                <a:solidFill>
                  <a:srgbClr val="CC0066"/>
                </a:solidFill>
                <a:latin typeface="Arial" panose="020B0604020202020204" pitchFamily="34" charset="0"/>
                <a:ea typeface="宋体" panose="02010600030101010101" pitchFamily="2" charset="-122"/>
              </a:rPr>
              <a:t>b</a:t>
            </a:r>
            <a:r>
              <a:rPr lang="en-US" altLang="zh-CN" sz="2400" b="1" dirty="0">
                <a:latin typeface="Arial" panose="020B0604020202020204" pitchFamily="34" charset="0"/>
                <a:ea typeface="宋体" panose="02010600030101010101" pitchFamily="2" charset="-122"/>
              </a:rPr>
              <a:t>, 5)</a:t>
            </a:r>
            <a:endParaRPr lang="zh-CN" altLang="en-US" sz="2400" b="1" dirty="0">
              <a:latin typeface="Arial" panose="020B0604020202020204" pitchFamily="34" charset="0"/>
              <a:ea typeface="宋体" panose="02010600030101010101" pitchFamily="2" charset="-122"/>
            </a:endParaRPr>
          </a:p>
        </p:txBody>
      </p:sp>
      <p:sp>
        <p:nvSpPr>
          <p:cNvPr id="384050" name="Rectangle 50"/>
          <p:cNvSpPr/>
          <p:nvPr/>
        </p:nvSpPr>
        <p:spPr>
          <a:xfrm>
            <a:off x="6183313" y="3906838"/>
            <a:ext cx="2646362"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b[0]+b[1]+...+b[4]</a:t>
            </a:r>
            <a:endParaRPr lang="zh-CN" altLang="en-US" sz="2400" b="1" dirty="0">
              <a:latin typeface="Arial" panose="020B0604020202020204" pitchFamily="34" charset="0"/>
              <a:ea typeface="宋体" panose="02010600030101010101" pitchFamily="2" charset="-122"/>
            </a:endParaRPr>
          </a:p>
        </p:txBody>
      </p:sp>
      <p:sp>
        <p:nvSpPr>
          <p:cNvPr id="384051" name="Rectangle 51"/>
          <p:cNvSpPr/>
          <p:nvPr/>
        </p:nvSpPr>
        <p:spPr>
          <a:xfrm>
            <a:off x="3810000" y="4592638"/>
            <a:ext cx="1538288"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sum(</a:t>
            </a:r>
            <a:r>
              <a:rPr lang="en-US" altLang="zh-CN" sz="2400" b="1" dirty="0">
                <a:solidFill>
                  <a:srgbClr val="CC0066"/>
                </a:solidFill>
                <a:latin typeface="Arial" panose="020B0604020202020204" pitchFamily="34" charset="0"/>
                <a:ea typeface="宋体" panose="02010600030101010101" pitchFamily="2" charset="-122"/>
              </a:rPr>
              <a:t>b</a:t>
            </a:r>
            <a:r>
              <a:rPr lang="en-US" altLang="zh-CN" sz="2400" b="1" dirty="0">
                <a:latin typeface="Arial" panose="020B0604020202020204" pitchFamily="34" charset="0"/>
                <a:ea typeface="宋体" panose="02010600030101010101" pitchFamily="2" charset="-122"/>
              </a:rPr>
              <a:t>, 3)</a:t>
            </a:r>
            <a:endParaRPr lang="zh-CN" altLang="en-US" sz="2400" b="1" dirty="0">
              <a:latin typeface="Arial" panose="020B0604020202020204" pitchFamily="34" charset="0"/>
              <a:ea typeface="宋体" panose="02010600030101010101" pitchFamily="2" charset="-122"/>
            </a:endParaRPr>
          </a:p>
        </p:txBody>
      </p:sp>
      <p:sp>
        <p:nvSpPr>
          <p:cNvPr id="384052" name="Rectangle 52"/>
          <p:cNvSpPr/>
          <p:nvPr/>
        </p:nvSpPr>
        <p:spPr>
          <a:xfrm>
            <a:off x="6183313" y="4592638"/>
            <a:ext cx="2216150"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b[0]+b[1]+b[2]</a:t>
            </a:r>
            <a:endParaRPr lang="zh-CN" altLang="en-US" sz="2400" b="1" dirty="0">
              <a:latin typeface="Arial" panose="020B0604020202020204" pitchFamily="34" charset="0"/>
              <a:ea typeface="宋体" panose="02010600030101010101" pitchFamily="2" charset="-122"/>
            </a:endParaRPr>
          </a:p>
        </p:txBody>
      </p:sp>
      <p:sp>
        <p:nvSpPr>
          <p:cNvPr id="384053" name="Rectangle 53"/>
          <p:cNvSpPr/>
          <p:nvPr/>
        </p:nvSpPr>
        <p:spPr>
          <a:xfrm>
            <a:off x="3810000" y="5278438"/>
            <a:ext cx="1885950"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sum(</a:t>
            </a:r>
            <a:r>
              <a:rPr lang="en-US" altLang="zh-CN" sz="2400" b="1" dirty="0">
                <a:solidFill>
                  <a:srgbClr val="CC0066"/>
                </a:solidFill>
                <a:latin typeface="Arial" panose="020B0604020202020204" pitchFamily="34" charset="0"/>
                <a:ea typeface="宋体" panose="02010600030101010101" pitchFamily="2" charset="-122"/>
              </a:rPr>
              <a:t>b+1</a:t>
            </a:r>
            <a:r>
              <a:rPr lang="en-US" altLang="zh-CN" sz="2400" b="1" dirty="0">
                <a:latin typeface="Arial" panose="020B0604020202020204" pitchFamily="34" charset="0"/>
                <a:ea typeface="宋体" panose="02010600030101010101" pitchFamily="2" charset="-122"/>
              </a:rPr>
              <a:t>, 3)</a:t>
            </a:r>
            <a:endParaRPr lang="zh-CN" altLang="en-US" sz="2400" b="1" dirty="0">
              <a:latin typeface="Arial" panose="020B0604020202020204" pitchFamily="34" charset="0"/>
              <a:ea typeface="宋体" panose="02010600030101010101" pitchFamily="2" charset="-122"/>
            </a:endParaRPr>
          </a:p>
        </p:txBody>
      </p:sp>
      <p:sp>
        <p:nvSpPr>
          <p:cNvPr id="384054" name="Rectangle 54"/>
          <p:cNvSpPr/>
          <p:nvPr/>
        </p:nvSpPr>
        <p:spPr>
          <a:xfrm>
            <a:off x="6172200" y="5278438"/>
            <a:ext cx="2216150"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b[1]+b[2]+b[3]</a:t>
            </a:r>
            <a:endParaRPr lang="zh-CN" altLang="en-US" sz="2400" b="1" dirty="0">
              <a:latin typeface="Arial" panose="020B0604020202020204" pitchFamily="34" charset="0"/>
              <a:ea typeface="宋体" panose="02010600030101010101" pitchFamily="2" charset="-122"/>
            </a:endParaRPr>
          </a:p>
        </p:txBody>
      </p:sp>
      <p:sp>
        <p:nvSpPr>
          <p:cNvPr id="384055" name="Rectangle 55"/>
          <p:cNvSpPr/>
          <p:nvPr/>
        </p:nvSpPr>
        <p:spPr>
          <a:xfrm>
            <a:off x="3810000" y="5868988"/>
            <a:ext cx="2132013"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sum(</a:t>
            </a:r>
            <a:r>
              <a:rPr lang="en-US" altLang="zh-CN" sz="2400" b="1" dirty="0">
                <a:solidFill>
                  <a:srgbClr val="CC0066"/>
                </a:solidFill>
                <a:latin typeface="Arial" panose="020B0604020202020204" pitchFamily="34" charset="0"/>
                <a:ea typeface="宋体" panose="02010600030101010101" pitchFamily="2" charset="-122"/>
              </a:rPr>
              <a:t>&amp;b[2],</a:t>
            </a:r>
            <a:r>
              <a:rPr lang="en-US" altLang="zh-CN" sz="2400" b="1" dirty="0">
                <a:latin typeface="Arial" panose="020B0604020202020204" pitchFamily="34" charset="0"/>
                <a:ea typeface="宋体" panose="02010600030101010101" pitchFamily="2" charset="-122"/>
              </a:rPr>
              <a:t> 3)</a:t>
            </a:r>
            <a:endParaRPr lang="zh-CN" altLang="en-US" sz="2400" b="1" dirty="0">
              <a:latin typeface="Arial" panose="020B0604020202020204" pitchFamily="34" charset="0"/>
              <a:ea typeface="宋体" panose="02010600030101010101" pitchFamily="2" charset="-122"/>
            </a:endParaRPr>
          </a:p>
        </p:txBody>
      </p:sp>
      <p:sp>
        <p:nvSpPr>
          <p:cNvPr id="384056" name="Rectangle 56"/>
          <p:cNvSpPr/>
          <p:nvPr/>
        </p:nvSpPr>
        <p:spPr>
          <a:xfrm>
            <a:off x="6172200" y="5868988"/>
            <a:ext cx="2216150" cy="420687"/>
          </a:xfrm>
          <a:prstGeom prst="rect">
            <a:avLst/>
          </a:prstGeom>
          <a:noFill/>
          <a:ln w="9525">
            <a:noFill/>
          </a:ln>
        </p:spPr>
        <p:txBody>
          <a:bodyPr wrap="none" lIns="92075" tIns="46038" rIns="92075" bIns="46038">
            <a:spAutoFit/>
          </a:bodyPr>
          <a:lstStyle/>
          <a:p>
            <a:pPr lvl="0" algn="just" eaLnBrk="1" hangingPunct="1">
              <a:lnSpc>
                <a:spcPct val="90000"/>
              </a:lnSpc>
              <a:spcBef>
                <a:spcPct val="20000"/>
              </a:spcBef>
              <a:buClr>
                <a:schemeClr val="tx2"/>
              </a:buClr>
              <a:buSzPct val="80000"/>
            </a:pPr>
            <a:r>
              <a:rPr lang="en-US" altLang="zh-CN" sz="2400" b="1" dirty="0">
                <a:latin typeface="Arial" panose="020B0604020202020204" pitchFamily="34" charset="0"/>
                <a:ea typeface="宋体" panose="02010600030101010101" pitchFamily="2" charset="-122"/>
              </a:rPr>
              <a:t>b[2]+b[3]+b[4]</a:t>
            </a:r>
            <a:endParaRPr lang="zh-CN" altLang="en-US" sz="2400" b="1"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4046"/>
                                        </p:tgtEl>
                                        <p:attrNameLst>
                                          <p:attrName>style.visibility</p:attrName>
                                        </p:attrNameLst>
                                      </p:cBhvr>
                                      <p:to>
                                        <p:strVal val="visible"/>
                                      </p:to>
                                    </p:set>
                                    <p:anim calcmode="lin" valueType="num">
                                      <p:cBhvr additive="base">
                                        <p:cTn id="7" dur="500" fill="hold"/>
                                        <p:tgtEl>
                                          <p:spTgt spid="384046"/>
                                        </p:tgtEl>
                                        <p:attrNameLst>
                                          <p:attrName>ppt_x</p:attrName>
                                        </p:attrNameLst>
                                      </p:cBhvr>
                                      <p:tavLst>
                                        <p:tav tm="0">
                                          <p:val>
                                            <p:strVal val="0-#ppt_w/2"/>
                                          </p:val>
                                        </p:tav>
                                        <p:tav tm="100000">
                                          <p:val>
                                            <p:strVal val="#ppt_x"/>
                                          </p:val>
                                        </p:tav>
                                      </p:tavLst>
                                    </p:anim>
                                    <p:anim calcmode="lin" valueType="num">
                                      <p:cBhvr additive="base">
                                        <p:cTn id="8" dur="500" fill="hold"/>
                                        <p:tgtEl>
                                          <p:spTgt spid="3840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4049"/>
                                        </p:tgtEl>
                                        <p:attrNameLst>
                                          <p:attrName>style.visibility</p:attrName>
                                        </p:attrNameLst>
                                      </p:cBhvr>
                                      <p:to>
                                        <p:strVal val="visible"/>
                                      </p:to>
                                    </p:set>
                                    <p:anim calcmode="lin" valueType="num">
                                      <p:cBhvr additive="base">
                                        <p:cTn id="13" dur="500" fill="hold"/>
                                        <p:tgtEl>
                                          <p:spTgt spid="384049"/>
                                        </p:tgtEl>
                                        <p:attrNameLst>
                                          <p:attrName>ppt_x</p:attrName>
                                        </p:attrNameLst>
                                      </p:cBhvr>
                                      <p:tavLst>
                                        <p:tav tm="0">
                                          <p:val>
                                            <p:strVal val="0-#ppt_w/2"/>
                                          </p:val>
                                        </p:tav>
                                        <p:tav tm="100000">
                                          <p:val>
                                            <p:strVal val="#ppt_x"/>
                                          </p:val>
                                        </p:tav>
                                      </p:tavLst>
                                    </p:anim>
                                    <p:anim calcmode="lin" valueType="num">
                                      <p:cBhvr additive="base">
                                        <p:cTn id="14" dur="500" fill="hold"/>
                                        <p:tgtEl>
                                          <p:spTgt spid="38404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4050"/>
                                        </p:tgtEl>
                                        <p:attrNameLst>
                                          <p:attrName>style.visibility</p:attrName>
                                        </p:attrNameLst>
                                      </p:cBhvr>
                                      <p:to>
                                        <p:strVal val="visible"/>
                                      </p:to>
                                    </p:set>
                                    <p:anim calcmode="lin" valueType="num">
                                      <p:cBhvr additive="base">
                                        <p:cTn id="19" dur="500" fill="hold"/>
                                        <p:tgtEl>
                                          <p:spTgt spid="384050"/>
                                        </p:tgtEl>
                                        <p:attrNameLst>
                                          <p:attrName>ppt_x</p:attrName>
                                        </p:attrNameLst>
                                      </p:cBhvr>
                                      <p:tavLst>
                                        <p:tav tm="0">
                                          <p:val>
                                            <p:strVal val="0-#ppt_w/2"/>
                                          </p:val>
                                        </p:tav>
                                        <p:tav tm="100000">
                                          <p:val>
                                            <p:strVal val="#ppt_x"/>
                                          </p:val>
                                        </p:tav>
                                      </p:tavLst>
                                    </p:anim>
                                    <p:anim calcmode="lin" valueType="num">
                                      <p:cBhvr additive="base">
                                        <p:cTn id="20" dur="500" fill="hold"/>
                                        <p:tgtEl>
                                          <p:spTgt spid="3840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4051"/>
                                        </p:tgtEl>
                                        <p:attrNameLst>
                                          <p:attrName>style.visibility</p:attrName>
                                        </p:attrNameLst>
                                      </p:cBhvr>
                                      <p:to>
                                        <p:strVal val="visible"/>
                                      </p:to>
                                    </p:set>
                                    <p:anim calcmode="lin" valueType="num">
                                      <p:cBhvr additive="base">
                                        <p:cTn id="25" dur="500" fill="hold"/>
                                        <p:tgtEl>
                                          <p:spTgt spid="384051"/>
                                        </p:tgtEl>
                                        <p:attrNameLst>
                                          <p:attrName>ppt_x</p:attrName>
                                        </p:attrNameLst>
                                      </p:cBhvr>
                                      <p:tavLst>
                                        <p:tav tm="0">
                                          <p:val>
                                            <p:strVal val="0-#ppt_w/2"/>
                                          </p:val>
                                        </p:tav>
                                        <p:tav tm="100000">
                                          <p:val>
                                            <p:strVal val="#ppt_x"/>
                                          </p:val>
                                        </p:tav>
                                      </p:tavLst>
                                    </p:anim>
                                    <p:anim calcmode="lin" valueType="num">
                                      <p:cBhvr additive="base">
                                        <p:cTn id="26" dur="500" fill="hold"/>
                                        <p:tgtEl>
                                          <p:spTgt spid="38405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84052"/>
                                        </p:tgtEl>
                                        <p:attrNameLst>
                                          <p:attrName>style.visibility</p:attrName>
                                        </p:attrNameLst>
                                      </p:cBhvr>
                                      <p:to>
                                        <p:strVal val="visible"/>
                                      </p:to>
                                    </p:set>
                                    <p:anim calcmode="lin" valueType="num">
                                      <p:cBhvr additive="base">
                                        <p:cTn id="31" dur="500" fill="hold"/>
                                        <p:tgtEl>
                                          <p:spTgt spid="384052"/>
                                        </p:tgtEl>
                                        <p:attrNameLst>
                                          <p:attrName>ppt_x</p:attrName>
                                        </p:attrNameLst>
                                      </p:cBhvr>
                                      <p:tavLst>
                                        <p:tav tm="0">
                                          <p:val>
                                            <p:strVal val="0-#ppt_w/2"/>
                                          </p:val>
                                        </p:tav>
                                        <p:tav tm="100000">
                                          <p:val>
                                            <p:strVal val="#ppt_x"/>
                                          </p:val>
                                        </p:tav>
                                      </p:tavLst>
                                    </p:anim>
                                    <p:anim calcmode="lin" valueType="num">
                                      <p:cBhvr additive="base">
                                        <p:cTn id="32" dur="500" fill="hold"/>
                                        <p:tgtEl>
                                          <p:spTgt spid="38405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84053"/>
                                        </p:tgtEl>
                                        <p:attrNameLst>
                                          <p:attrName>style.visibility</p:attrName>
                                        </p:attrNameLst>
                                      </p:cBhvr>
                                      <p:to>
                                        <p:strVal val="visible"/>
                                      </p:to>
                                    </p:set>
                                    <p:anim calcmode="lin" valueType="num">
                                      <p:cBhvr additive="base">
                                        <p:cTn id="37" dur="500" fill="hold"/>
                                        <p:tgtEl>
                                          <p:spTgt spid="384053"/>
                                        </p:tgtEl>
                                        <p:attrNameLst>
                                          <p:attrName>ppt_x</p:attrName>
                                        </p:attrNameLst>
                                      </p:cBhvr>
                                      <p:tavLst>
                                        <p:tav tm="0">
                                          <p:val>
                                            <p:strVal val="0-#ppt_w/2"/>
                                          </p:val>
                                        </p:tav>
                                        <p:tav tm="100000">
                                          <p:val>
                                            <p:strVal val="#ppt_x"/>
                                          </p:val>
                                        </p:tav>
                                      </p:tavLst>
                                    </p:anim>
                                    <p:anim calcmode="lin" valueType="num">
                                      <p:cBhvr additive="base">
                                        <p:cTn id="38" dur="500" fill="hold"/>
                                        <p:tgtEl>
                                          <p:spTgt spid="38405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84054"/>
                                        </p:tgtEl>
                                        <p:attrNameLst>
                                          <p:attrName>style.visibility</p:attrName>
                                        </p:attrNameLst>
                                      </p:cBhvr>
                                      <p:to>
                                        <p:strVal val="visible"/>
                                      </p:to>
                                    </p:set>
                                    <p:anim calcmode="lin" valueType="num">
                                      <p:cBhvr additive="base">
                                        <p:cTn id="43" dur="500" fill="hold"/>
                                        <p:tgtEl>
                                          <p:spTgt spid="384054"/>
                                        </p:tgtEl>
                                        <p:attrNameLst>
                                          <p:attrName>ppt_x</p:attrName>
                                        </p:attrNameLst>
                                      </p:cBhvr>
                                      <p:tavLst>
                                        <p:tav tm="0">
                                          <p:val>
                                            <p:strVal val="0-#ppt_w/2"/>
                                          </p:val>
                                        </p:tav>
                                        <p:tav tm="100000">
                                          <p:val>
                                            <p:strVal val="#ppt_x"/>
                                          </p:val>
                                        </p:tav>
                                      </p:tavLst>
                                    </p:anim>
                                    <p:anim calcmode="lin" valueType="num">
                                      <p:cBhvr additive="base">
                                        <p:cTn id="44" dur="500" fill="hold"/>
                                        <p:tgtEl>
                                          <p:spTgt spid="38405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84055"/>
                                        </p:tgtEl>
                                        <p:attrNameLst>
                                          <p:attrName>style.visibility</p:attrName>
                                        </p:attrNameLst>
                                      </p:cBhvr>
                                      <p:to>
                                        <p:strVal val="visible"/>
                                      </p:to>
                                    </p:set>
                                    <p:anim calcmode="lin" valueType="num">
                                      <p:cBhvr additive="base">
                                        <p:cTn id="49" dur="500" fill="hold"/>
                                        <p:tgtEl>
                                          <p:spTgt spid="384055"/>
                                        </p:tgtEl>
                                        <p:attrNameLst>
                                          <p:attrName>ppt_x</p:attrName>
                                        </p:attrNameLst>
                                      </p:cBhvr>
                                      <p:tavLst>
                                        <p:tav tm="0">
                                          <p:val>
                                            <p:strVal val="0-#ppt_w/2"/>
                                          </p:val>
                                        </p:tav>
                                        <p:tav tm="100000">
                                          <p:val>
                                            <p:strVal val="#ppt_x"/>
                                          </p:val>
                                        </p:tav>
                                      </p:tavLst>
                                    </p:anim>
                                    <p:anim calcmode="lin" valueType="num">
                                      <p:cBhvr additive="base">
                                        <p:cTn id="50" dur="500" fill="hold"/>
                                        <p:tgtEl>
                                          <p:spTgt spid="38405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84056"/>
                                        </p:tgtEl>
                                        <p:attrNameLst>
                                          <p:attrName>style.visibility</p:attrName>
                                        </p:attrNameLst>
                                      </p:cBhvr>
                                      <p:to>
                                        <p:strVal val="visible"/>
                                      </p:to>
                                    </p:set>
                                    <p:anim calcmode="lin" valueType="num">
                                      <p:cBhvr additive="base">
                                        <p:cTn id="55" dur="500" fill="hold"/>
                                        <p:tgtEl>
                                          <p:spTgt spid="384056"/>
                                        </p:tgtEl>
                                        <p:attrNameLst>
                                          <p:attrName>ppt_x</p:attrName>
                                        </p:attrNameLst>
                                      </p:cBhvr>
                                      <p:tavLst>
                                        <p:tav tm="0">
                                          <p:val>
                                            <p:strVal val="0-#ppt_w/2"/>
                                          </p:val>
                                        </p:tav>
                                        <p:tav tm="100000">
                                          <p:val>
                                            <p:strVal val="#ppt_x"/>
                                          </p:val>
                                        </p:tav>
                                      </p:tavLst>
                                    </p:anim>
                                    <p:anim calcmode="lin" valueType="num">
                                      <p:cBhvr additive="base">
                                        <p:cTn id="56" dur="500" fill="hold"/>
                                        <p:tgtEl>
                                          <p:spTgt spid="3840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49" grpId="0"/>
      <p:bldP spid="384050" grpId="0"/>
      <p:bldP spid="384051" grpId="0"/>
      <p:bldP spid="384052" grpId="0"/>
      <p:bldP spid="384053" grpId="0"/>
      <p:bldP spid="384054" grpId="0"/>
      <p:bldP spid="384055" grpId="0"/>
      <p:bldP spid="384056"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3995936" y="188640"/>
            <a:ext cx="4968552" cy="6370975"/>
          </a:xfrm>
          <a:prstGeom prst="rect">
            <a:avLst/>
          </a:prstGeom>
        </p:spPr>
        <p:txBody>
          <a:bodyPr wrap="square">
            <a:spAutoFit/>
          </a:bodyPr>
          <a:lstStyle/>
          <a:p>
            <a:r>
              <a:rPr lang="zh-CN" altLang="en-US" sz="2400" b="1" dirty="0" smtClean="0">
                <a:effectLst>
                  <a:outerShdw blurRad="38100" dist="38100" dir="2700000" algn="tl">
                    <a:srgbClr val="000000">
                      <a:alpha val="43137"/>
                    </a:srgbClr>
                  </a:outerShdw>
                </a:effectLst>
              </a:rPr>
              <a:t>void </a:t>
            </a:r>
            <a:r>
              <a:rPr lang="zh-CN" altLang="en-US" sz="2400" b="1" dirty="0">
                <a:effectLst>
                  <a:outerShdw blurRad="38100" dist="38100" dir="2700000" algn="tl">
                    <a:srgbClr val="000000">
                      <a:alpha val="43137"/>
                    </a:srgbClr>
                  </a:outerShdw>
                </a:effectLst>
              </a:rPr>
              <a:t>sca(int *a,int n){</a:t>
            </a:r>
          </a:p>
          <a:p>
            <a:r>
              <a:rPr lang="zh-CN" altLang="en-US" sz="2400" b="1" dirty="0">
                <a:effectLst>
                  <a:outerShdw blurRad="38100" dist="38100" dir="2700000" algn="tl">
                    <a:srgbClr val="000000">
                      <a:alpha val="43137"/>
                    </a:srgbClr>
                  </a:outerShdw>
                </a:effectLst>
              </a:rPr>
              <a:t>    int i;</a:t>
            </a:r>
          </a:p>
          <a:p>
            <a:r>
              <a:rPr lang="zh-CN" altLang="en-US" sz="2400" b="1" dirty="0">
                <a:effectLst>
                  <a:outerShdw blurRad="38100" dist="38100" dir="2700000" algn="tl">
                    <a:srgbClr val="000000">
                      <a:alpha val="43137"/>
                    </a:srgbClr>
                  </a:outerShdw>
                </a:effectLst>
              </a:rPr>
              <a:t>    for(i=0;i&lt;n;i++)</a:t>
            </a:r>
          </a:p>
          <a:p>
            <a:r>
              <a:rPr lang="zh-CN" altLang="en-US" sz="2400" b="1" dirty="0">
                <a:effectLst>
                  <a:outerShdw blurRad="38100" dist="38100" dir="2700000" algn="tl">
                    <a:srgbClr val="000000">
                      <a:alpha val="43137"/>
                    </a:srgbClr>
                  </a:outerShdw>
                </a:effectLst>
              </a:rPr>
              <a:t>        scanf("%d",&amp;a[i]);</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void sort(int *a,int n){</a:t>
            </a:r>
          </a:p>
          <a:p>
            <a:r>
              <a:rPr lang="zh-CN" altLang="en-US" sz="2400" b="1" dirty="0">
                <a:effectLst>
                  <a:outerShdw blurRad="38100" dist="38100" dir="2700000" algn="tl">
                    <a:srgbClr val="000000">
                      <a:alpha val="43137"/>
                    </a:srgbClr>
                  </a:outerShdw>
                </a:effectLst>
              </a:rPr>
              <a:t>    int i,j,t;</a:t>
            </a:r>
          </a:p>
          <a:p>
            <a:r>
              <a:rPr lang="zh-CN" altLang="en-US" sz="2400" b="1" dirty="0">
                <a:effectLst>
                  <a:outerShdw blurRad="38100" dist="38100" dir="2700000" algn="tl">
                    <a:srgbClr val="000000">
                      <a:alpha val="43137"/>
                    </a:srgbClr>
                  </a:outerShdw>
                </a:effectLst>
              </a:rPr>
              <a:t>    for(i=0;i&lt;n-1;i++)</a:t>
            </a:r>
          </a:p>
          <a:p>
            <a:r>
              <a:rPr lang="zh-CN" altLang="en-US" sz="2400" b="1" dirty="0">
                <a:effectLst>
                  <a:outerShdw blurRad="38100" dist="38100" dir="2700000" algn="tl">
                    <a:srgbClr val="000000">
                      <a:alpha val="43137"/>
                    </a:srgbClr>
                  </a:outerShdw>
                </a:effectLst>
              </a:rPr>
              <a:t>      for(j=0;j&lt;n-1-i;j++)</a:t>
            </a:r>
          </a:p>
          <a:p>
            <a:r>
              <a:rPr lang="zh-CN" altLang="en-US" sz="2400" b="1" dirty="0">
                <a:effectLst>
                  <a:outerShdw blurRad="38100" dist="38100" dir="2700000" algn="tl">
                    <a:srgbClr val="000000">
                      <a:alpha val="43137"/>
                    </a:srgbClr>
                  </a:outerShdw>
                </a:effectLst>
              </a:rPr>
              <a:t>        if(a[j]&gt;a[j+1])</a:t>
            </a:r>
          </a:p>
          <a:p>
            <a:r>
              <a:rPr lang="zh-CN" altLang="en-US" sz="2400" b="1" dirty="0">
                <a:effectLst>
                  <a:outerShdw blurRad="38100" dist="38100" dir="2700000" algn="tl">
                    <a:srgbClr val="000000">
                      <a:alpha val="43137"/>
                    </a:srgbClr>
                  </a:outerShdw>
                </a:effectLst>
              </a:rPr>
              <a:t>        {t=a[j];a[j]=a[j+1];a[j+1]=t;}</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void prt(int *a,int n){</a:t>
            </a:r>
          </a:p>
          <a:p>
            <a:r>
              <a:rPr lang="zh-CN" altLang="en-US" sz="2400" b="1" dirty="0">
                <a:effectLst>
                  <a:outerShdw blurRad="38100" dist="38100" dir="2700000" algn="tl">
                    <a:srgbClr val="000000">
                      <a:alpha val="43137"/>
                    </a:srgbClr>
                  </a:outerShdw>
                </a:effectLst>
              </a:rPr>
              <a:t>    int i;</a:t>
            </a:r>
          </a:p>
          <a:p>
            <a:r>
              <a:rPr lang="zh-CN" altLang="en-US" sz="2400" b="1" dirty="0">
                <a:effectLst>
                  <a:outerShdw blurRad="38100" dist="38100" dir="2700000" algn="tl">
                    <a:srgbClr val="000000">
                      <a:alpha val="43137"/>
                    </a:srgbClr>
                  </a:outerShdw>
                </a:effectLst>
              </a:rPr>
              <a:t>    for(i=0;i&lt;n;i++)</a:t>
            </a:r>
          </a:p>
          <a:p>
            <a:r>
              <a:rPr lang="zh-CN" altLang="en-US" sz="2400" b="1" dirty="0">
                <a:effectLst>
                  <a:outerShdw blurRad="38100" dist="38100" dir="2700000" algn="tl">
                    <a:srgbClr val="000000">
                      <a:alpha val="43137"/>
                    </a:srgbClr>
                  </a:outerShdw>
                </a:effectLst>
              </a:rPr>
              <a:t>        printf("%d ",a[i]);</a:t>
            </a:r>
          </a:p>
          <a:p>
            <a:r>
              <a:rPr lang="zh-CN" altLang="en-US" sz="2400" b="1" dirty="0">
                <a:effectLst>
                  <a:outerShdw blurRad="38100" dist="38100" dir="2700000" algn="tl">
                    <a:srgbClr val="000000">
                      <a:alpha val="43137"/>
                    </a:srgbClr>
                  </a:outerShdw>
                </a:effectLst>
              </a:rPr>
              <a:t>}</a:t>
            </a:r>
          </a:p>
        </p:txBody>
      </p:sp>
      <p:sp>
        <p:nvSpPr>
          <p:cNvPr id="3" name="矩形 2"/>
          <p:cNvSpPr/>
          <p:nvPr/>
        </p:nvSpPr>
        <p:spPr>
          <a:xfrm>
            <a:off x="251520" y="2124993"/>
            <a:ext cx="3672408" cy="4524315"/>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en-US" altLang="zh-CN" sz="2400" b="1" dirty="0">
                <a:effectLst>
                  <a:outerShdw blurRad="38100" dist="38100" dir="2700000" algn="tl">
                    <a:srgbClr val="000000">
                      <a:alpha val="43137"/>
                    </a:srgbClr>
                  </a:outerShdw>
                </a:effectLst>
              </a:rPr>
              <a:t>#define N 5</a:t>
            </a:r>
          </a:p>
          <a:p>
            <a:r>
              <a:rPr lang="zh-CN" altLang="en-US" sz="2400" b="1" dirty="0" smtClean="0">
                <a:effectLst>
                  <a:outerShdw blurRad="38100" dist="38100" dir="2700000" algn="tl">
                    <a:srgbClr val="000000">
                      <a:alpha val="43137"/>
                    </a:srgbClr>
                  </a:outerShdw>
                </a:effectLst>
              </a:rPr>
              <a:t>void </a:t>
            </a:r>
            <a:r>
              <a:rPr lang="zh-CN" altLang="en-US" sz="2400" b="1" dirty="0">
                <a:effectLst>
                  <a:outerShdw blurRad="38100" dist="38100" dir="2700000" algn="tl">
                    <a:srgbClr val="000000">
                      <a:alpha val="43137"/>
                    </a:srgbClr>
                  </a:outerShdw>
                </a:effectLst>
              </a:rPr>
              <a:t>sca(int a[],int n);</a:t>
            </a:r>
          </a:p>
          <a:p>
            <a:r>
              <a:rPr lang="zh-CN" altLang="en-US" sz="2400" b="1" dirty="0">
                <a:effectLst>
                  <a:outerShdw blurRad="38100" dist="38100" dir="2700000" algn="tl">
                    <a:srgbClr val="000000">
                      <a:alpha val="43137"/>
                    </a:srgbClr>
                  </a:outerShdw>
                </a:effectLst>
              </a:rPr>
              <a:t>void sort(int a[],int n);</a:t>
            </a:r>
          </a:p>
          <a:p>
            <a:r>
              <a:rPr lang="zh-CN" altLang="en-US" sz="2400" b="1" dirty="0">
                <a:effectLst>
                  <a:outerShdw blurRad="38100" dist="38100" dir="2700000" algn="tl">
                    <a:srgbClr val="000000">
                      <a:alpha val="43137"/>
                    </a:srgbClr>
                  </a:outerShdw>
                </a:effectLst>
              </a:rPr>
              <a:t>void prt(int a[],int n);</a:t>
            </a:r>
          </a:p>
          <a:p>
            <a:r>
              <a:rPr lang="zh-CN" altLang="en-US" sz="2400" b="1" dirty="0">
                <a:effectLst>
                  <a:outerShdw blurRad="38100" dist="38100" dir="2700000" algn="tl">
                    <a:srgbClr val="000000">
                      <a:alpha val="43137"/>
                    </a:srgbClr>
                  </a:outerShdw>
                </a:effectLst>
              </a:rPr>
              <a:t>int main( )</a:t>
            </a:r>
          </a:p>
          <a:p>
            <a:r>
              <a:rPr lang="zh-CN" altLang="en-US" sz="2400" b="1" dirty="0">
                <a:effectLst>
                  <a:outerShdw blurRad="38100" dist="38100" dir="2700000" algn="tl">
                    <a:srgbClr val="000000">
                      <a:alpha val="43137"/>
                    </a:srgbClr>
                  </a:outerShdw>
                </a:effectLst>
              </a:rPr>
              <a:t>{   int array</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N</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sca(array</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N</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sort(array</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N</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prt(array</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N</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return 0;</a:t>
            </a:r>
          </a:p>
          <a:p>
            <a:r>
              <a:rPr lang="zh-CN" altLang="en-US" sz="2400" b="1" dirty="0" smtClean="0">
                <a:effectLst>
                  <a:outerShdw blurRad="38100" dist="38100" dir="2700000" algn="tl">
                    <a:srgbClr val="000000">
                      <a:alpha val="43137"/>
                    </a:srgbClr>
                  </a:outerShdw>
                </a:effectLst>
              </a:rPr>
              <a:t>}</a:t>
            </a:r>
            <a:endParaRPr lang="zh-CN" altLang="en-US" sz="2400" b="1" dirty="0">
              <a:effectLst>
                <a:outerShdw blurRad="38100" dist="38100" dir="2700000" algn="tl">
                  <a:srgbClr val="000000">
                    <a:alpha val="43137"/>
                  </a:srgbClr>
                </a:outerShdw>
              </a:effectLst>
            </a:endParaRPr>
          </a:p>
        </p:txBody>
      </p:sp>
      <p:sp>
        <p:nvSpPr>
          <p:cNvPr id="5" name="标题 6"/>
          <p:cNvSpPr>
            <a:spLocks noGrp="1"/>
          </p:cNvSpPr>
          <p:nvPr>
            <p:ph type="title"/>
          </p:nvPr>
        </p:nvSpPr>
        <p:spPr>
          <a:xfrm>
            <a:off x="251520" y="188640"/>
            <a:ext cx="3528392" cy="1622256"/>
          </a:xfrm>
        </p:spPr>
        <p:txBody>
          <a:bodyPr/>
          <a:lstStyle/>
          <a:p>
            <a:r>
              <a:rPr lang="zh-CN" altLang="en-US" sz="2800" dirty="0" smtClean="0"/>
              <a:t>例</a:t>
            </a:r>
            <a:r>
              <a:rPr lang="en-US" altLang="zh-CN" sz="2800" dirty="0" smtClean="0"/>
              <a:t>6-10</a:t>
            </a:r>
            <a:r>
              <a:rPr lang="zh-CN" altLang="en-US" sz="2800" dirty="0" smtClean="0"/>
              <a:t>：通过函数调用完成数组的输入、排序和输出</a:t>
            </a:r>
            <a:endParaRPr lang="zh-CN" altLang="en-US" sz="2800" dirty="0"/>
          </a:p>
        </p:txBody>
      </p:sp>
    </p:spTree>
    <p:extLst>
      <p:ext uri="{BB962C8B-B14F-4D97-AF65-F5344CB8AC3E}">
        <p14:creationId xmlns:p14="http://schemas.microsoft.com/office/powerpoint/2010/main" val="2129122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例：将</a:t>
            </a:r>
            <a:r>
              <a:rPr lang="zh-CN" altLang="en-US" dirty="0"/>
              <a:t>数组元素逆序</a:t>
            </a:r>
            <a:r>
              <a:rPr lang="zh-CN" altLang="en-US" dirty="0" smtClean="0"/>
              <a:t>存放</a:t>
            </a:r>
            <a:endParaRPr lang="zh-CN" altLang="en-US" dirty="0"/>
          </a:p>
        </p:txBody>
      </p:sp>
      <p:sp>
        <p:nvSpPr>
          <p:cNvPr id="8" name="内容占位符 7"/>
          <p:cNvSpPr>
            <a:spLocks noGrp="1"/>
          </p:cNvSpPr>
          <p:nvPr>
            <p:ph idx="1"/>
          </p:nvPr>
        </p:nvSpPr>
        <p:spPr>
          <a:xfrm>
            <a:off x="755650" y="1700213"/>
            <a:ext cx="7993063" cy="2952923"/>
          </a:xfrm>
        </p:spPr>
        <p:txBody>
          <a:bodyPr/>
          <a:lstStyle/>
          <a:p>
            <a:r>
              <a:rPr lang="en-US" altLang="zh-CN" dirty="0">
                <a:solidFill>
                  <a:schemeClr val="tx1"/>
                </a:solidFill>
              </a:rPr>
              <a:t>P142</a:t>
            </a:r>
            <a:r>
              <a:rPr lang="zh-CN" altLang="en-US" dirty="0">
                <a:solidFill>
                  <a:schemeClr val="tx1"/>
                </a:solidFill>
              </a:rPr>
              <a:t>例</a:t>
            </a:r>
            <a:r>
              <a:rPr lang="en-US" altLang="zh-CN" dirty="0" smtClean="0">
                <a:solidFill>
                  <a:schemeClr val="tx1"/>
                </a:solidFill>
              </a:rPr>
              <a:t>6-7</a:t>
            </a:r>
            <a:endParaRPr lang="en-US" altLang="zh-CN" dirty="0" smtClean="0"/>
          </a:p>
          <a:p>
            <a:r>
              <a:rPr lang="zh-CN" altLang="en-US" dirty="0" smtClean="0"/>
              <a:t>已知一个整型数组</a:t>
            </a:r>
            <a:r>
              <a:rPr lang="zh-CN" altLang="en-US" dirty="0"/>
              <a:t>不超过</a:t>
            </a:r>
            <a:r>
              <a:rPr lang="en-US" altLang="zh-CN" dirty="0" smtClean="0"/>
              <a:t>10</a:t>
            </a:r>
            <a:r>
              <a:rPr lang="zh-CN" altLang="en-US" dirty="0" smtClean="0"/>
              <a:t>个元素，要求将其逆序存放并输出。</a:t>
            </a:r>
            <a:endParaRPr lang="en-US" altLang="zh-CN" dirty="0" smtClean="0"/>
          </a:p>
          <a:p>
            <a:r>
              <a:rPr lang="zh-CN" altLang="en-US" dirty="0" smtClean="0"/>
              <a:t>要求定义一个函数，</a:t>
            </a:r>
            <a:r>
              <a:rPr lang="en-US" altLang="zh-CN" dirty="0"/>
              <a:t>void reverse(int p[ ], int n</a:t>
            </a:r>
            <a:r>
              <a:rPr lang="en-US" altLang="zh-CN" dirty="0" smtClean="0"/>
              <a:t>)</a:t>
            </a:r>
            <a:r>
              <a:rPr lang="zh-CN" altLang="en-US" dirty="0" smtClean="0"/>
              <a:t>实现逆序</a:t>
            </a:r>
            <a:endParaRPr lang="en-US" altLang="zh-CN" dirty="0"/>
          </a:p>
        </p:txBody>
      </p:sp>
      <p:sp>
        <p:nvSpPr>
          <p:cNvPr id="6" name="灯片编号占位符 5"/>
          <p:cNvSpPr>
            <a:spLocks noGrp="1"/>
          </p:cNvSpPr>
          <p:nvPr>
            <p:ph type="sldNum" sz="quarter" idx="4294967295"/>
          </p:nvPr>
        </p:nvSpPr>
        <p:spPr>
          <a:xfrm>
            <a:off x="84138" y="6308725"/>
            <a:ext cx="587375" cy="422275"/>
          </a:xfrm>
        </p:spPr>
        <p:txBody>
          <a:bodyPr/>
          <a:lstStyle/>
          <a:p>
            <a:pPr lvl="0" algn="r" eaLnBrk="1" hangingPunct="1"/>
            <a:fld id="{9A0DB2DC-4C9A-4742-B13C-FB6460FD3503}" type="slidenum">
              <a:rPr lang="zh-CN" altLang="en-US" sz="1200" smtClean="0">
                <a:latin typeface="Arial Black" panose="020B0A04020102020204" pitchFamily="34" charset="0"/>
              </a:rPr>
              <a:t>55</a:t>
            </a:fld>
            <a:endParaRPr lang="zh-CN" altLang="en-US" sz="1200" dirty="0">
              <a:latin typeface="Arial Black" panose="020B0A04020102020204" pitchFamily="34" charset="0"/>
            </a:endParaRPr>
          </a:p>
        </p:txBody>
      </p:sp>
    </p:spTree>
    <p:extLst>
      <p:ext uri="{BB962C8B-B14F-4D97-AF65-F5344CB8AC3E}">
        <p14:creationId xmlns:p14="http://schemas.microsoft.com/office/powerpoint/2010/main" val="156817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260648"/>
            <a:ext cx="4176464" cy="5976664"/>
          </a:xfrm>
        </p:spPr>
        <p:txBody>
          <a:bodyPr/>
          <a:lstStyle/>
          <a:p>
            <a:pPr marL="0" indent="0">
              <a:buNone/>
            </a:pPr>
            <a:r>
              <a:rPr lang="en-US" altLang="zh-CN" sz="2000" dirty="0"/>
              <a:t>#include &lt;stdio.h&gt;</a:t>
            </a:r>
          </a:p>
          <a:p>
            <a:pPr marL="0" indent="0">
              <a:buNone/>
            </a:pPr>
            <a:r>
              <a:rPr lang="en-US" altLang="zh-CN" sz="2000" dirty="0"/>
              <a:t>void reverse(</a:t>
            </a:r>
            <a:r>
              <a:rPr lang="en-US" altLang="zh-CN" sz="2000" dirty="0" err="1"/>
              <a:t>int</a:t>
            </a:r>
            <a:r>
              <a:rPr lang="en-US" altLang="zh-CN" sz="2000" dirty="0"/>
              <a:t> p[ ], </a:t>
            </a:r>
            <a:r>
              <a:rPr lang="en-US" altLang="zh-CN" sz="2000" dirty="0" err="1"/>
              <a:t>int</a:t>
            </a:r>
            <a:r>
              <a:rPr lang="en-US" altLang="zh-CN" sz="2000" dirty="0"/>
              <a:t> n);</a:t>
            </a:r>
          </a:p>
          <a:p>
            <a:pPr marL="0" indent="0">
              <a:buNone/>
            </a:pPr>
            <a:r>
              <a:rPr lang="en-US" altLang="zh-CN" sz="2000" dirty="0" err="1" smtClean="0"/>
              <a:t>int</a:t>
            </a:r>
            <a:r>
              <a:rPr lang="en-US" altLang="zh-CN" sz="2000" dirty="0" smtClean="0"/>
              <a:t> main()</a:t>
            </a:r>
            <a:endParaRPr lang="en-US" altLang="zh-CN" sz="2000" dirty="0"/>
          </a:p>
          <a:p>
            <a:pPr marL="0" indent="0">
              <a:buNone/>
            </a:pPr>
            <a:r>
              <a:rPr lang="en-US" altLang="zh-CN" sz="2000" dirty="0" smtClean="0"/>
              <a:t>{  </a:t>
            </a:r>
            <a:r>
              <a:rPr lang="en-US" altLang="zh-CN" sz="2000" dirty="0"/>
              <a:t>int i, a[10],n;</a:t>
            </a:r>
          </a:p>
          <a:p>
            <a:pPr marL="0" indent="0">
              <a:buNone/>
            </a:pPr>
            <a:r>
              <a:rPr lang="en-US" altLang="zh-CN" sz="2000" dirty="0" smtClean="0"/>
              <a:t>   </a:t>
            </a:r>
            <a:r>
              <a:rPr lang="en-US" altLang="zh-CN" sz="2000" dirty="0" err="1" smtClean="0"/>
              <a:t>printf</a:t>
            </a:r>
            <a:r>
              <a:rPr lang="en-US" altLang="zh-CN" sz="2000" dirty="0"/>
              <a:t>("Enter n: ");</a:t>
            </a:r>
          </a:p>
          <a:p>
            <a:pPr marL="0" indent="0">
              <a:buNone/>
            </a:pPr>
            <a:r>
              <a:rPr lang="en-US" altLang="zh-CN" sz="2000" dirty="0"/>
              <a:t>   scanf("%d", &amp;n);</a:t>
            </a:r>
          </a:p>
          <a:p>
            <a:pPr marL="0" indent="0">
              <a:buNone/>
            </a:pPr>
            <a:r>
              <a:rPr lang="en-US" altLang="zh-CN" sz="2000" dirty="0"/>
              <a:t>   printf("Enter %d integers: ", n);</a:t>
            </a:r>
          </a:p>
          <a:p>
            <a:pPr marL="0" indent="0">
              <a:buNone/>
            </a:pPr>
            <a:r>
              <a:rPr lang="en-US" altLang="zh-CN" sz="2000" dirty="0"/>
              <a:t>   for(i = 0; i &lt; n; i++) </a:t>
            </a:r>
          </a:p>
          <a:p>
            <a:pPr marL="0" indent="0">
              <a:buNone/>
            </a:pPr>
            <a:r>
              <a:rPr lang="en-US" altLang="zh-CN" sz="2000" dirty="0"/>
              <a:t>      scanf("%d", &amp;a[i]);</a:t>
            </a:r>
          </a:p>
          <a:p>
            <a:pPr marL="0" indent="0">
              <a:buNone/>
            </a:pPr>
            <a:r>
              <a:rPr lang="en-US" altLang="zh-CN" sz="2000" dirty="0"/>
              <a:t>   reverse(a, n);         </a:t>
            </a:r>
          </a:p>
          <a:p>
            <a:pPr marL="0" indent="0">
              <a:buNone/>
            </a:pPr>
            <a:r>
              <a:rPr lang="en-US" altLang="zh-CN" sz="2000" dirty="0"/>
              <a:t>   for(i = 0; i &lt; n; i++) </a:t>
            </a:r>
          </a:p>
          <a:p>
            <a:pPr marL="0" indent="0">
              <a:buNone/>
            </a:pPr>
            <a:r>
              <a:rPr lang="en-US" altLang="zh-CN" sz="2000" dirty="0"/>
              <a:t>      printf("%</a:t>
            </a:r>
            <a:r>
              <a:rPr lang="en-US" altLang="zh-CN" sz="2000" dirty="0" smtClean="0"/>
              <a:t>d </a:t>
            </a:r>
            <a:r>
              <a:rPr lang="en-US" altLang="zh-CN" sz="2000" dirty="0"/>
              <a:t>"</a:t>
            </a:r>
            <a:r>
              <a:rPr lang="en-US" altLang="zh-CN" sz="2000" dirty="0" smtClean="0"/>
              <a:t>, </a:t>
            </a:r>
            <a:r>
              <a:rPr lang="en-US" altLang="zh-CN" sz="2000" dirty="0"/>
              <a:t>a[i]);</a:t>
            </a:r>
          </a:p>
          <a:p>
            <a:pPr marL="0" indent="0">
              <a:buNone/>
            </a:pPr>
            <a:r>
              <a:rPr lang="en-US" altLang="zh-CN" sz="2000" dirty="0"/>
              <a:t>	return 0;</a:t>
            </a:r>
          </a:p>
          <a:p>
            <a:pPr marL="0" indent="0">
              <a:buNone/>
            </a:pPr>
            <a:r>
              <a:rPr lang="en-US" altLang="zh-CN" sz="2000" dirty="0"/>
              <a:t>}</a:t>
            </a:r>
          </a:p>
          <a:p>
            <a:pPr marL="0" indent="0">
              <a:buNone/>
            </a:pPr>
            <a:endParaRPr lang="zh-CN" altLang="en-US" sz="1200" dirty="0"/>
          </a:p>
        </p:txBody>
      </p:sp>
      <p:sp>
        <p:nvSpPr>
          <p:cNvPr id="6" name="TextBox 5"/>
          <p:cNvSpPr txBox="1"/>
          <p:nvPr/>
        </p:nvSpPr>
        <p:spPr>
          <a:xfrm>
            <a:off x="4644008" y="1340768"/>
            <a:ext cx="4392488" cy="3600986"/>
          </a:xfrm>
          <a:prstGeom prst="rect">
            <a:avLst/>
          </a:prstGeom>
          <a:noFill/>
        </p:spPr>
        <p:txBody>
          <a:bodyPr wrap="square" rtlCol="0">
            <a:spAutoFit/>
          </a:bodyPr>
          <a:lstStyle/>
          <a:p>
            <a:r>
              <a:rPr lang="en-US" altLang="zh-CN" sz="2400" b="1" dirty="0"/>
              <a:t>void reverse(int p[ ], int n)</a:t>
            </a:r>
          </a:p>
          <a:p>
            <a:r>
              <a:rPr lang="en-US" altLang="zh-CN" sz="2400" b="1" dirty="0"/>
              <a:t>{   int i, j, t;</a:t>
            </a:r>
          </a:p>
          <a:p>
            <a:r>
              <a:rPr lang="en-US" altLang="zh-CN" sz="2400" b="1" dirty="0"/>
              <a:t>    for(i=0, j=n-1; i&lt;j; i++, j-</a:t>
            </a:r>
            <a:r>
              <a:rPr lang="en-US" altLang="zh-CN" sz="2400" b="1" dirty="0" smtClean="0"/>
              <a:t>-)</a:t>
            </a:r>
          </a:p>
          <a:p>
            <a:r>
              <a:rPr lang="en-US" altLang="zh-CN" sz="2400" b="1" dirty="0"/>
              <a:t> </a:t>
            </a:r>
            <a:r>
              <a:rPr lang="en-US" altLang="zh-CN" sz="2400" b="1" dirty="0" smtClean="0"/>
              <a:t>  {</a:t>
            </a:r>
            <a:endParaRPr lang="en-US" altLang="zh-CN" sz="2400" b="1" dirty="0"/>
          </a:p>
          <a:p>
            <a:r>
              <a:rPr lang="en-US" altLang="zh-CN" sz="2400" b="1" dirty="0"/>
              <a:t>       t = p[i</a:t>
            </a:r>
            <a:r>
              <a:rPr lang="en-US" altLang="zh-CN" sz="2400" b="1" dirty="0" smtClean="0"/>
              <a:t>];</a:t>
            </a:r>
          </a:p>
          <a:p>
            <a:r>
              <a:rPr lang="en-US" altLang="zh-CN" sz="2400" b="1" dirty="0"/>
              <a:t> </a:t>
            </a:r>
            <a:r>
              <a:rPr lang="en-US" altLang="zh-CN" sz="2400" b="1" dirty="0" smtClean="0"/>
              <a:t>      </a:t>
            </a:r>
            <a:r>
              <a:rPr lang="en-US" altLang="zh-CN" sz="2400" b="1" dirty="0"/>
              <a:t>p[i] = p[j]; </a:t>
            </a:r>
            <a:endParaRPr lang="en-US" altLang="zh-CN" sz="2400" b="1" dirty="0" smtClean="0"/>
          </a:p>
          <a:p>
            <a:r>
              <a:rPr lang="en-US" altLang="zh-CN" sz="2400" b="1" dirty="0"/>
              <a:t> </a:t>
            </a:r>
            <a:r>
              <a:rPr lang="en-US" altLang="zh-CN" sz="2400" b="1" dirty="0" smtClean="0"/>
              <a:t>      p[j</a:t>
            </a:r>
            <a:r>
              <a:rPr lang="en-US" altLang="zh-CN" sz="2400" b="1" dirty="0"/>
              <a:t>] = t;</a:t>
            </a:r>
          </a:p>
          <a:p>
            <a:r>
              <a:rPr lang="en-US" altLang="zh-CN" sz="2400" b="1" dirty="0"/>
              <a:t>    }</a:t>
            </a:r>
          </a:p>
          <a:p>
            <a:r>
              <a:rPr lang="en-US" altLang="zh-CN" sz="2400" b="1" dirty="0"/>
              <a:t>}</a:t>
            </a:r>
          </a:p>
          <a:p>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3820768041"/>
              </p:ext>
            </p:extLst>
          </p:nvPr>
        </p:nvGraphicFramePr>
        <p:xfrm>
          <a:off x="4816949" y="5512534"/>
          <a:ext cx="36576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gridCol w="609600">
                  <a:extLst>
                    <a:ext uri="{9D8B030D-6E8A-4147-A177-3AD203B41FA5}">
                      <a16:colId xmlns:a16="http://schemas.microsoft.com/office/drawing/2014/main" val="1426215473"/>
                    </a:ext>
                  </a:extLst>
                </a:gridCol>
              </a:tblGrid>
              <a:tr h="370840">
                <a:tc>
                  <a:txBody>
                    <a:bodyPr/>
                    <a:lstStyle/>
                    <a:p>
                      <a:pPr algn="ctr"/>
                      <a:r>
                        <a:rPr lang="en-US" altLang="zh-CN" dirty="0" smtClean="0"/>
                        <a:t>a[0]</a:t>
                      </a:r>
                      <a:endParaRPr lang="zh-CN" altLang="en-US" dirty="0"/>
                    </a:p>
                  </a:txBody>
                  <a:tcPr/>
                </a:tc>
                <a:tc>
                  <a:txBody>
                    <a:bodyPr/>
                    <a:lstStyle/>
                    <a:p>
                      <a:pPr algn="ctr"/>
                      <a:r>
                        <a:rPr lang="en-US" altLang="zh-CN" dirty="0" smtClean="0"/>
                        <a:t>a[1]</a:t>
                      </a:r>
                      <a:endParaRPr lang="zh-CN" altLang="en-US" dirty="0"/>
                    </a:p>
                  </a:txBody>
                  <a:tcPr/>
                </a:tc>
                <a:tc>
                  <a:txBody>
                    <a:bodyPr/>
                    <a:lstStyle/>
                    <a:p>
                      <a:pPr algn="ctr"/>
                      <a:r>
                        <a:rPr lang="en-US" altLang="zh-CN" dirty="0" smtClean="0"/>
                        <a:t>a[2]</a:t>
                      </a:r>
                      <a:endParaRPr lang="zh-CN" altLang="en-US" dirty="0"/>
                    </a:p>
                  </a:txBody>
                  <a:tcPr/>
                </a:tc>
                <a:tc>
                  <a:txBody>
                    <a:bodyPr/>
                    <a:lstStyle/>
                    <a:p>
                      <a:pPr algn="ctr"/>
                      <a:r>
                        <a:rPr lang="en-US" altLang="zh-CN" dirty="0" smtClean="0"/>
                        <a:t>a[3]</a:t>
                      </a:r>
                      <a:endParaRPr lang="zh-CN" altLang="en-US" dirty="0"/>
                    </a:p>
                  </a:txBody>
                  <a:tcPr/>
                </a:tc>
                <a:tc>
                  <a:txBody>
                    <a:bodyPr/>
                    <a:lstStyle/>
                    <a:p>
                      <a:pPr algn="ctr"/>
                      <a:r>
                        <a:rPr lang="en-US" altLang="zh-CN" dirty="0" smtClean="0"/>
                        <a:t>a[4]</a:t>
                      </a:r>
                      <a:endParaRPr lang="zh-CN" altLang="en-US" dirty="0"/>
                    </a:p>
                  </a:txBody>
                  <a:tcPr/>
                </a:tc>
                <a:tc>
                  <a:txBody>
                    <a:bodyPr/>
                    <a:lstStyle/>
                    <a:p>
                      <a:pPr algn="ctr"/>
                      <a:r>
                        <a:rPr lang="en-US" altLang="zh-CN" dirty="0" smtClean="0"/>
                        <a:t>a[5]</a:t>
                      </a:r>
                      <a:endParaRPr lang="zh-CN" altLang="en-US" dirty="0"/>
                    </a:p>
                  </a:txBody>
                  <a:tcPr/>
                </a:tc>
                <a:extLst>
                  <a:ext uri="{0D108BD9-81ED-4DB2-BD59-A6C34878D82A}">
                    <a16:rowId xmlns:a16="http://schemas.microsoft.com/office/drawing/2014/main" val="1534354532"/>
                  </a:ext>
                </a:extLst>
              </a:tr>
            </a:tbl>
          </a:graphicData>
        </a:graphic>
      </p:graphicFrame>
      <p:grpSp>
        <p:nvGrpSpPr>
          <p:cNvPr id="7" name="组合 6"/>
          <p:cNvGrpSpPr/>
          <p:nvPr/>
        </p:nvGrpSpPr>
        <p:grpSpPr>
          <a:xfrm>
            <a:off x="4932040" y="4941754"/>
            <a:ext cx="396378" cy="570780"/>
            <a:chOff x="4625754" y="1202036"/>
            <a:chExt cx="396378" cy="570780"/>
          </a:xfrm>
        </p:grpSpPr>
        <p:sp>
          <p:nvSpPr>
            <p:cNvPr id="9" name="Rectangle 2061"/>
            <p:cNvSpPr>
              <a:spLocks noChangeArrowheads="1"/>
            </p:cNvSpPr>
            <p:nvPr/>
          </p:nvSpPr>
          <p:spPr bwMode="auto">
            <a:xfrm>
              <a:off x="4625754" y="1202036"/>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err="1" smtClean="0"/>
                <a:t>i</a:t>
              </a:r>
              <a:endParaRPr lang="en-US" altLang="zh-CN" sz="1800" b="1" dirty="0"/>
            </a:p>
          </p:txBody>
        </p:sp>
        <p:cxnSp>
          <p:nvCxnSpPr>
            <p:cNvPr id="10" name="直接箭头连接符 9"/>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grpSp>
        <p:nvGrpSpPr>
          <p:cNvPr id="11" name="组合 10"/>
          <p:cNvGrpSpPr/>
          <p:nvPr/>
        </p:nvGrpSpPr>
        <p:grpSpPr>
          <a:xfrm>
            <a:off x="7956376" y="4869160"/>
            <a:ext cx="396378" cy="646924"/>
            <a:chOff x="4625754" y="1125892"/>
            <a:chExt cx="396378" cy="646924"/>
          </a:xfrm>
        </p:grpSpPr>
        <p:sp>
          <p:nvSpPr>
            <p:cNvPr id="12" name="Rectangle 2061"/>
            <p:cNvSpPr>
              <a:spLocks noChangeArrowheads="1"/>
            </p:cNvSpPr>
            <p:nvPr/>
          </p:nvSpPr>
          <p:spPr bwMode="auto">
            <a:xfrm>
              <a:off x="4625754" y="1125892"/>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smtClean="0"/>
                <a:t>j</a:t>
              </a:r>
              <a:endParaRPr lang="en-US" altLang="zh-CN" sz="1800" b="1" dirty="0"/>
            </a:p>
          </p:txBody>
        </p:sp>
        <p:cxnSp>
          <p:nvCxnSpPr>
            <p:cNvPr id="13" name="直接箭头连接符 12"/>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cxnSp>
        <p:nvCxnSpPr>
          <p:cNvPr id="14" name="直接箭头连接符 13"/>
          <p:cNvCxnSpPr/>
          <p:nvPr/>
        </p:nvCxnSpPr>
        <p:spPr bwMode="auto">
          <a:xfrm flipV="1">
            <a:off x="5076056" y="5877272"/>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15" name="Rectangle 2061"/>
          <p:cNvSpPr>
            <a:spLocks noChangeArrowheads="1"/>
          </p:cNvSpPr>
          <p:nvPr/>
        </p:nvSpPr>
        <p:spPr bwMode="auto">
          <a:xfrm>
            <a:off x="4932040" y="6084822"/>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smtClean="0"/>
              <a:t>p</a:t>
            </a:r>
            <a:endParaRPr lang="en-US" altLang="zh-CN" sz="1800" b="1" dirty="0"/>
          </a:p>
        </p:txBody>
      </p:sp>
    </p:spTree>
    <p:extLst>
      <p:ext uri="{BB962C8B-B14F-4D97-AF65-F5344CB8AC3E}">
        <p14:creationId xmlns:p14="http://schemas.microsoft.com/office/powerpoint/2010/main" val="1166339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260648"/>
            <a:ext cx="4176464" cy="5976664"/>
          </a:xfrm>
        </p:spPr>
        <p:txBody>
          <a:bodyPr/>
          <a:lstStyle/>
          <a:p>
            <a:pPr marL="0" indent="0">
              <a:buNone/>
            </a:pPr>
            <a:r>
              <a:rPr lang="en-US" altLang="zh-CN" sz="2000" dirty="0"/>
              <a:t>#include &lt;stdio.h&gt;</a:t>
            </a:r>
          </a:p>
          <a:p>
            <a:pPr marL="0" indent="0">
              <a:buNone/>
            </a:pPr>
            <a:r>
              <a:rPr lang="en-US" altLang="zh-CN" sz="2000" dirty="0"/>
              <a:t>void reverse(</a:t>
            </a:r>
            <a:r>
              <a:rPr lang="en-US" altLang="zh-CN" sz="2000" dirty="0" err="1"/>
              <a:t>int</a:t>
            </a:r>
            <a:r>
              <a:rPr lang="en-US" altLang="zh-CN" sz="2000" dirty="0"/>
              <a:t> *p, </a:t>
            </a:r>
            <a:r>
              <a:rPr lang="en-US" altLang="zh-CN" sz="2000" dirty="0" err="1"/>
              <a:t>int</a:t>
            </a:r>
            <a:r>
              <a:rPr lang="en-US" altLang="zh-CN" sz="2000" dirty="0"/>
              <a:t> n</a:t>
            </a:r>
            <a:r>
              <a:rPr lang="en-US" altLang="zh-CN" sz="2000" dirty="0" smtClean="0"/>
              <a:t>)</a:t>
            </a:r>
            <a:r>
              <a:rPr lang="zh-CN" altLang="en-US" sz="2000" dirty="0"/>
              <a:t> </a:t>
            </a:r>
            <a:r>
              <a:rPr lang="en-US" altLang="zh-CN" sz="2000" dirty="0"/>
              <a:t>;</a:t>
            </a:r>
          </a:p>
          <a:p>
            <a:pPr marL="0" indent="0">
              <a:buNone/>
            </a:pPr>
            <a:r>
              <a:rPr lang="en-US" altLang="zh-CN" sz="2000" dirty="0" err="1" smtClean="0"/>
              <a:t>int</a:t>
            </a:r>
            <a:r>
              <a:rPr lang="en-US" altLang="zh-CN" sz="2000" dirty="0" smtClean="0"/>
              <a:t> main()</a:t>
            </a:r>
            <a:endParaRPr lang="en-US" altLang="zh-CN" sz="2000" dirty="0"/>
          </a:p>
          <a:p>
            <a:pPr marL="0" indent="0">
              <a:buNone/>
            </a:pPr>
            <a:r>
              <a:rPr lang="en-US" altLang="zh-CN" sz="2000" dirty="0" smtClean="0"/>
              <a:t>{  </a:t>
            </a:r>
            <a:r>
              <a:rPr lang="en-US" altLang="zh-CN" sz="2000" dirty="0"/>
              <a:t>int i, a[10],n;</a:t>
            </a:r>
          </a:p>
          <a:p>
            <a:pPr marL="0" indent="0">
              <a:buNone/>
            </a:pPr>
            <a:r>
              <a:rPr lang="en-US" altLang="zh-CN" sz="2000" dirty="0" smtClean="0"/>
              <a:t>   </a:t>
            </a:r>
            <a:r>
              <a:rPr lang="en-US" altLang="zh-CN" sz="2000" dirty="0" err="1" smtClean="0"/>
              <a:t>printf</a:t>
            </a:r>
            <a:r>
              <a:rPr lang="en-US" altLang="zh-CN" sz="2000" dirty="0"/>
              <a:t>("Enter n: ");</a:t>
            </a:r>
          </a:p>
          <a:p>
            <a:pPr marL="0" indent="0">
              <a:buNone/>
            </a:pPr>
            <a:r>
              <a:rPr lang="en-US" altLang="zh-CN" sz="2000" dirty="0"/>
              <a:t>   scanf("%d", &amp;n);</a:t>
            </a:r>
          </a:p>
          <a:p>
            <a:pPr marL="0" indent="0">
              <a:buNone/>
            </a:pPr>
            <a:r>
              <a:rPr lang="en-US" altLang="zh-CN" sz="2000" dirty="0"/>
              <a:t>   printf("Enter %d integers: ", n);</a:t>
            </a:r>
          </a:p>
          <a:p>
            <a:pPr marL="0" indent="0">
              <a:buNone/>
            </a:pPr>
            <a:r>
              <a:rPr lang="en-US" altLang="zh-CN" sz="2000" dirty="0"/>
              <a:t>   for(i = 0; i &lt; n; i++) </a:t>
            </a:r>
          </a:p>
          <a:p>
            <a:pPr marL="0" indent="0">
              <a:buNone/>
            </a:pPr>
            <a:r>
              <a:rPr lang="en-US" altLang="zh-CN" sz="2000" dirty="0"/>
              <a:t>      scanf("%d", &amp;a[i]);</a:t>
            </a:r>
          </a:p>
          <a:p>
            <a:pPr marL="0" indent="0">
              <a:buNone/>
            </a:pPr>
            <a:r>
              <a:rPr lang="en-US" altLang="zh-CN" sz="2000" dirty="0"/>
              <a:t>   reverse(a, n);         </a:t>
            </a:r>
          </a:p>
          <a:p>
            <a:pPr marL="0" indent="0">
              <a:buNone/>
            </a:pPr>
            <a:r>
              <a:rPr lang="en-US" altLang="zh-CN" sz="2000" dirty="0"/>
              <a:t>   for(i = 0; i &lt; n; i++) </a:t>
            </a:r>
          </a:p>
          <a:p>
            <a:pPr marL="0" indent="0">
              <a:buNone/>
            </a:pPr>
            <a:r>
              <a:rPr lang="en-US" altLang="zh-CN" sz="2000" dirty="0"/>
              <a:t>      printf("%</a:t>
            </a:r>
            <a:r>
              <a:rPr lang="en-US" altLang="zh-CN" sz="2000" dirty="0" smtClean="0"/>
              <a:t>d</a:t>
            </a:r>
            <a:r>
              <a:rPr lang="en-US" altLang="zh-CN" sz="2000" dirty="0"/>
              <a:t> </a:t>
            </a:r>
            <a:r>
              <a:rPr lang="en-US" altLang="zh-CN" sz="2000" dirty="0" smtClean="0"/>
              <a:t>", </a:t>
            </a:r>
            <a:r>
              <a:rPr lang="en-US" altLang="zh-CN" sz="2000" dirty="0"/>
              <a:t>a[i]);</a:t>
            </a:r>
          </a:p>
          <a:p>
            <a:pPr marL="0" indent="0">
              <a:buNone/>
            </a:pPr>
            <a:r>
              <a:rPr lang="en-US" altLang="zh-CN" sz="2000" dirty="0"/>
              <a:t>	return 0;</a:t>
            </a:r>
          </a:p>
          <a:p>
            <a:pPr marL="0" indent="0">
              <a:buNone/>
            </a:pPr>
            <a:r>
              <a:rPr lang="en-US" altLang="zh-CN" sz="2000" dirty="0"/>
              <a:t>}</a:t>
            </a:r>
          </a:p>
          <a:p>
            <a:pPr marL="0" indent="0">
              <a:buNone/>
            </a:pPr>
            <a:endParaRPr lang="zh-CN" altLang="en-US" sz="1200" dirty="0"/>
          </a:p>
        </p:txBody>
      </p:sp>
      <p:sp>
        <p:nvSpPr>
          <p:cNvPr id="6" name="TextBox 5"/>
          <p:cNvSpPr txBox="1"/>
          <p:nvPr/>
        </p:nvSpPr>
        <p:spPr>
          <a:xfrm>
            <a:off x="4355976" y="1325166"/>
            <a:ext cx="4788024" cy="3600986"/>
          </a:xfrm>
          <a:prstGeom prst="rect">
            <a:avLst/>
          </a:prstGeom>
          <a:noFill/>
        </p:spPr>
        <p:txBody>
          <a:bodyPr wrap="square" rtlCol="0">
            <a:spAutoFit/>
          </a:bodyPr>
          <a:lstStyle/>
          <a:p>
            <a:r>
              <a:rPr lang="en-US" altLang="zh-CN" sz="2400" b="1" dirty="0"/>
              <a:t>void reverse(int *p, int n)</a:t>
            </a:r>
          </a:p>
          <a:p>
            <a:r>
              <a:rPr lang="en-US" altLang="zh-CN" sz="2400" b="1" dirty="0"/>
              <a:t>{    int *pj, t;</a:t>
            </a:r>
          </a:p>
          <a:p>
            <a:r>
              <a:rPr lang="en-US" altLang="zh-CN" sz="2400" b="1" dirty="0"/>
              <a:t>    for(pj=p+n-1; p&lt;pj; p++, pj-</a:t>
            </a:r>
            <a:r>
              <a:rPr lang="en-US" altLang="zh-CN" sz="2400" b="1" dirty="0" smtClean="0"/>
              <a:t>-)</a:t>
            </a:r>
          </a:p>
          <a:p>
            <a:r>
              <a:rPr lang="en-US" altLang="zh-CN" sz="2400" b="1" dirty="0"/>
              <a:t> </a:t>
            </a:r>
            <a:r>
              <a:rPr lang="en-US" altLang="zh-CN" sz="2400" b="1" dirty="0" smtClean="0"/>
              <a:t>   {</a:t>
            </a:r>
            <a:endParaRPr lang="en-US" altLang="zh-CN" sz="2400" b="1" dirty="0"/>
          </a:p>
          <a:p>
            <a:r>
              <a:rPr lang="en-US" altLang="zh-CN" sz="2400" b="1" dirty="0"/>
              <a:t>        t=*p; </a:t>
            </a:r>
            <a:endParaRPr lang="en-US" altLang="zh-CN" sz="2400" b="1" dirty="0" smtClean="0"/>
          </a:p>
          <a:p>
            <a:r>
              <a:rPr lang="en-US" altLang="zh-CN" sz="2400" b="1" dirty="0"/>
              <a:t> </a:t>
            </a:r>
            <a:r>
              <a:rPr lang="en-US" altLang="zh-CN" sz="2400" b="1" dirty="0" smtClean="0"/>
              <a:t>       *</a:t>
            </a:r>
            <a:r>
              <a:rPr lang="en-US" altLang="zh-CN" sz="2400" b="1" dirty="0"/>
              <a:t>p=*pj</a:t>
            </a:r>
            <a:r>
              <a:rPr lang="en-US" altLang="zh-CN" sz="2400" b="1" dirty="0" smtClean="0"/>
              <a:t>;</a:t>
            </a:r>
          </a:p>
          <a:p>
            <a:r>
              <a:rPr lang="en-US" altLang="zh-CN" sz="2400" b="1" dirty="0"/>
              <a:t> </a:t>
            </a:r>
            <a:r>
              <a:rPr lang="en-US" altLang="zh-CN" sz="2400" b="1" dirty="0" smtClean="0"/>
              <a:t>       </a:t>
            </a:r>
            <a:r>
              <a:rPr lang="en-US" altLang="zh-CN" sz="2400" b="1" dirty="0"/>
              <a:t>*pj=t;</a:t>
            </a:r>
          </a:p>
          <a:p>
            <a:r>
              <a:rPr lang="en-US" altLang="zh-CN" sz="2400" b="1" dirty="0"/>
              <a:t>    </a:t>
            </a:r>
            <a:r>
              <a:rPr lang="en-US" altLang="zh-CN" sz="2400" b="1" dirty="0" smtClean="0"/>
              <a:t> }</a:t>
            </a:r>
            <a:endParaRPr lang="en-US" altLang="zh-CN" sz="2400" b="1" dirty="0"/>
          </a:p>
          <a:p>
            <a:r>
              <a:rPr lang="en-US" altLang="zh-CN" sz="2400" b="1" dirty="0"/>
              <a:t>}</a:t>
            </a:r>
          </a:p>
          <a:p>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3801193716"/>
              </p:ext>
            </p:extLst>
          </p:nvPr>
        </p:nvGraphicFramePr>
        <p:xfrm>
          <a:off x="4816949" y="5512534"/>
          <a:ext cx="36576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gridCol w="609600">
                  <a:extLst>
                    <a:ext uri="{9D8B030D-6E8A-4147-A177-3AD203B41FA5}">
                      <a16:colId xmlns:a16="http://schemas.microsoft.com/office/drawing/2014/main" val="1426215473"/>
                    </a:ext>
                  </a:extLst>
                </a:gridCol>
              </a:tblGrid>
              <a:tr h="370840">
                <a:tc>
                  <a:txBody>
                    <a:bodyPr/>
                    <a:lstStyle/>
                    <a:p>
                      <a:pPr algn="ctr"/>
                      <a:r>
                        <a:rPr lang="en-US" altLang="zh-CN" dirty="0" smtClean="0"/>
                        <a:t>a[0]</a:t>
                      </a:r>
                      <a:endParaRPr lang="zh-CN" altLang="en-US" dirty="0"/>
                    </a:p>
                  </a:txBody>
                  <a:tcPr/>
                </a:tc>
                <a:tc>
                  <a:txBody>
                    <a:bodyPr/>
                    <a:lstStyle/>
                    <a:p>
                      <a:pPr algn="ctr"/>
                      <a:r>
                        <a:rPr lang="en-US" altLang="zh-CN" dirty="0" smtClean="0"/>
                        <a:t>a[1]</a:t>
                      </a:r>
                      <a:endParaRPr lang="zh-CN" altLang="en-US" dirty="0"/>
                    </a:p>
                  </a:txBody>
                  <a:tcPr/>
                </a:tc>
                <a:tc>
                  <a:txBody>
                    <a:bodyPr/>
                    <a:lstStyle/>
                    <a:p>
                      <a:pPr algn="ctr"/>
                      <a:r>
                        <a:rPr lang="en-US" altLang="zh-CN" dirty="0" smtClean="0"/>
                        <a:t>a[2]</a:t>
                      </a:r>
                      <a:endParaRPr lang="zh-CN" altLang="en-US" dirty="0"/>
                    </a:p>
                  </a:txBody>
                  <a:tcPr/>
                </a:tc>
                <a:tc>
                  <a:txBody>
                    <a:bodyPr/>
                    <a:lstStyle/>
                    <a:p>
                      <a:pPr algn="ctr"/>
                      <a:r>
                        <a:rPr lang="en-US" altLang="zh-CN" dirty="0" smtClean="0"/>
                        <a:t>a[3]</a:t>
                      </a:r>
                      <a:endParaRPr lang="zh-CN" altLang="en-US" dirty="0"/>
                    </a:p>
                  </a:txBody>
                  <a:tcPr/>
                </a:tc>
                <a:tc>
                  <a:txBody>
                    <a:bodyPr/>
                    <a:lstStyle/>
                    <a:p>
                      <a:pPr algn="ctr"/>
                      <a:r>
                        <a:rPr lang="en-US" altLang="zh-CN" dirty="0" smtClean="0"/>
                        <a:t>a[4]</a:t>
                      </a:r>
                      <a:endParaRPr lang="zh-CN" altLang="en-US" dirty="0"/>
                    </a:p>
                  </a:txBody>
                  <a:tcPr/>
                </a:tc>
                <a:tc>
                  <a:txBody>
                    <a:bodyPr/>
                    <a:lstStyle/>
                    <a:p>
                      <a:pPr algn="ctr"/>
                      <a:r>
                        <a:rPr lang="en-US" altLang="zh-CN" dirty="0" smtClean="0"/>
                        <a:t>a[5]</a:t>
                      </a:r>
                      <a:endParaRPr lang="zh-CN" altLang="en-US" dirty="0"/>
                    </a:p>
                  </a:txBody>
                  <a:tcPr/>
                </a:tc>
                <a:extLst>
                  <a:ext uri="{0D108BD9-81ED-4DB2-BD59-A6C34878D82A}">
                    <a16:rowId xmlns:a16="http://schemas.microsoft.com/office/drawing/2014/main" val="1534354532"/>
                  </a:ext>
                </a:extLst>
              </a:tr>
            </a:tbl>
          </a:graphicData>
        </a:graphic>
      </p:graphicFrame>
      <p:grpSp>
        <p:nvGrpSpPr>
          <p:cNvPr id="5" name="组合 4"/>
          <p:cNvGrpSpPr/>
          <p:nvPr/>
        </p:nvGrpSpPr>
        <p:grpSpPr>
          <a:xfrm>
            <a:off x="4852957" y="5250515"/>
            <a:ext cx="475461" cy="1404978"/>
            <a:chOff x="4546671" y="1510797"/>
            <a:chExt cx="475461" cy="1404978"/>
          </a:xfrm>
        </p:grpSpPr>
        <p:grpSp>
          <p:nvGrpSpPr>
            <p:cNvPr id="7" name="组合 6"/>
            <p:cNvGrpSpPr/>
            <p:nvPr/>
          </p:nvGrpSpPr>
          <p:grpSpPr>
            <a:xfrm>
              <a:off x="4625754" y="1510797"/>
              <a:ext cx="396378" cy="1130813"/>
              <a:chOff x="4625754" y="1510797"/>
              <a:chExt cx="396378" cy="1130813"/>
            </a:xfrm>
          </p:grpSpPr>
          <p:sp>
            <p:nvSpPr>
              <p:cNvPr id="9" name="Rectangle 2061"/>
              <p:cNvSpPr>
                <a:spLocks noChangeArrowheads="1"/>
              </p:cNvSpPr>
              <p:nvPr/>
            </p:nvSpPr>
            <p:spPr bwMode="auto">
              <a:xfrm>
                <a:off x="4625754" y="2272278"/>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a:t>p</a:t>
                </a:r>
              </a:p>
            </p:txBody>
          </p:sp>
          <p:cxnSp>
            <p:nvCxnSpPr>
              <p:cNvPr id="10" name="直接箭头连接符 9"/>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sp>
          <p:nvSpPr>
            <p:cNvPr id="8" name="Rectangle 2063"/>
            <p:cNvSpPr>
              <a:spLocks noChangeArrowheads="1"/>
            </p:cNvSpPr>
            <p:nvPr/>
          </p:nvSpPr>
          <p:spPr bwMode="auto">
            <a:xfrm>
              <a:off x="4546671" y="2544300"/>
              <a:ext cx="413204" cy="371475"/>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a:t>*</a:t>
              </a:r>
              <a:r>
                <a:rPr lang="en-US" altLang="zh-CN" sz="1800" b="1" dirty="0"/>
                <a:t>p</a:t>
              </a:r>
            </a:p>
          </p:txBody>
        </p:sp>
      </p:grpSp>
      <p:graphicFrame>
        <p:nvGraphicFramePr>
          <p:cNvPr id="11" name="表格 10"/>
          <p:cNvGraphicFramePr>
            <a:graphicFrameLocks noGrp="1"/>
          </p:cNvGraphicFramePr>
          <p:nvPr>
            <p:extLst>
              <p:ext uri="{D42A27DB-BD31-4B8C-83A1-F6EECF244321}">
                <p14:modId xmlns:p14="http://schemas.microsoft.com/office/powerpoint/2010/main" val="820263429"/>
              </p:ext>
            </p:extLst>
          </p:nvPr>
        </p:nvGraphicFramePr>
        <p:xfrm>
          <a:off x="4816949" y="5512534"/>
          <a:ext cx="36576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91495778"/>
                    </a:ext>
                  </a:extLst>
                </a:gridCol>
                <a:gridCol w="609600">
                  <a:extLst>
                    <a:ext uri="{9D8B030D-6E8A-4147-A177-3AD203B41FA5}">
                      <a16:colId xmlns:a16="http://schemas.microsoft.com/office/drawing/2014/main" val="3806676138"/>
                    </a:ext>
                  </a:extLst>
                </a:gridCol>
                <a:gridCol w="609600">
                  <a:extLst>
                    <a:ext uri="{9D8B030D-6E8A-4147-A177-3AD203B41FA5}">
                      <a16:colId xmlns:a16="http://schemas.microsoft.com/office/drawing/2014/main" val="3630192659"/>
                    </a:ext>
                  </a:extLst>
                </a:gridCol>
                <a:gridCol w="609600">
                  <a:extLst>
                    <a:ext uri="{9D8B030D-6E8A-4147-A177-3AD203B41FA5}">
                      <a16:colId xmlns:a16="http://schemas.microsoft.com/office/drawing/2014/main" val="308032044"/>
                    </a:ext>
                  </a:extLst>
                </a:gridCol>
                <a:gridCol w="609600">
                  <a:extLst>
                    <a:ext uri="{9D8B030D-6E8A-4147-A177-3AD203B41FA5}">
                      <a16:colId xmlns:a16="http://schemas.microsoft.com/office/drawing/2014/main" val="2211841049"/>
                    </a:ext>
                  </a:extLst>
                </a:gridCol>
                <a:gridCol w="609600">
                  <a:extLst>
                    <a:ext uri="{9D8B030D-6E8A-4147-A177-3AD203B41FA5}">
                      <a16:colId xmlns:a16="http://schemas.microsoft.com/office/drawing/2014/main" val="1426215473"/>
                    </a:ext>
                  </a:extLst>
                </a:gridCol>
              </a:tblGrid>
              <a:tr h="370840">
                <a:tc>
                  <a:txBody>
                    <a:bodyPr/>
                    <a:lstStyle/>
                    <a:p>
                      <a:pPr algn="ctr"/>
                      <a:r>
                        <a:rPr lang="en-US" altLang="zh-CN" dirty="0" smtClean="0"/>
                        <a:t>a[0]</a:t>
                      </a:r>
                      <a:endParaRPr lang="zh-CN" altLang="en-US" dirty="0"/>
                    </a:p>
                  </a:txBody>
                  <a:tcPr/>
                </a:tc>
                <a:tc>
                  <a:txBody>
                    <a:bodyPr/>
                    <a:lstStyle/>
                    <a:p>
                      <a:pPr algn="ctr"/>
                      <a:r>
                        <a:rPr lang="en-US" altLang="zh-CN" dirty="0" smtClean="0"/>
                        <a:t>a[1]</a:t>
                      </a:r>
                      <a:endParaRPr lang="zh-CN" altLang="en-US" dirty="0"/>
                    </a:p>
                  </a:txBody>
                  <a:tcPr/>
                </a:tc>
                <a:tc>
                  <a:txBody>
                    <a:bodyPr/>
                    <a:lstStyle/>
                    <a:p>
                      <a:pPr algn="ctr"/>
                      <a:r>
                        <a:rPr lang="en-US" altLang="zh-CN" dirty="0" smtClean="0"/>
                        <a:t>a[2]</a:t>
                      </a:r>
                      <a:endParaRPr lang="zh-CN" altLang="en-US" dirty="0"/>
                    </a:p>
                  </a:txBody>
                  <a:tcPr/>
                </a:tc>
                <a:tc>
                  <a:txBody>
                    <a:bodyPr/>
                    <a:lstStyle/>
                    <a:p>
                      <a:pPr algn="ctr"/>
                      <a:r>
                        <a:rPr lang="en-US" altLang="zh-CN" dirty="0" smtClean="0"/>
                        <a:t>a[3]</a:t>
                      </a:r>
                      <a:endParaRPr lang="zh-CN" altLang="en-US" dirty="0"/>
                    </a:p>
                  </a:txBody>
                  <a:tcPr/>
                </a:tc>
                <a:tc>
                  <a:txBody>
                    <a:bodyPr/>
                    <a:lstStyle/>
                    <a:p>
                      <a:pPr algn="ctr"/>
                      <a:r>
                        <a:rPr lang="en-US" altLang="zh-CN" dirty="0" smtClean="0"/>
                        <a:t>a[4]</a:t>
                      </a:r>
                      <a:endParaRPr lang="zh-CN" altLang="en-US" dirty="0"/>
                    </a:p>
                  </a:txBody>
                  <a:tcPr/>
                </a:tc>
                <a:tc>
                  <a:txBody>
                    <a:bodyPr/>
                    <a:lstStyle/>
                    <a:p>
                      <a:pPr algn="ctr"/>
                      <a:r>
                        <a:rPr lang="en-US" altLang="zh-CN" dirty="0" smtClean="0"/>
                        <a:t>a[5]</a:t>
                      </a:r>
                      <a:endParaRPr lang="zh-CN" altLang="en-US" dirty="0"/>
                    </a:p>
                  </a:txBody>
                  <a:tcPr/>
                </a:tc>
                <a:extLst>
                  <a:ext uri="{0D108BD9-81ED-4DB2-BD59-A6C34878D82A}">
                    <a16:rowId xmlns:a16="http://schemas.microsoft.com/office/drawing/2014/main" val="1534354532"/>
                  </a:ext>
                </a:extLst>
              </a:tr>
            </a:tbl>
          </a:graphicData>
        </a:graphic>
      </p:graphicFrame>
      <p:grpSp>
        <p:nvGrpSpPr>
          <p:cNvPr id="12" name="组合 11"/>
          <p:cNvGrpSpPr/>
          <p:nvPr/>
        </p:nvGrpSpPr>
        <p:grpSpPr>
          <a:xfrm>
            <a:off x="4932040" y="4941754"/>
            <a:ext cx="396378" cy="570780"/>
            <a:chOff x="4625754" y="1202036"/>
            <a:chExt cx="396378" cy="570780"/>
          </a:xfrm>
        </p:grpSpPr>
        <p:sp>
          <p:nvSpPr>
            <p:cNvPr id="13" name="Rectangle 2061"/>
            <p:cNvSpPr>
              <a:spLocks noChangeArrowheads="1"/>
            </p:cNvSpPr>
            <p:nvPr/>
          </p:nvSpPr>
          <p:spPr bwMode="auto">
            <a:xfrm>
              <a:off x="4625754" y="1202036"/>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err="1" smtClean="0"/>
                <a:t>i</a:t>
              </a:r>
              <a:endParaRPr lang="en-US" altLang="zh-CN" sz="1800" b="1" dirty="0"/>
            </a:p>
          </p:txBody>
        </p:sp>
        <p:cxnSp>
          <p:nvCxnSpPr>
            <p:cNvPr id="14" name="直接箭头连接符 13"/>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grpSp>
        <p:nvGrpSpPr>
          <p:cNvPr id="15" name="组合 14"/>
          <p:cNvGrpSpPr/>
          <p:nvPr/>
        </p:nvGrpSpPr>
        <p:grpSpPr>
          <a:xfrm>
            <a:off x="7956376" y="4869160"/>
            <a:ext cx="396378" cy="646924"/>
            <a:chOff x="4625754" y="1125892"/>
            <a:chExt cx="396378" cy="646924"/>
          </a:xfrm>
        </p:grpSpPr>
        <p:sp>
          <p:nvSpPr>
            <p:cNvPr id="16" name="Rectangle 2061"/>
            <p:cNvSpPr>
              <a:spLocks noChangeArrowheads="1"/>
            </p:cNvSpPr>
            <p:nvPr/>
          </p:nvSpPr>
          <p:spPr bwMode="auto">
            <a:xfrm>
              <a:off x="4625754" y="1125892"/>
              <a:ext cx="396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smtClean="0"/>
                <a:t>j</a:t>
              </a:r>
              <a:endParaRPr lang="en-US" altLang="zh-CN" sz="1800" b="1" dirty="0"/>
            </a:p>
          </p:txBody>
        </p:sp>
        <p:cxnSp>
          <p:nvCxnSpPr>
            <p:cNvPr id="17" name="直接箭头连接符 16"/>
            <p:cNvCxnSpPr/>
            <p:nvPr/>
          </p:nvCxnSpPr>
          <p:spPr bwMode="auto">
            <a:xfrm>
              <a:off x="4753273" y="1510797"/>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cxnSp>
        <p:nvCxnSpPr>
          <p:cNvPr id="18" name="直接箭头连接符 17"/>
          <p:cNvCxnSpPr/>
          <p:nvPr/>
        </p:nvCxnSpPr>
        <p:spPr bwMode="auto">
          <a:xfrm flipV="1">
            <a:off x="5076056" y="5877272"/>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cxnSp>
        <p:nvCxnSpPr>
          <p:cNvPr id="19" name="直接箭头连接符 18"/>
          <p:cNvCxnSpPr/>
          <p:nvPr/>
        </p:nvCxnSpPr>
        <p:spPr bwMode="auto">
          <a:xfrm flipV="1">
            <a:off x="8172400" y="5877272"/>
            <a:ext cx="0" cy="262019"/>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20" name="Rectangle 2063"/>
          <p:cNvSpPr>
            <a:spLocks noChangeArrowheads="1"/>
          </p:cNvSpPr>
          <p:nvPr/>
        </p:nvSpPr>
        <p:spPr bwMode="auto">
          <a:xfrm>
            <a:off x="7988351" y="6021269"/>
            <a:ext cx="386942" cy="37151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zh-CN" sz="1800" b="1" dirty="0" err="1" smtClean="0"/>
              <a:t>pj</a:t>
            </a:r>
            <a:endParaRPr lang="en-US" altLang="zh-CN" sz="1800" b="1" dirty="0"/>
          </a:p>
        </p:txBody>
      </p:sp>
      <p:sp>
        <p:nvSpPr>
          <p:cNvPr id="21" name="Rectangle 2063"/>
          <p:cNvSpPr>
            <a:spLocks noChangeArrowheads="1"/>
          </p:cNvSpPr>
          <p:nvPr/>
        </p:nvSpPr>
        <p:spPr bwMode="auto">
          <a:xfrm>
            <a:off x="7956376" y="6309301"/>
            <a:ext cx="476711" cy="37151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b="1" dirty="0"/>
              <a:t>*</a:t>
            </a:r>
            <a:r>
              <a:rPr lang="en-US" altLang="zh-CN" sz="1800" b="1" dirty="0" err="1" smtClean="0"/>
              <a:t>pj</a:t>
            </a:r>
            <a:endParaRPr lang="en-US" altLang="zh-CN" sz="1800" b="1" dirty="0"/>
          </a:p>
        </p:txBody>
      </p:sp>
    </p:spTree>
    <p:extLst>
      <p:ext uri="{BB962C8B-B14F-4D97-AF65-F5344CB8AC3E}">
        <p14:creationId xmlns:p14="http://schemas.microsoft.com/office/powerpoint/2010/main" val="1790817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4640" y="717005"/>
            <a:ext cx="7797800" cy="839787"/>
          </a:xfrm>
        </p:spPr>
        <p:txBody>
          <a:bodyPr/>
          <a:lstStyle/>
          <a:p>
            <a:r>
              <a:rPr lang="zh-CN" altLang="en-US" dirty="0" smtClean="0"/>
              <a:t>返回指针的函数</a:t>
            </a:r>
            <a:endParaRPr lang="zh-CN" altLang="en-US" dirty="0"/>
          </a:p>
        </p:txBody>
      </p:sp>
      <p:sp>
        <p:nvSpPr>
          <p:cNvPr id="3" name="文本占位符 2"/>
          <p:cNvSpPr>
            <a:spLocks noGrp="1"/>
          </p:cNvSpPr>
          <p:nvPr>
            <p:ph type="body" sz="half" idx="1"/>
          </p:nvPr>
        </p:nvSpPr>
        <p:spPr>
          <a:xfrm>
            <a:off x="685800" y="1625600"/>
            <a:ext cx="7270576" cy="5259784"/>
          </a:xfrm>
        </p:spPr>
        <p:txBody>
          <a:bodyPr/>
          <a:lstStyle/>
          <a:p>
            <a:r>
              <a:rPr lang="zh-CN" altLang="en-US" dirty="0" smtClean="0">
                <a:solidFill>
                  <a:srgbClr val="0066FF"/>
                </a:solidFill>
              </a:rPr>
              <a:t>函数可以用</a:t>
            </a:r>
            <a:r>
              <a:rPr lang="en-US" altLang="zh-CN" dirty="0" smtClean="0">
                <a:solidFill>
                  <a:srgbClr val="0066FF"/>
                </a:solidFill>
              </a:rPr>
              <a:t>return</a:t>
            </a:r>
            <a:r>
              <a:rPr lang="zh-CN" altLang="en-US" dirty="0" smtClean="0">
                <a:solidFill>
                  <a:srgbClr val="0066FF"/>
                </a:solidFill>
              </a:rPr>
              <a:t>关键字向</a:t>
            </a:r>
            <a:r>
              <a:rPr lang="zh-CN" altLang="en-US" dirty="0">
                <a:solidFill>
                  <a:srgbClr val="0066FF"/>
                </a:solidFill>
              </a:rPr>
              <a:t>调用它的函数返回指针类型的数据，</a:t>
            </a:r>
            <a:r>
              <a:rPr lang="zh-CN" altLang="en-US" dirty="0" smtClean="0">
                <a:solidFill>
                  <a:srgbClr val="0066FF"/>
                </a:solidFill>
              </a:rPr>
              <a:t>主要目的</a:t>
            </a:r>
            <a:r>
              <a:rPr lang="zh-CN" altLang="en-US" dirty="0">
                <a:solidFill>
                  <a:srgbClr val="0066FF"/>
                </a:solidFill>
              </a:rPr>
              <a:t>是为了告诉被调函</a:t>
            </a:r>
            <a:r>
              <a:rPr lang="zh-CN" altLang="en-US" dirty="0" smtClean="0">
                <a:solidFill>
                  <a:srgbClr val="0066FF"/>
                </a:solidFill>
              </a:rPr>
              <a:t>数某变量或数组的</a:t>
            </a:r>
            <a:r>
              <a:rPr lang="zh-CN" altLang="en-US" dirty="0">
                <a:solidFill>
                  <a:srgbClr val="0066FF"/>
                </a:solidFill>
              </a:rPr>
              <a:t>地址</a:t>
            </a:r>
            <a:r>
              <a:rPr lang="zh-CN" altLang="en-US" dirty="0" smtClean="0">
                <a:solidFill>
                  <a:srgbClr val="0066FF"/>
                </a:solidFill>
              </a:rPr>
              <a:t>。</a:t>
            </a:r>
            <a:endParaRPr lang="en-US" altLang="zh-CN" dirty="0" smtClean="0">
              <a:solidFill>
                <a:srgbClr val="0066FF"/>
              </a:solidFill>
            </a:endParaRPr>
          </a:p>
          <a:p>
            <a:r>
              <a:rPr lang="zh-CN" altLang="en-US" dirty="0">
                <a:solidFill>
                  <a:srgbClr val="0066FF"/>
                </a:solidFill>
              </a:rPr>
              <a:t>返回指针的函数定义一般形式如下：</a:t>
            </a:r>
          </a:p>
          <a:p>
            <a:pPr marL="271780" lvl="1" indent="0">
              <a:buNone/>
            </a:pPr>
            <a:r>
              <a:rPr lang="zh-CN" altLang="en-US" dirty="0">
                <a:solidFill>
                  <a:srgbClr val="FF0000"/>
                </a:solidFill>
              </a:rPr>
              <a:t>类型名 *</a:t>
            </a:r>
            <a:r>
              <a:rPr lang="zh-CN" altLang="en-US" dirty="0">
                <a:solidFill>
                  <a:srgbClr val="0066FF"/>
                </a:solidFill>
              </a:rPr>
              <a:t>函数名</a:t>
            </a:r>
            <a:r>
              <a:rPr lang="en-US" altLang="zh-CN" dirty="0">
                <a:solidFill>
                  <a:srgbClr val="0066FF"/>
                </a:solidFill>
              </a:rPr>
              <a:t>(</a:t>
            </a:r>
            <a:r>
              <a:rPr lang="zh-CN" altLang="en-US" dirty="0">
                <a:solidFill>
                  <a:srgbClr val="0066FF"/>
                </a:solidFill>
              </a:rPr>
              <a:t>形参列表</a:t>
            </a:r>
            <a:r>
              <a:rPr lang="en-US" altLang="zh-CN" dirty="0">
                <a:solidFill>
                  <a:srgbClr val="0066FF"/>
                </a:solidFill>
              </a:rPr>
              <a:t>)</a:t>
            </a:r>
          </a:p>
          <a:p>
            <a:pPr marL="271780" lvl="1" indent="0">
              <a:buNone/>
            </a:pPr>
            <a:r>
              <a:rPr lang="en-US" altLang="zh-CN" dirty="0">
                <a:solidFill>
                  <a:srgbClr val="0066FF"/>
                </a:solidFill>
              </a:rPr>
              <a:t>{</a:t>
            </a:r>
          </a:p>
          <a:p>
            <a:pPr marL="271780" lvl="1" indent="0">
              <a:buNone/>
            </a:pPr>
            <a:r>
              <a:rPr lang="en-US" altLang="zh-CN" dirty="0">
                <a:solidFill>
                  <a:srgbClr val="0066FF"/>
                </a:solidFill>
              </a:rPr>
              <a:t>	</a:t>
            </a:r>
            <a:r>
              <a:rPr lang="zh-CN" altLang="en-US" dirty="0">
                <a:solidFill>
                  <a:srgbClr val="0066FF"/>
                </a:solidFill>
              </a:rPr>
              <a:t>函数体语句；</a:t>
            </a:r>
          </a:p>
          <a:p>
            <a:pPr marL="271780" lvl="1" indent="0">
              <a:buNone/>
            </a:pPr>
            <a:r>
              <a:rPr lang="zh-CN" altLang="en-US" dirty="0">
                <a:solidFill>
                  <a:srgbClr val="0066FF"/>
                </a:solidFill>
              </a:rPr>
              <a:t>	</a:t>
            </a:r>
            <a:r>
              <a:rPr lang="en-US" altLang="zh-CN" dirty="0">
                <a:solidFill>
                  <a:srgbClr val="0066FF"/>
                </a:solidFill>
              </a:rPr>
              <a:t>return(</a:t>
            </a:r>
            <a:r>
              <a:rPr lang="zh-CN" altLang="en-US" dirty="0">
                <a:solidFill>
                  <a:srgbClr val="0066FF"/>
                </a:solidFill>
              </a:rPr>
              <a:t>指针变量</a:t>
            </a:r>
            <a:r>
              <a:rPr lang="en-US" altLang="zh-CN" dirty="0">
                <a:solidFill>
                  <a:srgbClr val="0066FF"/>
                </a:solidFill>
              </a:rPr>
              <a:t>);//</a:t>
            </a:r>
            <a:r>
              <a:rPr lang="zh-CN" altLang="en-US" dirty="0">
                <a:solidFill>
                  <a:srgbClr val="0066FF"/>
                </a:solidFill>
              </a:rPr>
              <a:t>或</a:t>
            </a:r>
            <a:r>
              <a:rPr lang="en-US" altLang="zh-CN" dirty="0">
                <a:solidFill>
                  <a:srgbClr val="0066FF"/>
                </a:solidFill>
              </a:rPr>
              <a:t>return (&amp;</a:t>
            </a:r>
            <a:r>
              <a:rPr lang="zh-CN" altLang="en-US" dirty="0">
                <a:solidFill>
                  <a:srgbClr val="0066FF"/>
                </a:solidFill>
              </a:rPr>
              <a:t>变量名</a:t>
            </a:r>
            <a:r>
              <a:rPr lang="en-US" altLang="zh-CN" dirty="0">
                <a:solidFill>
                  <a:srgbClr val="0066FF"/>
                </a:solidFill>
              </a:rPr>
              <a:t>)</a:t>
            </a:r>
          </a:p>
          <a:p>
            <a:pPr marL="271780" lvl="1" indent="0">
              <a:buNone/>
            </a:pPr>
            <a:r>
              <a:rPr lang="en-US" altLang="zh-CN" dirty="0" smtClean="0">
                <a:solidFill>
                  <a:srgbClr val="0066FF"/>
                </a:solidFill>
              </a:rPr>
              <a:t>}</a:t>
            </a:r>
          </a:p>
          <a:p>
            <a:r>
              <a:rPr lang="zh-CN" altLang="en-US" dirty="0" smtClean="0">
                <a:solidFill>
                  <a:srgbClr val="0066FF"/>
                </a:solidFill>
              </a:rPr>
              <a:t>示例</a:t>
            </a:r>
            <a:r>
              <a:rPr lang="en-US" altLang="zh-CN" dirty="0" smtClean="0">
                <a:solidFill>
                  <a:srgbClr val="0066FF"/>
                </a:solidFill>
              </a:rPr>
              <a:t>6-11</a:t>
            </a:r>
            <a:r>
              <a:rPr lang="zh-CN" altLang="en-US" dirty="0" smtClean="0">
                <a:solidFill>
                  <a:srgbClr val="0066FF"/>
                </a:solidFill>
              </a:rPr>
              <a:t>在介绍了字符串指针之后讲</a:t>
            </a:r>
            <a:endParaRPr lang="en-US" altLang="zh-CN" dirty="0">
              <a:solidFill>
                <a:srgbClr val="0066FF"/>
              </a:solidFill>
            </a:endParaRPr>
          </a:p>
          <a:p>
            <a:pPr marL="0" indent="0">
              <a:buNone/>
            </a:pPr>
            <a:endParaRPr lang="zh-CN" altLang="en-US" dirty="0">
              <a:solidFill>
                <a:srgbClr val="0066FF"/>
              </a:solidFill>
            </a:endParaRPr>
          </a:p>
        </p:txBody>
      </p:sp>
      <p:sp>
        <p:nvSpPr>
          <p:cNvPr id="6" name="灯片编号占位符 5"/>
          <p:cNvSpPr>
            <a:spLocks noGrp="1"/>
          </p:cNvSpPr>
          <p:nvPr>
            <p:ph type="sldNum" sz="quarter" idx="4294967295"/>
          </p:nvPr>
        </p:nvSpPr>
        <p:spPr>
          <a:xfrm>
            <a:off x="84138" y="6308725"/>
            <a:ext cx="587375" cy="422275"/>
          </a:xfrm>
        </p:spPr>
        <p:txBody>
          <a:bodyPr/>
          <a:lstStyle/>
          <a:p>
            <a:pPr lvl="0" algn="r" eaLnBrk="1" hangingPunct="1"/>
            <a:fld id="{9A0DB2DC-4C9A-4742-B13C-FB6460FD3503}" type="slidenum">
              <a:rPr lang="zh-CN" altLang="en-US" sz="1200" dirty="0">
                <a:latin typeface="Arial Black" panose="020B0A04020102020204" pitchFamily="34" charset="0"/>
              </a:rPr>
              <a:t>58</a:t>
            </a:fld>
            <a:endParaRPr lang="zh-CN" altLang="en-US" sz="1200" dirty="0">
              <a:latin typeface="Arial Black" panose="020B0A040201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动态内存分配</a:t>
            </a:r>
            <a:endParaRPr lang="zh-CN" altLang="en-US" dirty="0"/>
          </a:p>
        </p:txBody>
      </p:sp>
      <p:sp>
        <p:nvSpPr>
          <p:cNvPr id="8" name="内容占位符 7"/>
          <p:cNvSpPr>
            <a:spLocks noGrp="1"/>
          </p:cNvSpPr>
          <p:nvPr>
            <p:ph idx="1"/>
          </p:nvPr>
        </p:nvSpPr>
        <p:spPr/>
        <p:txBody>
          <a:bodyPr/>
          <a:lstStyle/>
          <a:p>
            <a:r>
              <a:rPr lang="zh-CN" altLang="en-US" dirty="0" smtClean="0">
                <a:effectLst/>
              </a:rPr>
              <a:t>定义</a:t>
            </a:r>
            <a:r>
              <a:rPr lang="zh-CN" altLang="en-US" dirty="0">
                <a:effectLst/>
              </a:rPr>
              <a:t>数组时必须明确的给出一个数组大小，程序按照此大小为数组分配空间，但是</a:t>
            </a:r>
            <a:r>
              <a:rPr lang="zh-CN" altLang="en-US" dirty="0" smtClean="0">
                <a:effectLst/>
              </a:rPr>
              <a:t>由于编程</a:t>
            </a:r>
            <a:r>
              <a:rPr lang="zh-CN" altLang="en-US" dirty="0">
                <a:effectLst/>
              </a:rPr>
              <a:t>时往往无法精确地预估数组的大小，就经常会发生申请空间太</a:t>
            </a:r>
            <a:r>
              <a:rPr lang="zh-CN" altLang="en-US" dirty="0" smtClean="0">
                <a:effectLst/>
              </a:rPr>
              <a:t>多浪费</a:t>
            </a:r>
            <a:r>
              <a:rPr lang="zh-CN" altLang="en-US" dirty="0">
                <a:effectLst/>
              </a:rPr>
              <a:t>或者申请空间太少了无法处理等情况</a:t>
            </a:r>
            <a:r>
              <a:rPr lang="zh-CN" altLang="en-US" dirty="0" smtClean="0">
                <a:effectLst/>
              </a:rPr>
              <a:t>。</a:t>
            </a:r>
            <a:endParaRPr lang="en-US" altLang="zh-CN" dirty="0" smtClean="0">
              <a:effectLst/>
            </a:endParaRPr>
          </a:p>
          <a:p>
            <a:r>
              <a:rPr lang="zh-CN" altLang="en-US" dirty="0">
                <a:effectLst/>
              </a:rPr>
              <a:t>可以使用指针和</a:t>
            </a:r>
            <a:r>
              <a:rPr lang="en-US" altLang="zh-CN" dirty="0">
                <a:effectLst/>
              </a:rPr>
              <a:t>C</a:t>
            </a:r>
            <a:r>
              <a:rPr lang="zh-CN" altLang="en-US" dirty="0">
                <a:effectLst/>
              </a:rPr>
              <a:t>语言的动态内存分配函数来根据实际需求向系统申请内存</a:t>
            </a:r>
            <a:r>
              <a:rPr lang="zh-CN" altLang="en-US" dirty="0" smtClean="0">
                <a:effectLst/>
              </a:rPr>
              <a:t>空间。使用</a:t>
            </a:r>
            <a:r>
              <a:rPr lang="zh-CN" altLang="en-US" dirty="0">
                <a:effectLst/>
              </a:rPr>
              <a:t>动态内存分配能有效地使用内存</a:t>
            </a:r>
          </a:p>
          <a:p>
            <a:pPr lvl="1"/>
            <a:r>
              <a:rPr lang="zh-CN" altLang="en-US" dirty="0">
                <a:effectLst/>
                <a:cs typeface="+mn-cs"/>
              </a:rPr>
              <a:t>使用时申请</a:t>
            </a:r>
          </a:p>
          <a:p>
            <a:pPr lvl="1"/>
            <a:r>
              <a:rPr lang="zh-CN" altLang="en-US" dirty="0">
                <a:effectLst/>
                <a:cs typeface="+mn-cs"/>
              </a:rPr>
              <a:t>用完就释放</a:t>
            </a:r>
          </a:p>
          <a:p>
            <a:pPr>
              <a:buNone/>
            </a:pPr>
            <a:endParaRPr lang="zh-CN" altLang="en-US" dirty="0"/>
          </a:p>
          <a:p>
            <a:endParaRPr lang="zh-CN" altLang="en-US" dirty="0">
              <a:effectLst/>
            </a:endParaRPr>
          </a:p>
          <a:p>
            <a:endParaRPr lang="zh-CN" altLang="en-US" dirty="0"/>
          </a:p>
        </p:txBody>
      </p:sp>
      <p:sp>
        <p:nvSpPr>
          <p:cNvPr id="6" name="灯片编号占位符 5"/>
          <p:cNvSpPr>
            <a:spLocks noGrp="1"/>
          </p:cNvSpPr>
          <p:nvPr>
            <p:ph type="sldNum" sz="quarter" idx="4294967295"/>
          </p:nvPr>
        </p:nvSpPr>
        <p:spPr>
          <a:xfrm>
            <a:off x="84138" y="6308725"/>
            <a:ext cx="587375" cy="422275"/>
          </a:xfrm>
        </p:spPr>
        <p:txBody>
          <a:bodyPr/>
          <a:lstStyle/>
          <a:p>
            <a:pPr lvl="0" algn="r" eaLnBrk="1" hangingPunct="1"/>
            <a:fld id="{9A0DB2DC-4C9A-4742-B13C-FB6460FD3503}" type="slidenum">
              <a:rPr lang="zh-CN" altLang="en-US" sz="1200" smtClean="0">
                <a:latin typeface="Arial Black" panose="020B0A04020102020204" pitchFamily="34" charset="0"/>
              </a:rPr>
              <a:t>59</a:t>
            </a:fld>
            <a:endParaRPr lang="zh-CN" altLang="en-US" sz="1200" dirty="0">
              <a:latin typeface="Arial Black" panose="020B0A040201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标题 423937"/>
          <p:cNvSpPr>
            <a:spLocks noGrp="1"/>
          </p:cNvSpPr>
          <p:nvPr>
            <p:ph type="title"/>
          </p:nvPr>
        </p:nvSpPr>
        <p:spPr/>
        <p:txBody>
          <a:bodyPr anchor="ctr"/>
          <a:lstStyle/>
          <a:p>
            <a:r>
              <a:rPr lang="zh-CN" altLang="en-US" dirty="0">
                <a:latin typeface="宋体" panose="02010600030101010101" pitchFamily="2" charset="-122"/>
              </a:rPr>
              <a:t>动态内存分配的步骤</a:t>
            </a:r>
            <a:r>
              <a:rPr lang="zh-CN" altLang="en-US" dirty="0"/>
              <a:t> </a:t>
            </a:r>
          </a:p>
        </p:txBody>
      </p:sp>
      <p:sp>
        <p:nvSpPr>
          <p:cNvPr id="423939" name="文本占位符 423938"/>
          <p:cNvSpPr>
            <a:spLocks noGrp="1"/>
          </p:cNvSpPr>
          <p:nvPr>
            <p:ph type="body" idx="1"/>
          </p:nvPr>
        </p:nvSpPr>
        <p:spPr/>
        <p:txBody>
          <a:bodyPr/>
          <a:lstStyle/>
          <a:p>
            <a:pPr algn="just">
              <a:buNone/>
            </a:pPr>
            <a:r>
              <a:rPr lang="zh-CN" altLang="en-US" dirty="0">
                <a:latin typeface="宋体" panose="02010600030101010101" pitchFamily="2" charset="-122"/>
              </a:rPr>
              <a:t>（</a:t>
            </a:r>
            <a:r>
              <a:rPr lang="zh-CN" altLang="en-US" dirty="0"/>
              <a:t>1</a:t>
            </a:r>
            <a:r>
              <a:rPr lang="zh-CN" altLang="en-US" dirty="0">
                <a:latin typeface="宋体" panose="02010600030101010101" pitchFamily="2" charset="-122"/>
              </a:rPr>
              <a:t>）了解需要多少内存空间</a:t>
            </a:r>
            <a:endParaRPr lang="zh-CN" altLang="en-US" dirty="0"/>
          </a:p>
          <a:p>
            <a:pPr algn="just">
              <a:buNone/>
            </a:pPr>
            <a:r>
              <a:rPr lang="zh-CN" altLang="en-US" dirty="0">
                <a:latin typeface="宋体" panose="02010600030101010101" pitchFamily="2" charset="-122"/>
              </a:rPr>
              <a:t>（</a:t>
            </a:r>
            <a:r>
              <a:rPr lang="zh-CN" altLang="en-US" dirty="0"/>
              <a:t>2</a:t>
            </a:r>
            <a:r>
              <a:rPr lang="zh-CN" altLang="en-US" dirty="0">
                <a:latin typeface="宋体" panose="02010600030101010101" pitchFamily="2" charset="-122"/>
              </a:rPr>
              <a:t>）利用</a:t>
            </a:r>
            <a:r>
              <a:rPr lang="en-US" altLang="zh-CN" dirty="0"/>
              <a:t>C</a:t>
            </a:r>
            <a:r>
              <a:rPr lang="zh-CN" altLang="en-US" dirty="0">
                <a:latin typeface="宋体" panose="02010600030101010101" pitchFamily="2" charset="-122"/>
              </a:rPr>
              <a:t>语言提供的动态分配函数来分配所需要的存储空间。</a:t>
            </a:r>
            <a:endParaRPr lang="zh-CN" altLang="en-US" dirty="0"/>
          </a:p>
          <a:p>
            <a:pPr algn="just">
              <a:buNone/>
            </a:pPr>
            <a:r>
              <a:rPr lang="zh-CN" altLang="en-US" dirty="0">
                <a:latin typeface="宋体" panose="02010600030101010101" pitchFamily="2" charset="-122"/>
              </a:rPr>
              <a:t>（</a:t>
            </a:r>
            <a:r>
              <a:rPr lang="zh-CN" altLang="en-US" dirty="0"/>
              <a:t>3</a:t>
            </a:r>
            <a:r>
              <a:rPr lang="zh-CN" altLang="en-US" dirty="0">
                <a:latin typeface="宋体" panose="02010600030101010101" pitchFamily="2" charset="-122"/>
              </a:rPr>
              <a:t>）使指针指向获得的内存空间，以便用指针在该空间内实施运算或操作。</a:t>
            </a:r>
            <a:endParaRPr lang="zh-CN" altLang="en-US" dirty="0"/>
          </a:p>
          <a:p>
            <a:pPr>
              <a:buNone/>
            </a:pPr>
            <a:r>
              <a:rPr lang="zh-CN" altLang="en-US" dirty="0" smtClean="0">
                <a:latin typeface="宋体" panose="02010600030101010101" pitchFamily="2" charset="-122"/>
              </a:rPr>
              <a:t>（</a:t>
            </a:r>
            <a:r>
              <a:rPr lang="zh-CN" altLang="en-US" dirty="0"/>
              <a:t>4</a:t>
            </a:r>
            <a:r>
              <a:rPr lang="zh-CN" altLang="en-US" dirty="0">
                <a:latin typeface="宋体" panose="02010600030101010101" pitchFamily="2" charset="-122"/>
              </a:rPr>
              <a:t>）当使用完毕内存后，释放这一空间。</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wipe(down)">
                                      <p:cBhvr>
                                        <p:cTn id="7" dur="500"/>
                                        <p:tgtEl>
                                          <p:spTgt spid="423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Effect transition="in" filter="wipe(down)">
                                      <p:cBhvr>
                                        <p:cTn id="12" dur="500"/>
                                        <p:tgtEl>
                                          <p:spTgt spid="423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Effect transition="in" filter="wipe(down)">
                                      <p:cBhvr>
                                        <p:cTn id="17" dur="500"/>
                                        <p:tgtEl>
                                          <p:spTgt spid="423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23939">
                                            <p:txEl>
                                              <p:pRg st="3" end="3"/>
                                            </p:txEl>
                                          </p:spTgt>
                                        </p:tgtEl>
                                        <p:attrNameLst>
                                          <p:attrName>style.visibility</p:attrName>
                                        </p:attrNameLst>
                                      </p:cBhvr>
                                      <p:to>
                                        <p:strVal val="visible"/>
                                      </p:to>
                                    </p:set>
                                    <p:animEffect transition="in" filter="wipe(down)">
                                      <p:cBhvr>
                                        <p:cTn id="22" dur="500"/>
                                        <p:tgtEl>
                                          <p:spTgt spid="423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标题 424961"/>
          <p:cNvSpPr>
            <a:spLocks noGrp="1"/>
          </p:cNvSpPr>
          <p:nvPr>
            <p:ph type="title"/>
          </p:nvPr>
        </p:nvSpPr>
        <p:spPr>
          <a:xfrm>
            <a:off x="781744" y="692696"/>
            <a:ext cx="8229600" cy="914400"/>
          </a:xfrm>
        </p:spPr>
        <p:txBody>
          <a:bodyPr anchor="ctr"/>
          <a:lstStyle/>
          <a:p>
            <a:r>
              <a:rPr lang="zh-CN" altLang="en-US" dirty="0">
                <a:latin typeface="宋体" panose="02010600030101010101" pitchFamily="2" charset="-122"/>
              </a:rPr>
              <a:t>动态存储分配函数</a:t>
            </a:r>
            <a:r>
              <a:rPr lang="en-US" altLang="zh-CN" dirty="0"/>
              <a:t>malloc()</a:t>
            </a:r>
            <a:endParaRPr lang="zh-CN" altLang="en-US" dirty="0"/>
          </a:p>
        </p:txBody>
      </p:sp>
      <p:sp>
        <p:nvSpPr>
          <p:cNvPr id="424963" name="文本占位符 424962"/>
          <p:cNvSpPr>
            <a:spLocks noGrp="1"/>
          </p:cNvSpPr>
          <p:nvPr>
            <p:ph type="body" idx="1"/>
          </p:nvPr>
        </p:nvSpPr>
        <p:spPr>
          <a:xfrm>
            <a:off x="827584" y="1683296"/>
            <a:ext cx="8208912" cy="4860925"/>
          </a:xfrm>
        </p:spPr>
        <p:txBody>
          <a:bodyPr/>
          <a:lstStyle/>
          <a:p>
            <a:pPr>
              <a:buNone/>
            </a:pPr>
            <a:r>
              <a:rPr lang="en-US" altLang="zh-CN" dirty="0"/>
              <a:t>void *malloc(unsigned size) </a:t>
            </a:r>
            <a:endParaRPr lang="en-US" altLang="zh-CN" dirty="0" smtClean="0"/>
          </a:p>
          <a:p>
            <a:pPr>
              <a:buNone/>
            </a:pPr>
            <a:r>
              <a:rPr lang="zh-CN" altLang="en-US" sz="2400" dirty="0">
                <a:latin typeface="宋体" panose="02010600030101010101" pitchFamily="2" charset="-122"/>
              </a:rPr>
              <a:t>在内存的动态存储区中分配一连续的大小为</a:t>
            </a:r>
            <a:r>
              <a:rPr lang="en-US" altLang="zh-CN" sz="2400" dirty="0">
                <a:latin typeface="宋体" panose="02010600030101010101" pitchFamily="2" charset="-122"/>
              </a:rPr>
              <a:t>size</a:t>
            </a:r>
            <a:r>
              <a:rPr lang="zh-CN" altLang="en-US" sz="2400" dirty="0">
                <a:latin typeface="宋体" panose="02010600030101010101" pitchFamily="2" charset="-122"/>
              </a:rPr>
              <a:t>字节的空间</a:t>
            </a:r>
            <a:endParaRPr lang="en-US" altLang="zh-CN" sz="2400" dirty="0">
              <a:latin typeface="宋体" panose="02010600030101010101" pitchFamily="2" charset="-122"/>
            </a:endParaRPr>
          </a:p>
          <a:p>
            <a:pPr lvl="1"/>
            <a:r>
              <a:rPr lang="zh-CN" altLang="en-US" dirty="0">
                <a:latin typeface="宋体" panose="02010600030101010101" pitchFamily="2" charset="-122"/>
              </a:rPr>
              <a:t>若申请成功，则返回一个指向所分配内存空间的起始地址的指针。返回</a:t>
            </a:r>
            <a:r>
              <a:rPr lang="zh-CN" altLang="en-US" dirty="0" smtClean="0">
                <a:latin typeface="宋体" panose="02010600030101010101" pitchFamily="2" charset="-122"/>
              </a:rPr>
              <a:t>值的类型是</a:t>
            </a:r>
            <a:r>
              <a:rPr lang="en-US" altLang="zh-CN" dirty="0" smtClean="0">
                <a:latin typeface="宋体" panose="02010600030101010101" pitchFamily="2" charset="-122"/>
              </a:rPr>
              <a:t>void *</a:t>
            </a:r>
            <a:r>
              <a:rPr lang="zh-CN" altLang="en-US" dirty="0" smtClean="0">
                <a:latin typeface="宋体" panose="02010600030101010101" pitchFamily="2" charset="-122"/>
              </a:rPr>
              <a:t>，</a:t>
            </a:r>
            <a:r>
              <a:rPr lang="zh-CN" altLang="en-US" dirty="0">
                <a:latin typeface="宋体" panose="02010600030101010101" pitchFamily="2" charset="-122"/>
              </a:rPr>
              <a:t>在实际使用时需要根据实际的数据类型，采用强制类型转换将其转换为所需数据类型的指针。</a:t>
            </a:r>
          </a:p>
          <a:p>
            <a:pPr lvl="1"/>
            <a:r>
              <a:rPr lang="zh-CN" altLang="en-US" dirty="0">
                <a:latin typeface="宋体" panose="02010600030101010101" pitchFamily="2" charset="-122"/>
              </a:rPr>
              <a:t>若申请内存空间不成功，则返回</a:t>
            </a:r>
            <a:r>
              <a:rPr lang="en-US" altLang="zh-CN" dirty="0"/>
              <a:t>NULL</a:t>
            </a:r>
            <a:r>
              <a:rPr lang="en-US" altLang="zh-CN" dirty="0">
                <a:latin typeface="宋体" panose="02010600030101010101" pitchFamily="2" charset="-122"/>
              </a:rPr>
              <a:t>（</a:t>
            </a:r>
            <a:r>
              <a:rPr lang="zh-CN" altLang="en-US" dirty="0">
                <a:latin typeface="宋体" panose="02010600030101010101" pitchFamily="2" charset="-122"/>
              </a:rPr>
              <a:t>值为</a:t>
            </a:r>
            <a:r>
              <a:rPr lang="zh-CN" altLang="en-US" dirty="0"/>
              <a:t>0</a:t>
            </a:r>
            <a:r>
              <a:rPr lang="zh-CN" altLang="en-US" dirty="0" smtClean="0">
                <a:latin typeface="宋体" panose="02010600030101010101" pitchFamily="2" charset="-122"/>
              </a:rPr>
              <a:t>）</a:t>
            </a:r>
            <a:endParaRPr lang="zh-CN" altLang="en-US"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4963">
                                            <p:txEl>
                                              <p:pRg st="0" end="0"/>
                                            </p:txEl>
                                          </p:spTgt>
                                        </p:tgtEl>
                                        <p:attrNameLst>
                                          <p:attrName>style.visibility</p:attrName>
                                        </p:attrNameLst>
                                      </p:cBhvr>
                                      <p:to>
                                        <p:strVal val="visible"/>
                                      </p:to>
                                    </p:set>
                                    <p:animEffect transition="in" filter="wipe(down)">
                                      <p:cBhvr>
                                        <p:cTn id="7" dur="500"/>
                                        <p:tgtEl>
                                          <p:spTgt spid="424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24963">
                                            <p:txEl>
                                              <p:pRg st="1" end="1"/>
                                            </p:txEl>
                                          </p:spTgt>
                                        </p:tgtEl>
                                        <p:attrNameLst>
                                          <p:attrName>style.visibility</p:attrName>
                                        </p:attrNameLst>
                                      </p:cBhvr>
                                      <p:to>
                                        <p:strVal val="visible"/>
                                      </p:to>
                                    </p:set>
                                    <p:animEffect transition="in" filter="wipe(down)">
                                      <p:cBhvr>
                                        <p:cTn id="12" dur="500"/>
                                        <p:tgtEl>
                                          <p:spTgt spid="424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24963">
                                            <p:txEl>
                                              <p:pRg st="2" end="2"/>
                                            </p:txEl>
                                          </p:spTgt>
                                        </p:tgtEl>
                                        <p:attrNameLst>
                                          <p:attrName>style.visibility</p:attrName>
                                        </p:attrNameLst>
                                      </p:cBhvr>
                                      <p:to>
                                        <p:strVal val="visible"/>
                                      </p:to>
                                    </p:set>
                                    <p:animEffect transition="in" filter="wipe(down)">
                                      <p:cBhvr>
                                        <p:cTn id="17" dur="500"/>
                                        <p:tgtEl>
                                          <p:spTgt spid="424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24963">
                                            <p:txEl>
                                              <p:pRg st="3" end="3"/>
                                            </p:txEl>
                                          </p:spTgt>
                                        </p:tgtEl>
                                        <p:attrNameLst>
                                          <p:attrName>style.visibility</p:attrName>
                                        </p:attrNameLst>
                                      </p:cBhvr>
                                      <p:to>
                                        <p:strVal val="visible"/>
                                      </p:to>
                                    </p:set>
                                    <p:animEffect transition="in" filter="wipe(down)">
                                      <p:cBhvr>
                                        <p:cTn id="22" dur="500"/>
                                        <p:tgtEl>
                                          <p:spTgt spid="424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3" grpId="0" build="p" bldLvl="3"/>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标题 428033"/>
          <p:cNvSpPr>
            <a:spLocks noGrp="1"/>
          </p:cNvSpPr>
          <p:nvPr>
            <p:ph type="title"/>
          </p:nvPr>
        </p:nvSpPr>
        <p:spPr/>
        <p:txBody>
          <a:bodyPr anchor="ctr"/>
          <a:lstStyle/>
          <a:p>
            <a:r>
              <a:rPr lang="zh-CN" altLang="en-US" dirty="0">
                <a:latin typeface="宋体" panose="02010600030101010101" pitchFamily="2" charset="-122"/>
              </a:rPr>
              <a:t>动态存储释放函数</a:t>
            </a:r>
            <a:r>
              <a:rPr lang="en-US" altLang="zh-CN" dirty="0"/>
              <a:t>free </a:t>
            </a:r>
            <a:endParaRPr lang="zh-CN" altLang="en-US" dirty="0"/>
          </a:p>
        </p:txBody>
      </p:sp>
      <p:sp>
        <p:nvSpPr>
          <p:cNvPr id="428035" name="文本占位符 428034"/>
          <p:cNvSpPr>
            <a:spLocks noGrp="1"/>
          </p:cNvSpPr>
          <p:nvPr>
            <p:ph type="body" idx="1"/>
          </p:nvPr>
        </p:nvSpPr>
        <p:spPr>
          <a:xfrm>
            <a:off x="806896" y="1916832"/>
            <a:ext cx="8229600" cy="4464496"/>
          </a:xfrm>
        </p:spPr>
        <p:txBody>
          <a:bodyPr/>
          <a:lstStyle/>
          <a:p>
            <a:pPr>
              <a:buNone/>
            </a:pPr>
            <a:r>
              <a:rPr lang="en-US" altLang="zh-CN" dirty="0"/>
              <a:t>void free(void *</a:t>
            </a:r>
            <a:r>
              <a:rPr lang="en-US" altLang="zh-CN" dirty="0" smtClean="0"/>
              <a:t>p) </a:t>
            </a:r>
          </a:p>
          <a:p>
            <a:pPr lvl="1"/>
            <a:r>
              <a:rPr lang="zh-CN" altLang="en-US" dirty="0" smtClean="0">
                <a:latin typeface="宋体" panose="02010600030101010101" pitchFamily="2" charset="-122"/>
              </a:rPr>
              <a:t>释放由动态存储分配函数申请到的整块内存空间，</a:t>
            </a:r>
            <a:r>
              <a:rPr lang="en-US" altLang="zh-CN" dirty="0" smtClean="0"/>
              <a:t>p</a:t>
            </a:r>
            <a:r>
              <a:rPr lang="zh-CN" altLang="en-US" dirty="0" smtClean="0">
                <a:latin typeface="宋体" panose="02010600030101010101" pitchFamily="2" charset="-122"/>
              </a:rPr>
              <a:t>为指向要释放空间的首地址。</a:t>
            </a:r>
            <a:endParaRPr lang="zh-CN" altLang="en-US" dirty="0"/>
          </a:p>
          <a:p>
            <a:pPr lvl="1"/>
            <a:r>
              <a:rPr lang="zh-CN" altLang="en-US" dirty="0" smtClean="0">
                <a:latin typeface="宋体" panose="02010600030101010101" pitchFamily="2" charset="-122"/>
              </a:rPr>
              <a:t>当某个动态分配的存储块不再用时，要及时将它释放 ，内存释放后不能再使用该指针去访问已经释放的空间了。</a:t>
            </a:r>
            <a:endParaRPr lang="en-US" altLang="zh-CN" dirty="0" smtClean="0">
              <a:latin typeface="宋体" panose="02010600030101010101" pitchFamily="2" charset="-122"/>
            </a:endParaRPr>
          </a:p>
          <a:p>
            <a:r>
              <a:rPr lang="zh-CN" altLang="en-US" dirty="0"/>
              <a:t>其它内存分配相关的函数还有</a:t>
            </a:r>
            <a:r>
              <a:rPr lang="en-US" altLang="zh-CN" dirty="0"/>
              <a:t>calloc</a:t>
            </a:r>
            <a:r>
              <a:rPr lang="zh-CN" altLang="en-US" dirty="0"/>
              <a:t>和</a:t>
            </a:r>
            <a:r>
              <a:rPr lang="en-US" altLang="zh-CN" dirty="0"/>
              <a:t>realloc</a:t>
            </a:r>
            <a:r>
              <a:rPr lang="zh-CN" altLang="en-US" dirty="0"/>
              <a:t>，  具体说明请参见本书的附录部分</a:t>
            </a:r>
            <a:r>
              <a:rPr lang="zh-CN" altLang="en-US" dirty="0">
                <a:latin typeface="宋体" panose="02010600030101010101" pitchFamily="2" charset="-122"/>
              </a:rPr>
              <a:t>。</a:t>
            </a:r>
          </a:p>
          <a:p>
            <a:pPr lvl="1"/>
            <a:r>
              <a:rPr lang="zh-CN" altLang="en-US" dirty="0">
                <a:latin typeface="宋体" panose="02010600030101010101" pitchFamily="2" charset="-122"/>
              </a:rPr>
              <a:t>注意：这四个内存分配函数在</a:t>
            </a:r>
            <a:r>
              <a:rPr lang="en-US" altLang="zh-CN" dirty="0">
                <a:solidFill>
                  <a:srgbClr val="FF0000"/>
                </a:solidFill>
                <a:latin typeface="黑体" panose="02010609060101010101" pitchFamily="49" charset="-122"/>
                <a:ea typeface="黑体" panose="02010609060101010101" pitchFamily="49" charset="-122"/>
              </a:rPr>
              <a:t>stdlib.h</a:t>
            </a:r>
            <a:r>
              <a:rPr lang="zh-CN" altLang="en-US" dirty="0">
                <a:latin typeface="宋体" panose="02010600030101010101" pitchFamily="2" charset="-122"/>
              </a:rPr>
              <a:t>头文件中声明，使用前需要</a:t>
            </a:r>
            <a:r>
              <a:rPr lang="en-US" altLang="zh-CN" dirty="0">
                <a:solidFill>
                  <a:srgbClr val="FF0000"/>
                </a:solidFill>
                <a:latin typeface="黑体" panose="02010609060101010101" pitchFamily="49" charset="-122"/>
                <a:ea typeface="黑体" panose="02010609060101010101" pitchFamily="49" charset="-122"/>
              </a:rPr>
              <a:t>include</a:t>
            </a:r>
            <a:r>
              <a:rPr lang="zh-CN" altLang="en-US" dirty="0">
                <a:latin typeface="宋体" panose="02010600030101010101" pitchFamily="2" charset="-122"/>
              </a:rPr>
              <a:t>此头文件</a:t>
            </a:r>
            <a:r>
              <a:rPr lang="zh-CN" altLang="en-US" dirty="0" smtClean="0">
                <a:latin typeface="宋体" panose="02010600030101010101" pitchFamily="2" charset="-122"/>
              </a:rPr>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8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80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80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80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8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4"/>
          <p:cNvSpPr/>
          <p:nvPr/>
        </p:nvSpPr>
        <p:spPr>
          <a:xfrm>
            <a:off x="323528" y="188640"/>
            <a:ext cx="5472608" cy="6247864"/>
          </a:xfrm>
          <a:prstGeom prst="rect">
            <a:avLst/>
          </a:prstGeom>
        </p:spPr>
        <p:txBody>
          <a:bodyPr wrap="square">
            <a:spAutoFit/>
          </a:bodyPr>
          <a:lstStyle/>
          <a:p>
            <a:r>
              <a:rPr lang="zh-CN" altLang="en-US" sz="2000" b="1" dirty="0">
                <a:effectLst>
                  <a:outerShdw blurRad="38100" dist="38100" dir="2700000" algn="tl">
                    <a:srgbClr val="000000">
                      <a:alpha val="43137"/>
                    </a:srgbClr>
                  </a:outerShdw>
                </a:effectLst>
              </a:rPr>
              <a:t># include &lt;stdio.h&gt;</a:t>
            </a:r>
          </a:p>
          <a:p>
            <a:r>
              <a:rPr lang="zh-CN" altLang="en-US" sz="2000" b="1" dirty="0">
                <a:solidFill>
                  <a:srgbClr val="FF0000"/>
                </a:solidFill>
                <a:effectLst>
                  <a:outerShdw blurRad="38100" dist="38100" dir="2700000" algn="tl">
                    <a:srgbClr val="000000">
                      <a:alpha val="43137"/>
                    </a:srgbClr>
                  </a:outerShdw>
                </a:effectLst>
              </a:rPr>
              <a:t># include &lt;stdlib.h&gt;</a:t>
            </a:r>
          </a:p>
          <a:p>
            <a:r>
              <a:rPr lang="zh-CN" altLang="en-US" sz="2000" b="1" dirty="0">
                <a:effectLst>
                  <a:outerShdw blurRad="38100" dist="38100" dir="2700000" algn="tl">
                    <a:srgbClr val="000000">
                      <a:alpha val="43137"/>
                    </a:srgbClr>
                  </a:outerShdw>
                </a:effectLst>
              </a:rPr>
              <a:t>int main ( )</a:t>
            </a:r>
          </a:p>
          <a:p>
            <a:r>
              <a:rPr lang="zh-CN" altLang="en-US" sz="2000" b="1" dirty="0" smtClean="0">
                <a:effectLst>
                  <a:outerShdw blurRad="38100" dist="38100" dir="2700000" algn="tl">
                    <a:srgbClr val="000000">
                      <a:alpha val="43137"/>
                    </a:srgbClr>
                  </a:outerShdw>
                </a:effectLst>
              </a:rPr>
              <a:t>{  int </a:t>
            </a:r>
            <a:r>
              <a:rPr lang="zh-CN" altLang="en-US" sz="2000" b="1" dirty="0">
                <a:effectLst>
                  <a:outerShdw blurRad="38100" dist="38100" dir="2700000" algn="tl">
                    <a:srgbClr val="000000">
                      <a:alpha val="43137"/>
                    </a:srgbClr>
                  </a:outerShdw>
                </a:effectLst>
              </a:rPr>
              <a:t>n, sum, i, *p;</a:t>
            </a:r>
          </a:p>
          <a:p>
            <a:r>
              <a:rPr lang="zh-CN" altLang="en-US" sz="2000" b="1" dirty="0" smtClean="0">
                <a:effectLst>
                  <a:outerShdw blurRad="38100" dist="38100" dir="2700000" algn="tl">
                    <a:srgbClr val="000000">
                      <a:alpha val="43137"/>
                    </a:srgbClr>
                  </a:outerShdw>
                </a:effectLst>
              </a:rPr>
              <a:t>   printf</a:t>
            </a:r>
            <a:r>
              <a:rPr lang="zh-CN" altLang="en-US" sz="2000" b="1" dirty="0">
                <a:effectLst>
                  <a:outerShdw blurRad="38100" dist="38100" dir="2700000" algn="tl">
                    <a:srgbClr val="000000">
                      <a:alpha val="43137"/>
                    </a:srgbClr>
                  </a:outerShdw>
                </a:effectLst>
              </a:rPr>
              <a:t>("Input the size of the array: ");</a:t>
            </a:r>
          </a:p>
          <a:p>
            <a:r>
              <a:rPr lang="zh-CN" altLang="en-US" sz="2000" b="1" dirty="0" smtClean="0">
                <a:effectLst>
                  <a:outerShdw blurRad="38100" dist="38100" dir="2700000" algn="tl">
                    <a:srgbClr val="000000">
                      <a:alpha val="43137"/>
                    </a:srgbClr>
                  </a:outerShdw>
                </a:effectLst>
              </a:rPr>
              <a:t>   scanf</a:t>
            </a:r>
            <a:r>
              <a:rPr lang="zh-CN" altLang="en-US" sz="2000" b="1" dirty="0">
                <a:effectLst>
                  <a:outerShdw blurRad="38100" dist="38100" dir="2700000" algn="tl">
                    <a:srgbClr val="000000">
                      <a:alpha val="43137"/>
                    </a:srgbClr>
                  </a:outerShdw>
                </a:effectLst>
              </a:rPr>
              <a:t>("%d", &amp;n);</a:t>
            </a:r>
          </a:p>
          <a:p>
            <a:r>
              <a:rPr lang="zh-CN" altLang="en-US" sz="2000" b="1" dirty="0" smtClean="0">
                <a:effectLst>
                  <a:outerShdw blurRad="38100" dist="38100" dir="2700000" algn="tl">
                    <a:srgbClr val="000000">
                      <a:alpha val="43137"/>
                    </a:srgbClr>
                  </a:outerShdw>
                </a:effectLst>
              </a:rPr>
              <a:t>   p</a:t>
            </a:r>
            <a:r>
              <a:rPr lang="zh-CN" altLang="en-US" sz="2000" b="1" dirty="0">
                <a:effectLst>
                  <a:outerShdw blurRad="38100" dist="38100" dir="2700000" algn="tl">
                    <a:srgbClr val="000000">
                      <a:alpha val="43137"/>
                    </a:srgbClr>
                  </a:outerShdw>
                </a:effectLst>
              </a:rPr>
              <a:t>=</a:t>
            </a:r>
            <a:r>
              <a:rPr lang="zh-CN" altLang="en-US" sz="2000" b="1" dirty="0">
                <a:solidFill>
                  <a:srgbClr val="FF0000"/>
                </a:solidFill>
                <a:effectLst>
                  <a:outerShdw blurRad="38100" dist="38100" dir="2700000" algn="tl">
                    <a:srgbClr val="000000">
                      <a:alpha val="43137"/>
                    </a:srgbClr>
                  </a:outerShdw>
                </a:effectLst>
              </a:rPr>
              <a:t>(int *)malloc(n* sizeof(int))</a:t>
            </a:r>
            <a:r>
              <a:rPr lang="zh-CN" altLang="en-US" sz="2000" b="1" dirty="0">
                <a:effectLst>
                  <a:outerShdw blurRad="38100" dist="38100" dir="2700000" algn="tl">
                    <a:srgbClr val="000000">
                      <a:alpha val="43137"/>
                    </a:srgbClr>
                  </a:outerShdw>
                </a:effectLst>
              </a:rPr>
              <a:t>;</a:t>
            </a:r>
          </a:p>
          <a:p>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 </a:t>
            </a:r>
            <a:r>
              <a:rPr lang="zh-CN" altLang="en-US" sz="2000" b="1" dirty="0" smtClean="0">
                <a:effectLst>
                  <a:outerShdw blurRad="38100" dist="38100" dir="2700000" algn="tl">
                    <a:srgbClr val="000000">
                      <a:alpha val="43137"/>
                    </a:srgbClr>
                  </a:outerShdw>
                </a:effectLst>
              </a:rPr>
              <a:t>if </a:t>
            </a:r>
            <a:r>
              <a:rPr lang="zh-CN" altLang="en-US" sz="2000" b="1" dirty="0">
                <a:effectLst>
                  <a:outerShdw blurRad="38100" dist="38100" dir="2700000" algn="tl">
                    <a:srgbClr val="000000">
                      <a:alpha val="43137"/>
                    </a:srgbClr>
                  </a:outerShdw>
                </a:effectLst>
              </a:rPr>
              <a:t>(p== NULL) {</a:t>
            </a:r>
          </a:p>
          <a:p>
            <a:r>
              <a:rPr lang="zh-CN" altLang="en-US" sz="2000" b="1" dirty="0">
                <a:effectLst>
                  <a:outerShdw blurRad="38100" dist="38100" dir="2700000" algn="tl">
                    <a:srgbClr val="000000">
                      <a:alpha val="43137"/>
                    </a:srgbClr>
                  </a:outerShdw>
                </a:effectLst>
              </a:rPr>
              <a:t>      printf("There is not enough money\n");</a:t>
            </a:r>
          </a:p>
          <a:p>
            <a:r>
              <a:rPr lang="zh-CN" altLang="en-US" sz="2000" b="1" dirty="0">
                <a:effectLst>
                  <a:outerShdw blurRad="38100" dist="38100" dir="2700000" algn="tl">
                    <a:srgbClr val="000000">
                      <a:alpha val="43137"/>
                    </a:srgbClr>
                  </a:outerShdw>
                </a:effectLst>
              </a:rPr>
              <a:t>      return -1;}</a:t>
            </a:r>
          </a:p>
          <a:p>
            <a:r>
              <a:rPr lang="zh-CN" altLang="en-US" sz="2000" b="1" dirty="0">
                <a:effectLst>
                  <a:outerShdw blurRad="38100" dist="38100" dir="2700000" algn="tl">
                    <a:srgbClr val="000000">
                      <a:alpha val="43137"/>
                    </a:srgbClr>
                  </a:outerShdw>
                </a:effectLst>
              </a:rPr>
              <a:t>    printf("Enter %d values of array: \n", n);</a:t>
            </a:r>
          </a:p>
          <a:p>
            <a:r>
              <a:rPr lang="zh-CN" altLang="en-US" sz="2000" b="1" dirty="0" smtClean="0">
                <a:effectLst>
                  <a:outerShdw blurRad="38100" dist="38100" dir="2700000" algn="tl">
                    <a:srgbClr val="000000">
                      <a:alpha val="43137"/>
                    </a:srgbClr>
                  </a:outerShdw>
                </a:effectLst>
              </a:rPr>
              <a:t>    for </a:t>
            </a:r>
            <a:r>
              <a:rPr lang="zh-CN" altLang="en-US" sz="2000" b="1" dirty="0">
                <a:effectLst>
                  <a:outerShdw blurRad="38100" dist="38100" dir="2700000" algn="tl">
                    <a:srgbClr val="000000">
                      <a:alpha val="43137"/>
                    </a:srgbClr>
                  </a:outerShdw>
                </a:effectLst>
              </a:rPr>
              <a:t>(i=0; i&lt;n; i++)</a:t>
            </a:r>
          </a:p>
          <a:p>
            <a:r>
              <a:rPr lang="zh-CN" altLang="en-US" sz="2000" b="1" dirty="0" smtClean="0">
                <a:effectLst>
                  <a:outerShdw blurRad="38100" dist="38100" dir="2700000" algn="tl">
                    <a:srgbClr val="000000">
                      <a:alpha val="43137"/>
                    </a:srgbClr>
                  </a:outerShdw>
                </a:effectLst>
              </a:rPr>
              <a:t>      </a:t>
            </a:r>
            <a:r>
              <a:rPr lang="zh-CN" altLang="en-US" sz="2000" b="1" dirty="0" smtClean="0">
                <a:solidFill>
                  <a:srgbClr val="FF0000"/>
                </a:solidFill>
                <a:effectLst>
                  <a:outerShdw blurRad="38100" dist="38100" dir="2700000" algn="tl">
                    <a:srgbClr val="000000">
                      <a:alpha val="43137"/>
                    </a:srgbClr>
                  </a:outerShdw>
                </a:effectLst>
              </a:rPr>
              <a:t>scanf</a:t>
            </a:r>
            <a:r>
              <a:rPr lang="zh-CN" altLang="en-US" sz="2000" b="1" dirty="0">
                <a:solidFill>
                  <a:srgbClr val="FF0000"/>
                </a:solidFill>
                <a:effectLst>
                  <a:outerShdw blurRad="38100" dist="38100" dir="2700000" algn="tl">
                    <a:srgbClr val="000000">
                      <a:alpha val="43137"/>
                    </a:srgbClr>
                  </a:outerShdw>
                </a:effectLst>
              </a:rPr>
              <a:t>("%d", p+i)</a:t>
            </a:r>
            <a:r>
              <a:rPr lang="zh-CN" altLang="en-US" sz="2000" b="1" dirty="0">
                <a:effectLst>
                  <a:outerShdw blurRad="38100" dist="38100" dir="2700000" algn="tl">
                    <a:srgbClr val="000000">
                      <a:alpha val="43137"/>
                    </a:srgbClr>
                  </a:outerShdw>
                </a:effectLst>
              </a:rPr>
              <a:t>;</a:t>
            </a:r>
          </a:p>
          <a:p>
            <a:r>
              <a:rPr lang="zh-CN" altLang="en-US" sz="2000" b="1" dirty="0">
                <a:effectLst>
                  <a:outerShdw blurRad="38100" dist="38100" dir="2700000" algn="tl">
                    <a:srgbClr val="000000">
                      <a:alpha val="43137"/>
                    </a:srgbClr>
                  </a:outerShdw>
                </a:effectLst>
              </a:rPr>
              <a:t>    sum = 0;</a:t>
            </a:r>
          </a:p>
          <a:p>
            <a:r>
              <a:rPr lang="zh-CN" altLang="en-US" sz="2000" b="1" dirty="0" smtClean="0">
                <a:effectLst>
                  <a:outerShdw blurRad="38100" dist="38100" dir="2700000" algn="tl">
                    <a:srgbClr val="000000">
                      <a:alpha val="43137"/>
                    </a:srgbClr>
                  </a:outerShdw>
                </a:effectLst>
              </a:rPr>
              <a:t>    for </a:t>
            </a:r>
            <a:r>
              <a:rPr lang="zh-CN" altLang="en-US" sz="2000" b="1" dirty="0">
                <a:effectLst>
                  <a:outerShdw blurRad="38100" dist="38100" dir="2700000" algn="tl">
                    <a:srgbClr val="000000">
                      <a:alpha val="43137"/>
                    </a:srgbClr>
                  </a:outerShdw>
                </a:effectLst>
              </a:rPr>
              <a:t>(i=0; i&lt;n; i++)</a:t>
            </a:r>
          </a:p>
          <a:p>
            <a:r>
              <a:rPr lang="zh-CN" altLang="en-US" sz="2000" b="1" dirty="0" smtClean="0">
                <a:effectLst>
                  <a:outerShdw blurRad="38100" dist="38100" dir="2700000" algn="tl">
                    <a:srgbClr val="000000">
                      <a:alpha val="43137"/>
                    </a:srgbClr>
                  </a:outerShdw>
                </a:effectLst>
              </a:rPr>
              <a:t>      </a:t>
            </a:r>
            <a:r>
              <a:rPr lang="zh-CN" altLang="en-US" sz="2000" b="1" dirty="0" smtClean="0">
                <a:solidFill>
                  <a:srgbClr val="FF0000"/>
                </a:solidFill>
                <a:effectLst>
                  <a:outerShdw blurRad="38100" dist="38100" dir="2700000" algn="tl">
                    <a:srgbClr val="000000">
                      <a:alpha val="43137"/>
                    </a:srgbClr>
                  </a:outerShdw>
                </a:effectLst>
              </a:rPr>
              <a:t>sum</a:t>
            </a:r>
            <a:r>
              <a:rPr lang="zh-CN" altLang="en-US" sz="2000" b="1" dirty="0">
                <a:solidFill>
                  <a:srgbClr val="FF0000"/>
                </a:solidFill>
                <a:effectLst>
                  <a:outerShdw blurRad="38100" dist="38100" dir="2700000" algn="tl">
                    <a:srgbClr val="000000">
                      <a:alpha val="43137"/>
                    </a:srgbClr>
                  </a:outerShdw>
                </a:effectLst>
              </a:rPr>
              <a:t>=sum+*(p+i)</a:t>
            </a:r>
            <a:r>
              <a:rPr lang="zh-CN" altLang="en-US" sz="2000" b="1" dirty="0">
                <a:effectLst>
                  <a:outerShdw blurRad="38100" dist="38100" dir="2700000" algn="tl">
                    <a:srgbClr val="000000">
                      <a:alpha val="43137"/>
                    </a:srgbClr>
                  </a:outerShdw>
                </a:effectLst>
              </a:rPr>
              <a:t>;</a:t>
            </a:r>
          </a:p>
          <a:p>
            <a:r>
              <a:rPr lang="zh-CN" altLang="en-US" sz="2000" b="1" dirty="0" smtClean="0">
                <a:effectLst>
                  <a:outerShdw blurRad="38100" dist="38100" dir="2700000" algn="tl">
                    <a:srgbClr val="000000">
                      <a:alpha val="43137"/>
                    </a:srgbClr>
                  </a:outerShdw>
                </a:effectLst>
              </a:rPr>
              <a:t>    printf</a:t>
            </a:r>
            <a:r>
              <a:rPr lang="zh-CN" altLang="en-US" sz="2000" b="1" dirty="0">
                <a:effectLst>
                  <a:outerShdw blurRad="38100" dist="38100" dir="2700000" algn="tl">
                    <a:srgbClr val="000000">
                      <a:alpha val="43137"/>
                    </a:srgbClr>
                  </a:outerShdw>
                </a:effectLst>
              </a:rPr>
              <a:t>("The sum is %d \n",sum);</a:t>
            </a:r>
          </a:p>
          <a:p>
            <a:r>
              <a:rPr lang="zh-CN" altLang="en-US" sz="2000" b="1" dirty="0" smtClean="0">
                <a:effectLst>
                  <a:outerShdw blurRad="38100" dist="38100" dir="2700000" algn="tl">
                    <a:srgbClr val="000000">
                      <a:alpha val="43137"/>
                    </a:srgbClr>
                  </a:outerShdw>
                </a:effectLst>
              </a:rPr>
              <a:t>    </a:t>
            </a:r>
            <a:r>
              <a:rPr lang="zh-CN" altLang="en-US" sz="2000" b="1" dirty="0" smtClean="0">
                <a:solidFill>
                  <a:srgbClr val="FF0000"/>
                </a:solidFill>
                <a:effectLst>
                  <a:outerShdw blurRad="38100" dist="38100" dir="2700000" algn="tl">
                    <a:srgbClr val="000000">
                      <a:alpha val="43137"/>
                    </a:srgbClr>
                  </a:outerShdw>
                </a:effectLst>
              </a:rPr>
              <a:t>free</a:t>
            </a:r>
            <a:r>
              <a:rPr lang="zh-CN" altLang="en-US" sz="2000" b="1" dirty="0">
                <a:solidFill>
                  <a:srgbClr val="FF0000"/>
                </a:solidFill>
                <a:effectLst>
                  <a:outerShdw blurRad="38100" dist="38100" dir="2700000" algn="tl">
                    <a:srgbClr val="000000">
                      <a:alpha val="43137"/>
                    </a:srgbClr>
                  </a:outerShdw>
                </a:effectLst>
              </a:rPr>
              <a:t>(p)</a:t>
            </a:r>
            <a:r>
              <a:rPr lang="zh-CN" altLang="en-US" sz="2000" b="1" dirty="0">
                <a:effectLst>
                  <a:outerShdw blurRad="38100" dist="38100" dir="2700000" algn="tl">
                    <a:srgbClr val="000000">
                      <a:alpha val="43137"/>
                    </a:srgbClr>
                  </a:outerShdw>
                </a:effectLst>
              </a:rPr>
              <a:t>;</a:t>
            </a:r>
          </a:p>
          <a:p>
            <a:r>
              <a:rPr lang="zh-CN" altLang="en-US" sz="2000" b="1" dirty="0" smtClean="0">
                <a:effectLst>
                  <a:outerShdw blurRad="38100" dist="38100" dir="2700000" algn="tl">
                    <a:srgbClr val="000000">
                      <a:alpha val="43137"/>
                    </a:srgbClr>
                  </a:outerShdw>
                </a:effectLst>
              </a:rPr>
              <a:t>    return </a:t>
            </a:r>
            <a:r>
              <a:rPr lang="zh-CN" altLang="en-US" sz="2000" b="1" dirty="0">
                <a:effectLst>
                  <a:outerShdw blurRad="38100" dist="38100" dir="2700000" algn="tl">
                    <a:srgbClr val="000000">
                      <a:alpha val="43137"/>
                    </a:srgbClr>
                  </a:outerShdw>
                </a:effectLst>
              </a:rPr>
              <a:t>0;</a:t>
            </a:r>
          </a:p>
          <a:p>
            <a:r>
              <a:rPr lang="zh-CN" altLang="en-US" sz="2000" b="1" dirty="0">
                <a:effectLst>
                  <a:outerShdw blurRad="38100" dist="38100" dir="2700000" algn="tl">
                    <a:srgbClr val="000000">
                      <a:alpha val="43137"/>
                    </a:srgbClr>
                  </a:outerShdw>
                </a:effectLst>
              </a:rPr>
              <a:t>}</a:t>
            </a:r>
          </a:p>
        </p:txBody>
      </p:sp>
      <p:sp>
        <p:nvSpPr>
          <p:cNvPr id="6" name="矩形 5"/>
          <p:cNvSpPr/>
          <p:nvPr/>
        </p:nvSpPr>
        <p:spPr>
          <a:xfrm>
            <a:off x="5868144" y="1916832"/>
            <a:ext cx="2880319" cy="1938992"/>
          </a:xfrm>
          <a:prstGeom prst="rect">
            <a:avLst/>
          </a:prstGeom>
        </p:spPr>
        <p:txBody>
          <a:bodyPr wrap="square">
            <a:spAutoFit/>
          </a:bodyPr>
          <a:lstStyle/>
          <a:p>
            <a:pPr marL="0" indent="0">
              <a:buNone/>
            </a:pPr>
            <a:r>
              <a:rPr lang="en-US" altLang="zh-CN"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申请动态分配能存放</a:t>
            </a:r>
            <a:r>
              <a:rPr lang="en-US" altLang="zh-CN"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n</a:t>
            </a:r>
            <a:r>
              <a:rPr lang="zh-CN" altLang="en-US"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个整数的内存空间，并把返回的地址强转成整数指针，可以用来存放</a:t>
            </a:r>
            <a:r>
              <a:rPr lang="zh-CN" altLang="en-US" sz="2000"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整数，起始地址返回给指针</a:t>
            </a:r>
            <a:r>
              <a:rPr lang="en-US" altLang="zh-CN" sz="2000"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p</a:t>
            </a:r>
            <a:r>
              <a:rPr lang="zh-CN" altLang="en-US" sz="2000"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000"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en-US" altLang="zh-CN"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7" name="矩形 6"/>
          <p:cNvSpPr/>
          <p:nvPr/>
        </p:nvSpPr>
        <p:spPr>
          <a:xfrm>
            <a:off x="5508104" y="5517232"/>
            <a:ext cx="3286477" cy="400110"/>
          </a:xfrm>
          <a:prstGeom prst="rect">
            <a:avLst/>
          </a:prstGeom>
        </p:spPr>
        <p:txBody>
          <a:bodyPr wrap="none">
            <a:spAutoFit/>
          </a:bodyPr>
          <a:lstStyle/>
          <a:p>
            <a:pPr marL="0" indent="0">
              <a:buNone/>
            </a:pPr>
            <a:r>
              <a:rPr lang="en-US" altLang="zh-CN"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释放动态分配的空间 *</a:t>
            </a:r>
            <a:r>
              <a:rPr lang="en-US" altLang="zh-CN"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475260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977596" y="2896791"/>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6.1.5 </a:t>
            </a:r>
            <a:r>
              <a:rPr lang="zh-CN" altLang="en-US" sz="4000" b="1" dirty="0" smtClean="0">
                <a:effectLst>
                  <a:outerShdw blurRad="38100" dist="38100" dir="2700000" algn="tl">
                    <a:srgbClr val="C0C0C0"/>
                  </a:outerShdw>
                </a:effectLst>
                <a:ea typeface="黑体" panose="02010609060101010101" pitchFamily="2" charset="-122"/>
              </a:rPr>
              <a:t>指针与字符串</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3697829297"/>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755650" y="765175"/>
            <a:ext cx="6696670" cy="784225"/>
          </a:xfrm>
        </p:spPr>
        <p:txBody>
          <a:bodyPr vert="horz" wrap="square" lIns="91440" tIns="45720" rIns="91440" bIns="45720" anchor="ctr"/>
          <a:lstStyle/>
          <a:p>
            <a:pPr eaLnBrk="1" hangingPunct="1"/>
            <a:r>
              <a:rPr lang="zh-CN" altLang="en-US" dirty="0" smtClean="0"/>
              <a:t>指针与字符串</a:t>
            </a:r>
            <a:endParaRPr lang="en-US" altLang="zh-CN" dirty="0"/>
          </a:p>
        </p:txBody>
      </p:sp>
      <p:sp>
        <p:nvSpPr>
          <p:cNvPr id="68611" name="Rectangle 3"/>
          <p:cNvSpPr>
            <a:spLocks noGrp="1"/>
          </p:cNvSpPr>
          <p:nvPr>
            <p:ph idx="1"/>
          </p:nvPr>
        </p:nvSpPr>
        <p:spPr>
          <a:xfrm>
            <a:off x="755015" y="1556068"/>
            <a:ext cx="8315325" cy="1152525"/>
          </a:xfrm>
        </p:spPr>
        <p:txBody>
          <a:bodyPr vert="horz" wrap="square" lIns="91440" tIns="45720" rIns="91440" bIns="45720" anchor="t"/>
          <a:lstStyle/>
          <a:p>
            <a:pPr eaLnBrk="1" hangingPunct="1">
              <a:lnSpc>
                <a:spcPct val="110000"/>
              </a:lnSpc>
              <a:buFont typeface="Monotype Sorts" pitchFamily="2" charset="2"/>
              <a:buChar char=""/>
            </a:pPr>
            <a:r>
              <a:rPr lang="en-US" altLang="zh-CN" dirty="0"/>
              <a:t>C</a:t>
            </a:r>
            <a:r>
              <a:rPr lang="zh-CN" altLang="en-US" dirty="0"/>
              <a:t>语言并没有为字符串提供任何专门的表示法，完全使用字符数组和字符指针来处理</a:t>
            </a:r>
          </a:p>
        </p:txBody>
      </p:sp>
      <p:sp>
        <p:nvSpPr>
          <p:cNvPr id="665604" name="Rectangle 4"/>
          <p:cNvSpPr/>
          <p:nvPr/>
        </p:nvSpPr>
        <p:spPr>
          <a:xfrm>
            <a:off x="3995738" y="2636838"/>
            <a:ext cx="5005387" cy="647700"/>
          </a:xfrm>
          <a:prstGeom prst="rect">
            <a:avLst/>
          </a:prstGeom>
          <a:solidFill>
            <a:srgbClr val="FFFF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400" dirty="0">
                <a:solidFill>
                  <a:srgbClr val="000066"/>
                </a:solidFill>
                <a:latin typeface="楷体_GB2312" panose="02010609030101010101" pitchFamily="49" charset="-122"/>
                <a:ea typeface="楷体_GB2312" panose="02010609030101010101" pitchFamily="49" charset="-122"/>
              </a:rPr>
              <a:t>字符串是一串用双引号引起来的字符</a:t>
            </a:r>
          </a:p>
        </p:txBody>
      </p:sp>
      <p:grpSp>
        <p:nvGrpSpPr>
          <p:cNvPr id="2" name="Group 5"/>
          <p:cNvGrpSpPr/>
          <p:nvPr/>
        </p:nvGrpSpPr>
        <p:grpSpPr>
          <a:xfrm>
            <a:off x="1042988" y="3646488"/>
            <a:ext cx="6769100" cy="503237"/>
            <a:chOff x="839" y="1389"/>
            <a:chExt cx="4264" cy="317"/>
          </a:xfrm>
        </p:grpSpPr>
        <p:grpSp>
          <p:nvGrpSpPr>
            <p:cNvPr id="68621" name="Group 6"/>
            <p:cNvGrpSpPr/>
            <p:nvPr/>
          </p:nvGrpSpPr>
          <p:grpSpPr>
            <a:xfrm>
              <a:off x="839" y="1389"/>
              <a:ext cx="4173" cy="317"/>
              <a:chOff x="1474" y="1389"/>
              <a:chExt cx="4173" cy="317"/>
            </a:xfrm>
          </p:grpSpPr>
          <p:sp>
            <p:nvSpPr>
              <p:cNvPr id="665607" name="Rectangle 7"/>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08" name="Line 8"/>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09" name="Line 9"/>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0" name="Line 10"/>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1" name="Line 11"/>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2" name="Line 12"/>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3" name="Line 13"/>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4" name="Line 14"/>
              <p:cNvSpPr>
                <a:spLocks noChangeShapeType="1"/>
              </p:cNvSpPr>
              <p:nvPr/>
            </p:nvSpPr>
            <p:spPr bwMode="auto">
              <a:xfrm>
                <a:off x="396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5" name="Line 15"/>
              <p:cNvSpPr>
                <a:spLocks noChangeShapeType="1"/>
              </p:cNvSpPr>
              <p:nvPr/>
            </p:nvSpPr>
            <p:spPr bwMode="auto">
              <a:xfrm>
                <a:off x="431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6" name="Line 16"/>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7" name="Line 17"/>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18" name="Line 18"/>
              <p:cNvSpPr>
                <a:spLocks noChangeShapeType="1"/>
              </p:cNvSpPr>
              <p:nvPr/>
            </p:nvSpPr>
            <p:spPr bwMode="auto">
              <a:xfrm>
                <a:off x="5314"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665619" name="Text Box 19"/>
            <p:cNvSpPr txBox="1">
              <a:spLocks noChangeArrowheads="1"/>
            </p:cNvSpPr>
            <p:nvPr/>
          </p:nvSpPr>
          <p:spPr bwMode="auto">
            <a:xfrm>
              <a:off x="859" y="1427"/>
              <a:ext cx="4244" cy="233"/>
            </a:xfrm>
            <a:prstGeom prst="rect">
              <a:avLst/>
            </a:prstGeom>
            <a:noFill/>
            <a:ln w="12700">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H     </a:t>
              </a:r>
              <a:r>
                <a:rPr kumimoji="0" lang="en-US" altLang="zh-CN" sz="18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e       </a:t>
              </a: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l       </a:t>
              </a:r>
              <a:r>
                <a:rPr kumimoji="0" lang="en-US" altLang="zh-CN" sz="18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l        o                C      h       i       n      a      </a:t>
              </a: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     </a:t>
              </a:r>
            </a:p>
          </p:txBody>
        </p:sp>
      </p:grpSp>
      <p:sp>
        <p:nvSpPr>
          <p:cNvPr id="665620" name="Rectangle 20"/>
          <p:cNvSpPr/>
          <p:nvPr/>
        </p:nvSpPr>
        <p:spPr>
          <a:xfrm>
            <a:off x="2124075" y="5157788"/>
            <a:ext cx="5759450" cy="647700"/>
          </a:xfrm>
          <a:prstGeom prst="rect">
            <a:avLst/>
          </a:prstGeom>
          <a:solidFill>
            <a:srgbClr val="FFFF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400" dirty="0">
                <a:latin typeface="Times New Roman" panose="02020603050405020304" pitchFamily="18" charset="0"/>
                <a:ea typeface="楷体_GB2312" panose="02010609030101010101" pitchFamily="49" charset="-122"/>
              </a:rPr>
              <a:t>字符数组就是每个元素都是字符型的数组</a:t>
            </a:r>
          </a:p>
        </p:txBody>
      </p:sp>
      <p:sp>
        <p:nvSpPr>
          <p:cNvPr id="665621" name="Rectangle 21"/>
          <p:cNvSpPr/>
          <p:nvPr/>
        </p:nvSpPr>
        <p:spPr>
          <a:xfrm>
            <a:off x="2125663" y="6021388"/>
            <a:ext cx="5759450" cy="647700"/>
          </a:xfrm>
          <a:prstGeom prst="rect">
            <a:avLst/>
          </a:prstGeom>
          <a:solidFill>
            <a:srgbClr val="FFFF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400" dirty="0">
                <a:solidFill>
                  <a:srgbClr val="000066"/>
                </a:solidFill>
                <a:latin typeface="Times New Roman" panose="02020603050405020304" pitchFamily="18" charset="0"/>
                <a:ea typeface="楷体_GB2312" panose="02010609030101010101" pitchFamily="49" charset="-122"/>
              </a:rPr>
              <a:t>字符指针就是指向字符类型数据的指针</a:t>
            </a:r>
          </a:p>
        </p:txBody>
      </p:sp>
      <p:sp>
        <p:nvSpPr>
          <p:cNvPr id="665622" name="Text Box 22"/>
          <p:cNvSpPr txBox="1"/>
          <p:nvPr/>
        </p:nvSpPr>
        <p:spPr>
          <a:xfrm>
            <a:off x="1042988" y="2684463"/>
            <a:ext cx="2663825" cy="457200"/>
          </a:xfrm>
          <a:prstGeom prst="rect">
            <a:avLst/>
          </a:prstGeom>
          <a:solidFill>
            <a:srgbClr val="FFCC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solidFill>
                  <a:srgbClr val="000066"/>
                </a:solidFill>
                <a:latin typeface="Courier New" panose="02070309020205020404" pitchFamily="49" charset="0"/>
              </a:rPr>
              <a:t>"Hello China"</a:t>
            </a:r>
          </a:p>
        </p:txBody>
      </p:sp>
      <p:sp>
        <p:nvSpPr>
          <p:cNvPr id="665623" name="Line 23"/>
          <p:cNvSpPr>
            <a:spLocks noChangeShapeType="1"/>
          </p:cNvSpPr>
          <p:nvPr/>
        </p:nvSpPr>
        <p:spPr bwMode="auto">
          <a:xfrm flipV="1">
            <a:off x="1331913" y="4295775"/>
            <a:ext cx="0" cy="1725613"/>
          </a:xfrm>
          <a:prstGeom prst="line">
            <a:avLst/>
          </a:prstGeom>
          <a:noFill/>
          <a:ln w="57150">
            <a:solidFill>
              <a:srgbClr val="FF0000"/>
            </a:solidFill>
            <a:round/>
            <a:headEnd type="none" w="sm" len="sm"/>
            <a:tailEnd type="stealth"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24" name="Text Box 24"/>
          <p:cNvSpPr txBox="1"/>
          <p:nvPr/>
        </p:nvSpPr>
        <p:spPr>
          <a:xfrm>
            <a:off x="900113" y="5929313"/>
            <a:ext cx="936625" cy="457200"/>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solidFill>
                  <a:srgbClr val="FF0000"/>
                </a:solidFill>
                <a:latin typeface="Courier New" panose="02070309020205020404" pitchFamily="49" charset="0"/>
              </a:rPr>
              <a:t>pStr</a:t>
            </a:r>
          </a:p>
        </p:txBody>
      </p:sp>
      <p:sp>
        <p:nvSpPr>
          <p:cNvPr id="665625" name="Rectangle 25"/>
          <p:cNvSpPr>
            <a:spLocks noChangeArrowheads="1"/>
          </p:cNvSpPr>
          <p:nvPr/>
        </p:nvSpPr>
        <p:spPr bwMode="auto">
          <a:xfrm>
            <a:off x="7056000" y="3529013"/>
            <a:ext cx="719138" cy="720725"/>
          </a:xfrm>
          <a:prstGeom prst="rect">
            <a:avLst/>
          </a:prstGeom>
          <a:noFill/>
          <a:ln w="5715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5626" name="Rectangle 26"/>
          <p:cNvSpPr/>
          <p:nvPr/>
        </p:nvSpPr>
        <p:spPr>
          <a:xfrm>
            <a:off x="2124075" y="4365625"/>
            <a:ext cx="5759450" cy="647700"/>
          </a:xfrm>
          <a:prstGeom prst="rect">
            <a:avLst/>
          </a:prstGeom>
          <a:solidFill>
            <a:srgbClr val="FFFF99"/>
          </a:solidFill>
          <a:ln w="28575" cap="flat" cmpd="sng">
            <a:solidFill>
              <a:srgbClr val="800000"/>
            </a:solidFill>
            <a:prstDash val="solid"/>
            <a:miter/>
            <a:headEnd type="none" w="med" len="med"/>
            <a:tailEnd type="none" w="med" len="med"/>
          </a:ln>
        </p:spPr>
        <p:txBody>
          <a:bodyPr wrap="none" anchor="ct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algn="ctr" eaLnBrk="1" hangingPunct="1">
              <a:spcBef>
                <a:spcPct val="0"/>
              </a:spcBef>
              <a:buClr>
                <a:srgbClr val="000000"/>
              </a:buClr>
              <a:buNone/>
            </a:pPr>
            <a:r>
              <a:rPr lang="zh-CN" altLang="en-US" sz="2400" dirty="0">
                <a:solidFill>
                  <a:srgbClr val="000066"/>
                </a:solidFill>
                <a:latin typeface="Times New Roman" panose="02020603050405020304" pitchFamily="18" charset="0"/>
                <a:ea typeface="楷体_GB2312" panose="02010609030101010101" pitchFamily="49" charset="-122"/>
              </a:rPr>
              <a:t>数组最后一个元素必须是</a:t>
            </a:r>
            <a:r>
              <a:rPr lang="en-US" altLang="zh-CN" sz="2400" dirty="0">
                <a:solidFill>
                  <a:srgbClr val="000066"/>
                </a:solidFill>
                <a:latin typeface="Times New Roman" panose="02020603050405020304" pitchFamily="18" charset="0"/>
              </a:rPr>
              <a:t>'\0'</a:t>
            </a:r>
            <a:r>
              <a:rPr lang="zh-CN" altLang="en-US" sz="2400" dirty="0">
                <a:solidFill>
                  <a:srgbClr val="000066"/>
                </a:solidFill>
                <a:latin typeface="Times New Roman" panose="02020603050405020304" pitchFamily="18" charset="0"/>
                <a:ea typeface="楷体_GB2312" panose="02010609030101010101" pitchFamily="49" charset="-122"/>
              </a:rPr>
              <a:t>才表示字符串</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755650" y="765175"/>
            <a:ext cx="6696670" cy="784225"/>
          </a:xfrm>
        </p:spPr>
        <p:txBody>
          <a:bodyPr vert="horz" wrap="square" lIns="91440" tIns="45720" rIns="91440" bIns="45720" anchor="ctr"/>
          <a:lstStyle/>
          <a:p>
            <a:pPr eaLnBrk="1" hangingPunct="1"/>
            <a:r>
              <a:rPr lang="zh-CN" altLang="en-US" dirty="0" smtClean="0"/>
              <a:t>指针与字符串</a:t>
            </a:r>
            <a:endParaRPr lang="en-US" altLang="zh-CN" dirty="0"/>
          </a:p>
        </p:txBody>
      </p:sp>
      <p:sp>
        <p:nvSpPr>
          <p:cNvPr id="68611" name="Rectangle 3"/>
          <p:cNvSpPr>
            <a:spLocks noGrp="1"/>
          </p:cNvSpPr>
          <p:nvPr>
            <p:ph idx="1"/>
          </p:nvPr>
        </p:nvSpPr>
        <p:spPr>
          <a:xfrm>
            <a:off x="755015" y="1556068"/>
            <a:ext cx="8315325" cy="2304980"/>
          </a:xfrm>
        </p:spPr>
        <p:txBody>
          <a:bodyPr vert="horz" wrap="square" lIns="91440" tIns="45720" rIns="91440" bIns="45720" anchor="t"/>
          <a:lstStyle/>
          <a:p>
            <a:r>
              <a:rPr lang="zh-CN" altLang="en-US" dirty="0" smtClean="0"/>
              <a:t>字符型指针变量的定义格式</a:t>
            </a:r>
            <a:endParaRPr lang="en-US" altLang="zh-CN" dirty="0" smtClean="0"/>
          </a:p>
          <a:p>
            <a:pPr marL="0" indent="0">
              <a:buNone/>
            </a:pPr>
            <a:r>
              <a:rPr lang="en-US" altLang="zh-CN" dirty="0"/>
              <a:t> </a:t>
            </a:r>
            <a:r>
              <a:rPr lang="en-US" altLang="zh-CN" dirty="0" smtClean="0"/>
              <a:t>   char  *</a:t>
            </a:r>
            <a:r>
              <a:rPr lang="zh-CN" altLang="en-US" dirty="0" smtClean="0"/>
              <a:t>指针变量名</a:t>
            </a:r>
            <a:r>
              <a:rPr lang="en-US" altLang="zh-CN" dirty="0" smtClean="0"/>
              <a:t>;</a:t>
            </a:r>
          </a:p>
          <a:p>
            <a:pPr marL="0" indent="0">
              <a:buNone/>
            </a:pPr>
            <a:endParaRPr lang="zh-CN" altLang="en-US" dirty="0"/>
          </a:p>
        </p:txBody>
      </p:sp>
    </p:spTree>
    <p:extLst>
      <p:ext uri="{BB962C8B-B14F-4D97-AF65-F5344CB8AC3E}">
        <p14:creationId xmlns:p14="http://schemas.microsoft.com/office/powerpoint/2010/main" val="1290216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755650" y="836930"/>
            <a:ext cx="7924800" cy="784225"/>
          </a:xfrm>
        </p:spPr>
        <p:txBody>
          <a:bodyPr vert="horz" wrap="square" lIns="91440" tIns="45720" rIns="91440" bIns="45720" anchor="ctr"/>
          <a:lstStyle/>
          <a:p>
            <a:pPr eaLnBrk="1" hangingPunct="1"/>
            <a:r>
              <a:rPr lang="zh-CN" altLang="en-US" dirty="0"/>
              <a:t>字符数组和字符指针处理</a:t>
            </a:r>
            <a:r>
              <a:rPr lang="zh-CN" altLang="en-US" dirty="0" smtClean="0"/>
              <a:t>字符串</a:t>
            </a:r>
            <a:r>
              <a:rPr lang="zh-CN" altLang="en-US" dirty="0"/>
              <a:t>常量</a:t>
            </a:r>
            <a:endParaRPr lang="en-US" altLang="zh-CN" dirty="0"/>
          </a:p>
        </p:txBody>
      </p:sp>
      <p:sp>
        <p:nvSpPr>
          <p:cNvPr id="667651" name="Rectangle 3"/>
          <p:cNvSpPr>
            <a:spLocks noChangeArrowheads="1"/>
          </p:cNvSpPr>
          <p:nvPr/>
        </p:nvSpPr>
        <p:spPr bwMode="auto">
          <a:xfrm>
            <a:off x="3346133" y="3259773"/>
            <a:ext cx="4392613" cy="576263"/>
          </a:xfrm>
          <a:prstGeom prst="rect">
            <a:avLst/>
          </a:prstGeom>
          <a:noFill/>
          <a:ln w="9525">
            <a:noFill/>
            <a:miter lim="800000"/>
          </a:ln>
          <a:effectLst/>
        </p:spPr>
        <p:txBody>
          <a:bodyPr lIns="92075" tIns="46037" rIns="92075" bIns="46037"/>
          <a:lstStyle/>
          <a:p>
            <a:pPr marL="374650" marR="0" lvl="0" indent="-374650" algn="l" defTabSz="914400" rtl="0" eaLnBrk="1" fontAlgn="base" latinLnBrk="0" hangingPunct="1">
              <a:lnSpc>
                <a:spcPct val="90000"/>
              </a:lnSpc>
              <a:spcBef>
                <a:spcPct val="20000"/>
              </a:spcBef>
              <a:spcAft>
                <a:spcPct val="0"/>
              </a:spcAft>
              <a:buClr>
                <a:srgbClr val="FFCC66"/>
              </a:buClr>
              <a:buSzPct val="80000"/>
              <a:buFont typeface="Monotype Sorts" pitchFamily="2" charset="2"/>
              <a:buChar char=""/>
              <a:defRPr/>
            </a:pPr>
            <a:r>
              <a:rPr kumimoji="1" lang="zh-CN" altLang="en-US"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华文仿宋" panose="02010600040101010101" pitchFamily="2" charset="-122"/>
                <a:ea typeface="宋体" panose="02010600030101010101" pitchFamily="2" charset="-122"/>
                <a:cs typeface="+mn-cs"/>
              </a:rPr>
              <a:t>定义和初始化方法不同</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endParaRPr kumimoji="1"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p:txBody>
      </p:sp>
      <p:grpSp>
        <p:nvGrpSpPr>
          <p:cNvPr id="69637" name="Group 5"/>
          <p:cNvGrpSpPr/>
          <p:nvPr/>
        </p:nvGrpSpPr>
        <p:grpSpPr>
          <a:xfrm>
            <a:off x="1545908" y="2419985"/>
            <a:ext cx="6769100" cy="503238"/>
            <a:chOff x="839" y="1389"/>
            <a:chExt cx="4264" cy="317"/>
          </a:xfrm>
        </p:grpSpPr>
        <p:grpSp>
          <p:nvGrpSpPr>
            <p:cNvPr id="69653" name="Group 6"/>
            <p:cNvGrpSpPr/>
            <p:nvPr/>
          </p:nvGrpSpPr>
          <p:grpSpPr>
            <a:xfrm>
              <a:off x="839" y="1389"/>
              <a:ext cx="4173" cy="317"/>
              <a:chOff x="1474" y="1389"/>
              <a:chExt cx="4173" cy="317"/>
            </a:xfrm>
          </p:grpSpPr>
          <p:sp>
            <p:nvSpPr>
              <p:cNvPr id="667655" name="Rectangle 7"/>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56" name="Line 8"/>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57" name="Line 9"/>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58" name="Line 10"/>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59" name="Line 11"/>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0" name="Line 12"/>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1" name="Line 13"/>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2" name="Line 14"/>
              <p:cNvSpPr>
                <a:spLocks noChangeShapeType="1"/>
              </p:cNvSpPr>
              <p:nvPr/>
            </p:nvSpPr>
            <p:spPr bwMode="auto">
              <a:xfrm>
                <a:off x="396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3" name="Line 15"/>
              <p:cNvSpPr>
                <a:spLocks noChangeShapeType="1"/>
              </p:cNvSpPr>
              <p:nvPr/>
            </p:nvSpPr>
            <p:spPr bwMode="auto">
              <a:xfrm>
                <a:off x="431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4" name="Line 16"/>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5" name="Line 17"/>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66" name="Line 18"/>
              <p:cNvSpPr>
                <a:spLocks noChangeShapeType="1"/>
              </p:cNvSpPr>
              <p:nvPr/>
            </p:nvSpPr>
            <p:spPr bwMode="auto">
              <a:xfrm>
                <a:off x="5314"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667667" name="Text Box 19"/>
            <p:cNvSpPr txBox="1">
              <a:spLocks noChangeArrowheads="1"/>
            </p:cNvSpPr>
            <p:nvPr/>
          </p:nvSpPr>
          <p:spPr bwMode="auto">
            <a:xfrm>
              <a:off x="859" y="1393"/>
              <a:ext cx="4244" cy="233"/>
            </a:xfrm>
            <a:prstGeom prst="rect">
              <a:avLst/>
            </a:prstGeom>
            <a:noFill/>
            <a:ln w="12700">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H     </a:t>
              </a:r>
              <a:r>
                <a:rPr kumimoji="0" lang="en-US" altLang="zh-CN" sz="18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e        l        </a:t>
              </a: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l     </a:t>
              </a:r>
              <a:r>
                <a:rPr kumimoji="0" lang="en-US" altLang="zh-CN" sz="18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o               </a:t>
              </a: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C    </a:t>
              </a:r>
              <a:r>
                <a:rPr kumimoji="0" lang="en-US" altLang="zh-CN" sz="18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h       </a:t>
              </a: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i     </a:t>
              </a:r>
              <a:r>
                <a:rPr kumimoji="0" lang="en-US" altLang="zh-CN" sz="18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n      a     </a:t>
              </a:r>
              <a:r>
                <a:rPr kumimoji="0" lang="en-US" altLang="zh-CN" sz="1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\0     </a:t>
              </a:r>
            </a:p>
          </p:txBody>
        </p:sp>
      </p:grpSp>
      <p:sp>
        <p:nvSpPr>
          <p:cNvPr id="69638" name="Text Box 20"/>
          <p:cNvSpPr txBox="1"/>
          <p:nvPr/>
        </p:nvSpPr>
        <p:spPr>
          <a:xfrm>
            <a:off x="1545908" y="1700848"/>
            <a:ext cx="2663825" cy="457200"/>
          </a:xfrm>
          <a:prstGeom prst="rect">
            <a:avLst/>
          </a:prstGeom>
          <a:solidFill>
            <a:srgbClr val="FFCC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solidFill>
                  <a:srgbClr val="000066"/>
                </a:solidFill>
                <a:latin typeface="Courier New" panose="02070309020205020404" pitchFamily="49" charset="0"/>
              </a:rPr>
              <a:t>"Hello China"</a:t>
            </a:r>
          </a:p>
        </p:txBody>
      </p:sp>
      <p:sp>
        <p:nvSpPr>
          <p:cNvPr id="667669" name="Line 21"/>
          <p:cNvSpPr>
            <a:spLocks noChangeShapeType="1"/>
          </p:cNvSpPr>
          <p:nvPr/>
        </p:nvSpPr>
        <p:spPr bwMode="auto">
          <a:xfrm flipV="1">
            <a:off x="1834833" y="2974023"/>
            <a:ext cx="0" cy="719138"/>
          </a:xfrm>
          <a:prstGeom prst="line">
            <a:avLst/>
          </a:prstGeom>
          <a:noFill/>
          <a:ln w="57150">
            <a:solidFill>
              <a:srgbClr val="FF0000"/>
            </a:solidFill>
            <a:round/>
            <a:headEnd type="none" w="sm" len="sm"/>
            <a:tailEnd type="stealth"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67670" name="Text Box 22"/>
          <p:cNvSpPr txBox="1">
            <a:spLocks noChangeArrowheads="1"/>
          </p:cNvSpPr>
          <p:nvPr/>
        </p:nvSpPr>
        <p:spPr bwMode="auto">
          <a:xfrm>
            <a:off x="1403033" y="3620135"/>
            <a:ext cx="936625" cy="369332"/>
          </a:xfrm>
          <a:prstGeom prst="rect">
            <a:avLst/>
          </a:prstGeom>
          <a:noFill/>
          <a:ln w="12700">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pStr</a:t>
            </a:r>
          </a:p>
        </p:txBody>
      </p:sp>
      <p:sp>
        <p:nvSpPr>
          <p:cNvPr id="667671" name="Rectangle 23"/>
          <p:cNvSpPr>
            <a:spLocks noChangeArrowheads="1"/>
          </p:cNvSpPr>
          <p:nvPr/>
        </p:nvSpPr>
        <p:spPr bwMode="auto">
          <a:xfrm>
            <a:off x="826770" y="4148773"/>
            <a:ext cx="7056438" cy="574675"/>
          </a:xfrm>
          <a:prstGeom prst="rect">
            <a:avLst/>
          </a:prstGeom>
          <a:solidFill>
            <a:srgbClr val="FFFF99"/>
          </a:solidFill>
          <a:ln w="9525">
            <a:noFill/>
            <a:miter lim="800000"/>
          </a:ln>
          <a:effectLst/>
        </p:spPr>
        <p:txBody>
          <a:bodyPr lIns="92075" tIns="46037" rIns="92075" bIns="46037"/>
          <a:lstStyle/>
          <a:p>
            <a:pPr marL="374650" marR="0" lvl="0" indent="-374650" algn="l" defTabSz="914400" rtl="0" eaLnBrk="1" fontAlgn="base" latinLnBrk="0" hangingPunct="1">
              <a:lnSpc>
                <a:spcPct val="90000"/>
              </a:lnSpc>
              <a:spcBef>
                <a:spcPct val="20000"/>
              </a:spcBef>
              <a:spcAft>
                <a:spcPct val="0"/>
              </a:spcAft>
              <a:buClr>
                <a:srgbClr val="FFCC66"/>
              </a:buClr>
              <a:buSzPct val="80000"/>
              <a:buFont typeface="Monotype Sorts" pitchFamily="2" charset="2"/>
              <a:buNone/>
              <a:defRPr/>
            </a:pPr>
            <a:r>
              <a:rPr kumimoji="0" lang="en-US" altLang="zh-CN" sz="2800" b="1" i="0" u="none" strike="noStrike" kern="120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ch</a:t>
            </a:r>
            <a:r>
              <a:rPr kumimoji="1" lang="en-US" altLang="zh-CN" sz="2800" b="1" i="0" u="none" strike="noStrike" kern="120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ar</a:t>
            </a:r>
            <a:r>
              <a:rPr kumimoji="1" lang="en-US" altLang="zh-CN" sz="28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str[12] = </a:t>
            </a:r>
            <a:r>
              <a:rPr kumimoji="0" lang="en-US" altLang="zh-CN" sz="2800" b="1" i="0" u="none" strike="noStrike" kern="1200" cap="none" spc="0" normalizeH="0" baseline="0" noProof="0" dirty="0" smtClean="0">
                <a:ln>
                  <a:noFill/>
                </a:ln>
                <a:solidFill>
                  <a:srgbClr val="FF0000"/>
                </a:solidFill>
                <a:effectLst/>
                <a:uLnTx/>
                <a:uFillTx/>
                <a:latin typeface="Courier New" panose="02070309020205020404" pitchFamily="49" charset="0"/>
                <a:ea typeface="宋体" panose="02010600030101010101" pitchFamily="2" charset="-122"/>
                <a:cs typeface="+mn-cs"/>
              </a:rPr>
              <a:t>"</a:t>
            </a:r>
            <a:r>
              <a:rPr kumimoji="0" lang="en-US" altLang="zh-CN" sz="2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mn-cs"/>
              </a:rPr>
              <a:t>Hello China</a:t>
            </a:r>
            <a:r>
              <a:rPr kumimoji="0" lang="en-US" altLang="zh-CN" sz="2800" b="1" i="0" u="none" strike="noStrike" kern="1200" cap="none" spc="0" normalizeH="0" baseline="0" noProof="0" dirty="0" smtClean="0">
                <a:ln>
                  <a:noFill/>
                </a:ln>
                <a:solidFill>
                  <a:srgbClr val="FF0000"/>
                </a:solidFill>
                <a:effectLst/>
                <a:uLnTx/>
                <a:uFillTx/>
                <a:latin typeface="Courier New" panose="02070309020205020404" pitchFamily="49" charset="0"/>
                <a:ea typeface="宋体" panose="02010600030101010101" pitchFamily="2" charset="-122"/>
                <a:cs typeface="+mn-cs"/>
              </a:rPr>
              <a:t>"</a:t>
            </a:r>
            <a:r>
              <a:rPr kumimoji="1" lang="en-US" altLang="zh-CN" sz="2800" b="1" i="0" u="none" strike="noStrike" kern="1200" cap="none" spc="0" normalizeH="0" baseline="0" noProof="0" dirty="0" smtClean="0">
                <a:ln>
                  <a:noFill/>
                </a:ln>
                <a:solidFill>
                  <a:srgbClr val="FF0000"/>
                </a:solidFill>
                <a:effectLst/>
                <a:uLnTx/>
                <a:uFillTx/>
                <a:latin typeface="Courier New" panose="02070309020205020404" pitchFamily="49" charset="0"/>
                <a:ea typeface="宋体" panose="02010600030101010101" pitchFamily="2" charset="-122"/>
                <a:cs typeface="+mn-cs"/>
              </a:rPr>
              <a:t>;</a:t>
            </a:r>
            <a:r>
              <a:rPr kumimoji="1" lang="en-US" altLang="zh-CN" sz="2800" b="1" i="0" u="none" strike="noStrike" kern="1200" cap="none" spc="0" normalizeH="0" baseline="0" noProof="0" dirty="0" smtClean="0">
                <a:ln>
                  <a:noFill/>
                </a:ln>
                <a:solidFill>
                  <a:srgbClr val="FF0000"/>
                </a:solidFill>
                <a:effectLst>
                  <a:outerShdw blurRad="38100" dist="38100" dir="2700000" algn="tl">
                    <a:srgbClr val="FFFFFF"/>
                  </a:outerShdw>
                </a:effectLst>
                <a:uLnTx/>
                <a:uFillTx/>
                <a:latin typeface="Courier New" panose="02070309020205020404" pitchFamily="49" charset="0"/>
                <a:ea typeface="宋体" panose="02010600030101010101" pitchFamily="2" charset="-122"/>
                <a:cs typeface="+mn-cs"/>
              </a:rPr>
              <a:t>     </a:t>
            </a:r>
            <a:r>
              <a:rPr kumimoji="0" lang="en-US" altLang="zh-CN" sz="2800" b="1" i="0" u="none" strike="noStrike" kern="1200" cap="none" spc="0" normalizeH="0" baseline="0" noProof="0" dirty="0" smtClean="0">
                <a:ln>
                  <a:noFill/>
                </a:ln>
                <a:solidFill>
                  <a:srgbClr val="FF0000"/>
                </a:solidFill>
                <a:effectLst>
                  <a:outerShdw blurRad="38100" dist="38100" dir="2700000" algn="tl">
                    <a:srgbClr val="FFFFFF"/>
                  </a:outerShdw>
                </a:effectLst>
                <a:uLnTx/>
                <a:uFillTx/>
                <a:latin typeface="Courier New" panose="02070309020205020404" pitchFamily="49" charset="0"/>
                <a:ea typeface="宋体" panose="02010600030101010101" pitchFamily="2" charset="-122"/>
                <a:cs typeface="+mn-cs"/>
              </a:rPr>
              <a:t>  </a:t>
            </a:r>
            <a:endParaRPr kumimoji="0" lang="en-US" altLang="zh-CN" sz="28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Courier New" panose="02070309020205020404" pitchFamily="49" charset="0"/>
              <a:ea typeface="宋体" panose="02010600030101010101" pitchFamily="2" charset="-122"/>
              <a:cs typeface="+mn-cs"/>
            </a:endParaRPr>
          </a:p>
        </p:txBody>
      </p:sp>
      <p:sp>
        <p:nvSpPr>
          <p:cNvPr id="667672" name="Rectangle 24"/>
          <p:cNvSpPr>
            <a:spLocks noChangeArrowheads="1"/>
          </p:cNvSpPr>
          <p:nvPr/>
        </p:nvSpPr>
        <p:spPr bwMode="auto">
          <a:xfrm>
            <a:off x="826770" y="4885055"/>
            <a:ext cx="4679950" cy="993775"/>
          </a:xfrm>
          <a:prstGeom prst="rect">
            <a:avLst/>
          </a:prstGeom>
          <a:solidFill>
            <a:srgbClr val="FFCC99"/>
          </a:solidFill>
          <a:ln w="9525">
            <a:noFill/>
            <a:miter lim="800000"/>
          </a:ln>
          <a:effectLst/>
        </p:spPr>
        <p:txBody>
          <a:bodyPr lIns="92075" tIns="46037" rIns="92075" bIns="46037"/>
          <a:lstStyle/>
          <a:p>
            <a:pPr marL="374650" marR="0" lvl="0" indent="-374650" algn="l" defTabSz="914400" rtl="0" eaLnBrk="1" fontAlgn="base" latinLnBrk="0" hangingPunct="1">
              <a:lnSpc>
                <a:spcPct val="90000"/>
              </a:lnSpc>
              <a:spcBef>
                <a:spcPct val="20000"/>
              </a:spcBef>
              <a:spcAft>
                <a:spcPct val="0"/>
              </a:spcAft>
              <a:buClr>
                <a:srgbClr val="FFCC66"/>
              </a:buClr>
              <a:buSzPct val="80000"/>
              <a:buFont typeface="Monotype Sorts" pitchFamily="2" charset="2"/>
              <a:buNone/>
              <a:defRPr/>
            </a:pPr>
            <a:r>
              <a:rPr kumimoji="0" lang="en-US" altLang="zh-CN" sz="2800" b="1" i="0" u="none" strike="noStrike" kern="120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ch</a:t>
            </a:r>
            <a:r>
              <a:rPr kumimoji="1" lang="en-US" altLang="zh-CN" sz="2800" b="1" i="0" u="none" strike="noStrike" kern="120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ar</a:t>
            </a:r>
            <a:r>
              <a:rPr kumimoji="1" lang="en-US" altLang="zh-CN" sz="28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*pStr;</a:t>
            </a:r>
          </a:p>
          <a:p>
            <a:pPr marL="374650" marR="0" lvl="0" indent="-374650" algn="l" defTabSz="914400" rtl="0" eaLnBrk="1" fontAlgn="base" latinLnBrk="0" hangingPunct="1">
              <a:lnSpc>
                <a:spcPct val="90000"/>
              </a:lnSpc>
              <a:spcBef>
                <a:spcPct val="20000"/>
              </a:spcBef>
              <a:spcAft>
                <a:spcPct val="0"/>
              </a:spcAft>
              <a:buClr>
                <a:srgbClr val="FFCC66"/>
              </a:buClr>
              <a:buSzPct val="80000"/>
              <a:buFont typeface="Monotype Sorts" pitchFamily="2" charset="2"/>
              <a:buNone/>
              <a:defRPr/>
            </a:pPr>
            <a:r>
              <a:rPr kumimoji="1" lang="en-US" altLang="zh-CN" sz="2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Courier New" panose="02070309020205020404" pitchFamily="49" charset="0"/>
                <a:ea typeface="宋体" panose="02010600030101010101" pitchFamily="2" charset="-122"/>
                <a:cs typeface="+mn-cs"/>
              </a:rPr>
              <a:t>pStr</a:t>
            </a:r>
            <a:r>
              <a:rPr kumimoji="1" lang="en-US" altLang="zh-CN" sz="28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 = </a:t>
            </a:r>
            <a:r>
              <a:rPr kumimoji="0" lang="en-US" altLang="zh-CN" sz="2800" b="1" i="0" u="none" strike="noStrike" kern="1200" cap="none" spc="0" normalizeH="0" baseline="0" noProof="0" dirty="0">
                <a:ln>
                  <a:noFill/>
                </a:ln>
                <a:solidFill>
                  <a:srgbClr val="000066"/>
                </a:solidFill>
                <a:effectLst/>
                <a:uLnTx/>
                <a:uFillTx/>
                <a:latin typeface="Courier New" panose="02070309020205020404" pitchFamily="49" charset="0"/>
                <a:ea typeface="宋体" panose="02010600030101010101" pitchFamily="2" charset="-122"/>
                <a:cs typeface="+mn-cs"/>
              </a:rPr>
              <a:t>"Hello China"</a:t>
            </a:r>
            <a:r>
              <a:rPr kumimoji="1" lang="en-US" altLang="zh-CN" sz="28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a:t>
            </a:r>
            <a:endParaRPr kumimoji="1" lang="zh-CN" altLang="en-US" sz="2800" b="1"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endParaRPr>
          </a:p>
        </p:txBody>
      </p:sp>
      <p:sp>
        <p:nvSpPr>
          <p:cNvPr id="667673" name="Text Box 25"/>
          <p:cNvSpPr txBox="1">
            <a:spLocks noChangeArrowheads="1"/>
          </p:cNvSpPr>
          <p:nvPr/>
        </p:nvSpPr>
        <p:spPr bwMode="auto">
          <a:xfrm>
            <a:off x="753745" y="2493010"/>
            <a:ext cx="936625" cy="369332"/>
          </a:xfrm>
          <a:prstGeom prst="rect">
            <a:avLst/>
          </a:prstGeom>
          <a:noFill/>
          <a:ln w="12700">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88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744220" y="959485"/>
            <a:ext cx="8229600" cy="595313"/>
          </a:xfrm>
        </p:spPr>
        <p:txBody>
          <a:bodyPr vert="horz" wrap="square" lIns="91440" tIns="45720" rIns="91440" bIns="45720" anchor="ctr"/>
          <a:lstStyle/>
          <a:p>
            <a:pPr eaLnBrk="1" hangingPunct="1"/>
            <a:r>
              <a:rPr lang="zh-CN" altLang="en-US" dirty="0"/>
              <a:t>字符数组与字符指针的重要区别 </a:t>
            </a:r>
          </a:p>
        </p:txBody>
      </p:sp>
      <p:sp>
        <p:nvSpPr>
          <p:cNvPr id="71683" name="Rectangle 4"/>
          <p:cNvSpPr/>
          <p:nvPr/>
        </p:nvSpPr>
        <p:spPr>
          <a:xfrm>
            <a:off x="755333" y="1627823"/>
            <a:ext cx="6335712" cy="1152525"/>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eaLnBrk="1" hangingPunct="1">
              <a:buNone/>
            </a:pPr>
            <a:r>
              <a:rPr lang="en-US" altLang="zh-CN" dirty="0"/>
              <a:t>char sa[ ] = "This is a string";</a:t>
            </a:r>
          </a:p>
          <a:p>
            <a:pPr marL="342900" lvl="0" indent="-342900" eaLnBrk="1" hangingPunct="1">
              <a:buNone/>
            </a:pPr>
            <a:r>
              <a:rPr lang="en-US" altLang="zh-CN" dirty="0"/>
              <a:t>char *sp = "This is a string";</a:t>
            </a:r>
          </a:p>
        </p:txBody>
      </p:sp>
      <p:sp>
        <p:nvSpPr>
          <p:cNvPr id="71684" name="Rectangle 5"/>
          <p:cNvSpPr/>
          <p:nvPr/>
        </p:nvSpPr>
        <p:spPr>
          <a:xfrm>
            <a:off x="610870" y="3067685"/>
            <a:ext cx="1225550" cy="4318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742950" lvl="1" indent="-285750" eaLnBrk="1" hangingPunct="1">
              <a:buNone/>
            </a:pPr>
            <a:r>
              <a:rPr lang="en-US" altLang="zh-CN" dirty="0"/>
              <a:t>sa</a:t>
            </a:r>
          </a:p>
        </p:txBody>
      </p:sp>
      <p:graphicFrame>
        <p:nvGraphicFramePr>
          <p:cNvPr id="414776" name="Group 56"/>
          <p:cNvGraphicFramePr>
            <a:graphicFrameLocks noGrp="1"/>
          </p:cNvGraphicFramePr>
          <p:nvPr>
            <p:ph idx="1"/>
          </p:nvPr>
        </p:nvGraphicFramePr>
        <p:xfrm>
          <a:off x="1763395" y="3067685"/>
          <a:ext cx="5864225" cy="518796"/>
        </p:xfrm>
        <a:graphic>
          <a:graphicData uri="http://schemas.openxmlformats.org/drawingml/2006/table">
            <a:tbl>
              <a:tblPr/>
              <a:tblGrid>
                <a:gridCol w="334963">
                  <a:extLst>
                    <a:ext uri="{9D8B030D-6E8A-4147-A177-3AD203B41FA5}">
                      <a16:colId xmlns:a16="http://schemas.microsoft.com/office/drawing/2014/main" val="20000"/>
                    </a:ext>
                  </a:extLst>
                </a:gridCol>
                <a:gridCol w="336550">
                  <a:extLst>
                    <a:ext uri="{9D8B030D-6E8A-4147-A177-3AD203B41FA5}">
                      <a16:colId xmlns:a16="http://schemas.microsoft.com/office/drawing/2014/main" val="20001"/>
                    </a:ext>
                  </a:extLst>
                </a:gridCol>
                <a:gridCol w="334962">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34962">
                  <a:extLst>
                    <a:ext uri="{9D8B030D-6E8A-4147-A177-3AD203B41FA5}">
                      <a16:colId xmlns:a16="http://schemas.microsoft.com/office/drawing/2014/main" val="20004"/>
                    </a:ext>
                  </a:extLst>
                </a:gridCol>
                <a:gridCol w="336550">
                  <a:extLst>
                    <a:ext uri="{9D8B030D-6E8A-4147-A177-3AD203B41FA5}">
                      <a16:colId xmlns:a16="http://schemas.microsoft.com/office/drawing/2014/main" val="20005"/>
                    </a:ext>
                  </a:extLst>
                </a:gridCol>
                <a:gridCol w="334963">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38137">
                  <a:extLst>
                    <a:ext uri="{9D8B030D-6E8A-4147-A177-3AD203B41FA5}">
                      <a16:colId xmlns:a16="http://schemas.microsoft.com/office/drawing/2014/main" val="20008"/>
                    </a:ext>
                  </a:extLst>
                </a:gridCol>
                <a:gridCol w="334963">
                  <a:extLst>
                    <a:ext uri="{9D8B030D-6E8A-4147-A177-3AD203B41FA5}">
                      <a16:colId xmlns:a16="http://schemas.microsoft.com/office/drawing/2014/main" val="20009"/>
                    </a:ext>
                  </a:extLst>
                </a:gridCol>
                <a:gridCol w="336550">
                  <a:extLst>
                    <a:ext uri="{9D8B030D-6E8A-4147-A177-3AD203B41FA5}">
                      <a16:colId xmlns:a16="http://schemas.microsoft.com/office/drawing/2014/main" val="20010"/>
                    </a:ext>
                  </a:extLst>
                </a:gridCol>
                <a:gridCol w="334962">
                  <a:extLst>
                    <a:ext uri="{9D8B030D-6E8A-4147-A177-3AD203B41FA5}">
                      <a16:colId xmlns:a16="http://schemas.microsoft.com/office/drawing/2014/main" val="20011"/>
                    </a:ext>
                  </a:extLst>
                </a:gridCol>
                <a:gridCol w="336550">
                  <a:extLst>
                    <a:ext uri="{9D8B030D-6E8A-4147-A177-3AD203B41FA5}">
                      <a16:colId xmlns:a16="http://schemas.microsoft.com/office/drawing/2014/main" val="20012"/>
                    </a:ext>
                  </a:extLst>
                </a:gridCol>
                <a:gridCol w="334963">
                  <a:extLst>
                    <a:ext uri="{9D8B030D-6E8A-4147-A177-3AD203B41FA5}">
                      <a16:colId xmlns:a16="http://schemas.microsoft.com/office/drawing/2014/main" val="20013"/>
                    </a:ext>
                  </a:extLst>
                </a:gridCol>
                <a:gridCol w="338137">
                  <a:extLst>
                    <a:ext uri="{9D8B030D-6E8A-4147-A177-3AD203B41FA5}">
                      <a16:colId xmlns:a16="http://schemas.microsoft.com/office/drawing/2014/main" val="20014"/>
                    </a:ext>
                  </a:extLst>
                </a:gridCol>
                <a:gridCol w="334963">
                  <a:extLst>
                    <a:ext uri="{9D8B030D-6E8A-4147-A177-3AD203B41FA5}">
                      <a16:colId xmlns:a16="http://schemas.microsoft.com/office/drawing/2014/main" val="20015"/>
                    </a:ext>
                  </a:extLst>
                </a:gridCol>
                <a:gridCol w="487362">
                  <a:extLst>
                    <a:ext uri="{9D8B030D-6E8A-4147-A177-3AD203B41FA5}">
                      <a16:colId xmlns:a16="http://schemas.microsoft.com/office/drawing/2014/main" val="20016"/>
                    </a:ext>
                  </a:extLst>
                </a:gridCol>
              </a:tblGrid>
              <a:tr h="350838">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r</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g</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1723" name="Rectangle 57"/>
          <p:cNvSpPr/>
          <p:nvPr/>
        </p:nvSpPr>
        <p:spPr>
          <a:xfrm>
            <a:off x="620395" y="4109085"/>
            <a:ext cx="1225550" cy="4318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742950" lvl="1" indent="-285750" eaLnBrk="1" hangingPunct="1">
              <a:buNone/>
            </a:pPr>
            <a:r>
              <a:rPr lang="en-US" altLang="zh-CN" dirty="0"/>
              <a:t>sp</a:t>
            </a:r>
          </a:p>
        </p:txBody>
      </p:sp>
      <p:graphicFrame>
        <p:nvGraphicFramePr>
          <p:cNvPr id="414778" name="Group 58"/>
          <p:cNvGraphicFramePr>
            <a:graphicFrameLocks noGrp="1"/>
          </p:cNvGraphicFramePr>
          <p:nvPr/>
        </p:nvGraphicFramePr>
        <p:xfrm>
          <a:off x="3058795" y="4147185"/>
          <a:ext cx="5864225" cy="518796"/>
        </p:xfrm>
        <a:graphic>
          <a:graphicData uri="http://schemas.openxmlformats.org/drawingml/2006/table">
            <a:tbl>
              <a:tblPr/>
              <a:tblGrid>
                <a:gridCol w="334963">
                  <a:extLst>
                    <a:ext uri="{9D8B030D-6E8A-4147-A177-3AD203B41FA5}">
                      <a16:colId xmlns:a16="http://schemas.microsoft.com/office/drawing/2014/main" val="20000"/>
                    </a:ext>
                  </a:extLst>
                </a:gridCol>
                <a:gridCol w="336550">
                  <a:extLst>
                    <a:ext uri="{9D8B030D-6E8A-4147-A177-3AD203B41FA5}">
                      <a16:colId xmlns:a16="http://schemas.microsoft.com/office/drawing/2014/main" val="20001"/>
                    </a:ext>
                  </a:extLst>
                </a:gridCol>
                <a:gridCol w="334962">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34962">
                  <a:extLst>
                    <a:ext uri="{9D8B030D-6E8A-4147-A177-3AD203B41FA5}">
                      <a16:colId xmlns:a16="http://schemas.microsoft.com/office/drawing/2014/main" val="20004"/>
                    </a:ext>
                  </a:extLst>
                </a:gridCol>
                <a:gridCol w="336550">
                  <a:extLst>
                    <a:ext uri="{9D8B030D-6E8A-4147-A177-3AD203B41FA5}">
                      <a16:colId xmlns:a16="http://schemas.microsoft.com/office/drawing/2014/main" val="20005"/>
                    </a:ext>
                  </a:extLst>
                </a:gridCol>
                <a:gridCol w="334963">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38137">
                  <a:extLst>
                    <a:ext uri="{9D8B030D-6E8A-4147-A177-3AD203B41FA5}">
                      <a16:colId xmlns:a16="http://schemas.microsoft.com/office/drawing/2014/main" val="20008"/>
                    </a:ext>
                  </a:extLst>
                </a:gridCol>
                <a:gridCol w="334963">
                  <a:extLst>
                    <a:ext uri="{9D8B030D-6E8A-4147-A177-3AD203B41FA5}">
                      <a16:colId xmlns:a16="http://schemas.microsoft.com/office/drawing/2014/main" val="20009"/>
                    </a:ext>
                  </a:extLst>
                </a:gridCol>
                <a:gridCol w="336550">
                  <a:extLst>
                    <a:ext uri="{9D8B030D-6E8A-4147-A177-3AD203B41FA5}">
                      <a16:colId xmlns:a16="http://schemas.microsoft.com/office/drawing/2014/main" val="20010"/>
                    </a:ext>
                  </a:extLst>
                </a:gridCol>
                <a:gridCol w="334962">
                  <a:extLst>
                    <a:ext uri="{9D8B030D-6E8A-4147-A177-3AD203B41FA5}">
                      <a16:colId xmlns:a16="http://schemas.microsoft.com/office/drawing/2014/main" val="20011"/>
                    </a:ext>
                  </a:extLst>
                </a:gridCol>
                <a:gridCol w="336550">
                  <a:extLst>
                    <a:ext uri="{9D8B030D-6E8A-4147-A177-3AD203B41FA5}">
                      <a16:colId xmlns:a16="http://schemas.microsoft.com/office/drawing/2014/main" val="20012"/>
                    </a:ext>
                  </a:extLst>
                </a:gridCol>
                <a:gridCol w="334963">
                  <a:extLst>
                    <a:ext uri="{9D8B030D-6E8A-4147-A177-3AD203B41FA5}">
                      <a16:colId xmlns:a16="http://schemas.microsoft.com/office/drawing/2014/main" val="20013"/>
                    </a:ext>
                  </a:extLst>
                </a:gridCol>
                <a:gridCol w="338137">
                  <a:extLst>
                    <a:ext uri="{9D8B030D-6E8A-4147-A177-3AD203B41FA5}">
                      <a16:colId xmlns:a16="http://schemas.microsoft.com/office/drawing/2014/main" val="20014"/>
                    </a:ext>
                  </a:extLst>
                </a:gridCol>
                <a:gridCol w="334963">
                  <a:extLst>
                    <a:ext uri="{9D8B030D-6E8A-4147-A177-3AD203B41FA5}">
                      <a16:colId xmlns:a16="http://schemas.microsoft.com/office/drawing/2014/main" val="20015"/>
                    </a:ext>
                  </a:extLst>
                </a:gridCol>
                <a:gridCol w="487362">
                  <a:extLst>
                    <a:ext uri="{9D8B030D-6E8A-4147-A177-3AD203B41FA5}">
                      <a16:colId xmlns:a16="http://schemas.microsoft.com/office/drawing/2014/main" val="20016"/>
                    </a:ext>
                  </a:extLst>
                </a:gridCol>
              </a:tblGrid>
              <a:tr h="350838">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r</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g</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14825" name="Group 105"/>
          <p:cNvGraphicFramePr>
            <a:graphicFrameLocks noGrp="1"/>
          </p:cNvGraphicFramePr>
          <p:nvPr/>
        </p:nvGraphicFramePr>
        <p:xfrm>
          <a:off x="1763395" y="4147185"/>
          <a:ext cx="455613" cy="518796"/>
        </p:xfrm>
        <a:graphic>
          <a:graphicData uri="http://schemas.openxmlformats.org/drawingml/2006/table">
            <a:tbl>
              <a:tblPr/>
              <a:tblGrid>
                <a:gridCol w="455613">
                  <a:extLst>
                    <a:ext uri="{9D8B030D-6E8A-4147-A177-3AD203B41FA5}">
                      <a16:colId xmlns:a16="http://schemas.microsoft.com/office/drawing/2014/main" val="20000"/>
                    </a:ext>
                  </a:extLst>
                </a:gridCol>
              </a:tblGrid>
              <a:tr h="447675">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1768" name="Line 107"/>
          <p:cNvSpPr/>
          <p:nvPr/>
        </p:nvSpPr>
        <p:spPr>
          <a:xfrm>
            <a:off x="2195195" y="4436110"/>
            <a:ext cx="863600" cy="0"/>
          </a:xfrm>
          <a:prstGeom prst="line">
            <a:avLst/>
          </a:prstGeom>
          <a:ln w="38100" cap="flat" cmpd="sng">
            <a:solidFill>
              <a:schemeClr val="bg2"/>
            </a:solidFill>
            <a:prstDash val="solid"/>
            <a:headEnd type="none" w="med" len="med"/>
            <a:tailEnd type="triangle" w="med" len="med"/>
          </a:ln>
        </p:spPr>
      </p:sp>
      <p:sp>
        <p:nvSpPr>
          <p:cNvPr id="71769" name="Rectangle 108"/>
          <p:cNvSpPr/>
          <p:nvPr/>
        </p:nvSpPr>
        <p:spPr>
          <a:xfrm>
            <a:off x="537845" y="4939348"/>
            <a:ext cx="7993063" cy="2087562"/>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742950" lvl="1" indent="-285750" eaLnBrk="1" hangingPunct="1">
              <a:buNone/>
            </a:pPr>
            <a:r>
              <a:rPr lang="zh-CN" altLang="en-US" dirty="0"/>
              <a:t>如果要改变数组</a:t>
            </a:r>
            <a:r>
              <a:rPr lang="en-US" altLang="zh-CN" dirty="0"/>
              <a:t>sa</a:t>
            </a:r>
            <a:r>
              <a:rPr lang="zh-CN" altLang="en-US" dirty="0"/>
              <a:t>所代表的字符串，只能改变数组元素的内容</a:t>
            </a:r>
          </a:p>
          <a:p>
            <a:pPr marL="742950" lvl="1" indent="-285750" eaLnBrk="1" hangingPunct="1">
              <a:buNone/>
            </a:pPr>
            <a:r>
              <a:rPr lang="zh-CN" altLang="en-US" dirty="0"/>
              <a:t>如果要改变指针</a:t>
            </a:r>
            <a:r>
              <a:rPr lang="en-US" altLang="zh-CN" dirty="0"/>
              <a:t>sp</a:t>
            </a:r>
            <a:r>
              <a:rPr lang="zh-CN" altLang="en-US" dirty="0"/>
              <a:t>所代表的字符串，通常直接改变指针的值，让它指向新的字符串</a:t>
            </a:r>
            <a:endParaRPr lang="en-US" altLang="zh-CN" sz="32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744220" y="887730"/>
            <a:ext cx="8229600" cy="668338"/>
          </a:xfrm>
        </p:spPr>
        <p:txBody>
          <a:bodyPr vert="horz" wrap="square" lIns="91440" tIns="45720" rIns="91440" bIns="45720" anchor="ctr"/>
          <a:lstStyle/>
          <a:p>
            <a:pPr eaLnBrk="1" hangingPunct="1"/>
            <a:r>
              <a:rPr lang="zh-CN" altLang="en-US" sz="4000" dirty="0"/>
              <a:t>示例</a:t>
            </a:r>
          </a:p>
        </p:txBody>
      </p:sp>
      <p:sp>
        <p:nvSpPr>
          <p:cNvPr id="417795" name="Rectangle 3"/>
          <p:cNvSpPr>
            <a:spLocks noGrp="1"/>
          </p:cNvSpPr>
          <p:nvPr>
            <p:ph idx="1"/>
          </p:nvPr>
        </p:nvSpPr>
        <p:spPr>
          <a:xfrm>
            <a:off x="755333" y="1698943"/>
            <a:ext cx="8424862" cy="5040312"/>
          </a:xfrm>
        </p:spPr>
        <p:txBody>
          <a:bodyPr vert="horz" wrap="square" lIns="91440" tIns="45720" rIns="91440" bIns="45720" anchor="t"/>
          <a:lstStyle/>
          <a:p>
            <a:pPr eaLnBrk="1" hangingPunct="1">
              <a:buNone/>
            </a:pPr>
            <a:r>
              <a:rPr lang="en-US" altLang="zh-CN" dirty="0"/>
              <a:t>char sa[ ] = "This is a string";</a:t>
            </a:r>
          </a:p>
          <a:p>
            <a:pPr eaLnBrk="1" hangingPunct="1">
              <a:buNone/>
            </a:pPr>
            <a:r>
              <a:rPr lang="en-US" altLang="zh-CN" dirty="0"/>
              <a:t>char *sp = "This is a string";</a:t>
            </a:r>
          </a:p>
          <a:p>
            <a:pPr eaLnBrk="1" hangingPunct="1">
              <a:buNone/>
            </a:pPr>
            <a:r>
              <a:rPr lang="zh-CN" altLang="en-US" dirty="0" smtClean="0">
                <a:solidFill>
                  <a:srgbClr val="0066FF"/>
                </a:solidFill>
              </a:rPr>
              <a:t>改变数组和指针的值</a:t>
            </a:r>
            <a:endParaRPr lang="en-US" altLang="zh-CN" dirty="0">
              <a:solidFill>
                <a:srgbClr val="0066FF"/>
              </a:solidFill>
            </a:endParaRPr>
          </a:p>
          <a:p>
            <a:pPr eaLnBrk="1" hangingPunct="1">
              <a:buNone/>
            </a:pPr>
            <a:r>
              <a:rPr lang="en-US" altLang="zh-CN" dirty="0"/>
              <a:t>strcpy (sa, "Hello");</a:t>
            </a:r>
          </a:p>
          <a:p>
            <a:pPr eaLnBrk="1" hangingPunct="1">
              <a:buNone/>
            </a:pPr>
            <a:r>
              <a:rPr lang="en-US" altLang="zh-CN" dirty="0"/>
              <a:t>sp = "Hello";</a:t>
            </a:r>
          </a:p>
          <a:p>
            <a:pPr eaLnBrk="1" hangingPunct="1">
              <a:buNone/>
            </a:pPr>
            <a:endParaRPr lang="zh-CN" altLang="en-US" dirty="0"/>
          </a:p>
          <a:p>
            <a:pPr eaLnBrk="1" hangingPunct="1">
              <a:buNone/>
            </a:pPr>
            <a:r>
              <a:rPr lang="en-US" altLang="zh-CN" dirty="0">
                <a:solidFill>
                  <a:schemeClr val="bg2"/>
                </a:solidFill>
              </a:rPr>
              <a:t>sa = " </a:t>
            </a:r>
            <a:r>
              <a:rPr lang="en-US" altLang="zh-CN" dirty="0" smtClean="0">
                <a:solidFill>
                  <a:schemeClr val="bg2"/>
                </a:solidFill>
              </a:rPr>
              <a:t>Hello</a:t>
            </a:r>
            <a:r>
              <a:rPr lang="en-US" altLang="zh-CN" dirty="0"/>
              <a:t> </a:t>
            </a:r>
            <a:r>
              <a:rPr lang="en-US" altLang="zh-CN" dirty="0">
                <a:solidFill>
                  <a:schemeClr val="bg2"/>
                </a:solidFill>
              </a:rPr>
              <a:t>"</a:t>
            </a:r>
            <a:r>
              <a:rPr lang="en-US" altLang="zh-CN" dirty="0" smtClean="0">
                <a:solidFill>
                  <a:schemeClr val="bg2"/>
                </a:solidFill>
              </a:rPr>
              <a:t>;  </a:t>
            </a:r>
            <a:r>
              <a:rPr lang="zh-CN" altLang="en-US" dirty="0">
                <a:solidFill>
                  <a:srgbClr val="CC0066"/>
                </a:solidFill>
              </a:rPr>
              <a:t>非法</a:t>
            </a:r>
          </a:p>
          <a:p>
            <a:pPr lvl="1" eaLnBrk="1" hangingPunct="1">
              <a:buNone/>
            </a:pPr>
            <a:r>
              <a:rPr lang="zh-CN" altLang="en-US" dirty="0"/>
              <a:t>数组名是常量，不能对它赋值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779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17795">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17795">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417795">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17795">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17795">
                                            <p:txEl>
                                              <p:pRg st="6" end="6"/>
                                            </p:txEl>
                                          </p:spTgt>
                                        </p:tgtEl>
                                        <p:attrNameLst>
                                          <p:attrName>style.visibility</p:attrName>
                                        </p:attrNameLst>
                                      </p:cBhvr>
                                      <p:to>
                                        <p:strVal val="visible"/>
                                      </p:to>
                                    </p:set>
                                    <p:animEffect transition="in" filter="wipe(down)">
                                      <p:cBhvr>
                                        <p:cTn id="24" dur="500"/>
                                        <p:tgtEl>
                                          <p:spTgt spid="417795">
                                            <p:txEl>
                                              <p:pRg st="6" end="6"/>
                                            </p:txEl>
                                          </p:spTgt>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4177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a:xfrm>
            <a:off x="744220" y="887730"/>
            <a:ext cx="8229600" cy="668338"/>
          </a:xfrm>
        </p:spPr>
        <p:txBody>
          <a:bodyPr vert="horz" wrap="square" lIns="91440" tIns="45720" rIns="91440" bIns="45720" anchor="ctr"/>
          <a:lstStyle/>
          <a:p>
            <a:pPr eaLnBrk="1" hangingPunct="1"/>
            <a:r>
              <a:rPr lang="zh-CN" altLang="en-US" dirty="0"/>
              <a:t>字符</a:t>
            </a:r>
            <a:r>
              <a:rPr lang="zh-CN" altLang="en-US" dirty="0" smtClean="0"/>
              <a:t>指针指向字符串</a:t>
            </a:r>
            <a:r>
              <a:rPr lang="zh-CN" altLang="en-US" dirty="0"/>
              <a:t>常量</a:t>
            </a:r>
          </a:p>
        </p:txBody>
      </p:sp>
      <p:sp>
        <p:nvSpPr>
          <p:cNvPr id="430083" name="Rectangle 3"/>
          <p:cNvSpPr>
            <a:spLocks noGrp="1"/>
          </p:cNvSpPr>
          <p:nvPr>
            <p:ph idx="1"/>
          </p:nvPr>
        </p:nvSpPr>
        <p:spPr>
          <a:xfrm>
            <a:off x="899592" y="1772816"/>
            <a:ext cx="7633091" cy="2088232"/>
          </a:xfrm>
        </p:spPr>
        <p:txBody>
          <a:bodyPr vert="horz" wrap="square" lIns="91440" tIns="45720" rIns="91440" bIns="45720" anchor="t"/>
          <a:lstStyle/>
          <a:p>
            <a:pPr eaLnBrk="1" hangingPunct="1">
              <a:lnSpc>
                <a:spcPct val="80000"/>
              </a:lnSpc>
              <a:buNone/>
            </a:pPr>
            <a:r>
              <a:rPr lang="en-US" altLang="zh-CN" sz="2800" dirty="0" smtClean="0"/>
              <a:t>char </a:t>
            </a:r>
            <a:r>
              <a:rPr lang="en-US" altLang="zh-CN" sz="2800" dirty="0"/>
              <a:t>*</a:t>
            </a:r>
            <a:r>
              <a:rPr lang="en-US" altLang="zh-CN" sz="2800" dirty="0" smtClean="0"/>
              <a:t>s;</a:t>
            </a:r>
            <a:endParaRPr lang="en-US" altLang="zh-CN" sz="2800" dirty="0"/>
          </a:p>
          <a:p>
            <a:pPr eaLnBrk="1" hangingPunct="1">
              <a:lnSpc>
                <a:spcPct val="80000"/>
              </a:lnSpc>
              <a:buNone/>
            </a:pPr>
            <a:r>
              <a:rPr lang="en-US" altLang="zh-CN" sz="2800" dirty="0"/>
              <a:t>s = </a:t>
            </a:r>
            <a:r>
              <a:rPr lang="en-US" altLang="zh-CN" dirty="0" smtClean="0"/>
              <a:t>"hello"</a:t>
            </a:r>
            <a:r>
              <a:rPr lang="en-US" altLang="zh-CN" sz="2800" dirty="0" smtClean="0"/>
              <a:t>;</a:t>
            </a:r>
            <a:endParaRPr lang="en-US" altLang="zh-CN" sz="2800" dirty="0"/>
          </a:p>
          <a:p>
            <a:pPr eaLnBrk="1" hangingPunct="1">
              <a:lnSpc>
                <a:spcPct val="80000"/>
              </a:lnSpc>
              <a:buNone/>
            </a:pPr>
            <a:r>
              <a:rPr lang="zh-CN" altLang="en-US" dirty="0" smtClean="0"/>
              <a:t>或者</a:t>
            </a:r>
            <a:endParaRPr lang="en-US" altLang="zh-CN" dirty="0" smtClean="0"/>
          </a:p>
          <a:p>
            <a:pPr eaLnBrk="1" hangingPunct="1">
              <a:lnSpc>
                <a:spcPct val="80000"/>
              </a:lnSpc>
              <a:buNone/>
            </a:pPr>
            <a:r>
              <a:rPr lang="en-US" altLang="zh-CN" dirty="0"/>
              <a:t>char *</a:t>
            </a:r>
            <a:r>
              <a:rPr lang="en-US" altLang="zh-CN" dirty="0" smtClean="0"/>
              <a:t>s </a:t>
            </a:r>
            <a:r>
              <a:rPr lang="en-US" altLang="zh-CN" dirty="0"/>
              <a:t>= "hello";</a:t>
            </a:r>
          </a:p>
          <a:p>
            <a:pPr eaLnBrk="1" hangingPunct="1">
              <a:lnSpc>
                <a:spcPct val="80000"/>
              </a:lnSpc>
              <a:buNone/>
            </a:pP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Effect transition="in" filter="wipe(down)">
                                      <p:cBhvr>
                                        <p:cTn id="7" dur="500"/>
                                        <p:tgtEl>
                                          <p:spTgt spid="430083">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30083">
                                            <p:txEl>
                                              <p:pRg st="1" end="1"/>
                                            </p:txEl>
                                          </p:spTgt>
                                        </p:tgtEl>
                                        <p:attrNameLst>
                                          <p:attrName>style.visibility</p:attrName>
                                        </p:attrNameLst>
                                      </p:cBhvr>
                                      <p:to>
                                        <p:strVal val="visible"/>
                                      </p:to>
                                    </p:set>
                                    <p:animEffect transition="in" filter="wipe(down)">
                                      <p:cBhvr>
                                        <p:cTn id="11" dur="500"/>
                                        <p:tgtEl>
                                          <p:spTgt spid="43008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430083">
                                            <p:txEl>
                                              <p:pRg st="2" end="2"/>
                                            </p:txEl>
                                          </p:spTgt>
                                        </p:tgtEl>
                                        <p:attrNameLst>
                                          <p:attrName>style.visibility</p:attrName>
                                        </p:attrNameLst>
                                      </p:cBhvr>
                                      <p:to>
                                        <p:strVal val="visible"/>
                                      </p:to>
                                    </p:set>
                                    <p:animEffect transition="in" filter="wipe(down)">
                                      <p:cBhvr>
                                        <p:cTn id="16" dur="500"/>
                                        <p:tgtEl>
                                          <p:spTgt spid="43008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30083">
                                            <p:txEl>
                                              <p:pRg st="3" end="3"/>
                                            </p:txEl>
                                          </p:spTgt>
                                        </p:tgtEl>
                                        <p:attrNameLst>
                                          <p:attrName>style.visibility</p:attrName>
                                        </p:attrNameLst>
                                      </p:cBhvr>
                                      <p:to>
                                        <p:strVal val="visible"/>
                                      </p:to>
                                    </p:set>
                                    <p:animEffect transition="in" filter="wipe(down)">
                                      <p:cBhvr>
                                        <p:cTn id="21" dur="500"/>
                                        <p:tgtEl>
                                          <p:spTgt spid="430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a:xfrm>
            <a:off x="744220" y="887730"/>
            <a:ext cx="8229600" cy="668338"/>
          </a:xfrm>
        </p:spPr>
        <p:txBody>
          <a:bodyPr vert="horz" wrap="square" lIns="91440" tIns="45720" rIns="91440" bIns="45720" anchor="ctr"/>
          <a:lstStyle/>
          <a:p>
            <a:pPr eaLnBrk="1" hangingPunct="1"/>
            <a:r>
              <a:rPr lang="zh-CN" altLang="en-US" dirty="0"/>
              <a:t>字符</a:t>
            </a:r>
            <a:r>
              <a:rPr lang="zh-CN" altLang="en-US" dirty="0" smtClean="0"/>
              <a:t>指针指向输入的一个字符串</a:t>
            </a:r>
            <a:endParaRPr lang="zh-CN" altLang="en-US" dirty="0"/>
          </a:p>
        </p:txBody>
      </p:sp>
      <p:sp>
        <p:nvSpPr>
          <p:cNvPr id="430083" name="Rectangle 3"/>
          <p:cNvSpPr>
            <a:spLocks noGrp="1"/>
          </p:cNvSpPr>
          <p:nvPr>
            <p:ph idx="1"/>
          </p:nvPr>
        </p:nvSpPr>
        <p:spPr>
          <a:xfrm>
            <a:off x="755333" y="1843405"/>
            <a:ext cx="8280400" cy="4681538"/>
          </a:xfrm>
        </p:spPr>
        <p:txBody>
          <a:bodyPr vert="horz" wrap="square" lIns="91440" tIns="45720" rIns="91440" bIns="45720" anchor="t"/>
          <a:lstStyle/>
          <a:p>
            <a:pPr eaLnBrk="1" hangingPunct="1">
              <a:lnSpc>
                <a:spcPct val="80000"/>
              </a:lnSpc>
              <a:buNone/>
            </a:pPr>
            <a:r>
              <a:rPr lang="zh-CN" altLang="en-US" sz="2800" dirty="0"/>
              <a:t>定义字符指针后，如果没有对它赋值，指针的值</a:t>
            </a:r>
            <a:r>
              <a:rPr lang="zh-CN" altLang="en-US" sz="2800" dirty="0">
                <a:solidFill>
                  <a:srgbClr val="FF0000"/>
                </a:solidFill>
              </a:rPr>
              <a:t>不确定</a:t>
            </a:r>
            <a:r>
              <a:rPr lang="zh-CN" altLang="en-US" sz="2800" dirty="0"/>
              <a:t>。</a:t>
            </a:r>
            <a:r>
              <a:rPr lang="en-US" altLang="zh-CN" sz="2800" dirty="0"/>
              <a:t> </a:t>
            </a:r>
            <a:endParaRPr lang="zh-CN" altLang="en-US" sz="2800" dirty="0"/>
          </a:p>
          <a:p>
            <a:pPr eaLnBrk="1" hangingPunct="1">
              <a:lnSpc>
                <a:spcPct val="80000"/>
              </a:lnSpc>
              <a:buNone/>
            </a:pPr>
            <a:r>
              <a:rPr lang="en-US" altLang="zh-CN" sz="2800" dirty="0"/>
              <a:t>char *s ;</a:t>
            </a:r>
          </a:p>
          <a:p>
            <a:pPr eaLnBrk="1" hangingPunct="1">
              <a:lnSpc>
                <a:spcPct val="80000"/>
              </a:lnSpc>
              <a:buNone/>
            </a:pPr>
            <a:r>
              <a:rPr lang="en-US" altLang="zh-CN" sz="2800" dirty="0" err="1"/>
              <a:t>scanf</a:t>
            </a:r>
            <a:r>
              <a:rPr lang="en-US" altLang="zh-CN" sz="2800" dirty="0" smtClean="0"/>
              <a:t>(</a:t>
            </a:r>
            <a:r>
              <a:rPr lang="en-US" altLang="zh-CN" dirty="0" smtClean="0"/>
              <a:t>"</a:t>
            </a:r>
            <a:r>
              <a:rPr lang="en-US" altLang="zh-CN" sz="2800" dirty="0" smtClean="0"/>
              <a:t>%s</a:t>
            </a:r>
            <a:r>
              <a:rPr lang="en-US" altLang="zh-CN" dirty="0" smtClean="0"/>
              <a:t>"</a:t>
            </a:r>
            <a:r>
              <a:rPr lang="en-US" altLang="zh-CN" sz="2800" dirty="0" smtClean="0"/>
              <a:t>, </a:t>
            </a:r>
            <a:r>
              <a:rPr lang="en-US" altLang="zh-CN" sz="2800" dirty="0"/>
              <a:t>s);</a:t>
            </a:r>
          </a:p>
          <a:p>
            <a:pPr eaLnBrk="1" hangingPunct="1">
              <a:lnSpc>
                <a:spcPct val="80000"/>
              </a:lnSpc>
              <a:buNone/>
            </a:pPr>
            <a:endParaRPr lang="en-US" altLang="zh-CN" sz="2800" dirty="0"/>
          </a:p>
          <a:p>
            <a:pPr eaLnBrk="1" hangingPunct="1">
              <a:lnSpc>
                <a:spcPct val="80000"/>
              </a:lnSpc>
              <a:buNone/>
            </a:pPr>
            <a:r>
              <a:rPr lang="en-US" altLang="zh-CN" sz="2800" dirty="0"/>
              <a:t>char *s, str[20];</a:t>
            </a:r>
          </a:p>
          <a:p>
            <a:pPr eaLnBrk="1" hangingPunct="1">
              <a:lnSpc>
                <a:spcPct val="80000"/>
              </a:lnSpc>
              <a:buNone/>
            </a:pPr>
            <a:r>
              <a:rPr lang="en-US" altLang="zh-CN" sz="2800" dirty="0"/>
              <a:t>s = str;</a:t>
            </a:r>
          </a:p>
          <a:p>
            <a:pPr eaLnBrk="1" hangingPunct="1">
              <a:lnSpc>
                <a:spcPct val="80000"/>
              </a:lnSpc>
              <a:buNone/>
            </a:pPr>
            <a:r>
              <a:rPr lang="en-US" altLang="zh-CN" sz="2800" dirty="0" err="1"/>
              <a:t>scanf</a:t>
            </a:r>
            <a:r>
              <a:rPr lang="en-US" altLang="zh-CN" sz="2800" dirty="0" smtClean="0"/>
              <a:t>(</a:t>
            </a:r>
            <a:r>
              <a:rPr lang="en-US" altLang="zh-CN" dirty="0" smtClean="0"/>
              <a:t>"</a:t>
            </a:r>
            <a:r>
              <a:rPr lang="en-US" altLang="zh-CN" sz="2800" dirty="0" smtClean="0"/>
              <a:t>%s</a:t>
            </a:r>
            <a:r>
              <a:rPr lang="en-US" altLang="zh-CN" dirty="0" smtClean="0"/>
              <a:t>"</a:t>
            </a:r>
            <a:r>
              <a:rPr lang="en-US" altLang="zh-CN" sz="2800" dirty="0" smtClean="0"/>
              <a:t>, </a:t>
            </a:r>
            <a:r>
              <a:rPr lang="en-US" altLang="zh-CN" sz="2800" dirty="0"/>
              <a:t>s);</a:t>
            </a:r>
          </a:p>
          <a:p>
            <a:pPr eaLnBrk="1" hangingPunct="1">
              <a:lnSpc>
                <a:spcPct val="80000"/>
              </a:lnSpc>
              <a:buNone/>
            </a:pPr>
            <a:endParaRPr lang="zh-CN" altLang="en-US" sz="2800" dirty="0"/>
          </a:p>
        </p:txBody>
      </p:sp>
      <p:sp>
        <p:nvSpPr>
          <p:cNvPr id="430084" name="Text Box 4"/>
          <p:cNvSpPr txBox="1"/>
          <p:nvPr/>
        </p:nvSpPr>
        <p:spPr>
          <a:xfrm>
            <a:off x="4138295" y="2780030"/>
            <a:ext cx="4166235" cy="457200"/>
          </a:xfrm>
          <a:prstGeom prst="rect">
            <a:avLst/>
          </a:prstGeom>
          <a:noFill/>
          <a:ln w="9525">
            <a:noFill/>
          </a:ln>
        </p:spPr>
        <p:txBody>
          <a:bodyPr wrap="square" lIns="92075" tIns="46038" rIns="92075" bIns="46038">
            <a:spAutoFit/>
          </a:bodyPr>
          <a:lstStyle/>
          <a:p>
            <a:pPr lvl="0" eaLnBrk="1" hangingPunct="1">
              <a:spcBef>
                <a:spcPct val="50000"/>
              </a:spcBef>
            </a:pPr>
            <a:r>
              <a:rPr lang="zh-CN" altLang="en-US" sz="2400" b="1" dirty="0">
                <a:solidFill>
                  <a:srgbClr val="FF0000"/>
                </a:solidFill>
                <a:latin typeface="Arial" panose="020B0604020202020204" pitchFamily="34" charset="0"/>
                <a:ea typeface="仿宋_GB2312" panose="02010609030101010101" pitchFamily="49" charset="-122"/>
              </a:rPr>
              <a:t>错误：不要引用未赋值的指针</a:t>
            </a:r>
          </a:p>
        </p:txBody>
      </p:sp>
      <p:sp>
        <p:nvSpPr>
          <p:cNvPr id="2" name="Text Box 4"/>
          <p:cNvSpPr txBox="1"/>
          <p:nvPr/>
        </p:nvSpPr>
        <p:spPr>
          <a:xfrm>
            <a:off x="4193540" y="4126865"/>
            <a:ext cx="4166235" cy="457200"/>
          </a:xfrm>
          <a:prstGeom prst="rect">
            <a:avLst/>
          </a:prstGeom>
          <a:noFill/>
          <a:ln w="9525">
            <a:noFill/>
          </a:ln>
        </p:spPr>
        <p:txBody>
          <a:bodyPr wrap="square" lIns="92075" tIns="46038" rIns="92075" bIns="46038">
            <a:spAutoFit/>
          </a:bodyPr>
          <a:lstStyle/>
          <a:p>
            <a:pPr lvl="0" eaLnBrk="1" hangingPunct="1">
              <a:spcBef>
                <a:spcPct val="50000"/>
              </a:spcBef>
            </a:pPr>
            <a:r>
              <a:rPr lang="zh-CN" altLang="en-US" sz="2400" b="1" dirty="0">
                <a:solidFill>
                  <a:srgbClr val="FF0000"/>
                </a:solidFill>
                <a:latin typeface="Arial" panose="020B0604020202020204" pitchFamily="34" charset="0"/>
                <a:ea typeface="仿宋_GB2312" panose="02010609030101010101" pitchFamily="49" charset="-122"/>
              </a:rPr>
              <a:t>正确：指针已经指向数组空间</a:t>
            </a:r>
          </a:p>
        </p:txBody>
      </p:sp>
      <p:cxnSp>
        <p:nvCxnSpPr>
          <p:cNvPr id="4" name="直接连接符 3"/>
          <p:cNvCxnSpPr/>
          <p:nvPr/>
        </p:nvCxnSpPr>
        <p:spPr bwMode="auto">
          <a:xfrm flipV="1">
            <a:off x="989738" y="3008630"/>
            <a:ext cx="2304256" cy="42037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6" name="直接连接符 5"/>
          <p:cNvCxnSpPr/>
          <p:nvPr/>
        </p:nvCxnSpPr>
        <p:spPr bwMode="auto">
          <a:xfrm>
            <a:off x="971600" y="3008630"/>
            <a:ext cx="2304256" cy="420370"/>
          </a:xfrm>
          <a:prstGeom prst="line">
            <a:avLst/>
          </a:prstGeom>
          <a:solidFill>
            <a:schemeClr val="accent1"/>
          </a:solidFill>
          <a:ln w="9525" cap="flat" cmpd="sng" algn="ctr">
            <a:solidFill>
              <a:schemeClr val="tx1"/>
            </a:solidFill>
            <a:prstDash val="solid"/>
            <a:round/>
            <a:headEnd type="none" w="med" len="med"/>
            <a:tailEnd type="none" w="med" len="med"/>
          </a:ln>
        </p:spPr>
      </p:cxnSp>
    </p:spTree>
    <p:extLst>
      <p:ext uri="{BB962C8B-B14F-4D97-AF65-F5344CB8AC3E}">
        <p14:creationId xmlns:p14="http://schemas.microsoft.com/office/powerpoint/2010/main" val="3323684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Effect transition="in" filter="wipe(down)">
                                      <p:cBhvr>
                                        <p:cTn id="7" dur="500"/>
                                        <p:tgtEl>
                                          <p:spTgt spid="430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30083">
                                            <p:txEl>
                                              <p:pRg st="1" end="1"/>
                                            </p:txEl>
                                          </p:spTgt>
                                        </p:tgtEl>
                                        <p:attrNameLst>
                                          <p:attrName>style.visibility</p:attrName>
                                        </p:attrNameLst>
                                      </p:cBhvr>
                                      <p:to>
                                        <p:strVal val="visible"/>
                                      </p:to>
                                    </p:set>
                                    <p:animEffect transition="in" filter="wipe(down)">
                                      <p:cBhvr>
                                        <p:cTn id="12" dur="500"/>
                                        <p:tgtEl>
                                          <p:spTgt spid="430083">
                                            <p:txEl>
                                              <p:pRg st="1" end="1"/>
                                            </p:txEl>
                                          </p:spTgt>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430083">
                                            <p:txEl>
                                              <p:pRg st="2" end="2"/>
                                            </p:txEl>
                                          </p:spTgt>
                                        </p:tgtEl>
                                        <p:attrNameLst>
                                          <p:attrName>style.visibility</p:attrName>
                                        </p:attrNameLst>
                                      </p:cBhvr>
                                      <p:to>
                                        <p:strVal val="visible"/>
                                      </p:to>
                                    </p:set>
                                    <p:animEffect transition="in" filter="wipe(down)">
                                      <p:cBhvr>
                                        <p:cTn id="16" dur="500"/>
                                        <p:tgtEl>
                                          <p:spTgt spid="43008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30084"/>
                                        </p:tgtEl>
                                        <p:attrNameLst>
                                          <p:attrName>style.visibility</p:attrName>
                                        </p:attrNameLst>
                                      </p:cBhvr>
                                      <p:to>
                                        <p:strVal val="visible"/>
                                      </p:to>
                                    </p:set>
                                    <p:animEffect transition="in" filter="wipe(down)">
                                      <p:cBhvr>
                                        <p:cTn id="21" dur="500"/>
                                        <p:tgtEl>
                                          <p:spTgt spid="43008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430083">
                                            <p:txEl>
                                              <p:pRg st="4" end="4"/>
                                            </p:txEl>
                                          </p:spTgt>
                                        </p:tgtEl>
                                        <p:attrNameLst>
                                          <p:attrName>style.visibility</p:attrName>
                                        </p:attrNameLst>
                                      </p:cBhvr>
                                      <p:to>
                                        <p:strVal val="visible"/>
                                      </p:to>
                                    </p:set>
                                    <p:animEffect transition="in" filter="wipe(down)">
                                      <p:cBhvr>
                                        <p:cTn id="26" dur="500"/>
                                        <p:tgtEl>
                                          <p:spTgt spid="430083">
                                            <p:txEl>
                                              <p:pRg st="4" end="4"/>
                                            </p:txEl>
                                          </p:spTgt>
                                        </p:tgtEl>
                                      </p:cBhvr>
                                    </p:animEffect>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430083">
                                            <p:txEl>
                                              <p:pRg st="5" end="5"/>
                                            </p:txEl>
                                          </p:spTgt>
                                        </p:tgtEl>
                                        <p:attrNameLst>
                                          <p:attrName>style.visibility</p:attrName>
                                        </p:attrNameLst>
                                      </p:cBhvr>
                                      <p:to>
                                        <p:strVal val="visible"/>
                                      </p:to>
                                    </p:set>
                                    <p:animEffect transition="in" filter="wipe(down)">
                                      <p:cBhvr>
                                        <p:cTn id="30" dur="500"/>
                                        <p:tgtEl>
                                          <p:spTgt spid="430083">
                                            <p:txEl>
                                              <p:pRg st="5" end="5"/>
                                            </p:txEl>
                                          </p:spTgt>
                                        </p:tgtEl>
                                      </p:cBhvr>
                                    </p:animEffect>
                                  </p:childTnLst>
                                </p:cTn>
                              </p:par>
                            </p:childTnLst>
                          </p:cTn>
                        </p:par>
                        <p:par>
                          <p:cTn id="31" fill="hold">
                            <p:stCondLst>
                              <p:cond delay="1000"/>
                            </p:stCondLst>
                            <p:childTnLst>
                              <p:par>
                                <p:cTn id="32" presetID="22" presetClass="entr" presetSubtype="4" fill="hold" grpId="0" nodeType="afterEffect">
                                  <p:stCondLst>
                                    <p:cond delay="0"/>
                                  </p:stCondLst>
                                  <p:childTnLst>
                                    <p:set>
                                      <p:cBhvr>
                                        <p:cTn id="33" dur="1" fill="hold">
                                          <p:stCondLst>
                                            <p:cond delay="0"/>
                                          </p:stCondLst>
                                        </p:cTn>
                                        <p:tgtEl>
                                          <p:spTgt spid="430083">
                                            <p:txEl>
                                              <p:pRg st="6" end="6"/>
                                            </p:txEl>
                                          </p:spTgt>
                                        </p:tgtEl>
                                        <p:attrNameLst>
                                          <p:attrName>style.visibility</p:attrName>
                                        </p:attrNameLst>
                                      </p:cBhvr>
                                      <p:to>
                                        <p:strVal val="visible"/>
                                      </p:to>
                                    </p:set>
                                    <p:animEffect transition="in" filter="wipe(down)">
                                      <p:cBhvr>
                                        <p:cTn id="34" dur="500"/>
                                        <p:tgtEl>
                                          <p:spTgt spid="43008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p:bldP spid="430084" grpId="0"/>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使用字符指针遍历字符串</a:t>
            </a:r>
            <a:endParaRPr lang="zh-CN" altLang="en-US" dirty="0"/>
          </a:p>
        </p:txBody>
      </p:sp>
      <p:sp>
        <p:nvSpPr>
          <p:cNvPr id="3" name="内容占位符 2"/>
          <p:cNvSpPr>
            <a:spLocks noGrp="1"/>
          </p:cNvSpPr>
          <p:nvPr>
            <p:ph idx="1"/>
          </p:nvPr>
        </p:nvSpPr>
        <p:spPr/>
        <p:txBody>
          <a:bodyPr/>
          <a:lstStyle/>
          <a:p>
            <a:r>
              <a:rPr lang="zh-CN" altLang="en-US" sz="2400" dirty="0"/>
              <a:t>当字符指针指向字符串常量或一个输入的字符串后，通过 </a:t>
            </a:r>
          </a:p>
          <a:p>
            <a:pPr marL="0" indent="0">
              <a:buNone/>
            </a:pPr>
            <a:r>
              <a:rPr lang="zh-CN" altLang="en-US" sz="2400" dirty="0"/>
              <a:t>   字符型指针遍历字符串的一般模板如下：</a:t>
            </a:r>
          </a:p>
          <a:p>
            <a:pPr marL="0" indent="0">
              <a:buNone/>
            </a:pPr>
            <a:r>
              <a:rPr lang="zh-CN" altLang="en-US" sz="2400" dirty="0"/>
              <a:t>   for ( ; *s != '\0'; s++)</a:t>
            </a:r>
          </a:p>
          <a:p>
            <a:r>
              <a:rPr lang="zh-CN" altLang="en-US" sz="2400" dirty="0"/>
              <a:t>说明：当字符指针s指向字符串常量或一个输入的字符串   </a:t>
            </a:r>
          </a:p>
          <a:p>
            <a:pPr marL="0" indent="0">
              <a:buNone/>
            </a:pPr>
            <a:r>
              <a:rPr lang="zh-CN" altLang="en-US" sz="2400" dirty="0"/>
              <a:t>   后，s就是字符串的首地址，*s就表示字符串首字符。</a:t>
            </a:r>
          </a:p>
          <a:p>
            <a:pPr marL="0" indent="0">
              <a:buNone/>
            </a:pPr>
            <a:r>
              <a:rPr lang="zh-CN" altLang="en-US" sz="2400" dirty="0"/>
              <a:t>   s++后是下一个字符的地址，再*s就表示下一个字符，如 </a:t>
            </a:r>
          </a:p>
          <a:p>
            <a:pPr marL="0" indent="0">
              <a:buNone/>
            </a:pPr>
            <a:r>
              <a:rPr lang="zh-CN" altLang="en-US" sz="2400" dirty="0"/>
              <a:t>   此遍历字符串的各个字符。</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72</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138" y="44624"/>
            <a:ext cx="8569201" cy="576064"/>
          </a:xfrm>
        </p:spPr>
        <p:txBody>
          <a:bodyPr/>
          <a:lstStyle/>
          <a:p>
            <a:pPr marL="0" indent="0">
              <a:buNone/>
            </a:pPr>
            <a:r>
              <a:rPr lang="zh-CN" altLang="zh-CN" sz="2400" dirty="0">
                <a:effectLst/>
              </a:rPr>
              <a:t>【例</a:t>
            </a:r>
            <a:r>
              <a:rPr lang="en-US" altLang="zh-CN" sz="2400" dirty="0">
                <a:effectLst/>
              </a:rPr>
              <a:t>6-13</a:t>
            </a:r>
            <a:r>
              <a:rPr lang="zh-CN" altLang="zh-CN" sz="2400" dirty="0">
                <a:effectLst/>
              </a:rPr>
              <a:t>】用不同方式输出同一个字符串</a:t>
            </a:r>
          </a:p>
          <a:p>
            <a:pPr marL="0" indent="0">
              <a:buNone/>
            </a:pPr>
            <a:endParaRPr lang="zh-CN" altLang="en-US" sz="24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73</a:t>
            </a:fld>
            <a:endParaRPr lang="en-US" altLang="zh-CN" dirty="0"/>
          </a:p>
        </p:txBody>
      </p:sp>
      <p:sp>
        <p:nvSpPr>
          <p:cNvPr id="2" name="矩形 1"/>
          <p:cNvSpPr/>
          <p:nvPr/>
        </p:nvSpPr>
        <p:spPr>
          <a:xfrm>
            <a:off x="84138" y="476672"/>
            <a:ext cx="9059862" cy="6463308"/>
          </a:xfrm>
          <a:prstGeom prst="rect">
            <a:avLst/>
          </a:prstGeom>
        </p:spPr>
        <p:txBody>
          <a:bodyPr wrap="square">
            <a:spAutoFit/>
          </a:bodyPr>
          <a:lstStyle/>
          <a:p>
            <a:r>
              <a:rPr lang="zh-CN" altLang="en-US" sz="1800" b="1" dirty="0"/>
              <a:t>#include &lt;stdio.h&gt;</a:t>
            </a:r>
          </a:p>
          <a:p>
            <a:r>
              <a:rPr lang="zh-CN" altLang="en-US" sz="1800" b="1" dirty="0"/>
              <a:t>int main()</a:t>
            </a:r>
          </a:p>
          <a:p>
            <a:r>
              <a:rPr lang="zh-CN" altLang="en-US" sz="1800" b="1" dirty="0"/>
              <a:t>{ char *s="hello";</a:t>
            </a:r>
          </a:p>
          <a:p>
            <a:r>
              <a:rPr lang="zh-CN" altLang="en-US" sz="1800" b="1" dirty="0"/>
              <a:t>  int i;</a:t>
            </a:r>
          </a:p>
          <a:p>
            <a:r>
              <a:rPr lang="zh-CN" altLang="en-US" sz="1800" b="1" dirty="0"/>
              <a:t>  //方法一</a:t>
            </a:r>
          </a:p>
          <a:p>
            <a:r>
              <a:rPr lang="zh-CN" altLang="en-US" sz="1800" b="1" dirty="0"/>
              <a:t>  printf("method 1:");</a:t>
            </a:r>
          </a:p>
          <a:p>
            <a:r>
              <a:rPr lang="zh-CN" altLang="en-US" sz="1800" b="1" dirty="0"/>
              <a:t>  printf("%s\n",s);</a:t>
            </a:r>
          </a:p>
          <a:p>
            <a:r>
              <a:rPr lang="zh-CN" altLang="en-US" sz="1800" b="1" dirty="0"/>
              <a:t>  //方法二</a:t>
            </a:r>
          </a:p>
          <a:p>
            <a:r>
              <a:rPr lang="zh-CN" altLang="en-US" sz="1800" b="1" dirty="0"/>
              <a:t>  printf("method 2:");</a:t>
            </a:r>
          </a:p>
          <a:p>
            <a:r>
              <a:rPr lang="zh-CN" altLang="en-US" sz="1800" b="1" dirty="0"/>
              <a:t>  </a:t>
            </a:r>
            <a:r>
              <a:rPr lang="zh-CN" altLang="en-US" sz="1800" b="1" dirty="0">
                <a:solidFill>
                  <a:srgbClr val="FF0000"/>
                </a:solidFill>
              </a:rPr>
              <a:t>puts(s);</a:t>
            </a:r>
          </a:p>
          <a:p>
            <a:r>
              <a:rPr lang="zh-CN" altLang="en-US" sz="1800" b="1" dirty="0"/>
              <a:t>  //方法三</a:t>
            </a:r>
          </a:p>
          <a:p>
            <a:r>
              <a:rPr lang="zh-CN" altLang="en-US" sz="1800" b="1" dirty="0"/>
              <a:t>  printf("method 3:");</a:t>
            </a:r>
          </a:p>
          <a:p>
            <a:r>
              <a:rPr lang="zh-CN" altLang="en-US" sz="1800" b="1" dirty="0"/>
              <a:t>  //用*(指针+下标)的方式输出每个字符，指针变量s不动，永远指向字符串的首字符</a:t>
            </a:r>
          </a:p>
          <a:p>
            <a:r>
              <a:rPr lang="zh-CN" altLang="en-US" sz="1800" b="1" dirty="0"/>
              <a:t>  for (i=0; *(s+i)!= '\0'; i++)</a:t>
            </a:r>
          </a:p>
          <a:p>
            <a:r>
              <a:rPr lang="zh-CN" altLang="en-US" sz="1800" b="1" dirty="0" smtClean="0"/>
              <a:t>      putchar</a:t>
            </a:r>
            <a:r>
              <a:rPr lang="zh-CN" altLang="en-US" sz="1800" b="1" dirty="0"/>
              <a:t>(*(s+i));</a:t>
            </a:r>
          </a:p>
          <a:p>
            <a:r>
              <a:rPr lang="zh-CN" altLang="en-US" sz="1800" b="1" dirty="0"/>
              <a:t>  printf("\n");</a:t>
            </a:r>
          </a:p>
          <a:p>
            <a:r>
              <a:rPr lang="zh-CN" altLang="en-US" sz="1800" b="1" dirty="0"/>
              <a:t>  //方法四</a:t>
            </a:r>
          </a:p>
          <a:p>
            <a:r>
              <a:rPr lang="zh-CN" altLang="en-US" sz="1800" b="1" dirty="0"/>
              <a:t>  printf("method 4:");</a:t>
            </a:r>
          </a:p>
          <a:p>
            <a:r>
              <a:rPr lang="zh-CN" altLang="en-US" sz="1800" b="1" dirty="0"/>
              <a:t>  //用指针变量逐个向后移动的的方式输出每个字符</a:t>
            </a:r>
          </a:p>
          <a:p>
            <a:r>
              <a:rPr lang="zh-CN" altLang="en-US" sz="1800" b="1" dirty="0"/>
              <a:t>  </a:t>
            </a:r>
            <a:r>
              <a:rPr lang="zh-CN" altLang="en-US" sz="1800" b="1" dirty="0">
                <a:solidFill>
                  <a:srgbClr val="FF0000"/>
                </a:solidFill>
              </a:rPr>
              <a:t>for ( ; *s != '\0'; s++)</a:t>
            </a:r>
          </a:p>
          <a:p>
            <a:r>
              <a:rPr lang="zh-CN" altLang="en-US" sz="1800" b="1" dirty="0" smtClean="0"/>
              <a:t>      putchar</a:t>
            </a:r>
            <a:r>
              <a:rPr lang="zh-CN" altLang="en-US" sz="1800" b="1" dirty="0"/>
              <a:t>(*s);</a:t>
            </a:r>
          </a:p>
          <a:p>
            <a:r>
              <a:rPr lang="zh-CN" altLang="en-US" sz="1800" b="1" dirty="0"/>
              <a:t>  printf("\n");</a:t>
            </a:r>
          </a:p>
          <a:p>
            <a:r>
              <a:rPr lang="zh-CN" altLang="en-US" sz="1800" b="1" dirty="0"/>
              <a:t>}</a:t>
            </a:r>
          </a:p>
        </p:txBody>
      </p:sp>
      <p:sp>
        <p:nvSpPr>
          <p:cNvPr id="5" name="Rectangle 57"/>
          <p:cNvSpPr/>
          <p:nvPr/>
        </p:nvSpPr>
        <p:spPr>
          <a:xfrm>
            <a:off x="4716016" y="980728"/>
            <a:ext cx="431799" cy="4318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dirty="0" smtClean="0"/>
              <a:t>s</a:t>
            </a:r>
            <a:endParaRPr lang="en-US" altLang="zh-CN" dirty="0"/>
          </a:p>
        </p:txBody>
      </p:sp>
      <p:graphicFrame>
        <p:nvGraphicFramePr>
          <p:cNvPr id="6" name="Group 58"/>
          <p:cNvGraphicFramePr>
            <a:graphicFrameLocks noGrp="1"/>
          </p:cNvGraphicFramePr>
          <p:nvPr>
            <p:extLst>
              <p:ext uri="{D42A27DB-BD31-4B8C-83A1-F6EECF244321}">
                <p14:modId xmlns:p14="http://schemas.microsoft.com/office/powerpoint/2010/main" val="582768288"/>
              </p:ext>
            </p:extLst>
          </p:nvPr>
        </p:nvGraphicFramePr>
        <p:xfrm>
          <a:off x="6019655" y="980728"/>
          <a:ext cx="2166937" cy="518796"/>
        </p:xfrm>
        <a:graphic>
          <a:graphicData uri="http://schemas.openxmlformats.org/drawingml/2006/table">
            <a:tbl>
              <a:tblPr/>
              <a:tblGrid>
                <a:gridCol w="334963">
                  <a:extLst>
                    <a:ext uri="{9D8B030D-6E8A-4147-A177-3AD203B41FA5}">
                      <a16:colId xmlns:a16="http://schemas.microsoft.com/office/drawing/2014/main" val="20000"/>
                    </a:ext>
                  </a:extLst>
                </a:gridCol>
                <a:gridCol w="336550">
                  <a:extLst>
                    <a:ext uri="{9D8B030D-6E8A-4147-A177-3AD203B41FA5}">
                      <a16:colId xmlns:a16="http://schemas.microsoft.com/office/drawing/2014/main" val="20001"/>
                    </a:ext>
                  </a:extLst>
                </a:gridCol>
                <a:gridCol w="334962">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34962">
                  <a:extLst>
                    <a:ext uri="{9D8B030D-6E8A-4147-A177-3AD203B41FA5}">
                      <a16:colId xmlns:a16="http://schemas.microsoft.com/office/drawing/2014/main" val="20004"/>
                    </a:ext>
                  </a:extLst>
                </a:gridCol>
                <a:gridCol w="487362">
                  <a:extLst>
                    <a:ext uri="{9D8B030D-6E8A-4147-A177-3AD203B41FA5}">
                      <a16:colId xmlns:a16="http://schemas.microsoft.com/office/drawing/2014/main" val="20016"/>
                    </a:ext>
                  </a:extLst>
                </a:gridCol>
              </a:tblGrid>
              <a:tr h="350838">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l</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l</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o</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Group 105"/>
          <p:cNvGraphicFramePr>
            <a:graphicFrameLocks noGrp="1"/>
          </p:cNvGraphicFramePr>
          <p:nvPr>
            <p:extLst>
              <p:ext uri="{D42A27DB-BD31-4B8C-83A1-F6EECF244321}">
                <p14:modId xmlns:p14="http://schemas.microsoft.com/office/powerpoint/2010/main" val="1898687613"/>
              </p:ext>
            </p:extLst>
          </p:nvPr>
        </p:nvGraphicFramePr>
        <p:xfrm>
          <a:off x="5072137" y="980728"/>
          <a:ext cx="455613" cy="518796"/>
        </p:xfrm>
        <a:graphic>
          <a:graphicData uri="http://schemas.openxmlformats.org/drawingml/2006/table">
            <a:tbl>
              <a:tblPr/>
              <a:tblGrid>
                <a:gridCol w="455613">
                  <a:extLst>
                    <a:ext uri="{9D8B030D-6E8A-4147-A177-3AD203B41FA5}">
                      <a16:colId xmlns:a16="http://schemas.microsoft.com/office/drawing/2014/main" val="20000"/>
                    </a:ext>
                  </a:extLst>
                </a:gridCol>
              </a:tblGrid>
              <a:tr h="447675">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Line 107"/>
          <p:cNvSpPr/>
          <p:nvPr/>
        </p:nvSpPr>
        <p:spPr>
          <a:xfrm>
            <a:off x="5535989" y="1268760"/>
            <a:ext cx="483666" cy="893"/>
          </a:xfrm>
          <a:prstGeom prst="line">
            <a:avLst/>
          </a:prstGeom>
          <a:ln w="38100" cap="flat" cmpd="sng">
            <a:solidFill>
              <a:schemeClr val="bg2"/>
            </a:solidFill>
            <a:prstDash val="solid"/>
            <a:headEnd type="none" w="med" len="med"/>
            <a:tailEnd type="triangle" w="med" len="med"/>
          </a:ln>
        </p:spPr>
      </p:sp>
    </p:spTree>
    <p:extLst>
      <p:ext uri="{BB962C8B-B14F-4D97-AF65-F5344CB8AC3E}">
        <p14:creationId xmlns:p14="http://schemas.microsoft.com/office/powerpoint/2010/main" val="1806355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对称字符串（回文）</a:t>
            </a:r>
            <a:endParaRPr lang="zh-CN" altLang="en-US" dirty="0"/>
          </a:p>
        </p:txBody>
      </p:sp>
      <p:sp>
        <p:nvSpPr>
          <p:cNvPr id="3" name="内容占位符 2"/>
          <p:cNvSpPr>
            <a:spLocks noGrp="1"/>
          </p:cNvSpPr>
          <p:nvPr>
            <p:ph idx="1"/>
          </p:nvPr>
        </p:nvSpPr>
        <p:spPr/>
        <p:txBody>
          <a:bodyPr/>
          <a:lstStyle/>
          <a:p>
            <a:r>
              <a:rPr lang="zh-CN" altLang="en-US" dirty="0" smtClean="0"/>
              <a:t>几种编程方法</a:t>
            </a:r>
            <a:endParaRPr lang="en-US" altLang="zh-CN" dirty="0" smtClean="0"/>
          </a:p>
          <a:p>
            <a:pPr lvl="1"/>
            <a:r>
              <a:rPr lang="zh-CN" altLang="en-US" dirty="0" smtClean="0"/>
              <a:t>不用指针</a:t>
            </a:r>
            <a:endParaRPr lang="en-US" altLang="zh-CN" dirty="0" smtClean="0"/>
          </a:p>
          <a:p>
            <a:pPr lvl="1"/>
            <a:r>
              <a:rPr lang="zh-CN" altLang="en-US" dirty="0"/>
              <a:t>用指针</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74</a:t>
            </a:fld>
            <a:endParaRPr lang="en-US" altLang="zh-CN" dirty="0"/>
          </a:p>
        </p:txBody>
      </p:sp>
    </p:spTree>
    <p:extLst>
      <p:ext uri="{BB962C8B-B14F-4D97-AF65-F5344CB8AC3E}">
        <p14:creationId xmlns:p14="http://schemas.microsoft.com/office/powerpoint/2010/main" val="944131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7825" y="288032"/>
            <a:ext cx="7993063" cy="6093296"/>
          </a:xfrm>
        </p:spPr>
        <p:txBody>
          <a:bodyPr/>
          <a:lstStyle/>
          <a:p>
            <a:pPr marL="0" indent="0">
              <a:lnSpc>
                <a:spcPct val="100000"/>
              </a:lnSpc>
              <a:buNone/>
            </a:pPr>
            <a:r>
              <a:rPr lang="en-US" altLang="zh-CN" sz="2000" dirty="0"/>
              <a:t>#include &lt;</a:t>
            </a:r>
            <a:r>
              <a:rPr lang="en-US" altLang="zh-CN" sz="2000" dirty="0" err="1"/>
              <a:t>stdio.h</a:t>
            </a:r>
            <a:r>
              <a:rPr lang="en-US" altLang="zh-CN" sz="2000" dirty="0"/>
              <a:t>&gt;</a:t>
            </a:r>
          </a:p>
          <a:p>
            <a:pPr marL="0" indent="0">
              <a:lnSpc>
                <a:spcPct val="100000"/>
              </a:lnSpc>
              <a:buNone/>
            </a:pPr>
            <a:r>
              <a:rPr lang="en-US" altLang="zh-CN" sz="2000" dirty="0"/>
              <a:t>#include &lt;</a:t>
            </a:r>
            <a:r>
              <a:rPr lang="en-US" altLang="zh-CN" sz="2000" dirty="0" err="1"/>
              <a:t>string.h</a:t>
            </a:r>
            <a:r>
              <a:rPr lang="en-US" altLang="zh-CN" sz="2000" dirty="0"/>
              <a:t>&gt;</a:t>
            </a:r>
          </a:p>
          <a:p>
            <a:pPr marL="0" indent="0">
              <a:lnSpc>
                <a:spcPct val="100000"/>
              </a:lnSpc>
              <a:buNone/>
            </a:pPr>
            <a:r>
              <a:rPr lang="en-US" altLang="zh-CN" sz="2000" dirty="0" err="1"/>
              <a:t>int</a:t>
            </a:r>
            <a:r>
              <a:rPr lang="en-US" altLang="zh-CN" sz="2000" dirty="0"/>
              <a:t> main()</a:t>
            </a:r>
          </a:p>
          <a:p>
            <a:pPr marL="0" indent="0">
              <a:lnSpc>
                <a:spcPct val="100000"/>
              </a:lnSpc>
              <a:buNone/>
            </a:pPr>
            <a:r>
              <a:rPr lang="en-US" altLang="zh-CN" sz="2000" dirty="0"/>
              <a:t>{</a:t>
            </a:r>
          </a:p>
          <a:p>
            <a:pPr marL="0" indent="0">
              <a:lnSpc>
                <a:spcPct val="100000"/>
              </a:lnSpc>
              <a:buNone/>
            </a:pPr>
            <a:r>
              <a:rPr lang="en-US" altLang="zh-CN" sz="2000" dirty="0"/>
              <a:t>    </a:t>
            </a:r>
            <a:r>
              <a:rPr lang="en-US" altLang="zh-CN" sz="2000" dirty="0" err="1"/>
              <a:t>int</a:t>
            </a:r>
            <a:r>
              <a:rPr lang="en-US" altLang="zh-CN" sz="2000" dirty="0"/>
              <a:t> </a:t>
            </a:r>
            <a:r>
              <a:rPr lang="en-US" altLang="zh-CN" sz="2000" dirty="0" smtClean="0"/>
              <a:t>n</a:t>
            </a:r>
            <a:r>
              <a:rPr lang="en-US" altLang="zh-CN" sz="2000" dirty="0"/>
              <a:t>, m;</a:t>
            </a:r>
          </a:p>
          <a:p>
            <a:pPr marL="0" indent="0">
              <a:lnSpc>
                <a:spcPct val="100000"/>
              </a:lnSpc>
              <a:buNone/>
            </a:pPr>
            <a:r>
              <a:rPr lang="en-US" altLang="zh-CN" sz="2000" dirty="0"/>
              <a:t>    char s[1000];</a:t>
            </a:r>
          </a:p>
          <a:p>
            <a:pPr marL="0" indent="0">
              <a:lnSpc>
                <a:spcPct val="100000"/>
              </a:lnSpc>
              <a:buNone/>
            </a:pPr>
            <a:r>
              <a:rPr lang="en-US" altLang="zh-CN" sz="2000" dirty="0"/>
              <a:t>    gets(s);</a:t>
            </a:r>
          </a:p>
          <a:p>
            <a:pPr marL="0" indent="0">
              <a:lnSpc>
                <a:spcPct val="100000"/>
              </a:lnSpc>
              <a:buNone/>
            </a:pPr>
            <a:r>
              <a:rPr lang="en-US" altLang="zh-CN" sz="2000" dirty="0"/>
              <a:t>    for(n=0,m=</a:t>
            </a:r>
            <a:r>
              <a:rPr lang="en-US" altLang="zh-CN" sz="2000" dirty="0" err="1"/>
              <a:t>strlen</a:t>
            </a:r>
            <a:r>
              <a:rPr lang="en-US" altLang="zh-CN" sz="2000" dirty="0"/>
              <a:t>(s)-1;n&lt;</a:t>
            </a:r>
            <a:r>
              <a:rPr lang="en-US" altLang="zh-CN" sz="2000" dirty="0" err="1"/>
              <a:t>m;n</a:t>
            </a:r>
            <a:r>
              <a:rPr lang="en-US" altLang="zh-CN" sz="2000" dirty="0"/>
              <a:t>++,m--)</a:t>
            </a:r>
          </a:p>
          <a:p>
            <a:pPr marL="0" indent="0">
              <a:lnSpc>
                <a:spcPct val="100000"/>
              </a:lnSpc>
              <a:buNone/>
            </a:pPr>
            <a:r>
              <a:rPr lang="en-US" altLang="zh-CN" sz="2000" dirty="0"/>
              <a:t>        if(s[n] != s[m])</a:t>
            </a:r>
          </a:p>
          <a:p>
            <a:pPr marL="0" indent="0">
              <a:lnSpc>
                <a:spcPct val="100000"/>
              </a:lnSpc>
              <a:buNone/>
            </a:pPr>
            <a:r>
              <a:rPr lang="en-US" altLang="zh-CN" sz="2000" dirty="0"/>
              <a:t>             break;</a:t>
            </a:r>
          </a:p>
          <a:p>
            <a:pPr marL="0" indent="0">
              <a:lnSpc>
                <a:spcPct val="100000"/>
              </a:lnSpc>
              <a:buNone/>
            </a:pPr>
            <a:r>
              <a:rPr lang="en-US" altLang="zh-CN" sz="2000" dirty="0"/>
              <a:t>    if( n &gt;= m)</a:t>
            </a:r>
          </a:p>
          <a:p>
            <a:pPr marL="0" indent="0">
              <a:lnSpc>
                <a:spcPct val="100000"/>
              </a:lnSpc>
              <a:buNone/>
            </a:pPr>
            <a:r>
              <a:rPr lang="en-US" altLang="zh-CN" sz="2000" dirty="0"/>
              <a:t>        </a:t>
            </a:r>
            <a:r>
              <a:rPr lang="en-US" altLang="zh-CN" sz="2000" dirty="0" err="1"/>
              <a:t>printf</a:t>
            </a:r>
            <a:r>
              <a:rPr lang="en-US" altLang="zh-CN" sz="2000" dirty="0"/>
              <a:t>("YES\n");</a:t>
            </a:r>
          </a:p>
          <a:p>
            <a:pPr marL="0" indent="0">
              <a:lnSpc>
                <a:spcPct val="100000"/>
              </a:lnSpc>
              <a:buNone/>
            </a:pPr>
            <a:r>
              <a:rPr lang="en-US" altLang="zh-CN" sz="2000" dirty="0"/>
              <a:t>    else</a:t>
            </a:r>
          </a:p>
          <a:p>
            <a:pPr marL="0" indent="0">
              <a:lnSpc>
                <a:spcPct val="100000"/>
              </a:lnSpc>
              <a:buNone/>
            </a:pPr>
            <a:r>
              <a:rPr lang="en-US" altLang="zh-CN" sz="2000" dirty="0"/>
              <a:t>        </a:t>
            </a:r>
            <a:r>
              <a:rPr lang="en-US" altLang="zh-CN" sz="2000" dirty="0" err="1"/>
              <a:t>printf</a:t>
            </a:r>
            <a:r>
              <a:rPr lang="en-US" altLang="zh-CN" sz="2000" dirty="0"/>
              <a:t>("NO\n");</a:t>
            </a:r>
          </a:p>
          <a:p>
            <a:pPr marL="0" indent="0">
              <a:lnSpc>
                <a:spcPct val="100000"/>
              </a:lnSpc>
              <a:buNone/>
            </a:pPr>
            <a:r>
              <a:rPr lang="en-US" altLang="zh-CN" sz="2000" dirty="0"/>
              <a:t>    return 0;</a:t>
            </a:r>
          </a:p>
          <a:p>
            <a:pPr marL="0" indent="0">
              <a:lnSpc>
                <a:spcPct val="100000"/>
              </a:lnSpc>
              <a:buNone/>
            </a:pPr>
            <a:r>
              <a:rPr lang="en-US" altLang="zh-CN" sz="2000" dirty="0"/>
              <a:t>}</a:t>
            </a:r>
            <a:endParaRPr lang="zh-CN" altLang="en-US" sz="20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75</a:t>
            </a:fld>
            <a:endParaRPr lang="en-US" altLang="zh-CN" dirty="0"/>
          </a:p>
        </p:txBody>
      </p:sp>
      <p:graphicFrame>
        <p:nvGraphicFramePr>
          <p:cNvPr id="5" name="Group 58"/>
          <p:cNvGraphicFramePr>
            <a:graphicFrameLocks noGrp="1"/>
          </p:cNvGraphicFramePr>
          <p:nvPr>
            <p:extLst>
              <p:ext uri="{D42A27DB-BD31-4B8C-83A1-F6EECF244321}">
                <p14:modId xmlns:p14="http://schemas.microsoft.com/office/powerpoint/2010/main" val="1819095671"/>
              </p:ext>
            </p:extLst>
          </p:nvPr>
        </p:nvGraphicFramePr>
        <p:xfrm>
          <a:off x="5076056" y="476672"/>
          <a:ext cx="3175000" cy="518796"/>
        </p:xfrm>
        <a:graphic>
          <a:graphicData uri="http://schemas.openxmlformats.org/drawingml/2006/table">
            <a:tbl>
              <a:tblPr/>
              <a:tblGrid>
                <a:gridCol w="334963">
                  <a:extLst>
                    <a:ext uri="{9D8B030D-6E8A-4147-A177-3AD203B41FA5}">
                      <a16:colId xmlns:a16="http://schemas.microsoft.com/office/drawing/2014/main" val="20000"/>
                    </a:ext>
                  </a:extLst>
                </a:gridCol>
                <a:gridCol w="336550">
                  <a:extLst>
                    <a:ext uri="{9D8B030D-6E8A-4147-A177-3AD203B41FA5}">
                      <a16:colId xmlns:a16="http://schemas.microsoft.com/office/drawing/2014/main" val="20001"/>
                    </a:ext>
                  </a:extLst>
                </a:gridCol>
                <a:gridCol w="334962">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34962">
                  <a:extLst>
                    <a:ext uri="{9D8B030D-6E8A-4147-A177-3AD203B41FA5}">
                      <a16:colId xmlns:a16="http://schemas.microsoft.com/office/drawing/2014/main" val="20004"/>
                    </a:ext>
                  </a:extLst>
                </a:gridCol>
                <a:gridCol w="336550">
                  <a:extLst>
                    <a:ext uri="{9D8B030D-6E8A-4147-A177-3AD203B41FA5}">
                      <a16:colId xmlns:a16="http://schemas.microsoft.com/office/drawing/2014/main" val="20005"/>
                    </a:ext>
                  </a:extLst>
                </a:gridCol>
                <a:gridCol w="334963">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487362">
                  <a:extLst>
                    <a:ext uri="{9D8B030D-6E8A-4147-A177-3AD203B41FA5}">
                      <a16:colId xmlns:a16="http://schemas.microsoft.com/office/drawing/2014/main" val="20016"/>
                    </a:ext>
                  </a:extLst>
                </a:gridCol>
              </a:tblGrid>
              <a:tr h="350838">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00087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1" y="56481"/>
            <a:ext cx="4464496" cy="6801519"/>
          </a:xfrm>
          <a:ln>
            <a:noFill/>
          </a:ln>
        </p:spPr>
        <p:txBody>
          <a:bodyPr/>
          <a:lstStyle/>
          <a:p>
            <a:pPr marL="0" indent="0">
              <a:lnSpc>
                <a:spcPct val="100000"/>
              </a:lnSpc>
              <a:spcBef>
                <a:spcPts val="0"/>
              </a:spcBef>
              <a:buNone/>
            </a:pPr>
            <a:r>
              <a:rPr lang="en-US" altLang="zh-CN" sz="1800" dirty="0"/>
              <a:t># include &lt;stdio.h&gt;</a:t>
            </a:r>
          </a:p>
          <a:p>
            <a:pPr marL="0" indent="0">
              <a:lnSpc>
                <a:spcPct val="100000"/>
              </a:lnSpc>
              <a:spcBef>
                <a:spcPts val="0"/>
              </a:spcBef>
              <a:buNone/>
            </a:pPr>
            <a:r>
              <a:rPr lang="en-US" altLang="zh-CN" sz="1800" dirty="0"/>
              <a:t># include &lt;string.h</a:t>
            </a:r>
            <a:r>
              <a:rPr lang="en-US" altLang="zh-CN" sz="1800" dirty="0" smtClean="0"/>
              <a:t>&gt;</a:t>
            </a:r>
          </a:p>
          <a:p>
            <a:pPr marL="0" indent="0">
              <a:lnSpc>
                <a:spcPct val="100000"/>
              </a:lnSpc>
              <a:spcBef>
                <a:spcPts val="0"/>
              </a:spcBef>
              <a:buNone/>
            </a:pPr>
            <a:r>
              <a:rPr lang="en-US" altLang="zh-CN" sz="1800" dirty="0" err="1" smtClean="0"/>
              <a:t>int</a:t>
            </a:r>
            <a:r>
              <a:rPr lang="en-US" altLang="zh-CN" sz="1800" dirty="0" smtClean="0"/>
              <a:t> main()</a:t>
            </a:r>
            <a:endParaRPr lang="en-US" altLang="zh-CN" sz="1800" dirty="0"/>
          </a:p>
          <a:p>
            <a:pPr marL="0" indent="0">
              <a:lnSpc>
                <a:spcPct val="100000"/>
              </a:lnSpc>
              <a:spcBef>
                <a:spcPts val="0"/>
              </a:spcBef>
              <a:buNone/>
            </a:pPr>
            <a:r>
              <a:rPr lang="en-US" altLang="zh-CN" sz="1800" dirty="0"/>
              <a:t>{</a:t>
            </a:r>
          </a:p>
          <a:p>
            <a:pPr marL="0" indent="0">
              <a:lnSpc>
                <a:spcPct val="100000"/>
              </a:lnSpc>
              <a:spcBef>
                <a:spcPts val="0"/>
              </a:spcBef>
              <a:buNone/>
            </a:pPr>
            <a:r>
              <a:rPr lang="en-US" altLang="zh-CN" sz="1800" dirty="0"/>
              <a:t>	</a:t>
            </a:r>
            <a:r>
              <a:rPr lang="en-US" altLang="zh-CN" sz="1800" dirty="0" err="1" smtClean="0"/>
              <a:t>int</a:t>
            </a:r>
            <a:r>
              <a:rPr lang="en-US" altLang="zh-CN" sz="1800" dirty="0" smtClean="0"/>
              <a:t> flag=0;</a:t>
            </a:r>
          </a:p>
          <a:p>
            <a:pPr marL="0" indent="0">
              <a:lnSpc>
                <a:spcPct val="100000"/>
              </a:lnSpc>
              <a:spcBef>
                <a:spcPts val="0"/>
              </a:spcBef>
              <a:buNone/>
            </a:pPr>
            <a:r>
              <a:rPr lang="en-US" altLang="zh-CN" sz="1800" dirty="0"/>
              <a:t> </a:t>
            </a:r>
            <a:r>
              <a:rPr lang="en-US" altLang="zh-CN" sz="1800" dirty="0" smtClean="0"/>
              <a:t>              char </a:t>
            </a:r>
            <a:r>
              <a:rPr lang="en-US" altLang="zh-CN" sz="1800" dirty="0"/>
              <a:t>s[1000], *p, *</a:t>
            </a:r>
            <a:r>
              <a:rPr lang="en-US" altLang="zh-CN" sz="1800" dirty="0" smtClean="0"/>
              <a:t>q;</a:t>
            </a:r>
            <a:endParaRPr lang="en-US" altLang="zh-CN" sz="1800" dirty="0"/>
          </a:p>
          <a:p>
            <a:pPr marL="0" indent="0">
              <a:lnSpc>
                <a:spcPct val="100000"/>
              </a:lnSpc>
              <a:spcBef>
                <a:spcPts val="0"/>
              </a:spcBef>
              <a:buNone/>
            </a:pPr>
            <a:r>
              <a:rPr lang="en-US" altLang="zh-CN" sz="1800" dirty="0"/>
              <a:t>	gets(s);</a:t>
            </a:r>
          </a:p>
          <a:p>
            <a:pPr marL="0" indent="0">
              <a:lnSpc>
                <a:spcPct val="100000"/>
              </a:lnSpc>
              <a:spcBef>
                <a:spcPts val="0"/>
              </a:spcBef>
              <a:buNone/>
            </a:pPr>
            <a:r>
              <a:rPr lang="en-US" altLang="zh-CN" sz="1800" dirty="0"/>
              <a:t>	p = s</a:t>
            </a:r>
            <a:r>
              <a:rPr lang="en-US" altLang="zh-CN" sz="1800" dirty="0" smtClean="0"/>
              <a:t>;</a:t>
            </a:r>
            <a:r>
              <a:rPr lang="en-US" altLang="zh-CN" sz="1800" dirty="0"/>
              <a:t>	</a:t>
            </a:r>
            <a:endParaRPr lang="en-US" altLang="zh-CN" sz="1800" dirty="0" smtClean="0"/>
          </a:p>
          <a:p>
            <a:pPr marL="0" indent="0">
              <a:lnSpc>
                <a:spcPct val="100000"/>
              </a:lnSpc>
              <a:spcBef>
                <a:spcPts val="0"/>
              </a:spcBef>
              <a:buNone/>
            </a:pPr>
            <a:r>
              <a:rPr lang="en-US" altLang="zh-CN" sz="1800" dirty="0"/>
              <a:t> </a:t>
            </a:r>
            <a:r>
              <a:rPr lang="en-US" altLang="zh-CN" sz="1800" dirty="0" smtClean="0"/>
              <a:t>              q </a:t>
            </a:r>
            <a:r>
              <a:rPr lang="en-US" altLang="zh-CN" sz="1800" dirty="0"/>
              <a:t>= s+strlen(s)-1;	</a:t>
            </a:r>
          </a:p>
          <a:p>
            <a:pPr marL="0" indent="0">
              <a:lnSpc>
                <a:spcPct val="100000"/>
              </a:lnSpc>
              <a:spcBef>
                <a:spcPts val="0"/>
              </a:spcBef>
              <a:buNone/>
            </a:pPr>
            <a:r>
              <a:rPr lang="en-US" altLang="zh-CN" sz="1800" dirty="0"/>
              <a:t>	while( p&lt;q )</a:t>
            </a:r>
          </a:p>
          <a:p>
            <a:pPr marL="0" indent="0">
              <a:lnSpc>
                <a:spcPct val="100000"/>
              </a:lnSpc>
              <a:spcBef>
                <a:spcPts val="0"/>
              </a:spcBef>
              <a:buNone/>
            </a:pPr>
            <a:r>
              <a:rPr lang="en-US" altLang="zh-CN" sz="1800" dirty="0"/>
              <a:t>	{</a:t>
            </a:r>
          </a:p>
          <a:p>
            <a:pPr marL="0" indent="0">
              <a:lnSpc>
                <a:spcPct val="100000"/>
              </a:lnSpc>
              <a:spcBef>
                <a:spcPts val="0"/>
              </a:spcBef>
              <a:buNone/>
            </a:pPr>
            <a:r>
              <a:rPr lang="en-US" altLang="zh-CN" sz="1800" dirty="0"/>
              <a:t>	</a:t>
            </a:r>
            <a:r>
              <a:rPr lang="en-US" altLang="zh-CN" sz="1800" dirty="0" smtClean="0"/>
              <a:t>      if </a:t>
            </a:r>
            <a:r>
              <a:rPr lang="en-US" altLang="zh-CN" sz="1800" dirty="0"/>
              <a:t>( *p!=*q )</a:t>
            </a:r>
          </a:p>
          <a:p>
            <a:pPr marL="0" indent="0">
              <a:lnSpc>
                <a:spcPct val="100000"/>
              </a:lnSpc>
              <a:spcBef>
                <a:spcPts val="0"/>
              </a:spcBef>
              <a:buNone/>
            </a:pPr>
            <a:r>
              <a:rPr lang="en-US" altLang="zh-CN" sz="1800" dirty="0"/>
              <a:t>	</a:t>
            </a:r>
            <a:r>
              <a:rPr lang="en-US" altLang="zh-CN" sz="1800" dirty="0" smtClean="0"/>
              <a:t>      {</a:t>
            </a:r>
            <a:endParaRPr lang="en-US" altLang="zh-CN" sz="1800" dirty="0"/>
          </a:p>
          <a:p>
            <a:pPr marL="0" indent="0">
              <a:lnSpc>
                <a:spcPct val="100000"/>
              </a:lnSpc>
              <a:spcBef>
                <a:spcPts val="0"/>
              </a:spcBef>
              <a:buNone/>
            </a:pPr>
            <a:r>
              <a:rPr lang="en-US" altLang="zh-CN" sz="1800" dirty="0"/>
              <a:t>	</a:t>
            </a:r>
            <a:r>
              <a:rPr lang="en-US" altLang="zh-CN" sz="1800" dirty="0" smtClean="0"/>
              <a:t>          flag=1;break</a:t>
            </a:r>
            <a:r>
              <a:rPr lang="en-US" altLang="zh-CN" sz="1800" dirty="0"/>
              <a:t>;</a:t>
            </a:r>
          </a:p>
          <a:p>
            <a:pPr marL="0" indent="0">
              <a:lnSpc>
                <a:spcPct val="100000"/>
              </a:lnSpc>
              <a:spcBef>
                <a:spcPts val="0"/>
              </a:spcBef>
              <a:buNone/>
            </a:pPr>
            <a:r>
              <a:rPr lang="en-US" altLang="zh-CN" sz="1800" dirty="0"/>
              <a:t>	</a:t>
            </a:r>
            <a:r>
              <a:rPr lang="en-US" altLang="zh-CN" sz="1800" dirty="0" smtClean="0"/>
              <a:t>      }</a:t>
            </a:r>
            <a:endParaRPr lang="en-US" altLang="zh-CN" sz="1800" dirty="0"/>
          </a:p>
          <a:p>
            <a:pPr marL="0" indent="0">
              <a:lnSpc>
                <a:spcPct val="100000"/>
              </a:lnSpc>
              <a:spcBef>
                <a:spcPts val="0"/>
              </a:spcBef>
              <a:buNone/>
            </a:pPr>
            <a:r>
              <a:rPr lang="en-US" altLang="zh-CN" sz="1800" dirty="0"/>
              <a:t>	</a:t>
            </a:r>
            <a:r>
              <a:rPr lang="en-US" altLang="zh-CN" sz="1800" dirty="0" smtClean="0"/>
              <a:t>      p</a:t>
            </a:r>
            <a:r>
              <a:rPr lang="en-US" altLang="zh-CN" sz="1800" dirty="0"/>
              <a:t>++;</a:t>
            </a:r>
          </a:p>
          <a:p>
            <a:pPr marL="0" indent="0">
              <a:lnSpc>
                <a:spcPct val="100000"/>
              </a:lnSpc>
              <a:spcBef>
                <a:spcPts val="0"/>
              </a:spcBef>
              <a:buNone/>
            </a:pPr>
            <a:r>
              <a:rPr lang="en-US" altLang="zh-CN" sz="1800" dirty="0"/>
              <a:t>	</a:t>
            </a:r>
            <a:r>
              <a:rPr lang="en-US" altLang="zh-CN" sz="1800" dirty="0" smtClean="0"/>
              <a:t>      q-</a:t>
            </a:r>
            <a:r>
              <a:rPr lang="en-US" altLang="zh-CN" sz="1800" dirty="0"/>
              <a:t>-;</a:t>
            </a:r>
          </a:p>
          <a:p>
            <a:pPr marL="0" indent="0">
              <a:lnSpc>
                <a:spcPct val="100000"/>
              </a:lnSpc>
              <a:spcBef>
                <a:spcPts val="0"/>
              </a:spcBef>
              <a:buNone/>
            </a:pPr>
            <a:r>
              <a:rPr lang="en-US" altLang="zh-CN" sz="1800" dirty="0"/>
              <a:t>	}</a:t>
            </a:r>
          </a:p>
          <a:p>
            <a:pPr marL="0" indent="0">
              <a:lnSpc>
                <a:spcPct val="100000"/>
              </a:lnSpc>
              <a:spcBef>
                <a:spcPts val="0"/>
              </a:spcBef>
              <a:buNone/>
            </a:pPr>
            <a:r>
              <a:rPr lang="en-US" altLang="zh-CN" sz="1800" dirty="0"/>
              <a:t>	 if( flag==0)</a:t>
            </a:r>
          </a:p>
          <a:p>
            <a:pPr marL="0" indent="0">
              <a:lnSpc>
                <a:spcPct val="100000"/>
              </a:lnSpc>
              <a:spcBef>
                <a:spcPts val="0"/>
              </a:spcBef>
              <a:buNone/>
            </a:pPr>
            <a:r>
              <a:rPr lang="en-US" altLang="zh-CN" sz="1800" dirty="0"/>
              <a:t>       </a:t>
            </a:r>
            <a:r>
              <a:rPr lang="en-US" altLang="zh-CN" sz="1800" dirty="0" smtClean="0"/>
              <a:t>                </a:t>
            </a:r>
            <a:r>
              <a:rPr lang="en-US" altLang="zh-CN" sz="1800" dirty="0"/>
              <a:t>printf("YES\n");</a:t>
            </a:r>
          </a:p>
          <a:p>
            <a:pPr marL="0" indent="0">
              <a:lnSpc>
                <a:spcPct val="100000"/>
              </a:lnSpc>
              <a:spcBef>
                <a:spcPts val="0"/>
              </a:spcBef>
              <a:buNone/>
            </a:pPr>
            <a:r>
              <a:rPr lang="en-US" altLang="zh-CN" sz="1800" dirty="0"/>
              <a:t>   </a:t>
            </a:r>
            <a:r>
              <a:rPr lang="en-US" altLang="zh-CN" sz="1800" dirty="0" smtClean="0"/>
              <a:t>              </a:t>
            </a:r>
            <a:r>
              <a:rPr lang="en-US" altLang="zh-CN" sz="1800" dirty="0"/>
              <a:t>else</a:t>
            </a:r>
          </a:p>
          <a:p>
            <a:pPr marL="0" indent="0">
              <a:lnSpc>
                <a:spcPct val="100000"/>
              </a:lnSpc>
              <a:spcBef>
                <a:spcPts val="0"/>
              </a:spcBef>
              <a:buNone/>
            </a:pPr>
            <a:r>
              <a:rPr lang="en-US" altLang="zh-CN" sz="1800" dirty="0"/>
              <a:t>       </a:t>
            </a:r>
            <a:r>
              <a:rPr lang="en-US" altLang="zh-CN" sz="1800" dirty="0" smtClean="0"/>
              <a:t>                </a:t>
            </a:r>
            <a:r>
              <a:rPr lang="en-US" altLang="zh-CN" sz="1800" dirty="0"/>
              <a:t>printf("NO\n");	</a:t>
            </a:r>
          </a:p>
          <a:p>
            <a:pPr marL="0" indent="0">
              <a:lnSpc>
                <a:spcPct val="100000"/>
              </a:lnSpc>
              <a:spcBef>
                <a:spcPts val="0"/>
              </a:spcBef>
              <a:buNone/>
            </a:pPr>
            <a:r>
              <a:rPr lang="en-US" altLang="zh-CN" sz="1800" dirty="0"/>
              <a:t>	return 0;</a:t>
            </a:r>
          </a:p>
          <a:p>
            <a:pPr marL="0" indent="0">
              <a:lnSpc>
                <a:spcPct val="100000"/>
              </a:lnSpc>
              <a:spcBef>
                <a:spcPts val="0"/>
              </a:spcBef>
              <a:buNone/>
            </a:pPr>
            <a:r>
              <a:rPr lang="en-US" altLang="zh-CN" sz="1800" dirty="0"/>
              <a:t>}</a:t>
            </a:r>
          </a:p>
          <a:p>
            <a:pPr marL="0" indent="0">
              <a:lnSpc>
                <a:spcPct val="100000"/>
              </a:lnSpc>
              <a:buNone/>
            </a:pPr>
            <a:endParaRPr lang="zh-CN" altLang="en-US" sz="1600" dirty="0"/>
          </a:p>
        </p:txBody>
      </p:sp>
      <p:graphicFrame>
        <p:nvGraphicFramePr>
          <p:cNvPr id="4" name="Group 58"/>
          <p:cNvGraphicFramePr>
            <a:graphicFrameLocks noGrp="1"/>
          </p:cNvGraphicFramePr>
          <p:nvPr>
            <p:extLst>
              <p:ext uri="{D42A27DB-BD31-4B8C-83A1-F6EECF244321}">
                <p14:modId xmlns:p14="http://schemas.microsoft.com/office/powerpoint/2010/main" val="3518678431"/>
              </p:ext>
            </p:extLst>
          </p:nvPr>
        </p:nvGraphicFramePr>
        <p:xfrm>
          <a:off x="5076056" y="476672"/>
          <a:ext cx="3175000" cy="518796"/>
        </p:xfrm>
        <a:graphic>
          <a:graphicData uri="http://schemas.openxmlformats.org/drawingml/2006/table">
            <a:tbl>
              <a:tblPr/>
              <a:tblGrid>
                <a:gridCol w="334963">
                  <a:extLst>
                    <a:ext uri="{9D8B030D-6E8A-4147-A177-3AD203B41FA5}">
                      <a16:colId xmlns:a16="http://schemas.microsoft.com/office/drawing/2014/main" val="20000"/>
                    </a:ext>
                  </a:extLst>
                </a:gridCol>
                <a:gridCol w="336550">
                  <a:extLst>
                    <a:ext uri="{9D8B030D-6E8A-4147-A177-3AD203B41FA5}">
                      <a16:colId xmlns:a16="http://schemas.microsoft.com/office/drawing/2014/main" val="20001"/>
                    </a:ext>
                  </a:extLst>
                </a:gridCol>
                <a:gridCol w="334962">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34962">
                  <a:extLst>
                    <a:ext uri="{9D8B030D-6E8A-4147-A177-3AD203B41FA5}">
                      <a16:colId xmlns:a16="http://schemas.microsoft.com/office/drawing/2014/main" val="20004"/>
                    </a:ext>
                  </a:extLst>
                </a:gridCol>
                <a:gridCol w="336550">
                  <a:extLst>
                    <a:ext uri="{9D8B030D-6E8A-4147-A177-3AD203B41FA5}">
                      <a16:colId xmlns:a16="http://schemas.microsoft.com/office/drawing/2014/main" val="20005"/>
                    </a:ext>
                  </a:extLst>
                </a:gridCol>
                <a:gridCol w="334963">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487362">
                  <a:extLst>
                    <a:ext uri="{9D8B030D-6E8A-4147-A177-3AD203B41FA5}">
                      <a16:colId xmlns:a16="http://schemas.microsoft.com/office/drawing/2014/main" val="20016"/>
                    </a:ext>
                  </a:extLst>
                </a:gridCol>
              </a:tblGrid>
              <a:tr h="350838">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5" name="组合 14"/>
          <p:cNvGrpSpPr/>
          <p:nvPr/>
        </p:nvGrpSpPr>
        <p:grpSpPr>
          <a:xfrm>
            <a:off x="5092086" y="1099242"/>
            <a:ext cx="320092" cy="864838"/>
            <a:chOff x="5092086" y="1099242"/>
            <a:chExt cx="320092" cy="864838"/>
          </a:xfrm>
        </p:grpSpPr>
        <p:grpSp>
          <p:nvGrpSpPr>
            <p:cNvPr id="5" name="组合 4"/>
            <p:cNvGrpSpPr/>
            <p:nvPr/>
          </p:nvGrpSpPr>
          <p:grpSpPr>
            <a:xfrm>
              <a:off x="5092086" y="1099242"/>
              <a:ext cx="320092" cy="632833"/>
              <a:chOff x="7940346" y="5147671"/>
              <a:chExt cx="320092" cy="632833"/>
            </a:xfrm>
          </p:grpSpPr>
          <p:cxnSp>
            <p:nvCxnSpPr>
              <p:cNvPr id="6" name="直接箭头连接符 5"/>
              <p:cNvCxnSpPr/>
              <p:nvPr/>
            </p:nvCxnSpPr>
            <p:spPr bwMode="auto">
              <a:xfrm flipV="1">
                <a:off x="8100392"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矩形 6"/>
              <p:cNvSpPr/>
              <p:nvPr/>
            </p:nvSpPr>
            <p:spPr bwMode="auto">
              <a:xfrm>
                <a:off x="7940346" y="5445224"/>
                <a:ext cx="320092" cy="33528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
          <p:nvSpPr>
            <p:cNvPr id="10" name="矩形 9"/>
            <p:cNvSpPr/>
            <p:nvPr/>
          </p:nvSpPr>
          <p:spPr bwMode="auto">
            <a:xfrm>
              <a:off x="5092086" y="1628800"/>
              <a:ext cx="320092" cy="335280"/>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p</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2" name="组合 1"/>
          <p:cNvGrpSpPr/>
          <p:nvPr/>
        </p:nvGrpSpPr>
        <p:grpSpPr>
          <a:xfrm>
            <a:off x="7452320" y="1080378"/>
            <a:ext cx="320092" cy="864838"/>
            <a:chOff x="7452320" y="1080378"/>
            <a:chExt cx="320092" cy="864838"/>
          </a:xfrm>
        </p:grpSpPr>
        <p:grpSp>
          <p:nvGrpSpPr>
            <p:cNvPr id="11" name="组合 10"/>
            <p:cNvGrpSpPr/>
            <p:nvPr/>
          </p:nvGrpSpPr>
          <p:grpSpPr>
            <a:xfrm>
              <a:off x="7452320" y="1080378"/>
              <a:ext cx="320092" cy="632833"/>
              <a:chOff x="7940346" y="5147671"/>
              <a:chExt cx="320092" cy="632833"/>
            </a:xfrm>
          </p:grpSpPr>
          <p:cxnSp>
            <p:nvCxnSpPr>
              <p:cNvPr id="12" name="直接箭头连接符 11"/>
              <p:cNvCxnSpPr/>
              <p:nvPr/>
            </p:nvCxnSpPr>
            <p:spPr bwMode="auto">
              <a:xfrm flipV="1">
                <a:off x="8100392"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矩形 12"/>
              <p:cNvSpPr/>
              <p:nvPr/>
            </p:nvSpPr>
            <p:spPr bwMode="auto">
              <a:xfrm>
                <a:off x="7940346" y="5445224"/>
                <a:ext cx="320092" cy="33528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
          <p:nvSpPr>
            <p:cNvPr id="14" name="矩形 13"/>
            <p:cNvSpPr/>
            <p:nvPr/>
          </p:nvSpPr>
          <p:spPr bwMode="auto">
            <a:xfrm>
              <a:off x="7452320" y="1609936"/>
              <a:ext cx="320092" cy="335280"/>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q</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1038091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教材例</a:t>
            </a:r>
            <a:r>
              <a:rPr lang="en-US" altLang="zh-CN" dirty="0" smtClean="0"/>
              <a:t>6-14</a:t>
            </a:r>
            <a:endParaRPr lang="zh-CN" altLang="en-US" dirty="0"/>
          </a:p>
        </p:txBody>
      </p:sp>
      <p:sp>
        <p:nvSpPr>
          <p:cNvPr id="3" name="内容占位符 2"/>
          <p:cNvSpPr>
            <a:spLocks noGrp="1"/>
          </p:cNvSpPr>
          <p:nvPr>
            <p:ph idx="1"/>
          </p:nvPr>
        </p:nvSpPr>
        <p:spPr/>
        <p:txBody>
          <a:bodyPr/>
          <a:lstStyle/>
          <a:p>
            <a:r>
              <a:rPr lang="zh-CN" altLang="en-US" dirty="0" smtClean="0"/>
              <a:t>计算父字符串中子字符串出现的次数（</a:t>
            </a:r>
            <a:r>
              <a:rPr lang="zh-CN" altLang="en-US" dirty="0"/>
              <a:t>先</a:t>
            </a:r>
            <a:r>
              <a:rPr lang="zh-CN" altLang="en-US" dirty="0" smtClean="0"/>
              <a:t>输入父字符串，再输入子字符串）</a:t>
            </a:r>
            <a:endParaRPr lang="zh-CN" altLang="en-US"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77</a:t>
            </a:fld>
            <a:endParaRPr lang="en-US" altLang="zh-CN" dirty="0"/>
          </a:p>
        </p:txBody>
      </p:sp>
    </p:spTree>
    <p:extLst>
      <p:ext uri="{BB962C8B-B14F-4D97-AF65-F5344CB8AC3E}">
        <p14:creationId xmlns:p14="http://schemas.microsoft.com/office/powerpoint/2010/main" val="3266199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78</a:t>
            </a:fld>
            <a:endParaRPr lang="en-US" altLang="zh-CN" dirty="0"/>
          </a:p>
        </p:txBody>
      </p:sp>
      <p:sp>
        <p:nvSpPr>
          <p:cNvPr id="5" name="矩形 4"/>
          <p:cNvSpPr/>
          <p:nvPr/>
        </p:nvSpPr>
        <p:spPr>
          <a:xfrm>
            <a:off x="0" y="-27384"/>
            <a:ext cx="7236296" cy="6740307"/>
          </a:xfrm>
          <a:prstGeom prst="rect">
            <a:avLst/>
          </a:prstGeom>
        </p:spPr>
        <p:txBody>
          <a:bodyPr wrap="square">
            <a:spAutoFit/>
          </a:bodyPr>
          <a:lstStyle/>
          <a:p>
            <a:r>
              <a:rPr lang="en-US" altLang="zh-CN" sz="1600" b="1" dirty="0"/>
              <a:t>#include &lt;stdio.h&gt;</a:t>
            </a:r>
          </a:p>
          <a:p>
            <a:r>
              <a:rPr lang="en-US" altLang="zh-CN" sz="1600" b="1" dirty="0"/>
              <a:t>int main()</a:t>
            </a:r>
          </a:p>
          <a:p>
            <a:r>
              <a:rPr lang="en-US" altLang="zh-CN" sz="1600" b="1" dirty="0"/>
              <a:t>{ </a:t>
            </a:r>
          </a:p>
          <a:p>
            <a:r>
              <a:rPr lang="en-US" altLang="zh-CN" sz="1600" b="1" dirty="0"/>
              <a:t> </a:t>
            </a:r>
            <a:r>
              <a:rPr lang="en-US" altLang="zh-CN" sz="1600" b="1" dirty="0" smtClean="0"/>
              <a:t>   char </a:t>
            </a:r>
            <a:r>
              <a:rPr lang="en-US" altLang="zh-CN" sz="1600" b="1" dirty="0"/>
              <a:t>str1[80],str2[80],*p1,*</a:t>
            </a:r>
            <a:r>
              <a:rPr lang="en-US" altLang="zh-CN" sz="1600" b="1" dirty="0" smtClean="0"/>
              <a:t>p2;</a:t>
            </a:r>
          </a:p>
          <a:p>
            <a:r>
              <a:rPr lang="en-US" altLang="zh-CN" sz="1600" b="1" dirty="0"/>
              <a:t> </a:t>
            </a:r>
            <a:r>
              <a:rPr lang="en-US" altLang="zh-CN" sz="1600" b="1" dirty="0" smtClean="0"/>
              <a:t>   </a:t>
            </a:r>
            <a:r>
              <a:rPr lang="en-US" altLang="zh-CN" sz="1600" b="1" dirty="0" err="1" smtClean="0"/>
              <a:t>int</a:t>
            </a:r>
            <a:r>
              <a:rPr lang="en-US" altLang="zh-CN" sz="1600" b="1" dirty="0" smtClean="0"/>
              <a:t> </a:t>
            </a:r>
            <a:r>
              <a:rPr lang="en-US" altLang="zh-CN" sz="1600" b="1" dirty="0"/>
              <a:t>sum=0;</a:t>
            </a:r>
          </a:p>
          <a:p>
            <a:r>
              <a:rPr lang="en-US" altLang="zh-CN" sz="1600" b="1" dirty="0" smtClean="0"/>
              <a:t>    </a:t>
            </a:r>
            <a:r>
              <a:rPr lang="en-US" altLang="zh-CN" sz="1600" b="1" dirty="0" err="1" smtClean="0"/>
              <a:t>printf</a:t>
            </a:r>
            <a:r>
              <a:rPr lang="en-US" altLang="zh-CN" sz="1600" b="1" dirty="0"/>
              <a:t>("please input two strings\n");</a:t>
            </a:r>
          </a:p>
          <a:p>
            <a:r>
              <a:rPr lang="en-US" altLang="zh-CN" sz="1600" b="1" dirty="0" smtClean="0"/>
              <a:t>    gets(str1);</a:t>
            </a:r>
          </a:p>
          <a:p>
            <a:r>
              <a:rPr lang="en-US" altLang="zh-CN" sz="1600" b="1" dirty="0"/>
              <a:t> </a:t>
            </a:r>
            <a:r>
              <a:rPr lang="en-US" altLang="zh-CN" sz="1600" b="1" dirty="0" smtClean="0"/>
              <a:t>   gets(str2</a:t>
            </a:r>
            <a:r>
              <a:rPr lang="en-US" altLang="zh-CN" sz="1600" b="1" dirty="0"/>
              <a:t>);</a:t>
            </a:r>
          </a:p>
          <a:p>
            <a:r>
              <a:rPr lang="en-US" altLang="zh-CN" sz="1600" b="1" dirty="0" smtClean="0"/>
              <a:t>    p1=str1;p2=str2;    //</a:t>
            </a:r>
            <a:r>
              <a:rPr lang="en-US" altLang="zh-CN" sz="1600" b="1" dirty="0"/>
              <a:t>p1</a:t>
            </a:r>
            <a:r>
              <a:rPr lang="zh-CN" altLang="en-US" sz="1600" b="1" dirty="0"/>
              <a:t>指向父字符串的首字符，</a:t>
            </a:r>
            <a:r>
              <a:rPr lang="en-US" altLang="zh-CN" sz="1600" b="1" dirty="0"/>
              <a:t>p2</a:t>
            </a:r>
            <a:r>
              <a:rPr lang="zh-CN" altLang="en-US" sz="1600" b="1" dirty="0"/>
              <a:t>指向子字符串的首字符</a:t>
            </a:r>
          </a:p>
          <a:p>
            <a:r>
              <a:rPr lang="en-US" altLang="zh-CN" sz="1600" b="1" dirty="0" smtClean="0"/>
              <a:t>    while</a:t>
            </a:r>
            <a:r>
              <a:rPr lang="en-US" altLang="zh-CN" sz="1600" b="1" dirty="0"/>
              <a:t>(*p1!='\0')</a:t>
            </a:r>
          </a:p>
          <a:p>
            <a:r>
              <a:rPr lang="en-US" altLang="zh-CN" sz="1600" b="1" dirty="0" smtClean="0"/>
              <a:t>    {</a:t>
            </a:r>
            <a:endParaRPr lang="en-US" altLang="zh-CN" sz="1600" b="1" dirty="0"/>
          </a:p>
          <a:p>
            <a:r>
              <a:rPr lang="en-US" altLang="zh-CN" sz="1600" b="1" dirty="0" smtClean="0"/>
              <a:t>        if</a:t>
            </a:r>
            <a:r>
              <a:rPr lang="en-US" altLang="zh-CN" sz="1600" b="1" dirty="0"/>
              <a:t>(*p1==*p2</a:t>
            </a:r>
            <a:r>
              <a:rPr lang="en-US" altLang="zh-CN" sz="1600" b="1" dirty="0" smtClean="0"/>
              <a:t>)       //</a:t>
            </a:r>
            <a:r>
              <a:rPr lang="zh-CN" altLang="en-US" sz="1600" b="1" dirty="0"/>
              <a:t>首字符相同即开始逐对比较</a:t>
            </a:r>
          </a:p>
          <a:p>
            <a:r>
              <a:rPr lang="zh-CN" altLang="en-US" sz="1600" b="1" dirty="0"/>
              <a:t> </a:t>
            </a:r>
            <a:r>
              <a:rPr lang="zh-CN" altLang="en-US" sz="1600" b="1" dirty="0" smtClean="0"/>
              <a:t>       </a:t>
            </a:r>
            <a:r>
              <a:rPr lang="en-US" altLang="zh-CN" sz="1600" b="1" dirty="0" smtClean="0"/>
              <a:t>{</a:t>
            </a:r>
            <a:endParaRPr lang="en-US" altLang="zh-CN" sz="1600" b="1" dirty="0"/>
          </a:p>
          <a:p>
            <a:r>
              <a:rPr lang="en-US" altLang="zh-CN" sz="1600" b="1" dirty="0"/>
              <a:t>	</a:t>
            </a:r>
            <a:r>
              <a:rPr lang="en-US" altLang="zh-CN" sz="1600" b="1" dirty="0" smtClean="0"/>
              <a:t>while</a:t>
            </a:r>
            <a:r>
              <a:rPr lang="en-US" altLang="zh-CN" sz="1600" b="1" dirty="0"/>
              <a:t>(*p1==*</a:t>
            </a:r>
            <a:r>
              <a:rPr lang="en-US" altLang="zh-CN" sz="1600" b="1" dirty="0" smtClean="0"/>
              <a:t>p2 &amp;&amp; *</a:t>
            </a:r>
            <a:r>
              <a:rPr lang="en-US" altLang="zh-CN" sz="1600" b="1" dirty="0"/>
              <a:t>p2!='\0')</a:t>
            </a:r>
          </a:p>
          <a:p>
            <a:r>
              <a:rPr lang="en-US" altLang="zh-CN" sz="1600" b="1" dirty="0"/>
              <a:t>	</a:t>
            </a:r>
            <a:r>
              <a:rPr lang="en-US" altLang="zh-CN" sz="1600" b="1" dirty="0" smtClean="0"/>
              <a:t>{</a:t>
            </a:r>
            <a:endParaRPr lang="en-US" altLang="zh-CN" sz="1600" b="1" dirty="0"/>
          </a:p>
          <a:p>
            <a:r>
              <a:rPr lang="en-US" altLang="zh-CN" sz="1600" b="1" dirty="0"/>
              <a:t>	</a:t>
            </a:r>
            <a:r>
              <a:rPr lang="en-US" altLang="zh-CN" sz="1600" b="1" dirty="0" smtClean="0"/>
              <a:t>      p1++;p2</a:t>
            </a:r>
            <a:r>
              <a:rPr lang="en-US" altLang="zh-CN" sz="1600" b="1" dirty="0"/>
              <a:t>++;</a:t>
            </a:r>
          </a:p>
          <a:p>
            <a:r>
              <a:rPr lang="en-US" altLang="zh-CN" sz="1600" b="1" dirty="0"/>
              <a:t>	</a:t>
            </a:r>
            <a:r>
              <a:rPr lang="en-US" altLang="zh-CN" sz="1600" b="1" dirty="0" smtClean="0"/>
              <a:t>}</a:t>
            </a:r>
            <a:endParaRPr lang="en-US" altLang="zh-CN" sz="1600" b="1" dirty="0"/>
          </a:p>
          <a:p>
            <a:r>
              <a:rPr lang="en-US" altLang="zh-CN" sz="1600" b="1" dirty="0" smtClean="0"/>
              <a:t>         }</a:t>
            </a:r>
            <a:endParaRPr lang="en-US" altLang="zh-CN" sz="1600" b="1" dirty="0"/>
          </a:p>
          <a:p>
            <a:r>
              <a:rPr lang="en-US" altLang="zh-CN" sz="1600" b="1" dirty="0" smtClean="0"/>
              <a:t>        else</a:t>
            </a:r>
            <a:endParaRPr lang="en-US" altLang="zh-CN" sz="1600" b="1" dirty="0"/>
          </a:p>
          <a:p>
            <a:r>
              <a:rPr lang="en-US" altLang="zh-CN" sz="1600" b="1" dirty="0"/>
              <a:t>	</a:t>
            </a:r>
            <a:r>
              <a:rPr lang="en-US" altLang="zh-CN" sz="1600" b="1" dirty="0" smtClean="0"/>
              <a:t>p1</a:t>
            </a:r>
            <a:r>
              <a:rPr lang="en-US" altLang="zh-CN" sz="1600" b="1" dirty="0"/>
              <a:t>++;</a:t>
            </a:r>
          </a:p>
          <a:p>
            <a:r>
              <a:rPr lang="en-US" altLang="zh-CN" sz="1600" b="1" dirty="0"/>
              <a:t> </a:t>
            </a:r>
            <a:r>
              <a:rPr lang="en-US" altLang="zh-CN" sz="1600" b="1" dirty="0" smtClean="0"/>
              <a:t>       if</a:t>
            </a:r>
            <a:r>
              <a:rPr lang="en-US" altLang="zh-CN" sz="1600" b="1" dirty="0"/>
              <a:t>(*p2=='\0</a:t>
            </a:r>
            <a:r>
              <a:rPr lang="en-US" altLang="zh-CN" sz="1600" b="1" dirty="0" smtClean="0"/>
              <a:t>')    //</a:t>
            </a:r>
            <a:r>
              <a:rPr lang="zh-CN" altLang="en-US" sz="1600" b="1" dirty="0" smtClean="0"/>
              <a:t>子</a:t>
            </a:r>
            <a:r>
              <a:rPr lang="zh-CN" altLang="en-US" sz="1600" b="1" dirty="0"/>
              <a:t>字符串已经在主字符串中出现了完整一次了</a:t>
            </a:r>
          </a:p>
          <a:p>
            <a:r>
              <a:rPr lang="zh-CN" altLang="en-US" sz="1600" b="1" dirty="0"/>
              <a:t>	</a:t>
            </a:r>
            <a:r>
              <a:rPr lang="zh-CN" altLang="en-US" sz="1600" b="1" dirty="0" smtClean="0"/>
              <a:t>   </a:t>
            </a:r>
            <a:r>
              <a:rPr lang="en-US" altLang="zh-CN" sz="1600" b="1" dirty="0" smtClean="0"/>
              <a:t>sum</a:t>
            </a:r>
            <a:r>
              <a:rPr lang="en-US" altLang="zh-CN" sz="1600" b="1" dirty="0"/>
              <a:t>++;</a:t>
            </a:r>
          </a:p>
          <a:p>
            <a:r>
              <a:rPr lang="en-US" altLang="zh-CN" sz="1600" b="1" dirty="0" smtClean="0"/>
              <a:t>        p2=str2</a:t>
            </a:r>
            <a:r>
              <a:rPr lang="en-US" altLang="zh-CN" sz="1600" b="1" dirty="0"/>
              <a:t>;		//p2</a:t>
            </a:r>
            <a:r>
              <a:rPr lang="zh-CN" altLang="en-US" sz="1600" b="1" dirty="0"/>
              <a:t>重新指向子字符串的首字符</a:t>
            </a:r>
          </a:p>
          <a:p>
            <a:r>
              <a:rPr lang="zh-CN" altLang="en-US" sz="1600" b="1" dirty="0" smtClean="0"/>
              <a:t>    </a:t>
            </a:r>
            <a:r>
              <a:rPr lang="en-US" altLang="zh-CN" sz="1600" b="1" dirty="0" smtClean="0"/>
              <a:t>}</a:t>
            </a:r>
            <a:endParaRPr lang="en-US" altLang="zh-CN" sz="1600" b="1" dirty="0"/>
          </a:p>
          <a:p>
            <a:r>
              <a:rPr lang="en-US" altLang="zh-CN" sz="1600" b="1" dirty="0"/>
              <a:t> </a:t>
            </a:r>
            <a:r>
              <a:rPr lang="en-US" altLang="zh-CN" sz="1600" b="1" dirty="0" smtClean="0"/>
              <a:t>   </a:t>
            </a:r>
            <a:r>
              <a:rPr lang="en-US" altLang="zh-CN" sz="1600" b="1" dirty="0" err="1" smtClean="0"/>
              <a:t>printf</a:t>
            </a:r>
            <a:r>
              <a:rPr lang="en-US" altLang="zh-CN" sz="1600" b="1" dirty="0"/>
              <a:t>("%d",sum);</a:t>
            </a:r>
          </a:p>
          <a:p>
            <a:r>
              <a:rPr lang="en-US" altLang="zh-CN" sz="1600" b="1" dirty="0" smtClean="0"/>
              <a:t>    return </a:t>
            </a:r>
            <a:r>
              <a:rPr lang="en-US" altLang="zh-CN" sz="1600" b="1" dirty="0"/>
              <a:t>0;</a:t>
            </a:r>
          </a:p>
          <a:p>
            <a:r>
              <a:rPr lang="en-US" altLang="zh-CN" sz="1600" b="1" dirty="0" smtClean="0"/>
              <a:t>}</a:t>
            </a:r>
            <a:endParaRPr lang="en-US" altLang="zh-CN" sz="1600" b="1" dirty="0"/>
          </a:p>
        </p:txBody>
      </p:sp>
      <p:pic>
        <p:nvPicPr>
          <p:cNvPr id="2" name="图片 1"/>
          <p:cNvPicPr>
            <a:picLocks noChangeAspect="1"/>
          </p:cNvPicPr>
          <p:nvPr/>
        </p:nvPicPr>
        <p:blipFill>
          <a:blip r:embed="rId2"/>
          <a:stretch>
            <a:fillRect/>
          </a:stretch>
        </p:blipFill>
        <p:spPr>
          <a:xfrm>
            <a:off x="5452899" y="3017944"/>
            <a:ext cx="2562225" cy="800100"/>
          </a:xfrm>
          <a:prstGeom prst="rect">
            <a:avLst/>
          </a:prstGeom>
        </p:spPr>
      </p:pic>
      <p:grpSp>
        <p:nvGrpSpPr>
          <p:cNvPr id="17" name="组合 16"/>
          <p:cNvGrpSpPr/>
          <p:nvPr/>
        </p:nvGrpSpPr>
        <p:grpSpPr>
          <a:xfrm>
            <a:off x="5306830" y="2158966"/>
            <a:ext cx="360040" cy="858978"/>
            <a:chOff x="5306830" y="2158966"/>
            <a:chExt cx="360040" cy="858978"/>
          </a:xfrm>
        </p:grpSpPr>
        <p:sp>
          <p:nvSpPr>
            <p:cNvPr id="6" name="Rectangle 57"/>
            <p:cNvSpPr/>
            <p:nvPr/>
          </p:nvSpPr>
          <p:spPr>
            <a:xfrm>
              <a:off x="5306830" y="2158966"/>
              <a:ext cx="360040" cy="288033"/>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a:t>p</a:t>
              </a:r>
              <a:r>
                <a:rPr lang="en-US" altLang="zh-CN" sz="1800" dirty="0" smtClean="0"/>
                <a:t>1</a:t>
              </a:r>
              <a:endParaRPr lang="en-US" altLang="zh-CN" sz="1800" dirty="0"/>
            </a:p>
          </p:txBody>
        </p:sp>
        <p:sp>
          <p:nvSpPr>
            <p:cNvPr id="8" name="Line 107"/>
            <p:cNvSpPr/>
            <p:nvPr/>
          </p:nvSpPr>
          <p:spPr>
            <a:xfrm rot="5400000">
              <a:off x="5338192" y="2849732"/>
              <a:ext cx="335804" cy="620"/>
            </a:xfrm>
            <a:prstGeom prst="line">
              <a:avLst/>
            </a:prstGeom>
            <a:ln w="38100" cap="flat" cmpd="sng">
              <a:solidFill>
                <a:schemeClr val="tx1"/>
              </a:solidFill>
              <a:prstDash val="solid"/>
              <a:headEnd type="none" w="med" len="med"/>
              <a:tailEnd type="triangle" w="med" len="med"/>
            </a:ln>
          </p:spPr>
        </p:sp>
        <p:sp>
          <p:nvSpPr>
            <p:cNvPr id="9" name="矩形 8"/>
            <p:cNvSpPr/>
            <p:nvPr/>
          </p:nvSpPr>
          <p:spPr bwMode="auto">
            <a:xfrm>
              <a:off x="5392127" y="2446999"/>
              <a:ext cx="221495" cy="232005"/>
            </a:xfrm>
            <a:prstGeom prst="rect">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16" name="组合 15"/>
          <p:cNvGrpSpPr/>
          <p:nvPr/>
        </p:nvGrpSpPr>
        <p:grpSpPr>
          <a:xfrm>
            <a:off x="7999771" y="3139855"/>
            <a:ext cx="583485" cy="505170"/>
            <a:chOff x="7999771" y="3139855"/>
            <a:chExt cx="583485" cy="505170"/>
          </a:xfrm>
        </p:grpSpPr>
        <p:sp>
          <p:nvSpPr>
            <p:cNvPr id="14" name="Rectangle 57"/>
            <p:cNvSpPr/>
            <p:nvPr/>
          </p:nvSpPr>
          <p:spPr>
            <a:xfrm>
              <a:off x="7999771" y="3139855"/>
              <a:ext cx="571385" cy="244747"/>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smtClean="0"/>
                <a:t>str1</a:t>
              </a:r>
              <a:endParaRPr lang="en-US" altLang="zh-CN" sz="1800" dirty="0"/>
            </a:p>
          </p:txBody>
        </p:sp>
        <p:sp>
          <p:nvSpPr>
            <p:cNvPr id="15" name="Rectangle 57"/>
            <p:cNvSpPr/>
            <p:nvPr/>
          </p:nvSpPr>
          <p:spPr>
            <a:xfrm>
              <a:off x="8011871" y="3356992"/>
              <a:ext cx="571385" cy="288033"/>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smtClean="0"/>
                <a:t>str</a:t>
              </a:r>
              <a:r>
                <a:rPr lang="en-US" altLang="zh-CN" sz="1800" dirty="0"/>
                <a:t>2</a:t>
              </a:r>
            </a:p>
          </p:txBody>
        </p:sp>
      </p:grpSp>
      <p:grpSp>
        <p:nvGrpSpPr>
          <p:cNvPr id="10" name="组合 9"/>
          <p:cNvGrpSpPr/>
          <p:nvPr/>
        </p:nvGrpSpPr>
        <p:grpSpPr>
          <a:xfrm>
            <a:off x="5292080" y="3825948"/>
            <a:ext cx="421587" cy="810857"/>
            <a:chOff x="4875676" y="938279"/>
            <a:chExt cx="421587" cy="810857"/>
          </a:xfrm>
        </p:grpSpPr>
        <p:sp>
          <p:nvSpPr>
            <p:cNvPr id="11" name="Rectangle 57"/>
            <p:cNvSpPr/>
            <p:nvPr/>
          </p:nvSpPr>
          <p:spPr>
            <a:xfrm>
              <a:off x="4875676" y="1461103"/>
              <a:ext cx="421587" cy="288033"/>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a:t>p</a:t>
              </a:r>
              <a:r>
                <a:rPr lang="en-US" altLang="zh-CN" sz="1800" dirty="0" smtClean="0"/>
                <a:t>2</a:t>
              </a:r>
              <a:endParaRPr lang="en-US" altLang="zh-CN" sz="1800" dirty="0"/>
            </a:p>
          </p:txBody>
        </p:sp>
        <p:sp>
          <p:nvSpPr>
            <p:cNvPr id="12" name="Line 107"/>
            <p:cNvSpPr/>
            <p:nvPr/>
          </p:nvSpPr>
          <p:spPr>
            <a:xfrm rot="16200000">
              <a:off x="4902854" y="1105871"/>
              <a:ext cx="335804" cy="620"/>
            </a:xfrm>
            <a:prstGeom prst="line">
              <a:avLst/>
            </a:prstGeom>
            <a:ln w="38100" cap="flat" cmpd="sng">
              <a:solidFill>
                <a:schemeClr val="tx1"/>
              </a:solidFill>
              <a:prstDash val="solid"/>
              <a:headEnd type="none" w="med" len="med"/>
              <a:tailEnd type="triangle" w="med" len="med"/>
            </a:ln>
          </p:spPr>
        </p:sp>
        <p:sp>
          <p:nvSpPr>
            <p:cNvPr id="13" name="矩形 12"/>
            <p:cNvSpPr/>
            <p:nvPr/>
          </p:nvSpPr>
          <p:spPr bwMode="auto">
            <a:xfrm>
              <a:off x="4975723" y="1269315"/>
              <a:ext cx="221495" cy="232005"/>
            </a:xfrm>
            <a:prstGeom prst="rect">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3752936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755650" y="765175"/>
            <a:ext cx="7924800" cy="784225"/>
          </a:xfrm>
        </p:spPr>
        <p:txBody>
          <a:bodyPr vert="horz" wrap="square" lIns="91440" tIns="45720" rIns="91440" bIns="45720" anchor="ctr"/>
          <a:lstStyle/>
          <a:p>
            <a:pPr eaLnBrk="1" hangingPunct="1"/>
            <a:r>
              <a:rPr lang="zh-CN" altLang="en-US" dirty="0"/>
              <a:t>向函数传递字符串</a:t>
            </a:r>
          </a:p>
        </p:txBody>
      </p:sp>
      <p:sp>
        <p:nvSpPr>
          <p:cNvPr id="74755" name="Rectangle 3"/>
          <p:cNvSpPr>
            <a:spLocks noGrp="1"/>
          </p:cNvSpPr>
          <p:nvPr>
            <p:ph idx="1"/>
          </p:nvPr>
        </p:nvSpPr>
        <p:spPr>
          <a:xfrm>
            <a:off x="790893" y="1625600"/>
            <a:ext cx="8173595" cy="4611688"/>
          </a:xfrm>
        </p:spPr>
        <p:txBody>
          <a:bodyPr vert="horz" wrap="square" lIns="91440" tIns="45720" rIns="91440" bIns="45720" anchor="t"/>
          <a:lstStyle/>
          <a:p>
            <a:pPr eaLnBrk="1" hangingPunct="1">
              <a:lnSpc>
                <a:spcPct val="125000"/>
              </a:lnSpc>
              <a:buFont typeface="Monotype Sorts" pitchFamily="2" charset="2"/>
              <a:buChar char=""/>
            </a:pPr>
            <a:r>
              <a:rPr lang="zh-CN" altLang="en-US" dirty="0"/>
              <a:t>向函数传递字符串时，既可使用字符数组作函数参数，也可使用字符指针作函数参数 </a:t>
            </a:r>
            <a:endParaRPr lang="en-US" altLang="zh-CN" dirty="0"/>
          </a:p>
          <a:p>
            <a:pPr eaLnBrk="1" hangingPunct="1">
              <a:lnSpc>
                <a:spcPct val="125000"/>
              </a:lnSpc>
              <a:buFont typeface="Monotype Sorts" pitchFamily="2" charset="2"/>
              <a:buChar char=""/>
            </a:pPr>
            <a:r>
              <a:rPr lang="zh-CN" altLang="en-US" dirty="0"/>
              <a:t>本质上都是传地址调用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84138" y="6308725"/>
            <a:ext cx="587375" cy="422275"/>
          </a:xfrm>
        </p:spPr>
        <p:txBody>
          <a:bodyPr/>
          <a:lstStyle/>
          <a:p>
            <a:pPr lvl="0" algn="r" eaLnBrk="1" hangingPunct="1"/>
            <a:fld id="{9A0DB2DC-4C9A-4742-B13C-FB6460FD3503}" type="slidenum">
              <a:rPr lang="zh-CN" altLang="en-US" sz="1200" smtClean="0">
                <a:latin typeface="Arial Black" panose="020B0A04020102020204" pitchFamily="34" charset="0"/>
              </a:rPr>
              <a:t>80</a:t>
            </a:fld>
            <a:endParaRPr lang="zh-CN" altLang="en-US" sz="1200" dirty="0">
              <a:latin typeface="Arial Black" panose="020B0A04020102020204" pitchFamily="34" charset="0"/>
            </a:endParaRPr>
          </a:p>
        </p:txBody>
      </p:sp>
      <p:sp>
        <p:nvSpPr>
          <p:cNvPr id="2" name="矩形 1"/>
          <p:cNvSpPr/>
          <p:nvPr/>
        </p:nvSpPr>
        <p:spPr>
          <a:xfrm>
            <a:off x="84138" y="1225689"/>
            <a:ext cx="8808342" cy="5632311"/>
          </a:xfrm>
          <a:prstGeom prst="rect">
            <a:avLst/>
          </a:prstGeom>
        </p:spPr>
        <p:txBody>
          <a:bodyPr wrap="square">
            <a:spAutoFit/>
          </a:bodyPr>
          <a:lstStyle/>
          <a:p>
            <a:r>
              <a:rPr lang="zh-CN" altLang="en-US" sz="2000" b="1" dirty="0">
                <a:effectLst>
                  <a:outerShdw blurRad="38100" dist="38100" dir="2700000" algn="tl">
                    <a:srgbClr val="000000">
                      <a:alpha val="43137"/>
                    </a:srgbClr>
                  </a:outerShdw>
                </a:effectLst>
              </a:rPr>
              <a:t>#include &lt;stdio.h&gt;</a:t>
            </a:r>
          </a:p>
          <a:p>
            <a:r>
              <a:rPr lang="zh-CN" altLang="en-US" sz="2000" b="1" dirty="0">
                <a:effectLst>
                  <a:outerShdw blurRad="38100" dist="38100" dir="2700000" algn="tl">
                    <a:srgbClr val="000000">
                      <a:alpha val="43137"/>
                    </a:srgbClr>
                  </a:outerShdw>
                </a:effectLst>
              </a:rPr>
              <a:t>char *findfirstletter(char *s)	//函数的返回值是一个字符指针</a:t>
            </a:r>
          </a:p>
          <a:p>
            <a:r>
              <a:rPr lang="zh-CN" altLang="en-US" sz="2000" b="1" dirty="0">
                <a:effectLst>
                  <a:outerShdw blurRad="38100" dist="38100" dir="2700000" algn="tl">
                    <a:srgbClr val="000000">
                      <a:alpha val="43137"/>
                    </a:srgbClr>
                  </a:outerShdw>
                </a:effectLst>
              </a:rPr>
              <a:t>{  for(;*s!='\0';s++)</a:t>
            </a:r>
          </a:p>
          <a:p>
            <a:r>
              <a:rPr lang="zh-CN" altLang="en-US" sz="2000" b="1" dirty="0">
                <a:effectLst>
                  <a:outerShdw blurRad="38100" dist="38100" dir="2700000" algn="tl">
                    <a:srgbClr val="000000">
                      <a:alpha val="43137"/>
                    </a:srgbClr>
                  </a:outerShdw>
                </a:effectLst>
              </a:rPr>
              <a:t>     if(*s&gt;='A' &amp;&amp; *s&lt;='Z')</a:t>
            </a:r>
          </a:p>
          <a:p>
            <a:r>
              <a:rPr lang="zh-CN" altLang="en-US" sz="2000" b="1" dirty="0" smtClean="0">
                <a:effectLst>
                  <a:outerShdw blurRad="38100" dist="38100" dir="2700000" algn="tl">
                    <a:srgbClr val="000000">
                      <a:alpha val="43137"/>
                    </a:srgbClr>
                  </a:outerShdw>
                </a:effectLst>
              </a:rPr>
              <a:t>           break</a:t>
            </a:r>
            <a:r>
              <a:rPr lang="zh-CN" altLang="en-US" sz="2000" b="1" dirty="0">
                <a:effectLst>
                  <a:outerShdw blurRad="38100" dist="38100" dir="2700000" algn="tl">
                    <a:srgbClr val="000000">
                      <a:alpha val="43137"/>
                    </a:srgbClr>
                  </a:outerShdw>
                </a:effectLst>
              </a:rPr>
              <a:t>;</a:t>
            </a:r>
          </a:p>
          <a:p>
            <a:r>
              <a:rPr lang="zh-CN" altLang="en-US" sz="2000" b="1" dirty="0">
                <a:effectLst>
                  <a:outerShdw blurRad="38100" dist="38100" dir="2700000" algn="tl">
                    <a:srgbClr val="000000">
                      <a:alpha val="43137"/>
                    </a:srgbClr>
                  </a:outerShdw>
                </a:effectLst>
              </a:rPr>
              <a:t>   return s;		//返回字符串中首大写字母的地址</a:t>
            </a:r>
          </a:p>
          <a:p>
            <a:r>
              <a:rPr lang="zh-CN" altLang="en-US" sz="2000" b="1" dirty="0">
                <a:effectLst>
                  <a:outerShdw blurRad="38100" dist="38100" dir="2700000" algn="tl">
                    <a:srgbClr val="000000">
                      <a:alpha val="43137"/>
                    </a:srgbClr>
                  </a:outerShdw>
                </a:effectLst>
              </a:rPr>
              <a:t>}</a:t>
            </a:r>
          </a:p>
          <a:p>
            <a:r>
              <a:rPr lang="zh-CN" altLang="en-US" sz="2000" b="1" dirty="0">
                <a:effectLst>
                  <a:outerShdw blurRad="38100" dist="38100" dir="2700000" algn="tl">
                    <a:srgbClr val="000000">
                      <a:alpha val="43137"/>
                    </a:srgbClr>
                  </a:outerShdw>
                </a:effectLst>
              </a:rPr>
              <a:t>int main()</a:t>
            </a:r>
          </a:p>
          <a:p>
            <a:r>
              <a:rPr lang="zh-CN" altLang="en-US" sz="2000" b="1" dirty="0">
                <a:effectLst>
                  <a:outerShdw blurRad="38100" dist="38100" dir="2700000" algn="tl">
                    <a:srgbClr val="000000">
                      <a:alpha val="43137"/>
                    </a:srgbClr>
                  </a:outerShdw>
                </a:effectLst>
              </a:rPr>
              <a:t>{  char str[81];</a:t>
            </a:r>
          </a:p>
          <a:p>
            <a:r>
              <a:rPr lang="zh-CN" altLang="en-US" sz="2000" b="1" dirty="0">
                <a:effectLst>
                  <a:outerShdw blurRad="38100" dist="38100" dir="2700000" algn="tl">
                    <a:srgbClr val="000000">
                      <a:alpha val="43137"/>
                    </a:srgbClr>
                  </a:outerShdw>
                </a:effectLst>
              </a:rPr>
              <a:t>   char *pos;</a:t>
            </a:r>
          </a:p>
          <a:p>
            <a:r>
              <a:rPr lang="zh-CN" altLang="en-US" sz="2000" b="1" dirty="0">
                <a:effectLst>
                  <a:outerShdw blurRad="38100" dist="38100" dir="2700000" algn="tl">
                    <a:srgbClr val="000000">
                      <a:alpha val="43137"/>
                    </a:srgbClr>
                  </a:outerShdw>
                </a:effectLst>
              </a:rPr>
              <a:t>   gets(str);</a:t>
            </a:r>
          </a:p>
          <a:p>
            <a:r>
              <a:rPr lang="zh-CN" altLang="en-US" sz="2000" b="1" dirty="0">
                <a:effectLst>
                  <a:outerShdw blurRad="38100" dist="38100" dir="2700000" algn="tl">
                    <a:srgbClr val="000000">
                      <a:alpha val="43137"/>
                    </a:srgbClr>
                  </a:outerShdw>
                </a:effectLst>
              </a:rPr>
              <a:t>   pos=findfirstletter(str)</a:t>
            </a:r>
            <a:r>
              <a:rPr lang="zh-CN" altLang="en-US" sz="2000" b="1" dirty="0" smtClean="0">
                <a:effectLst>
                  <a:outerShdw blurRad="38100" dist="38100" dir="2700000" algn="tl">
                    <a:srgbClr val="000000">
                      <a:alpha val="43137"/>
                    </a:srgbClr>
                  </a:outerShdw>
                </a:effectLst>
              </a:rPr>
              <a:t>;   </a:t>
            </a:r>
            <a:r>
              <a:rPr lang="zh-CN" altLang="en-US" sz="1600" b="1" dirty="0" smtClean="0">
                <a:effectLst>
                  <a:outerShdw blurRad="38100" dist="38100" dir="2700000" algn="tl">
                    <a:srgbClr val="000000">
                      <a:alpha val="43137"/>
                    </a:srgbClr>
                  </a:outerShdw>
                </a:effectLst>
              </a:rPr>
              <a:t> //</a:t>
            </a:r>
            <a:r>
              <a:rPr lang="zh-CN" altLang="en-US" sz="1600" b="1" dirty="0">
                <a:effectLst>
                  <a:outerShdw blurRad="38100" dist="38100" dir="2700000" algn="tl">
                    <a:srgbClr val="000000">
                      <a:alpha val="43137"/>
                    </a:srgbClr>
                  </a:outerShdw>
                </a:effectLst>
              </a:rPr>
              <a:t>字符数组名做函数实参，函数返回的地址赋给pos字符指针</a:t>
            </a:r>
          </a:p>
          <a:p>
            <a:r>
              <a:rPr lang="zh-CN" altLang="en-US" sz="2000" b="1" dirty="0">
                <a:effectLst>
                  <a:outerShdw blurRad="38100" dist="38100" dir="2700000" algn="tl">
                    <a:srgbClr val="000000">
                      <a:alpha val="43137"/>
                    </a:srgbClr>
                  </a:outerShdw>
                </a:effectLst>
              </a:rPr>
              <a:t>   if(*pos=='\0')</a:t>
            </a:r>
          </a:p>
          <a:p>
            <a:r>
              <a:rPr lang="zh-CN" altLang="en-US" sz="2000" b="1" dirty="0" smtClean="0">
                <a:effectLst>
                  <a:outerShdw blurRad="38100" dist="38100" dir="2700000" algn="tl">
                    <a:srgbClr val="000000">
                      <a:alpha val="43137"/>
                    </a:srgbClr>
                  </a:outerShdw>
                </a:effectLst>
              </a:rPr>
              <a:t>      puts</a:t>
            </a:r>
            <a:r>
              <a:rPr lang="zh-CN" altLang="en-US" sz="2000" b="1" dirty="0">
                <a:effectLst>
                  <a:outerShdw blurRad="38100" dist="38100" dir="2700000" algn="tl">
                    <a:srgbClr val="000000">
                      <a:alpha val="43137"/>
                    </a:srgbClr>
                  </a:outerShdw>
                </a:effectLst>
              </a:rPr>
              <a:t>("No Captial Letter");</a:t>
            </a:r>
          </a:p>
          <a:p>
            <a:r>
              <a:rPr lang="zh-CN" altLang="en-US" sz="2000" b="1" dirty="0">
                <a:effectLst>
                  <a:outerShdw blurRad="38100" dist="38100" dir="2700000" algn="tl">
                    <a:srgbClr val="000000">
                      <a:alpha val="43137"/>
                    </a:srgbClr>
                  </a:outerShdw>
                </a:effectLst>
              </a:rPr>
              <a:t>   else</a:t>
            </a:r>
          </a:p>
          <a:p>
            <a:r>
              <a:rPr lang="zh-CN" altLang="en-US" sz="2000" b="1" dirty="0" smtClean="0">
                <a:effectLst>
                  <a:outerShdw blurRad="38100" dist="38100" dir="2700000" algn="tl">
                    <a:srgbClr val="000000">
                      <a:alpha val="43137"/>
                    </a:srgbClr>
                  </a:outerShdw>
                </a:effectLst>
              </a:rPr>
              <a:t>      puts</a:t>
            </a:r>
            <a:r>
              <a:rPr lang="zh-CN" altLang="en-US" sz="2000" b="1" dirty="0">
                <a:effectLst>
                  <a:outerShdw blurRad="38100" dist="38100" dir="2700000" algn="tl">
                    <a:srgbClr val="000000">
                      <a:alpha val="43137"/>
                    </a:srgbClr>
                  </a:outerShdw>
                </a:effectLst>
              </a:rPr>
              <a:t>(pos)</a:t>
            </a:r>
            <a:r>
              <a:rPr lang="zh-CN" altLang="en-US" sz="2000" b="1" dirty="0" smtClean="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从首大写字母开始输出后面的字符串</a:t>
            </a:r>
          </a:p>
          <a:p>
            <a:r>
              <a:rPr lang="zh-CN" altLang="en-US" sz="2000" b="1" dirty="0">
                <a:effectLst>
                  <a:outerShdw blurRad="38100" dist="38100" dir="2700000" algn="tl">
                    <a:srgbClr val="000000">
                      <a:alpha val="43137"/>
                    </a:srgbClr>
                  </a:outerShdw>
                </a:effectLst>
              </a:rPr>
              <a:t>   return 0;</a:t>
            </a:r>
          </a:p>
          <a:p>
            <a:r>
              <a:rPr lang="zh-CN" altLang="en-US" sz="2000" b="1" dirty="0">
                <a:effectLst>
                  <a:outerShdw blurRad="38100" dist="38100" dir="2700000" algn="tl">
                    <a:srgbClr val="000000">
                      <a:alpha val="43137"/>
                    </a:srgbClr>
                  </a:outerShdw>
                </a:effectLst>
              </a:rPr>
              <a:t>}</a:t>
            </a:r>
          </a:p>
        </p:txBody>
      </p:sp>
      <p:pic>
        <p:nvPicPr>
          <p:cNvPr id="3" name="图片 2"/>
          <p:cNvPicPr>
            <a:picLocks noChangeAspect="1"/>
          </p:cNvPicPr>
          <p:nvPr/>
        </p:nvPicPr>
        <p:blipFill>
          <a:blip r:embed="rId2"/>
          <a:stretch>
            <a:fillRect/>
          </a:stretch>
        </p:blipFill>
        <p:spPr>
          <a:xfrm>
            <a:off x="7164288" y="5877272"/>
            <a:ext cx="1008112" cy="721858"/>
          </a:xfrm>
          <a:prstGeom prst="rect">
            <a:avLst/>
          </a:prstGeom>
        </p:spPr>
      </p:pic>
      <p:sp>
        <p:nvSpPr>
          <p:cNvPr id="7" name="内容占位符 7"/>
          <p:cNvSpPr>
            <a:spLocks noGrp="1"/>
          </p:cNvSpPr>
          <p:nvPr>
            <p:ph idx="1"/>
          </p:nvPr>
        </p:nvSpPr>
        <p:spPr>
          <a:xfrm>
            <a:off x="84138" y="217578"/>
            <a:ext cx="9036496" cy="1008111"/>
          </a:xfrm>
        </p:spPr>
        <p:txBody>
          <a:bodyPr/>
          <a:lstStyle/>
          <a:p>
            <a:pPr marL="0" indent="0">
              <a:buNone/>
            </a:pPr>
            <a:r>
              <a:rPr lang="en-US" altLang="zh-CN" sz="2400" dirty="0">
                <a:solidFill>
                  <a:schemeClr val="accent4">
                    <a:lumMod val="75000"/>
                    <a:lumOff val="25000"/>
                  </a:schemeClr>
                </a:solidFill>
              </a:rPr>
              <a:t>【</a:t>
            </a:r>
            <a:r>
              <a:rPr lang="zh-CN" altLang="en-US" sz="2400" dirty="0">
                <a:solidFill>
                  <a:schemeClr val="accent4">
                    <a:lumMod val="75000"/>
                    <a:lumOff val="25000"/>
                  </a:schemeClr>
                </a:solidFill>
              </a:rPr>
              <a:t>例</a:t>
            </a:r>
            <a:r>
              <a:rPr lang="en-US" altLang="zh-CN" sz="2400" dirty="0">
                <a:solidFill>
                  <a:schemeClr val="accent4">
                    <a:lumMod val="75000"/>
                    <a:lumOff val="25000"/>
                  </a:schemeClr>
                </a:solidFill>
              </a:rPr>
              <a:t>6-11】</a:t>
            </a:r>
            <a:r>
              <a:rPr lang="zh-CN" altLang="en-US" sz="2400" dirty="0">
                <a:solidFill>
                  <a:schemeClr val="accent4">
                    <a:lumMod val="75000"/>
                    <a:lumOff val="25000"/>
                  </a:schemeClr>
                </a:solidFill>
              </a:rPr>
              <a:t>编写一个子函数，在主函数定义的字符串中找到第一个大写字母，并向主函数返回这个字母的地址</a:t>
            </a:r>
            <a:r>
              <a:rPr lang="zh-CN" altLang="en-US" sz="2400" dirty="0" smtClean="0">
                <a:solidFill>
                  <a:schemeClr val="accent4">
                    <a:lumMod val="75000"/>
                    <a:lumOff val="25000"/>
                  </a:schemeClr>
                </a:solidFill>
              </a:rPr>
              <a:t>。</a:t>
            </a:r>
            <a:endParaRPr lang="zh-CN" altLang="en-US" sz="2400" dirty="0">
              <a:solidFill>
                <a:schemeClr val="accent4">
                  <a:lumMod val="75000"/>
                  <a:lumOff val="25000"/>
                </a:schemeClr>
              </a:solidFill>
            </a:endParaRPr>
          </a:p>
        </p:txBody>
      </p:sp>
      <p:sp>
        <p:nvSpPr>
          <p:cNvPr id="9" name="Rectangle 57"/>
          <p:cNvSpPr/>
          <p:nvPr/>
        </p:nvSpPr>
        <p:spPr>
          <a:xfrm>
            <a:off x="6660232" y="5849227"/>
            <a:ext cx="504056" cy="244070"/>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err="1" smtClean="0"/>
              <a:t>str</a:t>
            </a:r>
            <a:endParaRPr lang="en-US" altLang="zh-CN" sz="1800" dirty="0"/>
          </a:p>
        </p:txBody>
      </p:sp>
      <p:grpSp>
        <p:nvGrpSpPr>
          <p:cNvPr id="10" name="组合 9"/>
          <p:cNvGrpSpPr/>
          <p:nvPr/>
        </p:nvGrpSpPr>
        <p:grpSpPr>
          <a:xfrm>
            <a:off x="6507202" y="5590357"/>
            <a:ext cx="759731" cy="337396"/>
            <a:chOff x="5078037" y="2383675"/>
            <a:chExt cx="759731" cy="337396"/>
          </a:xfrm>
        </p:grpSpPr>
        <p:sp>
          <p:nvSpPr>
            <p:cNvPr id="11" name="Rectangle 57"/>
            <p:cNvSpPr/>
            <p:nvPr/>
          </p:nvSpPr>
          <p:spPr>
            <a:xfrm>
              <a:off x="5078037" y="2383675"/>
              <a:ext cx="360040" cy="288033"/>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smtClean="0"/>
                <a:t>s</a:t>
              </a:r>
              <a:endParaRPr lang="en-US" altLang="zh-CN" sz="1800" dirty="0"/>
            </a:p>
          </p:txBody>
        </p:sp>
        <p:sp>
          <p:nvSpPr>
            <p:cNvPr id="12" name="Line 107"/>
            <p:cNvSpPr/>
            <p:nvPr/>
          </p:nvSpPr>
          <p:spPr>
            <a:xfrm>
              <a:off x="5613622" y="2562070"/>
              <a:ext cx="224146" cy="159001"/>
            </a:xfrm>
            <a:prstGeom prst="line">
              <a:avLst/>
            </a:prstGeom>
            <a:ln w="38100" cap="flat" cmpd="sng">
              <a:solidFill>
                <a:schemeClr val="tx1"/>
              </a:solidFill>
              <a:prstDash val="solid"/>
              <a:headEnd type="none" w="med" len="med"/>
              <a:tailEnd type="triangle" w="med" len="med"/>
            </a:ln>
          </p:spPr>
        </p:sp>
        <p:sp>
          <p:nvSpPr>
            <p:cNvPr id="13" name="矩形 12"/>
            <p:cNvSpPr/>
            <p:nvPr/>
          </p:nvSpPr>
          <p:spPr bwMode="auto">
            <a:xfrm>
              <a:off x="5392127" y="2446999"/>
              <a:ext cx="221495" cy="232005"/>
            </a:xfrm>
            <a:prstGeom prst="rect">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14" name="组合 13"/>
          <p:cNvGrpSpPr/>
          <p:nvPr/>
        </p:nvGrpSpPr>
        <p:grpSpPr>
          <a:xfrm>
            <a:off x="7366151" y="4978167"/>
            <a:ext cx="476174" cy="858978"/>
            <a:chOff x="5264787" y="2158966"/>
            <a:chExt cx="476174" cy="858978"/>
          </a:xfrm>
        </p:grpSpPr>
        <p:sp>
          <p:nvSpPr>
            <p:cNvPr id="15" name="Rectangle 57"/>
            <p:cNvSpPr/>
            <p:nvPr/>
          </p:nvSpPr>
          <p:spPr>
            <a:xfrm>
              <a:off x="5264787" y="2158966"/>
              <a:ext cx="476174" cy="288033"/>
            </a:xfrm>
            <a:prstGeom prst="rect">
              <a:avLst/>
            </a:prstGeom>
            <a:noFill/>
            <a:ln w="9525">
              <a:noFill/>
            </a:ln>
          </p:spPr>
          <p:txBody>
            <a:bodyPr lIns="0" tIns="0" rIns="0" bIns="0"/>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1" indent="0" algn="ctr" eaLnBrk="1" hangingPunct="1">
                <a:buNone/>
              </a:pPr>
              <a:r>
                <a:rPr lang="en-US" altLang="zh-CN" sz="1800" dirty="0" err="1" smtClean="0"/>
                <a:t>pos</a:t>
              </a:r>
              <a:endParaRPr lang="en-US" altLang="zh-CN" sz="1800" dirty="0"/>
            </a:p>
          </p:txBody>
        </p:sp>
        <p:sp>
          <p:nvSpPr>
            <p:cNvPr id="16" name="Line 107"/>
            <p:cNvSpPr/>
            <p:nvPr/>
          </p:nvSpPr>
          <p:spPr>
            <a:xfrm rot="5400000">
              <a:off x="5338192" y="2849732"/>
              <a:ext cx="335804" cy="620"/>
            </a:xfrm>
            <a:prstGeom prst="line">
              <a:avLst/>
            </a:prstGeom>
            <a:ln w="38100" cap="flat" cmpd="sng">
              <a:solidFill>
                <a:schemeClr val="tx1"/>
              </a:solidFill>
              <a:prstDash val="solid"/>
              <a:headEnd type="none" w="med" len="med"/>
              <a:tailEnd type="triangle" w="med" len="med"/>
            </a:ln>
          </p:spPr>
        </p:sp>
        <p:sp>
          <p:nvSpPr>
            <p:cNvPr id="17" name="矩形 16"/>
            <p:cNvSpPr/>
            <p:nvPr/>
          </p:nvSpPr>
          <p:spPr bwMode="auto">
            <a:xfrm>
              <a:off x="5392127" y="2446999"/>
              <a:ext cx="221495" cy="232005"/>
            </a:xfrm>
            <a:prstGeom prst="rect">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540710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教材例</a:t>
            </a:r>
            <a:r>
              <a:rPr lang="en-US" altLang="zh-CN" dirty="0" smtClean="0"/>
              <a:t>6-15</a:t>
            </a:r>
            <a:endParaRPr lang="zh-CN" altLang="en-US" dirty="0"/>
          </a:p>
        </p:txBody>
      </p:sp>
      <p:sp>
        <p:nvSpPr>
          <p:cNvPr id="3" name="内容占位符 2"/>
          <p:cNvSpPr>
            <a:spLocks noGrp="1"/>
          </p:cNvSpPr>
          <p:nvPr>
            <p:ph idx="1"/>
          </p:nvPr>
        </p:nvSpPr>
        <p:spPr>
          <a:xfrm>
            <a:off x="755650" y="1700213"/>
            <a:ext cx="8136829" cy="4825131"/>
          </a:xfrm>
        </p:spPr>
        <p:txBody>
          <a:bodyPr/>
          <a:lstStyle/>
          <a:p>
            <a:pPr marL="0" indent="0">
              <a:buNone/>
            </a:pPr>
            <a:r>
              <a:rPr lang="en-US" altLang="zh-CN" dirty="0" smtClean="0"/>
              <a:t>  </a:t>
            </a:r>
            <a:r>
              <a:rPr lang="zh-CN" altLang="en-US" dirty="0" smtClean="0"/>
              <a:t>将</a:t>
            </a:r>
            <a:r>
              <a:rPr lang="en-US" altLang="zh-CN" dirty="0" smtClean="0"/>
              <a:t>5</a:t>
            </a:r>
            <a:r>
              <a:rPr lang="zh-CN" altLang="en-US" dirty="0" smtClean="0"/>
              <a:t>个字符串从小到大排序后输出</a:t>
            </a:r>
            <a:endParaRPr lang="en-US" altLang="zh-CN" dirty="0" smtClean="0"/>
          </a:p>
          <a:p>
            <a:pPr marL="0" indent="0">
              <a:buNone/>
            </a:pPr>
            <a:r>
              <a:rPr lang="zh-CN" altLang="en-US" dirty="0" smtClean="0"/>
              <a:t>（用指针数组实现）</a:t>
            </a:r>
            <a:endParaRPr lang="en-US" altLang="zh-CN" dirty="0"/>
          </a:p>
          <a:p>
            <a:pPr marL="0" indent="0">
              <a:buNone/>
            </a:pPr>
            <a:endParaRPr lang="zh-CN" altLang="en-US"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81</a:t>
            </a:fld>
            <a:endParaRPr lang="en-US" altLang="zh-CN" dirty="0"/>
          </a:p>
        </p:txBody>
      </p:sp>
    </p:spTree>
    <p:extLst>
      <p:ext uri="{BB962C8B-B14F-4D97-AF65-F5344CB8AC3E}">
        <p14:creationId xmlns:p14="http://schemas.microsoft.com/office/powerpoint/2010/main" val="3582300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82</a:t>
            </a:fld>
            <a:endParaRPr lang="en-US" altLang="zh-CN" dirty="0"/>
          </a:p>
        </p:txBody>
      </p:sp>
      <p:sp>
        <p:nvSpPr>
          <p:cNvPr id="5" name="矩形 4"/>
          <p:cNvSpPr/>
          <p:nvPr/>
        </p:nvSpPr>
        <p:spPr>
          <a:xfrm>
            <a:off x="0" y="0"/>
            <a:ext cx="9036496" cy="7017306"/>
          </a:xfrm>
          <a:prstGeom prst="rect">
            <a:avLst/>
          </a:prstGeom>
        </p:spPr>
        <p:txBody>
          <a:bodyPr wrap="square">
            <a:spAutoFit/>
          </a:bodyPr>
          <a:lstStyle/>
          <a:p>
            <a:pPr marL="0" indent="0">
              <a:buNone/>
            </a:pPr>
            <a:r>
              <a:rPr lang="en-US" altLang="zh-CN" sz="1800" b="1" dirty="0"/>
              <a:t>#include &lt;stdio.h&gt;</a:t>
            </a:r>
          </a:p>
          <a:p>
            <a:pPr marL="0" indent="0">
              <a:buNone/>
            </a:pPr>
            <a:r>
              <a:rPr lang="en-US" altLang="zh-CN" sz="1800" b="1" dirty="0"/>
              <a:t>#include &lt;string.h&gt;</a:t>
            </a:r>
          </a:p>
          <a:p>
            <a:pPr marL="0" indent="0">
              <a:buNone/>
            </a:pPr>
            <a:r>
              <a:rPr lang="en-US" altLang="zh-CN" sz="1800" b="1" dirty="0" err="1"/>
              <a:t>int</a:t>
            </a:r>
            <a:r>
              <a:rPr lang="en-US" altLang="zh-CN" sz="1800" b="1" dirty="0"/>
              <a:t> </a:t>
            </a:r>
            <a:r>
              <a:rPr lang="en-US" altLang="zh-CN" sz="1800" b="1" dirty="0" smtClean="0"/>
              <a:t>main()</a:t>
            </a:r>
            <a:endParaRPr lang="en-US" altLang="zh-CN" sz="1800" b="1" dirty="0"/>
          </a:p>
          <a:p>
            <a:pPr marL="0" indent="0">
              <a:buNone/>
            </a:pPr>
            <a:r>
              <a:rPr lang="en-US" altLang="zh-CN" sz="1800" b="1" dirty="0"/>
              <a:t>{</a:t>
            </a:r>
          </a:p>
          <a:p>
            <a:pPr marL="0" indent="0">
              <a:buNone/>
            </a:pPr>
            <a:r>
              <a:rPr lang="en-US" altLang="zh-CN" sz="1800" b="1" dirty="0"/>
              <a:t>    int i;</a:t>
            </a:r>
          </a:p>
          <a:p>
            <a:pPr marL="0" indent="0">
              <a:buNone/>
            </a:pPr>
            <a:r>
              <a:rPr lang="en-US" altLang="zh-CN" sz="1800" b="1" dirty="0"/>
              <a:t>    char *pcolor[ ] = {"red", "blue", "yellow", "green", "purple"};/*</a:t>
            </a:r>
            <a:r>
              <a:rPr lang="zh-CN" altLang="en-US" sz="1800" b="1" dirty="0"/>
              <a:t>初始化后，指针数组的每个元素都指向一个字符串常量*</a:t>
            </a:r>
            <a:r>
              <a:rPr lang="en-US" altLang="zh-CN" sz="1800" b="1" dirty="0"/>
              <a:t>/</a:t>
            </a:r>
          </a:p>
          <a:p>
            <a:pPr marL="0" indent="0">
              <a:buNone/>
            </a:pPr>
            <a:r>
              <a:rPr lang="en-US" altLang="zh-CN" sz="1800" b="1" dirty="0"/>
              <a:t>    void fsort(char *color[ ], int n);</a:t>
            </a:r>
          </a:p>
          <a:p>
            <a:pPr marL="0" indent="0">
              <a:buNone/>
            </a:pPr>
            <a:r>
              <a:rPr lang="en-US" altLang="zh-CN" sz="1800" b="1" dirty="0"/>
              <a:t>    fsort(pcolor, 5);   /*</a:t>
            </a:r>
            <a:r>
              <a:rPr lang="zh-CN" altLang="en-US" sz="1800" b="1" dirty="0"/>
              <a:t>指针数组名作为实参调用函数 *</a:t>
            </a:r>
            <a:r>
              <a:rPr lang="en-US" altLang="zh-CN" sz="1800" b="1" dirty="0"/>
              <a:t>/</a:t>
            </a:r>
          </a:p>
          <a:p>
            <a:pPr marL="0" indent="0">
              <a:buNone/>
            </a:pPr>
            <a:r>
              <a:rPr lang="en-US" altLang="zh-CN" sz="1800" b="1" dirty="0"/>
              <a:t>    for(i = 0; i &lt; 5; i++) </a:t>
            </a:r>
          </a:p>
          <a:p>
            <a:pPr marL="0" indent="0">
              <a:buNone/>
            </a:pPr>
            <a:r>
              <a:rPr lang="en-US" altLang="zh-CN" sz="1800" b="1" dirty="0"/>
              <a:t>        printf("%s ", pcolor[i]);</a:t>
            </a:r>
          </a:p>
          <a:p>
            <a:pPr marL="0" indent="0">
              <a:buNone/>
            </a:pPr>
            <a:r>
              <a:rPr lang="en-US" altLang="zh-CN" sz="1800" b="1" dirty="0"/>
              <a:t>    return 0;</a:t>
            </a:r>
          </a:p>
          <a:p>
            <a:pPr marL="0" indent="0">
              <a:buNone/>
            </a:pPr>
            <a:r>
              <a:rPr lang="en-US" altLang="zh-CN" sz="1800" b="1" dirty="0"/>
              <a:t>}    </a:t>
            </a:r>
          </a:p>
          <a:p>
            <a:pPr marL="0" indent="0">
              <a:buNone/>
            </a:pPr>
            <a:r>
              <a:rPr lang="en-US" altLang="zh-CN" sz="1800" b="1" dirty="0"/>
              <a:t>void fsort(char *color[ ], int n)	/*</a:t>
            </a:r>
            <a:r>
              <a:rPr lang="zh-CN" altLang="en-US" sz="1800" b="1" dirty="0"/>
              <a:t>指针数组名作为形参 *</a:t>
            </a:r>
            <a:r>
              <a:rPr lang="en-US" altLang="zh-CN" sz="1800" b="1" dirty="0"/>
              <a:t>/</a:t>
            </a:r>
          </a:p>
          <a:p>
            <a:pPr marL="0" indent="0">
              <a:buNone/>
            </a:pPr>
            <a:r>
              <a:rPr lang="en-US" altLang="zh-CN" sz="1800" b="1" dirty="0"/>
              <a:t>{</a:t>
            </a:r>
          </a:p>
          <a:p>
            <a:pPr marL="0" indent="0">
              <a:buNone/>
            </a:pPr>
            <a:r>
              <a:rPr lang="en-US" altLang="zh-CN" sz="1800" b="1" dirty="0"/>
              <a:t>    int k, j;</a:t>
            </a:r>
          </a:p>
          <a:p>
            <a:pPr marL="0" indent="0">
              <a:buNone/>
            </a:pPr>
            <a:r>
              <a:rPr lang="en-US" altLang="zh-CN" sz="1800" b="1" dirty="0"/>
              <a:t>    char *temp;</a:t>
            </a:r>
          </a:p>
          <a:p>
            <a:pPr marL="0" indent="0">
              <a:buNone/>
            </a:pPr>
            <a:r>
              <a:rPr lang="en-US" altLang="zh-CN" sz="1800" b="1" dirty="0"/>
              <a:t>    for(k = 1; k &lt; n; k++)</a:t>
            </a:r>
          </a:p>
          <a:p>
            <a:pPr marL="0" indent="0">
              <a:buNone/>
            </a:pPr>
            <a:r>
              <a:rPr lang="en-US" altLang="zh-CN" sz="1800" b="1" dirty="0"/>
              <a:t>      for(j = 0; j &lt; n-k; j++)  </a:t>
            </a:r>
          </a:p>
          <a:p>
            <a:pPr marL="0" indent="0">
              <a:buNone/>
            </a:pPr>
            <a:r>
              <a:rPr lang="en-US" altLang="zh-CN" sz="1800" b="1" dirty="0"/>
              <a:t>        if(strcmp(color[j],color[j+1])&gt;0){    </a:t>
            </a:r>
          </a:p>
          <a:p>
            <a:pPr marL="0" indent="0">
              <a:buNone/>
            </a:pPr>
            <a:r>
              <a:rPr lang="en-US" altLang="zh-CN" sz="1800" b="1" dirty="0"/>
              <a:t>          temp = color[j];</a:t>
            </a:r>
          </a:p>
          <a:p>
            <a:pPr marL="0" indent="0">
              <a:buNone/>
            </a:pPr>
            <a:r>
              <a:rPr lang="en-US" altLang="zh-CN" sz="1800" b="1" dirty="0"/>
              <a:t>          color[j] = color[j+1];</a:t>
            </a:r>
          </a:p>
          <a:p>
            <a:pPr marL="0" indent="0">
              <a:buNone/>
            </a:pPr>
            <a:r>
              <a:rPr lang="en-US" altLang="zh-CN" sz="1800" b="1" dirty="0"/>
              <a:t>          color[j+1] = temp;</a:t>
            </a:r>
          </a:p>
          <a:p>
            <a:pPr marL="0" indent="0">
              <a:buNone/>
            </a:pPr>
            <a:r>
              <a:rPr lang="en-US" altLang="zh-CN" sz="1800" b="1" dirty="0"/>
              <a:t>        }</a:t>
            </a:r>
          </a:p>
          <a:p>
            <a:pPr marL="0" indent="0">
              <a:buNone/>
            </a:pPr>
            <a:r>
              <a:rPr lang="en-US" altLang="zh-CN" sz="1800" b="1" dirty="0"/>
              <a:t>}</a:t>
            </a:r>
            <a:endParaRPr lang="zh-CN" altLang="en-US" sz="1800" b="1" dirty="0"/>
          </a:p>
        </p:txBody>
      </p:sp>
    </p:spTree>
    <p:extLst>
      <p:ext uri="{BB962C8B-B14F-4D97-AF65-F5344CB8AC3E}">
        <p14:creationId xmlns:p14="http://schemas.microsoft.com/office/powerpoint/2010/main" val="815194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331640" y="2797968"/>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800" b="1" dirty="0">
                <a:effectLst>
                  <a:outerShdw blurRad="38100" dist="38100" dir="2700000" algn="tl">
                    <a:srgbClr val="C0C0C0"/>
                  </a:outerShdw>
                </a:effectLst>
                <a:ea typeface="黑体" panose="02010609060101010101" pitchFamily="2" charset="-122"/>
              </a:rPr>
              <a:t/>
            </a:r>
            <a:br>
              <a:rPr lang="zh-CN" altLang="en-US" sz="4800" b="1" dirty="0">
                <a:effectLst>
                  <a:outerShdw blurRad="38100" dist="38100" dir="2700000" algn="tl">
                    <a:srgbClr val="C0C0C0"/>
                  </a:outerShdw>
                </a:effectLst>
                <a:ea typeface="黑体" panose="02010609060101010101" pitchFamily="2" charset="-122"/>
              </a:rPr>
            </a:br>
            <a:r>
              <a:rPr lang="en-US" altLang="zh-CN" sz="4800" b="1" dirty="0" smtClean="0">
                <a:effectLst>
                  <a:outerShdw blurRad="38100" dist="38100" dir="2700000" algn="tl">
                    <a:srgbClr val="C0C0C0"/>
                  </a:outerShdw>
                </a:effectLst>
                <a:ea typeface="黑体" panose="02010609060101010101" pitchFamily="2" charset="-122"/>
              </a:rPr>
              <a:t>6.2 </a:t>
            </a:r>
            <a:r>
              <a:rPr lang="zh-CN" altLang="en-US" sz="4800" b="1" dirty="0" smtClean="0">
                <a:effectLst>
                  <a:outerShdw blurRad="38100" dist="38100" dir="2700000" algn="tl">
                    <a:srgbClr val="C0C0C0"/>
                  </a:outerShdw>
                </a:effectLst>
                <a:ea typeface="黑体" panose="02010609060101010101" pitchFamily="2" charset="-122"/>
              </a:rPr>
              <a:t>结构体</a:t>
            </a:r>
            <a:endParaRPr lang="zh-CN" altLang="en-US" sz="48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3019936576"/>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p:cNvSpPr>
          <p:nvPr>
            <p:ph type="title"/>
          </p:nvPr>
        </p:nvSpPr>
        <p:spPr/>
        <p:txBody>
          <a:bodyPr vert="horz" wrap="square" lIns="68580" tIns="34290" rIns="68580" bIns="34290" anchor="ctr"/>
          <a:lstStyle/>
          <a:p>
            <a:pPr eaLnBrk="1" hangingPunct="1"/>
            <a:r>
              <a:rPr lang="zh-CN" altLang="en-US" dirty="0" smtClean="0"/>
              <a:t>结构体</a:t>
            </a:r>
            <a:endParaRPr lang="zh-CN" altLang="en-US" dirty="0"/>
          </a:p>
        </p:txBody>
      </p:sp>
      <p:sp>
        <p:nvSpPr>
          <p:cNvPr id="5123" name="Rectangle 9"/>
          <p:cNvSpPr>
            <a:spLocks noGrp="1"/>
          </p:cNvSpPr>
          <p:nvPr>
            <p:ph idx="1"/>
          </p:nvPr>
        </p:nvSpPr>
        <p:spPr>
          <a:xfrm>
            <a:off x="757555" y="1774190"/>
            <a:ext cx="7108825" cy="3245485"/>
          </a:xfrm>
        </p:spPr>
        <p:txBody>
          <a:bodyPr vert="horz" wrap="square" lIns="68580" tIns="34290" rIns="68580" bIns="34290" anchor="t">
            <a:noAutofit/>
          </a:bodyPr>
          <a:lstStyle/>
          <a:p>
            <a:pPr eaLnBrk="1" hangingPunct="1">
              <a:lnSpc>
                <a:spcPct val="90000"/>
              </a:lnSpc>
            </a:pPr>
            <a:r>
              <a:rPr lang="zh-CN" altLang="en-US" sz="2400" dirty="0" smtClean="0"/>
              <a:t>结构体是</a:t>
            </a:r>
            <a:r>
              <a:rPr lang="en-US" altLang="zh-CN" sz="2400" dirty="0" smtClean="0"/>
              <a:t>C</a:t>
            </a:r>
            <a:r>
              <a:rPr lang="zh-CN" altLang="en-US" sz="2400" dirty="0" smtClean="0"/>
              <a:t>语言的一种构造数据类型</a:t>
            </a:r>
            <a:endParaRPr lang="en-US" altLang="zh-CN" sz="2400" dirty="0" smtClean="0"/>
          </a:p>
          <a:p>
            <a:pPr eaLnBrk="1" hangingPunct="1">
              <a:lnSpc>
                <a:spcPct val="90000"/>
              </a:lnSpc>
            </a:pPr>
            <a:r>
              <a:rPr lang="zh-CN" altLang="en-US" sz="2400" dirty="0" smtClean="0"/>
              <a:t>一个结构体类型可以包括多个不同数据类型的数据</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703580" y="788353"/>
            <a:ext cx="7797800" cy="839787"/>
          </a:xfrm>
        </p:spPr>
        <p:txBody>
          <a:bodyPr vert="horz" wrap="square" lIns="91440" tIns="45720" rIns="91440" bIns="45720" anchor="ctr"/>
          <a:lstStyle/>
          <a:p>
            <a:pPr eaLnBrk="1" hangingPunct="1"/>
            <a:r>
              <a:rPr lang="zh-CN" altLang="en-US" dirty="0"/>
              <a:t>为什么要定义结构体类型</a:t>
            </a:r>
          </a:p>
        </p:txBody>
      </p:sp>
      <p:sp>
        <p:nvSpPr>
          <p:cNvPr id="267267" name="Rectangle 3"/>
          <p:cNvSpPr>
            <a:spLocks noGrp="1"/>
          </p:cNvSpPr>
          <p:nvPr>
            <p:ph type="body" sz="half" idx="1"/>
          </p:nvPr>
        </p:nvSpPr>
        <p:spPr>
          <a:xfrm>
            <a:off x="685800" y="1628775"/>
            <a:ext cx="8207375" cy="1657350"/>
          </a:xfrm>
        </p:spPr>
        <p:txBody>
          <a:bodyPr vert="horz" wrap="square" lIns="91440" tIns="45720" rIns="91440" bIns="45720" anchor="t"/>
          <a:lstStyle/>
          <a:p>
            <a:pPr eaLnBrk="1" hangingPunct="1">
              <a:lnSpc>
                <a:spcPct val="110000"/>
              </a:lnSpc>
            </a:pPr>
            <a:r>
              <a:rPr lang="zh-CN" altLang="en-US" kern="1200" dirty="0">
                <a:latin typeface="楷体_GB2312" panose="02010609030101010101" pitchFamily="49" charset="-122"/>
              </a:rPr>
              <a:t>在程序里表示一个人（学号、姓名、各门课成绩），怎么表示？</a:t>
            </a:r>
          </a:p>
          <a:p>
            <a:pPr eaLnBrk="1" hangingPunct="1">
              <a:lnSpc>
                <a:spcPct val="110000"/>
              </a:lnSpc>
            </a:pPr>
            <a:r>
              <a:rPr lang="zh-CN" altLang="en-US" kern="1200" dirty="0">
                <a:latin typeface="楷体_GB2312" panose="02010609030101010101" pitchFamily="49" charset="-122"/>
              </a:rPr>
              <a:t>想表示多个人呢？</a:t>
            </a:r>
          </a:p>
          <a:p>
            <a:pPr eaLnBrk="1" hangingPunct="1">
              <a:lnSpc>
                <a:spcPct val="110000"/>
              </a:lnSpc>
            </a:pPr>
            <a:r>
              <a:rPr lang="zh-CN" altLang="en-US" kern="1200" dirty="0">
                <a:latin typeface="楷体_GB2312" panose="02010609030101010101" pitchFamily="49" charset="-122"/>
              </a:rPr>
              <a:t>即如何用计算机程序实现下述表格的管理</a:t>
            </a:r>
          </a:p>
          <a:p>
            <a:pPr marL="0" indent="0" eaLnBrk="1" hangingPunct="1">
              <a:lnSpc>
                <a:spcPct val="110000"/>
              </a:lnSpc>
              <a:buNone/>
            </a:pPr>
            <a:r>
              <a:rPr lang="zh-CN" altLang="en-US" kern="1200" dirty="0">
                <a:latin typeface="楷体_GB2312" panose="02010609030101010101" pitchFamily="49" charset="-122"/>
              </a:rPr>
              <a:t> 并求出每个人的平均分呢？ </a:t>
            </a:r>
          </a:p>
        </p:txBody>
      </p:sp>
      <p:pic>
        <p:nvPicPr>
          <p:cNvPr id="9221" name="Picture 12" descr="E:\剪贴画\思考问题的卡通男孩.jpg"/>
          <p:cNvPicPr>
            <a:picLocks noChangeAspect="1"/>
          </p:cNvPicPr>
          <p:nvPr/>
        </p:nvPicPr>
        <p:blipFill>
          <a:blip r:embed="rId2"/>
          <a:stretch>
            <a:fillRect/>
          </a:stretch>
        </p:blipFill>
        <p:spPr>
          <a:xfrm>
            <a:off x="7500938" y="2286000"/>
            <a:ext cx="1406525" cy="2286000"/>
          </a:xfrm>
          <a:prstGeom prst="rect">
            <a:avLst/>
          </a:prstGeom>
          <a:noFill/>
          <a:ln w="9525">
            <a:noFill/>
          </a:ln>
        </p:spPr>
      </p:pic>
      <p:pic>
        <p:nvPicPr>
          <p:cNvPr id="11" name="图片 10"/>
          <p:cNvPicPr>
            <a:picLocks noChangeAspect="1"/>
          </p:cNvPicPr>
          <p:nvPr/>
        </p:nvPicPr>
        <p:blipFill>
          <a:blip r:embed="rId3"/>
          <a:stretch>
            <a:fillRect/>
          </a:stretch>
        </p:blipFill>
        <p:spPr>
          <a:xfrm>
            <a:off x="1330960" y="4541520"/>
            <a:ext cx="6717030" cy="17627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7267">
                                            <p:txEl>
                                              <p:pRg st="0" end="0"/>
                                            </p:txEl>
                                          </p:spTgt>
                                        </p:tgtEl>
                                        <p:attrNameLst>
                                          <p:attrName>style.visibility</p:attrName>
                                        </p:attrNameLst>
                                      </p:cBhvr>
                                      <p:to>
                                        <p:strVal val="visible"/>
                                      </p:to>
                                    </p:set>
                                    <p:animEffect transition="in" filter="wipe(left)">
                                      <p:cBhvr>
                                        <p:cTn id="7" dur="500"/>
                                        <p:tgtEl>
                                          <p:spTgt spid="267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7267">
                                            <p:txEl>
                                              <p:pRg st="1" end="1"/>
                                            </p:txEl>
                                          </p:spTgt>
                                        </p:tgtEl>
                                        <p:attrNameLst>
                                          <p:attrName>style.visibility</p:attrName>
                                        </p:attrNameLst>
                                      </p:cBhvr>
                                      <p:to>
                                        <p:strVal val="visible"/>
                                      </p:to>
                                    </p:set>
                                    <p:animEffect transition="in" filter="wipe(left)">
                                      <p:cBhvr>
                                        <p:cTn id="12" dur="500"/>
                                        <p:tgtEl>
                                          <p:spTgt spid="267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726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7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数组的解决方法</a:t>
            </a:r>
          </a:p>
        </p:txBody>
      </p:sp>
      <p:sp>
        <p:nvSpPr>
          <p:cNvPr id="7" name="内容占位符 6"/>
          <p:cNvSpPr>
            <a:spLocks noGrp="1"/>
          </p:cNvSpPr>
          <p:nvPr>
            <p:ph idx="1"/>
          </p:nvPr>
        </p:nvSpPr>
        <p:spPr>
          <a:xfrm>
            <a:off x="827405" y="1700213"/>
            <a:ext cx="7993063" cy="4537075"/>
          </a:xfrm>
        </p:spPr>
        <p:txBody>
          <a:bodyPr/>
          <a:lstStyle/>
          <a:p>
            <a:pPr marL="0" indent="0">
              <a:buNone/>
            </a:pPr>
            <a:r>
              <a:rPr lang="zh-CN" altLang="en-US" sz="2400" dirty="0"/>
              <a:t>int num[100];		//100个人的学号</a:t>
            </a:r>
          </a:p>
          <a:p>
            <a:pPr marL="0" indent="0">
              <a:buNone/>
            </a:pPr>
            <a:r>
              <a:rPr lang="zh-CN" altLang="en-US" sz="2400" dirty="0"/>
              <a:t>char name[100][10];	//100个人的姓名</a:t>
            </a:r>
          </a:p>
          <a:p>
            <a:pPr marL="0" indent="0">
              <a:buNone/>
            </a:pPr>
            <a:r>
              <a:rPr lang="zh-CN" altLang="en-US" sz="2400" dirty="0"/>
              <a:t>int math[100];		//100个人的数学成绩</a:t>
            </a:r>
          </a:p>
          <a:p>
            <a:pPr marL="0" indent="0">
              <a:buNone/>
            </a:pPr>
            <a:r>
              <a:rPr lang="zh-CN" altLang="en-US" sz="2400" dirty="0"/>
              <a:t>int english[100];		//100个人的英语成绩</a:t>
            </a:r>
          </a:p>
          <a:p>
            <a:pPr marL="0" indent="0">
              <a:buNone/>
            </a:pPr>
            <a:r>
              <a:rPr lang="zh-CN" altLang="en-US" sz="2400" dirty="0"/>
              <a:t>int computer[100];	</a:t>
            </a:r>
            <a:r>
              <a:rPr lang="zh-CN" altLang="en-US" sz="2400" dirty="0" smtClean="0"/>
              <a:t>           //</a:t>
            </a:r>
            <a:r>
              <a:rPr lang="zh-CN" altLang="en-US" sz="2400" dirty="0"/>
              <a:t>100个人的计算机成绩</a:t>
            </a:r>
          </a:p>
          <a:p>
            <a:pPr marL="0" indent="0">
              <a:buNone/>
            </a:pPr>
            <a:r>
              <a:rPr lang="zh-CN" altLang="en-US" sz="2400" dirty="0"/>
              <a:t>double average[100];	//100个人的平均分</a:t>
            </a:r>
          </a:p>
        </p:txBody>
      </p:sp>
      <p:pic>
        <p:nvPicPr>
          <p:cNvPr id="11" name="图片 10"/>
          <p:cNvPicPr>
            <a:picLocks noChangeAspect="1"/>
          </p:cNvPicPr>
          <p:nvPr/>
        </p:nvPicPr>
        <p:blipFill>
          <a:blip r:embed="rId2"/>
          <a:stretch>
            <a:fillRect/>
          </a:stretch>
        </p:blipFill>
        <p:spPr>
          <a:xfrm>
            <a:off x="1330960" y="4828540"/>
            <a:ext cx="6717030" cy="17627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p:cNvSpPr>
          <p:nvPr>
            <p:ph idx="1"/>
          </p:nvPr>
        </p:nvSpPr>
        <p:spPr>
          <a:xfrm>
            <a:off x="682308" y="1554798"/>
            <a:ext cx="7772400" cy="576262"/>
          </a:xfrm>
        </p:spPr>
        <p:txBody>
          <a:bodyPr vert="horz" wrap="square" lIns="91440" tIns="45720" rIns="91440" bIns="45720" anchor="t"/>
          <a:lstStyle/>
          <a:p>
            <a:pPr eaLnBrk="1" hangingPunct="1"/>
            <a:r>
              <a:rPr lang="zh-CN" altLang="en-US" dirty="0">
                <a:latin typeface="楷体_GB2312" panose="02010609030101010101" pitchFamily="49" charset="-122"/>
              </a:rPr>
              <a:t>数据的内存管理方式 </a:t>
            </a:r>
          </a:p>
        </p:txBody>
      </p:sp>
      <p:sp>
        <p:nvSpPr>
          <p:cNvPr id="12291" name="Rectangle 55"/>
          <p:cNvSpPr>
            <a:spLocks noGrp="1"/>
          </p:cNvSpPr>
          <p:nvPr>
            <p:ph type="title"/>
          </p:nvPr>
        </p:nvSpPr>
        <p:spPr>
          <a:xfrm>
            <a:off x="755576" y="789013"/>
            <a:ext cx="7797800" cy="839787"/>
          </a:xfrm>
        </p:spPr>
        <p:txBody>
          <a:bodyPr vert="horz" wrap="square" lIns="91440" tIns="45720" rIns="91440" bIns="45720" anchor="ctr"/>
          <a:lstStyle/>
          <a:p>
            <a:pPr eaLnBrk="1" hangingPunct="1"/>
            <a:r>
              <a:rPr lang="zh-CN" altLang="en-US" dirty="0"/>
              <a:t>数组的解决方法</a:t>
            </a:r>
          </a:p>
        </p:txBody>
      </p:sp>
      <p:sp>
        <p:nvSpPr>
          <p:cNvPr id="718852" name="Rectangle 4"/>
          <p:cNvSpPr/>
          <p:nvPr/>
        </p:nvSpPr>
        <p:spPr>
          <a:xfrm>
            <a:off x="2045018" y="5495608"/>
            <a:ext cx="4822825" cy="1225550"/>
          </a:xfrm>
          <a:prstGeom prst="rect">
            <a:avLst/>
          </a:prstGeom>
          <a:solidFill>
            <a:srgbClr val="FFFF99"/>
          </a:solidFill>
          <a:ln w="38100" cap="flat" cmpd="sng">
            <a:solidFill>
              <a:srgbClr val="33CC33"/>
            </a:solidFill>
            <a:prstDash val="solid"/>
            <a:miter/>
            <a:headEnd type="none" w="sm" len="sm"/>
            <a:tailEnd type="none" w="sm" len="sm"/>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0"/>
              </a:spcBef>
              <a:buClr>
                <a:srgbClr val="000000"/>
              </a:buClr>
              <a:buNone/>
            </a:pPr>
            <a:r>
              <a:rPr lang="zh-CN" altLang="en-US" sz="2400" dirty="0">
                <a:solidFill>
                  <a:srgbClr val="000066"/>
                </a:solidFill>
                <a:latin typeface="Times New Roman" panose="02020603050405020304" pitchFamily="18" charset="0"/>
                <a:ea typeface="楷体_GB2312" panose="02010609030101010101" pitchFamily="49" charset="-122"/>
              </a:rPr>
              <a:t>分配内存不集中，寻址效率不高 </a:t>
            </a:r>
          </a:p>
          <a:p>
            <a:pPr marL="0" lvl="0" indent="0" eaLnBrk="1" hangingPunct="1">
              <a:spcBef>
                <a:spcPct val="0"/>
              </a:spcBef>
              <a:buClr>
                <a:srgbClr val="000000"/>
              </a:buClr>
              <a:buNone/>
            </a:pPr>
            <a:r>
              <a:rPr lang="zh-CN" altLang="en-US" sz="2400" dirty="0">
                <a:solidFill>
                  <a:srgbClr val="000066"/>
                </a:solidFill>
                <a:latin typeface="Times New Roman" panose="02020603050405020304" pitchFamily="18" charset="0"/>
                <a:ea typeface="楷体_GB2312" panose="02010609030101010101" pitchFamily="49" charset="-122"/>
              </a:rPr>
              <a:t>对数组赋初值时，易发生错位  </a:t>
            </a:r>
          </a:p>
          <a:p>
            <a:pPr marL="0" lvl="0" indent="0" eaLnBrk="1" hangingPunct="1">
              <a:spcBef>
                <a:spcPct val="0"/>
              </a:spcBef>
              <a:buClr>
                <a:srgbClr val="000000"/>
              </a:buClr>
              <a:buNone/>
            </a:pPr>
            <a:r>
              <a:rPr lang="zh-CN" altLang="en-US" sz="2400" dirty="0">
                <a:solidFill>
                  <a:srgbClr val="000066"/>
                </a:solidFill>
                <a:latin typeface="Times New Roman" panose="02020603050405020304" pitchFamily="18" charset="0"/>
                <a:ea typeface="楷体_GB2312" panose="02010609030101010101" pitchFamily="49" charset="-122"/>
              </a:rPr>
              <a:t>结构显得零散，不易管理</a:t>
            </a:r>
          </a:p>
        </p:txBody>
      </p:sp>
      <p:pic>
        <p:nvPicPr>
          <p:cNvPr id="4" name="图片 3"/>
          <p:cNvPicPr>
            <a:picLocks noChangeAspect="1"/>
          </p:cNvPicPr>
          <p:nvPr/>
        </p:nvPicPr>
        <p:blipFill>
          <a:blip r:embed="rId2"/>
          <a:stretch>
            <a:fillRect/>
          </a:stretch>
        </p:blipFill>
        <p:spPr>
          <a:xfrm>
            <a:off x="2343785" y="2056130"/>
            <a:ext cx="4112260" cy="34397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8852"/>
                                        </p:tgtEl>
                                        <p:attrNameLst>
                                          <p:attrName>style.visibility</p:attrName>
                                        </p:attrNameLst>
                                      </p:cBhvr>
                                      <p:to>
                                        <p:strVal val="visible"/>
                                      </p:to>
                                    </p:set>
                                    <p:anim calcmode="lin" valueType="num">
                                      <p:cBhvr>
                                        <p:cTn id="7" dur="500" fill="hold"/>
                                        <p:tgtEl>
                                          <p:spTgt spid="718852"/>
                                        </p:tgtEl>
                                        <p:attrNameLst>
                                          <p:attrName>ppt_w</p:attrName>
                                        </p:attrNameLst>
                                      </p:cBhvr>
                                      <p:tavLst>
                                        <p:tav tm="0">
                                          <p:val>
                                            <p:fltVal val="0"/>
                                          </p:val>
                                        </p:tav>
                                        <p:tav tm="100000">
                                          <p:val>
                                            <p:strVal val="#ppt_w"/>
                                          </p:val>
                                        </p:tav>
                                      </p:tavLst>
                                    </p:anim>
                                    <p:anim calcmode="lin" valueType="num">
                                      <p:cBhvr>
                                        <p:cTn id="8" dur="500" fill="hold"/>
                                        <p:tgtEl>
                                          <p:spTgt spid="718852"/>
                                        </p:tgtEl>
                                        <p:attrNameLst>
                                          <p:attrName>ppt_h</p:attrName>
                                        </p:attrNameLst>
                                      </p:cBhvr>
                                      <p:tavLst>
                                        <p:tav tm="0">
                                          <p:val>
                                            <p:fltVal val="0"/>
                                          </p:val>
                                        </p:tav>
                                        <p:tav tm="100000">
                                          <p:val>
                                            <p:strVal val="#ppt_h"/>
                                          </p:val>
                                        </p:tav>
                                      </p:tavLst>
                                    </p:anim>
                                    <p:animEffect transition="in" filter="fade">
                                      <p:cBhvr>
                                        <p:cTn id="9" dur="500"/>
                                        <p:tgtEl>
                                          <p:spTgt spid="718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2"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结构体</a:t>
            </a:r>
            <a:r>
              <a:rPr lang="zh-CN" altLang="en-US" dirty="0"/>
              <a:t>类型</a:t>
            </a:r>
          </a:p>
        </p:txBody>
      </p:sp>
      <p:sp>
        <p:nvSpPr>
          <p:cNvPr id="3" name="内容占位符 2"/>
          <p:cNvSpPr>
            <a:spLocks noGrp="1"/>
          </p:cNvSpPr>
          <p:nvPr>
            <p:ph idx="1"/>
          </p:nvPr>
        </p:nvSpPr>
        <p:spPr/>
        <p:txBody>
          <a:bodyPr/>
          <a:lstStyle/>
          <a:p>
            <a:r>
              <a:rPr lang="zh-CN" altLang="en-US" sz="2400"/>
              <a:t>为了解决类似的需要程序处理复杂数据的需求，C语言给出了一种构造数据类型——结构体，它允许用户根据具体问题利用已有的基本数据类型来构造自己所需的数据类型。例如，我们可以构造一个结构体类型来表示每一行（即每一个学生）的信息，这个结构体包含6个不同类型的成员</a:t>
            </a:r>
          </a:p>
          <a:p>
            <a:endParaRPr lang="zh-CN" altLang="en-US" sz="2400"/>
          </a:p>
        </p:txBody>
      </p:sp>
      <p:graphicFrame>
        <p:nvGraphicFramePr>
          <p:cNvPr id="7" name="表格 6"/>
          <p:cNvGraphicFramePr>
            <a:graphicFrameLocks noGrp="1"/>
          </p:cNvGraphicFramePr>
          <p:nvPr>
            <p:extLst>
              <p:ext uri="{D42A27DB-BD31-4B8C-83A1-F6EECF244321}">
                <p14:modId xmlns:p14="http://schemas.microsoft.com/office/powerpoint/2010/main" val="1185293961"/>
              </p:ext>
            </p:extLst>
          </p:nvPr>
        </p:nvGraphicFramePr>
        <p:xfrm>
          <a:off x="899592" y="4398249"/>
          <a:ext cx="8202495" cy="741680"/>
        </p:xfrm>
        <a:graphic>
          <a:graphicData uri="http://schemas.openxmlformats.org/drawingml/2006/table">
            <a:tbl>
              <a:tblPr firstRow="1" bandRow="1">
                <a:tableStyleId>{5C22544A-7EE6-4342-B048-85BDC9FD1C3A}</a:tableStyleId>
              </a:tblPr>
              <a:tblGrid>
                <a:gridCol w="990647">
                  <a:extLst>
                    <a:ext uri="{9D8B030D-6E8A-4147-A177-3AD203B41FA5}">
                      <a16:colId xmlns:a16="http://schemas.microsoft.com/office/drawing/2014/main" val="1694150606"/>
                    </a:ext>
                  </a:extLst>
                </a:gridCol>
                <a:gridCol w="1556842">
                  <a:extLst>
                    <a:ext uri="{9D8B030D-6E8A-4147-A177-3AD203B41FA5}">
                      <a16:colId xmlns:a16="http://schemas.microsoft.com/office/drawing/2014/main" val="3000951081"/>
                    </a:ext>
                  </a:extLst>
                </a:gridCol>
                <a:gridCol w="1061483">
                  <a:extLst>
                    <a:ext uri="{9D8B030D-6E8A-4147-A177-3AD203B41FA5}">
                      <a16:colId xmlns:a16="http://schemas.microsoft.com/office/drawing/2014/main" val="2301394979"/>
                    </a:ext>
                  </a:extLst>
                </a:gridCol>
                <a:gridCol w="1273780">
                  <a:extLst>
                    <a:ext uri="{9D8B030D-6E8A-4147-A177-3AD203B41FA5}">
                      <a16:colId xmlns:a16="http://schemas.microsoft.com/office/drawing/2014/main" val="3658960331"/>
                    </a:ext>
                  </a:extLst>
                </a:gridCol>
                <a:gridCol w="1486076">
                  <a:extLst>
                    <a:ext uri="{9D8B030D-6E8A-4147-A177-3AD203B41FA5}">
                      <a16:colId xmlns:a16="http://schemas.microsoft.com/office/drawing/2014/main" val="2127875942"/>
                    </a:ext>
                  </a:extLst>
                </a:gridCol>
                <a:gridCol w="1833667">
                  <a:extLst>
                    <a:ext uri="{9D8B030D-6E8A-4147-A177-3AD203B41FA5}">
                      <a16:colId xmlns:a16="http://schemas.microsoft.com/office/drawing/2014/main" val="3017758613"/>
                    </a:ext>
                  </a:extLst>
                </a:gridCol>
              </a:tblGrid>
              <a:tr h="370840">
                <a:tc>
                  <a:txBody>
                    <a:bodyPr/>
                    <a:lstStyle/>
                    <a:p>
                      <a:pPr algn="ctr"/>
                      <a:r>
                        <a:rPr lang="zh-CN" altLang="en-US" dirty="0" smtClean="0"/>
                        <a:t>学号</a:t>
                      </a:r>
                      <a:endParaRPr lang="zh-CN" altLang="en-US" dirty="0"/>
                    </a:p>
                  </a:txBody>
                  <a:tcPr/>
                </a:tc>
                <a:tc>
                  <a:txBody>
                    <a:bodyPr/>
                    <a:lstStyle/>
                    <a:p>
                      <a:pPr algn="ctr"/>
                      <a:r>
                        <a:rPr lang="zh-CN" altLang="en-US" dirty="0" smtClean="0"/>
                        <a:t>姓名</a:t>
                      </a:r>
                      <a:endParaRPr lang="zh-CN" altLang="en-US" dirty="0"/>
                    </a:p>
                  </a:txBody>
                  <a:tcPr/>
                </a:tc>
                <a:tc>
                  <a:txBody>
                    <a:bodyPr/>
                    <a:lstStyle/>
                    <a:p>
                      <a:pPr algn="ctr"/>
                      <a:r>
                        <a:rPr lang="zh-CN" altLang="en-US" dirty="0" smtClean="0"/>
                        <a:t>数学</a:t>
                      </a:r>
                      <a:endParaRPr lang="zh-CN" altLang="en-US" dirty="0"/>
                    </a:p>
                  </a:txBody>
                  <a:tcPr/>
                </a:tc>
                <a:tc>
                  <a:txBody>
                    <a:bodyPr/>
                    <a:lstStyle/>
                    <a:p>
                      <a:pPr algn="ctr"/>
                      <a:r>
                        <a:rPr lang="zh-CN" altLang="en-US" dirty="0" smtClean="0"/>
                        <a:t>英语</a:t>
                      </a:r>
                      <a:endParaRPr lang="zh-CN" altLang="en-US" dirty="0"/>
                    </a:p>
                  </a:txBody>
                  <a:tcPr/>
                </a:tc>
                <a:tc>
                  <a:txBody>
                    <a:bodyPr/>
                    <a:lstStyle/>
                    <a:p>
                      <a:pPr algn="ctr"/>
                      <a:r>
                        <a:rPr lang="en-US" altLang="zh-CN" dirty="0" smtClean="0"/>
                        <a:t>C</a:t>
                      </a:r>
                      <a:r>
                        <a:rPr lang="zh-CN" altLang="en-US" dirty="0" smtClean="0"/>
                        <a:t>语言</a:t>
                      </a:r>
                      <a:endParaRPr lang="zh-CN" altLang="en-US" dirty="0"/>
                    </a:p>
                  </a:txBody>
                  <a:tcPr/>
                </a:tc>
                <a:tc>
                  <a:txBody>
                    <a:bodyPr/>
                    <a:lstStyle/>
                    <a:p>
                      <a:pPr algn="ctr"/>
                      <a:r>
                        <a:rPr lang="zh-CN" altLang="en-US" dirty="0" smtClean="0"/>
                        <a:t>平均分</a:t>
                      </a:r>
                      <a:endParaRPr lang="zh-CN" altLang="en-US" dirty="0"/>
                    </a:p>
                  </a:txBody>
                  <a:tcPr/>
                </a:tc>
                <a:extLst>
                  <a:ext uri="{0D108BD9-81ED-4DB2-BD59-A6C34878D82A}">
                    <a16:rowId xmlns:a16="http://schemas.microsoft.com/office/drawing/2014/main" val="2392369063"/>
                  </a:ext>
                </a:extLst>
              </a:tr>
              <a:tr h="370840">
                <a:tc>
                  <a:txBody>
                    <a:bodyPr/>
                    <a:lstStyle/>
                    <a:p>
                      <a:r>
                        <a:rPr lang="en-US" altLang="zh-CN" sz="1600" b="1" dirty="0" err="1" smtClean="0"/>
                        <a:t>int</a:t>
                      </a:r>
                      <a:r>
                        <a:rPr lang="en-US" altLang="zh-CN" sz="1600" b="1" baseline="0" dirty="0" smtClean="0"/>
                        <a:t> </a:t>
                      </a:r>
                      <a:r>
                        <a:rPr lang="en-US" altLang="zh-CN" sz="1600" b="1" baseline="0" dirty="0" err="1" smtClean="0"/>
                        <a:t>num</a:t>
                      </a:r>
                      <a:endParaRPr lang="zh-CN" altLang="en-US" sz="1600" b="1" dirty="0"/>
                    </a:p>
                  </a:txBody>
                  <a:tcPr/>
                </a:tc>
                <a:tc>
                  <a:txBody>
                    <a:bodyPr/>
                    <a:lstStyle/>
                    <a:p>
                      <a:r>
                        <a:rPr lang="en-US" altLang="zh-CN" sz="1600" b="1" dirty="0" smtClean="0"/>
                        <a:t>char</a:t>
                      </a:r>
                      <a:r>
                        <a:rPr lang="en-US" altLang="zh-CN" sz="1600" b="1" baseline="0" dirty="0" smtClean="0"/>
                        <a:t> name[10]</a:t>
                      </a:r>
                      <a:endParaRPr lang="zh-CN" altLang="en-US" sz="1600" b="1" dirty="0"/>
                    </a:p>
                  </a:txBody>
                  <a:tcPr/>
                </a:tc>
                <a:tc>
                  <a:txBody>
                    <a:bodyPr/>
                    <a:lstStyle/>
                    <a:p>
                      <a:r>
                        <a:rPr lang="en-US" altLang="zh-CN" sz="1600" b="1" dirty="0" err="1" smtClean="0"/>
                        <a:t>int</a:t>
                      </a:r>
                      <a:r>
                        <a:rPr lang="en-US" altLang="zh-CN" sz="1600" b="1" baseline="0" dirty="0" smtClean="0"/>
                        <a:t> math</a:t>
                      </a:r>
                      <a:endParaRPr lang="zh-CN" altLang="en-US" sz="1600" b="1" dirty="0"/>
                    </a:p>
                  </a:txBody>
                  <a:tcPr/>
                </a:tc>
                <a:tc>
                  <a:txBody>
                    <a:bodyPr/>
                    <a:lstStyle/>
                    <a:p>
                      <a:r>
                        <a:rPr lang="en-US" altLang="zh-CN" sz="1600" b="1" dirty="0" err="1" smtClean="0"/>
                        <a:t>int</a:t>
                      </a:r>
                      <a:r>
                        <a:rPr lang="en-US" altLang="zh-CN" sz="1600" b="1" baseline="0" dirty="0" smtClean="0"/>
                        <a:t> </a:t>
                      </a:r>
                      <a:r>
                        <a:rPr lang="en-US" altLang="zh-CN" sz="1600" b="1" baseline="0" dirty="0" err="1" smtClean="0"/>
                        <a:t>english</a:t>
                      </a:r>
                      <a:endParaRPr lang="zh-CN" altLang="en-US" sz="1600" b="1" dirty="0"/>
                    </a:p>
                  </a:txBody>
                  <a:tcPr/>
                </a:tc>
                <a:tc>
                  <a:txBody>
                    <a:bodyPr/>
                    <a:lstStyle/>
                    <a:p>
                      <a:r>
                        <a:rPr lang="en-US" altLang="zh-CN" sz="1600" b="1" dirty="0" err="1" smtClean="0"/>
                        <a:t>int</a:t>
                      </a:r>
                      <a:r>
                        <a:rPr lang="en-US" altLang="zh-CN" sz="1600" b="1" dirty="0" smtClean="0"/>
                        <a:t> computer</a:t>
                      </a:r>
                      <a:endParaRPr lang="zh-CN" altLang="en-US" sz="1600" b="1" dirty="0"/>
                    </a:p>
                  </a:txBody>
                  <a:tcPr/>
                </a:tc>
                <a:tc>
                  <a:txBody>
                    <a:bodyPr/>
                    <a:lstStyle/>
                    <a:p>
                      <a:r>
                        <a:rPr lang="en-US" altLang="zh-CN" sz="1600" b="1" dirty="0" smtClean="0"/>
                        <a:t>double average</a:t>
                      </a:r>
                      <a:endParaRPr lang="zh-CN" altLang="en-US" sz="1600" b="1" dirty="0"/>
                    </a:p>
                  </a:txBody>
                  <a:tcPr/>
                </a:tc>
                <a:extLst>
                  <a:ext uri="{0D108BD9-81ED-4DB2-BD59-A6C34878D82A}">
                    <a16:rowId xmlns:a16="http://schemas.microsoft.com/office/drawing/2014/main" val="3463694990"/>
                  </a:ext>
                </a:extLst>
              </a:tr>
            </a:tbl>
          </a:graphicData>
        </a:graphic>
      </p:graphicFrame>
      <p:sp>
        <p:nvSpPr>
          <p:cNvPr id="8" name="矩形 7"/>
          <p:cNvSpPr/>
          <p:nvPr/>
        </p:nvSpPr>
        <p:spPr bwMode="auto">
          <a:xfrm>
            <a:off x="3203848" y="3959404"/>
            <a:ext cx="2304256" cy="288032"/>
          </a:xfrm>
          <a:prstGeom prst="rect">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学生成绩结构体类型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2101058" y="2936082"/>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3200" b="1" dirty="0">
                <a:effectLst>
                  <a:outerShdw blurRad="38100" dist="38100" dir="2700000" algn="tl">
                    <a:srgbClr val="C0C0C0"/>
                  </a:outerShdw>
                </a:effectLst>
                <a:ea typeface="黑体" panose="02010609060101010101" pitchFamily="2" charset="-122"/>
              </a:rPr>
              <a:t/>
            </a:r>
            <a:br>
              <a:rPr lang="zh-CN" altLang="en-US" sz="3200" b="1" dirty="0">
                <a:effectLst>
                  <a:outerShdw blurRad="38100" dist="38100" dir="2700000" algn="tl">
                    <a:srgbClr val="C0C0C0"/>
                  </a:outerShdw>
                </a:effectLst>
                <a:ea typeface="黑体" panose="02010609060101010101" pitchFamily="2" charset="-122"/>
              </a:rPr>
            </a:br>
            <a:r>
              <a:rPr lang="en-US" altLang="zh-CN" sz="3200" b="1" dirty="0" smtClean="0">
                <a:effectLst>
                  <a:outerShdw blurRad="38100" dist="38100" dir="2700000" algn="tl">
                    <a:srgbClr val="C0C0C0"/>
                  </a:outerShdw>
                </a:effectLst>
                <a:ea typeface="黑体" panose="02010609060101010101" pitchFamily="2" charset="-122"/>
              </a:rPr>
              <a:t>6.2.1 </a:t>
            </a:r>
            <a:r>
              <a:rPr lang="zh-CN" altLang="en-US" sz="3200" b="1" dirty="0" smtClean="0">
                <a:effectLst>
                  <a:outerShdw blurRad="38100" dist="38100" dir="2700000" algn="tl">
                    <a:srgbClr val="C0C0C0"/>
                  </a:outerShdw>
                </a:effectLst>
                <a:ea typeface="黑体" panose="02010609060101010101" pitchFamily="2" charset="-122"/>
              </a:rPr>
              <a:t>结构体类型与结构体变量</a:t>
            </a:r>
            <a:endParaRPr lang="zh-CN" altLang="en-US" sz="32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926585691"/>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744220" y="815975"/>
            <a:ext cx="6491288" cy="739775"/>
          </a:xfrm>
        </p:spPr>
        <p:txBody>
          <a:bodyPr vert="horz" wrap="square" lIns="91440" tIns="45720" rIns="91440" bIns="45720" anchor="ctr"/>
          <a:lstStyle/>
          <a:p>
            <a:pPr eaLnBrk="1" hangingPunct="1"/>
            <a:r>
              <a:rPr lang="zh-CN" altLang="en-US" dirty="0"/>
              <a:t>结构体类型定义</a:t>
            </a:r>
          </a:p>
        </p:txBody>
      </p:sp>
      <p:sp>
        <p:nvSpPr>
          <p:cNvPr id="392195" name="Rectangle 3"/>
          <p:cNvSpPr>
            <a:spLocks noGrp="1" noChangeArrowheads="1"/>
          </p:cNvSpPr>
          <p:nvPr>
            <p:ph idx="1"/>
          </p:nvPr>
        </p:nvSpPr>
        <p:spPr>
          <a:xfrm>
            <a:off x="457200" y="1773238"/>
            <a:ext cx="8229600" cy="4895850"/>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结构体类型定义的一般形式为：</a:t>
            </a: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a:t>
            </a:r>
            <a:r>
              <a:rPr kumimoji="0" lang="en-US" altLang="zh-CN" sz="28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rPr>
              <a:t>struct</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a:t>
            </a:r>
            <a:r>
              <a:rPr kumimoji="0" lang="zh-CN" altLang="en-US" sz="2800" b="1" i="0" u="none" strike="noStrike" kern="0" cap="none" spc="0" normalizeH="0" baseline="0" noProof="0" dirty="0" smtClean="0">
                <a:ln>
                  <a:noFill/>
                </a:ln>
                <a:solidFill>
                  <a:srgbClr val="FF3300"/>
                </a:solidFill>
                <a:effectLst>
                  <a:outerShdw blurRad="38100" dist="38100" dir="2700000" algn="tl">
                    <a:srgbClr val="C0C0C0"/>
                  </a:outerShdw>
                </a:effectLst>
                <a:uLnTx/>
                <a:uFillTx/>
                <a:latin typeface="+mn-lt"/>
                <a:ea typeface="+mn-ea"/>
              </a:rPr>
              <a:t>结构体类型名</a:t>
            </a:r>
            <a:endParaRPr kumimoji="0" lang="zh-CN" altLang="en-US" sz="2400" b="1" i="0" u="none" strike="noStrike" kern="1200" cap="none" spc="0" normalizeH="0" baseline="0" dirty="0">
              <a:solidFill>
                <a:schemeClr val="bg2"/>
              </a:solidFill>
              <a:latin typeface="Arial" panose="020B0604020202020204" pitchFamily="34" charset="0"/>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 </a:t>
            </a:r>
            <a:endParaRPr kumimoji="0" lang="zh-CN" altLang="en-US" sz="2400" b="1" i="0" u="none" strike="noStrike" kern="1200" cap="none" spc="0" normalizeH="0" baseline="0" dirty="0">
              <a:solidFill>
                <a:schemeClr val="bg2"/>
              </a:solidFill>
              <a:latin typeface="Arial" panose="020B0604020202020204" pitchFamily="34" charset="0"/>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数据类型 成员</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的名字；</a:t>
            </a:r>
          </a:p>
          <a:p>
            <a:pPr marL="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a:t>
            </a:r>
            <a:r>
              <a:rPr lang="zh-CN" altLang="en-US" sz="2800" noProof="0" dirty="0" smtClean="0">
                <a:ln>
                  <a:noFill/>
                </a:ln>
                <a:solidFill>
                  <a:schemeClr val="tx1"/>
                </a:solidFill>
                <a:uLnTx/>
                <a:uFillTx/>
                <a:sym typeface="+mn-ea"/>
              </a:rPr>
              <a:t>数据类型 成员</a:t>
            </a:r>
            <a:r>
              <a:rPr lang="en-US" altLang="zh-CN" sz="2800" noProof="0" dirty="0" smtClean="0">
                <a:ln>
                  <a:noFill/>
                </a:ln>
                <a:solidFill>
                  <a:schemeClr val="tx1"/>
                </a:solidFill>
                <a:uLnTx/>
                <a:uFillTx/>
                <a:sym typeface="+mn-ea"/>
              </a:rPr>
              <a:t>2</a:t>
            </a:r>
            <a:r>
              <a:rPr lang="zh-CN" altLang="en-US" sz="2800" noProof="0" dirty="0" smtClean="0">
                <a:ln>
                  <a:noFill/>
                </a:ln>
                <a:solidFill>
                  <a:schemeClr val="tx1"/>
                </a:solidFill>
                <a:uLnTx/>
                <a:uFillTx/>
                <a:sym typeface="+mn-ea"/>
              </a:rPr>
              <a:t>的名字；</a:t>
            </a:r>
            <a:endParaRPr kumimoji="0" lang="zh-CN" altLang="en-US" sz="2400" b="1" i="0" u="none" strike="noStrike" kern="1200" cap="none" spc="0" normalizeH="0" baseline="0" dirty="0">
              <a:solidFill>
                <a:schemeClr val="bg2"/>
              </a:solidFill>
              <a:latin typeface="Arial" panose="020B0604020202020204" pitchFamily="34" charset="0"/>
              <a:ea typeface="宋体" panose="02010600030101010101" pitchFamily="2" charset="-122"/>
              <a:cs typeface="+mn-ea"/>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sym typeface="Symbol" panose="05050102010706020507" pitchFamily="18" charset="2"/>
              </a:rPr>
              <a:t>       </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sym typeface="Symbol" panose="05050102010706020507" pitchFamily="18" charset="2"/>
              </a:rPr>
              <a: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sym typeface="Symbol" panose="05050102010706020507" pitchFamily="18" charset="2"/>
              </a:rPr>
              <a:t></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数据类型名 成员名</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n</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的名字；</a:t>
            </a: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rPr>
              <a:t>      };</a:t>
            </a: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endParaRPr>
          </a:p>
        </p:txBody>
      </p:sp>
      <p:sp>
        <p:nvSpPr>
          <p:cNvPr id="392197" name="Rectangle 5"/>
          <p:cNvSpPr>
            <a:spLocks noChangeArrowheads="1"/>
          </p:cNvSpPr>
          <p:nvPr/>
        </p:nvSpPr>
        <p:spPr bwMode="auto">
          <a:xfrm>
            <a:off x="5508625" y="5372100"/>
            <a:ext cx="3455863" cy="1443038"/>
          </a:xfrm>
          <a:prstGeom prst="rect">
            <a:avLst/>
          </a:prstGeom>
          <a:solidFill>
            <a:schemeClr val="bg1"/>
          </a:solidFill>
          <a:ln w="952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marL="0" marR="0" lvl="0" indent="0"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smtClean="0">
                <a:ln>
                  <a:noFill/>
                </a:ln>
                <a:solidFill>
                  <a:srgbClr val="3333FF"/>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结构体</a:t>
            </a:r>
            <a:r>
              <a:rPr kumimoji="0" lang="zh-CN" altLang="en-US" sz="2400" b="1" i="0" u="none" strike="noStrike" kern="1200" cap="none" spc="0" normalizeH="0" baseline="0" dirty="0" smtClean="0">
                <a:solidFill>
                  <a:srgbClr val="3333FF"/>
                </a:solidFill>
                <a:ea typeface="宋体" panose="02010600030101010101" pitchFamily="2" charset="-122"/>
                <a:cs typeface="+mn-ea"/>
              </a:rPr>
              <a:t>的</a:t>
            </a:r>
            <a:r>
              <a:rPr kumimoji="0" lang="zh-CN" altLang="en-US" sz="2400" b="1" i="0" u="none" strike="noStrike" kern="1200" cap="none" spc="0" normalizeH="0" baseline="0" noProof="0" dirty="0" smtClean="0">
                <a:ln>
                  <a:noFill/>
                </a:ln>
                <a:solidFill>
                  <a:srgbClr val="3333FF"/>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定义以分号结束，</a:t>
            </a:r>
            <a:r>
              <a:rPr kumimoji="0" lang="en-US" altLang="zh-CN" sz="2400" b="1" i="0" u="none" strike="noStrike" kern="1200" cap="none" spc="0" normalizeH="0" baseline="0" noProof="0" dirty="0" smtClean="0">
                <a:ln>
                  <a:noFill/>
                </a:ln>
                <a:solidFill>
                  <a:srgbClr val="3333FF"/>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C</a:t>
            </a:r>
            <a:r>
              <a:rPr kumimoji="0" lang="zh-CN" altLang="en-US" sz="2400" b="1" i="0" u="none" strike="noStrike" kern="1200" cap="none" spc="0" normalizeH="0" baseline="0" noProof="0" dirty="0" smtClean="0">
                <a:ln>
                  <a:noFill/>
                </a:ln>
                <a:solidFill>
                  <a:srgbClr val="3333FF"/>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语言中把结构体的定义看作是一条语句</a:t>
            </a:r>
            <a:r>
              <a:rPr kumimoji="0" lang="zh-CN" altLang="en-US" sz="2400" b="1" i="0" u="none" strike="noStrike" kern="1200" cap="none" spc="0" normalizeH="0" baseline="0" noProof="0" dirty="0" smtClean="0">
                <a:ln>
                  <a:noFill/>
                </a:ln>
                <a:solidFill>
                  <a:srgbClr val="3333FF"/>
                </a:solidFill>
                <a:effectLst/>
                <a:uLnTx/>
                <a:uFillTx/>
                <a:latin typeface="宋体" panose="02010600030101010101" pitchFamily="2" charset="-122"/>
                <a:ea typeface="宋体" panose="02010600030101010101" pitchFamily="2" charset="-122"/>
                <a:cs typeface="+mn-cs"/>
              </a:rPr>
              <a:t> </a:t>
            </a:r>
          </a:p>
        </p:txBody>
      </p:sp>
      <p:sp>
        <p:nvSpPr>
          <p:cNvPr id="392198" name="Line 6"/>
          <p:cNvSpPr/>
          <p:nvPr/>
        </p:nvSpPr>
        <p:spPr>
          <a:xfrm flipH="1">
            <a:off x="2051050" y="5661025"/>
            <a:ext cx="3097213" cy="0"/>
          </a:xfrm>
          <a:prstGeom prst="line">
            <a:avLst/>
          </a:prstGeom>
          <a:ln w="19050" cap="flat" cmpd="sng">
            <a:solidFill>
              <a:schemeClr val="bg2"/>
            </a:solidFill>
            <a:prstDash val="solid"/>
            <a:headEnd type="none" w="med" len="med"/>
            <a:tailEnd type="triangle" w="med" len="med"/>
          </a:ln>
        </p:spPr>
      </p:sp>
      <p:sp>
        <p:nvSpPr>
          <p:cNvPr id="392199" name="Rectangle 7"/>
          <p:cNvSpPr/>
          <p:nvPr/>
        </p:nvSpPr>
        <p:spPr>
          <a:xfrm>
            <a:off x="5722813" y="1806796"/>
            <a:ext cx="3241675" cy="1443038"/>
          </a:xfrm>
          <a:prstGeom prst="rect">
            <a:avLst/>
          </a:prstGeom>
          <a:solidFill>
            <a:schemeClr val="bg1"/>
          </a:solidFill>
          <a:ln w="9525" cap="flat" cmpd="sng">
            <a:solidFill>
              <a:schemeClr val="tx1"/>
            </a:solidFill>
            <a:prstDash val="sysDot"/>
            <a:miter/>
            <a:headEnd type="none" w="med" len="med"/>
            <a:tailEnd type="none" w="med" len="med"/>
          </a:ln>
        </p:spPr>
        <p:txBody>
          <a:bodyPr lIns="92075" tIns="46038" rIns="92075" bIns="46038" anchor="ctr"/>
          <a:lstStyle/>
          <a:p>
            <a:pPr lvl="0" eaLnBrk="1" hangingPunct="1"/>
            <a:r>
              <a:rPr lang="zh-CN" altLang="en-US" sz="2400" b="1" dirty="0">
                <a:solidFill>
                  <a:srgbClr val="3333FF"/>
                </a:solidFill>
                <a:latin typeface="Arial" panose="020B0604020202020204" pitchFamily="34" charset="0"/>
                <a:ea typeface="宋体" panose="02010600030101010101" pitchFamily="2" charset="-122"/>
                <a:cs typeface="+mn-ea"/>
              </a:rPr>
              <a:t>关键字struct和它后面的</a:t>
            </a:r>
            <a:r>
              <a:rPr lang="zh-CN" altLang="en-US" sz="2400" b="1" dirty="0" smtClean="0">
                <a:solidFill>
                  <a:srgbClr val="3333FF"/>
                </a:solidFill>
                <a:latin typeface="Arial" panose="020B0604020202020204" pitchFamily="34" charset="0"/>
                <a:ea typeface="宋体" panose="02010600030101010101" pitchFamily="2" charset="-122"/>
                <a:cs typeface="+mn-ea"/>
              </a:rPr>
              <a:t>结构体名</a:t>
            </a:r>
            <a:r>
              <a:rPr lang="zh-CN" altLang="en-US" sz="2400" b="1" dirty="0">
                <a:solidFill>
                  <a:srgbClr val="3333FF"/>
                </a:solidFill>
                <a:latin typeface="Arial" panose="020B0604020202020204" pitchFamily="34" charset="0"/>
                <a:ea typeface="宋体" panose="02010600030101010101" pitchFamily="2" charset="-122"/>
                <a:cs typeface="+mn-ea"/>
              </a:rPr>
              <a:t>一起组成一个新的数据类型名</a:t>
            </a:r>
            <a:r>
              <a:rPr lang="zh-CN" altLang="en-US" sz="2400" b="1" dirty="0">
                <a:solidFill>
                  <a:srgbClr val="3333FF"/>
                </a:solidFill>
                <a:latin typeface="Arial" panose="020B0604020202020204" pitchFamily="34" charset="0"/>
                <a:ea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650" y="836930"/>
            <a:ext cx="7924800" cy="784225"/>
          </a:xfrm>
        </p:spPr>
        <p:txBody>
          <a:bodyPr/>
          <a:lstStyle/>
          <a:p>
            <a:r>
              <a:rPr lang="zh-CN" altLang="en-US" dirty="0">
                <a:sym typeface="+mn-ea"/>
              </a:rPr>
              <a:t>结构体类型定义</a:t>
            </a:r>
            <a:endParaRPr lang="zh-CN" altLang="en-US"/>
          </a:p>
        </p:txBody>
      </p:sp>
      <p:sp>
        <p:nvSpPr>
          <p:cNvPr id="3" name="内容占位符 2"/>
          <p:cNvSpPr>
            <a:spLocks noGrp="1"/>
          </p:cNvSpPr>
          <p:nvPr>
            <p:ph idx="1"/>
          </p:nvPr>
        </p:nvSpPr>
        <p:spPr/>
        <p:txBody>
          <a:bodyPr/>
          <a:lstStyle/>
          <a:p>
            <a:r>
              <a:rPr lang="zh-CN" altLang="en-US" sz="2000" dirty="0"/>
              <a:t>按照这个语法</a:t>
            </a:r>
            <a:r>
              <a:rPr lang="zh-CN" altLang="en-US" sz="2000" dirty="0" smtClean="0"/>
              <a:t>，学生</a:t>
            </a:r>
            <a:r>
              <a:rPr lang="zh-CN" altLang="en-US" sz="2000" dirty="0"/>
              <a:t>数据可以被定义为：</a:t>
            </a:r>
          </a:p>
          <a:p>
            <a:pPr marL="457200" lvl="1" indent="0">
              <a:buNone/>
            </a:pPr>
            <a:r>
              <a:rPr lang="zh-CN" altLang="en-US" sz="1710" dirty="0"/>
              <a:t>struct student{</a:t>
            </a:r>
          </a:p>
          <a:p>
            <a:pPr marL="457200" lvl="1" indent="0">
              <a:buNone/>
            </a:pPr>
            <a:r>
              <a:rPr lang="zh-CN" altLang="en-US" sz="1710" dirty="0"/>
              <a:t>  int num;                   /* 学号 */</a:t>
            </a:r>
          </a:p>
          <a:p>
            <a:pPr marL="457200" lvl="1" indent="0">
              <a:buNone/>
            </a:pPr>
            <a:r>
              <a:rPr lang="zh-CN" altLang="en-US" sz="1710" dirty="0"/>
              <a:t>  char name[10];        /* 姓名 */</a:t>
            </a:r>
          </a:p>
          <a:p>
            <a:pPr marL="457200" lvl="1" indent="0">
              <a:buNone/>
            </a:pPr>
            <a:r>
              <a:rPr lang="zh-CN" altLang="en-US" sz="1710" dirty="0"/>
              <a:t>  int math;                  /* 数学课程成绩 */</a:t>
            </a:r>
          </a:p>
          <a:p>
            <a:pPr marL="457200" lvl="1" indent="0">
              <a:buNone/>
            </a:pPr>
            <a:r>
              <a:rPr lang="zh-CN" altLang="en-US" sz="1710" dirty="0"/>
              <a:t>  int english;              /* 英语课程成绩 */</a:t>
            </a:r>
          </a:p>
          <a:p>
            <a:pPr marL="457200" lvl="1" indent="0">
              <a:buNone/>
            </a:pPr>
            <a:r>
              <a:rPr lang="zh-CN" altLang="en-US" sz="1710" dirty="0"/>
              <a:t>  int computer;          /* 计算机课程成绩 */</a:t>
            </a:r>
          </a:p>
          <a:p>
            <a:pPr marL="457200" lvl="1" indent="0">
              <a:buNone/>
            </a:pPr>
            <a:r>
              <a:rPr lang="zh-CN" altLang="en-US" sz="1710" dirty="0"/>
              <a:t>  double average;     /* 个人平均成绩 */</a:t>
            </a:r>
          </a:p>
          <a:p>
            <a:pPr marL="457200" lvl="1" indent="0">
              <a:buNone/>
            </a:pPr>
            <a:r>
              <a:rPr lang="zh-CN" altLang="en-US" sz="1710" dirty="0"/>
              <a:t>};</a:t>
            </a:r>
          </a:p>
          <a:p>
            <a:pPr marL="342900" indent="-342900"/>
            <a:r>
              <a:rPr lang="zh-CN" altLang="en-US" sz="2000" dirty="0"/>
              <a:t>其中的三门课程成绩是同类型的，也可以写作一行</a:t>
            </a:r>
          </a:p>
          <a:p>
            <a:pPr marL="0" indent="0">
              <a:buNone/>
            </a:pPr>
            <a:r>
              <a:rPr lang="zh-CN" altLang="en-US" sz="2000" dirty="0"/>
              <a:t>      int math,english,computer;   /* 三门课程成绩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745008" y="815975"/>
            <a:ext cx="6491288" cy="739775"/>
          </a:xfrm>
        </p:spPr>
        <p:txBody>
          <a:bodyPr vert="horz" wrap="square" lIns="91440" tIns="45720" rIns="91440" bIns="45720" anchor="ctr"/>
          <a:lstStyle/>
          <a:p>
            <a:pPr eaLnBrk="1" hangingPunct="1"/>
            <a:r>
              <a:rPr lang="zh-CN" altLang="en-US" dirty="0"/>
              <a:t>结构体与数组的区别</a:t>
            </a:r>
          </a:p>
        </p:txBody>
      </p:sp>
      <p:sp>
        <p:nvSpPr>
          <p:cNvPr id="391171" name="Rectangle 3"/>
          <p:cNvSpPr>
            <a:spLocks noGrp="1"/>
          </p:cNvSpPr>
          <p:nvPr>
            <p:ph idx="1"/>
          </p:nvPr>
        </p:nvSpPr>
        <p:spPr>
          <a:xfrm>
            <a:off x="672465" y="1486535"/>
            <a:ext cx="8110855" cy="4895850"/>
          </a:xfrm>
        </p:spPr>
        <p:txBody>
          <a:bodyPr vert="horz" wrap="square" lIns="91440" tIns="45720" rIns="91440" bIns="45720" anchor="t"/>
          <a:lstStyle/>
          <a:p>
            <a:pPr eaLnBrk="1" hangingPunct="1">
              <a:lnSpc>
                <a:spcPct val="80000"/>
              </a:lnSpc>
            </a:pPr>
            <a:endParaRPr lang="zh-CN" altLang="en-US" sz="2400" dirty="0"/>
          </a:p>
          <a:p>
            <a:pPr eaLnBrk="1" hangingPunct="1">
              <a:lnSpc>
                <a:spcPct val="100000"/>
              </a:lnSpc>
            </a:pPr>
            <a:r>
              <a:rPr lang="zh-CN" altLang="en-US" sz="2800" dirty="0" smtClean="0"/>
              <a:t>结构体是</a:t>
            </a:r>
            <a:r>
              <a:rPr lang="en-US" altLang="zh-CN" sz="2800" dirty="0"/>
              <a:t>C</a:t>
            </a:r>
            <a:r>
              <a:rPr lang="zh-CN" altLang="en-US" sz="2800" dirty="0"/>
              <a:t>语言中一种新的</a:t>
            </a:r>
            <a:r>
              <a:rPr lang="zh-CN" altLang="en-US" sz="2800" dirty="0">
                <a:solidFill>
                  <a:srgbClr val="CC0066"/>
                </a:solidFill>
              </a:rPr>
              <a:t>构造数据类型</a:t>
            </a:r>
            <a:r>
              <a:rPr lang="zh-CN" altLang="en-US" sz="2800" dirty="0"/>
              <a:t>，它能够把有内在联系的</a:t>
            </a:r>
            <a:r>
              <a:rPr lang="zh-CN" altLang="en-US" sz="2800" dirty="0">
                <a:solidFill>
                  <a:srgbClr val="CC0066"/>
                </a:solidFill>
              </a:rPr>
              <a:t>不同类型的数据</a:t>
            </a:r>
            <a:r>
              <a:rPr lang="zh-CN" altLang="en-US" sz="2800" dirty="0"/>
              <a:t>统一成一个整体，使它们相互关联</a:t>
            </a:r>
          </a:p>
          <a:p>
            <a:pPr marL="0" indent="0" eaLnBrk="1" hangingPunct="1">
              <a:lnSpc>
                <a:spcPct val="80000"/>
              </a:lnSpc>
              <a:buNone/>
            </a:pPr>
            <a:endParaRPr lang="zh-CN" altLang="en-US" sz="2800" dirty="0"/>
          </a:p>
          <a:p>
            <a:pPr lvl="1" eaLnBrk="1" hangingPunct="1">
              <a:lnSpc>
                <a:spcPct val="80000"/>
              </a:lnSpc>
            </a:pPr>
            <a:r>
              <a:rPr lang="zh-CN" altLang="en-US" dirty="0">
                <a:sym typeface="+mn-ea"/>
              </a:rPr>
              <a:t>相同点：</a:t>
            </a:r>
            <a:r>
              <a:rPr lang="zh-CN" altLang="en-US" dirty="0" smtClean="0">
                <a:sym typeface="+mn-ea"/>
              </a:rPr>
              <a:t>结构体与</a:t>
            </a:r>
            <a:r>
              <a:rPr lang="zh-CN" altLang="en-US" dirty="0">
                <a:sym typeface="+mn-ea"/>
              </a:rPr>
              <a:t>数组</a:t>
            </a:r>
            <a:r>
              <a:rPr lang="zh-CN" altLang="en-US" dirty="0">
                <a:cs typeface="+mn-cs"/>
                <a:sym typeface="+mn-ea"/>
              </a:rPr>
              <a:t>都是构造类型，是多个变量的集合</a:t>
            </a:r>
          </a:p>
          <a:p>
            <a:pPr lvl="1" eaLnBrk="1" hangingPunct="1">
              <a:lnSpc>
                <a:spcPct val="80000"/>
              </a:lnSpc>
            </a:pPr>
            <a:r>
              <a:rPr lang="zh-CN" altLang="en-US" dirty="0">
                <a:cs typeface="+mn-cs"/>
                <a:sym typeface="+mn-ea"/>
              </a:rPr>
              <a:t>不同点：数组成员类型相同，</a:t>
            </a:r>
            <a:r>
              <a:rPr lang="zh-CN" altLang="en-US" dirty="0" smtClean="0">
                <a:cs typeface="+mn-cs"/>
                <a:sym typeface="+mn-ea"/>
              </a:rPr>
              <a:t>结构体成员类型可不同</a:t>
            </a:r>
            <a:endParaRPr lang="zh-CN" altLang="en-US" dirty="0">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1"/>
          <p:cNvSpPr>
            <a:spLocks noGrp="1"/>
          </p:cNvSpPr>
          <p:nvPr>
            <p:ph type="title"/>
          </p:nvPr>
        </p:nvSpPr>
        <p:spPr>
          <a:xfrm>
            <a:off x="744220" y="815975"/>
            <a:ext cx="7067550" cy="739775"/>
          </a:xfrm>
        </p:spPr>
        <p:txBody>
          <a:bodyPr vert="horz" wrap="square" lIns="91440" tIns="45720" rIns="91440" bIns="45720" anchor="ctr"/>
          <a:lstStyle/>
          <a:p>
            <a:pPr eaLnBrk="1" hangingPunct="1"/>
            <a:r>
              <a:rPr lang="zh-CN" altLang="en-US" dirty="0" smtClean="0"/>
              <a:t>结构体变量</a:t>
            </a:r>
            <a:r>
              <a:rPr lang="zh-CN" altLang="en-US" dirty="0"/>
              <a:t>的定义和初始化</a:t>
            </a:r>
          </a:p>
        </p:txBody>
      </p:sp>
      <p:sp>
        <p:nvSpPr>
          <p:cNvPr id="229388" name="Rectangle 12"/>
          <p:cNvSpPr>
            <a:spLocks noGrp="1"/>
          </p:cNvSpPr>
          <p:nvPr>
            <p:ph idx="1"/>
          </p:nvPr>
        </p:nvSpPr>
        <p:spPr>
          <a:xfrm>
            <a:off x="539552" y="1555115"/>
            <a:ext cx="8712967" cy="4681538"/>
          </a:xfrm>
        </p:spPr>
        <p:txBody>
          <a:bodyPr vert="horz" wrap="square" lIns="91440" tIns="45720" rIns="91440" bIns="45720" anchor="t"/>
          <a:lstStyle/>
          <a:p>
            <a:pPr eaLnBrk="1" hangingPunct="1"/>
            <a:r>
              <a:rPr lang="zh-CN" altLang="en-US" dirty="0">
                <a:latin typeface="宋体" panose="02010600030101010101" pitchFamily="2" charset="-122"/>
              </a:rPr>
              <a:t>在Ｃ语言中定义</a:t>
            </a:r>
            <a:r>
              <a:rPr lang="zh-CN" altLang="en-US" dirty="0" smtClean="0">
                <a:latin typeface="宋体" panose="02010600030101010101" pitchFamily="2" charset="-122"/>
              </a:rPr>
              <a:t>结构体变量</a:t>
            </a:r>
            <a:r>
              <a:rPr lang="zh-CN" altLang="en-US" dirty="0">
                <a:latin typeface="宋体" panose="02010600030101010101" pitchFamily="2" charset="-122"/>
              </a:rPr>
              <a:t>的方式有三种： </a:t>
            </a:r>
          </a:p>
          <a:p>
            <a:pPr lvl="1" eaLnBrk="1" hangingPunct="1">
              <a:buSzPct val="50000"/>
              <a:buNone/>
            </a:pPr>
            <a:r>
              <a:rPr lang="en-US" altLang="zh-CN" dirty="0"/>
              <a:t>1.</a:t>
            </a:r>
            <a:r>
              <a:rPr lang="zh-CN" altLang="en-US" dirty="0"/>
              <a:t>先定义一个</a:t>
            </a:r>
            <a:r>
              <a:rPr lang="zh-CN" altLang="en-US" dirty="0" smtClean="0"/>
              <a:t>结构体类型</a:t>
            </a:r>
            <a:r>
              <a:rPr lang="zh-CN" altLang="en-US" dirty="0"/>
              <a:t>，再定义具有这种</a:t>
            </a:r>
            <a:r>
              <a:rPr lang="zh-CN" altLang="en-US" dirty="0" smtClean="0"/>
              <a:t>结构体类型</a:t>
            </a:r>
            <a:r>
              <a:rPr lang="zh-CN" altLang="en-US" dirty="0"/>
              <a:t>的变量 </a:t>
            </a:r>
          </a:p>
          <a:p>
            <a:pPr lvl="1" eaLnBrk="1" hangingPunct="1">
              <a:buNone/>
            </a:pPr>
            <a:r>
              <a:rPr lang="en-US" altLang="zh-CN" sz="2400" dirty="0">
                <a:solidFill>
                  <a:srgbClr val="D60093"/>
                </a:solidFill>
              </a:rPr>
              <a:t>struct student</a:t>
            </a:r>
            <a:r>
              <a:rPr lang="en-US" altLang="zh-CN" sz="2400" dirty="0"/>
              <a:t>{</a:t>
            </a:r>
          </a:p>
          <a:p>
            <a:pPr lvl="1" eaLnBrk="1" hangingPunct="1">
              <a:buNone/>
            </a:pPr>
            <a:r>
              <a:rPr lang="en-US" altLang="zh-CN" sz="2400" dirty="0"/>
              <a:t>  int num;                   /* </a:t>
            </a:r>
            <a:r>
              <a:rPr lang="zh-CN" altLang="en-US" sz="2400" dirty="0"/>
              <a:t>学号 *</a:t>
            </a:r>
            <a:r>
              <a:rPr lang="en-US" altLang="zh-CN" sz="2400" dirty="0"/>
              <a:t>/</a:t>
            </a:r>
          </a:p>
          <a:p>
            <a:pPr lvl="1" eaLnBrk="1" hangingPunct="1">
              <a:buNone/>
            </a:pPr>
            <a:r>
              <a:rPr lang="en-US" altLang="zh-CN" sz="2400" dirty="0"/>
              <a:t>  char name[10];             /* </a:t>
            </a:r>
            <a:r>
              <a:rPr lang="zh-CN" altLang="en-US" sz="2400" dirty="0"/>
              <a:t>姓名 *</a:t>
            </a:r>
            <a:r>
              <a:rPr lang="en-US" altLang="zh-CN" sz="2400" dirty="0"/>
              <a:t>/</a:t>
            </a:r>
          </a:p>
          <a:p>
            <a:pPr lvl="1" eaLnBrk="1" hangingPunct="1">
              <a:buNone/>
            </a:pPr>
            <a:r>
              <a:rPr lang="en-US" altLang="zh-CN" sz="2400" dirty="0"/>
              <a:t>  int computer, english, math;   /* </a:t>
            </a:r>
            <a:r>
              <a:rPr lang="zh-CN" altLang="en-US" sz="2400" dirty="0"/>
              <a:t>三门课程成绩 *</a:t>
            </a:r>
            <a:r>
              <a:rPr lang="en-US" altLang="zh-CN" sz="2400" dirty="0"/>
              <a:t>/</a:t>
            </a:r>
          </a:p>
          <a:p>
            <a:pPr lvl="1" eaLnBrk="1" hangingPunct="1">
              <a:buNone/>
            </a:pPr>
            <a:r>
              <a:rPr lang="en-US" altLang="zh-CN" sz="2400" dirty="0"/>
              <a:t>  double average;              /* </a:t>
            </a:r>
            <a:r>
              <a:rPr lang="zh-CN" altLang="en-US" sz="2400" dirty="0"/>
              <a:t>个人平均成绩 *</a:t>
            </a:r>
            <a:r>
              <a:rPr lang="en-US" altLang="zh-CN" sz="2400" dirty="0"/>
              <a:t>/</a:t>
            </a:r>
          </a:p>
          <a:p>
            <a:pPr lvl="1" eaLnBrk="1" hangingPunct="1">
              <a:buNone/>
            </a:pPr>
            <a:r>
              <a:rPr lang="en-US" altLang="zh-CN" sz="2400" dirty="0"/>
              <a:t>};</a:t>
            </a:r>
          </a:p>
          <a:p>
            <a:pPr lvl="1" eaLnBrk="1" hangingPunct="1">
              <a:buNone/>
            </a:pPr>
            <a:r>
              <a:rPr lang="en-US" altLang="zh-CN" sz="2400" dirty="0">
                <a:solidFill>
                  <a:srgbClr val="CC0066"/>
                </a:solidFill>
              </a:rPr>
              <a:t>struct </a:t>
            </a:r>
            <a:r>
              <a:rPr lang="en-US" altLang="zh-CN" sz="2400" dirty="0">
                <a:solidFill>
                  <a:srgbClr val="D60093"/>
                </a:solidFill>
              </a:rPr>
              <a:t>student</a:t>
            </a:r>
            <a:r>
              <a:rPr lang="en-US" altLang="zh-CN" sz="2400" dirty="0"/>
              <a:t> </a:t>
            </a:r>
            <a:r>
              <a:rPr lang="en-US" altLang="zh-CN" sz="2400" dirty="0">
                <a:solidFill>
                  <a:schemeClr val="bg2"/>
                </a:solidFill>
              </a:rPr>
              <a:t>s1,s2</a:t>
            </a:r>
            <a:r>
              <a:rPr lang="en-US" altLang="zh-CN" sz="2400" dirty="0"/>
              <a:t>;</a:t>
            </a:r>
            <a:endParaRPr lang="zh-CN" altLang="en-US" sz="2400" dirty="0"/>
          </a:p>
        </p:txBody>
      </p:sp>
      <p:sp>
        <p:nvSpPr>
          <p:cNvPr id="28676" name="Rectangle 4"/>
          <p:cNvSpPr/>
          <p:nvPr/>
        </p:nvSpPr>
        <p:spPr>
          <a:xfrm>
            <a:off x="457200" y="2514600"/>
            <a:ext cx="8686800" cy="43434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lnSpc>
                <a:spcPct val="90000"/>
              </a:lnSpc>
              <a:buClr>
                <a:schemeClr val="tx2"/>
              </a:buClr>
              <a:buSzPct val="80000"/>
              <a:buNone/>
            </a:pPr>
            <a:endParaRPr lang="zh-CN" altLang="en-US" sz="2800" b="0" dirty="0">
              <a:solidFill>
                <a:srgbClr val="FFFF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745182" y="887730"/>
            <a:ext cx="7715250" cy="739775"/>
          </a:xfrm>
        </p:spPr>
        <p:txBody>
          <a:bodyPr vert="horz" wrap="square" lIns="91440" tIns="45720" rIns="91440" bIns="45720" anchor="ctr"/>
          <a:lstStyle/>
          <a:p>
            <a:pPr eaLnBrk="1" hangingPunct="1"/>
            <a:r>
              <a:rPr lang="zh-CN" altLang="en-US" dirty="0" smtClean="0"/>
              <a:t>结构体变量</a:t>
            </a:r>
            <a:r>
              <a:rPr lang="zh-CN" altLang="en-US" dirty="0"/>
              <a:t>的定义和初始化</a:t>
            </a:r>
          </a:p>
        </p:txBody>
      </p:sp>
      <p:sp>
        <p:nvSpPr>
          <p:cNvPr id="398339" name="Rectangle 3"/>
          <p:cNvSpPr>
            <a:spLocks noGrp="1"/>
          </p:cNvSpPr>
          <p:nvPr>
            <p:ph idx="1"/>
          </p:nvPr>
        </p:nvSpPr>
        <p:spPr>
          <a:xfrm>
            <a:off x="539115" y="1698625"/>
            <a:ext cx="8424863" cy="5518150"/>
          </a:xfrm>
        </p:spPr>
        <p:txBody>
          <a:bodyPr vert="horz" wrap="square" lIns="91440" tIns="45720" rIns="91440" bIns="45720" anchor="t"/>
          <a:lstStyle/>
          <a:p>
            <a:pPr lvl="1" eaLnBrk="1" hangingPunct="1">
              <a:lnSpc>
                <a:spcPct val="90000"/>
              </a:lnSpc>
              <a:buNone/>
            </a:pPr>
            <a:r>
              <a:rPr lang="en-US" altLang="zh-CN" sz="2400" dirty="0"/>
              <a:t>2. </a:t>
            </a:r>
            <a:r>
              <a:rPr lang="zh-CN" altLang="en-US" sz="2400" dirty="0"/>
              <a:t>在定义</a:t>
            </a:r>
            <a:r>
              <a:rPr lang="zh-CN" altLang="en-US" sz="2400" dirty="0" smtClean="0"/>
              <a:t>结构体类型</a:t>
            </a:r>
            <a:r>
              <a:rPr lang="zh-CN" altLang="en-US" sz="2400" dirty="0"/>
              <a:t>的同时定义</a:t>
            </a:r>
            <a:r>
              <a:rPr lang="zh-CN" altLang="en-US" sz="2400" dirty="0" smtClean="0"/>
              <a:t>结构体变量</a:t>
            </a:r>
            <a:r>
              <a:rPr lang="zh-CN" altLang="en-US" sz="1800" dirty="0" smtClean="0"/>
              <a:t> </a:t>
            </a:r>
            <a:endParaRPr lang="zh-CN" altLang="en-US" sz="1800" dirty="0"/>
          </a:p>
          <a:p>
            <a:pPr lvl="1" eaLnBrk="1" hangingPunct="1">
              <a:lnSpc>
                <a:spcPct val="90000"/>
              </a:lnSpc>
              <a:buNone/>
            </a:pPr>
            <a:r>
              <a:rPr lang="en-US" altLang="zh-CN" sz="2000" dirty="0">
                <a:solidFill>
                  <a:srgbClr val="D60093"/>
                </a:solidFill>
              </a:rPr>
              <a:t>struct student</a:t>
            </a:r>
            <a:r>
              <a:rPr lang="en-US" altLang="zh-CN" sz="2000" dirty="0"/>
              <a:t>{</a:t>
            </a:r>
          </a:p>
          <a:p>
            <a:pPr lvl="1" eaLnBrk="1" hangingPunct="1">
              <a:lnSpc>
                <a:spcPct val="90000"/>
              </a:lnSpc>
              <a:buNone/>
            </a:pPr>
            <a:r>
              <a:rPr lang="en-US" altLang="zh-CN" sz="2000" dirty="0"/>
              <a:t>  int num;                   /* </a:t>
            </a:r>
            <a:r>
              <a:rPr lang="zh-CN" altLang="en-US" sz="2000" dirty="0"/>
              <a:t>学号 *</a:t>
            </a:r>
            <a:r>
              <a:rPr lang="en-US" altLang="zh-CN" sz="2000" dirty="0"/>
              <a:t>/</a:t>
            </a:r>
          </a:p>
          <a:p>
            <a:pPr lvl="1" eaLnBrk="1" hangingPunct="1">
              <a:lnSpc>
                <a:spcPct val="90000"/>
              </a:lnSpc>
              <a:buNone/>
            </a:pPr>
            <a:r>
              <a:rPr lang="en-US" altLang="zh-CN" sz="2000" dirty="0"/>
              <a:t>  char name[10];             /* </a:t>
            </a:r>
            <a:r>
              <a:rPr lang="zh-CN" altLang="en-US" sz="2000" dirty="0"/>
              <a:t>姓名 *</a:t>
            </a:r>
            <a:r>
              <a:rPr lang="en-US" altLang="zh-CN" sz="2000" dirty="0"/>
              <a:t>/</a:t>
            </a:r>
          </a:p>
          <a:p>
            <a:pPr lvl="1" eaLnBrk="1" hangingPunct="1">
              <a:lnSpc>
                <a:spcPct val="90000"/>
              </a:lnSpc>
              <a:buNone/>
            </a:pPr>
            <a:r>
              <a:rPr lang="en-US" altLang="zh-CN" sz="2000" dirty="0"/>
              <a:t>  int computer, english, math;   /* </a:t>
            </a:r>
            <a:r>
              <a:rPr lang="zh-CN" altLang="en-US" sz="2000" dirty="0"/>
              <a:t>三门课程成绩 *</a:t>
            </a:r>
            <a:r>
              <a:rPr lang="en-US" altLang="zh-CN" sz="2000" dirty="0"/>
              <a:t>/</a:t>
            </a:r>
          </a:p>
          <a:p>
            <a:pPr lvl="1" eaLnBrk="1" hangingPunct="1">
              <a:lnSpc>
                <a:spcPct val="90000"/>
              </a:lnSpc>
              <a:buNone/>
            </a:pPr>
            <a:r>
              <a:rPr lang="en-US" altLang="zh-CN" sz="2000" dirty="0"/>
              <a:t>  double average;              /* </a:t>
            </a:r>
            <a:r>
              <a:rPr lang="zh-CN" altLang="en-US" sz="2000" dirty="0"/>
              <a:t>个人平均成绩 *</a:t>
            </a:r>
            <a:r>
              <a:rPr lang="en-US" altLang="zh-CN" sz="2000" dirty="0"/>
              <a:t>/</a:t>
            </a:r>
          </a:p>
          <a:p>
            <a:pPr lvl="1" eaLnBrk="1" hangingPunct="1">
              <a:lnSpc>
                <a:spcPct val="90000"/>
              </a:lnSpc>
              <a:buNone/>
            </a:pPr>
            <a:r>
              <a:rPr lang="en-US" altLang="zh-CN" sz="2000" dirty="0"/>
              <a:t>}</a:t>
            </a:r>
            <a:r>
              <a:rPr lang="en-US" altLang="zh-CN" sz="2000" dirty="0">
                <a:solidFill>
                  <a:schemeClr val="bg2"/>
                </a:solidFill>
              </a:rPr>
              <a:t>s1, s2</a:t>
            </a:r>
            <a:r>
              <a:rPr lang="en-US" altLang="zh-CN" sz="2000" dirty="0"/>
              <a:t>;</a:t>
            </a:r>
          </a:p>
          <a:p>
            <a:pPr lvl="1" eaLnBrk="1" hangingPunct="1">
              <a:lnSpc>
                <a:spcPct val="90000"/>
              </a:lnSpc>
              <a:buNone/>
            </a:pPr>
            <a:r>
              <a:rPr lang="en-US" altLang="zh-CN" sz="2000" dirty="0"/>
              <a:t> </a:t>
            </a:r>
            <a:endParaRPr lang="zh-CN" altLang="en-US" sz="2000" dirty="0"/>
          </a:p>
          <a:p>
            <a:pPr lvl="1" eaLnBrk="1" hangingPunct="1">
              <a:lnSpc>
                <a:spcPct val="90000"/>
              </a:lnSpc>
              <a:buSzPct val="50000"/>
              <a:buNone/>
            </a:pPr>
            <a:r>
              <a:rPr lang="en-US" altLang="zh-CN" sz="2400" dirty="0"/>
              <a:t>3. </a:t>
            </a:r>
            <a:r>
              <a:rPr lang="zh-CN" altLang="en-US" sz="2400" dirty="0"/>
              <a:t>在定义</a:t>
            </a:r>
            <a:r>
              <a:rPr lang="zh-CN" altLang="en-US" sz="2400" dirty="0" smtClean="0"/>
              <a:t>结构体变量</a:t>
            </a:r>
            <a:r>
              <a:rPr lang="zh-CN" altLang="en-US" sz="2400" dirty="0"/>
              <a:t>时省略</a:t>
            </a:r>
            <a:r>
              <a:rPr lang="zh-CN" altLang="en-US" sz="2400" dirty="0" smtClean="0"/>
              <a:t>结构体名</a:t>
            </a:r>
            <a:endParaRPr lang="zh-CN" altLang="en-US" sz="2400" dirty="0"/>
          </a:p>
          <a:p>
            <a:pPr lvl="1" eaLnBrk="1" hangingPunct="1">
              <a:lnSpc>
                <a:spcPct val="90000"/>
              </a:lnSpc>
              <a:buNone/>
            </a:pPr>
            <a:r>
              <a:rPr lang="en-US" altLang="zh-CN" sz="2000" dirty="0">
                <a:solidFill>
                  <a:srgbClr val="D60093"/>
                </a:solidFill>
              </a:rPr>
              <a:t>struct </a:t>
            </a:r>
            <a:r>
              <a:rPr lang="en-US" altLang="zh-CN" sz="2000" dirty="0"/>
              <a:t>{</a:t>
            </a:r>
          </a:p>
          <a:p>
            <a:pPr lvl="1" eaLnBrk="1" hangingPunct="1">
              <a:lnSpc>
                <a:spcPct val="90000"/>
              </a:lnSpc>
              <a:buNone/>
            </a:pPr>
            <a:r>
              <a:rPr lang="en-US" altLang="zh-CN" sz="2000" dirty="0"/>
              <a:t>  int num;                   /* </a:t>
            </a:r>
            <a:r>
              <a:rPr lang="zh-CN" altLang="en-US" sz="2000" dirty="0"/>
              <a:t>学号 *</a:t>
            </a:r>
            <a:r>
              <a:rPr lang="en-US" altLang="zh-CN" sz="2000" dirty="0"/>
              <a:t>/</a:t>
            </a:r>
          </a:p>
          <a:p>
            <a:pPr lvl="1" eaLnBrk="1" hangingPunct="1">
              <a:lnSpc>
                <a:spcPct val="90000"/>
              </a:lnSpc>
              <a:buNone/>
            </a:pPr>
            <a:r>
              <a:rPr lang="en-US" altLang="zh-CN" sz="2000" dirty="0"/>
              <a:t>  char name[10];             /* </a:t>
            </a:r>
            <a:r>
              <a:rPr lang="zh-CN" altLang="en-US" sz="2000" dirty="0"/>
              <a:t>姓名 *</a:t>
            </a:r>
            <a:r>
              <a:rPr lang="en-US" altLang="zh-CN" sz="2000" dirty="0"/>
              <a:t>/</a:t>
            </a:r>
          </a:p>
          <a:p>
            <a:pPr lvl="1" eaLnBrk="1" hangingPunct="1">
              <a:lnSpc>
                <a:spcPct val="90000"/>
              </a:lnSpc>
              <a:buNone/>
            </a:pPr>
            <a:r>
              <a:rPr lang="en-US" altLang="zh-CN" sz="2000" dirty="0"/>
              <a:t>  int computer, english, math;   /* </a:t>
            </a:r>
            <a:r>
              <a:rPr lang="zh-CN" altLang="en-US" sz="2000" dirty="0"/>
              <a:t>三门课程成绩 *</a:t>
            </a:r>
            <a:r>
              <a:rPr lang="en-US" altLang="zh-CN" sz="2000" dirty="0"/>
              <a:t>/</a:t>
            </a:r>
          </a:p>
          <a:p>
            <a:pPr lvl="1" eaLnBrk="1" hangingPunct="1">
              <a:lnSpc>
                <a:spcPct val="90000"/>
              </a:lnSpc>
              <a:buNone/>
            </a:pPr>
            <a:r>
              <a:rPr lang="en-US" altLang="zh-CN" sz="2000" dirty="0"/>
              <a:t>  double average;              /* </a:t>
            </a:r>
            <a:r>
              <a:rPr lang="zh-CN" altLang="en-US" sz="2000" dirty="0"/>
              <a:t>个人平均成绩 *</a:t>
            </a:r>
            <a:r>
              <a:rPr lang="en-US" altLang="zh-CN" sz="2000" dirty="0"/>
              <a:t>/</a:t>
            </a:r>
          </a:p>
          <a:p>
            <a:pPr lvl="1" eaLnBrk="1" hangingPunct="1">
              <a:lnSpc>
                <a:spcPct val="90000"/>
              </a:lnSpc>
              <a:buNone/>
            </a:pPr>
            <a:r>
              <a:rPr lang="en-US" altLang="zh-CN" sz="2000" dirty="0"/>
              <a:t>} </a:t>
            </a:r>
            <a:r>
              <a:rPr lang="en-US" altLang="zh-CN" sz="2000" dirty="0">
                <a:solidFill>
                  <a:schemeClr val="bg2"/>
                </a:solidFill>
              </a:rPr>
              <a:t>s1, s2</a:t>
            </a:r>
            <a:r>
              <a:rPr lang="en-US" altLang="zh-CN" sz="2000" dirty="0"/>
              <a:t>;</a:t>
            </a:r>
          </a:p>
          <a:p>
            <a:pPr lvl="1" eaLnBrk="1" hangingPunct="1">
              <a:lnSpc>
                <a:spcPct val="90000"/>
              </a:lnSpc>
              <a:buNone/>
            </a:pPr>
            <a:endParaRPr lang="zh-CN" altLang="en-US" sz="2000" dirty="0"/>
          </a:p>
        </p:txBody>
      </p:sp>
      <p:sp>
        <p:nvSpPr>
          <p:cNvPr id="398340" name="Rectangle 4"/>
          <p:cNvSpPr/>
          <p:nvPr/>
        </p:nvSpPr>
        <p:spPr>
          <a:xfrm>
            <a:off x="672465" y="2945130"/>
            <a:ext cx="8686800" cy="43434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lnSpc>
                <a:spcPct val="90000"/>
              </a:lnSpc>
              <a:buClr>
                <a:schemeClr val="tx2"/>
              </a:buClr>
              <a:buSzPct val="80000"/>
              <a:buNone/>
            </a:pPr>
            <a:endParaRPr lang="zh-CN" altLang="en-US" sz="2800" b="0" dirty="0">
              <a:solidFill>
                <a:srgbClr val="FFFF00"/>
              </a:solidFill>
            </a:endParaRPr>
          </a:p>
        </p:txBody>
      </p:sp>
      <p:sp>
        <p:nvSpPr>
          <p:cNvPr id="5" name="Rectangle 5"/>
          <p:cNvSpPr>
            <a:spLocks noChangeArrowheads="1"/>
          </p:cNvSpPr>
          <p:nvPr/>
        </p:nvSpPr>
        <p:spPr bwMode="auto">
          <a:xfrm>
            <a:off x="5866829" y="4149080"/>
            <a:ext cx="3241675" cy="1659062"/>
          </a:xfrm>
          <a:prstGeom prst="rect">
            <a:avLst/>
          </a:prstGeom>
          <a:solidFill>
            <a:schemeClr val="bg1"/>
          </a:solidFill>
          <a:ln w="952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marL="0" marR="0" lvl="0" indent="0"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3333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rPr>
              <a:t>此方法由于没有给结构体类型命名，此后不能在程序的其他地方使用这个结构体类型定义新的结构体变量</a:t>
            </a:r>
            <a:endParaRPr kumimoji="0" lang="zh-CN" altLang="en-US" sz="2000" b="1" i="0" u="none" strike="noStrike" kern="1200" cap="none" spc="0" normalizeH="0" baseline="0" noProof="0" dirty="0" smtClean="0">
              <a:ln>
                <a:noFill/>
              </a:ln>
              <a:solidFill>
                <a:srgbClr val="3333FF"/>
              </a:solidFill>
              <a:effectLst/>
              <a:uLnTx/>
              <a:uFillTx/>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p:cNvSpPr>
          <p:nvPr>
            <p:ph type="title"/>
          </p:nvPr>
        </p:nvSpPr>
        <p:spPr>
          <a:xfrm>
            <a:off x="681355" y="744538"/>
            <a:ext cx="8229600" cy="955675"/>
          </a:xfrm>
        </p:spPr>
        <p:txBody>
          <a:bodyPr vert="horz" wrap="square" lIns="91440" tIns="45720" rIns="91440" bIns="45720" anchor="ctr"/>
          <a:lstStyle/>
          <a:p>
            <a:pPr eaLnBrk="1" hangingPunct="1"/>
            <a:r>
              <a:rPr lang="zh-CN" altLang="en-US" dirty="0" smtClean="0"/>
              <a:t>结构体变量引用</a:t>
            </a:r>
            <a:endParaRPr lang="zh-CN" altLang="en-US" dirty="0"/>
          </a:p>
        </p:txBody>
      </p:sp>
      <p:sp>
        <p:nvSpPr>
          <p:cNvPr id="237573" name="Rectangle 5"/>
          <p:cNvSpPr>
            <a:spLocks noGrp="1" noChangeArrowheads="1"/>
          </p:cNvSpPr>
          <p:nvPr>
            <p:ph idx="1"/>
          </p:nvPr>
        </p:nvSpPr>
        <p:spPr>
          <a:xfrm>
            <a:off x="744220" y="1701483"/>
            <a:ext cx="8399780" cy="4967877"/>
          </a:xfrm>
        </p:spPr>
        <p:txBody>
          <a:bodyPr vert="horz" wrap="square" lIns="91440" tIns="45720" rIns="91440" bIns="45720" numCol="1" anchor="t" anchorCtr="0" compatLnSpc="1"/>
          <a:lstStyle/>
          <a:p>
            <a:pPr marR="0" lvl="0" algn="l" rtl="0" eaLnBrk="1" fontAlgn="base" latinLnBrk="0" hangingPunct="1">
              <a:lnSpc>
                <a:spcPct val="90000"/>
              </a:lnSpc>
              <a:spcBef>
                <a:spcPct val="20000"/>
              </a:spcBef>
              <a:buSzPct val="75000"/>
            </a:pPr>
            <a:r>
              <a:rPr kumimoji="0" lang="zh-CN" altLang="en-US" sz="2400" b="1" i="0" u="none" strike="noStrike" kern="0" cap="none" spc="0" normalizeH="0" baseline="0" dirty="0">
                <a:latin typeface="+mn-lt"/>
                <a:ea typeface="+mn-ea"/>
                <a:cs typeface="+mn-cs"/>
              </a:rPr>
              <a:t>不能将一个结构体变量作为一个整体来进行输入、运算、</a:t>
            </a:r>
          </a:p>
          <a:p>
            <a:pPr marL="0" marR="0" lvl="0" indent="0" algn="l" rtl="0" eaLnBrk="1" fontAlgn="base" latinLnBrk="0" hangingPunct="1">
              <a:lnSpc>
                <a:spcPct val="90000"/>
              </a:lnSpc>
              <a:spcBef>
                <a:spcPct val="20000"/>
              </a:spcBef>
              <a:buSzPct val="75000"/>
              <a:buNone/>
            </a:pPr>
            <a:r>
              <a:rPr kumimoji="0" lang="zh-CN" altLang="en-US" sz="2400" b="1" i="0" u="none" strike="noStrike" kern="0" cap="none" spc="0" normalizeH="0" baseline="0" dirty="0">
                <a:latin typeface="+mn-lt"/>
                <a:ea typeface="+mn-ea"/>
                <a:cs typeface="+mn-cs"/>
              </a:rPr>
              <a:t>   输出操作，只能对它的每个成员进行输入、运算、输出</a:t>
            </a:r>
          </a:p>
          <a:p>
            <a:pPr marR="0" lvl="0" algn="l" rtl="0" eaLnBrk="1" fontAlgn="base" latinLnBrk="0" hangingPunct="1">
              <a:lnSpc>
                <a:spcPct val="90000"/>
              </a:lnSpc>
              <a:spcBef>
                <a:spcPct val="20000"/>
              </a:spcBef>
              <a:buSzPct val="75000"/>
              <a:buChar char="·"/>
            </a:pPr>
            <a:r>
              <a:rPr kumimoji="0" lang="zh-CN" altLang="en-US" sz="2400" b="1" i="0" u="none" strike="noStrike" kern="0" cap="none" spc="0" normalizeH="0" baseline="0" dirty="0">
                <a:latin typeface="+mn-lt"/>
                <a:ea typeface="+mn-ea"/>
                <a:cs typeface="+mn-cs"/>
              </a:rPr>
              <a:t>在C语言中，使用</a:t>
            </a:r>
            <a:r>
              <a:rPr kumimoji="0" lang="zh-CN" altLang="en-US" sz="2400" b="1" i="0" u="none" strike="noStrike" kern="0" cap="none" spc="0" normalizeH="0" baseline="0" dirty="0" smtClean="0">
                <a:latin typeface="+mn-lt"/>
                <a:ea typeface="+mn-ea"/>
                <a:cs typeface="+mn-cs"/>
              </a:rPr>
              <a:t>结构体成员</a:t>
            </a:r>
            <a:r>
              <a:rPr kumimoji="0" lang="zh-CN" altLang="en-US" sz="2400" b="1" i="0" u="none" strike="noStrike" kern="0" cap="none" spc="0" normalizeH="0" baseline="0" dirty="0">
                <a:latin typeface="+mn-lt"/>
                <a:ea typeface="+mn-ea"/>
                <a:cs typeface="+mn-cs"/>
              </a:rPr>
              <a:t>操作符“.”来引用</a:t>
            </a:r>
            <a:r>
              <a:rPr kumimoji="0" lang="zh-CN" altLang="en-US" sz="2400" b="1" i="0" u="none" strike="noStrike" kern="0" cap="none" spc="0" normalizeH="0" baseline="0" dirty="0" smtClean="0">
                <a:latin typeface="+mn-lt"/>
                <a:ea typeface="+mn-ea"/>
                <a:cs typeface="+mn-cs"/>
              </a:rPr>
              <a:t>结构体成员     </a:t>
            </a:r>
            <a:endParaRPr kumimoji="0" lang="zh-CN" altLang="en-US" sz="2400" b="1" i="0" u="none" strike="noStrike" kern="0" cap="none" spc="0" normalizeH="0" baseline="0" dirty="0">
              <a:latin typeface="+mn-lt"/>
              <a:ea typeface="+mn-ea"/>
              <a:cs typeface="+mn-cs"/>
            </a:endParaRPr>
          </a:p>
          <a:p>
            <a:pPr marL="0" marR="0" lvl="0" indent="0" algn="l" rtl="0" eaLnBrk="1" fontAlgn="base" latinLnBrk="0" hangingPunct="1">
              <a:lnSpc>
                <a:spcPct val="90000"/>
              </a:lnSpc>
              <a:spcBef>
                <a:spcPct val="20000"/>
              </a:spcBef>
              <a:buSzPct val="75000"/>
              <a:buNone/>
            </a:pPr>
            <a:r>
              <a:rPr kumimoji="0" lang="zh-CN" altLang="en-US" sz="2400" b="1" i="0" u="none" strike="noStrike" kern="0" cap="none" spc="0" normalizeH="0" baseline="0" dirty="0">
                <a:latin typeface="+mn-lt"/>
                <a:ea typeface="+mn-ea"/>
                <a:cs typeface="+mn-cs"/>
              </a:rPr>
              <a:t>   格式为：</a:t>
            </a:r>
          </a:p>
          <a:p>
            <a:pPr marL="990600" marR="0" lvl="1" indent="-5334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en-US" sz="2800" b="1" i="0" u="none" strike="noStrike" kern="0" cap="none" spc="0" normalizeH="0" baseline="0" noProof="0" dirty="0" smtClean="0">
                <a:ln>
                  <a:noFill/>
                </a:ln>
                <a:solidFill>
                  <a:srgbClr val="CC0066"/>
                </a:solidFill>
                <a:effectLst/>
                <a:uLnTx/>
                <a:uFillTx/>
                <a:latin typeface="+mn-lt"/>
                <a:ea typeface="+mn-ea"/>
              </a:rPr>
              <a:t> </a:t>
            </a:r>
            <a:r>
              <a:rPr kumimoji="0" lang="zh-CN" altLang="en-US" sz="2800" b="1" i="0" u="none" strike="noStrike" kern="0" cap="none" spc="0" normalizeH="0" baseline="0" noProof="0" dirty="0" smtClean="0">
                <a:ln>
                  <a:noFill/>
                </a:ln>
                <a:solidFill>
                  <a:srgbClr val="0000CC"/>
                </a:solidFill>
                <a:effectLst/>
                <a:uLnTx/>
                <a:uFillTx/>
                <a:latin typeface="+mn-lt"/>
                <a:ea typeface="+mn-ea"/>
              </a:rPr>
              <a:t>结构体变量名</a:t>
            </a:r>
            <a:r>
              <a:rPr kumimoji="0" lang="zh-CN" altLang="en-US" sz="3200" b="1" i="0" u="none" strike="noStrike" kern="0" cap="none" spc="0" normalizeH="0" baseline="0" noProof="0" dirty="0" smtClean="0">
                <a:ln>
                  <a:noFill/>
                </a:ln>
                <a:solidFill>
                  <a:srgbClr val="CC0066"/>
                </a:solidFill>
                <a:effectLst>
                  <a:outerShdw blurRad="38100" dist="38100" dir="2700000" algn="tl">
                    <a:srgbClr val="C0C0C0"/>
                  </a:outerShdw>
                </a:effectLst>
                <a:uLnTx/>
                <a:uFillTx/>
                <a:latin typeface="+mn-lt"/>
                <a:ea typeface="+mn-ea"/>
              </a:rPr>
              <a:t> </a:t>
            </a:r>
            <a:r>
              <a:rPr kumimoji="0" lang="en-US" altLang="zh-CN" sz="3200" b="1" i="0" u="none" strike="noStrike" kern="0" cap="none" spc="0" normalizeH="0" baseline="0" noProof="0" dirty="0" smtClean="0">
                <a:ln>
                  <a:noFill/>
                </a:ln>
                <a:solidFill>
                  <a:srgbClr val="FF0066"/>
                </a:solidFill>
                <a:effectLst>
                  <a:outerShdw blurRad="38100" dist="38100" dir="2700000" algn="tl">
                    <a:srgbClr val="C0C0C0"/>
                  </a:outerShdw>
                </a:effectLst>
                <a:uLnTx/>
                <a:uFillTx/>
                <a:latin typeface="+mn-lt"/>
                <a:ea typeface="+mn-ea"/>
              </a:rPr>
              <a:t>.</a:t>
            </a:r>
            <a:r>
              <a:rPr kumimoji="0" lang="en-US" altLang="zh-CN" sz="3200" b="1" i="0" u="none" strike="noStrike" kern="0" cap="none" spc="0" normalizeH="0" baseline="0" noProof="0" dirty="0" smtClean="0">
                <a:ln>
                  <a:noFill/>
                </a:ln>
                <a:solidFill>
                  <a:srgbClr val="CC0066"/>
                </a:solidFill>
                <a:effectLst>
                  <a:outerShdw blurRad="38100" dist="38100" dir="2700000" algn="tl">
                    <a:srgbClr val="C0C0C0"/>
                  </a:outerShdw>
                </a:effectLst>
                <a:uLnTx/>
                <a:uFillTx/>
                <a:latin typeface="+mn-lt"/>
                <a:ea typeface="+mn-ea"/>
              </a:rPr>
              <a:t> </a:t>
            </a:r>
            <a:r>
              <a:rPr kumimoji="0" lang="zh-CN" altLang="en-US" sz="2800" b="1" i="0" u="none" strike="noStrike" kern="0" cap="none" spc="0" normalizeH="0" baseline="0" noProof="0" dirty="0" smtClean="0">
                <a:ln>
                  <a:noFill/>
                </a:ln>
                <a:solidFill>
                  <a:srgbClr val="0000CC"/>
                </a:solidFill>
                <a:effectLst/>
                <a:uLnTx/>
                <a:uFillTx/>
                <a:latin typeface="+mn-lt"/>
                <a:ea typeface="+mn-ea"/>
              </a:rPr>
              <a:t>结构体成员名</a:t>
            </a:r>
          </a:p>
          <a:p>
            <a:pPr marL="990600" marR="0" lvl="1" indent="-5334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endParaRPr kumimoji="0" lang="zh-CN" altLang="en-US" sz="2800" b="1" i="0" u="none" strike="noStrike" kern="0" cap="none" spc="0" normalizeH="0" baseline="0" noProof="0" dirty="0" smtClean="0">
              <a:ln>
                <a:noFill/>
              </a:ln>
              <a:solidFill>
                <a:srgbClr val="CC0066"/>
              </a:solidFill>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rPr>
              <a:t>s1.num = 101;</a:t>
            </a:r>
          </a:p>
          <a:p>
            <a:pPr marL="990600" marR="0" lvl="1" indent="-5334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rPr>
              <a:t>strcpy(s1.name, "ZhangLi"); </a:t>
            </a:r>
          </a:p>
          <a:p>
            <a:pPr marL="990600" marR="0" lvl="1" indent="-5334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en-US" sz="1800" b="1" i="0" u="none" strike="noStrike" kern="0" cap="none" spc="0" normalizeH="0" baseline="0" dirty="0">
                <a:solidFill>
                  <a:srgbClr val="FF3300"/>
                </a:solidFill>
                <a:latin typeface="+mn-lt"/>
                <a:ea typeface="+mn-ea"/>
                <a:cs typeface="+mn-cs"/>
              </a:rPr>
              <a:t>注意：由于</a:t>
            </a:r>
            <a:r>
              <a:rPr kumimoji="0" lang="zh-CN" altLang="en-US" sz="1800" b="1" i="0" u="none" strike="noStrike" kern="0" cap="none" spc="0" normalizeH="0" baseline="0" dirty="0" smtClean="0">
                <a:solidFill>
                  <a:srgbClr val="FF3300"/>
                </a:solidFill>
                <a:latin typeface="+mn-lt"/>
                <a:ea typeface="+mn-ea"/>
                <a:cs typeface="+mn-cs"/>
              </a:rPr>
              <a:t>结构体成员</a:t>
            </a:r>
            <a:r>
              <a:rPr kumimoji="0" lang="zh-CN" altLang="en-US" sz="1800" b="1" i="0" u="none" strike="noStrike" kern="0" cap="none" spc="0" normalizeH="0" baseline="0" dirty="0">
                <a:solidFill>
                  <a:srgbClr val="FF3300"/>
                </a:solidFill>
                <a:latin typeface="+mn-lt"/>
                <a:ea typeface="+mn-ea"/>
                <a:cs typeface="+mn-cs"/>
              </a:rPr>
              <a:t>name是一个字符</a:t>
            </a:r>
            <a:r>
              <a:rPr kumimoji="0" lang="zh-CN" altLang="en-US" sz="1800" b="1" i="0" u="none" strike="noStrike" kern="0" cap="none" spc="0" normalizeH="0" baseline="0" dirty="0" smtClean="0">
                <a:solidFill>
                  <a:srgbClr val="FF3300"/>
                </a:solidFill>
                <a:latin typeface="+mn-lt"/>
                <a:ea typeface="+mn-ea"/>
                <a:cs typeface="+mn-cs"/>
              </a:rPr>
              <a:t>数组的数组名，</a:t>
            </a:r>
            <a:r>
              <a:rPr kumimoji="0" lang="zh-CN" altLang="en-US" sz="1800" b="1" i="0" u="none" strike="noStrike" kern="0" cap="none" spc="0" normalizeH="0" baseline="0" dirty="0">
                <a:solidFill>
                  <a:srgbClr val="FF3300"/>
                </a:solidFill>
                <a:latin typeface="+mn-lt"/>
                <a:ea typeface="+mn-ea"/>
                <a:cs typeface="+mn-cs"/>
              </a:rPr>
              <a:t>所以必须用strcpy来进行赋值</a:t>
            </a:r>
            <a:r>
              <a:rPr kumimoji="0" lang="zh-CN" altLang="en-US" sz="1800" b="1" i="0" u="none" strike="noStrike" kern="0" cap="none" spc="0" normalizeH="0" baseline="0" dirty="0" smtClean="0">
                <a:solidFill>
                  <a:srgbClr val="FF3300"/>
                </a:solidFill>
                <a:latin typeface="+mn-lt"/>
                <a:ea typeface="+mn-ea"/>
                <a:cs typeface="+mn-cs"/>
              </a:rPr>
              <a:t>，而</a:t>
            </a:r>
            <a:r>
              <a:rPr kumimoji="0" lang="zh-CN" altLang="en-US" sz="1800" b="1" i="0" u="none" strike="noStrike" kern="0" cap="none" spc="0" normalizeH="0" baseline="0" dirty="0">
                <a:solidFill>
                  <a:srgbClr val="FF3300"/>
                </a:solidFill>
                <a:latin typeface="+mn-lt"/>
                <a:ea typeface="+mn-ea"/>
                <a:cs typeface="+mn-cs"/>
              </a:rPr>
              <a:t>不能使用“=”进行赋值，否则会</a:t>
            </a:r>
            <a:r>
              <a:rPr kumimoji="0" lang="zh-CN" altLang="en-US" sz="1800" b="1" i="0" u="none" strike="noStrike" kern="0" cap="none" spc="0" normalizeH="0" baseline="0" dirty="0" smtClean="0">
                <a:solidFill>
                  <a:srgbClr val="FF3300"/>
                </a:solidFill>
                <a:latin typeface="+mn-lt"/>
                <a:ea typeface="+mn-ea"/>
                <a:cs typeface="+mn-cs"/>
              </a:rPr>
              <a:t>出错</a:t>
            </a:r>
            <a:endParaRPr kumimoji="0" lang="en-US" altLang="zh-CN" sz="1800" b="1" i="0" u="none" strike="noStrike" kern="0" cap="none" spc="0" normalizeH="0" baseline="0" dirty="0" smtClean="0">
              <a:solidFill>
                <a:srgbClr val="FF3300"/>
              </a:solidFill>
              <a:latin typeface="+mn-lt"/>
              <a:ea typeface="+mn-ea"/>
              <a:cs typeface="+mn-cs"/>
            </a:endParaRPr>
          </a:p>
          <a:p>
            <a:pPr marL="990600" lvl="1" indent="-533400" eaLnBrk="1" hangingPunct="1">
              <a:lnSpc>
                <a:spcPct val="100000"/>
              </a:lnSpc>
              <a:buClr>
                <a:schemeClr val="accent2"/>
              </a:buClr>
              <a:buSzPct val="80000"/>
              <a:buNone/>
              <a:defRPr/>
            </a:pPr>
            <a:r>
              <a:rPr lang="en-US" altLang="zh-CN" sz="2800" strike="sngStrike" dirty="0">
                <a:solidFill>
                  <a:schemeClr val="tx1"/>
                </a:solidFill>
                <a:effectLst/>
              </a:rPr>
              <a:t>s1.name</a:t>
            </a:r>
            <a:r>
              <a:rPr lang="en-US" altLang="zh-CN" sz="2800" strike="sngStrike" dirty="0" smtClean="0">
                <a:solidFill>
                  <a:schemeClr val="tx1"/>
                </a:solidFill>
                <a:effectLst/>
              </a:rPr>
              <a:t>=“</a:t>
            </a:r>
            <a:r>
              <a:rPr lang="en-US" altLang="zh-CN" sz="2800" strike="sngStrike" dirty="0" err="1" smtClean="0">
                <a:solidFill>
                  <a:schemeClr val="tx1"/>
                </a:solidFill>
                <a:effectLst/>
              </a:rPr>
              <a:t>ZhangLi</a:t>
            </a:r>
            <a:r>
              <a:rPr lang="en-US" altLang="zh-CN" sz="2800" strike="sngStrike" dirty="0" smtClean="0">
                <a:solidFill>
                  <a:schemeClr val="tx1"/>
                </a:solidFill>
                <a:effectLst/>
              </a:rPr>
              <a:t>”;  </a:t>
            </a:r>
            <a:endParaRPr lang="zh-CN" altLang="en-US" sz="2800" strike="sngStrike" dirty="0">
              <a:solidFill>
                <a:schemeClr val="tx1"/>
              </a:solidFill>
              <a:effectLst/>
            </a:endParaRPr>
          </a:p>
          <a:p>
            <a:pPr marL="990600" marR="0" lvl="1" indent="-5334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endParaRPr kumimoji="0" lang="zh-CN" altLang="en-US" sz="1800" b="1" i="0" u="none" strike="noStrike" kern="0" cap="none" spc="0" normalizeH="0" baseline="0" noProof="0" dirty="0" smtClean="0">
              <a:ln>
                <a:noFill/>
              </a:ln>
              <a:solidFill>
                <a:schemeClr val="tx1"/>
              </a:solidFill>
              <a:effectLst/>
              <a:uLnTx/>
              <a:uFillTx/>
              <a:latin typeface="+mn-lt"/>
              <a:ea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744220" y="815975"/>
            <a:ext cx="7715250" cy="739775"/>
          </a:xfrm>
        </p:spPr>
        <p:txBody>
          <a:bodyPr vert="horz" wrap="square" lIns="91440" tIns="45720" rIns="91440" bIns="45720" anchor="ctr"/>
          <a:lstStyle/>
          <a:p>
            <a:pPr eaLnBrk="1" hangingPunct="1"/>
            <a:r>
              <a:rPr lang="zh-CN" altLang="en-US" dirty="0" smtClean="0"/>
              <a:t>结构体变量初始化</a:t>
            </a:r>
            <a:endParaRPr lang="zh-CN" altLang="en-US" dirty="0"/>
          </a:p>
        </p:txBody>
      </p:sp>
      <p:sp>
        <p:nvSpPr>
          <p:cNvPr id="30723" name="Rectangle 3"/>
          <p:cNvSpPr>
            <a:spLocks noGrp="1"/>
          </p:cNvSpPr>
          <p:nvPr>
            <p:ph idx="1"/>
          </p:nvPr>
        </p:nvSpPr>
        <p:spPr>
          <a:xfrm>
            <a:off x="467360" y="1627188"/>
            <a:ext cx="8424863" cy="4033837"/>
          </a:xfrm>
        </p:spPr>
        <p:txBody>
          <a:bodyPr vert="horz" wrap="square" lIns="91440" tIns="45720" rIns="91440" bIns="45720" anchor="t"/>
          <a:lstStyle/>
          <a:p>
            <a:pPr marL="271780" lvl="1" indent="0" eaLnBrk="1" hangingPunct="1">
              <a:buClr>
                <a:schemeClr val="bg2"/>
              </a:buClr>
              <a:buSzPct val="75000"/>
              <a:buNone/>
            </a:pPr>
            <a:r>
              <a:rPr lang="zh-CN" altLang="en-US" dirty="0">
                <a:cs typeface="+mn-cs"/>
              </a:rPr>
              <a:t>对结构体变量进行初始化时，可以按照结构体成员的顺序把结构体成员的初值放在一对花括号中。例如：</a:t>
            </a:r>
            <a:endParaRPr lang="en-US" altLang="zh-CN" dirty="0"/>
          </a:p>
          <a:p>
            <a:pPr lvl="1" eaLnBrk="1" hangingPunct="1">
              <a:buClr>
                <a:schemeClr val="bg2"/>
              </a:buClr>
              <a:buSzPct val="75000"/>
              <a:buNone/>
            </a:pPr>
            <a:r>
              <a:rPr lang="zh-CN" altLang="en-US" sz="3200" dirty="0">
                <a:latin typeface="宋体" panose="02010600030101010101" pitchFamily="2" charset="-122"/>
              </a:rPr>
              <a:t>struct student s1 = {1001, "ZhangLi", 78, 87, 85};</a:t>
            </a:r>
          </a:p>
          <a:p>
            <a:pPr lvl="1" eaLnBrk="1" hangingPunct="1">
              <a:buClr>
                <a:schemeClr val="bg2"/>
              </a:buClr>
              <a:buSzPct val="75000"/>
              <a:buFont typeface="Wingdings" panose="05000000000000000000" pitchFamily="2" charset="2"/>
              <a:buChar char="n"/>
            </a:pPr>
            <a:endParaRPr lang="zh-CN" altLang="en-US" sz="3200" dirty="0">
              <a:latin typeface="宋体" panose="02010600030101010101" pitchFamily="2" charset="-122"/>
            </a:endParaRPr>
          </a:p>
        </p:txBody>
      </p:sp>
      <p:sp>
        <p:nvSpPr>
          <p:cNvPr id="30724" name="Rectangle 4"/>
          <p:cNvSpPr/>
          <p:nvPr/>
        </p:nvSpPr>
        <p:spPr>
          <a:xfrm>
            <a:off x="457200" y="2514600"/>
            <a:ext cx="8686800" cy="43434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lnSpc>
                <a:spcPct val="90000"/>
              </a:lnSpc>
              <a:buClr>
                <a:schemeClr val="tx2"/>
              </a:buClr>
              <a:buSzPct val="80000"/>
              <a:buNone/>
            </a:pPr>
            <a:endParaRPr lang="zh-CN" altLang="en-US" sz="2800" b="0" dirty="0">
              <a:solidFill>
                <a:srgbClr val="FFFF00"/>
              </a:solidFill>
            </a:endParaRPr>
          </a:p>
        </p:txBody>
      </p:sp>
      <p:graphicFrame>
        <p:nvGraphicFramePr>
          <p:cNvPr id="2" name="对象 1"/>
          <p:cNvGraphicFramePr/>
          <p:nvPr/>
        </p:nvGraphicFramePr>
        <p:xfrm>
          <a:off x="1932305" y="4586605"/>
          <a:ext cx="5979160" cy="2009775"/>
        </p:xfrm>
        <a:graphic>
          <a:graphicData uri="http://schemas.openxmlformats.org/presentationml/2006/ole">
            <mc:AlternateContent xmlns:mc="http://schemas.openxmlformats.org/markup-compatibility/2006">
              <mc:Choice xmlns:v="urn:schemas-microsoft-com:vml" Requires="v">
                <p:oleObj spid="_x0000_s2582" r:id="rId4" imgW="5105400" imgH="1513205" progId="Word.Document.8">
                  <p:embed/>
                </p:oleObj>
              </mc:Choice>
              <mc:Fallback>
                <p:oleObj r:id="rId4" imgW="5105400" imgH="1513205" progId="Word.Document.8">
                  <p:embed/>
                  <p:pic>
                    <p:nvPicPr>
                      <p:cNvPr id="0" name="图片 2"/>
                      <p:cNvPicPr/>
                      <p:nvPr/>
                    </p:nvPicPr>
                    <p:blipFill>
                      <a:blip r:embed="rId5"/>
                      <a:stretch>
                        <a:fillRect/>
                      </a:stretch>
                    </p:blipFill>
                    <p:spPr>
                      <a:xfrm>
                        <a:off x="1932305" y="4586605"/>
                        <a:ext cx="5979160" cy="200977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753110" y="672783"/>
            <a:ext cx="8229600" cy="955675"/>
          </a:xfrm>
        </p:spPr>
        <p:txBody>
          <a:bodyPr vert="horz" wrap="square" lIns="91440" tIns="45720" rIns="91440" bIns="45720" anchor="ctr"/>
          <a:lstStyle/>
          <a:p>
            <a:pPr eaLnBrk="1" hangingPunct="1"/>
            <a:r>
              <a:rPr lang="zh-CN" altLang="en-US" dirty="0" smtClean="0">
                <a:sym typeface="+mn-ea"/>
              </a:rPr>
              <a:t>结构体变量整体</a:t>
            </a:r>
            <a:r>
              <a:rPr lang="zh-CN" altLang="en-US" dirty="0">
                <a:sym typeface="+mn-ea"/>
              </a:rPr>
              <a:t>赋值</a:t>
            </a:r>
            <a:endParaRPr lang="zh-CN" altLang="en-US" dirty="0"/>
          </a:p>
        </p:txBody>
      </p:sp>
      <p:sp>
        <p:nvSpPr>
          <p:cNvPr id="437251" name="Rectangle 3"/>
          <p:cNvSpPr>
            <a:spLocks noGrp="1"/>
          </p:cNvSpPr>
          <p:nvPr>
            <p:ph idx="1"/>
          </p:nvPr>
        </p:nvSpPr>
        <p:spPr>
          <a:xfrm>
            <a:off x="732790" y="1628775"/>
            <a:ext cx="8249920" cy="4608195"/>
          </a:xfrm>
        </p:spPr>
        <p:txBody>
          <a:bodyPr vert="horz" wrap="square" lIns="91440" tIns="45720" rIns="91440" bIns="45720" anchor="t"/>
          <a:lstStyle/>
          <a:p>
            <a:pPr marL="0" indent="0" eaLnBrk="1" hangingPunct="1">
              <a:buNone/>
            </a:pPr>
            <a:r>
              <a:rPr lang="zh-CN" altLang="en-US" sz="2400" dirty="0"/>
              <a:t>C语言允许对具有相同类型的</a:t>
            </a:r>
            <a:r>
              <a:rPr lang="zh-CN" altLang="en-US" sz="2400" dirty="0" smtClean="0"/>
              <a:t>结构体变量</a:t>
            </a:r>
            <a:r>
              <a:rPr lang="zh-CN" altLang="en-US" sz="2400" dirty="0"/>
              <a:t>进行整体赋值</a:t>
            </a:r>
            <a:r>
              <a:rPr lang="zh-CN" altLang="en-US" sz="2400" dirty="0" smtClean="0"/>
              <a:t>。赋值</a:t>
            </a:r>
            <a:r>
              <a:rPr lang="zh-CN" altLang="en-US" sz="2400" dirty="0"/>
              <a:t>时，将赋值符号右边</a:t>
            </a:r>
            <a:r>
              <a:rPr lang="zh-CN" altLang="en-US" sz="2400" dirty="0" smtClean="0"/>
              <a:t>结构体变量</a:t>
            </a:r>
            <a:r>
              <a:rPr lang="zh-CN" altLang="en-US" sz="2400" dirty="0"/>
              <a:t>的每一个成员的值都赋给</a:t>
            </a:r>
          </a:p>
          <a:p>
            <a:pPr marL="609600" indent="-609600" eaLnBrk="1" hangingPunct="1">
              <a:buNone/>
            </a:pPr>
            <a:r>
              <a:rPr lang="zh-CN" altLang="en-US" sz="2400" dirty="0"/>
              <a:t>了左边</a:t>
            </a:r>
            <a:r>
              <a:rPr lang="zh-CN" altLang="en-US" sz="2400" dirty="0" smtClean="0"/>
              <a:t>结构</a:t>
            </a:r>
            <a:r>
              <a:rPr lang="zh-CN" altLang="en-US" sz="2400" dirty="0"/>
              <a:t>体</a:t>
            </a:r>
            <a:r>
              <a:rPr lang="zh-CN" altLang="en-US" sz="2400" dirty="0" smtClean="0"/>
              <a:t>变量</a:t>
            </a:r>
            <a:r>
              <a:rPr lang="zh-CN" altLang="en-US" sz="2400" dirty="0"/>
              <a:t>中相应的成员。</a:t>
            </a:r>
            <a:r>
              <a:rPr lang="zh-CN" altLang="en-US" dirty="0"/>
              <a:t> </a:t>
            </a:r>
          </a:p>
          <a:p>
            <a:pPr marL="609600" indent="-609600" eaLnBrk="1" hangingPunct="1">
              <a:buNone/>
            </a:pPr>
            <a:endParaRPr lang="zh-CN" altLang="en-US" dirty="0"/>
          </a:p>
          <a:p>
            <a:pPr marL="609600" indent="-609600" eaLnBrk="1" hangingPunct="1">
              <a:buNone/>
            </a:pPr>
            <a:r>
              <a:rPr lang="en-US" altLang="zh-CN" sz="2000" dirty="0"/>
              <a:t>struct student s1 = {1001, "ZhangLi", 78, 87, 85};//s1各成员赋了初值</a:t>
            </a:r>
          </a:p>
          <a:p>
            <a:pPr marL="609600" indent="-609600" eaLnBrk="1" hangingPunct="1">
              <a:spcBef>
                <a:spcPct val="0"/>
              </a:spcBef>
              <a:buNone/>
            </a:pPr>
            <a:r>
              <a:rPr lang="en-US" altLang="zh-CN" sz="2000" dirty="0"/>
              <a:t>struct student s2;</a:t>
            </a:r>
          </a:p>
          <a:p>
            <a:pPr marL="609600" indent="-609600" eaLnBrk="1" hangingPunct="1">
              <a:spcBef>
                <a:spcPct val="0"/>
              </a:spcBef>
              <a:buNone/>
            </a:pPr>
            <a:r>
              <a:rPr lang="en-US" altLang="zh-CN" sz="2000" dirty="0">
                <a:solidFill>
                  <a:srgbClr val="FF3300"/>
                </a:solidFill>
              </a:rPr>
              <a:t>s2 = s1;</a:t>
            </a:r>
            <a:r>
              <a:rPr lang="en-US" altLang="zh-CN" sz="2000" dirty="0"/>
              <a:t>//整体赋值后s2各成员的值与s1各成员的值对应相等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例</a:t>
            </a:r>
            <a:r>
              <a:rPr lang="en-US" altLang="zh-CN" dirty="0" smtClean="0"/>
              <a:t>6-18 </a:t>
            </a:r>
            <a:r>
              <a:rPr lang="zh-CN" altLang="en-US" dirty="0" smtClean="0"/>
              <a:t>结构体变量的定义使用赋值</a:t>
            </a:r>
            <a:endParaRPr lang="zh-CN" altLang="en-US" dirty="0"/>
          </a:p>
        </p:txBody>
      </p:sp>
      <p:sp>
        <p:nvSpPr>
          <p:cNvPr id="3" name="内容占位符 2"/>
          <p:cNvSpPr>
            <a:spLocks noGrp="1"/>
          </p:cNvSpPr>
          <p:nvPr>
            <p:ph idx="1"/>
          </p:nvPr>
        </p:nvSpPr>
        <p:spPr>
          <a:xfrm>
            <a:off x="899592" y="1691491"/>
            <a:ext cx="7993063" cy="5157787"/>
          </a:xfrm>
        </p:spPr>
        <p:txBody>
          <a:bodyPr/>
          <a:lstStyle/>
          <a:p>
            <a:pPr marL="0" indent="0">
              <a:spcBef>
                <a:spcPts val="0"/>
              </a:spcBef>
              <a:buNone/>
            </a:pPr>
            <a:r>
              <a:rPr lang="en-US" altLang="zh-CN" sz="1400" dirty="0"/>
              <a:t># include &lt;stdio.h&gt;</a:t>
            </a:r>
          </a:p>
          <a:p>
            <a:pPr marL="0" indent="0">
              <a:spcBef>
                <a:spcPts val="0"/>
              </a:spcBef>
              <a:buNone/>
            </a:pPr>
            <a:r>
              <a:rPr lang="en-US" altLang="zh-CN" sz="1400" dirty="0"/>
              <a:t>struct student{</a:t>
            </a:r>
          </a:p>
          <a:p>
            <a:pPr marL="0" indent="0">
              <a:spcBef>
                <a:spcPts val="0"/>
              </a:spcBef>
              <a:buNone/>
            </a:pPr>
            <a:r>
              <a:rPr lang="en-US" altLang="zh-CN" sz="1400" dirty="0"/>
              <a:t>	int num;                   /* </a:t>
            </a:r>
            <a:r>
              <a:rPr lang="zh-CN" altLang="en-US" sz="1400" dirty="0"/>
              <a:t>学号 *</a:t>
            </a:r>
            <a:r>
              <a:rPr lang="en-US" altLang="zh-CN" sz="1400" dirty="0"/>
              <a:t>/</a:t>
            </a:r>
          </a:p>
          <a:p>
            <a:pPr marL="0" indent="0">
              <a:spcBef>
                <a:spcPts val="0"/>
              </a:spcBef>
              <a:buNone/>
            </a:pPr>
            <a:r>
              <a:rPr lang="en-US" altLang="zh-CN" sz="1400" dirty="0"/>
              <a:t>	char name[10];             /* </a:t>
            </a:r>
            <a:r>
              <a:rPr lang="zh-CN" altLang="en-US" sz="1400" dirty="0"/>
              <a:t>姓名 *</a:t>
            </a:r>
            <a:r>
              <a:rPr lang="en-US" altLang="zh-CN" sz="1400" dirty="0"/>
              <a:t>/</a:t>
            </a:r>
          </a:p>
          <a:p>
            <a:pPr marL="0" indent="0">
              <a:spcBef>
                <a:spcPts val="0"/>
              </a:spcBef>
              <a:buNone/>
            </a:pPr>
            <a:r>
              <a:rPr lang="en-US" altLang="zh-CN" sz="1400" dirty="0"/>
              <a:t>	int math,english,computer;    /* </a:t>
            </a:r>
            <a:r>
              <a:rPr lang="zh-CN" altLang="en-US" sz="1400" dirty="0"/>
              <a:t>三门课程成绩 *</a:t>
            </a:r>
            <a:r>
              <a:rPr lang="en-US" altLang="zh-CN" sz="1400" dirty="0"/>
              <a:t>/</a:t>
            </a:r>
          </a:p>
          <a:p>
            <a:pPr marL="0" indent="0">
              <a:spcBef>
                <a:spcPts val="0"/>
              </a:spcBef>
              <a:buNone/>
            </a:pPr>
            <a:r>
              <a:rPr lang="en-US" altLang="zh-CN" sz="1400" dirty="0"/>
              <a:t>	double average;             /* </a:t>
            </a:r>
            <a:r>
              <a:rPr lang="zh-CN" altLang="en-US" sz="1400" dirty="0"/>
              <a:t>个人平均成绩 *</a:t>
            </a:r>
            <a:r>
              <a:rPr lang="en-US" altLang="zh-CN" sz="1400" dirty="0"/>
              <a:t>/</a:t>
            </a:r>
          </a:p>
          <a:p>
            <a:pPr marL="0" indent="0">
              <a:spcBef>
                <a:spcPts val="0"/>
              </a:spcBef>
              <a:buNone/>
            </a:pPr>
            <a:r>
              <a:rPr lang="en-US" altLang="zh-CN" sz="1400" dirty="0" smtClean="0"/>
              <a:t>};</a:t>
            </a:r>
            <a:endParaRPr lang="en-US" altLang="zh-CN" sz="1400" dirty="0"/>
          </a:p>
          <a:p>
            <a:pPr marL="0" indent="0">
              <a:spcBef>
                <a:spcPts val="0"/>
              </a:spcBef>
              <a:buNone/>
            </a:pPr>
            <a:r>
              <a:rPr lang="en-US" altLang="zh-CN" sz="1400" dirty="0"/>
              <a:t>int main </a:t>
            </a:r>
            <a:r>
              <a:rPr lang="en-US" altLang="zh-CN" sz="1400" dirty="0" smtClean="0"/>
              <a:t>()</a:t>
            </a:r>
            <a:endParaRPr lang="en-US" altLang="zh-CN" sz="1400" dirty="0"/>
          </a:p>
          <a:p>
            <a:pPr marL="0" indent="0">
              <a:spcBef>
                <a:spcPts val="0"/>
              </a:spcBef>
              <a:buNone/>
            </a:pPr>
            <a:r>
              <a:rPr lang="en-US" altLang="zh-CN" sz="1400" dirty="0"/>
              <a:t>{ </a:t>
            </a:r>
            <a:endParaRPr lang="en-US" altLang="zh-CN" sz="1400" dirty="0" smtClean="0"/>
          </a:p>
          <a:p>
            <a:pPr marL="0" indent="0">
              <a:spcBef>
                <a:spcPts val="0"/>
              </a:spcBef>
              <a:buNone/>
            </a:pPr>
            <a:r>
              <a:rPr lang="en-US" altLang="zh-CN" sz="1400" dirty="0" smtClean="0"/>
              <a:t>	struct student s1 = {1001, "ZhangLi", 78, 87, 85};</a:t>
            </a:r>
          </a:p>
          <a:p>
            <a:pPr marL="0" indent="0">
              <a:spcBef>
                <a:spcPts val="0"/>
              </a:spcBef>
              <a:buNone/>
            </a:pPr>
            <a:r>
              <a:rPr lang="en-US" altLang="zh-CN" sz="1400" dirty="0"/>
              <a:t>	struct student s2,s3</a:t>
            </a:r>
            <a:r>
              <a:rPr lang="en-US" altLang="zh-CN" sz="1400" dirty="0" smtClean="0"/>
              <a:t>;</a:t>
            </a:r>
            <a:r>
              <a:rPr lang="en-US" altLang="zh-CN" sz="1400" dirty="0"/>
              <a:t>	</a:t>
            </a:r>
          </a:p>
          <a:p>
            <a:pPr marL="0" indent="0">
              <a:spcBef>
                <a:spcPts val="0"/>
              </a:spcBef>
              <a:buNone/>
            </a:pPr>
            <a:r>
              <a:rPr lang="en-US" altLang="zh-CN" sz="1400" dirty="0"/>
              <a:t>	s2=s1;</a:t>
            </a:r>
          </a:p>
          <a:p>
            <a:pPr marL="0" indent="0">
              <a:spcBef>
                <a:spcPts val="0"/>
              </a:spcBef>
              <a:buNone/>
            </a:pPr>
            <a:r>
              <a:rPr lang="en-US" altLang="zh-CN" sz="1400" dirty="0"/>
              <a:t>	/*s1</a:t>
            </a:r>
            <a:r>
              <a:rPr lang="zh-CN" altLang="en-US" sz="1400" dirty="0"/>
              <a:t>和</a:t>
            </a:r>
            <a:r>
              <a:rPr lang="en-US" altLang="zh-CN" sz="1400" dirty="0"/>
              <a:t>s2</a:t>
            </a:r>
            <a:r>
              <a:rPr lang="zh-CN" altLang="en-US" sz="1400" dirty="0"/>
              <a:t>成员值相同，</a:t>
            </a:r>
            <a:r>
              <a:rPr lang="en-US" altLang="zh-CN" sz="1400" dirty="0"/>
              <a:t>s3</a:t>
            </a:r>
            <a:r>
              <a:rPr lang="zh-CN" altLang="en-US" sz="1400" dirty="0"/>
              <a:t>的各成员值从键盘输入*</a:t>
            </a:r>
            <a:r>
              <a:rPr lang="en-US" altLang="zh-CN" sz="1400" dirty="0"/>
              <a:t>/</a:t>
            </a:r>
          </a:p>
          <a:p>
            <a:pPr marL="0" indent="0">
              <a:spcBef>
                <a:spcPts val="0"/>
              </a:spcBef>
              <a:buNone/>
            </a:pPr>
            <a:r>
              <a:rPr lang="en-US" altLang="zh-CN" sz="1400" dirty="0"/>
              <a:t>	scanf("%d</a:t>
            </a:r>
            <a:r>
              <a:rPr lang="en-US" altLang="zh-CN" sz="1400" dirty="0">
                <a:solidFill>
                  <a:srgbClr val="FF0000"/>
                </a:solidFill>
              </a:rPr>
              <a:t>%s</a:t>
            </a:r>
            <a:r>
              <a:rPr lang="en-US" altLang="zh-CN" sz="1400" dirty="0"/>
              <a:t>%d%d%d",&amp;s3.num,</a:t>
            </a:r>
            <a:r>
              <a:rPr lang="en-US" altLang="zh-CN" sz="1400" dirty="0">
                <a:solidFill>
                  <a:srgbClr val="FF0000"/>
                </a:solidFill>
              </a:rPr>
              <a:t>s3.name</a:t>
            </a:r>
            <a:r>
              <a:rPr lang="en-US" altLang="zh-CN" sz="1400" dirty="0"/>
              <a:t>,&amp;s3.math,&amp;s3.english,&amp;s3.computer</a:t>
            </a:r>
            <a:r>
              <a:rPr lang="en-US" altLang="zh-CN" sz="1400" dirty="0" smtClean="0"/>
              <a:t>);</a:t>
            </a:r>
            <a:endParaRPr lang="en-US" altLang="zh-CN" sz="1400" dirty="0"/>
          </a:p>
          <a:p>
            <a:pPr marL="0" indent="0">
              <a:spcBef>
                <a:spcPts val="0"/>
              </a:spcBef>
              <a:buNone/>
            </a:pPr>
            <a:r>
              <a:rPr lang="en-US" altLang="zh-CN" sz="1400" dirty="0"/>
              <a:t>	printf("s1:%d %s %d %d %d\n",s1.num,s1.name,s1.math,s1.english,s1.computer);</a:t>
            </a:r>
          </a:p>
          <a:p>
            <a:pPr marL="0" indent="0">
              <a:spcBef>
                <a:spcPts val="0"/>
              </a:spcBef>
              <a:buNone/>
            </a:pPr>
            <a:r>
              <a:rPr lang="en-US" altLang="zh-CN" sz="1400" dirty="0"/>
              <a:t>	printf("s2:%d %s %d %d %d\n",s2.num,s2.name,s2.math,s2.english,s2.computer);</a:t>
            </a:r>
          </a:p>
          <a:p>
            <a:pPr marL="0" indent="0">
              <a:spcBef>
                <a:spcPts val="0"/>
              </a:spcBef>
              <a:buNone/>
            </a:pPr>
            <a:r>
              <a:rPr lang="en-US" altLang="zh-CN" sz="1400" dirty="0"/>
              <a:t>	printf("s3:%d %s %d %d %d\n",s3.num,s3.name,s3.math,s3.english,s3.computer</a:t>
            </a:r>
            <a:r>
              <a:rPr lang="en-US" altLang="zh-CN" sz="1400" dirty="0" smtClean="0"/>
              <a:t>);</a:t>
            </a:r>
            <a:endParaRPr lang="en-US" altLang="zh-CN" sz="1400" dirty="0"/>
          </a:p>
          <a:p>
            <a:pPr marL="0" indent="0">
              <a:spcBef>
                <a:spcPts val="0"/>
              </a:spcBef>
              <a:buNone/>
            </a:pPr>
            <a:r>
              <a:rPr lang="en-US" altLang="zh-CN" sz="1400" dirty="0"/>
              <a:t>	return 0;</a:t>
            </a:r>
          </a:p>
          <a:p>
            <a:pPr marL="0" indent="0">
              <a:spcBef>
                <a:spcPts val="0"/>
              </a:spcBef>
              <a:buNone/>
            </a:pPr>
            <a:r>
              <a:rPr lang="en-US" altLang="zh-CN" sz="1400" dirty="0"/>
              <a:t>}</a:t>
            </a:r>
            <a:endParaRPr lang="zh-CN" altLang="en-US" sz="14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98</a:t>
            </a:fld>
            <a:endParaRPr lang="en-US" altLang="zh-CN" dirty="0"/>
          </a:p>
        </p:txBody>
      </p:sp>
    </p:spTree>
    <p:extLst>
      <p:ext uri="{BB962C8B-B14F-4D97-AF65-F5344CB8AC3E}">
        <p14:creationId xmlns:p14="http://schemas.microsoft.com/office/powerpoint/2010/main" val="2834401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复数乘积</a:t>
            </a:r>
          </a:p>
        </p:txBody>
      </p:sp>
      <p:sp>
        <p:nvSpPr>
          <p:cNvPr id="3" name="内容占位符 2"/>
          <p:cNvSpPr>
            <a:spLocks noGrp="1"/>
          </p:cNvSpPr>
          <p:nvPr>
            <p:ph idx="1"/>
          </p:nvPr>
        </p:nvSpPr>
        <p:spPr/>
        <p:txBody>
          <a:bodyPr/>
          <a:lstStyle/>
          <a:p>
            <a:r>
              <a:rPr lang="zh-CN" altLang="en-US" sz="2000" dirty="0"/>
              <a:t>输入</a:t>
            </a:r>
            <a:r>
              <a:rPr lang="en-US" altLang="zh-CN" sz="2000" dirty="0"/>
              <a:t>4</a:t>
            </a:r>
            <a:r>
              <a:rPr lang="zh-CN" altLang="en-US" sz="2000" dirty="0"/>
              <a:t>个整数</a:t>
            </a:r>
            <a:r>
              <a:rPr lang="en-US" altLang="zh-CN" sz="2000" dirty="0"/>
              <a:t>a1,a2,b1,b2,</a:t>
            </a:r>
            <a:r>
              <a:rPr lang="zh-CN" altLang="en-US" sz="2000" dirty="0"/>
              <a:t>分别表示</a:t>
            </a:r>
            <a:r>
              <a:rPr lang="en-US" altLang="zh-CN" sz="2000" dirty="0"/>
              <a:t>2</a:t>
            </a:r>
            <a:r>
              <a:rPr lang="zh-CN" altLang="en-US" sz="2000" dirty="0"/>
              <a:t>个复数的实部与虚部。利用结构变量求解</a:t>
            </a:r>
            <a:r>
              <a:rPr lang="en-US" altLang="zh-CN" sz="2000" dirty="0"/>
              <a:t>2</a:t>
            </a:r>
            <a:r>
              <a:rPr lang="zh-CN" altLang="en-US" sz="2000" dirty="0"/>
              <a:t>个复数之积：（</a:t>
            </a:r>
            <a:r>
              <a:rPr lang="en-US" altLang="zh-CN" sz="2000" dirty="0"/>
              <a:t>a1+a2i</a:t>
            </a:r>
            <a:r>
              <a:rPr lang="zh-CN" altLang="en-US" sz="2000" dirty="0"/>
              <a:t>）</a:t>
            </a:r>
            <a:r>
              <a:rPr lang="en-US" altLang="zh-CN" sz="2000" dirty="0"/>
              <a:t>×(b1+b2i)</a:t>
            </a:r>
            <a:r>
              <a:rPr lang="zh-CN" altLang="en-US" sz="2000" dirty="0"/>
              <a:t>，乘积的实部为：</a:t>
            </a:r>
            <a:r>
              <a:rPr lang="en-US" altLang="zh-CN" sz="2000" dirty="0"/>
              <a:t>a1×b1-a2×b2,</a:t>
            </a:r>
            <a:r>
              <a:rPr lang="zh-CN" altLang="en-US" sz="2000" dirty="0"/>
              <a:t>虚部为：</a:t>
            </a:r>
            <a:r>
              <a:rPr lang="en-US" altLang="zh-CN" sz="2000" dirty="0"/>
              <a:t>a1×b2+a2×b1</a:t>
            </a:r>
          </a:p>
          <a:p>
            <a:pPr marL="0" indent="0">
              <a:buNone/>
            </a:pPr>
            <a:r>
              <a:rPr lang="en-US" altLang="zh-CN" sz="2000" dirty="0"/>
              <a:t>【</a:t>
            </a:r>
            <a:r>
              <a:rPr lang="zh-CN" altLang="en-US" sz="2000" dirty="0"/>
              <a:t>输入形式</a:t>
            </a:r>
            <a:r>
              <a:rPr lang="en-US" altLang="zh-CN" sz="2000" dirty="0"/>
              <a:t>】</a:t>
            </a:r>
          </a:p>
          <a:p>
            <a:r>
              <a:rPr lang="zh-CN" altLang="en-US" sz="2000" dirty="0"/>
              <a:t>依次输入</a:t>
            </a:r>
            <a:r>
              <a:rPr lang="en-US" altLang="zh-CN" sz="2000" dirty="0"/>
              <a:t>4</a:t>
            </a:r>
            <a:r>
              <a:rPr lang="zh-CN" altLang="en-US" sz="2000" dirty="0"/>
              <a:t>个整数</a:t>
            </a:r>
            <a:r>
              <a:rPr lang="en-US" altLang="zh-CN" sz="2000" dirty="0"/>
              <a:t>a1,a2,b1,b2,</a:t>
            </a:r>
            <a:r>
              <a:rPr lang="zh-CN" altLang="en-US" sz="2000" dirty="0"/>
              <a:t>分别表示</a:t>
            </a:r>
            <a:r>
              <a:rPr lang="en-US" altLang="zh-CN" sz="2000" dirty="0"/>
              <a:t>2</a:t>
            </a:r>
            <a:r>
              <a:rPr lang="zh-CN" altLang="en-US" sz="2000" dirty="0"/>
              <a:t>个复数的实部与虚部</a:t>
            </a:r>
          </a:p>
          <a:p>
            <a:pPr marL="0" indent="0">
              <a:buNone/>
            </a:pPr>
            <a:r>
              <a:rPr lang="en-US" altLang="zh-CN" sz="2000" dirty="0"/>
              <a:t>【</a:t>
            </a:r>
            <a:r>
              <a:rPr lang="zh-CN" altLang="en-US" sz="2000" dirty="0"/>
              <a:t>输入输出样例</a:t>
            </a:r>
            <a:r>
              <a:rPr lang="en-US" altLang="zh-CN" sz="2000" dirty="0" smtClean="0"/>
              <a:t>】</a:t>
            </a:r>
          </a:p>
          <a:p>
            <a:pPr marL="0" indent="0">
              <a:buNone/>
            </a:pPr>
            <a:r>
              <a:rPr lang="en-US" altLang="zh-CN" sz="2000" dirty="0" smtClean="0"/>
              <a:t>Input </a:t>
            </a:r>
            <a:r>
              <a:rPr lang="en-US" altLang="zh-CN" sz="2000" dirty="0"/>
              <a:t>a1,a2,b1,b2:3 4 5 6</a:t>
            </a:r>
          </a:p>
          <a:p>
            <a:pPr marL="0" indent="0">
              <a:buNone/>
            </a:pPr>
            <a:r>
              <a:rPr lang="en-US" altLang="zh-CN" sz="2000" dirty="0"/>
              <a:t>(3+4i)×(5+6i)=-9+38i</a:t>
            </a:r>
          </a:p>
          <a:p>
            <a:pPr marL="0" indent="0">
              <a:buNone/>
            </a:pPr>
            <a:r>
              <a:rPr lang="en-US" altLang="zh-CN" sz="2000" dirty="0"/>
              <a:t>【</a:t>
            </a:r>
            <a:r>
              <a:rPr lang="zh-CN" altLang="en-US" sz="2000" dirty="0"/>
              <a:t>样例说明</a:t>
            </a:r>
            <a:r>
              <a:rPr lang="en-US" altLang="zh-CN" sz="2000" dirty="0"/>
              <a:t>】</a:t>
            </a:r>
          </a:p>
          <a:p>
            <a:r>
              <a:rPr lang="zh-CN" altLang="en-US" sz="2000" dirty="0"/>
              <a:t>输出积复数，输出格式为</a:t>
            </a:r>
            <a:r>
              <a:rPr lang="en-US" altLang="zh-CN" sz="2000" dirty="0"/>
              <a:t>(%d+%di)*(%d+%di)=%d+%di</a:t>
            </a:r>
          </a:p>
          <a:p>
            <a:endParaRPr lang="zh-CN" altLang="en-US" sz="20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99</a:t>
            </a:fld>
            <a:endParaRPr lang="en-US" altLang="zh-CN" dirty="0"/>
          </a:p>
        </p:txBody>
      </p:sp>
    </p:spTree>
    <p:extLst>
      <p:ext uri="{BB962C8B-B14F-4D97-AF65-F5344CB8AC3E}">
        <p14:creationId xmlns:p14="http://schemas.microsoft.com/office/powerpoint/2010/main" val="367452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980728"/>
            <a:ext cx="8964488" cy="4520277"/>
          </a:xfrm>
        </p:spPr>
        <p:txBody>
          <a:bodyPr/>
          <a:lstStyle/>
          <a:p>
            <a:pPr marL="0" indent="0">
              <a:spcBef>
                <a:spcPts val="0"/>
              </a:spcBef>
              <a:buNone/>
            </a:pPr>
            <a:r>
              <a:rPr lang="en-US" altLang="zh-CN" sz="1800" dirty="0"/>
              <a:t>#include &lt;</a:t>
            </a:r>
            <a:r>
              <a:rPr lang="en-US" altLang="zh-CN" sz="1800" dirty="0" err="1"/>
              <a:t>stdio.h</a:t>
            </a:r>
            <a:r>
              <a:rPr lang="en-US" altLang="zh-CN" sz="1800" dirty="0"/>
              <a:t>&gt;</a:t>
            </a:r>
          </a:p>
          <a:p>
            <a:pPr marL="0" indent="0">
              <a:spcBef>
                <a:spcPts val="0"/>
              </a:spcBef>
              <a:buNone/>
            </a:pPr>
            <a:r>
              <a:rPr lang="en-US" altLang="zh-CN" sz="1800" dirty="0" err="1"/>
              <a:t>int</a:t>
            </a:r>
            <a:r>
              <a:rPr lang="en-US" altLang="zh-CN" sz="1800" dirty="0"/>
              <a:t> main()</a:t>
            </a:r>
          </a:p>
          <a:p>
            <a:pPr marL="0" indent="0">
              <a:spcBef>
                <a:spcPts val="0"/>
              </a:spcBef>
              <a:buNone/>
            </a:pPr>
            <a:r>
              <a:rPr lang="en-US" altLang="zh-CN" sz="1800" dirty="0"/>
              <a:t>{</a:t>
            </a:r>
          </a:p>
          <a:p>
            <a:pPr marL="0" indent="0">
              <a:spcBef>
                <a:spcPts val="0"/>
              </a:spcBef>
              <a:buNone/>
            </a:pPr>
            <a:r>
              <a:rPr lang="en-US" altLang="zh-CN" sz="1800" dirty="0"/>
              <a:t>	</a:t>
            </a:r>
            <a:r>
              <a:rPr lang="en-US" altLang="zh-CN" sz="1800" dirty="0" err="1"/>
              <a:t>struct</a:t>
            </a:r>
            <a:r>
              <a:rPr lang="en-US" altLang="zh-CN" sz="1800" dirty="0"/>
              <a:t> complex</a:t>
            </a:r>
          </a:p>
          <a:p>
            <a:pPr marL="0" indent="0">
              <a:spcBef>
                <a:spcPts val="0"/>
              </a:spcBef>
              <a:buNone/>
            </a:pPr>
            <a:r>
              <a:rPr lang="en-US" altLang="zh-CN" sz="1800" dirty="0"/>
              <a:t>   </a:t>
            </a:r>
            <a:r>
              <a:rPr lang="en-US" altLang="zh-CN" sz="1800" dirty="0" smtClean="0"/>
              <a:t>           </a:t>
            </a:r>
            <a:r>
              <a:rPr lang="en-US" altLang="zh-CN" sz="1800" dirty="0"/>
              <a:t>{ </a:t>
            </a:r>
            <a:r>
              <a:rPr lang="en-US" altLang="zh-CN" sz="1800" dirty="0" err="1"/>
              <a:t>int</a:t>
            </a:r>
            <a:r>
              <a:rPr lang="en-US" altLang="zh-CN" sz="1800" dirty="0"/>
              <a:t> </a:t>
            </a:r>
            <a:r>
              <a:rPr lang="en-US" altLang="zh-CN" sz="1800" dirty="0" err="1"/>
              <a:t>real,im</a:t>
            </a:r>
            <a:r>
              <a:rPr lang="en-US" altLang="zh-CN" sz="1800" dirty="0"/>
              <a:t>; };</a:t>
            </a:r>
          </a:p>
          <a:p>
            <a:pPr marL="0" indent="0">
              <a:spcBef>
                <a:spcPts val="0"/>
              </a:spcBef>
              <a:buNone/>
            </a:pPr>
            <a:r>
              <a:rPr lang="en-US" altLang="zh-CN" sz="1800" dirty="0"/>
              <a:t>	</a:t>
            </a:r>
            <a:r>
              <a:rPr lang="en-US" altLang="zh-CN" sz="1800" dirty="0" err="1"/>
              <a:t>struct</a:t>
            </a:r>
            <a:r>
              <a:rPr lang="en-US" altLang="zh-CN" sz="1800" dirty="0"/>
              <a:t> complex </a:t>
            </a:r>
            <a:r>
              <a:rPr lang="en-US" altLang="zh-CN" sz="1800" dirty="0" err="1"/>
              <a:t>a,b,c</a:t>
            </a:r>
            <a:r>
              <a:rPr lang="en-US" altLang="zh-CN" sz="1800" dirty="0"/>
              <a:t>;</a:t>
            </a:r>
          </a:p>
          <a:p>
            <a:pPr marL="0" indent="0">
              <a:spcBef>
                <a:spcPts val="0"/>
              </a:spcBef>
              <a:buNone/>
            </a:pPr>
            <a:r>
              <a:rPr lang="en-US" altLang="zh-CN" sz="1800" dirty="0"/>
              <a:t>	</a:t>
            </a:r>
            <a:r>
              <a:rPr lang="en-US" altLang="zh-CN" sz="1800" dirty="0" err="1"/>
              <a:t>printf</a:t>
            </a:r>
            <a:r>
              <a:rPr lang="en-US" altLang="zh-CN" sz="1800" dirty="0"/>
              <a:t>("Input a1,a2,b1,b2:");</a:t>
            </a:r>
          </a:p>
          <a:p>
            <a:pPr marL="0" indent="0">
              <a:spcBef>
                <a:spcPts val="0"/>
              </a:spcBef>
              <a:buNone/>
            </a:pPr>
            <a:r>
              <a:rPr lang="en-US" altLang="zh-CN" sz="1800" dirty="0"/>
              <a:t>	</a:t>
            </a:r>
            <a:r>
              <a:rPr lang="en-US" altLang="zh-CN" sz="1800" dirty="0" err="1"/>
              <a:t>scanf</a:t>
            </a:r>
            <a:r>
              <a:rPr lang="en-US" altLang="zh-CN" sz="1800" dirty="0"/>
              <a:t>("%</a:t>
            </a:r>
            <a:r>
              <a:rPr lang="en-US" altLang="zh-CN" sz="1800" dirty="0" err="1"/>
              <a:t>d%d%d%d</a:t>
            </a:r>
            <a:r>
              <a:rPr lang="en-US" altLang="zh-CN" sz="1800" dirty="0"/>
              <a:t>",&amp;a.real,&amp;a.</a:t>
            </a:r>
            <a:r>
              <a:rPr lang="en-US" altLang="zh-CN" sz="1800" dirty="0" err="1"/>
              <a:t>im</a:t>
            </a:r>
            <a:r>
              <a:rPr lang="en-US" altLang="zh-CN" sz="1800" dirty="0"/>
              <a:t>,&amp;</a:t>
            </a:r>
            <a:r>
              <a:rPr lang="en-US" altLang="zh-CN" sz="1800" dirty="0" err="1"/>
              <a:t>b.real,&amp;b.im</a:t>
            </a:r>
            <a:r>
              <a:rPr lang="en-US" altLang="zh-CN" sz="1800" dirty="0"/>
              <a:t>);</a:t>
            </a:r>
          </a:p>
          <a:p>
            <a:pPr marL="0" indent="0">
              <a:spcBef>
                <a:spcPts val="0"/>
              </a:spcBef>
              <a:buNone/>
            </a:pPr>
            <a:r>
              <a:rPr lang="en-US" altLang="zh-CN" sz="1800" dirty="0"/>
              <a:t>	</a:t>
            </a:r>
            <a:r>
              <a:rPr lang="en-US" altLang="zh-CN" sz="1800" dirty="0" err="1"/>
              <a:t>c.real</a:t>
            </a:r>
            <a:r>
              <a:rPr lang="en-US" altLang="zh-CN" sz="1800" dirty="0"/>
              <a:t>=</a:t>
            </a:r>
            <a:r>
              <a:rPr lang="en-US" altLang="zh-CN" sz="1800" dirty="0" err="1"/>
              <a:t>a.real</a:t>
            </a:r>
            <a:r>
              <a:rPr lang="en-US" altLang="zh-CN" sz="1800" dirty="0"/>
              <a:t>*b.real-a.im*b.im;</a:t>
            </a:r>
          </a:p>
          <a:p>
            <a:pPr marL="0" indent="0">
              <a:spcBef>
                <a:spcPts val="0"/>
              </a:spcBef>
              <a:buNone/>
            </a:pPr>
            <a:r>
              <a:rPr lang="en-US" altLang="zh-CN" sz="1800" dirty="0"/>
              <a:t>	c.im=</a:t>
            </a:r>
            <a:r>
              <a:rPr lang="en-US" altLang="zh-CN" sz="1800" dirty="0" err="1"/>
              <a:t>a.real</a:t>
            </a:r>
            <a:r>
              <a:rPr lang="en-US" altLang="zh-CN" sz="1800" dirty="0"/>
              <a:t>*b.im+a.im*</a:t>
            </a:r>
            <a:r>
              <a:rPr lang="en-US" altLang="zh-CN" sz="1800" dirty="0" err="1"/>
              <a:t>b.real</a:t>
            </a:r>
            <a:r>
              <a:rPr lang="en-US" altLang="zh-CN" sz="1800" dirty="0"/>
              <a:t>;</a:t>
            </a:r>
          </a:p>
          <a:p>
            <a:pPr marL="0" indent="0">
              <a:spcBef>
                <a:spcPts val="0"/>
              </a:spcBef>
              <a:buNone/>
            </a:pPr>
            <a:r>
              <a:rPr lang="en-US" altLang="zh-CN" sz="1800" dirty="0"/>
              <a:t>	</a:t>
            </a:r>
            <a:r>
              <a:rPr lang="en-US" altLang="zh-CN" sz="1800" dirty="0" err="1"/>
              <a:t>printf</a:t>
            </a:r>
            <a:r>
              <a:rPr lang="en-US" altLang="zh-CN" sz="1800" dirty="0"/>
              <a:t>("(%d+%di)*(%d+%di)=%d+%di\n",</a:t>
            </a:r>
            <a:r>
              <a:rPr lang="en-US" altLang="zh-CN" sz="1800" dirty="0" err="1"/>
              <a:t>a.real,a.im,b.real,b.im,c.real,c.im</a:t>
            </a:r>
            <a:r>
              <a:rPr lang="en-US" altLang="zh-CN" sz="1800" dirty="0"/>
              <a:t>);</a:t>
            </a:r>
          </a:p>
          <a:p>
            <a:pPr marL="0" indent="0">
              <a:spcBef>
                <a:spcPts val="0"/>
              </a:spcBef>
              <a:buNone/>
            </a:pPr>
            <a:r>
              <a:rPr lang="en-US" altLang="zh-CN" sz="1800" dirty="0"/>
              <a:t>	return 0;</a:t>
            </a:r>
          </a:p>
          <a:p>
            <a:pPr marL="0" indent="0">
              <a:spcBef>
                <a:spcPts val="0"/>
              </a:spcBef>
              <a:buNone/>
            </a:pPr>
            <a:r>
              <a:rPr lang="en-US" altLang="zh-CN" sz="1800" dirty="0"/>
              <a:t>}</a:t>
            </a:r>
            <a:endParaRPr lang="zh-CN" altLang="en-US" sz="1800" dirty="0"/>
          </a:p>
        </p:txBody>
      </p:sp>
    </p:spTree>
    <p:extLst>
      <p:ext uri="{BB962C8B-B14F-4D97-AF65-F5344CB8AC3E}">
        <p14:creationId xmlns:p14="http://schemas.microsoft.com/office/powerpoint/2010/main" val="2928572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p>
        </p:txBody>
      </p:sp>
      <p:sp>
        <p:nvSpPr>
          <p:cNvPr id="3" name="内容占位符 2"/>
          <p:cNvSpPr>
            <a:spLocks noGrp="1"/>
          </p:cNvSpPr>
          <p:nvPr>
            <p:ph idx="1"/>
          </p:nvPr>
        </p:nvSpPr>
        <p:spPr>
          <a:xfrm>
            <a:off x="755650" y="1700213"/>
            <a:ext cx="7993063" cy="5157787"/>
          </a:xfrm>
        </p:spPr>
        <p:txBody>
          <a:bodyPr/>
          <a:lstStyle/>
          <a:p>
            <a:r>
              <a:rPr lang="zh-CN" altLang="en-US" dirty="0" smtClean="0"/>
              <a:t>输入</a:t>
            </a:r>
            <a:r>
              <a:rPr lang="en-US" altLang="zh-CN" dirty="0" smtClean="0"/>
              <a:t>n</a:t>
            </a:r>
            <a:r>
              <a:rPr lang="zh-CN" altLang="en-US" dirty="0" smtClean="0"/>
              <a:t>个学生的成绩信息，计算并输出每个学生的个人平均成绩。每个学生包含学号、姓名、三门课程成绩和平均成绩</a:t>
            </a:r>
            <a:endParaRPr lang="en-US" altLang="zh-CN" dirty="0" smtClean="0"/>
          </a:p>
          <a:p>
            <a:pPr marL="0" indent="0">
              <a:buNone/>
            </a:pPr>
            <a:r>
              <a:rPr lang="en-US" altLang="zh-CN" sz="2400" dirty="0" smtClean="0"/>
              <a:t>struct student</a:t>
            </a:r>
          </a:p>
          <a:p>
            <a:pPr marL="0" indent="0">
              <a:buNone/>
            </a:pPr>
            <a:r>
              <a:rPr lang="en-US" altLang="zh-CN" sz="2400" dirty="0" smtClean="0"/>
              <a:t>{</a:t>
            </a:r>
            <a:endParaRPr lang="en-US" altLang="zh-CN" sz="2400" dirty="0"/>
          </a:p>
          <a:p>
            <a:pPr marL="0" indent="0">
              <a:buNone/>
            </a:pPr>
            <a:r>
              <a:rPr lang="en-US" altLang="zh-CN" sz="2400" dirty="0"/>
              <a:t>  </a:t>
            </a:r>
            <a:r>
              <a:rPr lang="en-US" altLang="zh-CN" sz="2400" dirty="0" smtClean="0"/>
              <a:t>  int </a:t>
            </a:r>
            <a:r>
              <a:rPr lang="en-US" altLang="zh-CN" sz="2400" dirty="0"/>
              <a:t>num;                   /* </a:t>
            </a:r>
            <a:r>
              <a:rPr lang="zh-CN" altLang="en-US" sz="2400" dirty="0"/>
              <a:t>学号 *</a:t>
            </a:r>
            <a:r>
              <a:rPr lang="en-US" altLang="zh-CN" sz="2400" dirty="0"/>
              <a:t>/</a:t>
            </a:r>
          </a:p>
          <a:p>
            <a:pPr marL="0" indent="0">
              <a:buNone/>
            </a:pPr>
            <a:r>
              <a:rPr lang="en-US" altLang="zh-CN" sz="2400" dirty="0"/>
              <a:t>  </a:t>
            </a:r>
            <a:r>
              <a:rPr lang="en-US" altLang="zh-CN" sz="2400" dirty="0" smtClean="0"/>
              <a:t>  char </a:t>
            </a:r>
            <a:r>
              <a:rPr lang="en-US" altLang="zh-CN" sz="2400" dirty="0"/>
              <a:t>name[10];             /* </a:t>
            </a:r>
            <a:r>
              <a:rPr lang="zh-CN" altLang="en-US" sz="2400" dirty="0"/>
              <a:t>姓名 *</a:t>
            </a:r>
            <a:r>
              <a:rPr lang="en-US" altLang="zh-CN" sz="2400" dirty="0"/>
              <a:t>/</a:t>
            </a:r>
          </a:p>
          <a:p>
            <a:pPr marL="0" indent="0">
              <a:buNone/>
            </a:pPr>
            <a:r>
              <a:rPr lang="en-US" altLang="zh-CN" sz="2400" dirty="0"/>
              <a:t>  </a:t>
            </a:r>
            <a:r>
              <a:rPr lang="en-US" altLang="zh-CN" sz="2400" dirty="0" smtClean="0"/>
              <a:t>  int </a:t>
            </a:r>
            <a:r>
              <a:rPr lang="en-US" altLang="zh-CN" sz="2400" dirty="0"/>
              <a:t>computer, english, math;   /* </a:t>
            </a:r>
            <a:r>
              <a:rPr lang="zh-CN" altLang="en-US" sz="2400" dirty="0"/>
              <a:t>三门课程成绩 *</a:t>
            </a:r>
            <a:r>
              <a:rPr lang="en-US" altLang="zh-CN" sz="2400" dirty="0"/>
              <a:t>/</a:t>
            </a:r>
          </a:p>
          <a:p>
            <a:pPr marL="0" indent="0">
              <a:buNone/>
            </a:pPr>
            <a:r>
              <a:rPr lang="en-US" altLang="zh-CN" sz="2400" dirty="0"/>
              <a:t>  </a:t>
            </a:r>
            <a:r>
              <a:rPr lang="en-US" altLang="zh-CN" sz="2400" dirty="0" smtClean="0"/>
              <a:t>  double </a:t>
            </a:r>
            <a:r>
              <a:rPr lang="en-US" altLang="zh-CN" sz="2400" dirty="0"/>
              <a:t>average;              /* </a:t>
            </a:r>
            <a:r>
              <a:rPr lang="zh-CN" altLang="en-US" sz="2400" dirty="0"/>
              <a:t>个人平均成绩 *</a:t>
            </a:r>
            <a:r>
              <a:rPr lang="en-US" altLang="zh-CN" sz="2400" dirty="0"/>
              <a:t>/</a:t>
            </a:r>
          </a:p>
          <a:p>
            <a:pPr marL="0" indent="0">
              <a:buNone/>
            </a:pPr>
            <a:r>
              <a:rPr lang="en-US" altLang="zh-CN" sz="2400" dirty="0"/>
              <a:t>};</a:t>
            </a:r>
          </a:p>
          <a:p>
            <a:endParaRPr lang="zh-CN" altLang="en-US" dirty="0"/>
          </a:p>
        </p:txBody>
      </p:sp>
    </p:spTree>
    <p:extLst>
      <p:ext uri="{BB962C8B-B14F-4D97-AF65-F5344CB8AC3E}">
        <p14:creationId xmlns:p14="http://schemas.microsoft.com/office/powerpoint/2010/main" val="5991931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22652"/>
            <a:ext cx="8641209" cy="6835347"/>
          </a:xfrm>
        </p:spPr>
        <p:txBody>
          <a:bodyPr/>
          <a:lstStyle/>
          <a:p>
            <a:pPr marL="0" indent="0">
              <a:spcBef>
                <a:spcPts val="0"/>
              </a:spcBef>
              <a:buNone/>
            </a:pPr>
            <a:r>
              <a:rPr lang="en-US" altLang="zh-CN" sz="1600" dirty="0">
                <a:solidFill>
                  <a:schemeClr val="tx1"/>
                </a:solidFill>
              </a:rPr>
              <a:t>#include &lt;</a:t>
            </a:r>
            <a:r>
              <a:rPr lang="en-US" altLang="zh-CN" sz="1600" dirty="0" err="1">
                <a:solidFill>
                  <a:schemeClr val="tx1"/>
                </a:solidFill>
              </a:rPr>
              <a:t>stdio.h</a:t>
            </a:r>
            <a:r>
              <a:rPr lang="en-US" altLang="zh-CN" sz="1600" dirty="0">
                <a:solidFill>
                  <a:schemeClr val="tx1"/>
                </a:solidFill>
              </a:rPr>
              <a:t>&gt;</a:t>
            </a:r>
          </a:p>
          <a:p>
            <a:pPr marL="0" indent="0">
              <a:spcBef>
                <a:spcPts val="0"/>
              </a:spcBef>
              <a:buNone/>
            </a:pPr>
            <a:r>
              <a:rPr lang="en-US" altLang="zh-CN" sz="1600" dirty="0" err="1">
                <a:solidFill>
                  <a:schemeClr val="tx1"/>
                </a:solidFill>
              </a:rPr>
              <a:t>int</a:t>
            </a:r>
            <a:r>
              <a:rPr lang="en-US" altLang="zh-CN" sz="1600" dirty="0">
                <a:solidFill>
                  <a:schemeClr val="tx1"/>
                </a:solidFill>
              </a:rPr>
              <a:t> main()</a:t>
            </a:r>
          </a:p>
          <a:p>
            <a:pPr marL="0" indent="0">
              <a:spcBef>
                <a:spcPts val="0"/>
              </a:spcBef>
              <a:buNone/>
            </a:pP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struct</a:t>
            </a:r>
            <a:r>
              <a:rPr lang="en-US" altLang="zh-CN" sz="1600" dirty="0">
                <a:solidFill>
                  <a:schemeClr val="tx1"/>
                </a:solidFill>
              </a:rPr>
              <a:t> student</a:t>
            </a: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    </a:t>
            </a:r>
            <a:r>
              <a:rPr lang="en-US" altLang="zh-CN" sz="1600" dirty="0" err="1">
                <a:solidFill>
                  <a:schemeClr val="tx1"/>
                </a:solidFill>
              </a:rPr>
              <a:t>int</a:t>
            </a:r>
            <a:r>
              <a:rPr lang="en-US" altLang="zh-CN" sz="1600" dirty="0">
                <a:solidFill>
                  <a:schemeClr val="tx1"/>
                </a:solidFill>
              </a:rPr>
              <a:t> </a:t>
            </a:r>
            <a:r>
              <a:rPr lang="en-US" altLang="zh-CN" sz="1600" dirty="0" err="1">
                <a:solidFill>
                  <a:schemeClr val="tx1"/>
                </a:solidFill>
              </a:rPr>
              <a:t>num</a:t>
            </a:r>
            <a:r>
              <a:rPr lang="en-US" altLang="zh-CN" sz="1600" dirty="0">
                <a:solidFill>
                  <a:schemeClr val="tx1"/>
                </a:solidFill>
              </a:rPr>
              <a:t>;                   /* </a:t>
            </a:r>
            <a:r>
              <a:rPr lang="zh-CN" altLang="en-US" sz="1600" dirty="0">
                <a:solidFill>
                  <a:schemeClr val="tx1"/>
                </a:solidFill>
              </a:rPr>
              <a:t>学号 *</a:t>
            </a:r>
            <a:r>
              <a:rPr lang="en-US" altLang="zh-CN" sz="1600" dirty="0">
                <a:solidFill>
                  <a:schemeClr val="tx1"/>
                </a:solidFill>
              </a:rPr>
              <a:t>/</a:t>
            </a:r>
          </a:p>
          <a:p>
            <a:pPr marL="0" indent="0">
              <a:spcBef>
                <a:spcPts val="0"/>
              </a:spcBef>
              <a:buNone/>
            </a:pPr>
            <a:r>
              <a:rPr lang="en-US" altLang="zh-CN" sz="1600" dirty="0">
                <a:solidFill>
                  <a:schemeClr val="tx1"/>
                </a:solidFill>
              </a:rPr>
              <a:t>    char name[10];             /* </a:t>
            </a:r>
            <a:r>
              <a:rPr lang="zh-CN" altLang="en-US" sz="1600" dirty="0">
                <a:solidFill>
                  <a:schemeClr val="tx1"/>
                </a:solidFill>
              </a:rPr>
              <a:t>姓名 *</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int</a:t>
            </a:r>
            <a:r>
              <a:rPr lang="en-US" altLang="zh-CN" sz="1600" dirty="0">
                <a:solidFill>
                  <a:schemeClr val="tx1"/>
                </a:solidFill>
              </a:rPr>
              <a:t> computer, </a:t>
            </a:r>
            <a:r>
              <a:rPr lang="en-US" altLang="zh-CN" sz="1600" dirty="0" err="1">
                <a:solidFill>
                  <a:schemeClr val="tx1"/>
                </a:solidFill>
              </a:rPr>
              <a:t>english</a:t>
            </a:r>
            <a:r>
              <a:rPr lang="en-US" altLang="zh-CN" sz="1600" dirty="0">
                <a:solidFill>
                  <a:schemeClr val="tx1"/>
                </a:solidFill>
              </a:rPr>
              <a:t>, math;   /* </a:t>
            </a:r>
            <a:r>
              <a:rPr lang="zh-CN" altLang="en-US" sz="1600" dirty="0">
                <a:solidFill>
                  <a:schemeClr val="tx1"/>
                </a:solidFill>
              </a:rPr>
              <a:t>三门课程成绩 *</a:t>
            </a:r>
            <a:r>
              <a:rPr lang="en-US" altLang="zh-CN" sz="1600" dirty="0">
                <a:solidFill>
                  <a:schemeClr val="tx1"/>
                </a:solidFill>
              </a:rPr>
              <a:t>/</a:t>
            </a:r>
          </a:p>
          <a:p>
            <a:pPr marL="0" indent="0">
              <a:spcBef>
                <a:spcPts val="0"/>
              </a:spcBef>
              <a:buNone/>
            </a:pPr>
            <a:r>
              <a:rPr lang="en-US" altLang="zh-CN" sz="1600" dirty="0">
                <a:solidFill>
                  <a:schemeClr val="tx1"/>
                </a:solidFill>
              </a:rPr>
              <a:t>    double average;              /* </a:t>
            </a:r>
            <a:r>
              <a:rPr lang="zh-CN" altLang="en-US" sz="1600" dirty="0">
                <a:solidFill>
                  <a:schemeClr val="tx1"/>
                </a:solidFill>
              </a:rPr>
              <a:t>个人平均成绩 *</a:t>
            </a:r>
            <a:r>
              <a:rPr lang="en-US" altLang="zh-CN" sz="1600" dirty="0">
                <a:solidFill>
                  <a:schemeClr val="tx1"/>
                </a:solidFill>
              </a:rPr>
              <a:t>/</a:t>
            </a: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  </a:t>
            </a:r>
            <a:r>
              <a:rPr lang="en-US" altLang="zh-CN" sz="1600" dirty="0" err="1">
                <a:solidFill>
                  <a:schemeClr val="tx1"/>
                </a:solidFill>
              </a:rPr>
              <a:t>int</a:t>
            </a:r>
            <a:r>
              <a:rPr lang="en-US" altLang="zh-CN" sz="1600" dirty="0">
                <a:solidFill>
                  <a:schemeClr val="tx1"/>
                </a:solidFill>
              </a:rPr>
              <a:t> </a:t>
            </a:r>
            <a:r>
              <a:rPr lang="en-US" altLang="zh-CN" sz="1600" dirty="0" err="1">
                <a:solidFill>
                  <a:schemeClr val="tx1"/>
                </a:solidFill>
              </a:rPr>
              <a:t>i</a:t>
            </a:r>
            <a:r>
              <a:rPr lang="en-US" altLang="zh-CN" sz="1600" dirty="0">
                <a:solidFill>
                  <a:schemeClr val="tx1"/>
                </a:solidFill>
              </a:rPr>
              <a:t>, n;  </a:t>
            </a:r>
            <a:r>
              <a:rPr lang="en-US" altLang="zh-CN" sz="1600" dirty="0" err="1">
                <a:solidFill>
                  <a:schemeClr val="tx1"/>
                </a:solidFill>
              </a:rPr>
              <a:t>struct</a:t>
            </a:r>
            <a:r>
              <a:rPr lang="en-US" altLang="zh-CN" sz="1600" dirty="0">
                <a:solidFill>
                  <a:schemeClr val="tx1"/>
                </a:solidFill>
              </a:rPr>
              <a:t> student s1;   /* </a:t>
            </a:r>
            <a:r>
              <a:rPr lang="zh-CN" altLang="en-US" sz="1600" dirty="0">
                <a:solidFill>
                  <a:schemeClr val="tx1"/>
                </a:solidFill>
              </a:rPr>
              <a:t>定义</a:t>
            </a:r>
            <a:r>
              <a:rPr lang="zh-CN" altLang="en-US" sz="1600" dirty="0" smtClean="0">
                <a:solidFill>
                  <a:schemeClr val="tx1"/>
                </a:solidFill>
              </a:rPr>
              <a:t>结构体变量 </a:t>
            </a:r>
            <a:r>
              <a:rPr lang="zh-CN" altLang="en-US" sz="1600" dirty="0">
                <a:solidFill>
                  <a:schemeClr val="tx1"/>
                </a:solidFill>
              </a:rPr>
              <a:t>*</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("Input n: ");</a:t>
            </a:r>
          </a:p>
          <a:p>
            <a:pPr marL="0" indent="0">
              <a:spcBef>
                <a:spcPts val="0"/>
              </a:spcBef>
              <a:buNone/>
            </a:pPr>
            <a:r>
              <a:rPr lang="en-US" altLang="zh-CN" sz="1600" dirty="0">
                <a:solidFill>
                  <a:schemeClr val="tx1"/>
                </a:solidFill>
              </a:rPr>
              <a:t>  </a:t>
            </a:r>
            <a:r>
              <a:rPr lang="en-US" altLang="zh-CN" sz="1600" dirty="0" err="1">
                <a:solidFill>
                  <a:schemeClr val="tx1"/>
                </a:solidFill>
              </a:rPr>
              <a:t>scanf</a:t>
            </a:r>
            <a:r>
              <a:rPr lang="en-US" altLang="zh-CN" sz="1600" dirty="0">
                <a:solidFill>
                  <a:schemeClr val="tx1"/>
                </a:solidFill>
              </a:rPr>
              <a:t>("%d", &amp;n);</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("Input the student’s number, name and course scores\n");</a:t>
            </a:r>
          </a:p>
          <a:p>
            <a:pPr marL="0" indent="0">
              <a:spcBef>
                <a:spcPts val="0"/>
              </a:spcBef>
              <a:buNone/>
            </a:pPr>
            <a:r>
              <a:rPr lang="en-US" altLang="zh-CN" sz="1600" dirty="0">
                <a:solidFill>
                  <a:schemeClr val="tx1"/>
                </a:solidFill>
              </a:rPr>
              <a:t>  for(</a:t>
            </a:r>
            <a:r>
              <a:rPr lang="en-US" altLang="zh-CN" sz="1600" dirty="0" err="1">
                <a:solidFill>
                  <a:schemeClr val="tx1"/>
                </a:solidFill>
              </a:rPr>
              <a:t>i</a:t>
            </a:r>
            <a:r>
              <a:rPr lang="en-US" altLang="zh-CN" sz="1600" dirty="0">
                <a:solidFill>
                  <a:schemeClr val="tx1"/>
                </a:solidFill>
              </a:rPr>
              <a:t> = 1; </a:t>
            </a:r>
            <a:r>
              <a:rPr lang="en-US" altLang="zh-CN" sz="1600" dirty="0" err="1">
                <a:solidFill>
                  <a:schemeClr val="tx1"/>
                </a:solidFill>
              </a:rPr>
              <a:t>i</a:t>
            </a:r>
            <a:r>
              <a:rPr lang="en-US" altLang="zh-CN" sz="1600" dirty="0">
                <a:solidFill>
                  <a:schemeClr val="tx1"/>
                </a:solidFill>
              </a:rPr>
              <a:t> &lt;= n; </a:t>
            </a:r>
            <a:r>
              <a:rPr lang="en-US" altLang="zh-CN" sz="1600" dirty="0" err="1">
                <a:solidFill>
                  <a:schemeClr val="tx1"/>
                </a:solidFill>
              </a:rPr>
              <a:t>i</a:t>
            </a:r>
            <a:r>
              <a:rPr lang="en-US" altLang="zh-CN" sz="1600" dirty="0">
                <a:solidFill>
                  <a:schemeClr val="tx1"/>
                </a:solidFill>
              </a:rPr>
              <a:t>++)</a:t>
            </a: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a:t>
            </a:r>
            <a:r>
              <a:rPr lang="en-US" altLang="zh-CN" sz="1600" dirty="0" err="1">
                <a:solidFill>
                  <a:schemeClr val="tx1"/>
                </a:solidFill>
              </a:rPr>
              <a:t>No.%d</a:t>
            </a:r>
            <a:r>
              <a:rPr lang="en-US" altLang="zh-CN" sz="1600" dirty="0">
                <a:solidFill>
                  <a:schemeClr val="tx1"/>
                </a:solidFill>
              </a:rPr>
              <a:t>: ", </a:t>
            </a:r>
            <a:r>
              <a:rPr lang="en-US" altLang="zh-CN" sz="1600" dirty="0" err="1">
                <a:solidFill>
                  <a:schemeClr val="tx1"/>
                </a:solidFill>
              </a:rPr>
              <a:t>i</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scanf</a:t>
            </a:r>
            <a:r>
              <a:rPr lang="en-US" altLang="zh-CN" sz="1600" dirty="0">
                <a:solidFill>
                  <a:schemeClr val="tx1"/>
                </a:solidFill>
              </a:rPr>
              <a:t>("%d%s%d%d%d",&amp;s1.num,s1.name,&amp;s1.math,&amp;s1.english,&amp;s1.computer);</a:t>
            </a:r>
          </a:p>
          <a:p>
            <a:pPr marL="0" indent="0">
              <a:spcBef>
                <a:spcPts val="0"/>
              </a:spcBef>
              <a:buNone/>
            </a:pPr>
            <a:r>
              <a:rPr lang="en-US" altLang="zh-CN" sz="1600" dirty="0">
                <a:solidFill>
                  <a:schemeClr val="tx1"/>
                </a:solidFill>
              </a:rPr>
              <a:t>    s1.average = (s1.math+s1.english+s1.computer)/3;</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a:t>
            </a:r>
            <a:r>
              <a:rPr lang="en-US" altLang="zh-CN" sz="1600" dirty="0" err="1">
                <a:solidFill>
                  <a:schemeClr val="tx1"/>
                </a:solidFill>
              </a:rPr>
              <a:t>num</a:t>
            </a:r>
            <a:r>
              <a:rPr lang="en-US" altLang="zh-CN" sz="1600" dirty="0">
                <a:solidFill>
                  <a:schemeClr val="tx1"/>
                </a:solidFill>
              </a:rPr>
              <a:t>:%d, name:%s, average:%.2lf\n", s1.num, s1.name, s1.average);</a:t>
            </a: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return 0;</a:t>
            </a:r>
          </a:p>
          <a:p>
            <a:pPr marL="0" indent="0">
              <a:spcBef>
                <a:spcPts val="0"/>
              </a:spcBef>
              <a:buNone/>
            </a:pPr>
            <a:r>
              <a:rPr lang="en-US" altLang="zh-CN" sz="1600" dirty="0">
                <a:solidFill>
                  <a:schemeClr val="tx1"/>
                </a:solidFill>
              </a:rPr>
              <a:t>}</a:t>
            </a:r>
            <a:endParaRPr lang="zh-CN" altLang="en-US" sz="1600" dirty="0">
              <a:solidFill>
                <a:schemeClr val="tx1"/>
              </a:solidFill>
            </a:endParaRPr>
          </a:p>
        </p:txBody>
      </p:sp>
    </p:spTree>
    <p:extLst>
      <p:ext uri="{BB962C8B-B14F-4D97-AF65-F5344CB8AC3E}">
        <p14:creationId xmlns:p14="http://schemas.microsoft.com/office/powerpoint/2010/main" val="918936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2101058" y="2936082"/>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6.2.2 </a:t>
            </a:r>
            <a:r>
              <a:rPr lang="zh-CN" altLang="en-US" sz="4000" b="1" dirty="0" smtClean="0">
                <a:effectLst>
                  <a:outerShdw blurRad="38100" dist="38100" dir="2700000" algn="tl">
                    <a:srgbClr val="C0C0C0"/>
                  </a:outerShdw>
                </a:effectLst>
                <a:ea typeface="黑体" panose="02010609060101010101" pitchFamily="2" charset="-122"/>
              </a:rPr>
              <a:t>结构体数组</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1467856801"/>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idx="1"/>
          </p:nvPr>
        </p:nvSpPr>
        <p:spPr>
          <a:xfrm>
            <a:off x="754063" y="1630363"/>
            <a:ext cx="8229600" cy="4967288"/>
          </a:xfrm>
        </p:spPr>
        <p:txBody>
          <a:bodyPr vert="horz" wrap="square" lIns="91440" tIns="45720" rIns="91440" bIns="45720" numCol="1" anchor="t" anchorCtr="0" compatLnSpc="1"/>
          <a:lstStyle/>
          <a:p>
            <a:pPr marR="0" lvl="0" algn="just" rtl="0" fontAlgn="base" latinLnBrk="0">
              <a:lnSpc>
                <a:spcPct val="120000"/>
              </a:lnSpc>
              <a:spcBef>
                <a:spcPct val="20000"/>
              </a:spcBef>
              <a:buSzPct val="75000"/>
              <a:buChar char="·"/>
            </a:pPr>
            <a:r>
              <a:rPr kumimoji="0" lang="zh-CN" altLang="en-US" sz="2400" b="1" i="0" u="none" strike="noStrike" kern="0" cap="none" spc="0" normalizeH="0" baseline="0" dirty="0">
                <a:effectLst>
                  <a:outerShdw blurRad="38100" dist="38100" dir="2700000" algn="tl">
                    <a:srgbClr val="C0C0C0"/>
                  </a:outerShdw>
                </a:effectLst>
                <a:ea typeface="+mn-ea"/>
                <a:cs typeface="+mn-cs"/>
              </a:rPr>
              <a:t>上述的一个</a:t>
            </a:r>
            <a:r>
              <a:rPr kumimoji="0" lang="zh-CN" altLang="en-US" sz="2400" b="1" i="0" u="none" strike="noStrike" kern="0" cap="none" spc="0" normalizeH="0" baseline="0" dirty="0" smtClean="0">
                <a:effectLst>
                  <a:outerShdw blurRad="38100" dist="38100" dir="2700000" algn="tl">
                    <a:srgbClr val="C0C0C0"/>
                  </a:outerShdw>
                </a:effectLst>
                <a:ea typeface="+mn-ea"/>
                <a:cs typeface="+mn-cs"/>
              </a:rPr>
              <a:t>结构体变量</a:t>
            </a:r>
            <a:r>
              <a:rPr kumimoji="0" lang="zh-CN" altLang="en-US" sz="2400" b="1" i="0" u="none" strike="noStrike" kern="0" cap="none" spc="0" normalizeH="0" baseline="0" dirty="0">
                <a:effectLst>
                  <a:outerShdw blurRad="38100" dist="38100" dir="2700000" algn="tl">
                    <a:srgbClr val="C0C0C0"/>
                  </a:outerShdw>
                </a:effectLst>
                <a:ea typeface="+mn-ea"/>
                <a:cs typeface="+mn-cs"/>
              </a:rPr>
              <a:t>只能表示学生成绩表内一个学生的信息，而实际的学生成绩表内有多个学生的信息，此时需要使用</a:t>
            </a:r>
            <a:r>
              <a:rPr kumimoji="0" lang="zh-CN" altLang="en-US" sz="2400" b="1" i="0" u="none" strike="noStrike" kern="0" cap="none" spc="0" normalizeH="0" baseline="0" dirty="0" smtClean="0">
                <a:effectLst>
                  <a:outerShdw blurRad="38100" dist="38100" dir="2700000" algn="tl">
                    <a:srgbClr val="C0C0C0"/>
                  </a:outerShdw>
                </a:effectLst>
                <a:ea typeface="+mn-ea"/>
                <a:cs typeface="+mn-cs"/>
              </a:rPr>
              <a:t>结构体数组</a:t>
            </a:r>
            <a:r>
              <a:rPr kumimoji="0" lang="zh-CN" altLang="en-US" sz="2400" b="1" i="0" u="none" strike="noStrike" kern="0" cap="none" spc="0" normalizeH="0" baseline="0" dirty="0">
                <a:effectLst>
                  <a:outerShdw blurRad="38100" dist="38100" dir="2700000" algn="tl">
                    <a:srgbClr val="C0C0C0"/>
                  </a:outerShdw>
                </a:effectLst>
                <a:ea typeface="+mn-ea"/>
                <a:cs typeface="+mn-cs"/>
              </a:rPr>
              <a:t>。</a:t>
            </a:r>
          </a:p>
          <a:p>
            <a:pPr marR="0" lvl="0" algn="just" rtl="0" fontAlgn="base" latinLnBrk="0">
              <a:lnSpc>
                <a:spcPct val="120000"/>
              </a:lnSpc>
              <a:spcBef>
                <a:spcPct val="20000"/>
              </a:spcBef>
              <a:buSzPct val="75000"/>
              <a:buChar char="·"/>
            </a:pPr>
            <a:r>
              <a:rPr kumimoji="0" lang="zh-CN" altLang="en-US" sz="2400" b="1" i="0" u="none" strike="noStrike" kern="0" cap="none" spc="0" normalizeH="0" baseline="0" dirty="0">
                <a:effectLst>
                  <a:outerShdw blurRad="38100" dist="38100" dir="2700000" algn="tl">
                    <a:srgbClr val="C0C0C0"/>
                  </a:outerShdw>
                </a:effectLst>
                <a:ea typeface="+mn-ea"/>
                <a:cs typeface="+mn-cs"/>
              </a:rPr>
              <a:t>结构体数组本质上也是数组，与普通数组的不同之处在于每个数组元素都是一个</a:t>
            </a:r>
            <a:r>
              <a:rPr kumimoji="0" lang="zh-CN" altLang="en-US" sz="2400" b="1" i="0" u="none" strike="noStrike" kern="0" cap="none" spc="0" normalizeH="0" baseline="0" dirty="0" smtClean="0">
                <a:effectLst>
                  <a:outerShdw blurRad="38100" dist="38100" dir="2700000" algn="tl">
                    <a:srgbClr val="C0C0C0"/>
                  </a:outerShdw>
                </a:effectLst>
                <a:ea typeface="+mn-ea"/>
                <a:cs typeface="+mn-cs"/>
              </a:rPr>
              <a:t>结构体类型</a:t>
            </a:r>
            <a:r>
              <a:rPr kumimoji="0" lang="zh-CN" altLang="en-US" sz="2400" b="1" i="0" u="none" strike="noStrike" kern="0" cap="none" spc="0" normalizeH="0" baseline="0" dirty="0">
                <a:effectLst>
                  <a:outerShdw blurRad="38100" dist="38100" dir="2700000" algn="tl">
                    <a:srgbClr val="C0C0C0"/>
                  </a:outerShdw>
                </a:effectLst>
                <a:ea typeface="+mn-ea"/>
                <a:cs typeface="+mn-cs"/>
              </a:rPr>
              <a:t>的变量。</a:t>
            </a:r>
            <a:r>
              <a:rPr lang="zh-CN" altLang="en-US" sz="2400" dirty="0">
                <a:solidFill>
                  <a:srgbClr val="FF3300"/>
                </a:solidFill>
                <a:sym typeface="+mn-ea"/>
              </a:rPr>
              <a:t>因此定义结构体数组时的数据类型需要是自定义过的一个结构体类型</a:t>
            </a:r>
            <a:r>
              <a:rPr kumimoji="0" lang="zh-CN" altLang="en-US" sz="2400" b="1" i="0" u="none" strike="noStrike" kern="0" cap="none" spc="0" normalizeH="0" baseline="0" dirty="0">
                <a:solidFill>
                  <a:srgbClr val="FF3300"/>
                </a:solidFill>
                <a:ea typeface="+mn-ea"/>
                <a:cs typeface="+mn-cs"/>
              </a:rPr>
              <a:t> 。</a:t>
            </a:r>
          </a:p>
        </p:txBody>
      </p:sp>
      <p:sp>
        <p:nvSpPr>
          <p:cNvPr id="37891" name="Rectangle 5"/>
          <p:cNvSpPr>
            <a:spLocks noGrp="1"/>
          </p:cNvSpPr>
          <p:nvPr>
            <p:ph type="title"/>
          </p:nvPr>
        </p:nvSpPr>
        <p:spPr>
          <a:xfrm>
            <a:off x="753110" y="672783"/>
            <a:ext cx="8229600" cy="955675"/>
          </a:xfrm>
        </p:spPr>
        <p:txBody>
          <a:bodyPr vert="horz" wrap="square" lIns="91440" tIns="45720" rIns="91440" bIns="45720" anchor="ctr"/>
          <a:lstStyle/>
          <a:p>
            <a:pPr eaLnBrk="1" hangingPunct="1"/>
            <a:r>
              <a:rPr lang="zh-CN" altLang="en-US" dirty="0" smtClean="0"/>
              <a:t>结构体数组</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结构体数组</a:t>
            </a:r>
            <a:endParaRPr lang="zh-CN" altLang="en-US" dirty="0"/>
          </a:p>
        </p:txBody>
      </p:sp>
      <p:sp>
        <p:nvSpPr>
          <p:cNvPr id="3" name="内容占位符 2"/>
          <p:cNvSpPr>
            <a:spLocks noGrp="1"/>
          </p:cNvSpPr>
          <p:nvPr>
            <p:ph idx="1"/>
          </p:nvPr>
        </p:nvSpPr>
        <p:spPr>
          <a:xfrm>
            <a:off x="827405" y="1700213"/>
            <a:ext cx="7993063" cy="4537075"/>
          </a:xfrm>
        </p:spPr>
        <p:txBody>
          <a:bodyPr/>
          <a:lstStyle/>
          <a:p>
            <a:r>
              <a:rPr lang="zh-CN" altLang="en-US" sz="2400" dirty="0"/>
              <a:t>例如： </a:t>
            </a:r>
          </a:p>
          <a:p>
            <a:pPr marL="0" indent="0">
              <a:buNone/>
            </a:pPr>
            <a:r>
              <a:rPr lang="zh-CN" altLang="en-US" sz="2400" dirty="0"/>
              <a:t>    </a:t>
            </a:r>
            <a:r>
              <a:rPr lang="zh-CN" altLang="en-US" sz="2400" dirty="0">
                <a:solidFill>
                  <a:srgbClr val="FF3300"/>
                </a:solidFill>
              </a:rPr>
              <a:t>struct student students[100]; </a:t>
            </a:r>
          </a:p>
          <a:p>
            <a:pPr marL="0" indent="0" algn="just">
              <a:buNone/>
            </a:pPr>
            <a:r>
              <a:rPr lang="zh-CN" altLang="en-US" sz="2400" dirty="0"/>
              <a:t>    基于自定义的struct student</a:t>
            </a:r>
            <a:r>
              <a:rPr lang="zh-CN" altLang="en-US" sz="2400" dirty="0" smtClean="0"/>
              <a:t>结构体类型</a:t>
            </a:r>
            <a:r>
              <a:rPr lang="zh-CN" altLang="en-US" sz="2400" dirty="0"/>
              <a:t>定义了一个数组students，它有100个数组元素，从students[0]到students[99]，每个数组元素都是一个</a:t>
            </a:r>
            <a:r>
              <a:rPr lang="zh-CN" altLang="en-US" sz="2400" dirty="0" smtClean="0"/>
              <a:t>结构体类型</a:t>
            </a:r>
            <a:r>
              <a:rPr lang="zh-CN" altLang="en-US" sz="2400" dirty="0"/>
              <a:t>struct student的变量，也就是说每个数组元素都可以用来表示一个学生的信息，那么这个数组就能够表示出共100个学生的信息。</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105</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结构体数组的初始化</a:t>
            </a:r>
          </a:p>
        </p:txBody>
      </p:sp>
      <p:sp>
        <p:nvSpPr>
          <p:cNvPr id="3" name="内容占位符 2"/>
          <p:cNvSpPr>
            <a:spLocks noGrp="1"/>
          </p:cNvSpPr>
          <p:nvPr>
            <p:ph idx="1"/>
          </p:nvPr>
        </p:nvSpPr>
        <p:spPr>
          <a:xfrm>
            <a:off x="827405" y="1700213"/>
            <a:ext cx="7993063" cy="4537075"/>
          </a:xfrm>
        </p:spPr>
        <p:txBody>
          <a:bodyPr/>
          <a:lstStyle/>
          <a:p>
            <a:pPr marL="0" indent="0">
              <a:buNone/>
            </a:pPr>
            <a:endParaRPr lang="zh-CN" altLang="en-US" sz="2400"/>
          </a:p>
          <a:p>
            <a:pPr marL="0" indent="0">
              <a:buNone/>
            </a:pPr>
            <a:r>
              <a:rPr lang="zh-CN" altLang="en-US" sz="2400"/>
              <a:t>struct student students[100] = {{1001,"ZhangLi", 76, 85, 78 }, {1002, "WangWu", 95, 80, 88} };  </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106</a:t>
            </a:fld>
            <a:endParaRPr lang="en-US" altLang="zh-CN" dirty="0"/>
          </a:p>
        </p:txBody>
      </p:sp>
      <p:pic>
        <p:nvPicPr>
          <p:cNvPr id="7" name="图片 6"/>
          <p:cNvPicPr>
            <a:picLocks noChangeAspect="1"/>
          </p:cNvPicPr>
          <p:nvPr/>
        </p:nvPicPr>
        <p:blipFill>
          <a:blip r:embed="rId2"/>
          <a:stretch>
            <a:fillRect/>
          </a:stretch>
        </p:blipFill>
        <p:spPr>
          <a:xfrm>
            <a:off x="1037590" y="3537585"/>
            <a:ext cx="7679055" cy="20205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结构体数组元素及其成员的使用</a:t>
            </a:r>
          </a:p>
        </p:txBody>
      </p:sp>
      <p:sp>
        <p:nvSpPr>
          <p:cNvPr id="3" name="内容占位符 2"/>
          <p:cNvSpPr>
            <a:spLocks noGrp="1"/>
          </p:cNvSpPr>
          <p:nvPr>
            <p:ph idx="1"/>
          </p:nvPr>
        </p:nvSpPr>
        <p:spPr>
          <a:xfrm>
            <a:off x="755650" y="1628458"/>
            <a:ext cx="7993063" cy="5229542"/>
          </a:xfrm>
        </p:spPr>
        <p:txBody>
          <a:bodyPr/>
          <a:lstStyle/>
          <a:p>
            <a:r>
              <a:rPr lang="zh-CN" altLang="en-US" dirty="0"/>
              <a:t>结构体数组的一个元素相当于一个结构体变量，使用方法同</a:t>
            </a:r>
            <a:r>
              <a:rPr lang="zh-CN" altLang="en-US" dirty="0" smtClean="0"/>
              <a:t>结构体变量</a:t>
            </a:r>
            <a:r>
              <a:rPr lang="zh-CN" altLang="en-US" dirty="0"/>
              <a:t>相同，例如：</a:t>
            </a:r>
          </a:p>
          <a:p>
            <a:pPr marL="0" indent="0">
              <a:buNone/>
            </a:pPr>
            <a:r>
              <a:rPr lang="zh-CN" altLang="en-US" dirty="0"/>
              <a:t>    students[i] = students[k]</a:t>
            </a:r>
          </a:p>
          <a:p>
            <a:pPr marL="0" indent="0">
              <a:buNone/>
            </a:pPr>
            <a:r>
              <a:rPr lang="zh-CN" altLang="en-US" dirty="0"/>
              <a:t> 就把数组元素students[k]整体赋值给students[i]</a:t>
            </a:r>
          </a:p>
          <a:p>
            <a:r>
              <a:rPr lang="zh-CN" altLang="en-US" dirty="0"/>
              <a:t>引用结构体元素的某一个成员，其格式是：</a:t>
            </a:r>
          </a:p>
          <a:p>
            <a:pPr marL="0" indent="0">
              <a:buNone/>
            </a:pPr>
            <a:r>
              <a:rPr lang="zh-CN" altLang="en-US" dirty="0">
                <a:solidFill>
                  <a:srgbClr val="FF3300"/>
                </a:solidFill>
              </a:rPr>
              <a:t>    </a:t>
            </a:r>
            <a:r>
              <a:rPr lang="zh-CN" altLang="en-US" dirty="0" smtClean="0">
                <a:solidFill>
                  <a:srgbClr val="FF3300"/>
                </a:solidFill>
              </a:rPr>
              <a:t>结构体数组</a:t>
            </a:r>
            <a:r>
              <a:rPr lang="zh-CN" altLang="en-US" dirty="0">
                <a:solidFill>
                  <a:srgbClr val="FF3300"/>
                </a:solidFill>
              </a:rPr>
              <a:t>名[下标] . </a:t>
            </a:r>
            <a:r>
              <a:rPr lang="zh-CN" altLang="en-US" dirty="0" smtClean="0">
                <a:solidFill>
                  <a:srgbClr val="FF3300"/>
                </a:solidFill>
              </a:rPr>
              <a:t>结构体成员</a:t>
            </a:r>
            <a:r>
              <a:rPr lang="zh-CN" altLang="en-US" dirty="0">
                <a:solidFill>
                  <a:srgbClr val="FF3300"/>
                </a:solidFill>
              </a:rPr>
              <a:t>名</a:t>
            </a:r>
          </a:p>
          <a:p>
            <a:pPr marL="0" indent="0">
              <a:buNone/>
            </a:pPr>
            <a:r>
              <a:rPr lang="zh-CN" altLang="en-US" dirty="0"/>
              <a:t>    例如：</a:t>
            </a:r>
          </a:p>
          <a:p>
            <a:pPr marL="0" indent="0">
              <a:buNone/>
            </a:pPr>
            <a:r>
              <a:rPr lang="zh-CN" altLang="en-US" dirty="0"/>
              <a:t>    students[i].num = 1001;</a:t>
            </a:r>
          </a:p>
          <a:p>
            <a:pPr marL="0" indent="0">
              <a:buNone/>
            </a:pPr>
            <a:r>
              <a:rPr lang="zh-CN" altLang="en-US" dirty="0"/>
              <a:t>    strcpy(students[i].name, "ZhangLi"); </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107</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88641"/>
            <a:ext cx="8569201" cy="6048648"/>
          </a:xfrm>
        </p:spPr>
        <p:txBody>
          <a:bodyPr/>
          <a:lstStyle/>
          <a:p>
            <a:pPr marL="0" indent="0">
              <a:buNone/>
            </a:pPr>
            <a:r>
              <a:rPr lang="en-US" altLang="zh-CN" sz="2400" dirty="0"/>
              <a:t>【</a:t>
            </a:r>
            <a:r>
              <a:rPr lang="zh-CN" altLang="en-US" sz="2400" dirty="0"/>
              <a:t>例</a:t>
            </a:r>
            <a:r>
              <a:rPr lang="en-US" altLang="zh-CN" sz="2400" dirty="0"/>
              <a:t>6-19】</a:t>
            </a:r>
            <a:r>
              <a:rPr lang="zh-CN" altLang="en-US" sz="2400" dirty="0"/>
              <a:t>综合演示结构体数组</a:t>
            </a:r>
          </a:p>
          <a:p>
            <a:pPr marL="0" indent="0">
              <a:buNone/>
            </a:pPr>
            <a:r>
              <a:rPr lang="en-US" altLang="zh-CN" sz="2400" dirty="0"/>
              <a:t># include &lt;stdio.h&gt;</a:t>
            </a:r>
          </a:p>
          <a:p>
            <a:pPr marL="0" indent="0">
              <a:buNone/>
            </a:pPr>
            <a:r>
              <a:rPr lang="en-US" altLang="zh-CN" sz="2400" dirty="0"/>
              <a:t>struct student{</a:t>
            </a:r>
          </a:p>
          <a:p>
            <a:pPr marL="0" indent="0">
              <a:buNone/>
            </a:pPr>
            <a:r>
              <a:rPr lang="en-US" altLang="zh-CN" sz="2400" dirty="0"/>
              <a:t>	int num;                   /* </a:t>
            </a:r>
            <a:r>
              <a:rPr lang="zh-CN" altLang="en-US" sz="2400" dirty="0"/>
              <a:t>学号 *</a:t>
            </a:r>
            <a:r>
              <a:rPr lang="en-US" altLang="zh-CN" sz="2400" dirty="0"/>
              <a:t>/</a:t>
            </a:r>
          </a:p>
          <a:p>
            <a:pPr marL="0" indent="0">
              <a:buNone/>
            </a:pPr>
            <a:r>
              <a:rPr lang="en-US" altLang="zh-CN" sz="2400" dirty="0"/>
              <a:t>	char name[10];             /* </a:t>
            </a:r>
            <a:r>
              <a:rPr lang="zh-CN" altLang="en-US" sz="2400" dirty="0"/>
              <a:t>姓名 *</a:t>
            </a:r>
            <a:r>
              <a:rPr lang="en-US" altLang="zh-CN" sz="2400" dirty="0"/>
              <a:t>/</a:t>
            </a:r>
          </a:p>
          <a:p>
            <a:pPr marL="0" indent="0">
              <a:buNone/>
            </a:pPr>
            <a:r>
              <a:rPr lang="en-US" altLang="zh-CN" sz="2400" dirty="0"/>
              <a:t>	int math,english,computer;    /* </a:t>
            </a:r>
            <a:r>
              <a:rPr lang="zh-CN" altLang="en-US" sz="2400" dirty="0"/>
              <a:t>三门课程成绩 *</a:t>
            </a:r>
            <a:r>
              <a:rPr lang="en-US" altLang="zh-CN" sz="2400" dirty="0"/>
              <a:t>/</a:t>
            </a:r>
          </a:p>
          <a:p>
            <a:pPr marL="0" indent="0">
              <a:buNone/>
            </a:pPr>
            <a:r>
              <a:rPr lang="en-US" altLang="zh-CN" sz="2400" dirty="0"/>
              <a:t>	double average;             /* </a:t>
            </a:r>
            <a:r>
              <a:rPr lang="zh-CN" altLang="en-US" sz="2400" dirty="0"/>
              <a:t>个人平均成绩 *</a:t>
            </a:r>
            <a:r>
              <a:rPr lang="en-US" altLang="zh-CN" sz="2400" dirty="0"/>
              <a:t>/</a:t>
            </a:r>
          </a:p>
          <a:p>
            <a:pPr marL="0" indent="0">
              <a:buNone/>
            </a:pPr>
            <a:r>
              <a:rPr lang="en-US" altLang="zh-CN" sz="2400" dirty="0" smtClean="0"/>
              <a:t>};</a:t>
            </a:r>
            <a:endParaRPr lang="en-US" altLang="zh-CN" sz="2400" dirty="0"/>
          </a:p>
          <a:p>
            <a:pPr marL="0" indent="0">
              <a:buNone/>
            </a:pPr>
            <a:r>
              <a:rPr lang="en-US" altLang="zh-CN" sz="2400" dirty="0" err="1"/>
              <a:t>int</a:t>
            </a:r>
            <a:r>
              <a:rPr lang="en-US" altLang="zh-CN" sz="2400" dirty="0"/>
              <a:t> </a:t>
            </a:r>
            <a:r>
              <a:rPr lang="en-US" altLang="zh-CN" sz="2400" dirty="0" smtClean="0"/>
              <a:t>main()</a:t>
            </a:r>
            <a:endParaRPr lang="en-US" altLang="zh-CN" sz="2400" dirty="0"/>
          </a:p>
          <a:p>
            <a:pPr marL="0" indent="0">
              <a:buNone/>
            </a:pPr>
            <a:r>
              <a:rPr lang="en-US" altLang="zh-CN" sz="2400" dirty="0"/>
              <a:t>{</a:t>
            </a:r>
          </a:p>
          <a:p>
            <a:pPr marL="0" indent="0">
              <a:buNone/>
            </a:pPr>
            <a:r>
              <a:rPr lang="en-US" altLang="zh-CN" sz="2400" dirty="0"/>
              <a:t>    int i;</a:t>
            </a:r>
          </a:p>
          <a:p>
            <a:pPr marL="0" indent="0">
              <a:buNone/>
            </a:pPr>
            <a:r>
              <a:rPr lang="en-US" altLang="zh-CN" sz="2400" dirty="0"/>
              <a:t>    </a:t>
            </a:r>
            <a:r>
              <a:rPr lang="en-US" altLang="zh-CN" sz="2400" dirty="0">
                <a:solidFill>
                  <a:srgbClr val="FF3300"/>
                </a:solidFill>
              </a:rPr>
              <a:t>struct student </a:t>
            </a:r>
            <a:r>
              <a:rPr lang="en-US" altLang="zh-CN" sz="2400" dirty="0" smtClean="0">
                <a:solidFill>
                  <a:srgbClr val="FF3300"/>
                </a:solidFill>
              </a:rPr>
              <a:t>s [</a:t>
            </a:r>
            <a:r>
              <a:rPr lang="en-US" altLang="zh-CN" sz="2400" dirty="0">
                <a:solidFill>
                  <a:srgbClr val="FF3300"/>
                </a:solidFill>
              </a:rPr>
              <a:t>5</a:t>
            </a:r>
            <a:r>
              <a:rPr lang="en-US" altLang="zh-CN" sz="2400" dirty="0" smtClean="0">
                <a:solidFill>
                  <a:srgbClr val="FF3300"/>
                </a:solidFill>
              </a:rPr>
              <a:t>];</a:t>
            </a:r>
          </a:p>
          <a:p>
            <a:pPr marL="0" indent="0">
              <a:buNone/>
            </a:pPr>
            <a:r>
              <a:rPr lang="en-US" altLang="zh-CN" sz="2400" dirty="0"/>
              <a:t> </a:t>
            </a:r>
            <a:r>
              <a:rPr lang="en-US" altLang="zh-CN" sz="2400" dirty="0" smtClean="0"/>
              <a:t>   /*……*/</a:t>
            </a:r>
            <a:endParaRPr lang="en-US" altLang="zh-CN" sz="24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108</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22652"/>
            <a:ext cx="8641209" cy="6835347"/>
          </a:xfrm>
        </p:spPr>
        <p:txBody>
          <a:bodyPr/>
          <a:lstStyle/>
          <a:p>
            <a:pPr marL="0" indent="0">
              <a:spcBef>
                <a:spcPts val="0"/>
              </a:spcBef>
              <a:buNone/>
            </a:pPr>
            <a:r>
              <a:rPr lang="en-US" altLang="zh-CN" sz="1600" dirty="0">
                <a:solidFill>
                  <a:schemeClr val="tx1"/>
                </a:solidFill>
              </a:rPr>
              <a:t>#include &lt;</a:t>
            </a:r>
            <a:r>
              <a:rPr lang="en-US" altLang="zh-CN" sz="1600" dirty="0" err="1">
                <a:solidFill>
                  <a:schemeClr val="tx1"/>
                </a:solidFill>
              </a:rPr>
              <a:t>stdio.h</a:t>
            </a:r>
            <a:r>
              <a:rPr lang="en-US" altLang="zh-CN" sz="1600" dirty="0">
                <a:solidFill>
                  <a:schemeClr val="tx1"/>
                </a:solidFill>
              </a:rPr>
              <a:t>&gt;</a:t>
            </a:r>
          </a:p>
          <a:p>
            <a:pPr marL="0" indent="0">
              <a:spcBef>
                <a:spcPts val="0"/>
              </a:spcBef>
              <a:buNone/>
            </a:pPr>
            <a:r>
              <a:rPr lang="en-US" altLang="zh-CN" sz="1600" dirty="0" err="1">
                <a:solidFill>
                  <a:schemeClr val="tx1"/>
                </a:solidFill>
              </a:rPr>
              <a:t>int</a:t>
            </a:r>
            <a:r>
              <a:rPr lang="en-US" altLang="zh-CN" sz="1600" dirty="0">
                <a:solidFill>
                  <a:schemeClr val="tx1"/>
                </a:solidFill>
              </a:rPr>
              <a:t> main()</a:t>
            </a:r>
          </a:p>
          <a:p>
            <a:pPr marL="0" indent="0">
              <a:spcBef>
                <a:spcPts val="0"/>
              </a:spcBef>
              <a:buNone/>
            </a:pP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struct</a:t>
            </a:r>
            <a:r>
              <a:rPr lang="en-US" altLang="zh-CN" sz="1600" dirty="0">
                <a:solidFill>
                  <a:schemeClr val="tx1"/>
                </a:solidFill>
              </a:rPr>
              <a:t> student</a:t>
            </a: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    </a:t>
            </a:r>
            <a:r>
              <a:rPr lang="en-US" altLang="zh-CN" sz="1600" dirty="0" err="1">
                <a:solidFill>
                  <a:schemeClr val="tx1"/>
                </a:solidFill>
              </a:rPr>
              <a:t>int</a:t>
            </a:r>
            <a:r>
              <a:rPr lang="en-US" altLang="zh-CN" sz="1600" dirty="0">
                <a:solidFill>
                  <a:schemeClr val="tx1"/>
                </a:solidFill>
              </a:rPr>
              <a:t> </a:t>
            </a:r>
            <a:r>
              <a:rPr lang="en-US" altLang="zh-CN" sz="1600" dirty="0" err="1">
                <a:solidFill>
                  <a:schemeClr val="tx1"/>
                </a:solidFill>
              </a:rPr>
              <a:t>num</a:t>
            </a:r>
            <a:r>
              <a:rPr lang="en-US" altLang="zh-CN" sz="1600" dirty="0">
                <a:solidFill>
                  <a:schemeClr val="tx1"/>
                </a:solidFill>
              </a:rPr>
              <a:t>;                   /* </a:t>
            </a:r>
            <a:r>
              <a:rPr lang="zh-CN" altLang="en-US" sz="1600" dirty="0">
                <a:solidFill>
                  <a:schemeClr val="tx1"/>
                </a:solidFill>
              </a:rPr>
              <a:t>学号 *</a:t>
            </a:r>
            <a:r>
              <a:rPr lang="en-US" altLang="zh-CN" sz="1600" dirty="0">
                <a:solidFill>
                  <a:schemeClr val="tx1"/>
                </a:solidFill>
              </a:rPr>
              <a:t>/</a:t>
            </a:r>
          </a:p>
          <a:p>
            <a:pPr marL="0" indent="0">
              <a:spcBef>
                <a:spcPts val="0"/>
              </a:spcBef>
              <a:buNone/>
            </a:pPr>
            <a:r>
              <a:rPr lang="en-US" altLang="zh-CN" sz="1600" dirty="0">
                <a:solidFill>
                  <a:schemeClr val="tx1"/>
                </a:solidFill>
              </a:rPr>
              <a:t>    char name[10];             /* </a:t>
            </a:r>
            <a:r>
              <a:rPr lang="zh-CN" altLang="en-US" sz="1600" dirty="0">
                <a:solidFill>
                  <a:schemeClr val="tx1"/>
                </a:solidFill>
              </a:rPr>
              <a:t>姓名 *</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int</a:t>
            </a:r>
            <a:r>
              <a:rPr lang="en-US" altLang="zh-CN" sz="1600" dirty="0">
                <a:solidFill>
                  <a:schemeClr val="tx1"/>
                </a:solidFill>
              </a:rPr>
              <a:t> computer, </a:t>
            </a:r>
            <a:r>
              <a:rPr lang="en-US" altLang="zh-CN" sz="1600" dirty="0" err="1">
                <a:solidFill>
                  <a:schemeClr val="tx1"/>
                </a:solidFill>
              </a:rPr>
              <a:t>english</a:t>
            </a:r>
            <a:r>
              <a:rPr lang="en-US" altLang="zh-CN" sz="1600" dirty="0">
                <a:solidFill>
                  <a:schemeClr val="tx1"/>
                </a:solidFill>
              </a:rPr>
              <a:t>, math;   /* </a:t>
            </a:r>
            <a:r>
              <a:rPr lang="zh-CN" altLang="en-US" sz="1600" dirty="0">
                <a:solidFill>
                  <a:schemeClr val="tx1"/>
                </a:solidFill>
              </a:rPr>
              <a:t>三门课程成绩 *</a:t>
            </a:r>
            <a:r>
              <a:rPr lang="en-US" altLang="zh-CN" sz="1600" dirty="0">
                <a:solidFill>
                  <a:schemeClr val="tx1"/>
                </a:solidFill>
              </a:rPr>
              <a:t>/</a:t>
            </a:r>
          </a:p>
          <a:p>
            <a:pPr marL="0" indent="0">
              <a:spcBef>
                <a:spcPts val="0"/>
              </a:spcBef>
              <a:buNone/>
            </a:pPr>
            <a:r>
              <a:rPr lang="en-US" altLang="zh-CN" sz="1600" dirty="0">
                <a:solidFill>
                  <a:schemeClr val="tx1"/>
                </a:solidFill>
              </a:rPr>
              <a:t>    double average;              /* </a:t>
            </a:r>
            <a:r>
              <a:rPr lang="zh-CN" altLang="en-US" sz="1600" dirty="0">
                <a:solidFill>
                  <a:schemeClr val="tx1"/>
                </a:solidFill>
              </a:rPr>
              <a:t>个人平均成绩 *</a:t>
            </a:r>
            <a:r>
              <a:rPr lang="en-US" altLang="zh-CN" sz="1600" dirty="0">
                <a:solidFill>
                  <a:schemeClr val="tx1"/>
                </a:solidFill>
              </a:rPr>
              <a:t>/</a:t>
            </a: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  </a:t>
            </a:r>
            <a:r>
              <a:rPr lang="en-US" altLang="zh-CN" sz="1600" dirty="0" err="1">
                <a:solidFill>
                  <a:schemeClr val="tx1"/>
                </a:solidFill>
              </a:rPr>
              <a:t>int</a:t>
            </a:r>
            <a:r>
              <a:rPr lang="en-US" altLang="zh-CN" sz="1600" dirty="0">
                <a:solidFill>
                  <a:schemeClr val="tx1"/>
                </a:solidFill>
              </a:rPr>
              <a:t> </a:t>
            </a:r>
            <a:r>
              <a:rPr lang="en-US" altLang="zh-CN" sz="1600" dirty="0" err="1">
                <a:solidFill>
                  <a:schemeClr val="tx1"/>
                </a:solidFill>
              </a:rPr>
              <a:t>i</a:t>
            </a:r>
            <a:r>
              <a:rPr lang="en-US" altLang="zh-CN" sz="1600" dirty="0">
                <a:solidFill>
                  <a:schemeClr val="tx1"/>
                </a:solidFill>
              </a:rPr>
              <a:t>, n;  </a:t>
            </a:r>
            <a:r>
              <a:rPr lang="en-US" altLang="zh-CN" sz="1600" dirty="0" err="1">
                <a:solidFill>
                  <a:schemeClr val="tx1"/>
                </a:solidFill>
              </a:rPr>
              <a:t>struct</a:t>
            </a:r>
            <a:r>
              <a:rPr lang="en-US" altLang="zh-CN" sz="1600" dirty="0">
                <a:solidFill>
                  <a:schemeClr val="tx1"/>
                </a:solidFill>
              </a:rPr>
              <a:t> student s[5];   /* </a:t>
            </a:r>
            <a:r>
              <a:rPr lang="zh-CN" altLang="en-US" sz="1600" dirty="0">
                <a:solidFill>
                  <a:schemeClr val="tx1"/>
                </a:solidFill>
              </a:rPr>
              <a:t>定义</a:t>
            </a:r>
            <a:r>
              <a:rPr lang="zh-CN" altLang="en-US" sz="1600" dirty="0" smtClean="0">
                <a:solidFill>
                  <a:schemeClr val="tx1"/>
                </a:solidFill>
              </a:rPr>
              <a:t>结构体变量 </a:t>
            </a:r>
            <a:r>
              <a:rPr lang="zh-CN" altLang="en-US" sz="1600" dirty="0">
                <a:solidFill>
                  <a:schemeClr val="tx1"/>
                </a:solidFill>
              </a:rPr>
              <a:t>*</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("Input n: ");</a:t>
            </a:r>
          </a:p>
          <a:p>
            <a:pPr marL="0" indent="0">
              <a:spcBef>
                <a:spcPts val="0"/>
              </a:spcBef>
              <a:buNone/>
            </a:pPr>
            <a:r>
              <a:rPr lang="en-US" altLang="zh-CN" sz="1600" dirty="0">
                <a:solidFill>
                  <a:schemeClr val="tx1"/>
                </a:solidFill>
              </a:rPr>
              <a:t>  </a:t>
            </a:r>
            <a:r>
              <a:rPr lang="en-US" altLang="zh-CN" sz="1600" dirty="0" err="1">
                <a:solidFill>
                  <a:schemeClr val="tx1"/>
                </a:solidFill>
              </a:rPr>
              <a:t>scanf</a:t>
            </a:r>
            <a:r>
              <a:rPr lang="en-US" altLang="zh-CN" sz="1600" dirty="0">
                <a:solidFill>
                  <a:schemeClr val="tx1"/>
                </a:solidFill>
              </a:rPr>
              <a:t>("%d", &amp;n);</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("Input the student’s number, name and course scores\n");</a:t>
            </a:r>
          </a:p>
          <a:p>
            <a:pPr marL="0" indent="0">
              <a:spcBef>
                <a:spcPts val="0"/>
              </a:spcBef>
              <a:buNone/>
            </a:pPr>
            <a:r>
              <a:rPr lang="en-US" altLang="zh-CN" sz="1600" dirty="0">
                <a:solidFill>
                  <a:schemeClr val="tx1"/>
                </a:solidFill>
              </a:rPr>
              <a:t>  for(</a:t>
            </a:r>
            <a:r>
              <a:rPr lang="en-US" altLang="zh-CN" sz="1600" dirty="0" err="1">
                <a:solidFill>
                  <a:schemeClr val="tx1"/>
                </a:solidFill>
              </a:rPr>
              <a:t>i</a:t>
            </a:r>
            <a:r>
              <a:rPr lang="en-US" altLang="zh-CN" sz="1600" dirty="0">
                <a:solidFill>
                  <a:schemeClr val="tx1"/>
                </a:solidFill>
              </a:rPr>
              <a:t> = 0; </a:t>
            </a:r>
            <a:r>
              <a:rPr lang="en-US" altLang="zh-CN" sz="1600" dirty="0" err="1">
                <a:solidFill>
                  <a:schemeClr val="tx1"/>
                </a:solidFill>
              </a:rPr>
              <a:t>i</a:t>
            </a:r>
            <a:r>
              <a:rPr lang="en-US" altLang="zh-CN" sz="1600" dirty="0">
                <a:solidFill>
                  <a:schemeClr val="tx1"/>
                </a:solidFill>
              </a:rPr>
              <a:t> &lt; n; </a:t>
            </a:r>
            <a:r>
              <a:rPr lang="en-US" altLang="zh-CN" sz="1600" dirty="0" err="1">
                <a:solidFill>
                  <a:schemeClr val="tx1"/>
                </a:solidFill>
              </a:rPr>
              <a:t>i</a:t>
            </a:r>
            <a:r>
              <a:rPr lang="en-US" altLang="zh-CN" sz="1600" dirty="0" smtClean="0">
                <a:solidFill>
                  <a:schemeClr val="tx1"/>
                </a:solidFill>
              </a:rPr>
              <a:t>++)  </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a:t>
            </a:r>
            <a:r>
              <a:rPr lang="en-US" altLang="zh-CN" sz="1600" dirty="0" err="1">
                <a:solidFill>
                  <a:schemeClr val="tx1"/>
                </a:solidFill>
              </a:rPr>
              <a:t>No.%d</a:t>
            </a:r>
            <a:r>
              <a:rPr lang="en-US" altLang="zh-CN" sz="1600" dirty="0" smtClean="0">
                <a:solidFill>
                  <a:schemeClr val="tx1"/>
                </a:solidFill>
              </a:rPr>
              <a:t>:", </a:t>
            </a:r>
            <a:r>
              <a:rPr lang="en-US" altLang="zh-CN" sz="1600" dirty="0">
                <a:solidFill>
                  <a:schemeClr val="tx1"/>
                </a:solidFill>
              </a:rPr>
              <a:t>i+1);</a:t>
            </a:r>
          </a:p>
          <a:p>
            <a:pPr marL="0" indent="0">
              <a:spcBef>
                <a:spcPts val="0"/>
              </a:spcBef>
              <a:buNone/>
            </a:pPr>
            <a:r>
              <a:rPr lang="en-US" altLang="zh-CN" sz="1600" dirty="0">
                <a:solidFill>
                  <a:schemeClr val="tx1"/>
                </a:solidFill>
              </a:rPr>
              <a:t>    </a:t>
            </a:r>
            <a:r>
              <a:rPr lang="en-US" altLang="zh-CN" sz="1600" dirty="0" err="1">
                <a:solidFill>
                  <a:schemeClr val="tx1"/>
                </a:solidFill>
              </a:rPr>
              <a:t>scanf</a:t>
            </a:r>
            <a:r>
              <a:rPr lang="en-US" altLang="zh-CN" sz="1600" dirty="0">
                <a:solidFill>
                  <a:schemeClr val="tx1"/>
                </a:solidFill>
              </a:rPr>
              <a:t>("%</a:t>
            </a:r>
            <a:r>
              <a:rPr lang="en-US" altLang="zh-CN" sz="1600" dirty="0" err="1">
                <a:solidFill>
                  <a:schemeClr val="tx1"/>
                </a:solidFill>
              </a:rPr>
              <a:t>d%s%d%d%d</a:t>
            </a:r>
            <a:r>
              <a:rPr lang="en-US" altLang="zh-CN" sz="1600" dirty="0">
                <a:solidFill>
                  <a:schemeClr val="tx1"/>
                </a:solidFill>
              </a:rPr>
              <a:t>",&amp;s[</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num,s</a:t>
            </a:r>
            <a:r>
              <a:rPr lang="en-US" altLang="zh-CN" sz="1600" dirty="0">
                <a:solidFill>
                  <a:schemeClr val="tx1"/>
                </a:solidFill>
              </a:rPr>
              <a:t>[</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name,&amp;s</a:t>
            </a:r>
            <a:r>
              <a:rPr lang="en-US" altLang="zh-CN" sz="1600" dirty="0">
                <a:solidFill>
                  <a:schemeClr val="tx1"/>
                </a:solidFill>
              </a:rPr>
              <a:t>[</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math,&amp;s</a:t>
            </a:r>
            <a:r>
              <a:rPr lang="en-US" altLang="zh-CN" sz="1600" dirty="0">
                <a:solidFill>
                  <a:schemeClr val="tx1"/>
                </a:solidFill>
              </a:rPr>
              <a:t>[</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english</a:t>
            </a:r>
            <a:r>
              <a:rPr lang="en-US" altLang="zh-CN" sz="1600" dirty="0">
                <a:solidFill>
                  <a:schemeClr val="tx1"/>
                </a:solidFill>
              </a:rPr>
              <a:t>,&amp;s[</a:t>
            </a:r>
            <a:r>
              <a:rPr lang="en-US" altLang="zh-CN" sz="1600" dirty="0" err="1">
                <a:solidFill>
                  <a:schemeClr val="tx1"/>
                </a:solidFill>
              </a:rPr>
              <a:t>i</a:t>
            </a:r>
            <a:r>
              <a:rPr lang="en-US" altLang="zh-CN" sz="1600" dirty="0">
                <a:solidFill>
                  <a:schemeClr val="tx1"/>
                </a:solidFill>
              </a:rPr>
              <a:t>].computer);</a:t>
            </a:r>
          </a:p>
          <a:p>
            <a:pPr marL="0" indent="0">
              <a:spcBef>
                <a:spcPts val="0"/>
              </a:spcBef>
              <a:buNone/>
            </a:pPr>
            <a:r>
              <a:rPr lang="en-US" altLang="zh-CN" sz="1600" dirty="0">
                <a:solidFill>
                  <a:schemeClr val="tx1"/>
                </a:solidFill>
              </a:rPr>
              <a:t>    s[</a:t>
            </a:r>
            <a:r>
              <a:rPr lang="en-US" altLang="zh-CN" sz="1600" dirty="0" err="1">
                <a:solidFill>
                  <a:schemeClr val="tx1"/>
                </a:solidFill>
              </a:rPr>
              <a:t>i</a:t>
            </a:r>
            <a:r>
              <a:rPr lang="en-US" altLang="zh-CN" sz="1600" dirty="0">
                <a:solidFill>
                  <a:schemeClr val="tx1"/>
                </a:solidFill>
              </a:rPr>
              <a:t>].average =(s[</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math+s</a:t>
            </a:r>
            <a:r>
              <a:rPr lang="en-US" altLang="zh-CN" sz="1600" dirty="0">
                <a:solidFill>
                  <a:schemeClr val="tx1"/>
                </a:solidFill>
              </a:rPr>
              <a:t>[</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english+s</a:t>
            </a:r>
            <a:r>
              <a:rPr lang="en-US" altLang="zh-CN" sz="1600" dirty="0">
                <a:solidFill>
                  <a:schemeClr val="tx1"/>
                </a:solidFill>
              </a:rPr>
              <a:t>[</a:t>
            </a:r>
            <a:r>
              <a:rPr lang="en-US" altLang="zh-CN" sz="1600" dirty="0" err="1">
                <a:solidFill>
                  <a:schemeClr val="tx1"/>
                </a:solidFill>
              </a:rPr>
              <a:t>i</a:t>
            </a:r>
            <a:r>
              <a:rPr lang="en-US" altLang="zh-CN" sz="1600" dirty="0">
                <a:solidFill>
                  <a:schemeClr val="tx1"/>
                </a:solidFill>
              </a:rPr>
              <a:t>].computer)/</a:t>
            </a:r>
            <a:r>
              <a:rPr lang="en-US" altLang="zh-CN" sz="1600" dirty="0" smtClean="0">
                <a:solidFill>
                  <a:schemeClr val="tx1"/>
                </a:solidFill>
              </a:rPr>
              <a:t>3.0;</a:t>
            </a:r>
            <a:endParaRPr lang="en-US" altLang="zh-CN" sz="1600" dirty="0">
              <a:solidFill>
                <a:schemeClr val="tx1"/>
              </a:solidFill>
            </a:endParaRPr>
          </a:p>
          <a:p>
            <a:pPr marL="0" indent="0">
              <a:spcBef>
                <a:spcPts val="0"/>
              </a:spcBef>
              <a:buNone/>
            </a:pPr>
            <a:r>
              <a:rPr lang="en-US" altLang="zh-CN" sz="1600" dirty="0">
                <a:solidFill>
                  <a:schemeClr val="tx1"/>
                </a:solidFill>
              </a:rPr>
              <a:t>  }</a:t>
            </a:r>
          </a:p>
          <a:p>
            <a:pPr marL="0" indent="0">
              <a:spcBef>
                <a:spcPts val="0"/>
              </a:spcBef>
              <a:buNone/>
            </a:pPr>
            <a:r>
              <a:rPr lang="en-US" altLang="zh-CN" sz="1600" dirty="0">
                <a:solidFill>
                  <a:schemeClr val="tx1"/>
                </a:solidFill>
              </a:rPr>
              <a:t>  for(</a:t>
            </a:r>
            <a:r>
              <a:rPr lang="en-US" altLang="zh-CN" sz="1600" dirty="0" err="1">
                <a:solidFill>
                  <a:schemeClr val="tx1"/>
                </a:solidFill>
              </a:rPr>
              <a:t>i</a:t>
            </a:r>
            <a:r>
              <a:rPr lang="en-US" altLang="zh-CN" sz="1600" dirty="0">
                <a:solidFill>
                  <a:schemeClr val="tx1"/>
                </a:solidFill>
              </a:rPr>
              <a:t>=0;i&lt;</a:t>
            </a:r>
            <a:r>
              <a:rPr lang="en-US" altLang="zh-CN" sz="1600" dirty="0" err="1">
                <a:solidFill>
                  <a:schemeClr val="tx1"/>
                </a:solidFill>
              </a:rPr>
              <a:t>n;i</a:t>
            </a:r>
            <a:r>
              <a:rPr lang="en-US" altLang="zh-CN" sz="1600" dirty="0">
                <a:solidFill>
                  <a:schemeClr val="tx1"/>
                </a:solidFill>
              </a:rPr>
              <a:t>++)</a:t>
            </a:r>
          </a:p>
          <a:p>
            <a:pPr marL="0" indent="0">
              <a:spcBef>
                <a:spcPts val="0"/>
              </a:spcBef>
              <a:buNone/>
            </a:pPr>
            <a:r>
              <a:rPr lang="en-US" altLang="zh-CN" sz="1600" dirty="0">
                <a:solidFill>
                  <a:schemeClr val="tx1"/>
                </a:solidFill>
              </a:rPr>
              <a:t>    </a:t>
            </a:r>
            <a:r>
              <a:rPr lang="en-US" altLang="zh-CN" sz="1600" dirty="0" err="1">
                <a:solidFill>
                  <a:schemeClr val="tx1"/>
                </a:solidFill>
              </a:rPr>
              <a:t>printf</a:t>
            </a:r>
            <a:r>
              <a:rPr lang="en-US" altLang="zh-CN" sz="1600" dirty="0">
                <a:solidFill>
                  <a:schemeClr val="tx1"/>
                </a:solidFill>
              </a:rPr>
              <a:t>("</a:t>
            </a:r>
            <a:r>
              <a:rPr lang="en-US" altLang="zh-CN" sz="1600" dirty="0" err="1">
                <a:solidFill>
                  <a:schemeClr val="tx1"/>
                </a:solidFill>
              </a:rPr>
              <a:t>num</a:t>
            </a:r>
            <a:r>
              <a:rPr lang="en-US" altLang="zh-CN" sz="1600" dirty="0">
                <a:solidFill>
                  <a:schemeClr val="tx1"/>
                </a:solidFill>
              </a:rPr>
              <a:t>:%d, name:%s, average:%.2lf\n", s[</a:t>
            </a:r>
            <a:r>
              <a:rPr lang="en-US" altLang="zh-CN" sz="1600" dirty="0" err="1">
                <a:solidFill>
                  <a:schemeClr val="tx1"/>
                </a:solidFill>
              </a:rPr>
              <a:t>i</a:t>
            </a:r>
            <a:r>
              <a:rPr lang="en-US" altLang="zh-CN" sz="1600" dirty="0">
                <a:solidFill>
                  <a:schemeClr val="tx1"/>
                </a:solidFill>
              </a:rPr>
              <a:t>].</a:t>
            </a:r>
            <a:r>
              <a:rPr lang="en-US" altLang="zh-CN" sz="1600" dirty="0" err="1">
                <a:solidFill>
                  <a:schemeClr val="tx1"/>
                </a:solidFill>
              </a:rPr>
              <a:t>num</a:t>
            </a:r>
            <a:r>
              <a:rPr lang="en-US" altLang="zh-CN" sz="1600" dirty="0">
                <a:solidFill>
                  <a:schemeClr val="tx1"/>
                </a:solidFill>
              </a:rPr>
              <a:t>, s[</a:t>
            </a:r>
            <a:r>
              <a:rPr lang="en-US" altLang="zh-CN" sz="1600" dirty="0" err="1">
                <a:solidFill>
                  <a:schemeClr val="tx1"/>
                </a:solidFill>
              </a:rPr>
              <a:t>i</a:t>
            </a:r>
            <a:r>
              <a:rPr lang="en-US" altLang="zh-CN" sz="1600" dirty="0">
                <a:solidFill>
                  <a:schemeClr val="tx1"/>
                </a:solidFill>
              </a:rPr>
              <a:t>].name, s[</a:t>
            </a:r>
            <a:r>
              <a:rPr lang="en-US" altLang="zh-CN" sz="1600" dirty="0" err="1">
                <a:solidFill>
                  <a:schemeClr val="tx1"/>
                </a:solidFill>
              </a:rPr>
              <a:t>i</a:t>
            </a:r>
            <a:r>
              <a:rPr lang="en-US" altLang="zh-CN" sz="1600" dirty="0">
                <a:solidFill>
                  <a:schemeClr val="tx1"/>
                </a:solidFill>
              </a:rPr>
              <a:t>].average);</a:t>
            </a:r>
          </a:p>
          <a:p>
            <a:pPr marL="0" indent="0">
              <a:spcBef>
                <a:spcPts val="0"/>
              </a:spcBef>
              <a:buNone/>
            </a:pPr>
            <a:r>
              <a:rPr lang="en-US" altLang="zh-CN" sz="1600" dirty="0">
                <a:solidFill>
                  <a:schemeClr val="tx1"/>
                </a:solidFill>
              </a:rPr>
              <a:t>  return 0;</a:t>
            </a:r>
          </a:p>
          <a:p>
            <a:pPr marL="0" indent="0">
              <a:spcBef>
                <a:spcPts val="0"/>
              </a:spcBef>
              <a:buNone/>
            </a:pPr>
            <a:r>
              <a:rPr lang="en-US" altLang="zh-CN" sz="1600" dirty="0">
                <a:solidFill>
                  <a:schemeClr val="tx1"/>
                </a:solidFill>
              </a:rPr>
              <a:t>}</a:t>
            </a:r>
            <a:endParaRPr lang="zh-CN" altLang="en-US" sz="1600" dirty="0">
              <a:solidFill>
                <a:schemeClr val="tx1"/>
              </a:solidFill>
            </a:endParaRPr>
          </a:p>
        </p:txBody>
      </p:sp>
      <p:sp>
        <p:nvSpPr>
          <p:cNvPr id="2" name="矩形 1"/>
          <p:cNvSpPr/>
          <p:nvPr/>
        </p:nvSpPr>
        <p:spPr>
          <a:xfrm>
            <a:off x="3890365" y="116632"/>
            <a:ext cx="5214889" cy="523220"/>
          </a:xfrm>
          <a:prstGeom prst="rect">
            <a:avLst/>
          </a:prstGeom>
        </p:spPr>
        <p:txBody>
          <a:bodyPr wrap="none">
            <a:spAutoFit/>
          </a:bodyPr>
          <a:lstStyle/>
          <a:p>
            <a:pPr marL="0" indent="0">
              <a:buNone/>
            </a:pPr>
            <a:r>
              <a:rPr lang="en-US" altLang="zh-CN" sz="2800" b="1" dirty="0">
                <a:effectLst>
                  <a:outerShdw blurRad="38100" dist="38100" dir="2700000" algn="tl">
                    <a:srgbClr val="000000">
                      <a:alpha val="43137"/>
                    </a:srgbClr>
                  </a:outerShdw>
                </a:effectLst>
                <a:latin typeface="+mn-ea"/>
                <a:ea typeface="+mn-ea"/>
              </a:rPr>
              <a:t>【</a:t>
            </a:r>
            <a:r>
              <a:rPr lang="zh-CN" altLang="en-US" sz="2800" b="1" dirty="0">
                <a:effectLst>
                  <a:outerShdw blurRad="38100" dist="38100" dir="2700000" algn="tl">
                    <a:srgbClr val="000000">
                      <a:alpha val="43137"/>
                    </a:srgbClr>
                  </a:outerShdw>
                </a:effectLst>
                <a:latin typeface="+mn-ea"/>
                <a:ea typeface="+mn-ea"/>
              </a:rPr>
              <a:t>例</a:t>
            </a:r>
            <a:r>
              <a:rPr lang="en-US" altLang="zh-CN" sz="2800" b="1" dirty="0">
                <a:effectLst>
                  <a:outerShdw blurRad="38100" dist="38100" dir="2700000" algn="tl">
                    <a:srgbClr val="000000">
                      <a:alpha val="43137"/>
                    </a:srgbClr>
                  </a:outerShdw>
                </a:effectLst>
                <a:latin typeface="+mn-ea"/>
                <a:ea typeface="+mn-ea"/>
              </a:rPr>
              <a:t>6-19】</a:t>
            </a:r>
            <a:r>
              <a:rPr lang="zh-CN" altLang="en-US" sz="2800" b="1" dirty="0">
                <a:effectLst>
                  <a:outerShdw blurRad="38100" dist="38100" dir="2700000" algn="tl">
                    <a:srgbClr val="000000">
                      <a:alpha val="43137"/>
                    </a:srgbClr>
                  </a:outerShdw>
                </a:effectLst>
                <a:latin typeface="+mn-ea"/>
                <a:ea typeface="+mn-ea"/>
              </a:rPr>
              <a:t>综合演示结构体数组</a:t>
            </a:r>
          </a:p>
        </p:txBody>
      </p:sp>
    </p:spTree>
    <p:extLst>
      <p:ext uri="{BB962C8B-B14F-4D97-AF65-F5344CB8AC3E}">
        <p14:creationId xmlns:p14="http://schemas.microsoft.com/office/powerpoint/2010/main" val="2827186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2101058" y="2936082"/>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6.2.3 </a:t>
            </a:r>
            <a:r>
              <a:rPr lang="zh-CN" altLang="en-US" sz="4000" b="1" dirty="0" smtClean="0">
                <a:effectLst>
                  <a:outerShdw blurRad="38100" dist="38100" dir="2700000" algn="tl">
                    <a:srgbClr val="C0C0C0"/>
                  </a:outerShdw>
                </a:effectLst>
                <a:ea typeface="黑体" panose="02010609060101010101" pitchFamily="2" charset="-122"/>
              </a:rPr>
              <a:t>结构体指针</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852722837"/>
      </p:ext>
    </p:extLst>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744220" y="815975"/>
            <a:ext cx="7715250" cy="739775"/>
          </a:xfrm>
        </p:spPr>
        <p:txBody>
          <a:bodyPr vert="horz" wrap="square" lIns="91440" tIns="45720" rIns="91440" bIns="45720" anchor="ctr"/>
          <a:lstStyle/>
          <a:p>
            <a:pPr eaLnBrk="1" hangingPunct="1"/>
            <a:r>
              <a:rPr lang="zh-CN" altLang="en-US" dirty="0"/>
              <a:t>结构体</a:t>
            </a:r>
            <a:r>
              <a:rPr lang="zh-CN" altLang="en-US" dirty="0" smtClean="0"/>
              <a:t>指针</a:t>
            </a:r>
            <a:endParaRPr lang="zh-CN" altLang="en-US" dirty="0"/>
          </a:p>
        </p:txBody>
      </p:sp>
      <p:sp>
        <p:nvSpPr>
          <p:cNvPr id="442371" name="Rectangle 3"/>
          <p:cNvSpPr>
            <a:spLocks noGrp="1"/>
          </p:cNvSpPr>
          <p:nvPr>
            <p:ph idx="1"/>
          </p:nvPr>
        </p:nvSpPr>
        <p:spPr>
          <a:xfrm>
            <a:off x="754381" y="1627188"/>
            <a:ext cx="8389620" cy="4682132"/>
          </a:xfrm>
        </p:spPr>
        <p:txBody>
          <a:bodyPr vert="horz" wrap="square" lIns="91440" tIns="45720" rIns="91440" bIns="45720" anchor="t"/>
          <a:lstStyle/>
          <a:p>
            <a:pPr marL="92075" lvl="1" indent="-92075" algn="l">
              <a:buClr>
                <a:srgbClr val="A50021"/>
              </a:buClr>
              <a:buSzPct val="75000"/>
              <a:buFont typeface="Webdings" panose="05030102010509060703" pitchFamily="18" charset="2"/>
              <a:buChar char="·"/>
            </a:pPr>
            <a:r>
              <a:rPr lang="zh-CN" altLang="en-US" sz="2800" dirty="0">
                <a:cs typeface="+mn-cs"/>
              </a:rPr>
              <a:t>结构体指针就是指向</a:t>
            </a:r>
            <a:r>
              <a:rPr lang="zh-CN" altLang="en-US" sz="2800" dirty="0" smtClean="0">
                <a:cs typeface="+mn-cs"/>
              </a:rPr>
              <a:t>结构</a:t>
            </a:r>
            <a:r>
              <a:rPr lang="zh-CN" altLang="en-US" sz="2800" dirty="0">
                <a:cs typeface="+mn-cs"/>
              </a:rPr>
              <a:t>体</a:t>
            </a:r>
            <a:r>
              <a:rPr lang="zh-CN" altLang="en-US" sz="2800" dirty="0" smtClean="0">
                <a:cs typeface="+mn-cs"/>
              </a:rPr>
              <a:t>类型</a:t>
            </a:r>
            <a:r>
              <a:rPr lang="zh-CN" altLang="en-US" sz="2800" dirty="0">
                <a:cs typeface="+mn-cs"/>
              </a:rPr>
              <a:t>变量的指针</a:t>
            </a:r>
          </a:p>
          <a:p>
            <a:pPr marL="92075" lvl="1" indent="-92075" algn="l">
              <a:buClr>
                <a:srgbClr val="A50021"/>
              </a:buClr>
              <a:buSzPct val="75000"/>
              <a:buFont typeface="Webdings" panose="05030102010509060703" pitchFamily="18" charset="2"/>
              <a:buChar char="·"/>
            </a:pPr>
            <a:r>
              <a:rPr lang="zh-CN" altLang="en-US" sz="2800" dirty="0">
                <a:cs typeface="+mn-cs"/>
              </a:rPr>
              <a:t>通过结构体指针可以访问结构体</a:t>
            </a:r>
            <a:r>
              <a:rPr lang="zh-CN" altLang="en-US" sz="2800" dirty="0" smtClean="0">
                <a:cs typeface="+mn-cs"/>
              </a:rPr>
              <a:t>变量或者结构体数组</a:t>
            </a:r>
            <a:endParaRPr lang="zh-CN" altLang="en-US" sz="2800" dirty="0">
              <a:cs typeface="+mn-cs"/>
            </a:endParaRPr>
          </a:p>
          <a:p>
            <a:pPr marL="92075" lvl="1" indent="-92075" algn="l">
              <a:buClr>
                <a:srgbClr val="A50021"/>
              </a:buClr>
              <a:buSzPct val="75000"/>
              <a:buFont typeface="Webdings" panose="05030102010509060703" pitchFamily="18" charset="2"/>
              <a:buChar char="·"/>
            </a:pPr>
            <a:r>
              <a:rPr lang="zh-CN" altLang="en-US" sz="2800" dirty="0">
                <a:cs typeface="+mn-cs"/>
              </a:rPr>
              <a:t>结构体指针的一般定义形式为：</a:t>
            </a:r>
          </a:p>
          <a:p>
            <a:pPr marL="0" lvl="1" indent="0" algn="l">
              <a:buClr>
                <a:srgbClr val="A50021"/>
              </a:buClr>
              <a:buSzPct val="75000"/>
              <a:buNone/>
            </a:pPr>
            <a:r>
              <a:rPr lang="zh-CN" altLang="en-US" sz="2800" dirty="0">
                <a:cs typeface="+mn-cs"/>
              </a:rPr>
              <a:t>    </a:t>
            </a:r>
            <a:r>
              <a:rPr lang="zh-CN" altLang="en-US" sz="2800" dirty="0">
                <a:solidFill>
                  <a:srgbClr val="FF3300"/>
                </a:solidFill>
                <a:cs typeface="+mn-cs"/>
              </a:rPr>
              <a:t>struct 结构体类型名 *结构体指针变量名;</a:t>
            </a:r>
          </a:p>
          <a:p>
            <a:pPr marL="0" lvl="1" indent="0" algn="l">
              <a:buClr>
                <a:srgbClr val="A50021"/>
              </a:buClr>
              <a:buSzPct val="75000"/>
              <a:buNone/>
            </a:pPr>
            <a:r>
              <a:rPr lang="zh-CN" altLang="en-US" sz="2800" dirty="0">
                <a:cs typeface="+mn-cs"/>
              </a:rPr>
              <a:t>    基于前面的结构体类型定义可以定义一个结构体指针变量p</a:t>
            </a:r>
          </a:p>
          <a:p>
            <a:pPr marL="0" lvl="1" indent="0" algn="l">
              <a:buClr>
                <a:srgbClr val="A50021"/>
              </a:buClr>
              <a:buSzPct val="75000"/>
              <a:buNone/>
            </a:pPr>
            <a:r>
              <a:rPr lang="zh-CN" altLang="en-US" sz="2800" dirty="0">
                <a:cs typeface="+mn-cs"/>
              </a:rPr>
              <a:t>    struct student *p;  </a:t>
            </a:r>
          </a:p>
        </p:txBody>
      </p:sp>
      <p:sp>
        <p:nvSpPr>
          <p:cNvPr id="45060" name="Rectangle 4"/>
          <p:cNvSpPr/>
          <p:nvPr/>
        </p:nvSpPr>
        <p:spPr>
          <a:xfrm>
            <a:off x="457200" y="2514600"/>
            <a:ext cx="8686800" cy="43434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lnSpc>
                <a:spcPct val="90000"/>
              </a:lnSpc>
              <a:buClr>
                <a:schemeClr val="tx2"/>
              </a:buClr>
              <a:buSzPct val="80000"/>
              <a:buNone/>
            </a:pPr>
            <a:endParaRPr lang="zh-CN" altLang="en-US" sz="2800" b="0" dirty="0">
              <a:solidFill>
                <a:srgbClr val="FFFF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结构体指针赋值</a:t>
            </a:r>
          </a:p>
        </p:txBody>
      </p:sp>
      <p:sp>
        <p:nvSpPr>
          <p:cNvPr id="3" name="内容占位符 2"/>
          <p:cNvSpPr>
            <a:spLocks noGrp="1"/>
          </p:cNvSpPr>
          <p:nvPr>
            <p:ph idx="1"/>
          </p:nvPr>
        </p:nvSpPr>
        <p:spPr/>
        <p:txBody>
          <a:bodyPr/>
          <a:lstStyle/>
          <a:p>
            <a:r>
              <a:rPr lang="zh-CN" altLang="en-US" dirty="0"/>
              <a:t>结构体指针定义后必须先赋值才能使用，也就是把结构体变量或者结构体数组名赋值给</a:t>
            </a:r>
            <a:r>
              <a:rPr lang="zh-CN" altLang="en-US" dirty="0" smtClean="0"/>
              <a:t>结构体指针</a:t>
            </a:r>
            <a:r>
              <a:rPr lang="zh-CN" altLang="en-US" dirty="0"/>
              <a:t>，如有语句：</a:t>
            </a:r>
          </a:p>
          <a:p>
            <a:pPr marL="457200" lvl="1" indent="0">
              <a:buNone/>
            </a:pPr>
            <a:r>
              <a:rPr lang="zh-CN" altLang="en-US" dirty="0"/>
              <a:t>struct student s1 = {1001, "ZhangLi", 78, 87, 85};</a:t>
            </a:r>
          </a:p>
          <a:p>
            <a:pPr marL="457200" lvl="1" indent="0">
              <a:buNone/>
            </a:pPr>
            <a:r>
              <a:rPr lang="zh-CN" altLang="en-US" dirty="0"/>
              <a:t>struct </a:t>
            </a:r>
            <a:r>
              <a:rPr lang="zh-CN" altLang="en-US" dirty="0" smtClean="0"/>
              <a:t>student </a:t>
            </a:r>
            <a:r>
              <a:rPr lang="en-US" altLang="zh-CN" dirty="0" smtClean="0"/>
              <a:t>*p;</a:t>
            </a:r>
          </a:p>
          <a:p>
            <a:pPr marL="457200" lvl="1" indent="0">
              <a:buNone/>
            </a:pPr>
            <a:r>
              <a:rPr lang="zh-CN" altLang="en-US" dirty="0" smtClean="0"/>
              <a:t>p </a:t>
            </a:r>
            <a:r>
              <a:rPr lang="zh-CN" altLang="en-US" dirty="0"/>
              <a:t>= &amp;s1;</a:t>
            </a:r>
          </a:p>
          <a:p>
            <a:pPr marL="0" indent="0">
              <a:buNone/>
            </a:pPr>
            <a:r>
              <a:rPr lang="zh-CN" altLang="en-US" dirty="0"/>
              <a:t> 就建立了如下图所示的指向关系。</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112</a:t>
            </a:fld>
            <a:endParaRPr lang="en-US" altLang="zh-CN" dirty="0"/>
          </a:p>
        </p:txBody>
      </p:sp>
      <p:pic>
        <p:nvPicPr>
          <p:cNvPr id="5" name="图片 4"/>
          <p:cNvPicPr>
            <a:picLocks noChangeAspect="1"/>
          </p:cNvPicPr>
          <p:nvPr/>
        </p:nvPicPr>
        <p:blipFill>
          <a:blip r:embed="rId2"/>
          <a:stretch>
            <a:fillRect/>
          </a:stretch>
        </p:blipFill>
        <p:spPr>
          <a:xfrm>
            <a:off x="929640" y="5013960"/>
            <a:ext cx="7689850" cy="14458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744220" y="600710"/>
            <a:ext cx="8229600" cy="1027113"/>
          </a:xfrm>
        </p:spPr>
        <p:txBody>
          <a:bodyPr vert="horz" wrap="square" lIns="91440" tIns="45720" rIns="91440" bIns="45720" anchor="ctr"/>
          <a:lstStyle/>
          <a:p>
            <a:pPr eaLnBrk="1" hangingPunct="1"/>
            <a:r>
              <a:rPr lang="zh-CN" altLang="en-US" dirty="0"/>
              <a:t>结构体指针的使用</a:t>
            </a:r>
          </a:p>
        </p:txBody>
      </p:sp>
      <p:sp>
        <p:nvSpPr>
          <p:cNvPr id="422915" name="Rectangle 3"/>
          <p:cNvSpPr>
            <a:spLocks noGrp="1"/>
          </p:cNvSpPr>
          <p:nvPr>
            <p:ph type="body" sz="half" idx="1"/>
          </p:nvPr>
        </p:nvSpPr>
        <p:spPr>
          <a:xfrm>
            <a:off x="744220" y="1055688"/>
            <a:ext cx="8148260" cy="3886200"/>
          </a:xfrm>
        </p:spPr>
        <p:txBody>
          <a:bodyPr vert="horz" wrap="square" lIns="91440" tIns="45720" rIns="91440" bIns="45720" anchor="t"/>
          <a:lstStyle/>
          <a:p>
            <a:pPr marL="0" indent="0" algn="just" eaLnBrk="1" hangingPunct="1">
              <a:buNone/>
            </a:pPr>
            <a:endParaRPr lang="en-US" altLang="zh-CN" sz="2800" kern="1200" dirty="0"/>
          </a:p>
          <a:p>
            <a:pPr marL="0" indent="0" algn="just" eaLnBrk="1" hangingPunct="1">
              <a:buNone/>
            </a:pPr>
            <a:r>
              <a:rPr lang="en-US" altLang="zh-CN" sz="2800" kern="1200" dirty="0">
                <a:solidFill>
                  <a:srgbClr val="0066FF"/>
                </a:solidFill>
              </a:rPr>
              <a:t>(1) </a:t>
            </a:r>
            <a:r>
              <a:rPr lang="zh-CN" altLang="en-US" sz="2800" kern="1200" dirty="0">
                <a:solidFill>
                  <a:srgbClr val="0066FF"/>
                </a:solidFill>
              </a:rPr>
              <a:t>用*</a:t>
            </a:r>
            <a:r>
              <a:rPr lang="en-US" altLang="zh-CN" sz="2800" kern="1200" dirty="0">
                <a:solidFill>
                  <a:srgbClr val="0066FF"/>
                </a:solidFill>
              </a:rPr>
              <a:t>p</a:t>
            </a:r>
            <a:r>
              <a:rPr lang="zh-CN" altLang="en-US" sz="2800" kern="1200" dirty="0">
                <a:solidFill>
                  <a:srgbClr val="0066FF"/>
                </a:solidFill>
              </a:rPr>
              <a:t>访问</a:t>
            </a:r>
            <a:r>
              <a:rPr lang="zh-CN" altLang="en-US" sz="2800" kern="1200" dirty="0" smtClean="0">
                <a:solidFill>
                  <a:srgbClr val="0066FF"/>
                </a:solidFill>
              </a:rPr>
              <a:t>结构体成员</a:t>
            </a:r>
            <a:r>
              <a:rPr lang="zh-CN" altLang="en-US" sz="2800" kern="1200" dirty="0">
                <a:solidFill>
                  <a:srgbClr val="0066FF"/>
                </a:solidFill>
              </a:rPr>
              <a:t>。如</a:t>
            </a:r>
            <a:r>
              <a:rPr lang="en-US" altLang="zh-CN" sz="2800" kern="1200" dirty="0">
                <a:solidFill>
                  <a:srgbClr val="0066FF"/>
                </a:solidFill>
              </a:rPr>
              <a:t>:</a:t>
            </a:r>
          </a:p>
          <a:p>
            <a:pPr eaLnBrk="1" hangingPunct="1">
              <a:buNone/>
            </a:pPr>
            <a:r>
              <a:rPr lang="en-US" altLang="zh-CN" sz="2800" kern="1200" dirty="0">
                <a:solidFill>
                  <a:schemeClr val="bg2"/>
                </a:solidFill>
              </a:rPr>
              <a:t>        </a:t>
            </a:r>
            <a:r>
              <a:rPr lang="en-US" altLang="zh-CN" sz="2800" kern="1200" dirty="0">
                <a:solidFill>
                  <a:srgbClr val="FF0000"/>
                </a:solidFill>
              </a:rPr>
              <a:t>(*p).</a:t>
            </a:r>
            <a:r>
              <a:rPr lang="en-US" altLang="zh-CN" sz="2800" kern="1200" dirty="0">
                <a:solidFill>
                  <a:srgbClr val="0066FF"/>
                </a:solidFill>
              </a:rPr>
              <a:t>num = 1001;</a:t>
            </a:r>
          </a:p>
          <a:p>
            <a:pPr marL="0" indent="0" eaLnBrk="1" hangingPunct="1">
              <a:buNone/>
            </a:pPr>
            <a:r>
              <a:rPr lang="en-US" altLang="zh-CN" sz="2800" kern="1200" dirty="0">
                <a:solidFill>
                  <a:srgbClr val="0066FF"/>
                </a:solidFill>
              </a:rPr>
              <a:t>(2) </a:t>
            </a:r>
            <a:r>
              <a:rPr lang="zh-CN" altLang="en-US" sz="2800" kern="1200" dirty="0">
                <a:solidFill>
                  <a:srgbClr val="0066FF"/>
                </a:solidFill>
              </a:rPr>
              <a:t>用指向运算符“</a:t>
            </a:r>
            <a:r>
              <a:rPr lang="en-US" altLang="zh-CN" sz="2800" kern="1200" dirty="0">
                <a:solidFill>
                  <a:srgbClr val="0066FF"/>
                </a:solidFill>
              </a:rPr>
              <a:t>-&gt;”</a:t>
            </a:r>
            <a:r>
              <a:rPr lang="zh-CN" altLang="en-US" sz="2800" kern="1200" dirty="0">
                <a:solidFill>
                  <a:srgbClr val="0066FF"/>
                </a:solidFill>
              </a:rPr>
              <a:t>访问指针指向的</a:t>
            </a:r>
            <a:r>
              <a:rPr lang="zh-CN" altLang="en-US" sz="2800" kern="1200" dirty="0" smtClean="0">
                <a:solidFill>
                  <a:srgbClr val="0066FF"/>
                </a:solidFill>
              </a:rPr>
              <a:t>结构体成员</a:t>
            </a:r>
            <a:r>
              <a:rPr lang="zh-CN" altLang="en-US" sz="2800" kern="1200" dirty="0">
                <a:solidFill>
                  <a:srgbClr val="0066FF"/>
                </a:solidFill>
              </a:rPr>
              <a:t>。如：</a:t>
            </a:r>
          </a:p>
          <a:p>
            <a:pPr eaLnBrk="1" hangingPunct="1">
              <a:buNone/>
            </a:pPr>
            <a:r>
              <a:rPr lang="en-US" altLang="zh-CN" sz="2800" kern="1200" dirty="0"/>
              <a:t>        </a:t>
            </a:r>
            <a:r>
              <a:rPr lang="en-US" altLang="zh-CN" sz="2800" kern="1200" dirty="0">
                <a:solidFill>
                  <a:srgbClr val="FF0000"/>
                </a:solidFill>
              </a:rPr>
              <a:t>p-&gt;</a:t>
            </a:r>
            <a:r>
              <a:rPr lang="en-US" altLang="zh-CN" sz="2800" kern="1200" dirty="0">
                <a:solidFill>
                  <a:srgbClr val="0066FF"/>
                </a:solidFill>
              </a:rPr>
              <a:t>num = 1001;</a:t>
            </a:r>
          </a:p>
        </p:txBody>
      </p:sp>
      <p:sp>
        <p:nvSpPr>
          <p:cNvPr id="47108" name="Rectangle 4"/>
          <p:cNvSpPr/>
          <p:nvPr/>
        </p:nvSpPr>
        <p:spPr>
          <a:xfrm>
            <a:off x="457200" y="2514600"/>
            <a:ext cx="8686800" cy="4343400"/>
          </a:xfrm>
          <a:prstGeom prst="rect">
            <a:avLst/>
          </a:prstGeom>
          <a:noFill/>
          <a:ln w="9525">
            <a:noFill/>
          </a:ln>
        </p:spPr>
        <p:txBody>
          <a:bodyPr lIns="92075" tIns="46038" rIns="92075" bIns="46038"/>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lgn="just" eaLnBrk="1" hangingPunct="1">
              <a:lnSpc>
                <a:spcPct val="90000"/>
              </a:lnSpc>
              <a:buClr>
                <a:schemeClr val="tx2"/>
              </a:buClr>
              <a:buSzPct val="80000"/>
              <a:buNone/>
            </a:pPr>
            <a:endParaRPr lang="zh-CN" altLang="en-US" sz="2800" b="0" dirty="0">
              <a:solidFill>
                <a:srgbClr val="FFFF00"/>
              </a:solidFill>
            </a:endParaRPr>
          </a:p>
        </p:txBody>
      </p:sp>
      <p:sp>
        <p:nvSpPr>
          <p:cNvPr id="422931" name="Text Box 19"/>
          <p:cNvSpPr txBox="1"/>
          <p:nvPr/>
        </p:nvSpPr>
        <p:spPr>
          <a:xfrm>
            <a:off x="4355148" y="3730308"/>
            <a:ext cx="4248150" cy="2308966"/>
          </a:xfrm>
          <a:prstGeom prst="rect">
            <a:avLst/>
          </a:prstGeom>
          <a:noFill/>
          <a:ln w="9525" cap="rnd" cmpd="sng">
            <a:solidFill>
              <a:srgbClr val="0000FF"/>
            </a:solidFill>
            <a:prstDash val="sysDot"/>
            <a:miter/>
            <a:headEnd type="none" w="med" len="med"/>
            <a:tailEnd type="none" w="med" len="med"/>
          </a:ln>
        </p:spPr>
        <p:txBody>
          <a:bodyPr lIns="92075" tIns="46038" rIns="92075" bIns="46038">
            <a:spAutoFit/>
          </a:bodyPr>
          <a:lstStyle/>
          <a:p>
            <a:pPr lvl="0" eaLnBrk="1" hangingPunct="1"/>
            <a:r>
              <a:rPr lang="zh-CN" altLang="en-US" sz="2400" b="1" dirty="0">
                <a:latin typeface="Arial" panose="020B0604020202020204" pitchFamily="34" charset="0"/>
                <a:ea typeface="宋体" panose="02010600030101010101" pitchFamily="2" charset="-122"/>
              </a:rPr>
              <a:t>当</a:t>
            </a:r>
            <a:r>
              <a:rPr lang="en-US" altLang="zh-CN" sz="2400" b="1" dirty="0">
                <a:latin typeface="Arial" panose="020B0604020202020204" pitchFamily="34" charset="0"/>
                <a:ea typeface="宋体" panose="02010600030101010101" pitchFamily="2" charset="-122"/>
              </a:rPr>
              <a:t>p</a:t>
            </a:r>
            <a:r>
              <a:rPr lang="zh-CN" altLang="en-US" sz="2400" b="1" dirty="0">
                <a:latin typeface="Arial" panose="020B0604020202020204" pitchFamily="34" charset="0"/>
                <a:ea typeface="宋体" panose="02010600030101010101" pitchFamily="2" charset="-122"/>
              </a:rPr>
              <a:t>指向</a:t>
            </a:r>
            <a:r>
              <a:rPr lang="zh-CN" altLang="en-US" sz="2400" b="1" dirty="0" smtClean="0">
                <a:latin typeface="Arial" panose="020B0604020202020204" pitchFamily="34" charset="0"/>
                <a:ea typeface="宋体" panose="02010600030101010101" pitchFamily="2" charset="-122"/>
              </a:rPr>
              <a:t>结构体变量</a:t>
            </a:r>
            <a:r>
              <a:rPr lang="en-US" altLang="zh-CN" sz="2400" b="1" dirty="0">
                <a:latin typeface="Arial" panose="020B0604020202020204" pitchFamily="34" charset="0"/>
                <a:ea typeface="宋体" panose="02010600030101010101" pitchFamily="2" charset="-122"/>
              </a:rPr>
              <a:t>s1</a:t>
            </a:r>
            <a:r>
              <a:rPr lang="zh-CN" altLang="en-US" sz="2400" b="1" dirty="0">
                <a:latin typeface="Arial" panose="020B0604020202020204" pitchFamily="34" charset="0"/>
                <a:ea typeface="宋体" panose="02010600030101010101" pitchFamily="2" charset="-122"/>
              </a:rPr>
              <a:t>时，下面三条语句的效果是一样的：</a:t>
            </a:r>
          </a:p>
          <a:p>
            <a:pPr lvl="2" eaLnBrk="1" hangingPunct="1"/>
            <a:r>
              <a:rPr lang="en-US" altLang="zh-CN" sz="2400" b="1" dirty="0">
                <a:solidFill>
                  <a:srgbClr val="CC0066"/>
                </a:solidFill>
                <a:latin typeface="Arial" panose="020B0604020202020204" pitchFamily="34" charset="0"/>
                <a:ea typeface="宋体" panose="02010600030101010101" pitchFamily="2" charset="-122"/>
              </a:rPr>
              <a:t> s1.num = 1001;</a:t>
            </a:r>
          </a:p>
          <a:p>
            <a:pPr lvl="2" eaLnBrk="1" hangingPunct="1"/>
            <a:r>
              <a:rPr lang="en-US" altLang="zh-CN" sz="2400" b="1" dirty="0">
                <a:solidFill>
                  <a:srgbClr val="CC0066"/>
                </a:solidFill>
                <a:latin typeface="Arial" panose="020B0604020202020204" pitchFamily="34" charset="0"/>
                <a:ea typeface="宋体" panose="02010600030101010101" pitchFamily="2" charset="-122"/>
              </a:rPr>
              <a:t> (*p).num = 1001;</a:t>
            </a:r>
          </a:p>
          <a:p>
            <a:pPr lvl="2" eaLnBrk="1" hangingPunct="1"/>
            <a:r>
              <a:rPr lang="en-US" altLang="zh-CN" sz="2400" b="1" dirty="0">
                <a:solidFill>
                  <a:srgbClr val="CC0066"/>
                </a:solidFill>
                <a:latin typeface="Arial" panose="020B0604020202020204" pitchFamily="34" charset="0"/>
                <a:ea typeface="宋体" panose="02010600030101010101" pitchFamily="2" charset="-122"/>
              </a:rPr>
              <a:t> p-&gt;num = 1001;</a:t>
            </a:r>
            <a:endParaRPr lang="zh-CN" altLang="en-US" sz="2400" b="1" dirty="0">
              <a:latin typeface="Arial" panose="020B0604020202020204" pitchFamily="34" charset="0"/>
              <a:ea typeface="宋体" panose="02010600030101010101" pitchFamily="2" charset="-122"/>
            </a:endParaRPr>
          </a:p>
          <a:p>
            <a:pPr lvl="0" eaLnBrk="1" hangingPunct="1">
              <a:buChar char="•"/>
            </a:pPr>
            <a:endParaRPr lang="zh-CN" altLang="en-US" sz="2400" b="1"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内容占位符 6"/>
          <p:cNvSpPr>
            <a:spLocks noGrp="1"/>
          </p:cNvSpPr>
          <p:nvPr>
            <p:ph idx="1"/>
          </p:nvPr>
        </p:nvSpPr>
        <p:spPr>
          <a:xfrm>
            <a:off x="84138" y="987033"/>
            <a:ext cx="8892480" cy="5532829"/>
          </a:xfrm>
        </p:spPr>
        <p:txBody>
          <a:bodyPr/>
          <a:lstStyle/>
          <a:p>
            <a:pPr marL="0" indent="0">
              <a:buNone/>
            </a:pPr>
            <a:r>
              <a:rPr lang="en-US" altLang="zh-CN" sz="1600" dirty="0"/>
              <a:t># include &lt;</a:t>
            </a:r>
            <a:r>
              <a:rPr lang="en-US" altLang="zh-CN" sz="1600" dirty="0" err="1"/>
              <a:t>stdio.h</a:t>
            </a:r>
            <a:r>
              <a:rPr lang="en-US" altLang="zh-CN" sz="1600" dirty="0"/>
              <a:t>&gt;</a:t>
            </a:r>
          </a:p>
          <a:p>
            <a:pPr marL="0" indent="0">
              <a:buNone/>
            </a:pPr>
            <a:r>
              <a:rPr lang="en-US" altLang="zh-CN" sz="1600" dirty="0" err="1"/>
              <a:t>struct</a:t>
            </a:r>
            <a:r>
              <a:rPr lang="en-US" altLang="zh-CN" sz="1600" dirty="0"/>
              <a:t> student{</a:t>
            </a:r>
          </a:p>
          <a:p>
            <a:pPr marL="0" indent="0">
              <a:buNone/>
            </a:pPr>
            <a:r>
              <a:rPr lang="en-US" altLang="zh-CN" sz="1600" dirty="0" smtClean="0"/>
              <a:t>    </a:t>
            </a:r>
            <a:r>
              <a:rPr lang="en-US" altLang="zh-CN" sz="1600" dirty="0" err="1" smtClean="0"/>
              <a:t>int</a:t>
            </a:r>
            <a:r>
              <a:rPr lang="en-US" altLang="zh-CN" sz="1600" dirty="0" smtClean="0"/>
              <a:t> </a:t>
            </a:r>
            <a:r>
              <a:rPr lang="en-US" altLang="zh-CN" sz="1600" dirty="0" err="1"/>
              <a:t>num</a:t>
            </a:r>
            <a:r>
              <a:rPr lang="en-US" altLang="zh-CN" sz="1600" dirty="0"/>
              <a:t>;                 </a:t>
            </a:r>
            <a:r>
              <a:rPr lang="en-US" altLang="zh-CN" sz="1600" dirty="0" smtClean="0"/>
              <a:t>       </a:t>
            </a:r>
            <a:r>
              <a:rPr lang="en-US" altLang="zh-CN" sz="1600" dirty="0"/>
              <a:t>/* </a:t>
            </a:r>
            <a:r>
              <a:rPr lang="zh-CN" altLang="en-US" sz="1600" dirty="0"/>
              <a:t>学号 *</a:t>
            </a:r>
            <a:r>
              <a:rPr lang="en-US" altLang="zh-CN" sz="1600" dirty="0"/>
              <a:t>/</a:t>
            </a:r>
          </a:p>
          <a:p>
            <a:pPr marL="0" indent="0">
              <a:buNone/>
            </a:pPr>
            <a:r>
              <a:rPr lang="en-US" altLang="zh-CN" sz="1600" dirty="0" smtClean="0"/>
              <a:t>    char </a:t>
            </a:r>
            <a:r>
              <a:rPr lang="en-US" altLang="zh-CN" sz="1600" dirty="0"/>
              <a:t>name[10];             /* </a:t>
            </a:r>
            <a:r>
              <a:rPr lang="zh-CN" altLang="en-US" sz="1600" dirty="0"/>
              <a:t>姓名 *</a:t>
            </a:r>
            <a:r>
              <a:rPr lang="en-US" altLang="zh-CN" sz="1600" dirty="0"/>
              <a:t>/</a:t>
            </a:r>
          </a:p>
          <a:p>
            <a:pPr marL="0" indent="0">
              <a:buNone/>
            </a:pPr>
            <a:r>
              <a:rPr lang="en-US" altLang="zh-CN" sz="1600" dirty="0" smtClean="0"/>
              <a:t>    </a:t>
            </a:r>
            <a:r>
              <a:rPr lang="en-US" altLang="zh-CN" sz="1600" dirty="0" err="1" smtClean="0"/>
              <a:t>int</a:t>
            </a:r>
            <a:r>
              <a:rPr lang="en-US" altLang="zh-CN" sz="1600" dirty="0" smtClean="0"/>
              <a:t> </a:t>
            </a:r>
            <a:r>
              <a:rPr lang="en-US" altLang="zh-CN" sz="1600" dirty="0" err="1"/>
              <a:t>math,english,computer</a:t>
            </a:r>
            <a:r>
              <a:rPr lang="en-US" altLang="zh-CN" sz="1600" dirty="0"/>
              <a:t>;    /* </a:t>
            </a:r>
            <a:r>
              <a:rPr lang="zh-CN" altLang="en-US" sz="1600" dirty="0"/>
              <a:t>三门课程成绩 *</a:t>
            </a:r>
            <a:r>
              <a:rPr lang="en-US" altLang="zh-CN" sz="1600" dirty="0"/>
              <a:t>/</a:t>
            </a:r>
          </a:p>
          <a:p>
            <a:pPr marL="0" indent="0">
              <a:buNone/>
            </a:pPr>
            <a:r>
              <a:rPr lang="en-US" altLang="zh-CN" sz="1600" dirty="0"/>
              <a:t>};</a:t>
            </a:r>
          </a:p>
          <a:p>
            <a:pPr marL="0" indent="0">
              <a:buNone/>
            </a:pPr>
            <a:r>
              <a:rPr lang="en-US" altLang="zh-CN" sz="1600" dirty="0" err="1"/>
              <a:t>int</a:t>
            </a:r>
            <a:r>
              <a:rPr lang="en-US" altLang="zh-CN" sz="1600" dirty="0"/>
              <a:t> main ()</a:t>
            </a:r>
          </a:p>
          <a:p>
            <a:pPr marL="0" indent="0">
              <a:buNone/>
            </a:pPr>
            <a:r>
              <a:rPr lang="en-US" altLang="zh-CN" sz="1600" dirty="0"/>
              <a:t>{</a:t>
            </a:r>
          </a:p>
          <a:p>
            <a:pPr marL="0" indent="0">
              <a:buNone/>
            </a:pPr>
            <a:r>
              <a:rPr lang="en-US" altLang="zh-CN" sz="1600" dirty="0" smtClean="0"/>
              <a:t>    </a:t>
            </a:r>
            <a:r>
              <a:rPr lang="en-US" altLang="zh-CN" sz="1600" dirty="0" err="1" smtClean="0"/>
              <a:t>struct</a:t>
            </a:r>
            <a:r>
              <a:rPr lang="en-US" altLang="zh-CN" sz="1600" dirty="0" smtClean="0"/>
              <a:t> </a:t>
            </a:r>
            <a:r>
              <a:rPr lang="en-US" altLang="zh-CN" sz="1600" dirty="0"/>
              <a:t>student s1 = {1001, "</a:t>
            </a:r>
            <a:r>
              <a:rPr lang="en-US" altLang="zh-CN" sz="1600" dirty="0" err="1"/>
              <a:t>ZhangLi</a:t>
            </a:r>
            <a:r>
              <a:rPr lang="en-US" altLang="zh-CN" sz="1600" dirty="0"/>
              <a:t>", 78, 87, 85};</a:t>
            </a:r>
          </a:p>
          <a:p>
            <a:pPr marL="0" indent="0">
              <a:buNone/>
            </a:pPr>
            <a:r>
              <a:rPr lang="en-US" altLang="zh-CN" sz="1600" dirty="0" smtClean="0"/>
              <a:t>    </a:t>
            </a:r>
            <a:r>
              <a:rPr lang="en-US" altLang="zh-CN" sz="1600" dirty="0" err="1" smtClean="0"/>
              <a:t>struct</a:t>
            </a:r>
            <a:r>
              <a:rPr lang="en-US" altLang="zh-CN" sz="1600" dirty="0" smtClean="0"/>
              <a:t> </a:t>
            </a:r>
            <a:r>
              <a:rPr lang="en-US" altLang="zh-CN" sz="1600" dirty="0"/>
              <a:t>student *p;</a:t>
            </a:r>
          </a:p>
          <a:p>
            <a:pPr marL="0" indent="0">
              <a:buNone/>
            </a:pPr>
            <a:r>
              <a:rPr lang="en-US" altLang="zh-CN" sz="1600" dirty="0" smtClean="0"/>
              <a:t>    p </a:t>
            </a:r>
            <a:r>
              <a:rPr lang="en-US" altLang="zh-CN" sz="1600" dirty="0"/>
              <a:t>= &amp;s1;	//p</a:t>
            </a:r>
            <a:r>
              <a:rPr lang="zh-CN" altLang="en-US" sz="1600" dirty="0"/>
              <a:t>指向结构体变量</a:t>
            </a:r>
            <a:r>
              <a:rPr lang="en-US" altLang="zh-CN" sz="1600" dirty="0"/>
              <a:t>s1</a:t>
            </a:r>
          </a:p>
          <a:p>
            <a:pPr marL="0" indent="0">
              <a:buNone/>
            </a:pPr>
            <a:r>
              <a:rPr lang="en-US" altLang="zh-CN" sz="1600" dirty="0" smtClean="0"/>
              <a:t>    </a:t>
            </a:r>
            <a:r>
              <a:rPr lang="en-US" altLang="zh-CN" sz="1600" dirty="0" err="1" smtClean="0"/>
              <a:t>printf</a:t>
            </a:r>
            <a:r>
              <a:rPr lang="en-US" altLang="zh-CN" sz="1600" dirty="0"/>
              <a:t>("s1:%d %s %d %d %d\n",s1.num,s1.name,s1.math,s1.english,s1.computer);</a:t>
            </a:r>
          </a:p>
          <a:p>
            <a:pPr marL="0" indent="0">
              <a:buNone/>
            </a:pPr>
            <a:r>
              <a:rPr lang="en-US" altLang="zh-CN" sz="1600" dirty="0" smtClean="0"/>
              <a:t>    </a:t>
            </a:r>
            <a:r>
              <a:rPr lang="en-US" altLang="zh-CN" sz="1600" dirty="0" err="1" smtClean="0"/>
              <a:t>printf</a:t>
            </a:r>
            <a:r>
              <a:rPr lang="en-US" altLang="zh-CN" sz="1600" dirty="0"/>
              <a:t>("s1:%d %s %d %d %d\</a:t>
            </a:r>
            <a:r>
              <a:rPr lang="en-US" altLang="zh-CN" sz="1600" dirty="0" err="1"/>
              <a:t>n",p</a:t>
            </a:r>
            <a:r>
              <a:rPr lang="en-US" altLang="zh-CN" sz="1600" dirty="0"/>
              <a:t>-&gt;</a:t>
            </a:r>
            <a:r>
              <a:rPr lang="en-US" altLang="zh-CN" sz="1600" dirty="0" err="1"/>
              <a:t>num,p</a:t>
            </a:r>
            <a:r>
              <a:rPr lang="en-US" altLang="zh-CN" sz="1600" dirty="0"/>
              <a:t>-&gt;</a:t>
            </a:r>
            <a:r>
              <a:rPr lang="en-US" altLang="zh-CN" sz="1600" dirty="0" err="1"/>
              <a:t>name,p</a:t>
            </a:r>
            <a:r>
              <a:rPr lang="en-US" altLang="zh-CN" sz="1600" dirty="0"/>
              <a:t>-&gt;</a:t>
            </a:r>
            <a:r>
              <a:rPr lang="en-US" altLang="zh-CN" sz="1600" dirty="0" err="1"/>
              <a:t>math,p</a:t>
            </a:r>
            <a:r>
              <a:rPr lang="en-US" altLang="zh-CN" sz="1600" dirty="0"/>
              <a:t>-&gt;</a:t>
            </a:r>
            <a:r>
              <a:rPr lang="en-US" altLang="zh-CN" sz="1600" dirty="0" err="1"/>
              <a:t>english,p</a:t>
            </a:r>
            <a:r>
              <a:rPr lang="en-US" altLang="zh-CN" sz="1600" dirty="0"/>
              <a:t>-&gt;computer);</a:t>
            </a:r>
          </a:p>
          <a:p>
            <a:pPr marL="0" indent="0">
              <a:buNone/>
            </a:pPr>
            <a:r>
              <a:rPr lang="en-US" altLang="zh-CN" sz="1600" dirty="0"/>
              <a:t>    </a:t>
            </a:r>
            <a:r>
              <a:rPr lang="en-US" altLang="zh-CN" sz="1600" dirty="0" err="1"/>
              <a:t>printf</a:t>
            </a:r>
            <a:r>
              <a:rPr lang="en-US" altLang="zh-CN" sz="1600" dirty="0"/>
              <a:t>("s1:%d %s %d %d %d\n",(*p).</a:t>
            </a:r>
            <a:r>
              <a:rPr lang="en-US" altLang="zh-CN" sz="1600" dirty="0" err="1"/>
              <a:t>num</a:t>
            </a:r>
            <a:r>
              <a:rPr lang="en-US" altLang="zh-CN" sz="1600" dirty="0"/>
              <a:t>,(*p).name,(*p).math,(*p).</a:t>
            </a:r>
            <a:r>
              <a:rPr lang="en-US" altLang="zh-CN" sz="1600" dirty="0" err="1"/>
              <a:t>english</a:t>
            </a:r>
            <a:r>
              <a:rPr lang="en-US" altLang="zh-CN" sz="1600" dirty="0"/>
              <a:t>,(*p).computer);</a:t>
            </a:r>
          </a:p>
          <a:p>
            <a:pPr marL="0" indent="0">
              <a:buNone/>
            </a:pPr>
            <a:r>
              <a:rPr lang="en-US" altLang="zh-CN" sz="1600" dirty="0" smtClean="0"/>
              <a:t>    return </a:t>
            </a:r>
            <a:r>
              <a:rPr lang="en-US" altLang="zh-CN" sz="1600" dirty="0"/>
              <a:t>0;</a:t>
            </a:r>
          </a:p>
          <a:p>
            <a:pPr marL="0" indent="0">
              <a:buNone/>
            </a:pPr>
            <a:r>
              <a:rPr lang="en-US" altLang="zh-CN" sz="1600" dirty="0" smtClean="0"/>
              <a:t>}</a:t>
            </a:r>
            <a:endParaRPr lang="zh-CN" altLang="en-US" sz="1600" dirty="0"/>
          </a:p>
        </p:txBody>
      </p:sp>
      <p:sp>
        <p:nvSpPr>
          <p:cNvPr id="5" name="灯片编号占位符 4"/>
          <p:cNvSpPr>
            <a:spLocks noGrp="1"/>
          </p:cNvSpPr>
          <p:nvPr>
            <p:ph type="sldNum" sz="quarter" idx="4294967295"/>
          </p:nvPr>
        </p:nvSpPr>
        <p:spPr>
          <a:xfrm>
            <a:off x="84138" y="6308725"/>
            <a:ext cx="587375" cy="422275"/>
          </a:xfrm>
        </p:spPr>
        <p:txBody>
          <a:bodyPr/>
          <a:lstStyle/>
          <a:p>
            <a:pPr lvl="0" algn="r" eaLnBrk="1" hangingPunct="1"/>
            <a:fld id="{9A0DB2DC-4C9A-4742-B13C-FB6460FD3503}" type="slidenum">
              <a:rPr lang="zh-CN" altLang="en-US" sz="1200" dirty="0">
                <a:latin typeface="Arial Black" panose="020B0A04020102020204" pitchFamily="34" charset="0"/>
              </a:rPr>
              <a:t>114</a:t>
            </a:fld>
            <a:endParaRPr lang="zh-CN" altLang="en-US" sz="1200" dirty="0">
              <a:latin typeface="Arial Black" panose="020B0A04020102020204" pitchFamily="34" charset="0"/>
            </a:endParaRPr>
          </a:p>
        </p:txBody>
      </p:sp>
      <p:sp>
        <p:nvSpPr>
          <p:cNvPr id="4" name="内容占位符 6"/>
          <p:cNvSpPr txBox="1">
            <a:spLocks/>
          </p:cNvSpPr>
          <p:nvPr/>
        </p:nvSpPr>
        <p:spPr bwMode="auto">
          <a:xfrm>
            <a:off x="-41622" y="199831"/>
            <a:ext cx="9144000"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pPr marL="0" indent="0">
              <a:buFont typeface="Webdings" panose="05030102010509060703" pitchFamily="18" charset="2"/>
              <a:buNone/>
            </a:pPr>
            <a:r>
              <a:rPr lang="en-US" altLang="zh-CN" sz="2400" kern="0" smtClean="0"/>
              <a:t>【</a:t>
            </a:r>
            <a:r>
              <a:rPr lang="zh-CN" altLang="en-US" sz="2400" kern="0" smtClean="0"/>
              <a:t>例</a:t>
            </a:r>
            <a:r>
              <a:rPr lang="en-US" altLang="zh-CN" sz="2400" kern="0" smtClean="0"/>
              <a:t>6-20】</a:t>
            </a:r>
            <a:r>
              <a:rPr lang="zh-CN" altLang="en-US" sz="2400" kern="0" smtClean="0"/>
              <a:t>综合演示结构体指针的定义、使用、赋值方法</a:t>
            </a:r>
            <a:endParaRPr lang="en-US" altLang="zh-CN" sz="2400" kern="0" smtClean="0"/>
          </a:p>
          <a:p>
            <a:pPr marL="0" indent="0">
              <a:buFont typeface="Webdings" panose="05030102010509060703" pitchFamily="18" charset="2"/>
              <a:buNone/>
            </a:pPr>
            <a:endParaRPr lang="zh-CN" altLang="en-US" sz="2400" kern="0" dirty="0"/>
          </a:p>
        </p:txBody>
      </p:sp>
    </p:spTree>
    <p:extLst>
      <p:ext uri="{BB962C8B-B14F-4D97-AF65-F5344CB8AC3E}">
        <p14:creationId xmlns:p14="http://schemas.microsoft.com/office/powerpoint/2010/main" val="2771662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650" y="765175"/>
            <a:ext cx="7924800" cy="784225"/>
          </a:xfrm>
        </p:spPr>
        <p:txBody>
          <a:bodyPr/>
          <a:lstStyle/>
          <a:p>
            <a:r>
              <a:rPr lang="zh-CN" altLang="en-US" dirty="0"/>
              <a:t>指针访问结构体数组</a:t>
            </a:r>
          </a:p>
        </p:txBody>
      </p:sp>
      <p:sp>
        <p:nvSpPr>
          <p:cNvPr id="4" name="灯片编号占位符 3"/>
          <p:cNvSpPr>
            <a:spLocks noGrp="1"/>
          </p:cNvSpPr>
          <p:nvPr>
            <p:ph type="sldNum" sz="quarter" idx="4294967295"/>
          </p:nvPr>
        </p:nvSpPr>
        <p:spPr>
          <a:xfrm>
            <a:off x="227648" y="6236970"/>
            <a:ext cx="587375" cy="422275"/>
          </a:xfrm>
        </p:spPr>
        <p:txBody>
          <a:bodyPr/>
          <a:lstStyle/>
          <a:p>
            <a:pPr>
              <a:defRPr/>
            </a:pPr>
            <a:fld id="{1B21A633-576F-46D6-9FAA-ECFADAC6F967}" type="slidenum">
              <a:rPr lang="en-US" altLang="zh-CN"/>
              <a:t>115</a:t>
            </a:fld>
            <a:endParaRPr lang="en-US" altLang="zh-CN" dirty="0"/>
          </a:p>
        </p:txBody>
      </p:sp>
      <p:sp>
        <p:nvSpPr>
          <p:cNvPr id="389122" name="Rectangle 2"/>
          <p:cNvSpPr>
            <a:spLocks noChangeArrowheads="1"/>
          </p:cNvSpPr>
          <p:nvPr/>
        </p:nvSpPr>
        <p:spPr bwMode="auto">
          <a:xfrm>
            <a:off x="537845" y="3428365"/>
            <a:ext cx="5573713" cy="3333220"/>
          </a:xfrm>
          <a:prstGeom prst="rect">
            <a:avLst/>
          </a:prstGeom>
          <a:noFill/>
          <a:ln w="38100">
            <a:noFill/>
            <a:miter lim="800000"/>
          </a:ln>
        </p:spPr>
        <p:txBody>
          <a:bodyPr>
            <a:spAutoFit/>
          </a:bodyPr>
          <a:lstStyle/>
          <a:p>
            <a:pPr lvl="1" eaLnBrk="1" hangingPunct="1">
              <a:lnSpc>
                <a:spcPct val="130000"/>
              </a:lnSpc>
              <a:defRPr/>
            </a:pPr>
            <a:r>
              <a:rPr kumimoji="1" lang="en-US" altLang="zh-CN" sz="1800" b="1" dirty="0" smtClean="0">
                <a:solidFill>
                  <a:srgbClr val="000066"/>
                </a:solidFill>
                <a:effectLst>
                  <a:outerShdw blurRad="38100" dist="38100" dir="2700000" algn="tl">
                    <a:srgbClr val="C0C0C0"/>
                  </a:outerShdw>
                </a:effectLst>
                <a:latin typeface="Courier New" panose="02070309020205020404" pitchFamily="49" charset="0"/>
              </a:rPr>
              <a:t>pt</a:t>
            </a:r>
            <a:r>
              <a:rPr kumimoji="1" lang="zh-CN" altLang="en-US" sz="1800" b="1" dirty="0">
                <a:solidFill>
                  <a:srgbClr val="000066"/>
                </a:solidFill>
                <a:effectLst>
                  <a:outerShdw blurRad="38100" dist="38100" dir="2700000" algn="tl">
                    <a:srgbClr val="C0C0C0"/>
                  </a:outerShdw>
                </a:effectLst>
                <a:latin typeface="Courier New" panose="02070309020205020404" pitchFamily="49" charset="0"/>
              </a:rPr>
              <a:t>指向</a:t>
            </a:r>
            <a:r>
              <a:rPr kumimoji="1" lang="en-US" altLang="zh-CN" sz="1800" b="1" dirty="0" err="1" smtClean="0">
                <a:solidFill>
                  <a:srgbClr val="000066"/>
                </a:solidFill>
                <a:effectLst>
                  <a:outerShdw blurRad="38100" dist="38100" dir="2700000" algn="tl">
                    <a:srgbClr val="C0C0C0"/>
                  </a:outerShdw>
                </a:effectLst>
                <a:latin typeface="Courier New" panose="02070309020205020404" pitchFamily="49" charset="0"/>
              </a:rPr>
              <a:t>stu</a:t>
            </a:r>
            <a:r>
              <a:rPr kumimoji="1" lang="en-US" altLang="zh-CN" sz="1800" b="1" dirty="0" smtClean="0">
                <a:solidFill>
                  <a:srgbClr val="000066"/>
                </a:solidFill>
                <a:effectLst>
                  <a:outerShdw blurRad="38100" dist="38100" dir="2700000" algn="tl">
                    <a:srgbClr val="C0C0C0"/>
                  </a:outerShdw>
                </a:effectLst>
                <a:latin typeface="Courier New" panose="02070309020205020404" pitchFamily="49" charset="0"/>
              </a:rPr>
              <a:t>[0]</a:t>
            </a:r>
            <a:endParaRPr kumimoji="1" lang="en-US" altLang="zh-CN" sz="1800" b="1" dirty="0">
              <a:solidFill>
                <a:srgbClr val="000066"/>
              </a:solidFill>
              <a:effectLst>
                <a:outerShdw blurRad="38100" dist="38100" dir="2700000" algn="tl">
                  <a:srgbClr val="C0C0C0"/>
                </a:outerShdw>
              </a:effectLst>
              <a:latin typeface="Courier New" panose="02070309020205020404" pitchFamily="49" charset="0"/>
            </a:endParaRPr>
          </a:p>
          <a:p>
            <a:pPr lvl="1" eaLnBrk="1" hangingPunct="1">
              <a:lnSpc>
                <a:spcPct val="130000"/>
              </a:lnSpc>
              <a:defRPr/>
            </a:pPr>
            <a:r>
              <a:rPr kumimoji="1" lang="en-US" altLang="zh-CN" sz="1800" b="1" dirty="0">
                <a:solidFill>
                  <a:srgbClr val="000066"/>
                </a:solidFill>
                <a:effectLst>
                  <a:outerShdw blurRad="38100" dist="38100" dir="2700000" algn="tl">
                    <a:srgbClr val="C0C0C0"/>
                  </a:outerShdw>
                </a:effectLst>
                <a:latin typeface="Courier New" panose="02070309020205020404" pitchFamily="49" charset="0"/>
              </a:rPr>
              <a:t>pt -&gt; num</a:t>
            </a:r>
            <a:endParaRPr kumimoji="1" lang="en-US" altLang="fr-FR" sz="1800" b="1" dirty="0">
              <a:solidFill>
                <a:srgbClr val="000066"/>
              </a:solidFill>
              <a:effectLst>
                <a:outerShdw blurRad="38100" dist="38100" dir="2700000" algn="tl">
                  <a:srgbClr val="C0C0C0"/>
                </a:outerShdw>
              </a:effectLst>
              <a:latin typeface="Courier New" panose="02070309020205020404" pitchFamily="49" charset="0"/>
            </a:endParaRPr>
          </a:p>
          <a:p>
            <a:pPr lvl="1" eaLnBrk="1" hangingPunct="1">
              <a:lnSpc>
                <a:spcPct val="130000"/>
              </a:lnSpc>
              <a:defRPr/>
            </a:pPr>
            <a:r>
              <a:rPr kumimoji="1" lang="zh-CN" altLang="fr-FR" sz="1800" b="1" dirty="0">
                <a:solidFill>
                  <a:srgbClr val="000066"/>
                </a:solidFill>
                <a:effectLst>
                  <a:outerShdw blurRad="38100" dist="38100" dir="2700000" algn="tl">
                    <a:srgbClr val="C0C0C0"/>
                  </a:outerShdw>
                </a:effectLst>
                <a:latin typeface="Courier New" panose="02070309020205020404" pitchFamily="49" charset="0"/>
              </a:rPr>
              <a:t>等价于</a:t>
            </a:r>
            <a:r>
              <a:rPr kumimoji="1" lang="en-US" altLang="zh-CN" sz="1800" b="1" dirty="0">
                <a:solidFill>
                  <a:srgbClr val="000066"/>
                </a:solidFill>
                <a:effectLst>
                  <a:outerShdw blurRad="38100" dist="38100" dir="2700000" algn="tl">
                    <a:srgbClr val="C0C0C0"/>
                  </a:outerShdw>
                </a:effectLst>
                <a:latin typeface="Courier New" panose="02070309020205020404" pitchFamily="49" charset="0"/>
              </a:rPr>
              <a:t> </a:t>
            </a:r>
          </a:p>
          <a:p>
            <a:pPr lvl="1" eaLnBrk="1" hangingPunct="1">
              <a:lnSpc>
                <a:spcPct val="130000"/>
              </a:lnSpc>
              <a:defRPr/>
            </a:pPr>
            <a:r>
              <a:rPr kumimoji="1" lang="en-US" altLang="zh-CN" sz="1800" b="1" dirty="0" err="1" smtClean="0">
                <a:solidFill>
                  <a:srgbClr val="000066"/>
                </a:solidFill>
                <a:effectLst>
                  <a:outerShdw blurRad="38100" dist="38100" dir="2700000" algn="tl">
                    <a:srgbClr val="C0C0C0"/>
                  </a:outerShdw>
                </a:effectLst>
                <a:latin typeface="Courier New" panose="02070309020205020404" pitchFamily="49" charset="0"/>
              </a:rPr>
              <a:t>stu</a:t>
            </a:r>
            <a:r>
              <a:rPr kumimoji="1" lang="en-US" altLang="zh-CN" sz="1800" b="1" dirty="0" smtClean="0">
                <a:solidFill>
                  <a:srgbClr val="000066"/>
                </a:solidFill>
                <a:effectLst>
                  <a:outerShdw blurRad="38100" dist="38100" dir="2700000" algn="tl">
                    <a:srgbClr val="C0C0C0"/>
                  </a:outerShdw>
                </a:effectLst>
                <a:latin typeface="Courier New" panose="02070309020205020404" pitchFamily="49" charset="0"/>
              </a:rPr>
              <a:t>[0]. </a:t>
            </a:r>
            <a:r>
              <a:rPr kumimoji="1" lang="en-US" altLang="fr-FR" sz="1800" b="1" dirty="0">
                <a:solidFill>
                  <a:srgbClr val="000066"/>
                </a:solidFill>
                <a:effectLst>
                  <a:outerShdw blurRad="38100" dist="38100" dir="2700000" algn="tl">
                    <a:srgbClr val="C0C0C0"/>
                  </a:outerShdw>
                </a:effectLst>
                <a:latin typeface="Courier New" panose="02070309020205020404" pitchFamily="49" charset="0"/>
              </a:rPr>
              <a:t>num</a:t>
            </a:r>
          </a:p>
          <a:p>
            <a:pPr marL="457200" marR="0" lvl="1" indent="0" algn="l" defTabSz="914400" rtl="0" eaLnBrk="1" fontAlgn="base" latinLnBrk="0" hangingPunct="1">
              <a:lnSpc>
                <a:spcPct val="130000"/>
              </a:lnSpc>
              <a:spcBef>
                <a:spcPct val="0"/>
              </a:spcBef>
              <a:spcAft>
                <a:spcPct val="0"/>
              </a:spcAft>
              <a:buClrTx/>
              <a:buSzTx/>
              <a:buFontTx/>
              <a:buNone/>
              <a:defRPr/>
            </a:pPr>
            <a:endParaRPr kumimoji="1" lang="en-US" altLang="zh-CN" sz="1800" b="1" i="0" u="none" strike="noStrike" kern="1200" cap="none" spc="0" normalizeH="0" baseline="0" noProof="0" dirty="0"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a:p>
            <a:pPr marL="457200" marR="0" lvl="1" indent="0" algn="l" defTabSz="914400" rtl="0" eaLnBrk="1" fontAlgn="base" latinLnBrk="0" hangingPunct="1">
              <a:lnSpc>
                <a:spcPct val="130000"/>
              </a:lnSpc>
              <a:spcBef>
                <a:spcPct val="0"/>
              </a:spcBef>
              <a:spcAft>
                <a:spcPct val="0"/>
              </a:spcAft>
              <a:buClrTx/>
              <a:buSzTx/>
              <a:buFontTx/>
              <a:buNone/>
              <a:defRPr/>
            </a:pPr>
            <a:r>
              <a:rPr kumimoji="1" lang="zh-CN" altLang="en-US" sz="1800" b="1" i="0" u="none" strike="noStrike" kern="1200" cap="none" spc="0" normalizeH="0" baseline="0" noProof="0" dirty="0"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使</a:t>
            </a:r>
            <a:r>
              <a:rPr kumimoji="1" lang="en-US" altLang="zh-CN" sz="1800" b="1" i="0" u="none" strike="noStrike" kern="1200" cap="none" spc="0" normalizeH="0" baseline="0" noProof="0" dirty="0"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pt</a:t>
            </a:r>
            <a:r>
              <a:rPr kumimoji="1" lang="en-US" altLang="zh-CN"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a:t>
            </a:r>
            <a:r>
              <a:rPr kumimoji="1" lang="zh-CN" altLang="en-US"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，使</a:t>
            </a:r>
            <a:r>
              <a:rPr kumimoji="1" lang="en-US" altLang="zh-CN"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pt</a:t>
            </a:r>
            <a:r>
              <a:rPr kumimoji="1" lang="zh-CN" altLang="en-US"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指向</a:t>
            </a:r>
            <a:r>
              <a:rPr kumimoji="1" lang="en-US" altLang="zh-CN" sz="1800" b="1" i="0" u="none" strike="noStrike" kern="1200" cap="none" spc="0" normalizeH="0" baseline="0" noProof="0" dirty="0" err="1"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stu</a:t>
            </a:r>
            <a:r>
              <a:rPr kumimoji="1" lang="en-US" altLang="zh-CN" sz="1800" b="1" i="0" u="none" strike="noStrike" kern="1200" cap="none" spc="0" normalizeH="0" baseline="0" noProof="0" dirty="0"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[1</a:t>
            </a:r>
            <a:r>
              <a:rPr kumimoji="1" lang="en-US" altLang="zh-CN"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a:t>
            </a:r>
          </a:p>
          <a:p>
            <a:pPr marL="457200" marR="0" lvl="1" indent="0" algn="l" defTabSz="914400" rtl="0" eaLnBrk="1" fontAlgn="base" latinLnBrk="0" hangingPunct="1">
              <a:lnSpc>
                <a:spcPct val="130000"/>
              </a:lnSpc>
              <a:spcBef>
                <a:spcPct val="0"/>
              </a:spcBef>
              <a:spcAft>
                <a:spcPct val="0"/>
              </a:spcAft>
              <a:buClrTx/>
              <a:buSzTx/>
              <a:buFontTx/>
              <a:buNone/>
              <a:defRPr/>
            </a:pPr>
            <a:r>
              <a:rPr kumimoji="1" lang="en-US" altLang="zh-CN"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pt -&gt; num</a:t>
            </a:r>
            <a:endParaRPr kumimoji="1" lang="en-US" altLang="fr-FR"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a:p>
            <a:pPr marL="457200" marR="0" lvl="1" indent="0" algn="l" defTabSz="914400" rtl="0" eaLnBrk="1" fontAlgn="base" latinLnBrk="0" hangingPunct="1">
              <a:lnSpc>
                <a:spcPct val="130000"/>
              </a:lnSpc>
              <a:spcBef>
                <a:spcPct val="0"/>
              </a:spcBef>
              <a:spcAft>
                <a:spcPct val="0"/>
              </a:spcAft>
              <a:buClrTx/>
              <a:buSzTx/>
              <a:buFontTx/>
              <a:buNone/>
              <a:defRPr/>
            </a:pPr>
            <a:r>
              <a:rPr kumimoji="1" lang="zh-CN" altLang="fr-FR"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等价于</a:t>
            </a:r>
            <a:r>
              <a:rPr kumimoji="1" lang="en-US" altLang="zh-CN"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p>
          <a:p>
            <a:pPr marL="457200" marR="0" lvl="1" indent="0" algn="l" defTabSz="914400" rtl="0" eaLnBrk="1" fontAlgn="base" latinLnBrk="0" hangingPunct="1">
              <a:lnSpc>
                <a:spcPct val="130000"/>
              </a:lnSpc>
              <a:spcBef>
                <a:spcPct val="0"/>
              </a:spcBef>
              <a:spcAft>
                <a:spcPct val="0"/>
              </a:spcAft>
              <a:buClrTx/>
              <a:buSzTx/>
              <a:buFontTx/>
              <a:buNone/>
              <a:defRPr/>
            </a:pPr>
            <a:r>
              <a:rPr kumimoji="1" lang="en-US" altLang="zh-CN" sz="1800" b="1" i="0" u="none" strike="noStrike" kern="1200" cap="none" spc="0" normalizeH="0" baseline="0" noProof="0" dirty="0" err="1"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stu</a:t>
            </a:r>
            <a:r>
              <a:rPr kumimoji="1" lang="en-US" altLang="zh-CN" sz="1800" b="1" i="0" u="none" strike="noStrike" kern="1200" cap="none" spc="0" normalizeH="0" baseline="0" noProof="0" dirty="0" smtClean="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[1</a:t>
            </a:r>
            <a:r>
              <a:rPr kumimoji="1" lang="en-US" altLang="zh-CN"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r>
              <a:rPr kumimoji="1" lang="en-US" altLang="fr-FR" sz="1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num</a:t>
            </a:r>
          </a:p>
        </p:txBody>
      </p:sp>
      <p:sp>
        <p:nvSpPr>
          <p:cNvPr id="389124" name="Text Box 4"/>
          <p:cNvSpPr txBox="1"/>
          <p:nvPr/>
        </p:nvSpPr>
        <p:spPr>
          <a:xfrm>
            <a:off x="5570538" y="2251075"/>
            <a:ext cx="1295400" cy="457200"/>
          </a:xfrm>
          <a:prstGeom prst="rect">
            <a:avLst/>
          </a:prstGeom>
          <a:no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rPr>
              <a:t>pt</a:t>
            </a:r>
          </a:p>
        </p:txBody>
      </p:sp>
      <p:sp>
        <p:nvSpPr>
          <p:cNvPr id="389126" name="Line 6"/>
          <p:cNvSpPr>
            <a:spLocks noChangeShapeType="1"/>
          </p:cNvSpPr>
          <p:nvPr/>
        </p:nvSpPr>
        <p:spPr bwMode="auto">
          <a:xfrm>
            <a:off x="6445250" y="2492375"/>
            <a:ext cx="647700" cy="0"/>
          </a:xfrm>
          <a:prstGeom prst="line">
            <a:avLst/>
          </a:prstGeom>
          <a:noFill/>
          <a:ln w="57150">
            <a:solidFill>
              <a:srgbClr val="000080"/>
            </a:solidFill>
            <a:round/>
            <a:headEnd type="none" w="sm" len="sm"/>
            <a:tailEnd type="triangl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0939" name="Rectangle 11"/>
          <p:cNvSpPr>
            <a:spLocks noChangeArrowheads="1"/>
          </p:cNvSpPr>
          <p:nvPr/>
        </p:nvSpPr>
        <p:spPr bwMode="auto">
          <a:xfrm>
            <a:off x="687070" y="2633028"/>
            <a:ext cx="4964113" cy="1298575"/>
          </a:xfrm>
          <a:prstGeom prst="rect">
            <a:avLst/>
          </a:prstGeom>
          <a:noFill/>
          <a:ln w="9525">
            <a:noFill/>
            <a:miter lim="800000"/>
          </a:ln>
        </p:spPr>
        <p:txBody>
          <a:bodyPr lIns="92075" tIns="46037" rIns="92075" bIns="46037"/>
          <a:lstStyle/>
          <a:p>
            <a:pPr marL="374650" marR="0" lvl="0" indent="-374650" algn="l" defTabSz="914400" rtl="0" eaLnBrk="1" fontAlgn="base" latinLnBrk="0" hangingPunct="1">
              <a:lnSpc>
                <a:spcPct val="80000"/>
              </a:lnSpc>
              <a:spcBef>
                <a:spcPct val="20000"/>
              </a:spcBef>
              <a:buClr>
                <a:srgbClr val="FFCC66"/>
              </a:buClr>
              <a:buSzPct val="80000"/>
              <a:buFontTx/>
              <a:buNone/>
              <a:defRPr/>
            </a:pPr>
            <a:r>
              <a:rPr kumimoji="0" lang="en-US" altLang="zh-CN" sz="1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r>
              <a:rPr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struct student</a:t>
            </a:r>
            <a:r>
              <a:rPr kumimoji="0"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r>
              <a:rPr kumimoji="0" lang="en-US" altLang="zh-CN" sz="1800" b="1" i="0" u="none" strike="noStrike" kern="1200" cap="none" spc="0" normalizeH="0" baseline="0" noProof="0" dirty="0" err="1" smtClean="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stu</a:t>
            </a:r>
            <a:r>
              <a:rPr kumimoji="0" lang="en-US" altLang="zh-CN" sz="1800" b="1"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100]; </a:t>
            </a:r>
          </a:p>
          <a:p>
            <a:pPr marL="374650" marR="0" lvl="0" indent="-374650" algn="l" defTabSz="914400" rtl="0" eaLnBrk="1" fontAlgn="base" latinLnBrk="0" hangingPunct="1">
              <a:lnSpc>
                <a:spcPct val="80000"/>
              </a:lnSpc>
              <a:spcBef>
                <a:spcPct val="20000"/>
              </a:spcBef>
              <a:buClr>
                <a:srgbClr val="FFCC66"/>
              </a:buClr>
              <a:buSzPct val="80000"/>
              <a:buFontTx/>
              <a:buNone/>
              <a:defRPr/>
            </a:pPr>
            <a:r>
              <a:rPr kumimoji="0"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r>
              <a:rPr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struct student</a:t>
            </a:r>
            <a:r>
              <a:rPr kumimoji="0"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*pt = </a:t>
            </a:r>
            <a:r>
              <a:rPr kumimoji="0" lang="en-US" altLang="zh-CN" sz="1800" b="1" i="0" u="none" strike="noStrike" kern="1200" cap="none" spc="0" normalizeH="0" baseline="0" noProof="0" dirty="0" err="1" smtClean="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stu</a:t>
            </a:r>
            <a:r>
              <a:rPr kumimoji="0" lang="en-US" altLang="zh-CN" sz="1800" b="1"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endParaRPr kumimoji="0"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a:p>
            <a:pPr marL="374650" marR="0" lvl="0" indent="-374650" algn="l" defTabSz="914400" rtl="0" eaLnBrk="1" fontAlgn="base" latinLnBrk="0" hangingPunct="1">
              <a:lnSpc>
                <a:spcPct val="80000"/>
              </a:lnSpc>
              <a:spcBef>
                <a:spcPct val="20000"/>
              </a:spcBef>
              <a:spcAft>
                <a:spcPct val="0"/>
              </a:spcAft>
              <a:buClr>
                <a:srgbClr val="FFCC66"/>
              </a:buClr>
              <a:buSzPct val="80000"/>
              <a:buFont typeface="Monotype Sorts" pitchFamily="2" charset="2"/>
              <a:buNone/>
              <a:defRPr/>
            </a:pPr>
            <a:r>
              <a:rPr kumimoji="0" lang="en-US" altLang="zh-CN"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rPr>
              <a:t>  </a:t>
            </a:r>
            <a:endParaRPr kumimoji="0" lang="zh-CN" altLang="en-US"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mn-cs"/>
            </a:endParaRPr>
          </a:p>
        </p:txBody>
      </p:sp>
      <p:sp>
        <p:nvSpPr>
          <p:cNvPr id="49160" name="Text Box 126"/>
          <p:cNvSpPr txBox="1"/>
          <p:nvPr/>
        </p:nvSpPr>
        <p:spPr>
          <a:xfrm>
            <a:off x="6993965" y="1764990"/>
            <a:ext cx="1659329" cy="457200"/>
          </a:xfrm>
          <a:prstGeom prst="rect">
            <a:avLst/>
          </a:prstGeom>
          <a:noFill/>
          <a:ln w="12700">
            <a:noFill/>
          </a:ln>
        </p:spPr>
        <p:txBody>
          <a:bodyPr wrap="square">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err="1" smtClean="0">
                <a:latin typeface="Courier New" panose="02070309020205020404" pitchFamily="49" charset="0"/>
              </a:rPr>
              <a:t>stu</a:t>
            </a:r>
            <a:r>
              <a:rPr lang="en-US" altLang="zh-CN" sz="2400" dirty="0" smtClean="0">
                <a:latin typeface="Courier New" panose="02070309020205020404" pitchFamily="49" charset="0"/>
              </a:rPr>
              <a:t>[100</a:t>
            </a:r>
            <a:r>
              <a:rPr lang="en-US" altLang="zh-CN" sz="2400" dirty="0">
                <a:latin typeface="Courier New" panose="02070309020205020404" pitchFamily="49" charset="0"/>
              </a:rPr>
              <a:t>]</a:t>
            </a:r>
          </a:p>
        </p:txBody>
      </p:sp>
      <p:grpSp>
        <p:nvGrpSpPr>
          <p:cNvPr id="49161" name="Group 44"/>
          <p:cNvGrpSpPr/>
          <p:nvPr/>
        </p:nvGrpSpPr>
        <p:grpSpPr>
          <a:xfrm>
            <a:off x="7102475" y="2205038"/>
            <a:ext cx="1619250" cy="3875087"/>
            <a:chOff x="4821" y="1163"/>
            <a:chExt cx="828" cy="2441"/>
          </a:xfrm>
        </p:grpSpPr>
        <p:grpSp>
          <p:nvGrpSpPr>
            <p:cNvPr id="49163" name="Group 147"/>
            <p:cNvGrpSpPr/>
            <p:nvPr/>
          </p:nvGrpSpPr>
          <p:grpSpPr>
            <a:xfrm>
              <a:off x="4821" y="1163"/>
              <a:ext cx="826" cy="1224"/>
              <a:chOff x="4821" y="981"/>
              <a:chExt cx="826" cy="1224"/>
            </a:xfrm>
          </p:grpSpPr>
          <p:grpSp>
            <p:nvGrpSpPr>
              <p:cNvPr id="49175" name="Group 132"/>
              <p:cNvGrpSpPr/>
              <p:nvPr/>
            </p:nvGrpSpPr>
            <p:grpSpPr>
              <a:xfrm>
                <a:off x="4831" y="996"/>
                <a:ext cx="816" cy="590"/>
                <a:chOff x="4604" y="996"/>
                <a:chExt cx="816" cy="590"/>
              </a:xfrm>
            </p:grpSpPr>
            <p:sp>
              <p:nvSpPr>
                <p:cNvPr id="49183" name="Text Box 133"/>
                <p:cNvSpPr txBox="1"/>
                <p:nvPr/>
              </p:nvSpPr>
              <p:spPr>
                <a:xfrm>
                  <a:off x="4604" y="996"/>
                  <a:ext cx="816" cy="288"/>
                </a:xfrm>
                <a:prstGeom prst="rect">
                  <a:avLst/>
                </a:prstGeom>
                <a:solidFill>
                  <a:srgbClr val="FFFF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stu[0]</a:t>
                  </a:r>
                </a:p>
              </p:txBody>
            </p:sp>
            <p:sp>
              <p:nvSpPr>
                <p:cNvPr id="49184" name="Text Box 134"/>
                <p:cNvSpPr txBox="1"/>
                <p:nvPr/>
              </p:nvSpPr>
              <p:spPr>
                <a:xfrm>
                  <a:off x="4604" y="1298"/>
                  <a:ext cx="816" cy="288"/>
                </a:xfrm>
                <a:prstGeom prst="rect">
                  <a:avLst/>
                </a:prstGeom>
                <a:solidFill>
                  <a:srgbClr val="FFFF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stu[1]</a:t>
                  </a:r>
                </a:p>
              </p:txBody>
            </p:sp>
          </p:grpSp>
          <p:grpSp>
            <p:nvGrpSpPr>
              <p:cNvPr id="49176" name="Group 135"/>
              <p:cNvGrpSpPr/>
              <p:nvPr/>
            </p:nvGrpSpPr>
            <p:grpSpPr>
              <a:xfrm>
                <a:off x="4830" y="1598"/>
                <a:ext cx="816" cy="590"/>
                <a:chOff x="4604" y="996"/>
                <a:chExt cx="816" cy="590"/>
              </a:xfrm>
            </p:grpSpPr>
            <p:sp>
              <p:nvSpPr>
                <p:cNvPr id="49181" name="Text Box 136"/>
                <p:cNvSpPr txBox="1"/>
                <p:nvPr/>
              </p:nvSpPr>
              <p:spPr>
                <a:xfrm>
                  <a:off x="4604" y="996"/>
                  <a:ext cx="816" cy="296"/>
                </a:xfrm>
                <a:prstGeom prst="rect">
                  <a:avLst/>
                </a:prstGeom>
                <a:solidFill>
                  <a:srgbClr val="FFFF99"/>
                </a:solidFill>
                <a:ln w="12700" cap="flat" cmpd="sng">
                  <a:solidFill>
                    <a:schemeClr val="tx1"/>
                  </a:solidFill>
                  <a:prstDash val="solid"/>
                  <a:miter/>
                  <a:headEnd type="none" w="sm" len="sm"/>
                  <a:tailEnd type="none" w="sm" len="sm"/>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stu[2]</a:t>
                  </a:r>
                </a:p>
              </p:txBody>
            </p:sp>
            <p:sp>
              <p:nvSpPr>
                <p:cNvPr id="49182" name="Text Box 137"/>
                <p:cNvSpPr txBox="1"/>
                <p:nvPr/>
              </p:nvSpPr>
              <p:spPr>
                <a:xfrm>
                  <a:off x="4604" y="1298"/>
                  <a:ext cx="816" cy="288"/>
                </a:xfrm>
                <a:prstGeom prst="rect">
                  <a:avLst/>
                </a:prstGeom>
                <a:solidFill>
                  <a:srgbClr val="FFFF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stu[3]</a:t>
                  </a:r>
                  <a:endParaRPr lang="en-US" altLang="zh-CN" sz="2400" dirty="0">
                    <a:latin typeface="Courier New" panose="02070309020205020404" pitchFamily="49" charset="0"/>
                  </a:endParaRPr>
                </a:p>
              </p:txBody>
            </p:sp>
          </p:grpSp>
          <p:sp>
            <p:nvSpPr>
              <p:cNvPr id="5" name="Rectangle 142"/>
              <p:cNvSpPr>
                <a:spLocks noChangeArrowheads="1"/>
              </p:cNvSpPr>
              <p:nvPr/>
            </p:nvSpPr>
            <p:spPr bwMode="auto">
              <a:xfrm>
                <a:off x="4830" y="981"/>
                <a:ext cx="817" cy="1224"/>
              </a:xfrm>
              <a:prstGeom prst="rect">
                <a:avLst/>
              </a:prstGeom>
              <a:noFill/>
              <a:ln w="5715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Line 143"/>
              <p:cNvSpPr>
                <a:spLocks noChangeShapeType="1"/>
              </p:cNvSpPr>
              <p:nvPr/>
            </p:nvSpPr>
            <p:spPr bwMode="auto">
              <a:xfrm>
                <a:off x="4821" y="1298"/>
                <a:ext cx="817" cy="0"/>
              </a:xfrm>
              <a:prstGeom prst="line">
                <a:avLst/>
              </a:prstGeom>
              <a:noFill/>
              <a:ln w="38100">
                <a:solidFill>
                  <a:srgbClr val="80000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Line 144"/>
              <p:cNvSpPr>
                <a:spLocks noChangeShapeType="1"/>
              </p:cNvSpPr>
              <p:nvPr/>
            </p:nvSpPr>
            <p:spPr bwMode="auto">
              <a:xfrm>
                <a:off x="4830" y="1588"/>
                <a:ext cx="817" cy="0"/>
              </a:xfrm>
              <a:prstGeom prst="line">
                <a:avLst/>
              </a:prstGeom>
              <a:noFill/>
              <a:ln w="38100">
                <a:solidFill>
                  <a:srgbClr val="80000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Line 146"/>
              <p:cNvSpPr>
                <a:spLocks noChangeShapeType="1"/>
              </p:cNvSpPr>
              <p:nvPr/>
            </p:nvSpPr>
            <p:spPr bwMode="auto">
              <a:xfrm>
                <a:off x="4821" y="1888"/>
                <a:ext cx="817" cy="0"/>
              </a:xfrm>
              <a:prstGeom prst="line">
                <a:avLst/>
              </a:prstGeom>
              <a:noFill/>
              <a:ln w="38100">
                <a:solidFill>
                  <a:srgbClr val="80000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grpSp>
          <p:nvGrpSpPr>
            <p:cNvPr id="49164" name="Group 147"/>
            <p:cNvGrpSpPr/>
            <p:nvPr/>
          </p:nvGrpSpPr>
          <p:grpSpPr>
            <a:xfrm>
              <a:off x="4823" y="2380"/>
              <a:ext cx="826" cy="1224"/>
              <a:chOff x="4821" y="981"/>
              <a:chExt cx="826" cy="1224"/>
            </a:xfrm>
          </p:grpSpPr>
          <p:grpSp>
            <p:nvGrpSpPr>
              <p:cNvPr id="49165" name="Group 132"/>
              <p:cNvGrpSpPr/>
              <p:nvPr/>
            </p:nvGrpSpPr>
            <p:grpSpPr>
              <a:xfrm>
                <a:off x="4831" y="996"/>
                <a:ext cx="816" cy="590"/>
                <a:chOff x="4604" y="996"/>
                <a:chExt cx="816" cy="590"/>
              </a:xfrm>
            </p:grpSpPr>
            <p:sp>
              <p:nvSpPr>
                <p:cNvPr id="49173" name="Text Box 133"/>
                <p:cNvSpPr txBox="1"/>
                <p:nvPr/>
              </p:nvSpPr>
              <p:spPr>
                <a:xfrm>
                  <a:off x="4604" y="996"/>
                  <a:ext cx="816" cy="288"/>
                </a:xfrm>
                <a:prstGeom prst="rect">
                  <a:avLst/>
                </a:prstGeom>
                <a:solidFill>
                  <a:srgbClr val="FFFF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stu[4]</a:t>
                  </a:r>
                </a:p>
              </p:txBody>
            </p:sp>
            <p:sp>
              <p:nvSpPr>
                <p:cNvPr id="49174" name="Text Box 134"/>
                <p:cNvSpPr txBox="1"/>
                <p:nvPr/>
              </p:nvSpPr>
              <p:spPr>
                <a:xfrm>
                  <a:off x="4604" y="1298"/>
                  <a:ext cx="816" cy="288"/>
                </a:xfrm>
                <a:prstGeom prst="rect">
                  <a:avLst/>
                </a:prstGeom>
                <a:solidFill>
                  <a:srgbClr val="FFFF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stu[5]</a:t>
                  </a:r>
                </a:p>
              </p:txBody>
            </p:sp>
          </p:grpSp>
          <p:grpSp>
            <p:nvGrpSpPr>
              <p:cNvPr id="49166" name="Group 135"/>
              <p:cNvGrpSpPr/>
              <p:nvPr/>
            </p:nvGrpSpPr>
            <p:grpSpPr>
              <a:xfrm>
                <a:off x="4830" y="1598"/>
                <a:ext cx="816" cy="590"/>
                <a:chOff x="4604" y="996"/>
                <a:chExt cx="816" cy="590"/>
              </a:xfrm>
            </p:grpSpPr>
            <p:sp>
              <p:nvSpPr>
                <p:cNvPr id="49171" name="Text Box 136"/>
                <p:cNvSpPr txBox="1"/>
                <p:nvPr/>
              </p:nvSpPr>
              <p:spPr>
                <a:xfrm>
                  <a:off x="4604" y="996"/>
                  <a:ext cx="816" cy="296"/>
                </a:xfrm>
                <a:prstGeom prst="rect">
                  <a:avLst/>
                </a:prstGeom>
                <a:solidFill>
                  <a:srgbClr val="FFFF99"/>
                </a:solidFill>
                <a:ln w="12700" cap="flat" cmpd="sng">
                  <a:solidFill>
                    <a:schemeClr val="tx1"/>
                  </a:solidFill>
                  <a:prstDash val="solid"/>
                  <a:miter/>
                  <a:headEnd type="none" w="sm" len="sm"/>
                  <a:tailEnd type="none" w="sm" len="sm"/>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a:t>
                  </a:r>
                </a:p>
              </p:txBody>
            </p:sp>
            <p:sp>
              <p:nvSpPr>
                <p:cNvPr id="49172" name="Text Box 137"/>
                <p:cNvSpPr txBox="1"/>
                <p:nvPr/>
              </p:nvSpPr>
              <p:spPr>
                <a:xfrm>
                  <a:off x="4604" y="1298"/>
                  <a:ext cx="816" cy="288"/>
                </a:xfrm>
                <a:prstGeom prst="rect">
                  <a:avLst/>
                </a:prstGeom>
                <a:solidFill>
                  <a:srgbClr val="FFFF99"/>
                </a:solidFill>
                <a:ln w="12700">
                  <a:noFill/>
                </a:ln>
              </p:spPr>
              <p:txBody>
                <a:bodyPr>
                  <a:spAutoFit/>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0" lvl="0" indent="0" eaLnBrk="1" hangingPunct="1">
                    <a:spcBef>
                      <a:spcPct val="50000"/>
                    </a:spcBef>
                    <a:buClr>
                      <a:srgbClr val="000000"/>
                    </a:buClr>
                    <a:buNone/>
                  </a:pPr>
                  <a:r>
                    <a:rPr lang="en-US" altLang="zh-CN" sz="2400" dirty="0">
                      <a:latin typeface="Courier New" panose="02070309020205020404" pitchFamily="49" charset="0"/>
                      <a:ea typeface="楷体_GB2312" panose="02010609030101010101" pitchFamily="49" charset="-122"/>
                    </a:rPr>
                    <a:t>stu[99]</a:t>
                  </a:r>
                  <a:endParaRPr lang="en-US" altLang="zh-CN" sz="2400" dirty="0">
                    <a:latin typeface="Courier New" panose="02070309020205020404" pitchFamily="49" charset="0"/>
                  </a:endParaRPr>
                </a:p>
              </p:txBody>
            </p:sp>
          </p:grpSp>
          <p:sp>
            <p:nvSpPr>
              <p:cNvPr id="382094" name="Rectangle 142"/>
              <p:cNvSpPr>
                <a:spLocks noChangeArrowheads="1"/>
              </p:cNvSpPr>
              <p:nvPr/>
            </p:nvSpPr>
            <p:spPr bwMode="auto">
              <a:xfrm>
                <a:off x="4830" y="981"/>
                <a:ext cx="817" cy="1224"/>
              </a:xfrm>
              <a:prstGeom prst="rect">
                <a:avLst/>
              </a:prstGeom>
              <a:noFill/>
              <a:ln w="5715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2095" name="Line 143"/>
              <p:cNvSpPr>
                <a:spLocks noChangeShapeType="1"/>
              </p:cNvSpPr>
              <p:nvPr/>
            </p:nvSpPr>
            <p:spPr bwMode="auto">
              <a:xfrm>
                <a:off x="4821" y="1298"/>
                <a:ext cx="817" cy="0"/>
              </a:xfrm>
              <a:prstGeom prst="line">
                <a:avLst/>
              </a:prstGeom>
              <a:noFill/>
              <a:ln w="38100">
                <a:solidFill>
                  <a:srgbClr val="80000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2096" name="Line 144"/>
              <p:cNvSpPr>
                <a:spLocks noChangeShapeType="1"/>
              </p:cNvSpPr>
              <p:nvPr/>
            </p:nvSpPr>
            <p:spPr bwMode="auto">
              <a:xfrm>
                <a:off x="4830" y="1588"/>
                <a:ext cx="817" cy="0"/>
              </a:xfrm>
              <a:prstGeom prst="line">
                <a:avLst/>
              </a:prstGeom>
              <a:noFill/>
              <a:ln w="38100">
                <a:solidFill>
                  <a:srgbClr val="80000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2098" name="Line 146"/>
              <p:cNvSpPr>
                <a:spLocks noChangeShapeType="1"/>
              </p:cNvSpPr>
              <p:nvPr/>
            </p:nvSpPr>
            <p:spPr bwMode="auto">
              <a:xfrm>
                <a:off x="4821" y="1888"/>
                <a:ext cx="817" cy="0"/>
              </a:xfrm>
              <a:prstGeom prst="line">
                <a:avLst/>
              </a:prstGeom>
              <a:noFill/>
              <a:ln w="38100">
                <a:solidFill>
                  <a:srgbClr val="800000"/>
                </a:solid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764704"/>
            <a:ext cx="8964488" cy="5112568"/>
          </a:xfrm>
        </p:spPr>
        <p:txBody>
          <a:bodyPr/>
          <a:lstStyle/>
          <a:p>
            <a:pPr marL="0" indent="0">
              <a:buNone/>
            </a:pPr>
            <a:r>
              <a:rPr lang="en-US" altLang="zh-CN" sz="1800" dirty="0" smtClean="0"/>
              <a:t># </a:t>
            </a:r>
            <a:r>
              <a:rPr lang="en-US" altLang="zh-CN" sz="1800" dirty="0"/>
              <a:t>include &lt;</a:t>
            </a:r>
            <a:r>
              <a:rPr lang="en-US" altLang="zh-CN" sz="1800" dirty="0" err="1"/>
              <a:t>stdio.h</a:t>
            </a:r>
            <a:r>
              <a:rPr lang="en-US" altLang="zh-CN" sz="1800" dirty="0"/>
              <a:t>&gt;</a:t>
            </a:r>
          </a:p>
          <a:p>
            <a:pPr marL="0" indent="0">
              <a:buNone/>
            </a:pPr>
            <a:r>
              <a:rPr lang="en-US" altLang="zh-CN" sz="1800" dirty="0" err="1"/>
              <a:t>struct</a:t>
            </a:r>
            <a:r>
              <a:rPr lang="en-US" altLang="zh-CN" sz="1800" dirty="0"/>
              <a:t> student{</a:t>
            </a:r>
          </a:p>
          <a:p>
            <a:pPr marL="0" indent="0">
              <a:buNone/>
            </a:pPr>
            <a:r>
              <a:rPr lang="en-US" altLang="zh-CN" sz="1800" dirty="0" smtClean="0"/>
              <a:t>    </a:t>
            </a:r>
            <a:r>
              <a:rPr lang="en-US" altLang="zh-CN" sz="1800" dirty="0" err="1" smtClean="0"/>
              <a:t>int</a:t>
            </a:r>
            <a:r>
              <a:rPr lang="en-US" altLang="zh-CN" sz="1800" dirty="0" smtClean="0"/>
              <a:t> </a:t>
            </a:r>
            <a:r>
              <a:rPr lang="en-US" altLang="zh-CN" sz="1800" dirty="0" err="1"/>
              <a:t>num</a:t>
            </a:r>
            <a:r>
              <a:rPr lang="en-US" altLang="zh-CN" sz="1800" dirty="0"/>
              <a:t>;                 </a:t>
            </a:r>
            <a:r>
              <a:rPr lang="en-US" altLang="zh-CN" sz="1800" dirty="0" smtClean="0"/>
              <a:t>        </a:t>
            </a:r>
            <a:r>
              <a:rPr lang="en-US" altLang="zh-CN" sz="1800" dirty="0"/>
              <a:t>/* </a:t>
            </a:r>
            <a:r>
              <a:rPr lang="zh-CN" altLang="en-US" sz="1800" dirty="0"/>
              <a:t>学号 *</a:t>
            </a:r>
            <a:r>
              <a:rPr lang="en-US" altLang="zh-CN" sz="1800" dirty="0"/>
              <a:t>/</a:t>
            </a:r>
          </a:p>
          <a:p>
            <a:pPr marL="0" indent="0">
              <a:buNone/>
            </a:pPr>
            <a:r>
              <a:rPr lang="en-US" altLang="zh-CN" sz="1800" dirty="0" smtClean="0"/>
              <a:t>    char </a:t>
            </a:r>
            <a:r>
              <a:rPr lang="en-US" altLang="zh-CN" sz="1800" dirty="0"/>
              <a:t>name[10];             /* </a:t>
            </a:r>
            <a:r>
              <a:rPr lang="zh-CN" altLang="en-US" sz="1800" dirty="0"/>
              <a:t>姓名 *</a:t>
            </a:r>
            <a:r>
              <a:rPr lang="en-US" altLang="zh-CN" sz="1800" dirty="0"/>
              <a:t>/</a:t>
            </a:r>
          </a:p>
          <a:p>
            <a:pPr marL="0" indent="0">
              <a:buNone/>
            </a:pPr>
            <a:r>
              <a:rPr lang="en-US" altLang="zh-CN" sz="1800" dirty="0"/>
              <a:t>};</a:t>
            </a:r>
          </a:p>
          <a:p>
            <a:pPr marL="0" indent="0">
              <a:buNone/>
            </a:pPr>
            <a:r>
              <a:rPr lang="en-US" altLang="zh-CN" sz="1800" dirty="0" err="1"/>
              <a:t>int</a:t>
            </a:r>
            <a:r>
              <a:rPr lang="en-US" altLang="zh-CN" sz="1800" dirty="0"/>
              <a:t> main()</a:t>
            </a:r>
          </a:p>
          <a:p>
            <a:pPr marL="0" indent="0">
              <a:buNone/>
            </a:pPr>
            <a:r>
              <a:rPr lang="en-US" altLang="zh-CN" sz="1800" dirty="0"/>
              <a:t>{</a:t>
            </a:r>
          </a:p>
          <a:p>
            <a:pPr marL="0" indent="0">
              <a:buNone/>
            </a:pPr>
            <a:r>
              <a:rPr lang="en-US" altLang="zh-CN" sz="1800" dirty="0" smtClean="0"/>
              <a:t>    </a:t>
            </a:r>
            <a:r>
              <a:rPr lang="en-US" altLang="zh-CN" sz="1800" dirty="0" err="1" smtClean="0"/>
              <a:t>struct</a:t>
            </a:r>
            <a:r>
              <a:rPr lang="en-US" altLang="zh-CN" sz="1800" dirty="0" smtClean="0"/>
              <a:t> </a:t>
            </a:r>
            <a:r>
              <a:rPr lang="en-US" altLang="zh-CN" sz="1800" dirty="0"/>
              <a:t>student </a:t>
            </a:r>
            <a:r>
              <a:rPr lang="en-US" altLang="zh-CN" sz="1800" dirty="0" err="1"/>
              <a:t>stu</a:t>
            </a:r>
            <a:r>
              <a:rPr lang="en-US" altLang="zh-CN" sz="1800" dirty="0"/>
              <a:t>[3]={ {1001,"ZhangLi" },{1002, "</a:t>
            </a:r>
            <a:r>
              <a:rPr lang="en-US" altLang="zh-CN" sz="1800" dirty="0" err="1"/>
              <a:t>WangWu</a:t>
            </a:r>
            <a:r>
              <a:rPr lang="en-US" altLang="zh-CN" sz="1800" dirty="0"/>
              <a:t>",},{1003,"LiYan"}};</a:t>
            </a:r>
          </a:p>
          <a:p>
            <a:pPr marL="0" indent="0">
              <a:buNone/>
            </a:pPr>
            <a:r>
              <a:rPr lang="en-US" altLang="zh-CN" sz="1800" dirty="0" smtClean="0"/>
              <a:t>    </a:t>
            </a:r>
            <a:r>
              <a:rPr lang="en-US" altLang="zh-CN" sz="1800" dirty="0" err="1" smtClean="0"/>
              <a:t>struct</a:t>
            </a:r>
            <a:r>
              <a:rPr lang="en-US" altLang="zh-CN" sz="1800" dirty="0" smtClean="0"/>
              <a:t> </a:t>
            </a:r>
            <a:r>
              <a:rPr lang="en-US" altLang="zh-CN" sz="1800" dirty="0"/>
              <a:t>student *p;</a:t>
            </a:r>
          </a:p>
          <a:p>
            <a:pPr marL="0" indent="0">
              <a:buNone/>
            </a:pPr>
            <a:r>
              <a:rPr lang="en-US" altLang="zh-CN" sz="1800" dirty="0"/>
              <a:t>   </a:t>
            </a:r>
            <a:r>
              <a:rPr lang="en-US" altLang="zh-CN" sz="1800" dirty="0" smtClean="0"/>
              <a:t> /* </a:t>
            </a:r>
            <a:r>
              <a:rPr lang="zh-CN" altLang="en-US" sz="1800" dirty="0"/>
              <a:t>用指针来遍历结构体数组的各个元素 *</a:t>
            </a:r>
            <a:r>
              <a:rPr lang="en-US" altLang="zh-CN" sz="1800" dirty="0"/>
              <a:t>/</a:t>
            </a:r>
          </a:p>
          <a:p>
            <a:pPr marL="0" indent="0">
              <a:buNone/>
            </a:pPr>
            <a:r>
              <a:rPr lang="en-US" altLang="zh-CN" sz="1800" dirty="0"/>
              <a:t>    for(p=</a:t>
            </a:r>
            <a:r>
              <a:rPr lang="en-US" altLang="zh-CN" sz="1800" dirty="0" err="1"/>
              <a:t>stu</a:t>
            </a:r>
            <a:r>
              <a:rPr lang="en-US" altLang="zh-CN" sz="1800" dirty="0"/>
              <a:t>; p&lt;stu+3; p++)</a:t>
            </a:r>
          </a:p>
          <a:p>
            <a:pPr marL="0" indent="0">
              <a:buNone/>
            </a:pPr>
            <a:r>
              <a:rPr lang="en-US" altLang="zh-CN" sz="1800" dirty="0"/>
              <a:t>        </a:t>
            </a:r>
            <a:r>
              <a:rPr lang="en-US" altLang="zh-CN" sz="1800" dirty="0" err="1"/>
              <a:t>printf</a:t>
            </a:r>
            <a:r>
              <a:rPr lang="en-US" altLang="zh-CN" sz="1800" dirty="0"/>
              <a:t>("The number %d student's name is %s\n", p-&gt;</a:t>
            </a:r>
            <a:r>
              <a:rPr lang="en-US" altLang="zh-CN" sz="1800" dirty="0" err="1"/>
              <a:t>num</a:t>
            </a:r>
            <a:r>
              <a:rPr lang="en-US" altLang="zh-CN" sz="1800" dirty="0"/>
              <a:t>, p-&gt;name);</a:t>
            </a:r>
          </a:p>
          <a:p>
            <a:pPr marL="0" indent="0">
              <a:buNone/>
            </a:pPr>
            <a:r>
              <a:rPr lang="en-US" altLang="zh-CN" sz="1800" dirty="0"/>
              <a:t>}</a:t>
            </a:r>
            <a:endParaRPr lang="zh-CN" altLang="en-US" sz="18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116</a:t>
            </a:fld>
            <a:endParaRPr lang="en-US" altLang="zh-CN" dirty="0"/>
          </a:p>
        </p:txBody>
      </p:sp>
      <p:sp>
        <p:nvSpPr>
          <p:cNvPr id="2" name="矩形 1"/>
          <p:cNvSpPr/>
          <p:nvPr/>
        </p:nvSpPr>
        <p:spPr>
          <a:xfrm>
            <a:off x="20882" y="148570"/>
            <a:ext cx="5562372" cy="400110"/>
          </a:xfrm>
          <a:prstGeom prst="rect">
            <a:avLst/>
          </a:prstGeom>
        </p:spPr>
        <p:txBody>
          <a:bodyPr wrap="square">
            <a:spAutoFit/>
          </a:bodyPr>
          <a:lstStyle/>
          <a:p>
            <a:pPr marL="0" indent="0">
              <a:buNone/>
            </a:pPr>
            <a:r>
              <a:rPr lang="zh-CN" altLang="en-US" sz="2000" b="1" dirty="0">
                <a:effectLst>
                  <a:outerShdw blurRad="38100" dist="38100" dir="2700000" algn="tl">
                    <a:srgbClr val="000000">
                      <a:alpha val="43137"/>
                    </a:srgbClr>
                  </a:outerShdw>
                </a:effectLst>
                <a:latin typeface="+mn-ea"/>
                <a:ea typeface="+mn-ea"/>
              </a:rPr>
              <a:t>例</a:t>
            </a:r>
            <a:r>
              <a:rPr lang="en-US" altLang="zh-CN" sz="2000" b="1" dirty="0">
                <a:effectLst>
                  <a:outerShdw blurRad="38100" dist="38100" dir="2700000" algn="tl">
                    <a:srgbClr val="000000">
                      <a:alpha val="43137"/>
                    </a:srgbClr>
                  </a:outerShdw>
                </a:effectLst>
                <a:latin typeface="+mn-ea"/>
                <a:ea typeface="+mn-ea"/>
              </a:rPr>
              <a:t>【6-21】</a:t>
            </a:r>
            <a:r>
              <a:rPr lang="zh-CN" altLang="en-US" sz="2000" b="1" dirty="0">
                <a:effectLst>
                  <a:outerShdw blurRad="38100" dist="38100" dir="2700000" algn="tl">
                    <a:srgbClr val="000000">
                      <a:alpha val="43137"/>
                    </a:srgbClr>
                  </a:outerShdw>
                </a:effectLst>
                <a:latin typeface="+mn-ea"/>
                <a:ea typeface="+mn-ea"/>
              </a:rPr>
              <a:t>用结构体指针来处理结构体数组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2101058" y="2936082"/>
            <a:ext cx="6172200"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6.2.4 </a:t>
            </a:r>
            <a:r>
              <a:rPr lang="zh-CN" altLang="en-US" sz="4000" b="1" dirty="0" smtClean="0">
                <a:effectLst>
                  <a:outerShdw blurRad="38100" dist="38100" dir="2700000" algn="tl">
                    <a:srgbClr val="C0C0C0"/>
                  </a:outerShdw>
                </a:effectLst>
                <a:ea typeface="黑体" panose="02010609060101010101" pitchFamily="2" charset="-122"/>
              </a:rPr>
              <a:t>结构体与函数</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2764145041"/>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752793" y="716280"/>
            <a:ext cx="7797800" cy="839788"/>
          </a:xfrm>
        </p:spPr>
        <p:txBody>
          <a:bodyPr vert="horz" wrap="square" lIns="91440" tIns="45720" rIns="91440" bIns="45720" anchor="ctr"/>
          <a:lstStyle/>
          <a:p>
            <a:pPr eaLnBrk="1" hangingPunct="1"/>
            <a:r>
              <a:rPr lang="zh-CN" altLang="en-US" dirty="0" smtClean="0"/>
              <a:t>结构体与函数</a:t>
            </a:r>
            <a:endParaRPr lang="zh-CN" altLang="en-US" dirty="0"/>
          </a:p>
        </p:txBody>
      </p:sp>
      <p:sp>
        <p:nvSpPr>
          <p:cNvPr id="345091" name="Rectangle 3"/>
          <p:cNvSpPr>
            <a:spLocks noGrp="1"/>
          </p:cNvSpPr>
          <p:nvPr>
            <p:ph idx="1"/>
          </p:nvPr>
        </p:nvSpPr>
        <p:spPr>
          <a:xfrm>
            <a:off x="721995" y="1625600"/>
            <a:ext cx="7378397" cy="1947416"/>
          </a:xfrm>
        </p:spPr>
        <p:txBody>
          <a:bodyPr vert="horz" wrap="square" lIns="91440" tIns="45720" rIns="91440" bIns="45720" anchor="t"/>
          <a:lstStyle/>
          <a:p>
            <a:pPr eaLnBrk="1" hangingPunct="1"/>
            <a:r>
              <a:rPr lang="zh-CN" altLang="en-US" sz="2200" dirty="0" smtClean="0">
                <a:solidFill>
                  <a:schemeClr val="hlink"/>
                </a:solidFill>
              </a:rPr>
              <a:t>结构体变量作为函数参数</a:t>
            </a:r>
            <a:endParaRPr lang="en-US" altLang="zh-CN" sz="2200" dirty="0" smtClean="0">
              <a:solidFill>
                <a:schemeClr val="hlink"/>
              </a:solidFill>
            </a:endParaRPr>
          </a:p>
          <a:p>
            <a:pPr lvl="1" eaLnBrk="1" hangingPunct="1"/>
            <a:r>
              <a:rPr lang="zh-CN" altLang="en-US" sz="1800" dirty="0" smtClean="0">
                <a:solidFill>
                  <a:schemeClr val="hlink"/>
                </a:solidFill>
              </a:rPr>
              <a:t>结构体变量作为函数参数，要求实参与形参是同一种结构体类型，函数调用时，将实参结构体变量的值传递给形参结构体变量，相当于把实参结构体变量所有成员的值依次赋给形参的所有成员</a:t>
            </a:r>
            <a:endParaRPr lang="zh-CN" altLang="en-US" sz="1800" dirty="0">
              <a:solidFill>
                <a:schemeClr val="hlink"/>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650" y="765175"/>
            <a:ext cx="8388350" cy="784225"/>
          </a:xfrm>
        </p:spPr>
        <p:txBody>
          <a:bodyPr/>
          <a:lstStyle/>
          <a:p>
            <a:r>
              <a:rPr lang="zh-CN" altLang="en-US" dirty="0" smtClean="0"/>
              <a:t>例</a:t>
            </a:r>
            <a:r>
              <a:rPr lang="en-US" altLang="zh-CN" dirty="0" smtClean="0"/>
              <a:t>6-22 </a:t>
            </a:r>
            <a:r>
              <a:rPr lang="zh-CN" altLang="en-US" dirty="0" smtClean="0"/>
              <a:t>用函数求平均值 </a:t>
            </a:r>
            <a:endParaRPr lang="zh-CN" altLang="en-US" dirty="0"/>
          </a:p>
        </p:txBody>
      </p:sp>
      <p:sp>
        <p:nvSpPr>
          <p:cNvPr id="3" name="内容占位符 2"/>
          <p:cNvSpPr>
            <a:spLocks noGrp="1"/>
          </p:cNvSpPr>
          <p:nvPr>
            <p:ph idx="1"/>
          </p:nvPr>
        </p:nvSpPr>
        <p:spPr>
          <a:xfrm>
            <a:off x="755650" y="1700213"/>
            <a:ext cx="7993063" cy="1440755"/>
          </a:xfrm>
        </p:spPr>
        <p:txBody>
          <a:bodyPr/>
          <a:lstStyle/>
          <a:p>
            <a:pPr marL="0" indent="0">
              <a:buNone/>
            </a:pPr>
            <a:r>
              <a:rPr lang="zh-CN" altLang="en-US" sz="2400" dirty="0"/>
              <a:t>输入</a:t>
            </a:r>
            <a:r>
              <a:rPr lang="en-US" altLang="zh-CN" sz="2400" dirty="0"/>
              <a:t>n</a:t>
            </a:r>
            <a:r>
              <a:rPr lang="zh-CN" altLang="en-US" sz="2400" dirty="0"/>
              <a:t>个学生的成绩信息，计算并输出每个学生的个人平均成绩。每个学生包含学号、姓名、三门课程成绩和平均</a:t>
            </a:r>
            <a:r>
              <a:rPr lang="zh-CN" altLang="en-US" sz="2400" dirty="0" smtClean="0"/>
              <a:t>成绩</a:t>
            </a:r>
            <a:endParaRPr lang="zh-CN" altLang="en-US" sz="24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119</a:t>
            </a:fld>
            <a:endParaRPr lang="en-US" altLang="zh-CN" dirty="0"/>
          </a:p>
        </p:txBody>
      </p:sp>
    </p:spTree>
    <p:extLst>
      <p:ext uri="{BB962C8B-B14F-4D97-AF65-F5344CB8AC3E}">
        <p14:creationId xmlns:p14="http://schemas.microsoft.com/office/powerpoint/2010/main" val="238188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4"/>
          <p:cNvSpPr/>
          <p:nvPr/>
        </p:nvSpPr>
        <p:spPr>
          <a:xfrm>
            <a:off x="179512" y="42872"/>
            <a:ext cx="8964488" cy="6986528"/>
          </a:xfrm>
          <a:prstGeom prst="rect">
            <a:avLst/>
          </a:prstGeom>
        </p:spPr>
        <p:txBody>
          <a:bodyPr wrap="square">
            <a:spAutoFit/>
          </a:bodyPr>
          <a:lstStyle/>
          <a:p>
            <a:r>
              <a:rPr lang="en-US" altLang="zh-CN" sz="1600" b="1" dirty="0"/>
              <a:t>#include &lt;stdio.h&gt; </a:t>
            </a:r>
            <a:r>
              <a:rPr lang="en-US" altLang="zh-CN" sz="1600" b="1" dirty="0" smtClean="0"/>
              <a:t>     //</a:t>
            </a:r>
            <a:r>
              <a:rPr lang="zh-CN" altLang="zh-CN" sz="1600" b="1" dirty="0"/>
              <a:t>用函数</a:t>
            </a:r>
            <a:endParaRPr lang="zh-CN" altLang="zh-CN" sz="1600" dirty="0"/>
          </a:p>
          <a:p>
            <a:r>
              <a:rPr lang="en-US" altLang="zh-CN" sz="1600" b="1" dirty="0"/>
              <a:t>struct student</a:t>
            </a:r>
            <a:endParaRPr lang="zh-CN" altLang="zh-CN" sz="1600" dirty="0"/>
          </a:p>
          <a:p>
            <a:r>
              <a:rPr lang="en-US" altLang="zh-CN" sz="1600" b="1" dirty="0"/>
              <a:t>  {</a:t>
            </a:r>
            <a:endParaRPr lang="zh-CN" altLang="zh-CN" sz="1600" dirty="0"/>
          </a:p>
          <a:p>
            <a:r>
              <a:rPr lang="en-US" altLang="zh-CN" sz="1600" b="1" dirty="0"/>
              <a:t>    int num;               </a:t>
            </a:r>
            <a:r>
              <a:rPr lang="en-US" altLang="zh-CN" sz="1600" b="1" dirty="0" smtClean="0"/>
              <a:t>         </a:t>
            </a:r>
            <a:r>
              <a:rPr lang="en-US" altLang="zh-CN" sz="1600" b="1" dirty="0"/>
              <a:t>/* </a:t>
            </a:r>
            <a:r>
              <a:rPr lang="zh-CN" altLang="zh-CN" sz="1600" b="1" dirty="0"/>
              <a:t>学号</a:t>
            </a:r>
            <a:r>
              <a:rPr lang="en-US" altLang="zh-CN" sz="1600" b="1" dirty="0"/>
              <a:t> */</a:t>
            </a:r>
            <a:endParaRPr lang="zh-CN" altLang="zh-CN" sz="1600" dirty="0"/>
          </a:p>
          <a:p>
            <a:r>
              <a:rPr lang="en-US" altLang="zh-CN" sz="1600" b="1" dirty="0"/>
              <a:t>    char name[10];             /* </a:t>
            </a:r>
            <a:r>
              <a:rPr lang="zh-CN" altLang="zh-CN" sz="1600" b="1" dirty="0"/>
              <a:t>姓名</a:t>
            </a:r>
            <a:r>
              <a:rPr lang="en-US" altLang="zh-CN" sz="1600" b="1" dirty="0"/>
              <a:t> */</a:t>
            </a:r>
            <a:endParaRPr lang="zh-CN" altLang="zh-CN" sz="1600" dirty="0"/>
          </a:p>
          <a:p>
            <a:r>
              <a:rPr lang="en-US" altLang="zh-CN" sz="1600" b="1" dirty="0"/>
              <a:t>    int computer, english, math;   /* </a:t>
            </a:r>
            <a:r>
              <a:rPr lang="zh-CN" altLang="zh-CN" sz="1600" b="1" dirty="0"/>
              <a:t>三门课程成绩</a:t>
            </a:r>
            <a:r>
              <a:rPr lang="en-US" altLang="zh-CN" sz="1600" b="1" dirty="0"/>
              <a:t> */</a:t>
            </a:r>
            <a:endParaRPr lang="zh-CN" altLang="zh-CN" sz="1600" dirty="0"/>
          </a:p>
          <a:p>
            <a:r>
              <a:rPr lang="en-US" altLang="zh-CN" sz="1600" b="1" dirty="0"/>
              <a:t>    double average;             </a:t>
            </a:r>
            <a:r>
              <a:rPr lang="en-US" altLang="zh-CN" sz="1600" b="1" dirty="0" smtClean="0"/>
              <a:t>          </a:t>
            </a:r>
            <a:r>
              <a:rPr lang="en-US" altLang="zh-CN" sz="1600" b="1" dirty="0"/>
              <a:t>/* </a:t>
            </a:r>
            <a:r>
              <a:rPr lang="zh-CN" altLang="zh-CN" sz="1600" b="1" dirty="0"/>
              <a:t>个人平均成绩</a:t>
            </a:r>
            <a:r>
              <a:rPr lang="en-US" altLang="zh-CN" sz="1600" b="1" dirty="0"/>
              <a:t> */</a:t>
            </a:r>
            <a:endParaRPr lang="zh-CN" altLang="zh-CN" sz="1600" dirty="0"/>
          </a:p>
          <a:p>
            <a:r>
              <a:rPr lang="en-US" altLang="zh-CN" sz="1600" b="1" dirty="0"/>
              <a:t>  };</a:t>
            </a:r>
            <a:endParaRPr lang="zh-CN" altLang="zh-CN" sz="1600" dirty="0"/>
          </a:p>
          <a:p>
            <a:r>
              <a:rPr lang="en-US" altLang="zh-CN" sz="1600" b="1" dirty="0">
                <a:solidFill>
                  <a:srgbClr val="FF0000"/>
                </a:solidFill>
              </a:rPr>
              <a:t>double count_average(struct student s);</a:t>
            </a:r>
            <a:endParaRPr lang="zh-CN" altLang="zh-CN" sz="1600" dirty="0">
              <a:solidFill>
                <a:srgbClr val="FF0000"/>
              </a:solidFill>
            </a:endParaRPr>
          </a:p>
          <a:p>
            <a:r>
              <a:rPr lang="en-US" altLang="zh-CN" sz="1600" b="1" dirty="0" err="1"/>
              <a:t>int</a:t>
            </a:r>
            <a:r>
              <a:rPr lang="en-US" altLang="zh-CN" sz="1600" b="1" dirty="0"/>
              <a:t> </a:t>
            </a:r>
            <a:r>
              <a:rPr lang="en-US" altLang="zh-CN" sz="1600" b="1" dirty="0" smtClean="0"/>
              <a:t>main()</a:t>
            </a:r>
            <a:endParaRPr lang="zh-CN" altLang="zh-CN" sz="1600" dirty="0"/>
          </a:p>
          <a:p>
            <a:r>
              <a:rPr lang="en-US" altLang="zh-CN" sz="1600" b="1" dirty="0"/>
              <a:t>{</a:t>
            </a:r>
            <a:endParaRPr lang="zh-CN" altLang="zh-CN" sz="1600" dirty="0"/>
          </a:p>
          <a:p>
            <a:r>
              <a:rPr lang="en-US" altLang="zh-CN" sz="1600" b="1" dirty="0"/>
              <a:t>  int i, n;  struct student s1;   /* </a:t>
            </a:r>
            <a:r>
              <a:rPr lang="zh-CN" altLang="zh-CN" sz="1600" b="1" dirty="0"/>
              <a:t>定义</a:t>
            </a:r>
            <a:r>
              <a:rPr lang="zh-CN" altLang="zh-CN" sz="1600" b="1" dirty="0" smtClean="0"/>
              <a:t>结构</a:t>
            </a:r>
            <a:r>
              <a:rPr lang="zh-CN" altLang="en-US" sz="1600" b="1" dirty="0" smtClean="0"/>
              <a:t>体</a:t>
            </a:r>
            <a:r>
              <a:rPr lang="zh-CN" altLang="zh-CN" sz="1600" b="1" dirty="0" smtClean="0"/>
              <a:t>变量</a:t>
            </a:r>
            <a:r>
              <a:rPr lang="en-US" altLang="zh-CN" sz="1600" b="1" dirty="0" smtClean="0"/>
              <a:t> </a:t>
            </a:r>
            <a:r>
              <a:rPr lang="en-US" altLang="zh-CN" sz="1600" b="1" dirty="0"/>
              <a:t>*/</a:t>
            </a:r>
            <a:endParaRPr lang="zh-CN" altLang="zh-CN" sz="1600" dirty="0"/>
          </a:p>
          <a:p>
            <a:r>
              <a:rPr lang="en-US" altLang="zh-CN" sz="1600" b="1" dirty="0"/>
              <a:t>  printf("Input n: ");</a:t>
            </a:r>
            <a:endParaRPr lang="zh-CN" altLang="zh-CN" sz="1600" dirty="0"/>
          </a:p>
          <a:p>
            <a:r>
              <a:rPr lang="en-US" altLang="zh-CN" sz="1600" b="1" dirty="0"/>
              <a:t>  scanf("%d", &amp;n);</a:t>
            </a:r>
            <a:endParaRPr lang="zh-CN" altLang="zh-CN" sz="1600" dirty="0"/>
          </a:p>
          <a:p>
            <a:r>
              <a:rPr lang="en-US" altLang="zh-CN" sz="1600" b="1" dirty="0"/>
              <a:t>  printf("Input the student’s number, name and course scores\n");</a:t>
            </a:r>
            <a:endParaRPr lang="zh-CN" altLang="zh-CN" sz="1600" dirty="0"/>
          </a:p>
          <a:p>
            <a:r>
              <a:rPr lang="en-US" altLang="zh-CN" sz="1600" b="1" dirty="0"/>
              <a:t>  for(i = 1; i &lt;= n; </a:t>
            </a:r>
            <a:r>
              <a:rPr lang="en-US" altLang="zh-CN" sz="1600" b="1" dirty="0" err="1"/>
              <a:t>i</a:t>
            </a:r>
            <a:r>
              <a:rPr lang="en-US" altLang="zh-CN" sz="1600" b="1" dirty="0" smtClean="0"/>
              <a:t>++){</a:t>
            </a:r>
            <a:endParaRPr lang="zh-CN" altLang="zh-CN" sz="1600" dirty="0"/>
          </a:p>
          <a:p>
            <a:r>
              <a:rPr lang="en-US" altLang="zh-CN" sz="1600" b="1" dirty="0"/>
              <a:t>  </a:t>
            </a:r>
            <a:r>
              <a:rPr lang="en-US" altLang="zh-CN" sz="1600" b="1" dirty="0" smtClean="0"/>
              <a:t>  </a:t>
            </a:r>
            <a:r>
              <a:rPr lang="en-US" altLang="zh-CN" sz="1600" b="1" dirty="0" err="1" smtClean="0"/>
              <a:t>printf</a:t>
            </a:r>
            <a:r>
              <a:rPr lang="en-US" altLang="zh-CN" sz="1600" b="1" dirty="0"/>
              <a:t>("No.%d: ", i);</a:t>
            </a:r>
            <a:endParaRPr lang="zh-CN" altLang="zh-CN" sz="1600" dirty="0"/>
          </a:p>
          <a:p>
            <a:r>
              <a:rPr lang="en-US" altLang="zh-CN" sz="1600" b="1" dirty="0" smtClean="0"/>
              <a:t>    </a:t>
            </a:r>
            <a:r>
              <a:rPr lang="en-US" altLang="zh-CN" sz="1600" b="1" dirty="0" err="1" smtClean="0"/>
              <a:t>scanf</a:t>
            </a:r>
            <a:r>
              <a:rPr lang="en-US" altLang="zh-CN" sz="1600" b="1" dirty="0"/>
              <a:t>("%d%s%d%d%d",&amp;s1.num,s1.name,&amp;s1.math,&amp;s1.english,&amp;s1.computer);</a:t>
            </a:r>
            <a:endParaRPr lang="zh-CN" altLang="zh-CN" sz="1600" dirty="0"/>
          </a:p>
          <a:p>
            <a:r>
              <a:rPr lang="en-US" altLang="zh-CN" sz="1600" b="1" dirty="0"/>
              <a:t>    s1.average = </a:t>
            </a:r>
            <a:r>
              <a:rPr lang="en-US" altLang="zh-CN" sz="1600" b="1" dirty="0">
                <a:solidFill>
                  <a:srgbClr val="FF0000"/>
                </a:solidFill>
              </a:rPr>
              <a:t>count_average (s1)</a:t>
            </a:r>
            <a:r>
              <a:rPr lang="en-US" altLang="zh-CN" sz="1600" b="1" dirty="0"/>
              <a:t>;</a:t>
            </a:r>
            <a:endParaRPr lang="zh-CN" altLang="zh-CN" sz="1600" dirty="0"/>
          </a:p>
          <a:p>
            <a:r>
              <a:rPr lang="en-US" altLang="zh-CN" sz="1600" b="1" dirty="0"/>
              <a:t>    printf("num:%d, name:%s, average:%.2lf\n", s1.num, s1.name, s1.average);</a:t>
            </a:r>
            <a:endParaRPr lang="zh-CN" altLang="zh-CN" sz="1600" dirty="0"/>
          </a:p>
          <a:p>
            <a:r>
              <a:rPr lang="en-US" altLang="zh-CN" sz="1600" b="1" dirty="0"/>
              <a:t>  }</a:t>
            </a:r>
            <a:endParaRPr lang="zh-CN" altLang="zh-CN" sz="1600" dirty="0"/>
          </a:p>
          <a:p>
            <a:r>
              <a:rPr lang="en-US" altLang="zh-CN" sz="1600" b="1" dirty="0"/>
              <a:t>return 0;    </a:t>
            </a:r>
            <a:endParaRPr lang="zh-CN" altLang="zh-CN" sz="1600" dirty="0"/>
          </a:p>
          <a:p>
            <a:r>
              <a:rPr lang="en-US" altLang="zh-CN" sz="1600" b="1" dirty="0" smtClean="0"/>
              <a:t>}</a:t>
            </a:r>
          </a:p>
          <a:p>
            <a:r>
              <a:rPr lang="en-US" altLang="zh-CN" sz="1600" b="1" dirty="0">
                <a:solidFill>
                  <a:srgbClr val="3333FF"/>
                </a:solidFill>
              </a:rPr>
              <a:t>double </a:t>
            </a:r>
            <a:r>
              <a:rPr lang="en-US" altLang="zh-CN" sz="1600" b="1" dirty="0" err="1">
                <a:solidFill>
                  <a:srgbClr val="3333FF"/>
                </a:solidFill>
              </a:rPr>
              <a:t>count_average</a:t>
            </a:r>
            <a:r>
              <a:rPr lang="en-US" altLang="zh-CN" sz="1600" b="1" dirty="0">
                <a:solidFill>
                  <a:srgbClr val="3333FF"/>
                </a:solidFill>
              </a:rPr>
              <a:t>(</a:t>
            </a:r>
            <a:r>
              <a:rPr lang="en-US" altLang="zh-CN" sz="1600" b="1" dirty="0" err="1">
                <a:solidFill>
                  <a:srgbClr val="3333FF"/>
                </a:solidFill>
              </a:rPr>
              <a:t>struct</a:t>
            </a:r>
            <a:r>
              <a:rPr lang="en-US" altLang="zh-CN" sz="1600" b="1" dirty="0">
                <a:solidFill>
                  <a:srgbClr val="3333FF"/>
                </a:solidFill>
              </a:rPr>
              <a:t> student s) </a:t>
            </a:r>
            <a:endParaRPr lang="zh-CN" altLang="zh-CN" sz="1600" b="1" dirty="0">
              <a:solidFill>
                <a:srgbClr val="3333FF"/>
              </a:solidFill>
            </a:endParaRPr>
          </a:p>
          <a:p>
            <a:r>
              <a:rPr lang="en-US" altLang="zh-CN" sz="1600" b="1" dirty="0">
                <a:solidFill>
                  <a:srgbClr val="3333FF"/>
                </a:solidFill>
              </a:rPr>
              <a:t>{</a:t>
            </a:r>
            <a:endParaRPr lang="zh-CN" altLang="zh-CN" sz="1600" b="1" dirty="0">
              <a:solidFill>
                <a:srgbClr val="3333FF"/>
              </a:solidFill>
            </a:endParaRPr>
          </a:p>
          <a:p>
            <a:r>
              <a:rPr lang="en-US" altLang="zh-CN" sz="1600" b="1" dirty="0">
                <a:solidFill>
                  <a:srgbClr val="3333FF"/>
                </a:solidFill>
              </a:rPr>
              <a:t>    return (</a:t>
            </a:r>
            <a:r>
              <a:rPr lang="en-US" altLang="zh-CN" sz="1600" b="1" dirty="0" err="1">
                <a:solidFill>
                  <a:srgbClr val="3333FF"/>
                </a:solidFill>
              </a:rPr>
              <a:t>s.math</a:t>
            </a:r>
            <a:r>
              <a:rPr lang="en-US" altLang="zh-CN" sz="1600" b="1" dirty="0">
                <a:solidFill>
                  <a:srgbClr val="3333FF"/>
                </a:solidFill>
              </a:rPr>
              <a:t> + </a:t>
            </a:r>
            <a:r>
              <a:rPr lang="en-US" altLang="zh-CN" sz="1600" b="1" dirty="0" err="1">
                <a:solidFill>
                  <a:srgbClr val="3333FF"/>
                </a:solidFill>
              </a:rPr>
              <a:t>s.english</a:t>
            </a:r>
            <a:r>
              <a:rPr lang="en-US" altLang="zh-CN" sz="1600" b="1" dirty="0">
                <a:solidFill>
                  <a:srgbClr val="3333FF"/>
                </a:solidFill>
              </a:rPr>
              <a:t> + </a:t>
            </a:r>
            <a:r>
              <a:rPr lang="en-US" altLang="zh-CN" sz="1600" b="1" dirty="0" err="1">
                <a:solidFill>
                  <a:srgbClr val="3333FF"/>
                </a:solidFill>
              </a:rPr>
              <a:t>s.computer</a:t>
            </a:r>
            <a:r>
              <a:rPr lang="en-US" altLang="zh-CN" sz="1600" b="1" dirty="0">
                <a:solidFill>
                  <a:srgbClr val="3333FF"/>
                </a:solidFill>
              </a:rPr>
              <a:t>) / 3.0;     </a:t>
            </a:r>
            <a:endParaRPr lang="zh-CN" altLang="zh-CN" sz="1600" b="1" dirty="0">
              <a:solidFill>
                <a:srgbClr val="3333FF"/>
              </a:solidFill>
            </a:endParaRPr>
          </a:p>
          <a:p>
            <a:r>
              <a:rPr lang="en-US" altLang="zh-CN" sz="1600" b="1" dirty="0" smtClean="0">
                <a:solidFill>
                  <a:srgbClr val="3333FF"/>
                </a:solidFill>
              </a:rPr>
              <a:t>}</a:t>
            </a:r>
            <a:endParaRPr lang="zh-CN" altLang="zh-CN" sz="1600" b="1" dirty="0">
              <a:solidFill>
                <a:srgbClr val="3333FF"/>
              </a:solidFill>
            </a:endParaRPr>
          </a:p>
        </p:txBody>
      </p:sp>
    </p:spTree>
    <p:extLst>
      <p:ext uri="{BB962C8B-B14F-4D97-AF65-F5344CB8AC3E}">
        <p14:creationId xmlns:p14="http://schemas.microsoft.com/office/powerpoint/2010/main" val="3267198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结构体变量</a:t>
            </a:r>
            <a:r>
              <a:rPr lang="zh-CN" altLang="en-US" dirty="0"/>
              <a:t>作为函数参数</a:t>
            </a:r>
          </a:p>
        </p:txBody>
      </p:sp>
      <p:sp>
        <p:nvSpPr>
          <p:cNvPr id="3" name="内容占位符 2"/>
          <p:cNvSpPr>
            <a:spLocks noGrp="1"/>
          </p:cNvSpPr>
          <p:nvPr>
            <p:ph idx="1"/>
          </p:nvPr>
        </p:nvSpPr>
        <p:spPr>
          <a:xfrm>
            <a:off x="755650" y="1700213"/>
            <a:ext cx="7993063" cy="5157787"/>
          </a:xfrm>
        </p:spPr>
        <p:txBody>
          <a:bodyPr/>
          <a:lstStyle/>
          <a:p>
            <a:r>
              <a:rPr lang="zh-CN" altLang="en-US" sz="2400" dirty="0" smtClean="0"/>
              <a:t>例</a:t>
            </a:r>
            <a:r>
              <a:rPr lang="en-US" altLang="zh-CN" sz="2400" dirty="0"/>
              <a:t>6-22</a:t>
            </a:r>
            <a:r>
              <a:rPr lang="zh-CN" altLang="en-US" sz="2400" dirty="0"/>
              <a:t>中，函数声明语句是</a:t>
            </a:r>
          </a:p>
          <a:p>
            <a:pPr marL="457200" lvl="1" indent="0">
              <a:buNone/>
            </a:pPr>
            <a:r>
              <a:rPr lang="zh-CN" altLang="en-US" sz="2400" dirty="0"/>
              <a:t>double count_average( </a:t>
            </a:r>
            <a:r>
              <a:rPr lang="zh-CN" altLang="en-US" sz="2400" dirty="0">
                <a:solidFill>
                  <a:srgbClr val="FF0000"/>
                </a:solidFill>
              </a:rPr>
              <a:t>struct student s</a:t>
            </a:r>
            <a:r>
              <a:rPr lang="zh-CN" altLang="en-US" sz="2400" dirty="0"/>
              <a:t> )；</a:t>
            </a:r>
          </a:p>
          <a:p>
            <a:pPr marL="457200" lvl="1" indent="0">
              <a:buNone/>
            </a:pPr>
            <a:r>
              <a:rPr lang="zh-CN" altLang="en-US" sz="2400" dirty="0"/>
              <a:t>main中的函数调用语句是</a:t>
            </a:r>
          </a:p>
          <a:p>
            <a:pPr marL="457200" lvl="1" indent="0">
              <a:buNone/>
            </a:pPr>
            <a:r>
              <a:rPr lang="zh-CN" altLang="en-US" sz="2400" dirty="0"/>
              <a:t>s1.average = count_average ( </a:t>
            </a:r>
            <a:r>
              <a:rPr lang="zh-CN" altLang="en-US" sz="2400" dirty="0">
                <a:solidFill>
                  <a:srgbClr val="FF0000"/>
                </a:solidFill>
              </a:rPr>
              <a:t>s1</a:t>
            </a:r>
            <a:r>
              <a:rPr lang="zh-CN" altLang="en-US" sz="2400" dirty="0"/>
              <a:t> );</a:t>
            </a:r>
          </a:p>
          <a:p>
            <a:pPr marL="92075" lvl="1" indent="-92075" algn="l">
              <a:buClr>
                <a:srgbClr val="A50021"/>
              </a:buClr>
              <a:buFont typeface="Webdings" panose="05030102010509060703" pitchFamily="18" charset="2"/>
              <a:buChar char="·"/>
            </a:pPr>
            <a:r>
              <a:rPr lang="zh-CN" altLang="en-US" sz="2400" dirty="0">
                <a:cs typeface="+mn-cs"/>
              </a:rPr>
              <a:t>函数调用时s1传递给s, 等价于做了赋值s=s1，那么会把结构体变量s1整体赋值给s，根据结构体变量整体赋值的原理，两个变量的所有成员赋值后均相同</a:t>
            </a: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121</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88640"/>
            <a:ext cx="8964488" cy="6752525"/>
          </a:xfrm>
        </p:spPr>
        <p:txBody>
          <a:bodyPr/>
          <a:lstStyle/>
          <a:p>
            <a:pPr marL="0" indent="0">
              <a:spcBef>
                <a:spcPts val="0"/>
              </a:spcBef>
              <a:buNone/>
            </a:pPr>
            <a:r>
              <a:rPr lang="en-US" altLang="zh-CN" sz="1800" dirty="0"/>
              <a:t>#include &lt;stdio.h&gt;</a:t>
            </a:r>
          </a:p>
          <a:p>
            <a:pPr marL="0" indent="0">
              <a:spcBef>
                <a:spcPts val="0"/>
              </a:spcBef>
              <a:buNone/>
            </a:pPr>
            <a:r>
              <a:rPr lang="en-US" altLang="zh-CN" sz="1800" dirty="0"/>
              <a:t>struct complex</a:t>
            </a:r>
          </a:p>
          <a:p>
            <a:pPr marL="0" indent="0">
              <a:spcBef>
                <a:spcPts val="0"/>
              </a:spcBef>
              <a:buNone/>
            </a:pPr>
            <a:r>
              <a:rPr lang="en-US" altLang="zh-CN" sz="1800" dirty="0"/>
              <a:t>{ int real,im; };</a:t>
            </a:r>
          </a:p>
          <a:p>
            <a:pPr marL="0" indent="0">
              <a:spcBef>
                <a:spcPts val="0"/>
              </a:spcBef>
              <a:buNone/>
            </a:pPr>
            <a:r>
              <a:rPr lang="en-US" altLang="zh-CN" sz="1800" dirty="0">
                <a:solidFill>
                  <a:srgbClr val="FF0000"/>
                </a:solidFill>
              </a:rPr>
              <a:t>struct complex cmult(struct complex a,struct complex b);</a:t>
            </a:r>
          </a:p>
          <a:p>
            <a:pPr marL="0" indent="0">
              <a:spcBef>
                <a:spcPts val="0"/>
              </a:spcBef>
              <a:buNone/>
            </a:pPr>
            <a:r>
              <a:rPr lang="en-US" altLang="zh-CN" sz="1800" dirty="0" err="1"/>
              <a:t>int</a:t>
            </a:r>
            <a:r>
              <a:rPr lang="en-US" altLang="zh-CN" sz="1800" dirty="0"/>
              <a:t> </a:t>
            </a:r>
            <a:r>
              <a:rPr lang="en-US" altLang="zh-CN" sz="1800" dirty="0" smtClean="0"/>
              <a:t>main()</a:t>
            </a:r>
            <a:endParaRPr lang="en-US" altLang="zh-CN" sz="1800" dirty="0"/>
          </a:p>
          <a:p>
            <a:pPr marL="0" indent="0">
              <a:spcBef>
                <a:spcPts val="0"/>
              </a:spcBef>
              <a:buNone/>
            </a:pPr>
            <a:r>
              <a:rPr lang="en-US" altLang="zh-CN" sz="1800" dirty="0"/>
              <a:t>{</a:t>
            </a:r>
          </a:p>
          <a:p>
            <a:pPr marL="0" indent="0">
              <a:spcBef>
                <a:spcPts val="0"/>
              </a:spcBef>
              <a:buNone/>
            </a:pPr>
            <a:r>
              <a:rPr lang="en-US" altLang="zh-CN" sz="1800" dirty="0"/>
              <a:t>	struct complex a,b,c;</a:t>
            </a:r>
          </a:p>
          <a:p>
            <a:pPr marL="0" indent="0">
              <a:spcBef>
                <a:spcPts val="0"/>
              </a:spcBef>
              <a:buNone/>
            </a:pPr>
            <a:r>
              <a:rPr lang="en-US" altLang="zh-CN" sz="1800" dirty="0"/>
              <a:t>	printf("Input a1,a2,b1,b2:");</a:t>
            </a:r>
          </a:p>
          <a:p>
            <a:pPr marL="0" indent="0">
              <a:spcBef>
                <a:spcPts val="0"/>
              </a:spcBef>
              <a:buNone/>
            </a:pPr>
            <a:r>
              <a:rPr lang="en-US" altLang="zh-CN" sz="1800" dirty="0"/>
              <a:t>	scanf("%d%d%d%d",&amp;a.real,&amp;a.im,&amp;b.real,&amp;b.im);</a:t>
            </a:r>
          </a:p>
          <a:p>
            <a:pPr marL="0" indent="0">
              <a:spcBef>
                <a:spcPts val="0"/>
              </a:spcBef>
              <a:buNone/>
            </a:pPr>
            <a:r>
              <a:rPr lang="en-US" altLang="zh-CN" sz="1800" dirty="0"/>
              <a:t>	c=cmult(a,b);</a:t>
            </a:r>
          </a:p>
          <a:p>
            <a:pPr marL="0" indent="0">
              <a:spcBef>
                <a:spcPts val="0"/>
              </a:spcBef>
              <a:buNone/>
            </a:pPr>
            <a:r>
              <a:rPr lang="en-US" altLang="zh-CN" sz="1800" dirty="0"/>
              <a:t>	printf("(%d+%di)*(%d+%di)=%d+%di\n",a.real,a.im,b.real,b.im,c.real,c.im);</a:t>
            </a:r>
          </a:p>
          <a:p>
            <a:pPr marL="0" indent="0">
              <a:spcBef>
                <a:spcPts val="0"/>
              </a:spcBef>
              <a:buNone/>
            </a:pPr>
            <a:r>
              <a:rPr lang="en-US" altLang="zh-CN" sz="1800" dirty="0"/>
              <a:t>	return 0;</a:t>
            </a:r>
          </a:p>
          <a:p>
            <a:pPr marL="0" indent="0">
              <a:spcBef>
                <a:spcPts val="0"/>
              </a:spcBef>
              <a:buNone/>
            </a:pPr>
            <a:r>
              <a:rPr lang="en-US" altLang="zh-CN" sz="1800" dirty="0"/>
              <a:t>}</a:t>
            </a:r>
          </a:p>
          <a:p>
            <a:pPr marL="0" indent="0">
              <a:spcBef>
                <a:spcPts val="0"/>
              </a:spcBef>
              <a:buNone/>
            </a:pPr>
            <a:r>
              <a:rPr lang="en-US" altLang="zh-CN" sz="1800" dirty="0"/>
              <a:t>struct complex cmult(struct complex a,struct complex b)</a:t>
            </a:r>
          </a:p>
          <a:p>
            <a:pPr marL="0" indent="0">
              <a:spcBef>
                <a:spcPts val="0"/>
              </a:spcBef>
              <a:buNone/>
            </a:pPr>
            <a:r>
              <a:rPr lang="en-US" altLang="zh-CN" sz="1800" dirty="0"/>
              <a:t>{</a:t>
            </a:r>
          </a:p>
          <a:p>
            <a:pPr marL="0" indent="0">
              <a:spcBef>
                <a:spcPts val="0"/>
              </a:spcBef>
              <a:buNone/>
            </a:pPr>
            <a:r>
              <a:rPr lang="en-US" altLang="zh-CN" sz="1800" dirty="0"/>
              <a:t>	struct complex w;</a:t>
            </a:r>
          </a:p>
          <a:p>
            <a:pPr marL="0" indent="0">
              <a:spcBef>
                <a:spcPts val="0"/>
              </a:spcBef>
              <a:buNone/>
            </a:pPr>
            <a:r>
              <a:rPr lang="en-US" altLang="zh-CN" sz="1800" dirty="0"/>
              <a:t>	w.real=a.real*b.real-a.im*b.im;</a:t>
            </a:r>
          </a:p>
          <a:p>
            <a:pPr marL="0" indent="0">
              <a:spcBef>
                <a:spcPts val="0"/>
              </a:spcBef>
              <a:buNone/>
            </a:pPr>
            <a:r>
              <a:rPr lang="en-US" altLang="zh-CN" sz="1800" dirty="0"/>
              <a:t>	w.im=a.real*b.im+a.im*b.real;</a:t>
            </a:r>
          </a:p>
          <a:p>
            <a:pPr marL="0" indent="0">
              <a:spcBef>
                <a:spcPts val="0"/>
              </a:spcBef>
              <a:buNone/>
            </a:pPr>
            <a:r>
              <a:rPr lang="en-US" altLang="zh-CN" sz="1800" dirty="0"/>
              <a:t>	return w;</a:t>
            </a:r>
          </a:p>
          <a:p>
            <a:pPr marL="0" indent="0">
              <a:spcBef>
                <a:spcPts val="0"/>
              </a:spcBef>
              <a:buNone/>
            </a:pPr>
            <a:r>
              <a:rPr lang="en-US" altLang="zh-CN" sz="1800" dirty="0"/>
              <a:t>}	</a:t>
            </a:r>
          </a:p>
          <a:p>
            <a:pPr marL="0" indent="0">
              <a:spcBef>
                <a:spcPts val="0"/>
              </a:spcBef>
              <a:buNone/>
            </a:pPr>
            <a:endParaRPr lang="zh-CN" altLang="en-US" sz="1800" dirty="0"/>
          </a:p>
        </p:txBody>
      </p:sp>
      <p:sp>
        <p:nvSpPr>
          <p:cNvPr id="4" name="矩形 3"/>
          <p:cNvSpPr/>
          <p:nvPr/>
        </p:nvSpPr>
        <p:spPr>
          <a:xfrm>
            <a:off x="6191672" y="0"/>
            <a:ext cx="2952328" cy="400110"/>
          </a:xfrm>
          <a:prstGeom prst="rect">
            <a:avLst/>
          </a:prstGeom>
        </p:spPr>
        <p:txBody>
          <a:bodyPr wrap="square">
            <a:spAutoFit/>
          </a:bodyPr>
          <a:lstStyle/>
          <a:p>
            <a:pPr marL="0" indent="0">
              <a:buNone/>
            </a:pPr>
            <a:r>
              <a:rPr lang="zh-CN" altLang="en-US" sz="2000"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例 利用函数求复数乘积</a:t>
            </a:r>
            <a:endParaRPr lang="zh-CN" altLang="en-US"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93232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a:t>
            </a:r>
            <a:r>
              <a:rPr lang="zh-CN" altLang="en-US" dirty="0"/>
              <a:t>体</a:t>
            </a:r>
            <a:r>
              <a:rPr lang="zh-CN" altLang="en-US" dirty="0" smtClean="0"/>
              <a:t>指针</a:t>
            </a:r>
            <a:r>
              <a:rPr lang="zh-CN" altLang="en-US" dirty="0"/>
              <a:t>作为函数参数</a:t>
            </a:r>
          </a:p>
        </p:txBody>
      </p:sp>
      <p:sp>
        <p:nvSpPr>
          <p:cNvPr id="3" name="内容占位符 2"/>
          <p:cNvSpPr>
            <a:spLocks noGrp="1"/>
          </p:cNvSpPr>
          <p:nvPr>
            <p:ph idx="1"/>
          </p:nvPr>
        </p:nvSpPr>
        <p:spPr/>
        <p:txBody>
          <a:bodyPr/>
          <a:lstStyle/>
          <a:p>
            <a:r>
              <a:rPr lang="zh-CN" altLang="en-US" sz="2400" dirty="0"/>
              <a:t>用结构体指针或</a:t>
            </a:r>
            <a:r>
              <a:rPr lang="zh-CN" altLang="en-US" sz="2400" dirty="0" smtClean="0"/>
              <a:t>结构体数组</a:t>
            </a:r>
            <a:r>
              <a:rPr lang="zh-CN" altLang="en-US" sz="2400" dirty="0"/>
              <a:t>名作为函数参数仅仅只需要传递结构体变量或者是结构体数组的地址，因而效率更</a:t>
            </a:r>
            <a:r>
              <a:rPr lang="zh-CN" altLang="en-US" sz="2400" dirty="0" smtClean="0"/>
              <a:t>高；而且被调函数内还可以修改实参结构体。</a:t>
            </a:r>
            <a:endParaRPr lang="zh-CN" altLang="en-US" sz="2400" dirty="0"/>
          </a:p>
          <a:p>
            <a:pPr marL="92075" lvl="1" indent="-92075" algn="l">
              <a:buClr>
                <a:srgbClr val="A50021"/>
              </a:buClr>
              <a:buFont typeface="Webdings" panose="05030102010509060703" pitchFamily="18" charset="2"/>
              <a:buChar char="·"/>
            </a:pPr>
            <a:r>
              <a:rPr lang="zh-CN" altLang="en-US" dirty="0">
                <a:cs typeface="+mn-cs"/>
                <a:sym typeface="+mn-ea"/>
              </a:rPr>
              <a:t>例6-</a:t>
            </a:r>
            <a:r>
              <a:rPr lang="zh-CN" altLang="en-US" dirty="0" smtClean="0">
                <a:cs typeface="+mn-cs"/>
                <a:sym typeface="+mn-ea"/>
              </a:rPr>
              <a:t>2</a:t>
            </a:r>
            <a:r>
              <a:rPr lang="en-US" altLang="zh-CN" dirty="0" smtClean="0">
                <a:cs typeface="+mn-cs"/>
                <a:sym typeface="+mn-ea"/>
              </a:rPr>
              <a:t>3</a:t>
            </a:r>
            <a:r>
              <a:rPr lang="zh-CN" altLang="en-US" dirty="0" smtClean="0">
                <a:cs typeface="+mn-cs"/>
                <a:sym typeface="+mn-ea"/>
              </a:rPr>
              <a:t>中</a:t>
            </a:r>
            <a:r>
              <a:rPr lang="zh-CN" altLang="en-US" dirty="0">
                <a:cs typeface="+mn-cs"/>
                <a:sym typeface="+mn-ea"/>
              </a:rPr>
              <a:t>，</a:t>
            </a:r>
            <a:r>
              <a:rPr lang="zh-CN" altLang="en-US" sz="2400" dirty="0">
                <a:solidFill>
                  <a:srgbClr val="0066FF"/>
                </a:solidFill>
                <a:cs typeface="+mn-cs"/>
                <a:sym typeface="+mn-ea"/>
              </a:rPr>
              <a:t>函数声明语句</a:t>
            </a:r>
          </a:p>
          <a:p>
            <a:pPr marL="457200" lvl="2" indent="0" algn="l">
              <a:buClr>
                <a:srgbClr val="A50021"/>
              </a:buClr>
              <a:buNone/>
            </a:pPr>
            <a:r>
              <a:rPr lang="zh-CN" altLang="en-US" sz="2200" dirty="0">
                <a:cs typeface="+mn-cs"/>
                <a:sym typeface="+mn-ea"/>
              </a:rPr>
              <a:t>void output_student(</a:t>
            </a:r>
            <a:r>
              <a:rPr lang="zh-CN" altLang="en-US" sz="2200" dirty="0">
                <a:solidFill>
                  <a:srgbClr val="FF0000"/>
                </a:solidFill>
                <a:cs typeface="+mn-cs"/>
                <a:sym typeface="+mn-ea"/>
              </a:rPr>
              <a:t>struct student </a:t>
            </a:r>
            <a:r>
              <a:rPr lang="zh-CN" altLang="en-US" sz="2200" dirty="0" smtClean="0">
                <a:solidFill>
                  <a:srgbClr val="FF0000"/>
                </a:solidFill>
                <a:cs typeface="+mn-cs"/>
                <a:sym typeface="+mn-ea"/>
              </a:rPr>
              <a:t>stu</a:t>
            </a:r>
            <a:r>
              <a:rPr lang="en-US" altLang="zh-CN" sz="2200" dirty="0" smtClean="0">
                <a:solidFill>
                  <a:srgbClr val="FF0000"/>
                </a:solidFill>
                <a:cs typeface="+mn-cs"/>
                <a:sym typeface="+mn-ea"/>
              </a:rPr>
              <a:t>1</a:t>
            </a:r>
            <a:r>
              <a:rPr lang="zh-CN" altLang="en-US" sz="2200" dirty="0" smtClean="0">
                <a:solidFill>
                  <a:srgbClr val="FF0000"/>
                </a:solidFill>
                <a:cs typeface="+mn-cs"/>
                <a:sym typeface="+mn-ea"/>
              </a:rPr>
              <a:t>[ </a:t>
            </a:r>
            <a:r>
              <a:rPr lang="zh-CN" altLang="en-US" sz="2200" dirty="0">
                <a:solidFill>
                  <a:srgbClr val="FF0000"/>
                </a:solidFill>
                <a:cs typeface="+mn-cs"/>
                <a:sym typeface="+mn-ea"/>
              </a:rPr>
              <a:t>]</a:t>
            </a:r>
            <a:r>
              <a:rPr lang="zh-CN" altLang="en-US" sz="2200" dirty="0">
                <a:cs typeface="+mn-cs"/>
                <a:sym typeface="+mn-ea"/>
              </a:rPr>
              <a:t>)</a:t>
            </a:r>
          </a:p>
          <a:p>
            <a:pPr marL="457200" lvl="2" indent="0" algn="l">
              <a:buClr>
                <a:srgbClr val="A50021"/>
              </a:buClr>
              <a:buNone/>
            </a:pPr>
            <a:r>
              <a:rPr lang="en-US" altLang="zh-CN" sz="2200" dirty="0">
                <a:cs typeface="+mn-cs"/>
                <a:sym typeface="+mn-ea"/>
              </a:rPr>
              <a:t>//</a:t>
            </a:r>
            <a:r>
              <a:rPr lang="zh-CN" altLang="en-US" sz="2200" dirty="0">
                <a:cs typeface="+mn-cs"/>
                <a:sym typeface="+mn-ea"/>
              </a:rPr>
              <a:t>形参也可以写成</a:t>
            </a:r>
            <a:r>
              <a:rPr lang="en-US" altLang="zh-CN" sz="2200" dirty="0">
                <a:solidFill>
                  <a:srgbClr val="FF0000"/>
                </a:solidFill>
                <a:cs typeface="+mn-cs"/>
                <a:sym typeface="+mn-ea"/>
              </a:rPr>
              <a:t>struct student *</a:t>
            </a:r>
            <a:r>
              <a:rPr lang="zh-CN" altLang="en-US" sz="2200" dirty="0">
                <a:solidFill>
                  <a:srgbClr val="FF0000"/>
                </a:solidFill>
                <a:cs typeface="+mn-cs"/>
                <a:sym typeface="+mn-ea"/>
              </a:rPr>
              <a:t>的格式</a:t>
            </a:r>
          </a:p>
          <a:p>
            <a:pPr marL="457200" lvl="2" indent="0" algn="l">
              <a:buClr>
                <a:srgbClr val="A50021"/>
              </a:buClr>
              <a:buNone/>
            </a:pPr>
            <a:r>
              <a:rPr lang="zh-CN" altLang="en-US" sz="2200" dirty="0">
                <a:solidFill>
                  <a:srgbClr val="0066FF"/>
                </a:solidFill>
                <a:cs typeface="+mn-cs"/>
              </a:rPr>
              <a:t>函数调用语句</a:t>
            </a:r>
          </a:p>
          <a:p>
            <a:pPr marL="457200" lvl="2" indent="0" algn="l">
              <a:buClr>
                <a:srgbClr val="A50021"/>
              </a:buClr>
              <a:buNone/>
            </a:pPr>
            <a:r>
              <a:rPr lang="zh-CN" altLang="en-US" sz="2200" dirty="0">
                <a:cs typeface="+mn-cs"/>
              </a:rPr>
              <a:t>output_student(</a:t>
            </a:r>
            <a:r>
              <a:rPr lang="zh-CN" altLang="en-US" sz="2200" dirty="0" smtClean="0">
                <a:solidFill>
                  <a:srgbClr val="FF0000"/>
                </a:solidFill>
                <a:cs typeface="+mn-cs"/>
              </a:rPr>
              <a:t>stu</a:t>
            </a:r>
            <a:r>
              <a:rPr lang="zh-CN" altLang="en-US" sz="2200" dirty="0" smtClean="0">
                <a:cs typeface="+mn-cs"/>
              </a:rPr>
              <a:t>)</a:t>
            </a:r>
            <a:r>
              <a:rPr lang="zh-CN" altLang="en-US" sz="2200" dirty="0">
                <a:cs typeface="+mn-cs"/>
              </a:rPr>
              <a:t>;</a:t>
            </a:r>
            <a:endParaRPr lang="zh-CN" altLang="en-US" sz="2200" dirty="0"/>
          </a:p>
          <a:p>
            <a:pPr marL="0" indent="0">
              <a:buNone/>
            </a:pPr>
            <a:endParaRPr lang="zh-CN" altLang="en-US" sz="24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a:t>123</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smtClean="0"/>
              <a:t>例</a:t>
            </a:r>
            <a:r>
              <a:rPr lang="en-US" altLang="zh-CN" sz="2800" dirty="0" smtClean="0"/>
              <a:t>6-23 </a:t>
            </a:r>
            <a:r>
              <a:rPr lang="zh-CN" altLang="en-US" sz="2800" dirty="0" smtClean="0"/>
              <a:t>利用</a:t>
            </a:r>
            <a:r>
              <a:rPr lang="zh-CN" altLang="en-US" sz="2800" dirty="0"/>
              <a:t>函数输出主函数中定义的结构体</a:t>
            </a:r>
            <a:r>
              <a:rPr lang="zh-CN" altLang="en-US" sz="2800" dirty="0" smtClean="0"/>
              <a:t>数组</a:t>
            </a:r>
            <a:endParaRPr lang="zh-CN" altLang="en-US" sz="2800" dirty="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124</a:t>
            </a:fld>
            <a:endParaRPr lang="en-US" altLang="zh-CN" dirty="0"/>
          </a:p>
        </p:txBody>
      </p:sp>
      <p:sp>
        <p:nvSpPr>
          <p:cNvPr id="5" name="矩形 4"/>
          <p:cNvSpPr/>
          <p:nvPr/>
        </p:nvSpPr>
        <p:spPr>
          <a:xfrm>
            <a:off x="755650" y="1844824"/>
            <a:ext cx="8280846" cy="4524315"/>
          </a:xfrm>
          <a:prstGeom prst="rect">
            <a:avLst/>
          </a:prstGeom>
        </p:spPr>
        <p:txBody>
          <a:bodyPr wrap="square">
            <a:spAutoFit/>
          </a:bodyPr>
          <a:lstStyle/>
          <a:p>
            <a:r>
              <a:rPr lang="en-US" altLang="zh-CN" sz="1600" b="1" dirty="0"/>
              <a:t>#include &lt;</a:t>
            </a:r>
            <a:r>
              <a:rPr lang="en-US" altLang="zh-CN" sz="1600" b="1" dirty="0" err="1"/>
              <a:t>stdio.h</a:t>
            </a:r>
            <a:r>
              <a:rPr lang="en-US" altLang="zh-CN" sz="1600" b="1" dirty="0"/>
              <a:t>&gt;</a:t>
            </a:r>
          </a:p>
          <a:p>
            <a:r>
              <a:rPr lang="en-US" altLang="zh-CN" sz="1600" b="1" dirty="0" err="1"/>
              <a:t>struct</a:t>
            </a:r>
            <a:r>
              <a:rPr lang="en-US" altLang="zh-CN" sz="1600" b="1" dirty="0"/>
              <a:t> student{</a:t>
            </a:r>
          </a:p>
          <a:p>
            <a:r>
              <a:rPr lang="en-US" altLang="zh-CN" sz="1600" b="1" dirty="0"/>
              <a:t>    </a:t>
            </a:r>
            <a:r>
              <a:rPr lang="en-US" altLang="zh-CN" sz="1600" b="1" dirty="0" err="1"/>
              <a:t>int</a:t>
            </a:r>
            <a:r>
              <a:rPr lang="en-US" altLang="zh-CN" sz="1600" b="1" dirty="0"/>
              <a:t> </a:t>
            </a:r>
            <a:r>
              <a:rPr lang="en-US" altLang="zh-CN" sz="1600" b="1" dirty="0" err="1"/>
              <a:t>num</a:t>
            </a:r>
            <a:r>
              <a:rPr lang="en-US" altLang="zh-CN" sz="1600" b="1" dirty="0"/>
              <a:t>;                 </a:t>
            </a:r>
            <a:r>
              <a:rPr lang="en-US" altLang="zh-CN" sz="1600" b="1" dirty="0" smtClean="0"/>
              <a:t>       </a:t>
            </a:r>
            <a:r>
              <a:rPr lang="en-US" altLang="zh-CN" sz="1600" b="1" dirty="0"/>
              <a:t>/* </a:t>
            </a:r>
            <a:r>
              <a:rPr lang="zh-CN" altLang="en-US" sz="1600" b="1" dirty="0"/>
              <a:t>学号 *</a:t>
            </a:r>
            <a:r>
              <a:rPr lang="en-US" altLang="zh-CN" sz="1600" b="1" dirty="0"/>
              <a:t>/</a:t>
            </a:r>
          </a:p>
          <a:p>
            <a:r>
              <a:rPr lang="en-US" altLang="zh-CN" sz="1600" b="1" dirty="0"/>
              <a:t>    char name[10];             /* </a:t>
            </a:r>
            <a:r>
              <a:rPr lang="zh-CN" altLang="en-US" sz="1600" b="1" dirty="0"/>
              <a:t>姓名 *</a:t>
            </a:r>
            <a:r>
              <a:rPr lang="en-US" altLang="zh-CN" sz="1600" b="1" dirty="0"/>
              <a:t>/</a:t>
            </a:r>
          </a:p>
          <a:p>
            <a:r>
              <a:rPr lang="en-US" altLang="zh-CN" sz="1600" b="1" dirty="0"/>
              <a:t>};</a:t>
            </a:r>
          </a:p>
          <a:p>
            <a:r>
              <a:rPr lang="en-US" altLang="zh-CN" sz="1600" b="1" dirty="0">
                <a:solidFill>
                  <a:srgbClr val="FF0000"/>
                </a:solidFill>
              </a:rPr>
              <a:t>void </a:t>
            </a:r>
            <a:r>
              <a:rPr lang="en-US" altLang="zh-CN" sz="1600" b="1" dirty="0" err="1">
                <a:solidFill>
                  <a:srgbClr val="FF0000"/>
                </a:solidFill>
              </a:rPr>
              <a:t>output_student</a:t>
            </a:r>
            <a:r>
              <a:rPr lang="en-US" altLang="zh-CN" sz="1600" b="1" dirty="0">
                <a:solidFill>
                  <a:srgbClr val="FF0000"/>
                </a:solidFill>
              </a:rPr>
              <a:t>(</a:t>
            </a:r>
            <a:r>
              <a:rPr lang="en-US" altLang="zh-CN" sz="1600" b="1" dirty="0" err="1">
                <a:solidFill>
                  <a:srgbClr val="FF0000"/>
                </a:solidFill>
              </a:rPr>
              <a:t>struct</a:t>
            </a:r>
            <a:r>
              <a:rPr lang="en-US" altLang="zh-CN" sz="1600" b="1" dirty="0">
                <a:solidFill>
                  <a:srgbClr val="FF0000"/>
                </a:solidFill>
              </a:rPr>
              <a:t> student stu1[]);</a:t>
            </a:r>
          </a:p>
          <a:p>
            <a:r>
              <a:rPr lang="en-US" altLang="zh-CN" sz="1600" b="1" dirty="0" err="1"/>
              <a:t>int</a:t>
            </a:r>
            <a:r>
              <a:rPr lang="en-US" altLang="zh-CN" sz="1600" b="1" dirty="0"/>
              <a:t> main()</a:t>
            </a:r>
          </a:p>
          <a:p>
            <a:r>
              <a:rPr lang="en-US" altLang="zh-CN" sz="1600" b="1" dirty="0"/>
              <a:t>{</a:t>
            </a:r>
          </a:p>
          <a:p>
            <a:r>
              <a:rPr lang="en-US" altLang="zh-CN" sz="1600" b="1" dirty="0"/>
              <a:t>    </a:t>
            </a:r>
            <a:r>
              <a:rPr lang="en-US" altLang="zh-CN" sz="1600" b="1" dirty="0" err="1"/>
              <a:t>struct</a:t>
            </a:r>
            <a:r>
              <a:rPr lang="en-US" altLang="zh-CN" sz="1600" b="1" dirty="0"/>
              <a:t> student </a:t>
            </a:r>
            <a:r>
              <a:rPr lang="en-US" altLang="zh-CN" sz="1600" b="1" dirty="0" err="1"/>
              <a:t>stu</a:t>
            </a:r>
            <a:r>
              <a:rPr lang="en-US" altLang="zh-CN" sz="1600" b="1" dirty="0"/>
              <a:t>[3]={ {1001,"ZhangLi" },{1002, "</a:t>
            </a:r>
            <a:r>
              <a:rPr lang="en-US" altLang="zh-CN" sz="1600" b="1" dirty="0" err="1"/>
              <a:t>WangWu</a:t>
            </a:r>
            <a:r>
              <a:rPr lang="en-US" altLang="zh-CN" sz="1600" b="1" dirty="0"/>
              <a:t>",},{1003,"LiYan"}};</a:t>
            </a:r>
          </a:p>
          <a:p>
            <a:r>
              <a:rPr lang="en-US" altLang="zh-CN" sz="1600" b="1" dirty="0"/>
              <a:t>    </a:t>
            </a:r>
            <a:r>
              <a:rPr lang="en-US" altLang="zh-CN" sz="1600" b="1" dirty="0" err="1">
                <a:solidFill>
                  <a:srgbClr val="FF0000"/>
                </a:solidFill>
              </a:rPr>
              <a:t>output_student</a:t>
            </a:r>
            <a:r>
              <a:rPr lang="en-US" altLang="zh-CN" sz="1600" b="1" dirty="0">
                <a:solidFill>
                  <a:srgbClr val="FF0000"/>
                </a:solidFill>
              </a:rPr>
              <a:t>(</a:t>
            </a:r>
            <a:r>
              <a:rPr lang="en-US" altLang="zh-CN" sz="1600" b="1" dirty="0" err="1">
                <a:solidFill>
                  <a:srgbClr val="FF0000"/>
                </a:solidFill>
              </a:rPr>
              <a:t>stu</a:t>
            </a:r>
            <a:r>
              <a:rPr lang="en-US" altLang="zh-CN" sz="1600" b="1" dirty="0">
                <a:solidFill>
                  <a:srgbClr val="FF0000"/>
                </a:solidFill>
              </a:rPr>
              <a:t>);</a:t>
            </a:r>
          </a:p>
          <a:p>
            <a:r>
              <a:rPr lang="en-US" altLang="zh-CN" sz="1600" b="1" dirty="0"/>
              <a:t>    return 0;</a:t>
            </a:r>
          </a:p>
          <a:p>
            <a:r>
              <a:rPr lang="en-US" altLang="zh-CN" sz="1600" b="1" dirty="0"/>
              <a:t>}</a:t>
            </a:r>
          </a:p>
          <a:p>
            <a:r>
              <a:rPr lang="en-US" altLang="zh-CN" sz="1600" b="1" dirty="0">
                <a:solidFill>
                  <a:srgbClr val="3333FF"/>
                </a:solidFill>
              </a:rPr>
              <a:t>void </a:t>
            </a:r>
            <a:r>
              <a:rPr lang="en-US" altLang="zh-CN" sz="1600" b="1" dirty="0" err="1">
                <a:solidFill>
                  <a:srgbClr val="3333FF"/>
                </a:solidFill>
              </a:rPr>
              <a:t>output_student</a:t>
            </a:r>
            <a:r>
              <a:rPr lang="en-US" altLang="zh-CN" sz="1600" b="1" dirty="0">
                <a:solidFill>
                  <a:srgbClr val="3333FF"/>
                </a:solidFill>
              </a:rPr>
              <a:t>(</a:t>
            </a:r>
            <a:r>
              <a:rPr lang="en-US" altLang="zh-CN" sz="1600" b="1" dirty="0" err="1">
                <a:solidFill>
                  <a:srgbClr val="3333FF"/>
                </a:solidFill>
              </a:rPr>
              <a:t>struct</a:t>
            </a:r>
            <a:r>
              <a:rPr lang="en-US" altLang="zh-CN" sz="1600" b="1" dirty="0">
                <a:solidFill>
                  <a:srgbClr val="3333FF"/>
                </a:solidFill>
              </a:rPr>
              <a:t> student stu1[ ])</a:t>
            </a:r>
          </a:p>
          <a:p>
            <a:r>
              <a:rPr lang="en-US" altLang="zh-CN" sz="1600" b="1" dirty="0">
                <a:solidFill>
                  <a:srgbClr val="3333FF"/>
                </a:solidFill>
              </a:rPr>
              <a:t>{</a:t>
            </a:r>
          </a:p>
          <a:p>
            <a:r>
              <a:rPr lang="en-US" altLang="zh-CN" sz="1600" b="1" dirty="0">
                <a:solidFill>
                  <a:srgbClr val="3333FF"/>
                </a:solidFill>
              </a:rPr>
              <a:t>    </a:t>
            </a:r>
            <a:r>
              <a:rPr lang="en-US" altLang="zh-CN" sz="1600" b="1" dirty="0" err="1">
                <a:solidFill>
                  <a:srgbClr val="3333FF"/>
                </a:solidFill>
              </a:rPr>
              <a:t>struct</a:t>
            </a:r>
            <a:r>
              <a:rPr lang="en-US" altLang="zh-CN" sz="1600" b="1" dirty="0">
                <a:solidFill>
                  <a:srgbClr val="3333FF"/>
                </a:solidFill>
              </a:rPr>
              <a:t> student *p;     /* </a:t>
            </a:r>
            <a:r>
              <a:rPr lang="zh-CN" altLang="en-US" sz="1600" b="1" dirty="0">
                <a:solidFill>
                  <a:srgbClr val="3333FF"/>
                </a:solidFill>
              </a:rPr>
              <a:t>用指针来遍历结构体数组的各个元素 *</a:t>
            </a:r>
            <a:r>
              <a:rPr lang="en-US" altLang="zh-CN" sz="1600" b="1" dirty="0">
                <a:solidFill>
                  <a:srgbClr val="3333FF"/>
                </a:solidFill>
              </a:rPr>
              <a:t>/</a:t>
            </a:r>
          </a:p>
          <a:p>
            <a:r>
              <a:rPr lang="en-US" altLang="zh-CN" sz="1600" b="1" dirty="0">
                <a:solidFill>
                  <a:srgbClr val="3333FF"/>
                </a:solidFill>
              </a:rPr>
              <a:t>    for(p = stu1; p &lt; stu1+3; p++)</a:t>
            </a:r>
          </a:p>
          <a:p>
            <a:r>
              <a:rPr lang="en-US" altLang="zh-CN" sz="1600" b="1" dirty="0">
                <a:solidFill>
                  <a:srgbClr val="3333FF"/>
                </a:solidFill>
              </a:rPr>
              <a:t>        </a:t>
            </a:r>
            <a:r>
              <a:rPr lang="en-US" altLang="zh-CN" sz="1600" b="1" dirty="0" err="1">
                <a:solidFill>
                  <a:srgbClr val="3333FF"/>
                </a:solidFill>
              </a:rPr>
              <a:t>printf</a:t>
            </a:r>
            <a:r>
              <a:rPr lang="en-US" altLang="zh-CN" sz="1600" b="1" dirty="0">
                <a:solidFill>
                  <a:srgbClr val="3333FF"/>
                </a:solidFill>
              </a:rPr>
              <a:t>("The number %d student's score name is %s\n", p-&gt;</a:t>
            </a:r>
            <a:r>
              <a:rPr lang="en-US" altLang="zh-CN" sz="1600" b="1" dirty="0" err="1">
                <a:solidFill>
                  <a:srgbClr val="3333FF"/>
                </a:solidFill>
              </a:rPr>
              <a:t>num</a:t>
            </a:r>
            <a:r>
              <a:rPr lang="en-US" altLang="zh-CN" sz="1600" b="1" dirty="0">
                <a:solidFill>
                  <a:srgbClr val="3333FF"/>
                </a:solidFill>
              </a:rPr>
              <a:t>, p-&gt;name);</a:t>
            </a:r>
          </a:p>
          <a:p>
            <a:r>
              <a:rPr lang="en-US" altLang="zh-CN" sz="1600" b="1" dirty="0">
                <a:solidFill>
                  <a:srgbClr val="3333FF"/>
                </a:solidFill>
              </a:rPr>
              <a:t>}</a:t>
            </a:r>
          </a:p>
        </p:txBody>
      </p:sp>
    </p:spTree>
    <p:extLst>
      <p:ext uri="{BB962C8B-B14F-4D97-AF65-F5344CB8AC3E}">
        <p14:creationId xmlns:p14="http://schemas.microsoft.com/office/powerpoint/2010/main" val="24859349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2051720" y="2936082"/>
            <a:ext cx="6935438" cy="1428750"/>
          </a:xfrm>
          <a:prstGeom prst="roundRect">
            <a:avLst>
              <a:gd name="adj" fmla="val 50000"/>
            </a:avLst>
          </a:prstGeom>
          <a:noFill/>
          <a:ln w="9525">
            <a:noFill/>
            <a:round/>
          </a:ln>
          <a:effectLst/>
        </p:spPr>
        <p:txBody>
          <a:bodyPr anchor="ctr"/>
          <a:lstStyle/>
          <a:p>
            <a:pPr algn="ctr">
              <a:lnSpc>
                <a:spcPct val="90000"/>
              </a:lnSpc>
              <a:defRPr/>
            </a:pPr>
            <a:r>
              <a:rPr lang="zh-CN" altLang="en-US" sz="3600" b="1" dirty="0">
                <a:effectLst>
                  <a:outerShdw blurRad="38100" dist="38100" dir="2700000" algn="tl">
                    <a:srgbClr val="C0C0C0"/>
                  </a:outerShdw>
                </a:effectLst>
                <a:ea typeface="黑体" panose="02010609060101010101" pitchFamily="2" charset="-122"/>
              </a:rPr>
              <a:t/>
            </a:r>
            <a:br>
              <a:rPr lang="zh-CN" altLang="en-US" sz="3600" b="1" dirty="0">
                <a:effectLst>
                  <a:outerShdw blurRad="38100" dist="38100" dir="2700000" algn="tl">
                    <a:srgbClr val="C0C0C0"/>
                  </a:outerShdw>
                </a:effectLst>
                <a:ea typeface="黑体" panose="02010609060101010101" pitchFamily="2" charset="-122"/>
              </a:rPr>
            </a:br>
            <a:r>
              <a:rPr lang="en-US" altLang="zh-CN" sz="3600" b="1" dirty="0" smtClean="0">
                <a:effectLst>
                  <a:outerShdw blurRad="38100" dist="38100" dir="2700000" algn="tl">
                    <a:srgbClr val="C0C0C0"/>
                  </a:outerShdw>
                </a:effectLst>
                <a:ea typeface="黑体" panose="02010609060101010101" pitchFamily="2" charset="-122"/>
              </a:rPr>
              <a:t>6.3 </a:t>
            </a:r>
            <a:r>
              <a:rPr lang="zh-CN" altLang="en-US" sz="3600" b="1" dirty="0" smtClean="0">
                <a:effectLst>
                  <a:outerShdw blurRad="38100" dist="38100" dir="2700000" algn="tl">
                    <a:srgbClr val="C0C0C0"/>
                  </a:outerShdw>
                </a:effectLst>
                <a:ea typeface="黑体" panose="02010609060101010101" pitchFamily="2" charset="-122"/>
              </a:rPr>
              <a:t>用指针和</a:t>
            </a:r>
            <a:r>
              <a:rPr lang="zh-CN" altLang="en-US" sz="3600" b="1" dirty="0" smtClean="0">
                <a:effectLst>
                  <a:outerShdw blurRad="38100" dist="38100" dir="2700000" algn="tl">
                    <a:srgbClr val="C0C0C0"/>
                  </a:outerShdw>
                </a:effectLst>
                <a:ea typeface="黑体" panose="02010609060101010101" pitchFamily="2" charset="-122"/>
              </a:rPr>
              <a:t>结构体处理</a:t>
            </a:r>
            <a:r>
              <a:rPr lang="zh-CN" altLang="en-US" sz="3600" b="1" dirty="0" smtClean="0">
                <a:effectLst>
                  <a:outerShdw blurRad="38100" dist="38100" dir="2700000" algn="tl">
                    <a:srgbClr val="C0C0C0"/>
                  </a:outerShdw>
                </a:effectLst>
                <a:ea typeface="黑体" panose="02010609060101010101" pitchFamily="2" charset="-122"/>
              </a:rPr>
              <a:t>链表</a:t>
            </a:r>
            <a:endParaRPr lang="zh-CN" altLang="en-US" sz="36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2720543309"/>
      </p:ext>
    </p:extLst>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AutoShape 2"/>
          <p:cNvSpPr>
            <a:spLocks noGrp="1" noChangeArrowheads="1"/>
          </p:cNvSpPr>
          <p:nvPr>
            <p:ph type="title"/>
          </p:nvPr>
        </p:nvSpPr>
        <p:spPr/>
        <p:txBody>
          <a:bodyPr/>
          <a:lstStyle/>
          <a:p>
            <a:pPr eaLnBrk="1" hangingPunct="1">
              <a:defRPr/>
            </a:pPr>
            <a:r>
              <a:rPr lang="zh-CN" altLang="en-US" dirty="0" smtClean="0"/>
              <a:t>用指针和结构体处理链表</a:t>
            </a:r>
          </a:p>
        </p:txBody>
      </p:sp>
      <p:sp>
        <p:nvSpPr>
          <p:cNvPr id="2" name="内容占位符 1"/>
          <p:cNvSpPr>
            <a:spLocks noGrp="1"/>
          </p:cNvSpPr>
          <p:nvPr>
            <p:ph idx="1"/>
          </p:nvPr>
        </p:nvSpPr>
        <p:spPr>
          <a:xfrm>
            <a:off x="755650" y="1700213"/>
            <a:ext cx="7993063" cy="4969147"/>
          </a:xfrm>
        </p:spPr>
        <p:txBody>
          <a:bodyPr/>
          <a:lstStyle/>
          <a:p>
            <a:r>
              <a:rPr lang="zh-CN" altLang="en-US" sz="2400" dirty="0" smtClean="0"/>
              <a:t>当程序需要处理批量数据的时候，可以用结构体数组。可以用数组名配合下标快速地访问指定的数组元素，但是插入和删除数组元素时，需要移动大量的数组元素，同时，数组在定义时就确定了长度，使用不灵活。</a:t>
            </a:r>
            <a:endParaRPr lang="en-US" altLang="zh-CN" sz="2400" dirty="0" smtClean="0"/>
          </a:p>
          <a:p>
            <a:r>
              <a:rPr lang="zh-CN" altLang="en-US" sz="2400" dirty="0" smtClean="0">
                <a:solidFill>
                  <a:srgbClr val="FF0000"/>
                </a:solidFill>
              </a:rPr>
              <a:t>链表</a:t>
            </a:r>
            <a:r>
              <a:rPr lang="zh-CN" altLang="en-US" sz="2400" dirty="0" smtClean="0"/>
              <a:t>：完全动态地进行存储分配的一种数据结构，将结构体、指针、动态内存分配融合在一起，程序能随时根据需要申请动态分配存储空间，也可以随时释放不用的内存空间，从而使用户可以更加灵活地处理问题和使用内存。</a:t>
            </a:r>
            <a:endParaRPr lang="en-US" altLang="zh-CN" sz="2400" dirty="0" smtClean="0"/>
          </a:p>
          <a:p>
            <a:r>
              <a:rPr lang="zh-CN" altLang="en-US" sz="2400" dirty="0" smtClean="0"/>
              <a:t>链表中的各元素在内存中可以不连续存放，只是通过指针将各元素串联起来，链表可以方便地实现数据的删除和插入操作，不需要移动大量的数据。</a:t>
            </a:r>
            <a:endParaRPr lang="en-US" altLang="zh-CN" sz="2400" dirty="0" smtClean="0"/>
          </a:p>
        </p:txBody>
      </p:sp>
    </p:spTree>
    <p:extLst>
      <p:ext uri="{BB962C8B-B14F-4D97-AF65-F5344CB8AC3E}">
        <p14:creationId xmlns:p14="http://schemas.microsoft.com/office/powerpoint/2010/main" val="1576475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187624" y="2936082"/>
            <a:ext cx="6935438"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6.3.1 </a:t>
            </a:r>
            <a:r>
              <a:rPr lang="zh-CN" altLang="en-US" sz="4000" b="1" dirty="0" smtClean="0">
                <a:effectLst>
                  <a:outerShdw blurRad="38100" dist="38100" dir="2700000" algn="tl">
                    <a:srgbClr val="C0C0C0"/>
                  </a:outerShdw>
                </a:effectLst>
                <a:ea typeface="黑体" panose="02010609060101010101" pitchFamily="2" charset="-122"/>
              </a:rPr>
              <a:t>链表的概念</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3726774611"/>
      </p:ext>
    </p:extLst>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744220" y="815975"/>
            <a:ext cx="8229600" cy="739775"/>
          </a:xfrm>
          <a:noFill/>
        </p:spPr>
        <p:txBody>
          <a:bodyPr/>
          <a:lstStyle/>
          <a:p>
            <a:r>
              <a:rPr lang="zh-CN" altLang="en-US" dirty="0"/>
              <a:t>链表的概念</a:t>
            </a:r>
          </a:p>
        </p:txBody>
      </p:sp>
      <p:sp>
        <p:nvSpPr>
          <p:cNvPr id="482307" name="Rectangle 3"/>
          <p:cNvSpPr>
            <a:spLocks noGrp="1" noChangeArrowheads="1"/>
          </p:cNvSpPr>
          <p:nvPr>
            <p:ph type="body" sz="half" idx="1"/>
          </p:nvPr>
        </p:nvSpPr>
        <p:spPr>
          <a:xfrm>
            <a:off x="753110" y="1699895"/>
            <a:ext cx="8306435" cy="4968875"/>
          </a:xfrm>
          <a:noFill/>
        </p:spPr>
        <p:txBody>
          <a:bodyPr/>
          <a:lstStyle/>
          <a:p>
            <a:pPr>
              <a:lnSpc>
                <a:spcPct val="100000"/>
              </a:lnSpc>
            </a:pPr>
            <a:r>
              <a:rPr lang="zh-CN" altLang="en-US" dirty="0">
                <a:solidFill>
                  <a:srgbClr val="0066FF"/>
                </a:solidFill>
              </a:rPr>
              <a:t>链表是一种常见而重要的</a:t>
            </a:r>
            <a:r>
              <a:rPr lang="zh-CN" altLang="en-US" dirty="0">
                <a:solidFill>
                  <a:srgbClr val="FF0000"/>
                </a:solidFill>
              </a:rPr>
              <a:t>动态存储</a:t>
            </a:r>
            <a:r>
              <a:rPr lang="zh-CN" altLang="en-US" dirty="0">
                <a:solidFill>
                  <a:srgbClr val="0066FF"/>
                </a:solidFill>
              </a:rPr>
              <a:t>分布的数据结构。它由若干个同一结构类型的“结点”依次串接而成</a:t>
            </a:r>
            <a:r>
              <a:rPr lang="zh-CN" altLang="en-US" dirty="0" smtClean="0">
                <a:solidFill>
                  <a:srgbClr val="0066FF"/>
                </a:solidFill>
              </a:rPr>
              <a:t>。</a:t>
            </a:r>
            <a:endParaRPr lang="en-US" altLang="zh-CN" dirty="0" smtClean="0">
              <a:solidFill>
                <a:srgbClr val="0066FF"/>
              </a:solidFill>
            </a:endParaRPr>
          </a:p>
          <a:p>
            <a:pPr>
              <a:lnSpc>
                <a:spcPct val="80000"/>
              </a:lnSpc>
            </a:pPr>
            <a:r>
              <a:rPr lang="zh-CN" altLang="en-US" dirty="0" smtClean="0">
                <a:solidFill>
                  <a:srgbClr val="FF0000"/>
                </a:solidFill>
              </a:rPr>
              <a:t>单链表</a:t>
            </a:r>
            <a:r>
              <a:rPr lang="zh-CN" altLang="en-US" dirty="0" smtClean="0">
                <a:solidFill>
                  <a:srgbClr val="0066FF"/>
                </a:solidFill>
              </a:rPr>
              <a:t>、双链表和循环链表。</a:t>
            </a:r>
            <a:r>
              <a:rPr lang="zh-CN" altLang="en-US" dirty="0" smtClean="0"/>
              <a:t> </a:t>
            </a:r>
            <a:endParaRPr lang="en-US" altLang="zh-CN" dirty="0"/>
          </a:p>
        </p:txBody>
      </p:sp>
    </p:spTree>
    <p:extLst>
      <p:ext uri="{BB962C8B-B14F-4D97-AF65-F5344CB8AC3E}">
        <p14:creationId xmlns:p14="http://schemas.microsoft.com/office/powerpoint/2010/main" val="1772503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744220" y="815975"/>
            <a:ext cx="8229600" cy="739775"/>
          </a:xfrm>
          <a:noFill/>
        </p:spPr>
        <p:txBody>
          <a:bodyPr/>
          <a:lstStyle/>
          <a:p>
            <a:r>
              <a:rPr lang="zh-CN" altLang="en-US" dirty="0"/>
              <a:t>链表的概念</a:t>
            </a:r>
          </a:p>
        </p:txBody>
      </p:sp>
      <p:sp>
        <p:nvSpPr>
          <p:cNvPr id="482307" name="Rectangle 3"/>
          <p:cNvSpPr>
            <a:spLocks noGrp="1" noChangeArrowheads="1"/>
          </p:cNvSpPr>
          <p:nvPr>
            <p:ph type="body" sz="half" idx="1"/>
          </p:nvPr>
        </p:nvSpPr>
        <p:spPr>
          <a:xfrm>
            <a:off x="744220" y="1699895"/>
            <a:ext cx="8399780" cy="4968875"/>
          </a:xfrm>
          <a:noFill/>
        </p:spPr>
        <p:txBody>
          <a:bodyPr/>
          <a:lstStyle/>
          <a:p>
            <a:pPr>
              <a:lnSpc>
                <a:spcPct val="80000"/>
              </a:lnSpc>
            </a:pPr>
            <a:r>
              <a:rPr lang="zh-CN" altLang="en-US" sz="2400" dirty="0" smtClean="0">
                <a:solidFill>
                  <a:srgbClr val="0066FF"/>
                </a:solidFill>
              </a:rPr>
              <a:t>单链表结构：头指针</a:t>
            </a:r>
            <a:r>
              <a:rPr lang="en-US" altLang="zh-CN" sz="2400" dirty="0" smtClean="0">
                <a:solidFill>
                  <a:srgbClr val="0066FF"/>
                </a:solidFill>
              </a:rPr>
              <a:t>+</a:t>
            </a:r>
            <a:r>
              <a:rPr lang="zh-CN" altLang="en-US" sz="2400" dirty="0" smtClean="0">
                <a:solidFill>
                  <a:srgbClr val="0066FF"/>
                </a:solidFill>
              </a:rPr>
              <a:t>结点</a:t>
            </a:r>
            <a:endParaRPr lang="en-US" altLang="zh-CN" sz="2400" dirty="0" smtClean="0">
              <a:solidFill>
                <a:srgbClr val="0066FF"/>
              </a:solidFill>
            </a:endParaRPr>
          </a:p>
          <a:p>
            <a:pPr>
              <a:lnSpc>
                <a:spcPct val="80000"/>
              </a:lnSpc>
            </a:pPr>
            <a:r>
              <a:rPr lang="zh-CN" altLang="en-US" sz="2400" dirty="0">
                <a:solidFill>
                  <a:srgbClr val="0066FF"/>
                </a:solidFill>
              </a:rPr>
              <a:t>头</a:t>
            </a:r>
            <a:r>
              <a:rPr lang="zh-CN" altLang="en-US" sz="2400" dirty="0" smtClean="0">
                <a:solidFill>
                  <a:srgbClr val="0066FF"/>
                </a:solidFill>
              </a:rPr>
              <a:t>指针</a:t>
            </a:r>
            <a:endParaRPr lang="en-US" altLang="zh-CN" sz="2400" dirty="0" smtClean="0">
              <a:solidFill>
                <a:srgbClr val="0066FF"/>
              </a:solidFill>
            </a:endParaRPr>
          </a:p>
          <a:p>
            <a:pPr lvl="1">
              <a:lnSpc>
                <a:spcPct val="80000"/>
              </a:lnSpc>
            </a:pPr>
            <a:r>
              <a:rPr lang="zh-CN" altLang="en-US" sz="2000" dirty="0" smtClean="0">
                <a:solidFill>
                  <a:srgbClr val="0066FF"/>
                </a:solidFill>
              </a:rPr>
              <a:t>存放头结点</a:t>
            </a:r>
            <a:r>
              <a:rPr lang="en-US" altLang="zh-CN" sz="2000" dirty="0" smtClean="0">
                <a:solidFill>
                  <a:srgbClr val="0066FF"/>
                </a:solidFill>
              </a:rPr>
              <a:t>A</a:t>
            </a:r>
            <a:r>
              <a:rPr lang="zh-CN" altLang="en-US" sz="2000" dirty="0" smtClean="0">
                <a:solidFill>
                  <a:srgbClr val="0066FF"/>
                </a:solidFill>
              </a:rPr>
              <a:t>的地址，即头指针指向头结点</a:t>
            </a:r>
            <a:r>
              <a:rPr lang="en-US" altLang="zh-CN" sz="2000" dirty="0" smtClean="0">
                <a:solidFill>
                  <a:srgbClr val="0066FF"/>
                </a:solidFill>
              </a:rPr>
              <a:t>A</a:t>
            </a:r>
          </a:p>
          <a:p>
            <a:pPr>
              <a:lnSpc>
                <a:spcPct val="80000"/>
              </a:lnSpc>
            </a:pPr>
            <a:r>
              <a:rPr lang="zh-CN" altLang="en-US" sz="2400" dirty="0" smtClean="0">
                <a:solidFill>
                  <a:srgbClr val="0066FF"/>
                </a:solidFill>
              </a:rPr>
              <a:t>结点</a:t>
            </a:r>
            <a:endParaRPr lang="en-US" altLang="zh-CN" sz="2400" dirty="0" smtClean="0">
              <a:solidFill>
                <a:srgbClr val="0066FF"/>
              </a:solidFill>
            </a:endParaRPr>
          </a:p>
          <a:p>
            <a:pPr lvl="1">
              <a:lnSpc>
                <a:spcPct val="80000"/>
              </a:lnSpc>
            </a:pPr>
            <a:r>
              <a:rPr lang="zh-CN" altLang="en-US" sz="2000" dirty="0" smtClean="0">
                <a:solidFill>
                  <a:srgbClr val="0066FF"/>
                </a:solidFill>
              </a:rPr>
              <a:t>同类型的结构体变量</a:t>
            </a:r>
            <a:endParaRPr lang="en-US" altLang="zh-CN" sz="2000" dirty="0" smtClean="0">
              <a:solidFill>
                <a:srgbClr val="0066FF"/>
              </a:solidFill>
            </a:endParaRPr>
          </a:p>
          <a:p>
            <a:pPr lvl="1">
              <a:lnSpc>
                <a:spcPct val="80000"/>
              </a:lnSpc>
            </a:pPr>
            <a:r>
              <a:rPr lang="zh-CN" altLang="en-US" sz="2000" dirty="0">
                <a:solidFill>
                  <a:srgbClr val="0066FF"/>
                </a:solidFill>
              </a:rPr>
              <a:t>数据</a:t>
            </a:r>
            <a:r>
              <a:rPr lang="zh-CN" altLang="en-US" sz="2000" dirty="0" smtClean="0">
                <a:solidFill>
                  <a:srgbClr val="0066FF"/>
                </a:solidFill>
              </a:rPr>
              <a:t>域：存储本结点的数据</a:t>
            </a:r>
            <a:endParaRPr lang="en-US" altLang="zh-CN" sz="2000" dirty="0">
              <a:solidFill>
                <a:srgbClr val="0066FF"/>
              </a:solidFill>
            </a:endParaRPr>
          </a:p>
          <a:p>
            <a:pPr lvl="1">
              <a:lnSpc>
                <a:spcPct val="80000"/>
              </a:lnSpc>
            </a:pPr>
            <a:r>
              <a:rPr lang="zh-CN" altLang="en-US" sz="2000" dirty="0" smtClean="0">
                <a:solidFill>
                  <a:srgbClr val="0066FF"/>
                </a:solidFill>
              </a:rPr>
              <a:t>指针域：存储下一个结点的地址，即指向下一个结点的指针</a:t>
            </a:r>
            <a:endParaRPr lang="en-US" altLang="zh-CN" sz="2000" dirty="0" smtClean="0">
              <a:solidFill>
                <a:srgbClr val="0066FF"/>
              </a:solidFill>
            </a:endParaRPr>
          </a:p>
          <a:p>
            <a:pPr lvl="1">
              <a:lnSpc>
                <a:spcPct val="80000"/>
              </a:lnSpc>
            </a:pPr>
            <a:r>
              <a:rPr lang="zh-CN" altLang="en-US" sz="2000" dirty="0" smtClean="0">
                <a:solidFill>
                  <a:srgbClr val="0066FF"/>
                </a:solidFill>
              </a:rPr>
              <a:t>尾结点：不再指向任何结点，指针域置为</a:t>
            </a:r>
            <a:r>
              <a:rPr lang="en-US" altLang="zh-CN" sz="2000" dirty="0" smtClean="0">
                <a:solidFill>
                  <a:srgbClr val="0066FF"/>
                </a:solidFill>
              </a:rPr>
              <a:t>NULL</a:t>
            </a:r>
          </a:p>
          <a:p>
            <a:pPr>
              <a:lnSpc>
                <a:spcPct val="80000"/>
              </a:lnSpc>
            </a:pPr>
            <a:endParaRPr lang="en-US" altLang="zh-CN" sz="2400" dirty="0" smtClean="0">
              <a:solidFill>
                <a:srgbClr val="0066FF"/>
              </a:solidFill>
            </a:endParaRPr>
          </a:p>
          <a:p>
            <a:pPr>
              <a:lnSpc>
                <a:spcPct val="80000"/>
              </a:lnSpc>
            </a:pPr>
            <a:endParaRPr lang="en-US" altLang="zh-CN" sz="2400" dirty="0"/>
          </a:p>
        </p:txBody>
      </p:sp>
      <p:grpSp>
        <p:nvGrpSpPr>
          <p:cNvPr id="482323" name="Group 19"/>
          <p:cNvGrpSpPr/>
          <p:nvPr/>
        </p:nvGrpSpPr>
        <p:grpSpPr bwMode="auto">
          <a:xfrm>
            <a:off x="757350" y="4509120"/>
            <a:ext cx="8281987" cy="2016125"/>
            <a:chOff x="249" y="2251"/>
            <a:chExt cx="5217" cy="1270"/>
          </a:xfrm>
        </p:grpSpPr>
        <p:graphicFrame>
          <p:nvGraphicFramePr>
            <p:cNvPr id="482308" name="Object 4"/>
            <p:cNvGraphicFramePr>
              <a:graphicFrameLocks noChangeAspect="1"/>
            </p:cNvGraphicFramePr>
            <p:nvPr/>
          </p:nvGraphicFramePr>
          <p:xfrm>
            <a:off x="295" y="2251"/>
            <a:ext cx="5171" cy="553"/>
          </p:xfrm>
          <a:graphic>
            <a:graphicData uri="http://schemas.openxmlformats.org/presentationml/2006/ole">
              <mc:AlternateContent xmlns:mc="http://schemas.openxmlformats.org/markup-compatibility/2006">
                <mc:Choice xmlns:v="urn:schemas-microsoft-com:vml" Requires="v">
                  <p:oleObj spid="_x0000_s3607" name="位图图像" r:id="rId3" imgW="4686300" imgH="419100" progId="Paint.Picture">
                    <p:embed/>
                  </p:oleObj>
                </mc:Choice>
                <mc:Fallback>
                  <p:oleObj name="位图图像" r:id="rId3" imgW="4686300" imgH="419100" progId="Paint.Picture">
                    <p:embed/>
                    <p:pic>
                      <p:nvPicPr>
                        <p:cNvPr id="0" name="图片 20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 y="2251"/>
                          <a:ext cx="5171"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2310" name="Text Box 6"/>
            <p:cNvSpPr txBox="1">
              <a:spLocks noChangeArrowheads="1"/>
            </p:cNvSpPr>
            <p:nvPr/>
          </p:nvSpPr>
          <p:spPr bwMode="auto">
            <a:xfrm>
              <a:off x="249" y="3187"/>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zh-CN" altLang="en-US" sz="2400" b="1">
                  <a:solidFill>
                    <a:srgbClr val="0000CC"/>
                  </a:solidFill>
                </a:rPr>
                <a:t>头指针</a:t>
              </a:r>
            </a:p>
          </p:txBody>
        </p:sp>
        <p:sp>
          <p:nvSpPr>
            <p:cNvPr id="482311" name="Text Box 7"/>
            <p:cNvSpPr txBox="1">
              <a:spLocks noChangeArrowheads="1"/>
            </p:cNvSpPr>
            <p:nvPr/>
          </p:nvSpPr>
          <p:spPr bwMode="auto">
            <a:xfrm>
              <a:off x="2469" y="3233"/>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zh-CN" altLang="en-US" sz="2400" b="1">
                  <a:solidFill>
                    <a:srgbClr val="0000CC"/>
                  </a:solidFill>
                </a:rPr>
                <a:t>结点</a:t>
              </a:r>
            </a:p>
          </p:txBody>
        </p:sp>
        <p:sp>
          <p:nvSpPr>
            <p:cNvPr id="482312" name="Text Box 8"/>
            <p:cNvSpPr txBox="1">
              <a:spLocks noChangeArrowheads="1"/>
            </p:cNvSpPr>
            <p:nvPr/>
          </p:nvSpPr>
          <p:spPr bwMode="auto">
            <a:xfrm>
              <a:off x="4649" y="3203"/>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zh-CN" altLang="en-US" sz="2400" b="1">
                  <a:solidFill>
                    <a:srgbClr val="0000CC"/>
                  </a:solidFill>
                </a:rPr>
                <a:t>尾结点</a:t>
              </a:r>
            </a:p>
          </p:txBody>
        </p:sp>
        <p:sp>
          <p:nvSpPr>
            <p:cNvPr id="482314" name="Line 10"/>
            <p:cNvSpPr>
              <a:spLocks noChangeShapeType="1"/>
            </p:cNvSpPr>
            <p:nvPr/>
          </p:nvSpPr>
          <p:spPr bwMode="auto">
            <a:xfrm flipV="1">
              <a:off x="521" y="2659"/>
              <a:ext cx="0" cy="499"/>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482315" name="Line 11"/>
            <p:cNvSpPr>
              <a:spLocks noChangeShapeType="1"/>
            </p:cNvSpPr>
            <p:nvPr/>
          </p:nvSpPr>
          <p:spPr bwMode="auto">
            <a:xfrm flipV="1">
              <a:off x="2699" y="2749"/>
              <a:ext cx="0" cy="499"/>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482316" name="Line 12"/>
            <p:cNvSpPr>
              <a:spLocks noChangeShapeType="1"/>
            </p:cNvSpPr>
            <p:nvPr/>
          </p:nvSpPr>
          <p:spPr bwMode="auto">
            <a:xfrm flipV="1">
              <a:off x="4921" y="2749"/>
              <a:ext cx="0" cy="499"/>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482317" name="Line 13"/>
            <p:cNvSpPr>
              <a:spLocks noChangeShapeType="1"/>
            </p:cNvSpPr>
            <p:nvPr/>
          </p:nvSpPr>
          <p:spPr bwMode="auto">
            <a:xfrm flipH="1" flipV="1">
              <a:off x="1474" y="2795"/>
              <a:ext cx="1088" cy="453"/>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482318" name="Line 14"/>
            <p:cNvSpPr>
              <a:spLocks noChangeShapeType="1"/>
            </p:cNvSpPr>
            <p:nvPr/>
          </p:nvSpPr>
          <p:spPr bwMode="auto">
            <a:xfrm flipV="1">
              <a:off x="2835" y="2749"/>
              <a:ext cx="952" cy="499"/>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482319" name="Line 15"/>
            <p:cNvSpPr>
              <a:spLocks noChangeShapeType="1"/>
            </p:cNvSpPr>
            <p:nvPr/>
          </p:nvSpPr>
          <p:spPr bwMode="auto">
            <a:xfrm flipV="1">
              <a:off x="2971" y="2749"/>
              <a:ext cx="1859" cy="545"/>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482321" name="Text Box 17"/>
            <p:cNvSpPr txBox="1">
              <a:spLocks noChangeArrowheads="1"/>
            </p:cNvSpPr>
            <p:nvPr/>
          </p:nvSpPr>
          <p:spPr bwMode="auto">
            <a:xfrm>
              <a:off x="1142" y="3233"/>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zh-CN" altLang="en-US" sz="2400" b="1">
                  <a:solidFill>
                    <a:srgbClr val="0000CC"/>
                  </a:solidFill>
                </a:rPr>
                <a:t>头结点</a:t>
              </a:r>
            </a:p>
          </p:txBody>
        </p:sp>
        <p:sp>
          <p:nvSpPr>
            <p:cNvPr id="482322" name="Line 18"/>
            <p:cNvSpPr>
              <a:spLocks noChangeShapeType="1"/>
            </p:cNvSpPr>
            <p:nvPr/>
          </p:nvSpPr>
          <p:spPr bwMode="auto">
            <a:xfrm flipV="1">
              <a:off x="1414" y="2779"/>
              <a:ext cx="0" cy="499"/>
            </a:xfrm>
            <a:prstGeom prst="line">
              <a:avLst/>
            </a:prstGeom>
            <a:noFill/>
            <a:ln w="25400">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单链表</a:t>
            </a:r>
            <a:endParaRPr lang="zh-CN" altLang="en-US" dirty="0"/>
          </a:p>
        </p:txBody>
      </p:sp>
      <p:sp>
        <p:nvSpPr>
          <p:cNvPr id="10" name="内容占位符 9"/>
          <p:cNvSpPr>
            <a:spLocks noGrp="1"/>
          </p:cNvSpPr>
          <p:nvPr>
            <p:ph idx="1"/>
          </p:nvPr>
        </p:nvSpPr>
        <p:spPr>
          <a:xfrm>
            <a:off x="755650" y="1700213"/>
            <a:ext cx="7993063" cy="2952923"/>
          </a:xfrm>
        </p:spPr>
        <p:txBody>
          <a:bodyPr/>
          <a:lstStyle/>
          <a:p>
            <a:r>
              <a:rPr lang="zh-CN" altLang="en-US" dirty="0" smtClean="0"/>
              <a:t>单链表的节点结构如下：</a:t>
            </a:r>
            <a:endParaRPr lang="en-US" altLang="zh-CN" dirty="0" smtClean="0"/>
          </a:p>
          <a:p>
            <a:pPr lvl="1"/>
            <a:r>
              <a:rPr lang="zh-CN" altLang="en-US" dirty="0"/>
              <a:t>数据</a:t>
            </a:r>
            <a:r>
              <a:rPr lang="zh-CN" altLang="en-US" dirty="0" smtClean="0"/>
              <a:t>域：存放本节点的数据，可以有多个</a:t>
            </a:r>
            <a:endParaRPr lang="en-US" altLang="zh-CN" dirty="0" smtClean="0"/>
          </a:p>
          <a:p>
            <a:pPr lvl="1"/>
            <a:r>
              <a:rPr lang="zh-CN" altLang="en-US" dirty="0" smtClean="0"/>
              <a:t>指针域：指向下一个节点的指针</a:t>
            </a:r>
            <a:endParaRPr lang="en-US" altLang="zh-CN" dirty="0"/>
          </a:p>
          <a:p>
            <a:pPr lvl="1"/>
            <a:endParaRPr lang="zh-CN" altLang="en-US" dirty="0"/>
          </a:p>
        </p:txBody>
      </p:sp>
      <p:sp>
        <p:nvSpPr>
          <p:cNvPr id="6" name="TextBox 5"/>
          <p:cNvSpPr txBox="1"/>
          <p:nvPr/>
        </p:nvSpPr>
        <p:spPr>
          <a:xfrm>
            <a:off x="2699792" y="3212976"/>
            <a:ext cx="936104" cy="274320"/>
          </a:xfrm>
          <a:prstGeom prst="rect">
            <a:avLst/>
          </a:prstGeom>
          <a:noFill/>
        </p:spPr>
        <p:txBody>
          <a:bodyPr wrap="square" rtlCol="0">
            <a:spAutoFit/>
          </a:bodyPr>
          <a:lstStyle/>
          <a:p>
            <a:r>
              <a:rPr lang="zh-CN" altLang="en-US" dirty="0" smtClean="0"/>
              <a:t>数据域</a:t>
            </a:r>
            <a:endParaRPr lang="zh-CN" altLang="en-US" dirty="0"/>
          </a:p>
        </p:txBody>
      </p:sp>
      <p:sp>
        <p:nvSpPr>
          <p:cNvPr id="7" name="TextBox 6"/>
          <p:cNvSpPr txBox="1"/>
          <p:nvPr/>
        </p:nvSpPr>
        <p:spPr>
          <a:xfrm>
            <a:off x="3779912" y="3212976"/>
            <a:ext cx="936104" cy="274320"/>
          </a:xfrm>
          <a:prstGeom prst="rect">
            <a:avLst/>
          </a:prstGeom>
          <a:noFill/>
        </p:spPr>
        <p:txBody>
          <a:bodyPr wrap="square" rtlCol="0">
            <a:spAutoFit/>
          </a:bodyPr>
          <a:lstStyle/>
          <a:p>
            <a:r>
              <a:rPr lang="zh-CN" altLang="en-US" dirty="0" smtClean="0"/>
              <a:t>指针域</a:t>
            </a:r>
            <a:endParaRPr lang="zh-CN" altLang="en-US" dirty="0"/>
          </a:p>
        </p:txBody>
      </p:sp>
      <p:cxnSp>
        <p:nvCxnSpPr>
          <p:cNvPr id="8" name="直接箭头连接符 7"/>
          <p:cNvCxnSpPr/>
          <p:nvPr/>
        </p:nvCxnSpPr>
        <p:spPr>
          <a:xfrm>
            <a:off x="2987824" y="3501008"/>
            <a:ext cx="0" cy="36004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直接箭头连接符 8"/>
          <p:cNvCxnSpPr/>
          <p:nvPr/>
        </p:nvCxnSpPr>
        <p:spPr>
          <a:xfrm>
            <a:off x="4067944" y="3504021"/>
            <a:ext cx="0" cy="36004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aphicFrame>
        <p:nvGraphicFramePr>
          <p:cNvPr id="11" name="Group 74"/>
          <p:cNvGraphicFramePr/>
          <p:nvPr>
            <p:extLst>
              <p:ext uri="{D42A27DB-BD31-4B8C-83A1-F6EECF244321}">
                <p14:modId xmlns:p14="http://schemas.microsoft.com/office/powerpoint/2010/main" val="3266333594"/>
              </p:ext>
            </p:extLst>
          </p:nvPr>
        </p:nvGraphicFramePr>
        <p:xfrm>
          <a:off x="2555776" y="3861048"/>
          <a:ext cx="2016224" cy="519113"/>
        </p:xfrm>
        <a:graphic>
          <a:graphicData uri="http://schemas.openxmlformats.org/drawingml/2006/table">
            <a:tbl>
              <a:tblPr/>
              <a:tblGrid>
                <a:gridCol w="936103">
                  <a:extLst>
                    <a:ext uri="{9D8B030D-6E8A-4147-A177-3AD203B41FA5}">
                      <a16:colId xmlns:a16="http://schemas.microsoft.com/office/drawing/2014/main" val="20000"/>
                    </a:ext>
                  </a:extLst>
                </a:gridCol>
                <a:gridCol w="1080121">
                  <a:extLst>
                    <a:ext uri="{9D8B030D-6E8A-4147-A177-3AD203B41FA5}">
                      <a16:colId xmlns:a16="http://schemas.microsoft.com/office/drawing/2014/main" val="20001"/>
                    </a:ext>
                  </a:extLst>
                </a:gridCol>
              </a:tblGrid>
              <a:tr h="519113">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data</a:t>
                      </a:r>
                    </a:p>
                  </a:txBody>
                  <a:tcPr marL="92075" marR="92075" marT="46066" marB="4606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next</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2075" marR="92075" marT="46066" marB="4606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187624" y="2936082"/>
            <a:ext cx="6935438"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en-US" altLang="zh-CN" sz="4000" b="1" dirty="0" smtClean="0">
                <a:effectLst>
                  <a:outerShdw blurRad="38100" dist="38100" dir="2700000" algn="tl">
                    <a:srgbClr val="C0C0C0"/>
                  </a:outerShdw>
                </a:effectLst>
                <a:ea typeface="黑体" panose="02010609060101010101" pitchFamily="2" charset="-122"/>
              </a:rPr>
              <a:t>6.3.2 </a:t>
            </a:r>
            <a:r>
              <a:rPr lang="zh-CN" altLang="en-US" sz="4000" b="1" dirty="0" smtClean="0">
                <a:effectLst>
                  <a:outerShdw blurRad="38100" dist="38100" dir="2700000" algn="tl">
                    <a:srgbClr val="C0C0C0"/>
                  </a:outerShdw>
                </a:effectLst>
                <a:ea typeface="黑体" panose="02010609060101010101" pitchFamily="2" charset="-122"/>
              </a:rPr>
              <a:t>建立链表</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3880176796"/>
      </p:ext>
    </p:extLst>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建立链表</a:t>
            </a:r>
            <a:endParaRPr lang="zh-CN" altLang="en-US" dirty="0"/>
          </a:p>
        </p:txBody>
      </p:sp>
      <p:sp>
        <p:nvSpPr>
          <p:cNvPr id="10" name="内容占位符 9"/>
          <p:cNvSpPr>
            <a:spLocks noGrp="1"/>
          </p:cNvSpPr>
          <p:nvPr>
            <p:ph idx="1"/>
          </p:nvPr>
        </p:nvSpPr>
        <p:spPr>
          <a:xfrm>
            <a:off x="787036" y="3861048"/>
            <a:ext cx="7993063" cy="2592288"/>
          </a:xfrm>
        </p:spPr>
        <p:txBody>
          <a:bodyPr/>
          <a:lstStyle/>
          <a:p>
            <a:pPr marL="271780" lvl="1" indent="0">
              <a:buNone/>
            </a:pPr>
            <a:r>
              <a:rPr lang="zh-CN" altLang="en-US" dirty="0" smtClean="0"/>
              <a:t>例如：简单的学生信息节点类型：</a:t>
            </a:r>
            <a:endParaRPr lang="en-US" altLang="zh-CN" dirty="0" smtClean="0"/>
          </a:p>
          <a:p>
            <a:pPr marL="271780" lvl="1" indent="0">
              <a:buNone/>
            </a:pPr>
            <a:r>
              <a:rPr lang="en-US" altLang="zh-CN" sz="1600" dirty="0" smtClean="0"/>
              <a:t>struct </a:t>
            </a:r>
            <a:r>
              <a:rPr lang="en-US" altLang="zh-CN" sz="1600" dirty="0"/>
              <a:t>stu_node</a:t>
            </a:r>
          </a:p>
          <a:p>
            <a:pPr marL="271780" lvl="1" indent="0">
              <a:buNone/>
            </a:pPr>
            <a:r>
              <a:rPr lang="en-US" altLang="zh-CN" sz="1600" dirty="0"/>
              <a:t>{</a:t>
            </a:r>
          </a:p>
          <a:p>
            <a:pPr marL="271780" lvl="1" indent="0">
              <a:buNone/>
            </a:pPr>
            <a:r>
              <a:rPr lang="en-US" altLang="zh-CN" sz="1600" dirty="0"/>
              <a:t>	int num;</a:t>
            </a:r>
          </a:p>
          <a:p>
            <a:pPr marL="271780" lvl="1" indent="0">
              <a:buNone/>
            </a:pPr>
            <a:r>
              <a:rPr lang="en-US" altLang="zh-CN" sz="1600" dirty="0"/>
              <a:t>	char tel[11];</a:t>
            </a:r>
          </a:p>
          <a:p>
            <a:pPr marL="271780" lvl="1" indent="0">
              <a:buNone/>
            </a:pPr>
            <a:r>
              <a:rPr lang="en-US" altLang="zh-CN" sz="1600" dirty="0"/>
              <a:t>	struct stu_node *next;	//</a:t>
            </a:r>
            <a:r>
              <a:rPr lang="zh-CN" altLang="en-US" sz="1600" dirty="0"/>
              <a:t>指向下一个结点（也是此结构体类型）的指针</a:t>
            </a:r>
          </a:p>
          <a:p>
            <a:pPr marL="271780" lvl="1" indent="0">
              <a:buNone/>
            </a:pPr>
            <a:r>
              <a:rPr lang="en-US" altLang="zh-CN" sz="1600" dirty="0" smtClean="0"/>
              <a:t>}</a:t>
            </a:r>
            <a:r>
              <a:rPr lang="en-US" altLang="zh-CN" sz="1600" dirty="0"/>
              <a:t>;</a:t>
            </a:r>
            <a:endParaRPr lang="zh-CN" altLang="en-US" dirty="0"/>
          </a:p>
        </p:txBody>
      </p:sp>
      <p:sp>
        <p:nvSpPr>
          <p:cNvPr id="12" name="内容占位符 9"/>
          <p:cNvSpPr txBox="1">
            <a:spLocks/>
          </p:cNvSpPr>
          <p:nvPr/>
        </p:nvSpPr>
        <p:spPr bwMode="auto">
          <a:xfrm>
            <a:off x="778906" y="1700809"/>
            <a:ext cx="811357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kern="0" dirty="0" smtClean="0"/>
              <a:t>定义链表的结点类型</a:t>
            </a:r>
            <a:endParaRPr lang="en-US" altLang="zh-CN" kern="0" dirty="0" smtClean="0"/>
          </a:p>
          <a:p>
            <a:pPr lvl="1"/>
            <a:r>
              <a:rPr lang="zh-CN" altLang="en-US" kern="0" dirty="0" smtClean="0">
                <a:solidFill>
                  <a:srgbClr val="FF0000"/>
                </a:solidFill>
              </a:rPr>
              <a:t>结点类型</a:t>
            </a:r>
            <a:r>
              <a:rPr lang="zh-CN" altLang="en-US" kern="0" dirty="0" smtClean="0"/>
              <a:t>必须定义为</a:t>
            </a:r>
            <a:r>
              <a:rPr lang="zh-CN" altLang="en-US" kern="0" dirty="0" smtClean="0">
                <a:solidFill>
                  <a:srgbClr val="FF0000"/>
                </a:solidFill>
              </a:rPr>
              <a:t>结构体类型</a:t>
            </a:r>
            <a:r>
              <a:rPr lang="zh-CN" altLang="en-US" kern="0" dirty="0" smtClean="0"/>
              <a:t>，且该结构体的数据域包含用户需要处理的数据成员</a:t>
            </a:r>
            <a:endParaRPr lang="en-US" altLang="zh-CN" kern="0" dirty="0" smtClean="0"/>
          </a:p>
          <a:p>
            <a:pPr lvl="1"/>
            <a:r>
              <a:rPr lang="zh-CN" altLang="en-US" kern="0" dirty="0" smtClean="0"/>
              <a:t>指针域为指向下一个结点的指针变量</a:t>
            </a:r>
            <a:endParaRPr lang="zh-CN" altLang="en-US" kern="0" dirty="0"/>
          </a:p>
        </p:txBody>
      </p:sp>
    </p:spTree>
    <p:extLst>
      <p:ext uri="{BB962C8B-B14F-4D97-AF65-F5344CB8AC3E}">
        <p14:creationId xmlns:p14="http://schemas.microsoft.com/office/powerpoint/2010/main" val="3334581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建立链表</a:t>
            </a:r>
            <a:endParaRPr lang="zh-CN" altLang="en-US" dirty="0"/>
          </a:p>
        </p:txBody>
      </p:sp>
      <p:sp>
        <p:nvSpPr>
          <p:cNvPr id="12" name="内容占位符 9"/>
          <p:cNvSpPr txBox="1">
            <a:spLocks/>
          </p:cNvSpPr>
          <p:nvPr/>
        </p:nvSpPr>
        <p:spPr bwMode="auto">
          <a:xfrm>
            <a:off x="778906" y="1700809"/>
            <a:ext cx="811357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endParaRPr lang="zh-CN" altLang="en-US" kern="0" dirty="0"/>
          </a:p>
        </p:txBody>
      </p:sp>
      <p:sp>
        <p:nvSpPr>
          <p:cNvPr id="2" name="内容占位符 1"/>
          <p:cNvSpPr>
            <a:spLocks noGrp="1"/>
          </p:cNvSpPr>
          <p:nvPr>
            <p:ph idx="1"/>
          </p:nvPr>
        </p:nvSpPr>
        <p:spPr>
          <a:xfrm>
            <a:off x="755650" y="1700213"/>
            <a:ext cx="7993063" cy="720675"/>
          </a:xfrm>
        </p:spPr>
        <p:txBody>
          <a:bodyPr/>
          <a:lstStyle/>
          <a:p>
            <a:r>
              <a:rPr lang="zh-CN" altLang="en-US" dirty="0" smtClean="0"/>
              <a:t>定义结点变量（指向结点的指针变量）</a:t>
            </a:r>
            <a:endParaRPr lang="zh-CN" altLang="en-US" dirty="0"/>
          </a:p>
        </p:txBody>
      </p:sp>
      <p:sp>
        <p:nvSpPr>
          <p:cNvPr id="6" name="内容占位符 9"/>
          <p:cNvSpPr txBox="1">
            <a:spLocks/>
          </p:cNvSpPr>
          <p:nvPr/>
        </p:nvSpPr>
        <p:spPr bwMode="auto">
          <a:xfrm>
            <a:off x="687387" y="2132856"/>
            <a:ext cx="7993063"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pPr marL="271780" lvl="1" indent="0">
              <a:buFont typeface="Wingdings" panose="05000000000000000000" pitchFamily="2" charset="2"/>
              <a:buNone/>
            </a:pPr>
            <a:r>
              <a:rPr lang="en-US" altLang="zh-CN" sz="1600" kern="0" dirty="0" err="1" smtClean="0"/>
              <a:t>struct</a:t>
            </a:r>
            <a:r>
              <a:rPr lang="en-US" altLang="zh-CN" sz="1600" kern="0" dirty="0" smtClean="0"/>
              <a:t> </a:t>
            </a:r>
            <a:r>
              <a:rPr lang="en-US" altLang="zh-CN" sz="1600" kern="0" dirty="0" err="1" smtClean="0"/>
              <a:t>stu_node</a:t>
            </a:r>
            <a:endParaRPr lang="en-US" altLang="zh-CN" sz="1600" kern="0" dirty="0" smtClean="0"/>
          </a:p>
          <a:p>
            <a:pPr marL="271780" lvl="1" indent="0">
              <a:buFont typeface="Wingdings" panose="05000000000000000000" pitchFamily="2" charset="2"/>
              <a:buNone/>
            </a:pPr>
            <a:r>
              <a:rPr lang="en-US" altLang="zh-CN" sz="1600" kern="0" dirty="0" smtClean="0"/>
              <a:t>{</a:t>
            </a:r>
          </a:p>
          <a:p>
            <a:pPr marL="271780" lvl="1" indent="0">
              <a:buFont typeface="Wingdings" panose="05000000000000000000" pitchFamily="2" charset="2"/>
              <a:buNone/>
            </a:pPr>
            <a:r>
              <a:rPr lang="en-US" altLang="zh-CN" sz="1600" kern="0" dirty="0" smtClean="0"/>
              <a:t>	</a:t>
            </a:r>
            <a:r>
              <a:rPr lang="en-US" altLang="zh-CN" sz="1600" kern="0" dirty="0" err="1" smtClean="0"/>
              <a:t>int</a:t>
            </a:r>
            <a:r>
              <a:rPr lang="en-US" altLang="zh-CN" sz="1600" kern="0" dirty="0" smtClean="0"/>
              <a:t> </a:t>
            </a:r>
            <a:r>
              <a:rPr lang="en-US" altLang="zh-CN" sz="1600" kern="0" dirty="0" err="1" smtClean="0"/>
              <a:t>num</a:t>
            </a:r>
            <a:r>
              <a:rPr lang="en-US" altLang="zh-CN" sz="1600" kern="0" dirty="0" smtClean="0"/>
              <a:t>;</a:t>
            </a:r>
          </a:p>
          <a:p>
            <a:pPr marL="271780" lvl="1" indent="0">
              <a:buFont typeface="Wingdings" panose="05000000000000000000" pitchFamily="2" charset="2"/>
              <a:buNone/>
            </a:pPr>
            <a:r>
              <a:rPr lang="en-US" altLang="zh-CN" sz="1600" kern="0" dirty="0" smtClean="0"/>
              <a:t>	char </a:t>
            </a:r>
            <a:r>
              <a:rPr lang="en-US" altLang="zh-CN" sz="1600" kern="0" dirty="0" err="1" smtClean="0"/>
              <a:t>tel</a:t>
            </a:r>
            <a:r>
              <a:rPr lang="en-US" altLang="zh-CN" sz="1600" kern="0" dirty="0" smtClean="0"/>
              <a:t>[11];</a:t>
            </a:r>
          </a:p>
          <a:p>
            <a:pPr marL="271780" lvl="1" indent="0">
              <a:buFont typeface="Wingdings" panose="05000000000000000000" pitchFamily="2" charset="2"/>
              <a:buNone/>
            </a:pPr>
            <a:r>
              <a:rPr lang="en-US" altLang="zh-CN" sz="1600" kern="0" dirty="0" smtClean="0"/>
              <a:t>	</a:t>
            </a:r>
            <a:r>
              <a:rPr lang="en-US" altLang="zh-CN" sz="1600" kern="0" dirty="0" err="1" smtClean="0"/>
              <a:t>struct</a:t>
            </a:r>
            <a:r>
              <a:rPr lang="en-US" altLang="zh-CN" sz="1600" kern="0" dirty="0" smtClean="0"/>
              <a:t> </a:t>
            </a:r>
            <a:r>
              <a:rPr lang="en-US" altLang="zh-CN" sz="1600" kern="0" dirty="0" err="1" smtClean="0"/>
              <a:t>stu_node</a:t>
            </a:r>
            <a:r>
              <a:rPr lang="en-US" altLang="zh-CN" sz="1600" kern="0" dirty="0" smtClean="0"/>
              <a:t> *next;	//</a:t>
            </a:r>
            <a:r>
              <a:rPr lang="zh-CN" altLang="en-US" sz="1600" kern="0" dirty="0" smtClean="0"/>
              <a:t>指向下一个结点（也是此结构体类型）的指针</a:t>
            </a:r>
          </a:p>
          <a:p>
            <a:pPr marL="271780" lvl="1" indent="0">
              <a:buFont typeface="Wingdings" panose="05000000000000000000" pitchFamily="2" charset="2"/>
              <a:buNone/>
            </a:pPr>
            <a:r>
              <a:rPr lang="en-US" altLang="zh-CN" sz="1600" kern="0" dirty="0" smtClean="0"/>
              <a:t>}</a:t>
            </a:r>
            <a:r>
              <a:rPr lang="en-US" altLang="zh-CN" sz="1600" kern="0" dirty="0"/>
              <a:t>;</a:t>
            </a:r>
            <a:endParaRPr lang="en-US" altLang="zh-CN" sz="1600" kern="0" dirty="0" smtClean="0"/>
          </a:p>
          <a:p>
            <a:pPr marL="271780" lvl="1" indent="0">
              <a:buNone/>
            </a:pPr>
            <a:r>
              <a:rPr lang="en-US" altLang="zh-CN" sz="1600" dirty="0" err="1">
                <a:solidFill>
                  <a:srgbClr val="0066FF"/>
                </a:solidFill>
                <a:effectLst/>
              </a:rPr>
              <a:t>struct</a:t>
            </a:r>
            <a:r>
              <a:rPr lang="en-US" altLang="zh-CN" sz="1600" dirty="0">
                <a:solidFill>
                  <a:srgbClr val="0066FF"/>
                </a:solidFill>
                <a:effectLst/>
              </a:rPr>
              <a:t> </a:t>
            </a:r>
            <a:r>
              <a:rPr lang="en-US" altLang="zh-CN" sz="1600" dirty="0" err="1">
                <a:solidFill>
                  <a:srgbClr val="0066FF"/>
                </a:solidFill>
                <a:effectLst/>
              </a:rPr>
              <a:t>stu_node</a:t>
            </a:r>
            <a:r>
              <a:rPr lang="en-US" altLang="zh-CN" sz="1600" dirty="0">
                <a:solidFill>
                  <a:srgbClr val="0066FF"/>
                </a:solidFill>
                <a:effectLst/>
              </a:rPr>
              <a:t> *head,</a:t>
            </a:r>
            <a:r>
              <a:rPr lang="zh-CN" altLang="en-US" sz="1600" dirty="0">
                <a:solidFill>
                  <a:srgbClr val="0066FF"/>
                </a:solidFill>
                <a:effectLst/>
              </a:rPr>
              <a:t>*</a:t>
            </a:r>
            <a:r>
              <a:rPr lang="en-US" altLang="zh-CN" sz="1600" dirty="0">
                <a:solidFill>
                  <a:srgbClr val="0066FF"/>
                </a:solidFill>
                <a:effectLst/>
              </a:rPr>
              <a:t>tail,*p</a:t>
            </a:r>
            <a:r>
              <a:rPr lang="en-US" altLang="zh-CN" sz="1600" dirty="0" smtClean="0">
                <a:solidFill>
                  <a:srgbClr val="0066FF"/>
                </a:solidFill>
                <a:effectLst/>
              </a:rPr>
              <a:t>;</a:t>
            </a:r>
            <a:endParaRPr lang="zh-CN" altLang="zh-CN" sz="1600" dirty="0">
              <a:solidFill>
                <a:srgbClr val="0066FF"/>
              </a:solidFill>
              <a:effectLst/>
            </a:endParaRPr>
          </a:p>
        </p:txBody>
      </p:sp>
    </p:spTree>
    <p:extLst>
      <p:ext uri="{BB962C8B-B14F-4D97-AF65-F5344CB8AC3E}">
        <p14:creationId xmlns:p14="http://schemas.microsoft.com/office/powerpoint/2010/main" val="25159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建立链表</a:t>
            </a:r>
            <a:endParaRPr lang="zh-CN" altLang="en-US" dirty="0"/>
          </a:p>
        </p:txBody>
      </p:sp>
      <p:sp>
        <p:nvSpPr>
          <p:cNvPr id="12" name="内容占位符 9"/>
          <p:cNvSpPr txBox="1">
            <a:spLocks/>
          </p:cNvSpPr>
          <p:nvPr/>
        </p:nvSpPr>
        <p:spPr bwMode="auto">
          <a:xfrm>
            <a:off x="778906" y="1700809"/>
            <a:ext cx="811357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endParaRPr lang="zh-CN" altLang="en-US" kern="0" dirty="0"/>
          </a:p>
        </p:txBody>
      </p:sp>
      <p:sp>
        <p:nvSpPr>
          <p:cNvPr id="6" name="内容占位符 9"/>
          <p:cNvSpPr txBox="1">
            <a:spLocks/>
          </p:cNvSpPr>
          <p:nvPr/>
        </p:nvSpPr>
        <p:spPr bwMode="auto">
          <a:xfrm>
            <a:off x="1115616" y="4797152"/>
            <a:ext cx="6984776" cy="469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pPr marL="0" indent="0">
              <a:buNone/>
            </a:pPr>
            <a:r>
              <a:rPr lang="en-US" altLang="zh-CN" sz="1800" dirty="0" smtClean="0">
                <a:solidFill>
                  <a:srgbClr val="0066FF"/>
                </a:solidFill>
                <a:effectLst/>
              </a:rPr>
              <a:t>p </a:t>
            </a:r>
            <a:r>
              <a:rPr lang="en-US" altLang="zh-CN" sz="1800" dirty="0">
                <a:solidFill>
                  <a:srgbClr val="0066FF"/>
                </a:solidFill>
                <a:effectLst/>
              </a:rPr>
              <a:t>= (</a:t>
            </a:r>
            <a:r>
              <a:rPr lang="en-US" altLang="zh-CN" sz="1800" dirty="0" err="1">
                <a:solidFill>
                  <a:srgbClr val="0066FF"/>
                </a:solidFill>
                <a:effectLst/>
              </a:rPr>
              <a:t>struct</a:t>
            </a:r>
            <a:r>
              <a:rPr lang="en-US" altLang="zh-CN" sz="1800" dirty="0">
                <a:solidFill>
                  <a:srgbClr val="0066FF"/>
                </a:solidFill>
                <a:effectLst/>
              </a:rPr>
              <a:t> </a:t>
            </a:r>
            <a:r>
              <a:rPr lang="en-US" altLang="zh-CN" sz="1800" dirty="0" err="1">
                <a:solidFill>
                  <a:srgbClr val="0066FF"/>
                </a:solidFill>
                <a:effectLst/>
              </a:rPr>
              <a:t>stu_node</a:t>
            </a:r>
            <a:r>
              <a:rPr lang="en-US" altLang="zh-CN" sz="1800" dirty="0">
                <a:solidFill>
                  <a:srgbClr val="0066FF"/>
                </a:solidFill>
                <a:effectLst/>
              </a:rPr>
              <a:t> *) </a:t>
            </a:r>
            <a:r>
              <a:rPr lang="en-US" altLang="zh-CN" sz="1800" dirty="0" err="1">
                <a:solidFill>
                  <a:srgbClr val="0066FF"/>
                </a:solidFill>
                <a:effectLst/>
              </a:rPr>
              <a:t>malloc</a:t>
            </a:r>
            <a:r>
              <a:rPr lang="en-US" altLang="zh-CN" sz="1800" dirty="0">
                <a:solidFill>
                  <a:srgbClr val="0066FF"/>
                </a:solidFill>
                <a:effectLst/>
              </a:rPr>
              <a:t>(</a:t>
            </a:r>
            <a:r>
              <a:rPr lang="en-US" altLang="zh-CN" sz="1800" dirty="0" err="1">
                <a:solidFill>
                  <a:srgbClr val="0066FF"/>
                </a:solidFill>
                <a:effectLst/>
              </a:rPr>
              <a:t>sizeof</a:t>
            </a:r>
            <a:r>
              <a:rPr lang="en-US" altLang="zh-CN" sz="1800" dirty="0">
                <a:solidFill>
                  <a:srgbClr val="0066FF"/>
                </a:solidFill>
                <a:effectLst/>
              </a:rPr>
              <a:t>(</a:t>
            </a:r>
            <a:r>
              <a:rPr lang="en-US" altLang="zh-CN" sz="1800" dirty="0" err="1">
                <a:solidFill>
                  <a:srgbClr val="0066FF"/>
                </a:solidFill>
                <a:effectLst/>
              </a:rPr>
              <a:t>struct</a:t>
            </a:r>
            <a:r>
              <a:rPr lang="en-US" altLang="zh-CN" sz="1800" dirty="0">
                <a:solidFill>
                  <a:srgbClr val="0066FF"/>
                </a:solidFill>
                <a:effectLst/>
              </a:rPr>
              <a:t> </a:t>
            </a:r>
            <a:r>
              <a:rPr lang="en-US" altLang="zh-CN" sz="1800" dirty="0" err="1">
                <a:solidFill>
                  <a:srgbClr val="0066FF"/>
                </a:solidFill>
                <a:effectLst/>
              </a:rPr>
              <a:t>stu_node</a:t>
            </a:r>
            <a:r>
              <a:rPr lang="en-US" altLang="zh-CN" sz="1800" dirty="0" smtClean="0">
                <a:solidFill>
                  <a:srgbClr val="0066FF"/>
                </a:solidFill>
                <a:effectLst/>
              </a:rPr>
              <a:t>));</a:t>
            </a:r>
          </a:p>
        </p:txBody>
      </p:sp>
      <p:sp>
        <p:nvSpPr>
          <p:cNvPr id="9" name="内容占位符 1"/>
          <p:cNvSpPr txBox="1">
            <a:spLocks/>
          </p:cNvSpPr>
          <p:nvPr/>
        </p:nvSpPr>
        <p:spPr bwMode="auto">
          <a:xfrm>
            <a:off x="778906" y="1569878"/>
            <a:ext cx="8113574" cy="2939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kern="0" dirty="0" smtClean="0"/>
              <a:t>创建链表</a:t>
            </a:r>
            <a:endParaRPr lang="en-US" altLang="zh-CN" kern="0" dirty="0" smtClean="0"/>
          </a:p>
          <a:p>
            <a:pPr lvl="1"/>
            <a:r>
              <a:rPr lang="zh-CN" altLang="en-US" kern="0" dirty="0" smtClean="0"/>
              <a:t>用循环结构来反复实现“创建新结点并将其加入链表”的操作，</a:t>
            </a:r>
            <a:endParaRPr lang="en-US" altLang="zh-CN" kern="0" dirty="0" smtClean="0"/>
          </a:p>
          <a:p>
            <a:r>
              <a:rPr lang="zh-CN" altLang="en-US" kern="0" dirty="0" smtClean="0"/>
              <a:t>具体步骤：</a:t>
            </a:r>
            <a:endParaRPr lang="en-US" altLang="zh-CN" kern="0" dirty="0" smtClean="0"/>
          </a:p>
          <a:p>
            <a:pPr lvl="1"/>
            <a:r>
              <a:rPr lang="zh-CN" altLang="en-US" kern="0" dirty="0" smtClean="0"/>
              <a:t>（一）动态</a:t>
            </a:r>
            <a:r>
              <a:rPr lang="zh-CN" altLang="en-US" kern="0" dirty="0"/>
              <a:t>申请一个新结点的空间，设定一个指针变量指向</a:t>
            </a:r>
            <a:r>
              <a:rPr lang="zh-CN" altLang="en-US" kern="0" dirty="0" smtClean="0"/>
              <a:t>它</a:t>
            </a:r>
            <a:endParaRPr lang="zh-CN" altLang="en-US" kern="0" dirty="0"/>
          </a:p>
        </p:txBody>
      </p:sp>
    </p:spTree>
    <p:extLst>
      <p:ext uri="{BB962C8B-B14F-4D97-AF65-F5344CB8AC3E}">
        <p14:creationId xmlns:p14="http://schemas.microsoft.com/office/powerpoint/2010/main" val="236943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建立链表</a:t>
            </a:r>
            <a:endParaRPr lang="zh-CN" altLang="en-US" dirty="0"/>
          </a:p>
        </p:txBody>
      </p:sp>
      <p:sp>
        <p:nvSpPr>
          <p:cNvPr id="12" name="内容占位符 9"/>
          <p:cNvSpPr txBox="1">
            <a:spLocks/>
          </p:cNvSpPr>
          <p:nvPr/>
        </p:nvSpPr>
        <p:spPr bwMode="auto">
          <a:xfrm>
            <a:off x="778906" y="1700809"/>
            <a:ext cx="811357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endParaRPr lang="zh-CN" altLang="en-US" kern="0" dirty="0"/>
          </a:p>
        </p:txBody>
      </p:sp>
      <p:sp>
        <p:nvSpPr>
          <p:cNvPr id="9" name="内容占位符 1"/>
          <p:cNvSpPr txBox="1">
            <a:spLocks/>
          </p:cNvSpPr>
          <p:nvPr/>
        </p:nvSpPr>
        <p:spPr bwMode="auto">
          <a:xfrm>
            <a:off x="778906" y="1569879"/>
            <a:ext cx="7993063" cy="1427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kern="0" dirty="0" smtClean="0"/>
              <a:t>具体步骤：</a:t>
            </a:r>
            <a:endParaRPr lang="en-US" altLang="zh-CN" kern="0" dirty="0" smtClean="0"/>
          </a:p>
          <a:p>
            <a:pPr lvl="1"/>
            <a:r>
              <a:rPr lang="zh-CN" altLang="en-US" kern="0" dirty="0" smtClean="0"/>
              <a:t>（二）从键盘输入一个学生的信息并为新结点的成员赋值</a:t>
            </a:r>
            <a:endParaRPr lang="zh-CN" altLang="en-US" kern="0" dirty="0"/>
          </a:p>
        </p:txBody>
      </p:sp>
      <p:sp>
        <p:nvSpPr>
          <p:cNvPr id="2" name="矩形 1"/>
          <p:cNvSpPr/>
          <p:nvPr/>
        </p:nvSpPr>
        <p:spPr>
          <a:xfrm>
            <a:off x="1259632" y="3300953"/>
            <a:ext cx="4509568" cy="400110"/>
          </a:xfrm>
          <a:prstGeom prst="rect">
            <a:avLst/>
          </a:prstGeom>
        </p:spPr>
        <p:txBody>
          <a:bodyPr wrap="none">
            <a:spAutoFit/>
          </a:bodyPr>
          <a:lstStyle/>
          <a:p>
            <a:r>
              <a:rPr lang="en-US" altLang="zh-CN" sz="2000" b="1" dirty="0" err="1">
                <a:solidFill>
                  <a:srgbClr val="0066FF"/>
                </a:solidFill>
              </a:rPr>
              <a:t>scanf</a:t>
            </a:r>
            <a:r>
              <a:rPr lang="en-US" altLang="zh-CN" sz="2000" b="1" dirty="0">
                <a:solidFill>
                  <a:srgbClr val="0066FF"/>
                </a:solidFill>
              </a:rPr>
              <a:t>("%</a:t>
            </a:r>
            <a:r>
              <a:rPr lang="en-US" altLang="zh-CN" sz="2000" b="1" dirty="0" err="1">
                <a:solidFill>
                  <a:srgbClr val="0066FF"/>
                </a:solidFill>
              </a:rPr>
              <a:t>d%s</a:t>
            </a:r>
            <a:r>
              <a:rPr lang="en-US" altLang="zh-CN" sz="2000" b="1" dirty="0">
                <a:solidFill>
                  <a:srgbClr val="0066FF"/>
                </a:solidFill>
              </a:rPr>
              <a:t> ", &amp;( p-&gt;</a:t>
            </a:r>
            <a:r>
              <a:rPr lang="en-US" altLang="zh-CN" sz="2000" b="1" dirty="0" err="1">
                <a:solidFill>
                  <a:srgbClr val="0066FF"/>
                </a:solidFill>
              </a:rPr>
              <a:t>num</a:t>
            </a:r>
            <a:r>
              <a:rPr lang="en-US" altLang="zh-CN" sz="2000" b="1" dirty="0">
                <a:solidFill>
                  <a:srgbClr val="0066FF"/>
                </a:solidFill>
              </a:rPr>
              <a:t>), p-&gt;</a:t>
            </a:r>
            <a:r>
              <a:rPr lang="en-US" altLang="zh-CN" sz="2000" b="1" dirty="0" err="1">
                <a:solidFill>
                  <a:srgbClr val="0066FF"/>
                </a:solidFill>
              </a:rPr>
              <a:t>tel</a:t>
            </a:r>
            <a:r>
              <a:rPr lang="en-US" altLang="zh-CN" sz="2000" b="1" dirty="0">
                <a:solidFill>
                  <a:srgbClr val="0066FF"/>
                </a:solidFill>
              </a:rPr>
              <a:t>);</a:t>
            </a:r>
            <a:endParaRPr lang="zh-CN" altLang="en-US" sz="2000" b="1" dirty="0"/>
          </a:p>
        </p:txBody>
      </p:sp>
    </p:spTree>
    <p:extLst>
      <p:ext uri="{BB962C8B-B14F-4D97-AF65-F5344CB8AC3E}">
        <p14:creationId xmlns:p14="http://schemas.microsoft.com/office/powerpoint/2010/main" val="2865636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建立链表</a:t>
            </a:r>
            <a:endParaRPr lang="zh-CN" altLang="en-US" dirty="0"/>
          </a:p>
        </p:txBody>
      </p:sp>
      <p:sp>
        <p:nvSpPr>
          <p:cNvPr id="12" name="内容占位符 9"/>
          <p:cNvSpPr txBox="1">
            <a:spLocks/>
          </p:cNvSpPr>
          <p:nvPr/>
        </p:nvSpPr>
        <p:spPr bwMode="auto">
          <a:xfrm>
            <a:off x="778906" y="1700809"/>
            <a:ext cx="8113574" cy="1008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endParaRPr lang="zh-CN" altLang="en-US" kern="0" dirty="0"/>
          </a:p>
        </p:txBody>
      </p:sp>
      <p:sp>
        <p:nvSpPr>
          <p:cNvPr id="9" name="内容占位符 1"/>
          <p:cNvSpPr txBox="1">
            <a:spLocks/>
          </p:cNvSpPr>
          <p:nvPr/>
        </p:nvSpPr>
        <p:spPr bwMode="auto">
          <a:xfrm>
            <a:off x="778906" y="1569879"/>
            <a:ext cx="7993063" cy="1283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kern="0" dirty="0" smtClean="0"/>
              <a:t>具体步骤：</a:t>
            </a:r>
            <a:endParaRPr lang="en-US" altLang="zh-CN" kern="0" dirty="0" smtClean="0"/>
          </a:p>
          <a:p>
            <a:pPr lvl="1"/>
            <a:r>
              <a:rPr lang="zh-CN" altLang="en-US" kern="0" dirty="0" smtClean="0"/>
              <a:t>（三）把新结点插入到链表头或者链表尾</a:t>
            </a:r>
            <a:endParaRPr lang="zh-CN" altLang="en-US" kern="0" dirty="0"/>
          </a:p>
        </p:txBody>
      </p:sp>
      <p:sp>
        <p:nvSpPr>
          <p:cNvPr id="7" name="Text Box 10"/>
          <p:cNvSpPr txBox="1">
            <a:spLocks noChangeArrowheads="1"/>
          </p:cNvSpPr>
          <p:nvPr/>
        </p:nvSpPr>
        <p:spPr bwMode="auto">
          <a:xfrm>
            <a:off x="1018703" y="2657813"/>
            <a:ext cx="1783826"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zh-CN" altLang="en-US" sz="2400" b="1" dirty="0" smtClean="0">
                <a:solidFill>
                  <a:srgbClr val="0000CC"/>
                </a:solidFill>
              </a:rPr>
              <a:t>头部插入法</a:t>
            </a:r>
            <a:endParaRPr lang="zh-CN" altLang="en-US" sz="2400" b="1" dirty="0">
              <a:solidFill>
                <a:srgbClr val="0000CC"/>
              </a:solidFill>
            </a:endParaRPr>
          </a:p>
        </p:txBody>
      </p:sp>
      <p:sp>
        <p:nvSpPr>
          <p:cNvPr id="4" name="矩形 3"/>
          <p:cNvSpPr/>
          <p:nvPr/>
        </p:nvSpPr>
        <p:spPr>
          <a:xfrm>
            <a:off x="1038610" y="3106709"/>
            <a:ext cx="2015113" cy="588605"/>
          </a:xfrm>
          <a:prstGeom prst="rect">
            <a:avLst/>
          </a:prstGeom>
          <a:ln>
            <a:solidFill>
              <a:schemeClr val="accent4"/>
            </a:solidFill>
          </a:ln>
        </p:spPr>
        <p:txBody>
          <a:bodyPr wrap="square" lIns="72000" tIns="72000" rIns="0" bIns="72000">
            <a:spAutoFit/>
          </a:bodyPr>
          <a:lstStyle/>
          <a:p>
            <a:pPr marL="0" lvl="1">
              <a:lnSpc>
                <a:spcPct val="80000"/>
              </a:lnSpc>
              <a:buFont typeface="Wingdings" panose="05000000000000000000" pitchFamily="2" charset="2"/>
              <a:buNone/>
            </a:pPr>
            <a:r>
              <a:rPr lang="en-US" altLang="zh-CN" sz="1800" b="1" dirty="0" smtClean="0">
                <a:solidFill>
                  <a:srgbClr val="CC0066"/>
                </a:solidFill>
              </a:rPr>
              <a:t>p-</a:t>
            </a:r>
            <a:r>
              <a:rPr lang="en-US" altLang="zh-CN" sz="1800" b="1" dirty="0">
                <a:solidFill>
                  <a:srgbClr val="CC0066"/>
                </a:solidFill>
              </a:rPr>
              <a:t>&gt;next = </a:t>
            </a:r>
            <a:r>
              <a:rPr lang="en-US" altLang="zh-CN" sz="1800" b="1" dirty="0" smtClean="0">
                <a:solidFill>
                  <a:srgbClr val="CC0066"/>
                </a:solidFill>
              </a:rPr>
              <a:t>head;</a:t>
            </a:r>
            <a:endParaRPr lang="en-US" altLang="zh-CN" sz="1800" b="1" dirty="0">
              <a:solidFill>
                <a:srgbClr val="CC0066"/>
              </a:solidFill>
            </a:endParaRPr>
          </a:p>
          <a:p>
            <a:pPr marL="0" lvl="1">
              <a:lnSpc>
                <a:spcPct val="80000"/>
              </a:lnSpc>
              <a:buFont typeface="Wingdings" panose="05000000000000000000" pitchFamily="2" charset="2"/>
              <a:buNone/>
            </a:pPr>
            <a:r>
              <a:rPr lang="en-US" altLang="zh-CN" sz="1800" b="1" dirty="0" smtClean="0">
                <a:solidFill>
                  <a:srgbClr val="CC0066"/>
                </a:solidFill>
              </a:rPr>
              <a:t>head </a:t>
            </a:r>
            <a:r>
              <a:rPr lang="en-US" altLang="zh-CN" sz="1800" b="1" dirty="0">
                <a:solidFill>
                  <a:srgbClr val="CC0066"/>
                </a:solidFill>
              </a:rPr>
              <a:t>= p</a:t>
            </a:r>
            <a:r>
              <a:rPr lang="en-US" altLang="zh-CN" sz="1800" b="1" dirty="0" smtClean="0">
                <a:solidFill>
                  <a:srgbClr val="CC0066"/>
                </a:solidFill>
              </a:rPr>
              <a:t>;</a:t>
            </a:r>
            <a:endParaRPr lang="en-US" altLang="zh-CN" sz="1800" b="1" dirty="0">
              <a:solidFill>
                <a:srgbClr val="CC0066"/>
              </a:solidFill>
            </a:endParaRPr>
          </a:p>
        </p:txBody>
      </p:sp>
      <p:sp>
        <p:nvSpPr>
          <p:cNvPr id="36" name="矩形 35"/>
          <p:cNvSpPr/>
          <p:nvPr/>
        </p:nvSpPr>
        <p:spPr bwMode="auto">
          <a:xfrm>
            <a:off x="1007461" y="4617132"/>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37" name="组合 36"/>
          <p:cNvGrpSpPr/>
          <p:nvPr/>
        </p:nvGrpSpPr>
        <p:grpSpPr>
          <a:xfrm>
            <a:off x="2103137" y="4581128"/>
            <a:ext cx="1512724" cy="432048"/>
            <a:chOff x="2267188" y="5229200"/>
            <a:chExt cx="1512724" cy="432048"/>
          </a:xfrm>
        </p:grpSpPr>
        <p:sp>
          <p:nvSpPr>
            <p:cNvPr id="38" name="矩形 37"/>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41" name="直接连接符 40"/>
            <p:cNvCxnSpPr>
              <a:stCxn id="38" idx="0"/>
              <a:endCxn id="38"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40" name="矩形 39"/>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A</a:t>
              </a:r>
              <a:endParaRPr lang="zh-CN" altLang="en-US" sz="1600" b="1" dirty="0">
                <a:solidFill>
                  <a:schemeClr val="accent4"/>
                </a:solidFill>
              </a:endParaRPr>
            </a:p>
          </p:txBody>
        </p:sp>
      </p:grpSp>
      <p:cxnSp>
        <p:nvCxnSpPr>
          <p:cNvPr id="43" name="直接箭头连接符 42"/>
          <p:cNvCxnSpPr>
            <a:stCxn id="36" idx="3"/>
            <a:endCxn id="38" idx="1"/>
          </p:cNvCxnSpPr>
          <p:nvPr/>
        </p:nvCxnSpPr>
        <p:spPr bwMode="auto">
          <a:xfrm>
            <a:off x="1780523" y="4797152"/>
            <a:ext cx="322614" cy="0"/>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44" name="组合 43"/>
          <p:cNvGrpSpPr/>
          <p:nvPr/>
        </p:nvGrpSpPr>
        <p:grpSpPr>
          <a:xfrm>
            <a:off x="3938475" y="4584496"/>
            <a:ext cx="1512724" cy="432048"/>
            <a:chOff x="2267188" y="5229200"/>
            <a:chExt cx="1512724" cy="432048"/>
          </a:xfrm>
        </p:grpSpPr>
        <p:sp>
          <p:nvSpPr>
            <p:cNvPr id="45" name="矩形 44"/>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46" name="组合 45"/>
            <p:cNvGrpSpPr/>
            <p:nvPr/>
          </p:nvGrpSpPr>
          <p:grpSpPr>
            <a:xfrm>
              <a:off x="3023550" y="5229200"/>
              <a:ext cx="756362" cy="432048"/>
              <a:chOff x="3023550" y="5229200"/>
              <a:chExt cx="756362" cy="432048"/>
            </a:xfrm>
          </p:grpSpPr>
          <p:cxnSp>
            <p:nvCxnSpPr>
              <p:cNvPr id="48" name="直接连接符 47"/>
              <p:cNvCxnSpPr>
                <a:stCxn id="45" idx="0"/>
                <a:endCxn id="45"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49" name="矩形 48"/>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47" name="矩形 46"/>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B</a:t>
              </a:r>
              <a:endParaRPr lang="zh-CN" altLang="en-US" sz="1600" b="1" dirty="0">
                <a:solidFill>
                  <a:schemeClr val="accent4"/>
                </a:solidFill>
              </a:endParaRPr>
            </a:p>
          </p:txBody>
        </p:sp>
      </p:grpSp>
      <p:cxnSp>
        <p:nvCxnSpPr>
          <p:cNvPr id="50" name="直接箭头连接符 49"/>
          <p:cNvCxnSpPr/>
          <p:nvPr/>
        </p:nvCxnSpPr>
        <p:spPr bwMode="auto">
          <a:xfrm>
            <a:off x="3331715" y="4797152"/>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95" name="组合 94"/>
          <p:cNvGrpSpPr/>
          <p:nvPr/>
        </p:nvGrpSpPr>
        <p:grpSpPr>
          <a:xfrm>
            <a:off x="2015703" y="6173974"/>
            <a:ext cx="1512724" cy="432048"/>
            <a:chOff x="2267188" y="5229200"/>
            <a:chExt cx="1512724" cy="432048"/>
          </a:xfrm>
        </p:grpSpPr>
        <p:sp>
          <p:nvSpPr>
            <p:cNvPr id="96" name="矩形 95"/>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99" name="直接连接符 98"/>
            <p:cNvCxnSpPr>
              <a:stCxn id="96" idx="0"/>
              <a:endCxn id="96"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98" name="矩形 97"/>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P</a:t>
              </a:r>
              <a:endParaRPr lang="zh-CN" altLang="en-US" sz="1600" b="1" dirty="0">
                <a:solidFill>
                  <a:schemeClr val="accent4"/>
                </a:solidFill>
              </a:endParaRPr>
            </a:p>
          </p:txBody>
        </p:sp>
      </p:grpSp>
      <p:grpSp>
        <p:nvGrpSpPr>
          <p:cNvPr id="104" name="组合 103"/>
          <p:cNvGrpSpPr/>
          <p:nvPr/>
        </p:nvGrpSpPr>
        <p:grpSpPr>
          <a:xfrm>
            <a:off x="3674163" y="3204306"/>
            <a:ext cx="1512724" cy="432048"/>
            <a:chOff x="2267188" y="5229200"/>
            <a:chExt cx="1512724" cy="432048"/>
          </a:xfrm>
        </p:grpSpPr>
        <p:sp>
          <p:nvSpPr>
            <p:cNvPr id="105" name="矩形 104"/>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106" name="组合 105"/>
            <p:cNvGrpSpPr/>
            <p:nvPr/>
          </p:nvGrpSpPr>
          <p:grpSpPr>
            <a:xfrm>
              <a:off x="3023550" y="5229200"/>
              <a:ext cx="756362" cy="432048"/>
              <a:chOff x="3023550" y="5229200"/>
              <a:chExt cx="756362" cy="432048"/>
            </a:xfrm>
          </p:grpSpPr>
          <p:cxnSp>
            <p:nvCxnSpPr>
              <p:cNvPr id="108" name="直接连接符 107"/>
              <p:cNvCxnSpPr>
                <a:stCxn id="105" idx="0"/>
                <a:endCxn id="105"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09" name="矩形 108"/>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endParaRPr lang="zh-CN" altLang="en-US" sz="1600" b="1" dirty="0">
                  <a:solidFill>
                    <a:schemeClr val="accent4"/>
                  </a:solidFill>
                </a:endParaRPr>
              </a:p>
            </p:txBody>
          </p:sp>
        </p:grpSp>
        <p:sp>
          <p:nvSpPr>
            <p:cNvPr id="107" name="矩形 106"/>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P</a:t>
              </a:r>
              <a:endParaRPr lang="zh-CN" altLang="en-US" sz="1600" b="1" dirty="0">
                <a:solidFill>
                  <a:schemeClr val="accent4"/>
                </a:solidFill>
              </a:endParaRPr>
            </a:p>
          </p:txBody>
        </p:sp>
      </p:grpSp>
      <p:sp>
        <p:nvSpPr>
          <p:cNvPr id="112" name="矩形 111"/>
          <p:cNvSpPr/>
          <p:nvPr/>
        </p:nvSpPr>
        <p:spPr bwMode="auto">
          <a:xfrm>
            <a:off x="1026663" y="5359495"/>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113" name="组合 112"/>
          <p:cNvGrpSpPr/>
          <p:nvPr/>
        </p:nvGrpSpPr>
        <p:grpSpPr>
          <a:xfrm>
            <a:off x="3754200" y="5359495"/>
            <a:ext cx="1512724" cy="432048"/>
            <a:chOff x="2267188" y="5229200"/>
            <a:chExt cx="1512724" cy="432048"/>
          </a:xfrm>
        </p:grpSpPr>
        <p:sp>
          <p:nvSpPr>
            <p:cNvPr id="114" name="矩形 113"/>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15" name="直接连接符 114"/>
            <p:cNvCxnSpPr>
              <a:stCxn id="114" idx="0"/>
              <a:endCxn id="114"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16" name="矩形 115"/>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A</a:t>
              </a:r>
              <a:endParaRPr lang="zh-CN" altLang="en-US" sz="1600" b="1" dirty="0">
                <a:solidFill>
                  <a:schemeClr val="accent4"/>
                </a:solidFill>
              </a:endParaRPr>
            </a:p>
          </p:txBody>
        </p:sp>
      </p:grpSp>
      <p:cxnSp>
        <p:nvCxnSpPr>
          <p:cNvPr id="117" name="直接箭头连接符 116"/>
          <p:cNvCxnSpPr>
            <a:stCxn id="112" idx="3"/>
            <a:endCxn id="96" idx="1"/>
          </p:cNvCxnSpPr>
          <p:nvPr/>
        </p:nvCxnSpPr>
        <p:spPr bwMode="auto">
          <a:xfrm>
            <a:off x="1799725" y="5539515"/>
            <a:ext cx="215978" cy="850483"/>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118" name="组合 117"/>
          <p:cNvGrpSpPr/>
          <p:nvPr/>
        </p:nvGrpSpPr>
        <p:grpSpPr>
          <a:xfrm>
            <a:off x="5589538" y="5362863"/>
            <a:ext cx="1512724" cy="432048"/>
            <a:chOff x="2267188" y="5229200"/>
            <a:chExt cx="1512724" cy="432048"/>
          </a:xfrm>
        </p:grpSpPr>
        <p:sp>
          <p:nvSpPr>
            <p:cNvPr id="119" name="矩形 118"/>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120" name="组合 119"/>
            <p:cNvGrpSpPr/>
            <p:nvPr/>
          </p:nvGrpSpPr>
          <p:grpSpPr>
            <a:xfrm>
              <a:off x="3023550" y="5229200"/>
              <a:ext cx="756362" cy="432048"/>
              <a:chOff x="3023550" y="5229200"/>
              <a:chExt cx="756362" cy="432048"/>
            </a:xfrm>
          </p:grpSpPr>
          <p:cxnSp>
            <p:nvCxnSpPr>
              <p:cNvPr id="122" name="直接连接符 121"/>
              <p:cNvCxnSpPr>
                <a:stCxn id="119" idx="0"/>
                <a:endCxn id="119"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23" name="矩形 122"/>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121" name="矩形 120"/>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B</a:t>
              </a:r>
              <a:endParaRPr lang="zh-CN" altLang="en-US" sz="1600" b="1" dirty="0">
                <a:solidFill>
                  <a:schemeClr val="accent4"/>
                </a:solidFill>
              </a:endParaRPr>
            </a:p>
          </p:txBody>
        </p:sp>
      </p:grpSp>
      <p:cxnSp>
        <p:nvCxnSpPr>
          <p:cNvPr id="124" name="直接箭头连接符 123"/>
          <p:cNvCxnSpPr/>
          <p:nvPr/>
        </p:nvCxnSpPr>
        <p:spPr bwMode="auto">
          <a:xfrm>
            <a:off x="4982778" y="5575519"/>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cxnSp>
        <p:nvCxnSpPr>
          <p:cNvPr id="126" name="直接箭头连接符 125"/>
          <p:cNvCxnSpPr>
            <a:endCxn id="114" idx="1"/>
          </p:cNvCxnSpPr>
          <p:nvPr/>
        </p:nvCxnSpPr>
        <p:spPr bwMode="auto">
          <a:xfrm flipV="1">
            <a:off x="3228310" y="5575519"/>
            <a:ext cx="525890" cy="813293"/>
          </a:xfrm>
          <a:prstGeom prst="straightConnector1">
            <a:avLst/>
          </a:prstGeom>
          <a:solidFill>
            <a:schemeClr val="accent1"/>
          </a:solidFill>
          <a:ln w="2857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2583681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建立链表</a:t>
            </a:r>
            <a:endParaRPr lang="zh-CN" altLang="en-US" dirty="0"/>
          </a:p>
        </p:txBody>
      </p:sp>
      <p:sp>
        <p:nvSpPr>
          <p:cNvPr id="12" name="内容占位符 9"/>
          <p:cNvSpPr txBox="1">
            <a:spLocks/>
          </p:cNvSpPr>
          <p:nvPr/>
        </p:nvSpPr>
        <p:spPr bwMode="auto">
          <a:xfrm>
            <a:off x="778906" y="1700809"/>
            <a:ext cx="8113574" cy="1008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endParaRPr lang="zh-CN" altLang="en-US" kern="0" dirty="0"/>
          </a:p>
        </p:txBody>
      </p:sp>
      <p:sp>
        <p:nvSpPr>
          <p:cNvPr id="9" name="内容占位符 1"/>
          <p:cNvSpPr txBox="1">
            <a:spLocks/>
          </p:cNvSpPr>
          <p:nvPr/>
        </p:nvSpPr>
        <p:spPr bwMode="auto">
          <a:xfrm>
            <a:off x="778906" y="1569879"/>
            <a:ext cx="7993063" cy="1283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lstStyle>
            <a:lvl1pPr marL="92075" indent="-92075" algn="l" rtl="0" eaLnBrk="0" fontAlgn="base" hangingPunct="0">
              <a:lnSpc>
                <a:spcPct val="120000"/>
              </a:lnSpc>
              <a:spcBef>
                <a:spcPct val="20000"/>
              </a:spcBef>
              <a:spcAft>
                <a:spcPct val="0"/>
              </a:spcAft>
              <a:buClr>
                <a:srgbClr val="A50021"/>
              </a:buClr>
              <a:buSzPct val="75000"/>
              <a:buFont typeface="Webdings" panose="05030102010509060703" pitchFamily="18" charset="2"/>
              <a:buChar char="·"/>
              <a:defRPr sz="2800" b="1">
                <a:solidFill>
                  <a:schemeClr val="accent4"/>
                </a:solidFill>
                <a:effectLst>
                  <a:outerShdw blurRad="38100" dist="38100" dir="2700000" algn="tl">
                    <a:srgbClr val="C0C0C0"/>
                  </a:outerShdw>
                </a:effectLst>
                <a:latin typeface="+mn-lt"/>
                <a:ea typeface="+mn-ea"/>
                <a:cs typeface="+mn-cs"/>
              </a:defRPr>
            </a:lvl1pPr>
            <a:lvl2pPr marL="357505" indent="-85725" algn="l" rtl="0" eaLnBrk="0" fontAlgn="base" hangingPunct="0">
              <a:lnSpc>
                <a:spcPct val="120000"/>
              </a:lnSpc>
              <a:spcBef>
                <a:spcPct val="20000"/>
              </a:spcBef>
              <a:spcAft>
                <a:spcPct val="0"/>
              </a:spcAft>
              <a:buClr>
                <a:srgbClr val="996633"/>
              </a:buClr>
              <a:buSzPct val="75000"/>
              <a:buFont typeface="Wingdings" panose="05000000000000000000" pitchFamily="2" charset="2"/>
              <a:buChar char="]"/>
              <a:defRPr sz="2400" b="1">
                <a:solidFill>
                  <a:schemeClr val="accent4"/>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anose="05000000000000000000" pitchFamily="2" charset="2"/>
              <a:buChar char="µ"/>
              <a:defRPr sz="2200" b="1">
                <a:solidFill>
                  <a:schemeClr val="accent4"/>
                </a:solidFill>
                <a:effectLst>
                  <a:outerShdw blurRad="38100" dist="38100" dir="2700000" algn="tl">
                    <a:srgbClr val="C0C0C0"/>
                  </a:outerShdw>
                </a:effectLst>
                <a:latin typeface="+mn-lt"/>
                <a:ea typeface="+mn-ea"/>
              </a:defRPr>
            </a:lvl3pPr>
            <a:lvl4pPr marL="808355" indent="-6350" algn="l" rtl="0" eaLnBrk="0" fontAlgn="base" hangingPunct="0">
              <a:lnSpc>
                <a:spcPct val="120000"/>
              </a:lnSpc>
              <a:spcBef>
                <a:spcPct val="20000"/>
              </a:spcBef>
              <a:spcAft>
                <a:spcPct val="0"/>
              </a:spcAft>
              <a:buClr>
                <a:schemeClr val="tx1"/>
              </a:buClr>
              <a:buSzPct val="80000"/>
              <a:buChar char="–"/>
              <a:defRPr b="1">
                <a:solidFill>
                  <a:schemeClr val="accent4"/>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anose="05000000000000000000" pitchFamily="2" charset="2"/>
              <a:buChar char="l"/>
              <a:defRPr b="1">
                <a:solidFill>
                  <a:schemeClr val="accent4"/>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anose="05000000000000000000" pitchFamily="2" charset="2"/>
              <a:buChar char="l"/>
              <a:defRPr b="1">
                <a:solidFill>
                  <a:schemeClr val="tx1"/>
                </a:solidFill>
                <a:effectLst>
                  <a:outerShdw blurRad="38100" dist="38100" dir="2700000" algn="tl">
                    <a:srgbClr val="C0C0C0"/>
                  </a:outerShdw>
                </a:effectLst>
                <a:latin typeface="+mn-lt"/>
                <a:ea typeface="+mn-ea"/>
              </a:defRPr>
            </a:lvl9pPr>
          </a:lstStyle>
          <a:p>
            <a:r>
              <a:rPr lang="zh-CN" altLang="en-US" kern="0" dirty="0" smtClean="0"/>
              <a:t>具体步骤：</a:t>
            </a:r>
            <a:endParaRPr lang="en-US" altLang="zh-CN" kern="0" dirty="0" smtClean="0"/>
          </a:p>
          <a:p>
            <a:pPr lvl="1"/>
            <a:r>
              <a:rPr lang="zh-CN" altLang="en-US" kern="0" dirty="0" smtClean="0"/>
              <a:t>（三）把新结点插入到链表头或者链表尾</a:t>
            </a:r>
            <a:endParaRPr lang="zh-CN" altLang="en-US" kern="0" dirty="0"/>
          </a:p>
        </p:txBody>
      </p:sp>
      <p:sp>
        <p:nvSpPr>
          <p:cNvPr id="7" name="Text Box 10"/>
          <p:cNvSpPr txBox="1">
            <a:spLocks noChangeArrowheads="1"/>
          </p:cNvSpPr>
          <p:nvPr/>
        </p:nvSpPr>
        <p:spPr bwMode="auto">
          <a:xfrm>
            <a:off x="1018703" y="2657813"/>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zh-CN" altLang="en-US" sz="2400" b="1" dirty="0">
                <a:solidFill>
                  <a:srgbClr val="0000CC"/>
                </a:solidFill>
              </a:rPr>
              <a:t>尾部插入</a:t>
            </a:r>
          </a:p>
        </p:txBody>
      </p:sp>
      <p:sp>
        <p:nvSpPr>
          <p:cNvPr id="4" name="矩形 3"/>
          <p:cNvSpPr/>
          <p:nvPr/>
        </p:nvSpPr>
        <p:spPr>
          <a:xfrm>
            <a:off x="1038610" y="3106709"/>
            <a:ext cx="2015113" cy="1475001"/>
          </a:xfrm>
          <a:prstGeom prst="rect">
            <a:avLst/>
          </a:prstGeom>
          <a:ln>
            <a:solidFill>
              <a:schemeClr val="accent4"/>
            </a:solidFill>
          </a:ln>
        </p:spPr>
        <p:txBody>
          <a:bodyPr wrap="square" lIns="72000" tIns="72000" rIns="0" bIns="72000">
            <a:spAutoFit/>
          </a:bodyPr>
          <a:lstStyle/>
          <a:p>
            <a:pPr marL="0" lvl="1">
              <a:lnSpc>
                <a:spcPct val="80000"/>
              </a:lnSpc>
              <a:buFont typeface="Wingdings" panose="05000000000000000000" pitchFamily="2" charset="2"/>
              <a:buNone/>
            </a:pPr>
            <a:r>
              <a:rPr lang="en-US" altLang="zh-CN" sz="1800" b="1" dirty="0" smtClean="0">
                <a:solidFill>
                  <a:srgbClr val="CC0066"/>
                </a:solidFill>
              </a:rPr>
              <a:t>p-</a:t>
            </a:r>
            <a:r>
              <a:rPr lang="en-US" altLang="zh-CN" sz="1800" b="1" dirty="0">
                <a:solidFill>
                  <a:srgbClr val="CC0066"/>
                </a:solidFill>
              </a:rPr>
              <a:t>&gt;next = NULL;</a:t>
            </a:r>
          </a:p>
          <a:p>
            <a:pPr marL="0" lvl="1">
              <a:lnSpc>
                <a:spcPct val="80000"/>
              </a:lnSpc>
              <a:buFont typeface="Wingdings" panose="05000000000000000000" pitchFamily="2" charset="2"/>
              <a:buNone/>
            </a:pPr>
            <a:r>
              <a:rPr lang="en-US" altLang="zh-CN" sz="1800" b="1" dirty="0" smtClean="0">
                <a:solidFill>
                  <a:srgbClr val="CC0066"/>
                </a:solidFill>
              </a:rPr>
              <a:t>if(head </a:t>
            </a:r>
            <a:r>
              <a:rPr lang="en-US" altLang="zh-CN" sz="1800" b="1" dirty="0">
                <a:solidFill>
                  <a:srgbClr val="CC0066"/>
                </a:solidFill>
              </a:rPr>
              <a:t>== NULL) </a:t>
            </a:r>
          </a:p>
          <a:p>
            <a:pPr marL="0" lvl="1">
              <a:lnSpc>
                <a:spcPct val="80000"/>
              </a:lnSpc>
              <a:buFont typeface="Wingdings" panose="05000000000000000000" pitchFamily="2" charset="2"/>
              <a:buNone/>
            </a:pPr>
            <a:r>
              <a:rPr lang="en-US" altLang="zh-CN" sz="1800" b="1" dirty="0" smtClean="0">
                <a:solidFill>
                  <a:srgbClr val="CC0066"/>
                </a:solidFill>
              </a:rPr>
              <a:t>   </a:t>
            </a:r>
            <a:r>
              <a:rPr lang="en-US" altLang="zh-CN" sz="1800" b="1" dirty="0">
                <a:solidFill>
                  <a:srgbClr val="CC0066"/>
                </a:solidFill>
              </a:rPr>
              <a:t>head = p;</a:t>
            </a:r>
          </a:p>
          <a:p>
            <a:pPr marL="0" lvl="1">
              <a:lnSpc>
                <a:spcPct val="80000"/>
              </a:lnSpc>
              <a:buFont typeface="Wingdings" panose="05000000000000000000" pitchFamily="2" charset="2"/>
              <a:buNone/>
            </a:pPr>
            <a:r>
              <a:rPr lang="en-US" altLang="zh-CN" sz="1800" b="1" dirty="0" smtClean="0">
                <a:solidFill>
                  <a:srgbClr val="CC0066"/>
                </a:solidFill>
              </a:rPr>
              <a:t>else  </a:t>
            </a:r>
            <a:endParaRPr lang="en-US" altLang="zh-CN" sz="1800" b="1" dirty="0">
              <a:solidFill>
                <a:srgbClr val="CC0066"/>
              </a:solidFill>
            </a:endParaRPr>
          </a:p>
          <a:p>
            <a:pPr marL="0" lvl="1">
              <a:lnSpc>
                <a:spcPct val="80000"/>
              </a:lnSpc>
              <a:buFont typeface="Wingdings" panose="05000000000000000000" pitchFamily="2" charset="2"/>
              <a:buNone/>
            </a:pPr>
            <a:r>
              <a:rPr lang="en-US" altLang="zh-CN" sz="1800" b="1" dirty="0" smtClean="0">
                <a:solidFill>
                  <a:srgbClr val="CC0066"/>
                </a:solidFill>
              </a:rPr>
              <a:t>   </a:t>
            </a:r>
            <a:r>
              <a:rPr lang="en-US" altLang="zh-CN" sz="1800" b="1" dirty="0">
                <a:solidFill>
                  <a:srgbClr val="CC0066"/>
                </a:solidFill>
              </a:rPr>
              <a:t>tail-&gt;next = p;</a:t>
            </a:r>
          </a:p>
          <a:p>
            <a:pPr marL="0" lvl="1">
              <a:lnSpc>
                <a:spcPct val="80000"/>
              </a:lnSpc>
              <a:buFont typeface="Wingdings" panose="05000000000000000000" pitchFamily="2" charset="2"/>
              <a:buNone/>
            </a:pPr>
            <a:r>
              <a:rPr lang="en-US" altLang="zh-CN" sz="1800" b="1" dirty="0" smtClean="0">
                <a:solidFill>
                  <a:srgbClr val="CC0066"/>
                </a:solidFill>
              </a:rPr>
              <a:t> </a:t>
            </a:r>
            <a:r>
              <a:rPr lang="en-US" altLang="zh-CN" sz="1800" b="1" dirty="0">
                <a:solidFill>
                  <a:srgbClr val="CC0066"/>
                </a:solidFill>
              </a:rPr>
              <a:t>tail = p;</a:t>
            </a:r>
            <a:endParaRPr lang="zh-CN" altLang="en-US" sz="1800" b="1" dirty="0"/>
          </a:p>
        </p:txBody>
      </p:sp>
      <p:sp>
        <p:nvSpPr>
          <p:cNvPr id="10" name="矩形 9"/>
          <p:cNvSpPr/>
          <p:nvPr/>
        </p:nvSpPr>
        <p:spPr bwMode="auto">
          <a:xfrm>
            <a:off x="950491" y="4689140"/>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33" name="组合 32"/>
          <p:cNvGrpSpPr/>
          <p:nvPr/>
        </p:nvGrpSpPr>
        <p:grpSpPr>
          <a:xfrm>
            <a:off x="2046167" y="4653136"/>
            <a:ext cx="1512724" cy="432048"/>
            <a:chOff x="2267188" y="5229200"/>
            <a:chExt cx="1512724" cy="432048"/>
          </a:xfrm>
        </p:grpSpPr>
        <p:sp>
          <p:nvSpPr>
            <p:cNvPr id="26" name="矩形 25"/>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32" name="组合 31"/>
            <p:cNvGrpSpPr/>
            <p:nvPr/>
          </p:nvGrpSpPr>
          <p:grpSpPr>
            <a:xfrm>
              <a:off x="3023550" y="5229200"/>
              <a:ext cx="756362" cy="432048"/>
              <a:chOff x="3023550" y="5229200"/>
              <a:chExt cx="756362" cy="432048"/>
            </a:xfrm>
          </p:grpSpPr>
          <p:cxnSp>
            <p:nvCxnSpPr>
              <p:cNvPr id="28" name="直接连接符 27"/>
              <p:cNvCxnSpPr>
                <a:stCxn id="26" idx="0"/>
                <a:endCxn id="26"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29" name="矩形 28"/>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30" name="矩形 29"/>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P</a:t>
              </a:r>
              <a:endParaRPr lang="zh-CN" altLang="en-US" sz="1600" b="1" dirty="0">
                <a:solidFill>
                  <a:schemeClr val="accent4"/>
                </a:solidFill>
              </a:endParaRPr>
            </a:p>
          </p:txBody>
        </p:sp>
      </p:grpSp>
      <p:cxnSp>
        <p:nvCxnSpPr>
          <p:cNvPr id="35" name="直接箭头连接符 34"/>
          <p:cNvCxnSpPr>
            <a:stCxn id="10" idx="3"/>
            <a:endCxn id="26" idx="1"/>
          </p:cNvCxnSpPr>
          <p:nvPr/>
        </p:nvCxnSpPr>
        <p:spPr bwMode="auto">
          <a:xfrm>
            <a:off x="1723553" y="4869160"/>
            <a:ext cx="322614" cy="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36" name="矩形 35"/>
          <p:cNvSpPr/>
          <p:nvPr/>
        </p:nvSpPr>
        <p:spPr bwMode="auto">
          <a:xfrm>
            <a:off x="950491" y="5400551"/>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37" name="组合 36"/>
          <p:cNvGrpSpPr/>
          <p:nvPr/>
        </p:nvGrpSpPr>
        <p:grpSpPr>
          <a:xfrm>
            <a:off x="2046167" y="5364547"/>
            <a:ext cx="1512724" cy="432048"/>
            <a:chOff x="2267188" y="5229200"/>
            <a:chExt cx="1512724" cy="432048"/>
          </a:xfrm>
        </p:grpSpPr>
        <p:sp>
          <p:nvSpPr>
            <p:cNvPr id="38" name="矩形 37"/>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41" name="直接连接符 40"/>
            <p:cNvCxnSpPr>
              <a:stCxn id="38" idx="0"/>
              <a:endCxn id="38"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40" name="矩形 39"/>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A</a:t>
              </a:r>
              <a:endParaRPr lang="zh-CN" altLang="en-US" sz="1600" b="1" dirty="0">
                <a:solidFill>
                  <a:schemeClr val="accent4"/>
                </a:solidFill>
              </a:endParaRPr>
            </a:p>
          </p:txBody>
        </p:sp>
      </p:grpSp>
      <p:cxnSp>
        <p:nvCxnSpPr>
          <p:cNvPr id="43" name="直接箭头连接符 42"/>
          <p:cNvCxnSpPr>
            <a:stCxn id="36" idx="3"/>
            <a:endCxn id="38" idx="1"/>
          </p:cNvCxnSpPr>
          <p:nvPr/>
        </p:nvCxnSpPr>
        <p:spPr bwMode="auto">
          <a:xfrm>
            <a:off x="1723553" y="5580571"/>
            <a:ext cx="322614" cy="0"/>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44" name="组合 43"/>
          <p:cNvGrpSpPr/>
          <p:nvPr/>
        </p:nvGrpSpPr>
        <p:grpSpPr>
          <a:xfrm>
            <a:off x="3881505" y="5367915"/>
            <a:ext cx="1512724" cy="432048"/>
            <a:chOff x="2267188" y="5229200"/>
            <a:chExt cx="1512724" cy="432048"/>
          </a:xfrm>
        </p:grpSpPr>
        <p:sp>
          <p:nvSpPr>
            <p:cNvPr id="45" name="矩形 44"/>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46" name="组合 45"/>
            <p:cNvGrpSpPr/>
            <p:nvPr/>
          </p:nvGrpSpPr>
          <p:grpSpPr>
            <a:xfrm>
              <a:off x="3023550" y="5229200"/>
              <a:ext cx="756362" cy="432048"/>
              <a:chOff x="3023550" y="5229200"/>
              <a:chExt cx="756362" cy="432048"/>
            </a:xfrm>
          </p:grpSpPr>
          <p:cxnSp>
            <p:nvCxnSpPr>
              <p:cNvPr id="48" name="直接连接符 47"/>
              <p:cNvCxnSpPr>
                <a:stCxn id="45" idx="0"/>
                <a:endCxn id="45"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49" name="矩形 48"/>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47" name="矩形 46"/>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B</a:t>
              </a:r>
              <a:endParaRPr lang="zh-CN" altLang="en-US" sz="1600" b="1" dirty="0">
                <a:solidFill>
                  <a:schemeClr val="accent4"/>
                </a:solidFill>
              </a:endParaRPr>
            </a:p>
          </p:txBody>
        </p:sp>
      </p:grpSp>
      <p:cxnSp>
        <p:nvCxnSpPr>
          <p:cNvPr id="50" name="直接箭头连接符 49"/>
          <p:cNvCxnSpPr/>
          <p:nvPr/>
        </p:nvCxnSpPr>
        <p:spPr bwMode="auto">
          <a:xfrm>
            <a:off x="3274745" y="5580571"/>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52" name="矩形 51"/>
          <p:cNvSpPr/>
          <p:nvPr/>
        </p:nvSpPr>
        <p:spPr>
          <a:xfrm>
            <a:off x="4430525" y="5885057"/>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tail</a:t>
            </a:r>
            <a:endParaRPr lang="zh-CN" altLang="en-US" sz="1600" b="1" dirty="0">
              <a:solidFill>
                <a:schemeClr val="accent4"/>
              </a:solidFill>
            </a:endParaRPr>
          </a:p>
        </p:txBody>
      </p:sp>
      <p:sp>
        <p:nvSpPr>
          <p:cNvPr id="81" name="矩形 80"/>
          <p:cNvSpPr/>
          <p:nvPr/>
        </p:nvSpPr>
        <p:spPr bwMode="auto">
          <a:xfrm>
            <a:off x="943477" y="6147966"/>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82" name="组合 81"/>
          <p:cNvGrpSpPr/>
          <p:nvPr/>
        </p:nvGrpSpPr>
        <p:grpSpPr>
          <a:xfrm>
            <a:off x="2039153" y="6111962"/>
            <a:ext cx="1512724" cy="432048"/>
            <a:chOff x="2267188" y="5229200"/>
            <a:chExt cx="1512724" cy="432048"/>
          </a:xfrm>
        </p:grpSpPr>
        <p:sp>
          <p:nvSpPr>
            <p:cNvPr id="83" name="矩形 82"/>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84" name="直接连接符 83"/>
            <p:cNvCxnSpPr>
              <a:stCxn id="83" idx="0"/>
              <a:endCxn id="83"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85" name="矩形 84"/>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A</a:t>
              </a:r>
              <a:endParaRPr lang="zh-CN" altLang="en-US" sz="1600" b="1" dirty="0">
                <a:solidFill>
                  <a:schemeClr val="accent4"/>
                </a:solidFill>
              </a:endParaRPr>
            </a:p>
          </p:txBody>
        </p:sp>
      </p:grpSp>
      <p:cxnSp>
        <p:nvCxnSpPr>
          <p:cNvPr id="86" name="直接箭头连接符 85"/>
          <p:cNvCxnSpPr>
            <a:stCxn id="81" idx="3"/>
            <a:endCxn id="83" idx="1"/>
          </p:cNvCxnSpPr>
          <p:nvPr/>
        </p:nvCxnSpPr>
        <p:spPr bwMode="auto">
          <a:xfrm>
            <a:off x="1716539" y="6327986"/>
            <a:ext cx="322614" cy="0"/>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87" name="组合 86"/>
          <p:cNvGrpSpPr/>
          <p:nvPr/>
        </p:nvGrpSpPr>
        <p:grpSpPr>
          <a:xfrm>
            <a:off x="3874491" y="6115330"/>
            <a:ext cx="1512724" cy="432048"/>
            <a:chOff x="2267188" y="5229200"/>
            <a:chExt cx="1512724" cy="432048"/>
          </a:xfrm>
        </p:grpSpPr>
        <p:sp>
          <p:nvSpPr>
            <p:cNvPr id="88" name="矩形 87"/>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89" name="组合 88"/>
            <p:cNvGrpSpPr/>
            <p:nvPr/>
          </p:nvGrpSpPr>
          <p:grpSpPr>
            <a:xfrm>
              <a:off x="3023550" y="5229200"/>
              <a:ext cx="756362" cy="432048"/>
              <a:chOff x="3023550" y="5229200"/>
              <a:chExt cx="756362" cy="432048"/>
            </a:xfrm>
          </p:grpSpPr>
          <p:cxnSp>
            <p:nvCxnSpPr>
              <p:cNvPr id="91" name="直接连接符 90"/>
              <p:cNvCxnSpPr>
                <a:stCxn id="88" idx="0"/>
                <a:endCxn id="88"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92" name="矩形 91"/>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endParaRPr lang="zh-CN" altLang="en-US" sz="1600" b="1" dirty="0">
                  <a:solidFill>
                    <a:schemeClr val="accent4"/>
                  </a:solidFill>
                </a:endParaRPr>
              </a:p>
            </p:txBody>
          </p:sp>
        </p:grpSp>
        <p:sp>
          <p:nvSpPr>
            <p:cNvPr id="90" name="矩形 89"/>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B</a:t>
              </a:r>
              <a:endParaRPr lang="zh-CN" altLang="en-US" sz="1600" b="1" dirty="0">
                <a:solidFill>
                  <a:schemeClr val="accent4"/>
                </a:solidFill>
              </a:endParaRPr>
            </a:p>
          </p:txBody>
        </p:sp>
      </p:grpSp>
      <p:cxnSp>
        <p:nvCxnSpPr>
          <p:cNvPr id="93" name="直接箭头连接符 92"/>
          <p:cNvCxnSpPr/>
          <p:nvPr/>
        </p:nvCxnSpPr>
        <p:spPr bwMode="auto">
          <a:xfrm>
            <a:off x="3267731" y="6327986"/>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94" name="矩形 93"/>
          <p:cNvSpPr/>
          <p:nvPr/>
        </p:nvSpPr>
        <p:spPr>
          <a:xfrm>
            <a:off x="6273762" y="660262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tail</a:t>
            </a:r>
            <a:endParaRPr lang="zh-CN" altLang="en-US" sz="1600" b="1" dirty="0">
              <a:solidFill>
                <a:schemeClr val="accent4"/>
              </a:solidFill>
            </a:endParaRPr>
          </a:p>
        </p:txBody>
      </p:sp>
      <p:grpSp>
        <p:nvGrpSpPr>
          <p:cNvPr id="95" name="组合 94"/>
          <p:cNvGrpSpPr/>
          <p:nvPr/>
        </p:nvGrpSpPr>
        <p:grpSpPr>
          <a:xfrm>
            <a:off x="5709829" y="6111962"/>
            <a:ext cx="1512724" cy="432048"/>
            <a:chOff x="2267188" y="5229200"/>
            <a:chExt cx="1512724" cy="432048"/>
          </a:xfrm>
        </p:grpSpPr>
        <p:sp>
          <p:nvSpPr>
            <p:cNvPr id="96" name="矩形 95"/>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97" name="组合 96"/>
            <p:cNvGrpSpPr/>
            <p:nvPr/>
          </p:nvGrpSpPr>
          <p:grpSpPr>
            <a:xfrm>
              <a:off x="3023550" y="5229200"/>
              <a:ext cx="756362" cy="432048"/>
              <a:chOff x="3023550" y="5229200"/>
              <a:chExt cx="756362" cy="432048"/>
            </a:xfrm>
          </p:grpSpPr>
          <p:cxnSp>
            <p:nvCxnSpPr>
              <p:cNvPr id="99" name="直接连接符 98"/>
              <p:cNvCxnSpPr>
                <a:stCxn id="96" idx="0"/>
                <a:endCxn id="96"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00" name="矩形 99"/>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98" name="矩形 97"/>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P</a:t>
              </a:r>
              <a:endParaRPr lang="zh-CN" altLang="en-US" sz="1600" b="1" dirty="0">
                <a:solidFill>
                  <a:schemeClr val="accent4"/>
                </a:solidFill>
              </a:endParaRPr>
            </a:p>
          </p:txBody>
        </p:sp>
      </p:grpSp>
      <p:cxnSp>
        <p:nvCxnSpPr>
          <p:cNvPr id="101" name="直接箭头连接符 100"/>
          <p:cNvCxnSpPr/>
          <p:nvPr/>
        </p:nvCxnSpPr>
        <p:spPr bwMode="auto">
          <a:xfrm>
            <a:off x="5240970" y="6327986"/>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cxnSp>
        <p:nvCxnSpPr>
          <p:cNvPr id="103" name="直接连接符 102"/>
          <p:cNvCxnSpPr/>
          <p:nvPr/>
        </p:nvCxnSpPr>
        <p:spPr bwMode="auto">
          <a:xfrm>
            <a:off x="778906" y="5229200"/>
            <a:ext cx="7105462" cy="0"/>
          </a:xfrm>
          <a:prstGeom prst="line">
            <a:avLst/>
          </a:prstGeom>
          <a:ln w="28575">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nvGrpSpPr>
          <p:cNvPr id="104" name="组合 103"/>
          <p:cNvGrpSpPr/>
          <p:nvPr/>
        </p:nvGrpSpPr>
        <p:grpSpPr>
          <a:xfrm>
            <a:off x="3252375" y="3681410"/>
            <a:ext cx="1512724" cy="432048"/>
            <a:chOff x="2267188" y="5229200"/>
            <a:chExt cx="1512724" cy="432048"/>
          </a:xfrm>
        </p:grpSpPr>
        <p:sp>
          <p:nvSpPr>
            <p:cNvPr id="105" name="矩形 104"/>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8" name="直接连接符 107"/>
            <p:cNvCxnSpPr>
              <a:stCxn id="105" idx="0"/>
              <a:endCxn id="105"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07" name="矩形 106"/>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P</a:t>
              </a:r>
              <a:endParaRPr lang="zh-CN" altLang="en-US" sz="1600" b="1" dirty="0">
                <a:solidFill>
                  <a:schemeClr val="accent4"/>
                </a:solidFill>
              </a:endParaRPr>
            </a:p>
          </p:txBody>
        </p:sp>
      </p:grpSp>
    </p:spTree>
    <p:extLst>
      <p:ext uri="{BB962C8B-B14F-4D97-AF65-F5344CB8AC3E}">
        <p14:creationId xmlns:p14="http://schemas.microsoft.com/office/powerpoint/2010/main" val="3119950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1187624" y="2936082"/>
            <a:ext cx="6935438" cy="1428750"/>
          </a:xfrm>
          <a:prstGeom prst="roundRect">
            <a:avLst>
              <a:gd name="adj" fmla="val 50000"/>
            </a:avLst>
          </a:prstGeom>
          <a:noFill/>
          <a:ln w="9525">
            <a:noFill/>
            <a:round/>
          </a:ln>
          <a:effectLst/>
        </p:spPr>
        <p:txBody>
          <a:bodyPr anchor="ctr"/>
          <a:lstStyle/>
          <a:p>
            <a:pPr algn="ctr">
              <a:lnSpc>
                <a:spcPct val="90000"/>
              </a:lnSpc>
              <a:defRPr/>
            </a:pPr>
            <a:r>
              <a:rPr lang="zh-CN" altLang="en-US" sz="4000" b="1" dirty="0">
                <a:effectLst>
                  <a:outerShdw blurRad="38100" dist="38100" dir="2700000" algn="tl">
                    <a:srgbClr val="C0C0C0"/>
                  </a:outerShdw>
                </a:effectLst>
                <a:ea typeface="黑体" panose="02010609060101010101" pitchFamily="2" charset="-122"/>
              </a:rPr>
              <a:t/>
            </a:r>
            <a:br>
              <a:rPr lang="zh-CN" altLang="en-US" sz="4000" b="1" dirty="0">
                <a:effectLst>
                  <a:outerShdw blurRad="38100" dist="38100" dir="2700000" algn="tl">
                    <a:srgbClr val="C0C0C0"/>
                  </a:outerShdw>
                </a:effectLst>
                <a:ea typeface="黑体" panose="02010609060101010101" pitchFamily="2" charset="-122"/>
              </a:rPr>
            </a:br>
            <a:r>
              <a:rPr lang="zh-CN" altLang="en-US" sz="4000" b="1" dirty="0" smtClean="0">
                <a:effectLst>
                  <a:outerShdw blurRad="38100" dist="38100" dir="2700000" algn="tl">
                    <a:srgbClr val="C0C0C0"/>
                  </a:outerShdw>
                </a:effectLst>
                <a:ea typeface="黑体" panose="02010609060101010101" pitchFamily="2" charset="-122"/>
              </a:rPr>
              <a:t>单链表的常用操作</a:t>
            </a:r>
            <a:endParaRPr lang="zh-CN" altLang="en-US" sz="4000" b="1" dirty="0">
              <a:solidFill>
                <a:srgbClr val="0070C0"/>
              </a:solidFill>
              <a:effectLst>
                <a:outerShdw blurRad="38100" dist="38100" dir="2700000" algn="tl">
                  <a:srgbClr val="C0C0C0"/>
                </a:outerShdw>
              </a:effectLst>
              <a:ea typeface="黑体" panose="02010609060101010101" pitchFamily="2" charset="-122"/>
            </a:endParaRPr>
          </a:p>
        </p:txBody>
      </p:sp>
      <p:grpSp>
        <p:nvGrpSpPr>
          <p:cNvPr id="2" name="Group 3"/>
          <p:cNvGrpSpPr/>
          <p:nvPr/>
        </p:nvGrpSpPr>
        <p:grpSpPr bwMode="auto">
          <a:xfrm>
            <a:off x="1757363" y="3611166"/>
            <a:ext cx="5947172" cy="789384"/>
            <a:chOff x="0" y="1536"/>
            <a:chExt cx="5675" cy="663"/>
          </a:xfrm>
        </p:grpSpPr>
        <p:grpSp>
          <p:nvGrpSpPr>
            <p:cNvPr id="3" name="Group 4"/>
            <p:cNvGrpSpPr/>
            <p:nvPr/>
          </p:nvGrpSpPr>
          <p:grpSpPr bwMode="auto">
            <a:xfrm>
              <a:off x="183" y="1604"/>
              <a:ext cx="448" cy="299"/>
              <a:chOff x="720" y="336"/>
              <a:chExt cx="624" cy="432"/>
            </a:xfrm>
          </p:grpSpPr>
          <p:sp>
            <p:nvSpPr>
              <p:cNvPr id="32779" name="Rectangle 5"/>
              <p:cNvSpPr>
                <a:spLocks noChangeArrowheads="1"/>
              </p:cNvSpPr>
              <p:nvPr/>
            </p:nvSpPr>
            <p:spPr bwMode="auto">
              <a:xfrm>
                <a:off x="720" y="336"/>
                <a:ext cx="384" cy="432"/>
              </a:xfrm>
              <a:prstGeom prst="rect">
                <a:avLst/>
              </a:prstGeom>
              <a:solidFill>
                <a:schemeClr val="folHlink"/>
              </a:solidFill>
              <a:ln w="9525">
                <a:noFill/>
                <a:miter lim="800000"/>
              </a:ln>
            </p:spPr>
            <p:txBody>
              <a:bodyPr wrap="none" anchor="ctr"/>
              <a:lstStyle/>
              <a:p>
                <a:endParaRPr lang="zh-CN" altLang="zh-CN" sz="900"/>
              </a:p>
            </p:txBody>
          </p:sp>
          <p:sp>
            <p:nvSpPr>
              <p:cNvPr id="32780"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endParaRPr lang="zh-CN" altLang="zh-CN" sz="900"/>
              </a:p>
            </p:txBody>
          </p:sp>
        </p:grpSp>
        <p:grpSp>
          <p:nvGrpSpPr>
            <p:cNvPr id="4" name="Group 7"/>
            <p:cNvGrpSpPr/>
            <p:nvPr/>
          </p:nvGrpSpPr>
          <p:grpSpPr bwMode="auto">
            <a:xfrm>
              <a:off x="261" y="1870"/>
              <a:ext cx="465" cy="299"/>
              <a:chOff x="912" y="2640"/>
              <a:chExt cx="672" cy="432"/>
            </a:xfrm>
          </p:grpSpPr>
          <p:sp>
            <p:nvSpPr>
              <p:cNvPr id="32777" name="Rectangle 8"/>
              <p:cNvSpPr>
                <a:spLocks noChangeArrowheads="1"/>
              </p:cNvSpPr>
              <p:nvPr/>
            </p:nvSpPr>
            <p:spPr bwMode="auto">
              <a:xfrm>
                <a:off x="912" y="2640"/>
                <a:ext cx="384" cy="432"/>
              </a:xfrm>
              <a:prstGeom prst="rect">
                <a:avLst/>
              </a:prstGeom>
              <a:solidFill>
                <a:schemeClr val="accent2"/>
              </a:solidFill>
              <a:ln w="9525">
                <a:noFill/>
                <a:miter lim="800000"/>
              </a:ln>
            </p:spPr>
            <p:txBody>
              <a:bodyPr wrap="none" anchor="ctr"/>
              <a:lstStyle/>
              <a:p>
                <a:endParaRPr lang="zh-CN" altLang="zh-CN" sz="900"/>
              </a:p>
            </p:txBody>
          </p:sp>
          <p:sp>
            <p:nvSpPr>
              <p:cNvPr id="32778"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endParaRPr lang="zh-CN" altLang="zh-CN" sz="900"/>
              </a:p>
            </p:txBody>
          </p:sp>
        </p:grpSp>
        <p:sp>
          <p:nvSpPr>
            <p:cNvPr id="32774"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endParaRPr lang="zh-CN" altLang="zh-CN" sz="900"/>
            </a:p>
          </p:txBody>
        </p:sp>
        <p:sp>
          <p:nvSpPr>
            <p:cNvPr id="32775" name="Rectangle 11"/>
            <p:cNvSpPr>
              <a:spLocks noChangeArrowheads="1"/>
            </p:cNvSpPr>
            <p:nvPr/>
          </p:nvSpPr>
          <p:spPr bwMode="auto">
            <a:xfrm>
              <a:off x="400" y="1536"/>
              <a:ext cx="20" cy="663"/>
            </a:xfrm>
            <a:prstGeom prst="rect">
              <a:avLst/>
            </a:prstGeom>
            <a:solidFill>
              <a:schemeClr val="bg2"/>
            </a:solidFill>
            <a:ln w="9525">
              <a:noFill/>
              <a:miter lim="800000"/>
            </a:ln>
          </p:spPr>
          <p:txBody>
            <a:bodyPr wrap="none" anchor="ctr"/>
            <a:lstStyle/>
            <a:p>
              <a:endParaRPr lang="zh-CN" altLang="zh-CN" sz="900"/>
            </a:p>
          </p:txBody>
        </p:sp>
        <p:sp>
          <p:nvSpPr>
            <p:cNvPr id="32776"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endParaRPr lang="zh-CN" altLang="zh-CN" sz="900"/>
            </a:p>
          </p:txBody>
        </p:sp>
      </p:grpSp>
    </p:spTree>
    <p:extLst>
      <p:ext uri="{BB962C8B-B14F-4D97-AF65-F5344CB8AC3E}">
        <p14:creationId xmlns:p14="http://schemas.microsoft.com/office/powerpoint/2010/main" val="1765270094"/>
      </p:ext>
    </p:extLst>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单链表</a:t>
            </a:r>
            <a:r>
              <a:rPr lang="zh-CN" altLang="en-US" dirty="0"/>
              <a:t>的常用操作</a:t>
            </a:r>
          </a:p>
        </p:txBody>
      </p:sp>
      <p:sp>
        <p:nvSpPr>
          <p:cNvPr id="3" name="内容占位符 2"/>
          <p:cNvSpPr>
            <a:spLocks noGrp="1"/>
          </p:cNvSpPr>
          <p:nvPr>
            <p:ph idx="1"/>
          </p:nvPr>
        </p:nvSpPr>
        <p:spPr/>
        <p:txBody>
          <a:bodyPr/>
          <a:lstStyle/>
          <a:p>
            <a:pPr>
              <a:lnSpc>
                <a:spcPct val="80000"/>
              </a:lnSpc>
            </a:pPr>
            <a:r>
              <a:rPr lang="zh-CN" altLang="en-US" sz="2400" dirty="0" smtClean="0">
                <a:solidFill>
                  <a:srgbClr val="0000CC"/>
                </a:solidFill>
              </a:rPr>
              <a:t>输出链表</a:t>
            </a:r>
            <a:endParaRPr lang="en-US" altLang="zh-CN" sz="2400" dirty="0" smtClean="0">
              <a:solidFill>
                <a:srgbClr val="0000CC"/>
              </a:solidFill>
            </a:endParaRPr>
          </a:p>
          <a:p>
            <a:pPr marL="0" indent="0">
              <a:lnSpc>
                <a:spcPct val="100000"/>
              </a:lnSpc>
              <a:buNone/>
            </a:pPr>
            <a:r>
              <a:rPr lang="zh-CN" altLang="en-US" sz="2400" dirty="0" smtClean="0"/>
              <a:t>       定义</a:t>
            </a:r>
            <a:r>
              <a:rPr lang="zh-CN" altLang="en-US" sz="2400" dirty="0"/>
              <a:t>一个结构体类型指针变量</a:t>
            </a:r>
            <a:r>
              <a:rPr lang="en-US" altLang="zh-CN" sz="2400" dirty="0"/>
              <a:t>p</a:t>
            </a:r>
            <a:r>
              <a:rPr lang="zh-CN" altLang="en-US" sz="2400" dirty="0"/>
              <a:t>，先做赋值</a:t>
            </a:r>
            <a:r>
              <a:rPr lang="en-US" altLang="zh-CN" sz="2400" dirty="0"/>
              <a:t>p = head</a:t>
            </a:r>
            <a:r>
              <a:rPr lang="zh-CN" altLang="en-US" sz="2400" dirty="0"/>
              <a:t>，此时</a:t>
            </a:r>
            <a:r>
              <a:rPr lang="en-US" altLang="zh-CN" sz="2400" dirty="0"/>
              <a:t>p</a:t>
            </a:r>
            <a:r>
              <a:rPr lang="zh-CN" altLang="en-US" sz="2400" dirty="0"/>
              <a:t>指向了链表的第一个结点，可以用</a:t>
            </a:r>
            <a:r>
              <a:rPr lang="en-US" altLang="zh-CN" sz="2400" dirty="0"/>
              <a:t>p</a:t>
            </a:r>
            <a:r>
              <a:rPr lang="zh-CN" altLang="en-US" sz="2400" dirty="0"/>
              <a:t>配合指向运算符输出第一个结点中的数据，然后后移指针</a:t>
            </a:r>
            <a:r>
              <a:rPr lang="en-US" altLang="zh-CN" sz="2400" dirty="0"/>
              <a:t>p</a:t>
            </a:r>
            <a:r>
              <a:rPr lang="zh-CN" altLang="en-US" sz="2400" dirty="0"/>
              <a:t>，</a:t>
            </a:r>
            <a:r>
              <a:rPr lang="zh-CN" altLang="en-US" sz="2400" dirty="0" smtClean="0"/>
              <a:t>通过</a:t>
            </a:r>
            <a:endParaRPr lang="en-US" altLang="zh-CN" sz="2400" dirty="0" smtClean="0"/>
          </a:p>
          <a:p>
            <a:pPr marL="0" indent="0">
              <a:lnSpc>
                <a:spcPct val="100000"/>
              </a:lnSpc>
              <a:buNone/>
            </a:pPr>
            <a:r>
              <a:rPr lang="en-US" altLang="zh-CN" sz="2400" dirty="0" smtClean="0">
                <a:solidFill>
                  <a:srgbClr val="FF0000"/>
                </a:solidFill>
              </a:rPr>
              <a:t>p=p-</a:t>
            </a:r>
            <a:r>
              <a:rPr lang="en-US" altLang="zh-CN" sz="2400" dirty="0">
                <a:solidFill>
                  <a:srgbClr val="FF0000"/>
                </a:solidFill>
              </a:rPr>
              <a:t>&gt;next</a:t>
            </a:r>
            <a:r>
              <a:rPr lang="zh-CN" altLang="en-US" sz="2400" dirty="0"/>
              <a:t>，将指针</a:t>
            </a:r>
            <a:r>
              <a:rPr lang="en-US" altLang="zh-CN" sz="2400" dirty="0"/>
              <a:t>p</a:t>
            </a:r>
            <a:r>
              <a:rPr lang="zh-CN" altLang="en-US" sz="2400" dirty="0"/>
              <a:t>指向下一个结点，输出下一个结点的数据，然后再后移指针，直到</a:t>
            </a:r>
            <a:r>
              <a:rPr lang="en-US" altLang="zh-CN" sz="2400" dirty="0"/>
              <a:t>p</a:t>
            </a:r>
            <a:r>
              <a:rPr lang="zh-CN" altLang="en-US" sz="2400" dirty="0"/>
              <a:t>的值为</a:t>
            </a:r>
            <a:r>
              <a:rPr lang="en-US" altLang="zh-CN" sz="2400" dirty="0"/>
              <a:t>NULL</a:t>
            </a:r>
            <a:r>
              <a:rPr lang="zh-CN" altLang="en-US" sz="2400" dirty="0"/>
              <a:t>，说明所有结点已经输出过了，操作结束</a:t>
            </a:r>
            <a:r>
              <a:rPr lang="zh-CN" altLang="en-US" sz="2400" dirty="0" smtClean="0"/>
              <a:t>。</a:t>
            </a:r>
            <a:endParaRPr lang="en-US" altLang="zh-CN" sz="2400" dirty="0" smtClean="0"/>
          </a:p>
          <a:p>
            <a:pPr marL="0" indent="0">
              <a:lnSpc>
                <a:spcPct val="80000"/>
              </a:lnSpc>
              <a:buNone/>
            </a:pPr>
            <a:endParaRPr lang="en-US" altLang="zh-CN" sz="2400" dirty="0" smtClean="0"/>
          </a:p>
          <a:p>
            <a:pPr marL="0" indent="0">
              <a:lnSpc>
                <a:spcPct val="80000"/>
              </a:lnSpc>
              <a:buNone/>
            </a:pPr>
            <a:r>
              <a:rPr lang="zh-CN" altLang="en-US" sz="2400" dirty="0" smtClean="0"/>
              <a:t>      用</a:t>
            </a:r>
            <a:r>
              <a:rPr lang="zh-CN" altLang="en-US" sz="2400" dirty="0"/>
              <a:t>指针变量循环遍历链表所有结点的关键语句如：</a:t>
            </a:r>
          </a:p>
          <a:p>
            <a:pPr marL="530225" lvl="2" indent="0">
              <a:lnSpc>
                <a:spcPct val="80000"/>
              </a:lnSpc>
              <a:buNone/>
            </a:pPr>
            <a:r>
              <a:rPr lang="en-US" altLang="zh-CN" sz="2400" dirty="0">
                <a:solidFill>
                  <a:srgbClr val="FF3300"/>
                </a:solidFill>
              </a:rPr>
              <a:t>struct stu_node *p;</a:t>
            </a:r>
          </a:p>
          <a:p>
            <a:pPr marL="530225" lvl="2" indent="0">
              <a:lnSpc>
                <a:spcPct val="80000"/>
              </a:lnSpc>
              <a:buNone/>
            </a:pPr>
            <a:r>
              <a:rPr lang="en-US" altLang="zh-CN" sz="2400" dirty="0">
                <a:solidFill>
                  <a:srgbClr val="FF3300"/>
                </a:solidFill>
              </a:rPr>
              <a:t>for(p = head; p!=NULL; p = p-&gt;next)</a:t>
            </a:r>
          </a:p>
          <a:p>
            <a:pPr marL="530225" lvl="2" indent="0">
              <a:lnSpc>
                <a:spcPct val="80000"/>
              </a:lnSpc>
              <a:buNone/>
            </a:pPr>
            <a:r>
              <a:rPr lang="en-US" altLang="zh-CN" sz="2400" dirty="0">
                <a:solidFill>
                  <a:srgbClr val="FF3300"/>
                </a:solidFill>
              </a:rPr>
              <a:t>      printf("%d\t%s\n", p-&gt;num, p-&gt;tel);</a:t>
            </a:r>
          </a:p>
          <a:p>
            <a:pPr marL="0" indent="0">
              <a:lnSpc>
                <a:spcPct val="80000"/>
              </a:lnSpc>
              <a:buNone/>
            </a:pPr>
            <a:endParaRPr lang="en-US" altLang="zh-CN" sz="2400" dirty="0" smtClean="0"/>
          </a:p>
          <a:p>
            <a:pPr marL="0" indent="0">
              <a:lnSpc>
                <a:spcPct val="80000"/>
              </a:lnSpc>
              <a:buNone/>
            </a:pPr>
            <a:endParaRPr lang="en-US" altLang="zh-CN" sz="2400" dirty="0"/>
          </a:p>
          <a:p>
            <a:pPr>
              <a:lnSpc>
                <a:spcPct val="80000"/>
              </a:lnSpc>
            </a:pPr>
            <a:endParaRPr lang="zh-CN" altLang="en-US" sz="2400" dirty="0">
              <a:solidFill>
                <a:srgbClr val="0000CC"/>
              </a:solidFill>
            </a:endParaRPr>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139</a:t>
            </a:fld>
            <a:endParaRPr lang="en-US" altLang="zh-CN" dirty="0"/>
          </a:p>
        </p:txBody>
      </p:sp>
    </p:spTree>
    <p:extLst>
      <p:ext uri="{BB962C8B-B14F-4D97-AF65-F5344CB8AC3E}">
        <p14:creationId xmlns:p14="http://schemas.microsoft.com/office/powerpoint/2010/main" val="2819673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单链表</a:t>
            </a:r>
            <a:r>
              <a:rPr lang="zh-CN" altLang="en-US" dirty="0"/>
              <a:t>的常用操作</a:t>
            </a:r>
          </a:p>
        </p:txBody>
      </p:sp>
      <p:sp>
        <p:nvSpPr>
          <p:cNvPr id="3" name="内容占位符 2"/>
          <p:cNvSpPr>
            <a:spLocks noGrp="1"/>
          </p:cNvSpPr>
          <p:nvPr>
            <p:ph idx="1"/>
          </p:nvPr>
        </p:nvSpPr>
        <p:spPr>
          <a:xfrm>
            <a:off x="755650" y="1700213"/>
            <a:ext cx="7993063" cy="2736899"/>
          </a:xfrm>
        </p:spPr>
        <p:txBody>
          <a:bodyPr/>
          <a:lstStyle/>
          <a:p>
            <a:r>
              <a:rPr lang="zh-CN" altLang="en-US" dirty="0" smtClean="0">
                <a:solidFill>
                  <a:srgbClr val="0000CC"/>
                </a:solidFill>
              </a:rPr>
              <a:t>插入结点</a:t>
            </a:r>
            <a:endParaRPr lang="en-US" altLang="zh-CN" dirty="0" smtClean="0">
              <a:solidFill>
                <a:srgbClr val="0000CC"/>
              </a:solidFill>
            </a:endParaRPr>
          </a:p>
          <a:p>
            <a:pPr lvl="1"/>
            <a:r>
              <a:rPr lang="zh-CN" altLang="en-US" dirty="0" smtClean="0"/>
              <a:t>第一</a:t>
            </a:r>
            <a:r>
              <a:rPr lang="zh-CN" altLang="en-US" dirty="0"/>
              <a:t>种</a:t>
            </a:r>
            <a:r>
              <a:rPr lang="zh-CN" altLang="en-US" dirty="0" smtClean="0"/>
              <a:t>是新结点插入</a:t>
            </a:r>
            <a:r>
              <a:rPr lang="zh-CN" altLang="en-US" dirty="0"/>
              <a:t>到头结点前，成为新的头结点</a:t>
            </a:r>
            <a:r>
              <a:rPr lang="zh-CN" altLang="en-US" dirty="0" smtClean="0"/>
              <a:t>；</a:t>
            </a:r>
            <a:endParaRPr lang="en-US" altLang="zh-CN" dirty="0" smtClean="0"/>
          </a:p>
          <a:p>
            <a:pPr lvl="1"/>
            <a:r>
              <a:rPr lang="zh-CN" altLang="en-US" dirty="0" smtClean="0"/>
              <a:t>第二</a:t>
            </a:r>
            <a:r>
              <a:rPr lang="zh-CN" altLang="en-US" dirty="0"/>
              <a:t>种</a:t>
            </a:r>
            <a:r>
              <a:rPr lang="zh-CN" altLang="en-US" dirty="0" smtClean="0"/>
              <a:t>是新</a:t>
            </a:r>
            <a:r>
              <a:rPr lang="zh-CN" altLang="en-US" dirty="0"/>
              <a:t>结点</a:t>
            </a:r>
            <a:r>
              <a:rPr lang="zh-CN" altLang="en-US" dirty="0" smtClean="0"/>
              <a:t>插入</a:t>
            </a:r>
            <a:r>
              <a:rPr lang="zh-CN" altLang="en-US" dirty="0"/>
              <a:t>到尾结点后成为新的尾结点</a:t>
            </a:r>
            <a:r>
              <a:rPr lang="zh-CN" altLang="en-US" dirty="0" smtClean="0"/>
              <a:t>；</a:t>
            </a:r>
            <a:endParaRPr lang="en-US" altLang="zh-CN" dirty="0" smtClean="0"/>
          </a:p>
          <a:p>
            <a:pPr lvl="1"/>
            <a:r>
              <a:rPr lang="zh-CN" altLang="en-US" dirty="0" smtClean="0"/>
              <a:t>第三</a:t>
            </a:r>
            <a:r>
              <a:rPr lang="zh-CN" altLang="en-US" dirty="0"/>
              <a:t>种是在链表已经有序的情况下按照原先的顺序进行</a:t>
            </a:r>
            <a:r>
              <a:rPr lang="zh-CN" altLang="en-US" dirty="0" smtClean="0"/>
              <a:t>插入</a:t>
            </a:r>
            <a:endParaRPr lang="en-US" altLang="zh-CN" dirty="0" smtClean="0"/>
          </a:p>
        </p:txBody>
      </p:sp>
      <p:sp>
        <p:nvSpPr>
          <p:cNvPr id="4" name="灯片编号占位符 3"/>
          <p:cNvSpPr>
            <a:spLocks noGrp="1"/>
          </p:cNvSpPr>
          <p:nvPr>
            <p:ph type="sldNum" sz="quarter" idx="4294967295"/>
          </p:nvPr>
        </p:nvSpPr>
        <p:spPr>
          <a:xfrm>
            <a:off x="84138" y="6308725"/>
            <a:ext cx="587375" cy="422275"/>
          </a:xfrm>
        </p:spPr>
        <p:txBody>
          <a:bodyPr/>
          <a:lstStyle/>
          <a:p>
            <a:pPr>
              <a:defRPr/>
            </a:pPr>
            <a:fld id="{1B21A633-576F-46D6-9FAA-ECFADAC6F967}" type="slidenum">
              <a:rPr lang="en-US" altLang="zh-CN" smtClean="0"/>
              <a:t>140</a:t>
            </a:fld>
            <a:endParaRPr lang="en-US" altLang="zh-CN" dirty="0"/>
          </a:p>
        </p:txBody>
      </p:sp>
    </p:spTree>
    <p:extLst>
      <p:ext uri="{BB962C8B-B14F-4D97-AF65-F5344CB8AC3E}">
        <p14:creationId xmlns:p14="http://schemas.microsoft.com/office/powerpoint/2010/main" val="4013882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4"/>
          <p:cNvSpPr/>
          <p:nvPr/>
        </p:nvSpPr>
        <p:spPr>
          <a:xfrm>
            <a:off x="19917" y="806725"/>
            <a:ext cx="8496944" cy="6001643"/>
          </a:xfrm>
          <a:prstGeom prst="rect">
            <a:avLst/>
          </a:prstGeom>
        </p:spPr>
        <p:txBody>
          <a:bodyPr wrap="square">
            <a:spAutoFit/>
          </a:bodyPr>
          <a:lstStyle/>
          <a:p>
            <a:r>
              <a:rPr lang="en-US" altLang="zh-CN" sz="1600" b="1" dirty="0"/>
              <a:t>#include &lt;</a:t>
            </a:r>
            <a:r>
              <a:rPr lang="en-US" altLang="zh-CN" sz="1600" b="1" dirty="0" err="1"/>
              <a:t>stdio.h</a:t>
            </a:r>
            <a:r>
              <a:rPr lang="en-US" altLang="zh-CN" sz="1600" b="1" dirty="0"/>
              <a:t>&gt;</a:t>
            </a:r>
          </a:p>
          <a:p>
            <a:r>
              <a:rPr lang="en-US" altLang="zh-CN" sz="1600" b="1" dirty="0"/>
              <a:t>#include &lt;</a:t>
            </a:r>
            <a:r>
              <a:rPr lang="en-US" altLang="zh-CN" sz="1600" b="1" dirty="0" err="1"/>
              <a:t>stdlib.h</a:t>
            </a:r>
            <a:r>
              <a:rPr lang="en-US" altLang="zh-CN" sz="1600" b="1" dirty="0"/>
              <a:t>&gt;</a:t>
            </a:r>
          </a:p>
          <a:p>
            <a:r>
              <a:rPr lang="en-US" altLang="zh-CN" sz="1600" b="1" dirty="0" err="1"/>
              <a:t>int</a:t>
            </a:r>
            <a:r>
              <a:rPr lang="en-US" altLang="zh-CN" sz="1600" b="1" dirty="0"/>
              <a:t> main(){</a:t>
            </a:r>
          </a:p>
          <a:p>
            <a:r>
              <a:rPr lang="en-US" altLang="zh-CN" sz="1600" b="1" dirty="0" err="1"/>
              <a:t>struct</a:t>
            </a:r>
            <a:r>
              <a:rPr lang="en-US" altLang="zh-CN" sz="1600" b="1" dirty="0"/>
              <a:t> </a:t>
            </a:r>
            <a:r>
              <a:rPr lang="en-US" altLang="zh-CN" sz="1600" b="1" dirty="0" err="1"/>
              <a:t>stu_node</a:t>
            </a:r>
            <a:r>
              <a:rPr lang="en-US" altLang="zh-CN" sz="1600" b="1" dirty="0"/>
              <a:t>            //</a:t>
            </a:r>
            <a:r>
              <a:rPr lang="zh-CN" altLang="en-US" sz="1600" b="1" dirty="0"/>
              <a:t>结构体类型定义</a:t>
            </a:r>
          </a:p>
          <a:p>
            <a:r>
              <a:rPr lang="en-US" altLang="zh-CN" sz="1600" b="1" dirty="0"/>
              <a:t>{</a:t>
            </a:r>
          </a:p>
          <a:p>
            <a:r>
              <a:rPr lang="en-US" altLang="zh-CN" sz="1600" b="1" dirty="0"/>
              <a:t>	</a:t>
            </a:r>
            <a:r>
              <a:rPr lang="en-US" altLang="zh-CN" sz="1600" b="1" dirty="0" err="1"/>
              <a:t>int</a:t>
            </a:r>
            <a:r>
              <a:rPr lang="en-US" altLang="zh-CN" sz="1600" b="1" dirty="0"/>
              <a:t> </a:t>
            </a:r>
            <a:r>
              <a:rPr lang="en-US" altLang="zh-CN" sz="1600" b="1" dirty="0" err="1"/>
              <a:t>num</a:t>
            </a:r>
            <a:r>
              <a:rPr lang="en-US" altLang="zh-CN" sz="1600" b="1" dirty="0"/>
              <a:t>;</a:t>
            </a:r>
          </a:p>
          <a:p>
            <a:r>
              <a:rPr lang="en-US" altLang="zh-CN" sz="1600" b="1" dirty="0"/>
              <a:t>	char </a:t>
            </a:r>
            <a:r>
              <a:rPr lang="en-US" altLang="zh-CN" sz="1600" b="1" dirty="0" err="1"/>
              <a:t>tel</a:t>
            </a:r>
            <a:r>
              <a:rPr lang="en-US" altLang="zh-CN" sz="1600" b="1" dirty="0"/>
              <a:t>[11];</a:t>
            </a:r>
          </a:p>
          <a:p>
            <a:r>
              <a:rPr lang="en-US" altLang="zh-CN" sz="1600" b="1" dirty="0"/>
              <a:t>	</a:t>
            </a:r>
            <a:r>
              <a:rPr lang="en-US" altLang="zh-CN" sz="1600" b="1" dirty="0" err="1"/>
              <a:t>struct</a:t>
            </a:r>
            <a:r>
              <a:rPr lang="en-US" altLang="zh-CN" sz="1600" b="1" dirty="0"/>
              <a:t> </a:t>
            </a:r>
            <a:r>
              <a:rPr lang="en-US" altLang="zh-CN" sz="1600" b="1" dirty="0" err="1"/>
              <a:t>stu_node</a:t>
            </a:r>
            <a:r>
              <a:rPr lang="en-US" altLang="zh-CN" sz="1600" b="1" dirty="0"/>
              <a:t> *next;	//</a:t>
            </a:r>
            <a:r>
              <a:rPr lang="zh-CN" altLang="en-US" sz="1600" b="1" dirty="0"/>
              <a:t>指向下一个结点（也是此结构体类型）的指针</a:t>
            </a:r>
          </a:p>
          <a:p>
            <a:r>
              <a:rPr lang="en-US" altLang="zh-CN" sz="1600" b="1" dirty="0"/>
              <a:t>};</a:t>
            </a:r>
          </a:p>
          <a:p>
            <a:r>
              <a:rPr lang="en-US" altLang="zh-CN" sz="1600" b="1" dirty="0" err="1"/>
              <a:t>struct</a:t>
            </a:r>
            <a:r>
              <a:rPr lang="en-US" altLang="zh-CN" sz="1600" b="1" dirty="0"/>
              <a:t> </a:t>
            </a:r>
            <a:r>
              <a:rPr lang="en-US" altLang="zh-CN" sz="1600" b="1" dirty="0" err="1"/>
              <a:t>stu_node</a:t>
            </a:r>
            <a:r>
              <a:rPr lang="en-US" altLang="zh-CN" sz="1600" b="1" dirty="0"/>
              <a:t> *head,*tail,*p;  </a:t>
            </a:r>
            <a:r>
              <a:rPr lang="en-US" altLang="zh-CN" sz="1600" b="1" dirty="0" smtClean="0"/>
              <a:t>     //</a:t>
            </a:r>
            <a:r>
              <a:rPr lang="zh-CN" altLang="en-US" sz="1600" b="1" dirty="0"/>
              <a:t>定义结点变量</a:t>
            </a:r>
          </a:p>
          <a:p>
            <a:r>
              <a:rPr lang="en-US" altLang="zh-CN" sz="1600" b="1" dirty="0" err="1"/>
              <a:t>int</a:t>
            </a:r>
            <a:r>
              <a:rPr lang="en-US" altLang="zh-CN" sz="1600" b="1" dirty="0"/>
              <a:t> n</a:t>
            </a:r>
            <a:r>
              <a:rPr lang="en-US" altLang="zh-CN" sz="1600" b="1" dirty="0" smtClean="0"/>
              <a:t>;</a:t>
            </a:r>
          </a:p>
          <a:p>
            <a:r>
              <a:rPr lang="en-US" altLang="zh-CN" sz="1600" b="1" dirty="0" smtClean="0"/>
              <a:t>head=NULL;       //</a:t>
            </a:r>
            <a:r>
              <a:rPr lang="zh-CN" altLang="en-US" sz="1600" b="1" dirty="0" smtClean="0"/>
              <a:t>头指针赋初值</a:t>
            </a:r>
          </a:p>
          <a:p>
            <a:r>
              <a:rPr lang="en-US" altLang="zh-CN" sz="1600" b="1" dirty="0" err="1" smtClean="0"/>
              <a:t>scanf</a:t>
            </a:r>
            <a:r>
              <a:rPr lang="en-US" altLang="zh-CN" sz="1600" b="1" dirty="0"/>
              <a:t>("%</a:t>
            </a:r>
            <a:r>
              <a:rPr lang="en-US" altLang="zh-CN" sz="1600" b="1" dirty="0" err="1"/>
              <a:t>d",&amp;n</a:t>
            </a:r>
            <a:r>
              <a:rPr lang="en-US" altLang="zh-CN" sz="1600" b="1" dirty="0"/>
              <a:t>);  //</a:t>
            </a:r>
            <a:r>
              <a:rPr lang="zh-CN" altLang="en-US" sz="1600" b="1" dirty="0"/>
              <a:t>输入学生人数</a:t>
            </a:r>
          </a:p>
          <a:p>
            <a:r>
              <a:rPr lang="en-US" altLang="zh-CN" sz="1600" b="1" dirty="0"/>
              <a:t>while(n!=0){</a:t>
            </a:r>
          </a:p>
          <a:p>
            <a:r>
              <a:rPr lang="en-US" altLang="zh-CN" sz="1600" b="1" dirty="0"/>
              <a:t>    p=(</a:t>
            </a:r>
            <a:r>
              <a:rPr lang="en-US" altLang="zh-CN" sz="1600" b="1" dirty="0" err="1"/>
              <a:t>struct</a:t>
            </a:r>
            <a:r>
              <a:rPr lang="en-US" altLang="zh-CN" sz="1600" b="1" dirty="0"/>
              <a:t> </a:t>
            </a:r>
            <a:r>
              <a:rPr lang="en-US" altLang="zh-CN" sz="1600" b="1" dirty="0" err="1"/>
              <a:t>stu_node</a:t>
            </a:r>
            <a:r>
              <a:rPr lang="en-US" altLang="zh-CN" sz="1600" b="1" dirty="0"/>
              <a:t> *)</a:t>
            </a:r>
            <a:r>
              <a:rPr lang="en-US" altLang="zh-CN" sz="1600" b="1" dirty="0" err="1"/>
              <a:t>malloc</a:t>
            </a:r>
            <a:r>
              <a:rPr lang="en-US" altLang="zh-CN" sz="1600" b="1" dirty="0"/>
              <a:t>(</a:t>
            </a:r>
            <a:r>
              <a:rPr lang="en-US" altLang="zh-CN" sz="1600" b="1" dirty="0" err="1"/>
              <a:t>sizeof</a:t>
            </a:r>
            <a:r>
              <a:rPr lang="en-US" altLang="zh-CN" sz="1600" b="1" dirty="0"/>
              <a:t>(</a:t>
            </a:r>
            <a:r>
              <a:rPr lang="en-US" altLang="zh-CN" sz="1600" b="1" dirty="0" err="1"/>
              <a:t>struct</a:t>
            </a:r>
            <a:r>
              <a:rPr lang="en-US" altLang="zh-CN" sz="1600" b="1" dirty="0"/>
              <a:t> </a:t>
            </a:r>
            <a:r>
              <a:rPr lang="en-US" altLang="zh-CN" sz="1600" b="1" dirty="0" err="1"/>
              <a:t>stu_node</a:t>
            </a:r>
            <a:r>
              <a:rPr lang="en-US" altLang="zh-CN" sz="1600" b="1" dirty="0"/>
              <a:t>)); </a:t>
            </a:r>
            <a:r>
              <a:rPr lang="en-US" altLang="zh-CN" sz="1600" b="1" dirty="0" smtClean="0"/>
              <a:t>    //</a:t>
            </a:r>
            <a:r>
              <a:rPr lang="zh-CN" altLang="en-US" sz="1600" b="1" dirty="0"/>
              <a:t>动态申请新结点空间</a:t>
            </a:r>
          </a:p>
          <a:p>
            <a:r>
              <a:rPr lang="zh-CN" altLang="en-US" sz="1600" b="1" dirty="0"/>
              <a:t>    </a:t>
            </a:r>
            <a:r>
              <a:rPr lang="en-US" altLang="zh-CN" sz="1600" b="1" dirty="0" err="1"/>
              <a:t>scanf</a:t>
            </a:r>
            <a:r>
              <a:rPr lang="en-US" altLang="zh-CN" sz="1600" b="1" dirty="0"/>
              <a:t>("%</a:t>
            </a:r>
            <a:r>
              <a:rPr lang="en-US" altLang="zh-CN" sz="1600" b="1" dirty="0" err="1"/>
              <a:t>d%s</a:t>
            </a:r>
            <a:r>
              <a:rPr lang="en-US" altLang="zh-CN" sz="1600" b="1" dirty="0"/>
              <a:t>",&amp;(p-&gt;</a:t>
            </a:r>
            <a:r>
              <a:rPr lang="en-US" altLang="zh-CN" sz="1600" b="1" dirty="0" err="1"/>
              <a:t>num</a:t>
            </a:r>
            <a:r>
              <a:rPr lang="en-US" altLang="zh-CN" sz="1600" b="1" dirty="0"/>
              <a:t>),p-&gt;</a:t>
            </a:r>
            <a:r>
              <a:rPr lang="en-US" altLang="zh-CN" sz="1600" b="1" dirty="0" err="1"/>
              <a:t>tel</a:t>
            </a:r>
            <a:r>
              <a:rPr lang="en-US" altLang="zh-CN" sz="1600" b="1" dirty="0"/>
              <a:t>);  </a:t>
            </a:r>
            <a:r>
              <a:rPr lang="en-US" altLang="zh-CN" sz="1600" b="1" dirty="0" smtClean="0"/>
              <a:t>                                    //</a:t>
            </a:r>
            <a:r>
              <a:rPr lang="zh-CN" altLang="en-US" sz="1600" b="1" dirty="0"/>
              <a:t>新结点成员赋值</a:t>
            </a:r>
          </a:p>
          <a:p>
            <a:r>
              <a:rPr lang="zh-CN" altLang="en-US" sz="1600" b="1" dirty="0"/>
              <a:t>    </a:t>
            </a:r>
            <a:r>
              <a:rPr lang="en-US" altLang="zh-CN" sz="1600" b="1" dirty="0"/>
              <a:t>p-&gt;next=head;                 </a:t>
            </a:r>
            <a:r>
              <a:rPr lang="en-US" altLang="zh-CN" sz="1600" b="1" dirty="0" smtClean="0"/>
              <a:t>                                                     </a:t>
            </a:r>
            <a:r>
              <a:rPr lang="en-US" altLang="zh-CN" sz="1600" b="1" dirty="0"/>
              <a:t>//</a:t>
            </a:r>
            <a:r>
              <a:rPr lang="zh-CN" altLang="en-US" sz="1600" b="1" dirty="0">
                <a:solidFill>
                  <a:srgbClr val="FF0000"/>
                </a:solidFill>
              </a:rPr>
              <a:t>表头添加法</a:t>
            </a:r>
          </a:p>
          <a:p>
            <a:r>
              <a:rPr lang="zh-CN" altLang="en-US" sz="1600" b="1" dirty="0"/>
              <a:t>    </a:t>
            </a:r>
            <a:r>
              <a:rPr lang="en-US" altLang="zh-CN" sz="1600" b="1" dirty="0"/>
              <a:t>head=p;</a:t>
            </a:r>
          </a:p>
          <a:p>
            <a:r>
              <a:rPr lang="en-US" altLang="zh-CN" sz="1600" b="1" dirty="0"/>
              <a:t>    n--;</a:t>
            </a:r>
          </a:p>
          <a:p>
            <a:r>
              <a:rPr lang="en-US" altLang="zh-CN" sz="1600" b="1" dirty="0"/>
              <a:t>}</a:t>
            </a:r>
          </a:p>
          <a:p>
            <a:r>
              <a:rPr lang="en-US" altLang="zh-CN" sz="1600" b="1" dirty="0"/>
              <a:t>for(p=</a:t>
            </a:r>
            <a:r>
              <a:rPr lang="en-US" altLang="zh-CN" sz="1600" b="1" dirty="0" err="1"/>
              <a:t>head;p</a:t>
            </a:r>
            <a:r>
              <a:rPr lang="en-US" altLang="zh-CN" sz="1600" b="1" dirty="0"/>
              <a:t>!=</a:t>
            </a:r>
            <a:r>
              <a:rPr lang="en-US" altLang="zh-CN" sz="1600" b="1" dirty="0" err="1"/>
              <a:t>NULL;p</a:t>
            </a:r>
            <a:r>
              <a:rPr lang="en-US" altLang="zh-CN" sz="1600" b="1" dirty="0"/>
              <a:t>=p-&gt;next)   </a:t>
            </a:r>
            <a:r>
              <a:rPr lang="en-US" altLang="zh-CN" sz="1600" b="1" dirty="0" smtClean="0"/>
              <a:t>                                       </a:t>
            </a:r>
            <a:r>
              <a:rPr lang="en-US" altLang="zh-CN" sz="1600" b="1" dirty="0"/>
              <a:t>//</a:t>
            </a:r>
            <a:r>
              <a:rPr lang="zh-CN" altLang="en-US" sz="1600" b="1" dirty="0"/>
              <a:t>输出链表</a:t>
            </a:r>
          </a:p>
          <a:p>
            <a:r>
              <a:rPr lang="zh-CN" altLang="en-US" sz="1600" b="1" dirty="0"/>
              <a:t>    </a:t>
            </a:r>
            <a:r>
              <a:rPr lang="en-US" altLang="zh-CN" sz="1600" b="1" dirty="0" err="1"/>
              <a:t>printf</a:t>
            </a:r>
            <a:r>
              <a:rPr lang="en-US" altLang="zh-CN" sz="1600" b="1" dirty="0"/>
              <a:t>("%d\</a:t>
            </a:r>
            <a:r>
              <a:rPr lang="en-US" altLang="zh-CN" sz="1600" b="1" dirty="0" err="1"/>
              <a:t>t%s</a:t>
            </a:r>
            <a:r>
              <a:rPr lang="en-US" altLang="zh-CN" sz="1600" b="1" dirty="0"/>
              <a:t>\</a:t>
            </a:r>
            <a:r>
              <a:rPr lang="en-US" altLang="zh-CN" sz="1600" b="1" dirty="0" err="1"/>
              <a:t>n",p</a:t>
            </a:r>
            <a:r>
              <a:rPr lang="en-US" altLang="zh-CN" sz="1600" b="1" dirty="0"/>
              <a:t>-&gt;</a:t>
            </a:r>
            <a:r>
              <a:rPr lang="en-US" altLang="zh-CN" sz="1600" b="1" dirty="0" err="1"/>
              <a:t>num,p</a:t>
            </a:r>
            <a:r>
              <a:rPr lang="en-US" altLang="zh-CN" sz="1600" b="1" dirty="0"/>
              <a:t>-&gt;</a:t>
            </a:r>
            <a:r>
              <a:rPr lang="en-US" altLang="zh-CN" sz="1600" b="1" dirty="0" err="1"/>
              <a:t>tel</a:t>
            </a:r>
            <a:r>
              <a:rPr lang="en-US" altLang="zh-CN" sz="1600" b="1" dirty="0"/>
              <a:t>);</a:t>
            </a:r>
          </a:p>
          <a:p>
            <a:r>
              <a:rPr lang="en-US" altLang="zh-CN" sz="1600" b="1" dirty="0"/>
              <a:t>return 0;</a:t>
            </a:r>
          </a:p>
          <a:p>
            <a:r>
              <a:rPr lang="en-US" altLang="zh-CN" sz="1600" b="1" dirty="0"/>
              <a:t>}</a:t>
            </a:r>
            <a:endParaRPr lang="zh-CN" altLang="en-US" sz="1600" b="1" dirty="0"/>
          </a:p>
        </p:txBody>
      </p:sp>
      <p:pic>
        <p:nvPicPr>
          <p:cNvPr id="2" name="图片 1"/>
          <p:cNvPicPr>
            <a:picLocks noChangeAspect="1"/>
          </p:cNvPicPr>
          <p:nvPr/>
        </p:nvPicPr>
        <p:blipFill>
          <a:blip r:embed="rId2"/>
          <a:stretch>
            <a:fillRect/>
          </a:stretch>
        </p:blipFill>
        <p:spPr>
          <a:xfrm>
            <a:off x="4427984" y="332656"/>
            <a:ext cx="4240237" cy="1440160"/>
          </a:xfrm>
          <a:prstGeom prst="rect">
            <a:avLst/>
          </a:prstGeom>
        </p:spPr>
      </p:pic>
    </p:spTree>
    <p:extLst>
      <p:ext uri="{BB962C8B-B14F-4D97-AF65-F5344CB8AC3E}">
        <p14:creationId xmlns:p14="http://schemas.microsoft.com/office/powerpoint/2010/main" val="3102824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矩形 25"/>
          <p:cNvSpPr/>
          <p:nvPr/>
        </p:nvSpPr>
        <p:spPr>
          <a:xfrm>
            <a:off x="107504" y="-27384"/>
            <a:ext cx="8604448" cy="7232749"/>
          </a:xfrm>
          <a:prstGeom prst="rect">
            <a:avLst/>
          </a:prstGeom>
        </p:spPr>
        <p:txBody>
          <a:bodyPr wrap="square">
            <a:spAutoFit/>
          </a:bodyPr>
          <a:lstStyle/>
          <a:p>
            <a:r>
              <a:rPr lang="en-US" altLang="zh-CN" sz="1600" b="1" dirty="0"/>
              <a:t>#include &lt;</a:t>
            </a:r>
            <a:r>
              <a:rPr lang="en-US" altLang="zh-CN" sz="1600" b="1" dirty="0" err="1"/>
              <a:t>stdio.h</a:t>
            </a:r>
            <a:r>
              <a:rPr lang="en-US" altLang="zh-CN" sz="1600" b="1" dirty="0"/>
              <a:t>&gt;</a:t>
            </a:r>
          </a:p>
          <a:p>
            <a:r>
              <a:rPr lang="en-US" altLang="zh-CN" sz="1600" b="1" dirty="0"/>
              <a:t>#include &lt;</a:t>
            </a:r>
            <a:r>
              <a:rPr lang="en-US" altLang="zh-CN" sz="1600" b="1" dirty="0" err="1"/>
              <a:t>stdlib.h</a:t>
            </a:r>
            <a:r>
              <a:rPr lang="en-US" altLang="zh-CN" sz="1600" b="1" dirty="0"/>
              <a:t>&gt;</a:t>
            </a:r>
          </a:p>
          <a:p>
            <a:r>
              <a:rPr lang="en-US" altLang="zh-CN" sz="1600" b="1" dirty="0" err="1"/>
              <a:t>int</a:t>
            </a:r>
            <a:r>
              <a:rPr lang="en-US" altLang="zh-CN" sz="1600" b="1" dirty="0"/>
              <a:t> main(){</a:t>
            </a:r>
          </a:p>
          <a:p>
            <a:r>
              <a:rPr lang="en-US" altLang="zh-CN" sz="1600" b="1" dirty="0" err="1"/>
              <a:t>struct</a:t>
            </a:r>
            <a:r>
              <a:rPr lang="en-US" altLang="zh-CN" sz="1600" b="1" dirty="0"/>
              <a:t> </a:t>
            </a:r>
            <a:r>
              <a:rPr lang="en-US" altLang="zh-CN" sz="1600" b="1" dirty="0" err="1"/>
              <a:t>stu_node</a:t>
            </a:r>
            <a:r>
              <a:rPr lang="en-US" altLang="zh-CN" sz="1600" b="1" dirty="0"/>
              <a:t>            //</a:t>
            </a:r>
            <a:r>
              <a:rPr lang="zh-CN" altLang="en-US" sz="1600" b="1" dirty="0"/>
              <a:t>结构体类型定义</a:t>
            </a:r>
          </a:p>
          <a:p>
            <a:r>
              <a:rPr lang="en-US" altLang="zh-CN" sz="1600" b="1" dirty="0"/>
              <a:t>{</a:t>
            </a:r>
          </a:p>
          <a:p>
            <a:r>
              <a:rPr lang="en-US" altLang="zh-CN" sz="1600" b="1" dirty="0"/>
              <a:t>	</a:t>
            </a:r>
            <a:r>
              <a:rPr lang="en-US" altLang="zh-CN" sz="1600" b="1" dirty="0" err="1"/>
              <a:t>int</a:t>
            </a:r>
            <a:r>
              <a:rPr lang="en-US" altLang="zh-CN" sz="1600" b="1" dirty="0"/>
              <a:t> </a:t>
            </a:r>
            <a:r>
              <a:rPr lang="en-US" altLang="zh-CN" sz="1600" b="1" dirty="0" err="1"/>
              <a:t>num</a:t>
            </a:r>
            <a:r>
              <a:rPr lang="en-US" altLang="zh-CN" sz="1600" b="1" dirty="0"/>
              <a:t>;</a:t>
            </a:r>
          </a:p>
          <a:p>
            <a:r>
              <a:rPr lang="en-US" altLang="zh-CN" sz="1600" b="1" dirty="0"/>
              <a:t>	char </a:t>
            </a:r>
            <a:r>
              <a:rPr lang="en-US" altLang="zh-CN" sz="1600" b="1" dirty="0" err="1"/>
              <a:t>tel</a:t>
            </a:r>
            <a:r>
              <a:rPr lang="en-US" altLang="zh-CN" sz="1600" b="1" dirty="0"/>
              <a:t>[11];</a:t>
            </a:r>
          </a:p>
          <a:p>
            <a:r>
              <a:rPr lang="en-US" altLang="zh-CN" sz="1600" b="1" dirty="0"/>
              <a:t>	</a:t>
            </a:r>
            <a:r>
              <a:rPr lang="en-US" altLang="zh-CN" sz="1600" b="1" dirty="0" err="1"/>
              <a:t>struct</a:t>
            </a:r>
            <a:r>
              <a:rPr lang="en-US" altLang="zh-CN" sz="1600" b="1" dirty="0"/>
              <a:t> </a:t>
            </a:r>
            <a:r>
              <a:rPr lang="en-US" altLang="zh-CN" sz="1600" b="1" dirty="0" err="1"/>
              <a:t>stu_node</a:t>
            </a:r>
            <a:r>
              <a:rPr lang="en-US" altLang="zh-CN" sz="1600" b="1" dirty="0"/>
              <a:t> *next;	//</a:t>
            </a:r>
            <a:r>
              <a:rPr lang="zh-CN" altLang="en-US" sz="1600" b="1" dirty="0"/>
              <a:t>指向下一个结点（也是此结构体类型）的指针</a:t>
            </a:r>
          </a:p>
          <a:p>
            <a:r>
              <a:rPr lang="en-US" altLang="zh-CN" sz="1600" b="1" dirty="0"/>
              <a:t>};</a:t>
            </a:r>
          </a:p>
          <a:p>
            <a:r>
              <a:rPr lang="en-US" altLang="zh-CN" sz="1600" b="1" dirty="0" err="1"/>
              <a:t>struct</a:t>
            </a:r>
            <a:r>
              <a:rPr lang="en-US" altLang="zh-CN" sz="1600" b="1" dirty="0"/>
              <a:t> </a:t>
            </a:r>
            <a:r>
              <a:rPr lang="en-US" altLang="zh-CN" sz="1600" b="1" dirty="0" err="1"/>
              <a:t>stu_node</a:t>
            </a:r>
            <a:r>
              <a:rPr lang="en-US" altLang="zh-CN" sz="1600" b="1" dirty="0"/>
              <a:t> *head,*tail,*p,*p1,*p2;       //</a:t>
            </a:r>
            <a:r>
              <a:rPr lang="zh-CN" altLang="en-US" sz="1600" b="1" dirty="0"/>
              <a:t>定义结点变量</a:t>
            </a:r>
          </a:p>
          <a:p>
            <a:r>
              <a:rPr lang="en-US" altLang="zh-CN" sz="1600" b="1" dirty="0" err="1"/>
              <a:t>int</a:t>
            </a:r>
            <a:r>
              <a:rPr lang="en-US" altLang="zh-CN" sz="1600" b="1" dirty="0"/>
              <a:t> n;</a:t>
            </a:r>
          </a:p>
          <a:p>
            <a:r>
              <a:rPr lang="en-US" altLang="zh-CN" sz="1600" b="1" dirty="0"/>
              <a:t>head=tail=NULL;       //</a:t>
            </a:r>
            <a:r>
              <a:rPr lang="zh-CN" altLang="en-US" sz="1600" b="1" dirty="0"/>
              <a:t>头尾指针赋初值</a:t>
            </a:r>
          </a:p>
          <a:p>
            <a:r>
              <a:rPr lang="en-US" altLang="zh-CN" sz="1600" b="1" dirty="0" err="1"/>
              <a:t>scanf</a:t>
            </a:r>
            <a:r>
              <a:rPr lang="en-US" altLang="zh-CN" sz="1600" b="1" dirty="0"/>
              <a:t>("%</a:t>
            </a:r>
            <a:r>
              <a:rPr lang="en-US" altLang="zh-CN" sz="1600" b="1" dirty="0" err="1"/>
              <a:t>d",&amp;n</a:t>
            </a:r>
            <a:r>
              <a:rPr lang="en-US" altLang="zh-CN" sz="1600" b="1" dirty="0"/>
              <a:t>);  //</a:t>
            </a:r>
            <a:r>
              <a:rPr lang="zh-CN" altLang="en-US" sz="1600" b="1" dirty="0"/>
              <a:t>输入学生人数</a:t>
            </a:r>
          </a:p>
          <a:p>
            <a:r>
              <a:rPr lang="en-US" altLang="zh-CN" sz="1600" b="1" dirty="0"/>
              <a:t>while(n!=0){</a:t>
            </a:r>
          </a:p>
          <a:p>
            <a:r>
              <a:rPr lang="en-US" altLang="zh-CN" sz="1600" b="1" dirty="0"/>
              <a:t>    p=(</a:t>
            </a:r>
            <a:r>
              <a:rPr lang="en-US" altLang="zh-CN" sz="1600" b="1" dirty="0" err="1"/>
              <a:t>struct</a:t>
            </a:r>
            <a:r>
              <a:rPr lang="en-US" altLang="zh-CN" sz="1600" b="1" dirty="0"/>
              <a:t> </a:t>
            </a:r>
            <a:r>
              <a:rPr lang="en-US" altLang="zh-CN" sz="1600" b="1" dirty="0" err="1"/>
              <a:t>stu_node</a:t>
            </a:r>
            <a:r>
              <a:rPr lang="en-US" altLang="zh-CN" sz="1600" b="1" dirty="0"/>
              <a:t> *)</a:t>
            </a:r>
            <a:r>
              <a:rPr lang="en-US" altLang="zh-CN" sz="1600" b="1" dirty="0" err="1"/>
              <a:t>malloc</a:t>
            </a:r>
            <a:r>
              <a:rPr lang="en-US" altLang="zh-CN" sz="1600" b="1" dirty="0"/>
              <a:t>(</a:t>
            </a:r>
            <a:r>
              <a:rPr lang="en-US" altLang="zh-CN" sz="1600" b="1" dirty="0" err="1"/>
              <a:t>sizeof</a:t>
            </a:r>
            <a:r>
              <a:rPr lang="en-US" altLang="zh-CN" sz="1600" b="1" dirty="0"/>
              <a:t>(</a:t>
            </a:r>
            <a:r>
              <a:rPr lang="en-US" altLang="zh-CN" sz="1600" b="1" dirty="0" err="1"/>
              <a:t>struct</a:t>
            </a:r>
            <a:r>
              <a:rPr lang="en-US" altLang="zh-CN" sz="1600" b="1" dirty="0"/>
              <a:t> </a:t>
            </a:r>
            <a:r>
              <a:rPr lang="en-US" altLang="zh-CN" sz="1600" b="1" dirty="0" err="1"/>
              <a:t>stu_node</a:t>
            </a:r>
            <a:r>
              <a:rPr lang="en-US" altLang="zh-CN" sz="1600" b="1" dirty="0"/>
              <a:t>));     //</a:t>
            </a:r>
            <a:r>
              <a:rPr lang="zh-CN" altLang="en-US" sz="1600" b="1" dirty="0"/>
              <a:t>动态申请新结点空间</a:t>
            </a:r>
          </a:p>
          <a:p>
            <a:r>
              <a:rPr lang="zh-CN" altLang="en-US" sz="1600" b="1" dirty="0"/>
              <a:t>    </a:t>
            </a:r>
            <a:r>
              <a:rPr lang="en-US" altLang="zh-CN" sz="1600" b="1" dirty="0" err="1"/>
              <a:t>scanf</a:t>
            </a:r>
            <a:r>
              <a:rPr lang="en-US" altLang="zh-CN" sz="1600" b="1" dirty="0"/>
              <a:t>("%</a:t>
            </a:r>
            <a:r>
              <a:rPr lang="en-US" altLang="zh-CN" sz="1600" b="1" dirty="0" err="1"/>
              <a:t>d%s</a:t>
            </a:r>
            <a:r>
              <a:rPr lang="en-US" altLang="zh-CN" sz="1600" b="1" dirty="0"/>
              <a:t>",&amp;(p-&gt;</a:t>
            </a:r>
            <a:r>
              <a:rPr lang="en-US" altLang="zh-CN" sz="1600" b="1" dirty="0" err="1"/>
              <a:t>num</a:t>
            </a:r>
            <a:r>
              <a:rPr lang="en-US" altLang="zh-CN" sz="1600" b="1" dirty="0"/>
              <a:t>),p-&gt;</a:t>
            </a:r>
            <a:r>
              <a:rPr lang="en-US" altLang="zh-CN" sz="1600" b="1" dirty="0" err="1"/>
              <a:t>tel</a:t>
            </a:r>
            <a:r>
              <a:rPr lang="en-US" altLang="zh-CN" sz="1600" b="1" dirty="0"/>
              <a:t>);                                      //</a:t>
            </a:r>
            <a:r>
              <a:rPr lang="zh-CN" altLang="en-US" sz="1600" b="1" dirty="0"/>
              <a:t>新结点成员赋值</a:t>
            </a:r>
          </a:p>
          <a:p>
            <a:r>
              <a:rPr lang="zh-CN" altLang="en-US" sz="1600" b="1" dirty="0"/>
              <a:t>    </a:t>
            </a:r>
            <a:r>
              <a:rPr lang="en-US" altLang="zh-CN" sz="1600" b="1" dirty="0"/>
              <a:t>p-&gt;next=NULL;        //</a:t>
            </a:r>
            <a:r>
              <a:rPr lang="zh-CN" altLang="en-US" sz="1600" b="1" dirty="0">
                <a:solidFill>
                  <a:srgbClr val="FF0000"/>
                </a:solidFill>
              </a:rPr>
              <a:t>表尾添加法</a:t>
            </a:r>
            <a:r>
              <a:rPr lang="en-US" altLang="zh-CN" sz="1600" b="1" dirty="0"/>
              <a:t>,</a:t>
            </a:r>
            <a:r>
              <a:rPr lang="zh-CN" altLang="en-US" sz="1600" b="1" dirty="0"/>
              <a:t>新结点</a:t>
            </a:r>
            <a:r>
              <a:rPr lang="en-US" altLang="zh-CN" sz="1600" b="1" dirty="0"/>
              <a:t>next</a:t>
            </a:r>
            <a:r>
              <a:rPr lang="zh-CN" altLang="en-US" sz="1600" b="1" dirty="0"/>
              <a:t>指针置为空</a:t>
            </a:r>
          </a:p>
          <a:p>
            <a:r>
              <a:rPr lang="zh-CN" altLang="en-US" sz="1600" b="1" dirty="0"/>
              <a:t>    </a:t>
            </a:r>
            <a:r>
              <a:rPr lang="en-US" altLang="zh-CN" sz="1600" b="1" dirty="0"/>
              <a:t>if(head==NULL)</a:t>
            </a:r>
          </a:p>
          <a:p>
            <a:r>
              <a:rPr lang="en-US" altLang="zh-CN" sz="1600" b="1" dirty="0"/>
              <a:t>        head=p;</a:t>
            </a:r>
          </a:p>
          <a:p>
            <a:r>
              <a:rPr lang="en-US" altLang="zh-CN" sz="1600" b="1" dirty="0"/>
              <a:t>    else</a:t>
            </a:r>
          </a:p>
          <a:p>
            <a:r>
              <a:rPr lang="en-US" altLang="zh-CN" sz="1600" b="1" dirty="0"/>
              <a:t>        tail-&gt;next=p;</a:t>
            </a:r>
          </a:p>
          <a:p>
            <a:r>
              <a:rPr lang="en-US" altLang="zh-CN" sz="1600" b="1" dirty="0"/>
              <a:t>    tail=p;</a:t>
            </a:r>
          </a:p>
          <a:p>
            <a:r>
              <a:rPr lang="en-US" altLang="zh-CN" sz="1600" b="1" dirty="0"/>
              <a:t>    n--;</a:t>
            </a:r>
          </a:p>
          <a:p>
            <a:r>
              <a:rPr lang="en-US" altLang="zh-CN" sz="1600" b="1" dirty="0"/>
              <a:t>}</a:t>
            </a:r>
          </a:p>
          <a:p>
            <a:r>
              <a:rPr lang="en-US" altLang="zh-CN" sz="1600" b="1" dirty="0"/>
              <a:t>for(p=</a:t>
            </a:r>
            <a:r>
              <a:rPr lang="en-US" altLang="zh-CN" sz="1600" b="1" dirty="0" err="1"/>
              <a:t>head;p</a:t>
            </a:r>
            <a:r>
              <a:rPr lang="en-US" altLang="zh-CN" sz="1600" b="1" dirty="0"/>
              <a:t>!=</a:t>
            </a:r>
            <a:r>
              <a:rPr lang="en-US" altLang="zh-CN" sz="1600" b="1" dirty="0" err="1"/>
              <a:t>NULL;p</a:t>
            </a:r>
            <a:r>
              <a:rPr lang="en-US" altLang="zh-CN" sz="1600" b="1" dirty="0"/>
              <a:t>=p-&gt;next)                                          //</a:t>
            </a:r>
            <a:r>
              <a:rPr lang="zh-CN" altLang="en-US" sz="1600" b="1" dirty="0"/>
              <a:t>输出链表</a:t>
            </a:r>
          </a:p>
          <a:p>
            <a:r>
              <a:rPr lang="zh-CN" altLang="en-US" sz="1600" b="1" dirty="0"/>
              <a:t>    </a:t>
            </a:r>
            <a:r>
              <a:rPr lang="en-US" altLang="zh-CN" sz="1600" b="1" dirty="0" err="1"/>
              <a:t>printf</a:t>
            </a:r>
            <a:r>
              <a:rPr lang="en-US" altLang="zh-CN" sz="1600" b="1" dirty="0"/>
              <a:t>("%d\</a:t>
            </a:r>
            <a:r>
              <a:rPr lang="en-US" altLang="zh-CN" sz="1600" b="1" dirty="0" err="1"/>
              <a:t>t%s</a:t>
            </a:r>
            <a:r>
              <a:rPr lang="en-US" altLang="zh-CN" sz="1600" b="1" dirty="0"/>
              <a:t>\</a:t>
            </a:r>
            <a:r>
              <a:rPr lang="en-US" altLang="zh-CN" sz="1600" b="1" dirty="0" err="1"/>
              <a:t>n",p</a:t>
            </a:r>
            <a:r>
              <a:rPr lang="en-US" altLang="zh-CN" sz="1600" b="1" dirty="0"/>
              <a:t>-&gt;</a:t>
            </a:r>
            <a:r>
              <a:rPr lang="en-US" altLang="zh-CN" sz="1600" b="1" dirty="0" err="1"/>
              <a:t>num,p</a:t>
            </a:r>
            <a:r>
              <a:rPr lang="en-US" altLang="zh-CN" sz="1600" b="1" dirty="0"/>
              <a:t>-&gt;</a:t>
            </a:r>
            <a:r>
              <a:rPr lang="en-US" altLang="zh-CN" sz="1600" b="1" dirty="0" err="1"/>
              <a:t>tel</a:t>
            </a:r>
            <a:r>
              <a:rPr lang="en-US" altLang="zh-CN" sz="1600" b="1" dirty="0" smtClean="0"/>
              <a:t>);</a:t>
            </a:r>
          </a:p>
          <a:p>
            <a:r>
              <a:rPr lang="en-US" altLang="zh-CN" sz="1600" b="1" dirty="0"/>
              <a:t>return 0;</a:t>
            </a:r>
          </a:p>
          <a:p>
            <a:r>
              <a:rPr lang="en-US" altLang="zh-CN" sz="1600" b="1" dirty="0" smtClean="0"/>
              <a:t>}</a:t>
            </a:r>
            <a:endParaRPr lang="zh-CN" altLang="en-US" sz="1600" b="1" dirty="0"/>
          </a:p>
        </p:txBody>
      </p:sp>
      <p:pic>
        <p:nvPicPr>
          <p:cNvPr id="47" name="图片 46"/>
          <p:cNvPicPr>
            <a:picLocks noChangeAspect="1"/>
          </p:cNvPicPr>
          <p:nvPr/>
        </p:nvPicPr>
        <p:blipFill>
          <a:blip r:embed="rId2"/>
          <a:stretch>
            <a:fillRect/>
          </a:stretch>
        </p:blipFill>
        <p:spPr>
          <a:xfrm>
            <a:off x="3961667" y="44624"/>
            <a:ext cx="5147597" cy="1646879"/>
          </a:xfrm>
          <a:prstGeom prst="rect">
            <a:avLst/>
          </a:prstGeom>
        </p:spPr>
      </p:pic>
    </p:spTree>
    <p:extLst>
      <p:ext uri="{BB962C8B-B14F-4D97-AF65-F5344CB8AC3E}">
        <p14:creationId xmlns:p14="http://schemas.microsoft.com/office/powerpoint/2010/main" val="7132050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bwMode="auto">
          <a:xfrm>
            <a:off x="2395736" y="102793"/>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6" name="组合 5"/>
          <p:cNvGrpSpPr/>
          <p:nvPr/>
        </p:nvGrpSpPr>
        <p:grpSpPr>
          <a:xfrm>
            <a:off x="3491412" y="66789"/>
            <a:ext cx="1512724" cy="432048"/>
            <a:chOff x="2267188" y="5229200"/>
            <a:chExt cx="1512724" cy="432048"/>
          </a:xfrm>
        </p:grpSpPr>
        <p:sp>
          <p:nvSpPr>
            <p:cNvPr id="7" name="矩形 6"/>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8" name="直接连接符 7"/>
            <p:cNvCxnSpPr>
              <a:stCxn id="7" idx="0"/>
              <a:endCxn id="7"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9" name="矩形 8"/>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A</a:t>
              </a:r>
              <a:endParaRPr lang="zh-CN" altLang="en-US" sz="1600" b="1" dirty="0">
                <a:solidFill>
                  <a:schemeClr val="accent4"/>
                </a:solidFill>
              </a:endParaRPr>
            </a:p>
          </p:txBody>
        </p:sp>
      </p:grpSp>
      <p:cxnSp>
        <p:nvCxnSpPr>
          <p:cNvPr id="10" name="直接箭头连接符 9"/>
          <p:cNvCxnSpPr>
            <a:stCxn id="4" idx="3"/>
            <a:endCxn id="7" idx="1"/>
          </p:cNvCxnSpPr>
          <p:nvPr/>
        </p:nvCxnSpPr>
        <p:spPr bwMode="auto">
          <a:xfrm>
            <a:off x="3168798" y="282813"/>
            <a:ext cx="322614" cy="0"/>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11" name="组合 10"/>
          <p:cNvGrpSpPr/>
          <p:nvPr/>
        </p:nvGrpSpPr>
        <p:grpSpPr>
          <a:xfrm>
            <a:off x="5326750" y="70157"/>
            <a:ext cx="1512724" cy="432048"/>
            <a:chOff x="2267188" y="5229200"/>
            <a:chExt cx="1512724" cy="432048"/>
          </a:xfrm>
        </p:grpSpPr>
        <p:sp>
          <p:nvSpPr>
            <p:cNvPr id="12" name="矩形 11"/>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13" name="组合 12"/>
            <p:cNvGrpSpPr/>
            <p:nvPr/>
          </p:nvGrpSpPr>
          <p:grpSpPr>
            <a:xfrm>
              <a:off x="3023550" y="5229200"/>
              <a:ext cx="756362" cy="432048"/>
              <a:chOff x="3023550" y="5229200"/>
              <a:chExt cx="756362" cy="432048"/>
            </a:xfrm>
          </p:grpSpPr>
          <p:cxnSp>
            <p:nvCxnSpPr>
              <p:cNvPr id="15" name="直接连接符 14"/>
              <p:cNvCxnSpPr>
                <a:stCxn id="12" idx="0"/>
                <a:endCxn id="12"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6" name="矩形 15"/>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endParaRPr lang="zh-CN" altLang="en-US" sz="1600" b="1" dirty="0">
                  <a:solidFill>
                    <a:schemeClr val="accent4"/>
                  </a:solidFill>
                </a:endParaRPr>
              </a:p>
            </p:txBody>
          </p:sp>
        </p:grpSp>
        <p:sp>
          <p:nvSpPr>
            <p:cNvPr id="14" name="矩形 13"/>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B</a:t>
              </a:r>
              <a:endParaRPr lang="zh-CN" altLang="en-US" sz="1600" b="1" dirty="0">
                <a:solidFill>
                  <a:schemeClr val="accent4"/>
                </a:solidFill>
              </a:endParaRPr>
            </a:p>
          </p:txBody>
        </p:sp>
      </p:grpSp>
      <p:cxnSp>
        <p:nvCxnSpPr>
          <p:cNvPr id="17" name="直接箭头连接符 16"/>
          <p:cNvCxnSpPr/>
          <p:nvPr/>
        </p:nvCxnSpPr>
        <p:spPr bwMode="auto">
          <a:xfrm>
            <a:off x="4719990" y="282813"/>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19" name="组合 18"/>
          <p:cNvGrpSpPr/>
          <p:nvPr/>
        </p:nvGrpSpPr>
        <p:grpSpPr>
          <a:xfrm>
            <a:off x="7126950" y="732805"/>
            <a:ext cx="1512724" cy="432048"/>
            <a:chOff x="2267188" y="5229200"/>
            <a:chExt cx="1512724" cy="432048"/>
          </a:xfrm>
        </p:grpSpPr>
        <p:sp>
          <p:nvSpPr>
            <p:cNvPr id="20" name="矩形 19"/>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21" name="组合 20"/>
            <p:cNvGrpSpPr/>
            <p:nvPr/>
          </p:nvGrpSpPr>
          <p:grpSpPr>
            <a:xfrm>
              <a:off x="3023550" y="5229200"/>
              <a:ext cx="756362" cy="432048"/>
              <a:chOff x="3023550" y="5229200"/>
              <a:chExt cx="756362" cy="432048"/>
            </a:xfrm>
          </p:grpSpPr>
          <p:cxnSp>
            <p:nvCxnSpPr>
              <p:cNvPr id="23" name="直接连接符 22"/>
              <p:cNvCxnSpPr>
                <a:stCxn id="20" idx="0"/>
                <a:endCxn id="20"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24" name="矩形 23"/>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22" name="矩形 21"/>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P</a:t>
              </a:r>
              <a:endParaRPr lang="zh-CN" altLang="en-US" sz="1600" b="1" dirty="0">
                <a:solidFill>
                  <a:schemeClr val="accent4"/>
                </a:solidFill>
              </a:endParaRPr>
            </a:p>
          </p:txBody>
        </p:sp>
      </p:grpSp>
      <p:sp>
        <p:nvSpPr>
          <p:cNvPr id="2" name="矩形 1"/>
          <p:cNvSpPr/>
          <p:nvPr/>
        </p:nvSpPr>
        <p:spPr>
          <a:xfrm>
            <a:off x="107504" y="1149867"/>
            <a:ext cx="8748464" cy="5755422"/>
          </a:xfrm>
          <a:prstGeom prst="rect">
            <a:avLst/>
          </a:prstGeom>
        </p:spPr>
        <p:txBody>
          <a:bodyPr wrap="square">
            <a:spAutoFit/>
          </a:bodyPr>
          <a:lstStyle/>
          <a:p>
            <a:r>
              <a:rPr lang="en-US" altLang="zh-CN" sz="1600" b="1" dirty="0"/>
              <a:t>p=(</a:t>
            </a:r>
            <a:r>
              <a:rPr lang="en-US" altLang="zh-CN" sz="1600" b="1" dirty="0" err="1"/>
              <a:t>struct</a:t>
            </a:r>
            <a:r>
              <a:rPr lang="en-US" altLang="zh-CN" sz="1600" b="1" dirty="0"/>
              <a:t> </a:t>
            </a:r>
            <a:r>
              <a:rPr lang="en-US" altLang="zh-CN" sz="1600" b="1" dirty="0" err="1"/>
              <a:t>stu_node</a:t>
            </a:r>
            <a:r>
              <a:rPr lang="en-US" altLang="zh-CN" sz="1600" b="1" dirty="0"/>
              <a:t> *)</a:t>
            </a:r>
            <a:r>
              <a:rPr lang="en-US" altLang="zh-CN" sz="1600" b="1" dirty="0" err="1"/>
              <a:t>malloc</a:t>
            </a:r>
            <a:r>
              <a:rPr lang="en-US" altLang="zh-CN" sz="1600" b="1" dirty="0"/>
              <a:t>(</a:t>
            </a:r>
            <a:r>
              <a:rPr lang="en-US" altLang="zh-CN" sz="1600" b="1" dirty="0" err="1"/>
              <a:t>sizeof</a:t>
            </a:r>
            <a:r>
              <a:rPr lang="en-US" altLang="zh-CN" sz="1600" b="1" dirty="0"/>
              <a:t>(</a:t>
            </a:r>
            <a:r>
              <a:rPr lang="en-US" altLang="zh-CN" sz="1600" b="1" dirty="0" err="1"/>
              <a:t>struct</a:t>
            </a:r>
            <a:r>
              <a:rPr lang="en-US" altLang="zh-CN" sz="1600" b="1" dirty="0"/>
              <a:t> </a:t>
            </a:r>
            <a:r>
              <a:rPr lang="en-US" altLang="zh-CN" sz="1600" b="1" dirty="0" err="1"/>
              <a:t>stu_node</a:t>
            </a:r>
            <a:r>
              <a:rPr lang="en-US" altLang="zh-CN" sz="1600" b="1" dirty="0"/>
              <a:t>));</a:t>
            </a:r>
          </a:p>
          <a:p>
            <a:r>
              <a:rPr lang="en-US" altLang="zh-CN" sz="1600" b="1" dirty="0" err="1"/>
              <a:t>scanf</a:t>
            </a:r>
            <a:r>
              <a:rPr lang="en-US" altLang="zh-CN" sz="1600" b="1" dirty="0"/>
              <a:t>("%</a:t>
            </a:r>
            <a:r>
              <a:rPr lang="en-US" altLang="zh-CN" sz="1600" b="1" dirty="0" err="1"/>
              <a:t>d%s</a:t>
            </a:r>
            <a:r>
              <a:rPr lang="en-US" altLang="zh-CN" sz="1600" b="1" dirty="0"/>
              <a:t>",&amp;(p-&gt;</a:t>
            </a:r>
            <a:r>
              <a:rPr lang="en-US" altLang="zh-CN" sz="1600" b="1" dirty="0" err="1"/>
              <a:t>num</a:t>
            </a:r>
            <a:r>
              <a:rPr lang="en-US" altLang="zh-CN" sz="1600" b="1" dirty="0"/>
              <a:t>),p-&gt;</a:t>
            </a:r>
            <a:r>
              <a:rPr lang="en-US" altLang="zh-CN" sz="1600" b="1" dirty="0" err="1"/>
              <a:t>tel</a:t>
            </a:r>
            <a:r>
              <a:rPr lang="en-US" altLang="zh-CN" sz="1600" b="1" dirty="0"/>
              <a:t>);</a:t>
            </a:r>
          </a:p>
          <a:p>
            <a:r>
              <a:rPr lang="en-US" altLang="zh-CN" sz="1600" b="1" dirty="0"/>
              <a:t>p-&gt;</a:t>
            </a:r>
            <a:r>
              <a:rPr lang="en-US" altLang="zh-CN" sz="1600" b="1" dirty="0" smtClean="0"/>
              <a:t>next=NULL;</a:t>
            </a:r>
            <a:endParaRPr lang="en-US" altLang="zh-CN" sz="1600" b="1" dirty="0"/>
          </a:p>
          <a:p>
            <a:r>
              <a:rPr lang="en-US" altLang="zh-CN" sz="1600" b="1" dirty="0"/>
              <a:t>p1=p2=head;</a:t>
            </a:r>
          </a:p>
          <a:p>
            <a:r>
              <a:rPr lang="en-US" altLang="zh-CN" sz="1600" b="1" dirty="0"/>
              <a:t>if(head==NULL)  //</a:t>
            </a:r>
            <a:r>
              <a:rPr lang="zh-CN" altLang="en-US" sz="1600" b="1" dirty="0"/>
              <a:t>原链表为空</a:t>
            </a:r>
          </a:p>
          <a:p>
            <a:r>
              <a:rPr lang="zh-CN" altLang="en-US" sz="1600" b="1" dirty="0"/>
              <a:t>    </a:t>
            </a:r>
            <a:r>
              <a:rPr lang="en-US" altLang="zh-CN" sz="1600" b="1" dirty="0"/>
              <a:t>head=p;</a:t>
            </a:r>
          </a:p>
          <a:p>
            <a:r>
              <a:rPr lang="en-US" altLang="zh-CN" sz="1600" b="1" dirty="0"/>
              <a:t>else{         //</a:t>
            </a:r>
            <a:r>
              <a:rPr lang="zh-CN" altLang="en-US" sz="1600" b="1" dirty="0"/>
              <a:t>原链表不为空时插入</a:t>
            </a:r>
          </a:p>
          <a:p>
            <a:r>
              <a:rPr lang="zh-CN" altLang="en-US" sz="1600" b="1" dirty="0"/>
              <a:t>    </a:t>
            </a:r>
            <a:r>
              <a:rPr lang="en-US" altLang="zh-CN" sz="1600" b="1" dirty="0"/>
              <a:t>while((p-&gt;</a:t>
            </a:r>
            <a:r>
              <a:rPr lang="en-US" altLang="zh-CN" sz="1600" b="1" dirty="0" err="1"/>
              <a:t>num</a:t>
            </a:r>
            <a:r>
              <a:rPr lang="en-US" altLang="zh-CN" sz="1600" b="1" dirty="0"/>
              <a:t>&gt;p2-&gt;</a:t>
            </a:r>
            <a:r>
              <a:rPr lang="en-US" altLang="zh-CN" sz="1600" b="1" dirty="0" err="1"/>
              <a:t>num</a:t>
            </a:r>
            <a:r>
              <a:rPr lang="en-US" altLang="zh-CN" sz="1600" b="1" dirty="0"/>
              <a:t>)&amp;&amp;(p2-&gt;next!=NULL)){  //</a:t>
            </a:r>
            <a:r>
              <a:rPr lang="zh-CN" altLang="en-US" sz="1600" b="1" dirty="0"/>
              <a:t>按学号顺序查找插入位置</a:t>
            </a:r>
          </a:p>
          <a:p>
            <a:r>
              <a:rPr lang="zh-CN" altLang="en-US" sz="1600" b="1" dirty="0"/>
              <a:t>        </a:t>
            </a:r>
            <a:r>
              <a:rPr lang="en-US" altLang="zh-CN" sz="1600" b="1" dirty="0"/>
              <a:t>p1=p2;   //p1,p2</a:t>
            </a:r>
            <a:r>
              <a:rPr lang="zh-CN" altLang="en-US" sz="1600" b="1" dirty="0"/>
              <a:t>各后移一个结点</a:t>
            </a:r>
          </a:p>
          <a:p>
            <a:r>
              <a:rPr lang="zh-CN" altLang="en-US" sz="1600" b="1" dirty="0"/>
              <a:t>        </a:t>
            </a:r>
            <a:r>
              <a:rPr lang="en-US" altLang="zh-CN" sz="1600" b="1" dirty="0"/>
              <a:t>p2=p2-&gt;next;</a:t>
            </a:r>
          </a:p>
          <a:p>
            <a:r>
              <a:rPr lang="en-US" altLang="zh-CN" sz="1600" b="1" dirty="0"/>
              <a:t>    }</a:t>
            </a:r>
          </a:p>
          <a:p>
            <a:r>
              <a:rPr lang="en-US" altLang="zh-CN" sz="1600" b="1" dirty="0"/>
              <a:t>    if(p-&gt;</a:t>
            </a:r>
            <a:r>
              <a:rPr lang="en-US" altLang="zh-CN" sz="1600" b="1" dirty="0" err="1"/>
              <a:t>num</a:t>
            </a:r>
            <a:r>
              <a:rPr lang="en-US" altLang="zh-CN" sz="1600" b="1" dirty="0"/>
              <a:t>&lt;=p2-&gt;</a:t>
            </a:r>
            <a:r>
              <a:rPr lang="en-US" altLang="zh-CN" sz="1600" b="1" dirty="0" err="1"/>
              <a:t>num</a:t>
            </a:r>
            <a:r>
              <a:rPr lang="en-US" altLang="zh-CN" sz="1600" b="1" dirty="0"/>
              <a:t>){   //</a:t>
            </a:r>
            <a:r>
              <a:rPr lang="zh-CN" altLang="en-US" sz="1600" b="1" dirty="0"/>
              <a:t>找到插入点位置在</a:t>
            </a:r>
            <a:r>
              <a:rPr lang="en-US" altLang="zh-CN" sz="1600" b="1" dirty="0"/>
              <a:t>p1</a:t>
            </a:r>
            <a:r>
              <a:rPr lang="zh-CN" altLang="en-US" sz="1600" b="1" dirty="0"/>
              <a:t>和</a:t>
            </a:r>
            <a:r>
              <a:rPr lang="en-US" altLang="zh-CN" sz="1600" b="1" dirty="0"/>
              <a:t>p2</a:t>
            </a:r>
            <a:r>
              <a:rPr lang="zh-CN" altLang="en-US" sz="1600" b="1" dirty="0"/>
              <a:t>之间</a:t>
            </a:r>
          </a:p>
          <a:p>
            <a:r>
              <a:rPr lang="zh-CN" altLang="en-US" sz="1600" b="1" dirty="0"/>
              <a:t>        </a:t>
            </a:r>
            <a:r>
              <a:rPr lang="en-US" altLang="zh-CN" sz="1600" b="1" dirty="0"/>
              <a:t>if(head==p2)  head=p;   //</a:t>
            </a:r>
            <a:r>
              <a:rPr lang="zh-CN" altLang="en-US" sz="1600" b="1" dirty="0"/>
              <a:t>插入最小学号</a:t>
            </a:r>
          </a:p>
          <a:p>
            <a:r>
              <a:rPr lang="zh-CN" altLang="en-US" sz="1600" b="1" dirty="0"/>
              <a:t>        </a:t>
            </a:r>
            <a:r>
              <a:rPr lang="en-US" altLang="zh-CN" sz="1600" b="1" dirty="0"/>
              <a:t>else p1-&gt;next=p;</a:t>
            </a:r>
          </a:p>
          <a:p>
            <a:r>
              <a:rPr lang="en-US" altLang="zh-CN" sz="1600" b="1" dirty="0"/>
              <a:t>        p-&gt;next=p2;</a:t>
            </a:r>
          </a:p>
          <a:p>
            <a:r>
              <a:rPr lang="en-US" altLang="zh-CN" sz="1600" b="1" dirty="0"/>
              <a:t>    }</a:t>
            </a:r>
          </a:p>
          <a:p>
            <a:r>
              <a:rPr lang="en-US" altLang="zh-CN" sz="1600" b="1" dirty="0"/>
              <a:t>    else</a:t>
            </a:r>
          </a:p>
          <a:p>
            <a:r>
              <a:rPr lang="en-US" altLang="zh-CN" sz="1600" b="1" dirty="0"/>
              <a:t>        p2-&gt;next=p;    //</a:t>
            </a:r>
            <a:r>
              <a:rPr lang="zh-CN" altLang="en-US" sz="1600" b="1" dirty="0"/>
              <a:t>插入最大学号</a:t>
            </a:r>
          </a:p>
          <a:p>
            <a:r>
              <a:rPr lang="en-US" altLang="zh-CN" sz="1600" b="1" dirty="0"/>
              <a:t>}</a:t>
            </a:r>
          </a:p>
          <a:p>
            <a:r>
              <a:rPr lang="en-US" altLang="zh-CN" sz="1600" b="1" dirty="0"/>
              <a:t>for(p=</a:t>
            </a:r>
            <a:r>
              <a:rPr lang="en-US" altLang="zh-CN" sz="1600" b="1" dirty="0" err="1"/>
              <a:t>head;p</a:t>
            </a:r>
            <a:r>
              <a:rPr lang="en-US" altLang="zh-CN" sz="1600" b="1" dirty="0"/>
              <a:t>!=</a:t>
            </a:r>
            <a:r>
              <a:rPr lang="en-US" altLang="zh-CN" sz="1600" b="1" dirty="0" err="1"/>
              <a:t>NULL;p</a:t>
            </a:r>
            <a:r>
              <a:rPr lang="en-US" altLang="zh-CN" sz="1600" b="1" dirty="0"/>
              <a:t>=p-&gt;next)</a:t>
            </a:r>
          </a:p>
          <a:p>
            <a:r>
              <a:rPr lang="en-US" altLang="zh-CN" sz="1600" b="1" dirty="0"/>
              <a:t>    </a:t>
            </a:r>
            <a:r>
              <a:rPr lang="en-US" altLang="zh-CN" sz="1600" b="1" dirty="0" err="1"/>
              <a:t>printf</a:t>
            </a:r>
            <a:r>
              <a:rPr lang="en-US" altLang="zh-CN" sz="1600" b="1" dirty="0"/>
              <a:t>("%d\</a:t>
            </a:r>
            <a:r>
              <a:rPr lang="en-US" altLang="zh-CN" sz="1600" b="1" dirty="0" err="1"/>
              <a:t>t%s</a:t>
            </a:r>
            <a:r>
              <a:rPr lang="en-US" altLang="zh-CN" sz="1600" b="1" dirty="0"/>
              <a:t>\</a:t>
            </a:r>
            <a:r>
              <a:rPr lang="en-US" altLang="zh-CN" sz="1600" b="1" dirty="0" err="1"/>
              <a:t>n",p</a:t>
            </a:r>
            <a:r>
              <a:rPr lang="en-US" altLang="zh-CN" sz="1600" b="1" dirty="0"/>
              <a:t>-&gt;</a:t>
            </a:r>
            <a:r>
              <a:rPr lang="en-US" altLang="zh-CN" sz="1600" b="1" dirty="0" err="1"/>
              <a:t>num,p</a:t>
            </a:r>
            <a:r>
              <a:rPr lang="en-US" altLang="zh-CN" sz="1600" b="1" dirty="0"/>
              <a:t>-&gt;</a:t>
            </a:r>
            <a:r>
              <a:rPr lang="en-US" altLang="zh-CN" sz="1600" b="1" dirty="0" err="1"/>
              <a:t>tel</a:t>
            </a:r>
            <a:r>
              <a:rPr lang="en-US" altLang="zh-CN" sz="1600" b="1" dirty="0"/>
              <a:t>);</a:t>
            </a:r>
          </a:p>
          <a:p>
            <a:r>
              <a:rPr lang="en-US" altLang="zh-CN" sz="1600" b="1" dirty="0"/>
              <a:t>return 0;</a:t>
            </a:r>
          </a:p>
          <a:p>
            <a:r>
              <a:rPr lang="en-US" altLang="zh-CN" sz="1600" b="1" dirty="0"/>
              <a:t>}</a:t>
            </a:r>
            <a:endParaRPr lang="zh-CN" altLang="en-US" sz="1600" b="1" dirty="0"/>
          </a:p>
        </p:txBody>
      </p:sp>
      <p:sp>
        <p:nvSpPr>
          <p:cNvPr id="26" name="矩形 25"/>
          <p:cNvSpPr/>
          <p:nvPr/>
        </p:nvSpPr>
        <p:spPr bwMode="auto">
          <a:xfrm>
            <a:off x="2384943" y="498837"/>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p1</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27" name="矩形 26"/>
          <p:cNvSpPr/>
          <p:nvPr/>
        </p:nvSpPr>
        <p:spPr bwMode="auto">
          <a:xfrm>
            <a:off x="2383827" y="879895"/>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lang="en-US" altLang="zh-CN" sz="1600" b="1" dirty="0" smtClean="0"/>
              <a:t>p2</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cxnSp>
        <p:nvCxnSpPr>
          <p:cNvPr id="28" name="直接箭头连接符 27"/>
          <p:cNvCxnSpPr/>
          <p:nvPr/>
        </p:nvCxnSpPr>
        <p:spPr bwMode="auto">
          <a:xfrm flipV="1">
            <a:off x="3156889" y="462833"/>
            <a:ext cx="334523" cy="235068"/>
          </a:xfrm>
          <a:prstGeom prst="straightConnector1">
            <a:avLst/>
          </a:prstGeom>
          <a:solidFill>
            <a:schemeClr val="accent1"/>
          </a:solidFill>
          <a:ln w="28575" cap="flat" cmpd="sng" algn="ctr">
            <a:solidFill>
              <a:schemeClr val="tx1"/>
            </a:solidFill>
            <a:prstDash val="solid"/>
            <a:round/>
            <a:headEnd type="none" w="med" len="med"/>
            <a:tailEnd type="triangle"/>
          </a:ln>
        </p:spPr>
      </p:cxnSp>
      <p:cxnSp>
        <p:nvCxnSpPr>
          <p:cNvPr id="29" name="直接箭头连接符 28"/>
          <p:cNvCxnSpPr/>
          <p:nvPr/>
        </p:nvCxnSpPr>
        <p:spPr bwMode="auto">
          <a:xfrm flipV="1">
            <a:off x="3156889" y="530517"/>
            <a:ext cx="334523" cy="501816"/>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31" name="矩形 30"/>
          <p:cNvSpPr/>
          <p:nvPr/>
        </p:nvSpPr>
        <p:spPr>
          <a:xfrm>
            <a:off x="6152974" y="223891"/>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spTree>
    <p:extLst>
      <p:ext uri="{BB962C8B-B14F-4D97-AF65-F5344CB8AC3E}">
        <p14:creationId xmlns:p14="http://schemas.microsoft.com/office/powerpoint/2010/main" val="4202948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4595" name="Rectangle 3"/>
          <p:cNvSpPr>
            <a:spLocks noGrp="1" noChangeArrowheads="1"/>
          </p:cNvSpPr>
          <p:nvPr>
            <p:ph type="body" idx="1"/>
          </p:nvPr>
        </p:nvSpPr>
        <p:spPr>
          <a:xfrm>
            <a:off x="753428" y="5156200"/>
            <a:ext cx="5473700" cy="12192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marL="0" indent="0" algn="just">
              <a:buNone/>
            </a:pPr>
            <a:r>
              <a:rPr lang="zh-CN" altLang="en-US" sz="2800" dirty="0" smtClean="0">
                <a:solidFill>
                  <a:srgbClr val="CC0066"/>
                </a:solidFill>
              </a:rPr>
              <a:t>先脱链</a:t>
            </a:r>
            <a:r>
              <a:rPr lang="en-US" altLang="zh-CN" sz="2800" dirty="0" smtClean="0">
                <a:solidFill>
                  <a:srgbClr val="CC0066"/>
                </a:solidFill>
              </a:rPr>
              <a:t>:</a:t>
            </a:r>
            <a:r>
              <a:rPr lang="en-US" altLang="zh-CN" sz="2800" dirty="0" smtClean="0"/>
              <a:t>p1-</a:t>
            </a:r>
            <a:r>
              <a:rPr lang="en-US" altLang="zh-CN" sz="2800" dirty="0"/>
              <a:t>&gt;</a:t>
            </a:r>
            <a:r>
              <a:rPr lang="en-US" altLang="zh-CN" sz="2800" dirty="0" smtClean="0"/>
              <a:t>next=p2-</a:t>
            </a:r>
            <a:r>
              <a:rPr lang="en-US" altLang="zh-CN" sz="2800" dirty="0"/>
              <a:t>&gt;next;</a:t>
            </a:r>
          </a:p>
        </p:txBody>
      </p:sp>
      <p:grpSp>
        <p:nvGrpSpPr>
          <p:cNvPr id="494596" name="Group 4"/>
          <p:cNvGrpSpPr/>
          <p:nvPr/>
        </p:nvGrpSpPr>
        <p:grpSpPr bwMode="auto">
          <a:xfrm>
            <a:off x="872490" y="2279650"/>
            <a:ext cx="6938963" cy="1194678"/>
            <a:chOff x="48" y="633"/>
            <a:chExt cx="4368" cy="1179"/>
          </a:xfrm>
        </p:grpSpPr>
        <p:grpSp>
          <p:nvGrpSpPr>
            <p:cNvPr id="494597" name="Group 5"/>
            <p:cNvGrpSpPr/>
            <p:nvPr/>
          </p:nvGrpSpPr>
          <p:grpSpPr bwMode="auto">
            <a:xfrm>
              <a:off x="3360" y="672"/>
              <a:ext cx="1056" cy="240"/>
              <a:chOff x="624" y="672"/>
              <a:chExt cx="1056" cy="240"/>
            </a:xfrm>
          </p:grpSpPr>
          <p:sp>
            <p:nvSpPr>
              <p:cNvPr id="494598" name="Rectangle 6"/>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599" name="Group 7"/>
              <p:cNvGrpSpPr/>
              <p:nvPr/>
            </p:nvGrpSpPr>
            <p:grpSpPr bwMode="auto">
              <a:xfrm>
                <a:off x="624" y="672"/>
                <a:ext cx="720" cy="240"/>
                <a:chOff x="624" y="672"/>
                <a:chExt cx="720" cy="240"/>
              </a:xfrm>
            </p:grpSpPr>
            <p:sp>
              <p:nvSpPr>
                <p:cNvPr id="494600" name="Line 8"/>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01" name="Rectangle 9"/>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grpSp>
          <p:nvGrpSpPr>
            <p:cNvPr id="494602" name="Group 10"/>
            <p:cNvGrpSpPr/>
            <p:nvPr/>
          </p:nvGrpSpPr>
          <p:grpSpPr bwMode="auto">
            <a:xfrm>
              <a:off x="48" y="633"/>
              <a:ext cx="4368" cy="1179"/>
              <a:chOff x="48" y="633"/>
              <a:chExt cx="4368" cy="1179"/>
            </a:xfrm>
          </p:grpSpPr>
          <p:sp>
            <p:nvSpPr>
              <p:cNvPr id="494603" name="Text Box 11"/>
              <p:cNvSpPr txBox="1">
                <a:spLocks noChangeArrowheads="1"/>
              </p:cNvSpPr>
              <p:nvPr/>
            </p:nvSpPr>
            <p:spPr bwMode="auto">
              <a:xfrm>
                <a:off x="48" y="633"/>
                <a:ext cx="602" cy="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dirty="0">
                    <a:latin typeface="Book Antiqua" panose="02040602050305030304" pitchFamily="18" charset="0"/>
                  </a:rPr>
                  <a:t>head</a:t>
                </a:r>
                <a:endParaRPr kumimoji="1" lang="en-US" altLang="zh-CN" sz="2800" dirty="0">
                  <a:latin typeface="Times New Roman" panose="02020603050405020304" pitchFamily="18" charset="0"/>
                </a:endParaRPr>
              </a:p>
            </p:txBody>
          </p:sp>
          <p:grpSp>
            <p:nvGrpSpPr>
              <p:cNvPr id="494604" name="Group 12"/>
              <p:cNvGrpSpPr/>
              <p:nvPr/>
            </p:nvGrpSpPr>
            <p:grpSpPr bwMode="auto">
              <a:xfrm>
                <a:off x="1680" y="912"/>
                <a:ext cx="365" cy="900"/>
                <a:chOff x="833" y="960"/>
                <a:chExt cx="365" cy="900"/>
              </a:xfrm>
            </p:grpSpPr>
            <p:sp>
              <p:nvSpPr>
                <p:cNvPr id="494605" name="Line 13"/>
                <p:cNvSpPr>
                  <a:spLocks noChangeShapeType="1"/>
                </p:cNvSpPr>
                <p:nvPr/>
              </p:nvSpPr>
              <p:spPr bwMode="auto">
                <a:xfrm flipV="1">
                  <a:off x="1056" y="960"/>
                  <a:ext cx="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06" name="Text Box 14"/>
                <p:cNvSpPr txBox="1">
                  <a:spLocks noChangeArrowheads="1"/>
                </p:cNvSpPr>
                <p:nvPr/>
              </p:nvSpPr>
              <p:spPr bwMode="auto">
                <a:xfrm>
                  <a:off x="833" y="1344"/>
                  <a:ext cx="365" cy="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dirty="0" smtClean="0">
                      <a:latin typeface="Book Antiqua" panose="02040602050305030304" pitchFamily="18" charset="0"/>
                    </a:rPr>
                    <a:t>p1</a:t>
                  </a:r>
                  <a:endParaRPr kumimoji="1" lang="en-US" altLang="zh-CN" sz="2800" dirty="0">
                    <a:latin typeface="Times New Roman" panose="02020603050405020304" pitchFamily="18" charset="0"/>
                  </a:endParaRPr>
                </a:p>
              </p:txBody>
            </p:sp>
          </p:grpSp>
          <p:grpSp>
            <p:nvGrpSpPr>
              <p:cNvPr id="494607" name="Group 15"/>
              <p:cNvGrpSpPr/>
              <p:nvPr/>
            </p:nvGrpSpPr>
            <p:grpSpPr bwMode="auto">
              <a:xfrm>
                <a:off x="624" y="672"/>
                <a:ext cx="1056" cy="240"/>
                <a:chOff x="624" y="672"/>
                <a:chExt cx="1056" cy="240"/>
              </a:xfrm>
            </p:grpSpPr>
            <p:sp>
              <p:nvSpPr>
                <p:cNvPr id="494608" name="Rectangle 16"/>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609" name="Group 17"/>
                <p:cNvGrpSpPr/>
                <p:nvPr/>
              </p:nvGrpSpPr>
              <p:grpSpPr bwMode="auto">
                <a:xfrm>
                  <a:off x="624" y="672"/>
                  <a:ext cx="720" cy="240"/>
                  <a:chOff x="624" y="672"/>
                  <a:chExt cx="720" cy="240"/>
                </a:xfrm>
              </p:grpSpPr>
              <p:sp>
                <p:nvSpPr>
                  <p:cNvPr id="494610" name="Line 18"/>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11" name="Rectangle 19"/>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grpSp>
            <p:nvGrpSpPr>
              <p:cNvPr id="494612" name="Group 20"/>
              <p:cNvGrpSpPr/>
              <p:nvPr/>
            </p:nvGrpSpPr>
            <p:grpSpPr bwMode="auto">
              <a:xfrm>
                <a:off x="1536" y="672"/>
                <a:ext cx="1056" cy="240"/>
                <a:chOff x="624" y="672"/>
                <a:chExt cx="1056" cy="240"/>
              </a:xfrm>
            </p:grpSpPr>
            <p:sp>
              <p:nvSpPr>
                <p:cNvPr id="494613" name="Rectangle 21"/>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614" name="Group 22"/>
                <p:cNvGrpSpPr/>
                <p:nvPr/>
              </p:nvGrpSpPr>
              <p:grpSpPr bwMode="auto">
                <a:xfrm>
                  <a:off x="624" y="672"/>
                  <a:ext cx="720" cy="240"/>
                  <a:chOff x="624" y="672"/>
                  <a:chExt cx="720" cy="240"/>
                </a:xfrm>
              </p:grpSpPr>
              <p:sp>
                <p:nvSpPr>
                  <p:cNvPr id="494615" name="Line 23"/>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16" name="Rectangle 24"/>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grpSp>
            <p:nvGrpSpPr>
              <p:cNvPr id="494617" name="Group 25"/>
              <p:cNvGrpSpPr/>
              <p:nvPr/>
            </p:nvGrpSpPr>
            <p:grpSpPr bwMode="auto">
              <a:xfrm>
                <a:off x="2448" y="672"/>
                <a:ext cx="1056" cy="240"/>
                <a:chOff x="624" y="672"/>
                <a:chExt cx="1056" cy="240"/>
              </a:xfrm>
            </p:grpSpPr>
            <p:sp>
              <p:nvSpPr>
                <p:cNvPr id="494618" name="Rectangle 26"/>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619" name="Group 27"/>
                <p:cNvGrpSpPr/>
                <p:nvPr/>
              </p:nvGrpSpPr>
              <p:grpSpPr bwMode="auto">
                <a:xfrm>
                  <a:off x="624" y="672"/>
                  <a:ext cx="720" cy="240"/>
                  <a:chOff x="624" y="672"/>
                  <a:chExt cx="720" cy="240"/>
                </a:xfrm>
              </p:grpSpPr>
              <p:sp>
                <p:nvSpPr>
                  <p:cNvPr id="494620" name="Line 28"/>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21" name="Rectangle 29"/>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sp>
            <p:nvSpPr>
              <p:cNvPr id="494622" name="Line 30"/>
              <p:cNvSpPr>
                <a:spLocks noChangeShapeType="1"/>
              </p:cNvSpPr>
              <p:nvPr/>
            </p:nvSpPr>
            <p:spPr bwMode="auto">
              <a:xfrm flipV="1">
                <a:off x="4080" y="720"/>
                <a:ext cx="336" cy="19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grpSp>
      </p:grpSp>
      <p:grpSp>
        <p:nvGrpSpPr>
          <p:cNvPr id="494623" name="Group 31"/>
          <p:cNvGrpSpPr/>
          <p:nvPr/>
        </p:nvGrpSpPr>
        <p:grpSpPr bwMode="auto">
          <a:xfrm>
            <a:off x="4785678" y="3619500"/>
            <a:ext cx="1676400" cy="381000"/>
            <a:chOff x="624" y="672"/>
            <a:chExt cx="1056" cy="240"/>
          </a:xfrm>
        </p:grpSpPr>
        <p:sp>
          <p:nvSpPr>
            <p:cNvPr id="494624" name="Rectangle 32"/>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625" name="Group 33"/>
            <p:cNvGrpSpPr/>
            <p:nvPr/>
          </p:nvGrpSpPr>
          <p:grpSpPr bwMode="auto">
            <a:xfrm>
              <a:off x="624" y="672"/>
              <a:ext cx="720" cy="240"/>
              <a:chOff x="624" y="672"/>
              <a:chExt cx="720" cy="240"/>
            </a:xfrm>
          </p:grpSpPr>
          <p:sp>
            <p:nvSpPr>
              <p:cNvPr id="494626" name="Line 34"/>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27" name="Rectangle 35"/>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grpSp>
        <p:nvGrpSpPr>
          <p:cNvPr id="494628" name="Group 36"/>
          <p:cNvGrpSpPr/>
          <p:nvPr/>
        </p:nvGrpSpPr>
        <p:grpSpPr bwMode="auto">
          <a:xfrm>
            <a:off x="4931728" y="2600325"/>
            <a:ext cx="581025" cy="872008"/>
            <a:chOff x="2592" y="912"/>
            <a:chExt cx="366" cy="957"/>
          </a:xfrm>
        </p:grpSpPr>
        <p:sp>
          <p:nvSpPr>
            <p:cNvPr id="494629" name="Text Box 37"/>
            <p:cNvSpPr txBox="1">
              <a:spLocks noChangeArrowheads="1"/>
            </p:cNvSpPr>
            <p:nvPr/>
          </p:nvSpPr>
          <p:spPr bwMode="auto">
            <a:xfrm>
              <a:off x="2592" y="1295"/>
              <a:ext cx="366" cy="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dirty="0" smtClean="0">
                  <a:latin typeface="Book Antiqua" panose="02040602050305030304" pitchFamily="18" charset="0"/>
                </a:rPr>
                <a:t>p2</a:t>
              </a:r>
              <a:endParaRPr kumimoji="1" lang="en-US" altLang="zh-CN" sz="2800" dirty="0">
                <a:latin typeface="Times New Roman" panose="02020603050405020304" pitchFamily="18" charset="0"/>
              </a:endParaRPr>
            </a:p>
          </p:txBody>
        </p:sp>
        <p:sp>
          <p:nvSpPr>
            <p:cNvPr id="494630" name="Line 38"/>
            <p:cNvSpPr>
              <a:spLocks noChangeShapeType="1"/>
            </p:cNvSpPr>
            <p:nvPr/>
          </p:nvSpPr>
          <p:spPr bwMode="auto">
            <a:xfrm flipV="1">
              <a:off x="2815" y="912"/>
              <a:ext cx="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grpSp>
      <p:grpSp>
        <p:nvGrpSpPr>
          <p:cNvPr id="494631" name="Group 39"/>
          <p:cNvGrpSpPr/>
          <p:nvPr/>
        </p:nvGrpSpPr>
        <p:grpSpPr bwMode="auto">
          <a:xfrm>
            <a:off x="899478" y="3571876"/>
            <a:ext cx="6934200" cy="1576388"/>
            <a:chOff x="144" y="1650"/>
            <a:chExt cx="4368" cy="993"/>
          </a:xfrm>
        </p:grpSpPr>
        <p:sp>
          <p:nvSpPr>
            <p:cNvPr id="494632" name="Line 40"/>
            <p:cNvSpPr>
              <a:spLocks noChangeShapeType="1"/>
            </p:cNvSpPr>
            <p:nvPr/>
          </p:nvSpPr>
          <p:spPr bwMode="auto">
            <a:xfrm flipV="1">
              <a:off x="4176" y="1728"/>
              <a:ext cx="336" cy="19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grpSp>
          <p:nvGrpSpPr>
            <p:cNvPr id="494633" name="Group 41"/>
            <p:cNvGrpSpPr/>
            <p:nvPr/>
          </p:nvGrpSpPr>
          <p:grpSpPr bwMode="auto">
            <a:xfrm>
              <a:off x="144" y="1650"/>
              <a:ext cx="4368" cy="993"/>
              <a:chOff x="144" y="1650"/>
              <a:chExt cx="4368" cy="993"/>
            </a:xfrm>
          </p:grpSpPr>
          <p:grpSp>
            <p:nvGrpSpPr>
              <p:cNvPr id="494634" name="Group 42"/>
              <p:cNvGrpSpPr/>
              <p:nvPr/>
            </p:nvGrpSpPr>
            <p:grpSpPr bwMode="auto">
              <a:xfrm>
                <a:off x="3456" y="1689"/>
                <a:ext cx="720" cy="240"/>
                <a:chOff x="624" y="672"/>
                <a:chExt cx="720" cy="240"/>
              </a:xfrm>
            </p:grpSpPr>
            <p:sp>
              <p:nvSpPr>
                <p:cNvPr id="494635" name="Line 43"/>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36" name="Rectangle 44"/>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nvGrpSpPr>
              <p:cNvPr id="494637" name="Group 45"/>
              <p:cNvGrpSpPr/>
              <p:nvPr/>
            </p:nvGrpSpPr>
            <p:grpSpPr bwMode="auto">
              <a:xfrm>
                <a:off x="144" y="1650"/>
                <a:ext cx="4368" cy="993"/>
                <a:chOff x="144" y="1650"/>
                <a:chExt cx="4368" cy="993"/>
              </a:xfrm>
            </p:grpSpPr>
            <p:sp>
              <p:nvSpPr>
                <p:cNvPr id="494638" name="Rectangle 46"/>
                <p:cNvSpPr>
                  <a:spLocks noChangeArrowheads="1"/>
                </p:cNvSpPr>
                <p:nvPr/>
              </p:nvSpPr>
              <p:spPr bwMode="auto">
                <a:xfrm>
                  <a:off x="4176" y="1689"/>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sp>
              <p:nvSpPr>
                <p:cNvPr id="494639" name="Text Box 47"/>
                <p:cNvSpPr txBox="1">
                  <a:spLocks noChangeArrowheads="1"/>
                </p:cNvSpPr>
                <p:nvPr/>
              </p:nvSpPr>
              <p:spPr bwMode="auto">
                <a:xfrm>
                  <a:off x="144" y="1650"/>
                  <a:ext cx="60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dirty="0">
                      <a:latin typeface="Book Antiqua" panose="02040602050305030304" pitchFamily="18" charset="0"/>
                    </a:rPr>
                    <a:t>head</a:t>
                  </a:r>
                  <a:endParaRPr kumimoji="1" lang="en-US" altLang="zh-CN" sz="2800" dirty="0">
                    <a:latin typeface="Times New Roman" panose="02020603050405020304" pitchFamily="18" charset="0"/>
                  </a:endParaRPr>
                </a:p>
              </p:txBody>
            </p:sp>
            <p:grpSp>
              <p:nvGrpSpPr>
                <p:cNvPr id="494640" name="Group 48"/>
                <p:cNvGrpSpPr/>
                <p:nvPr/>
              </p:nvGrpSpPr>
              <p:grpSpPr bwMode="auto">
                <a:xfrm>
                  <a:off x="1776" y="1929"/>
                  <a:ext cx="366" cy="714"/>
                  <a:chOff x="833" y="960"/>
                  <a:chExt cx="366" cy="714"/>
                </a:xfrm>
              </p:grpSpPr>
              <p:sp>
                <p:nvSpPr>
                  <p:cNvPr id="494641" name="Line 49"/>
                  <p:cNvSpPr>
                    <a:spLocks noChangeShapeType="1"/>
                  </p:cNvSpPr>
                  <p:nvPr/>
                </p:nvSpPr>
                <p:spPr bwMode="auto">
                  <a:xfrm flipV="1">
                    <a:off x="1056" y="960"/>
                    <a:ext cx="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42" name="Text Box 50"/>
                  <p:cNvSpPr txBox="1">
                    <a:spLocks noChangeArrowheads="1"/>
                  </p:cNvSpPr>
                  <p:nvPr/>
                </p:nvSpPr>
                <p:spPr bwMode="auto">
                  <a:xfrm>
                    <a:off x="833" y="1344"/>
                    <a:ext cx="36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dirty="0" smtClean="0">
                        <a:latin typeface="Book Antiqua" panose="02040602050305030304" pitchFamily="18" charset="0"/>
                      </a:rPr>
                      <a:t>p1</a:t>
                    </a:r>
                    <a:endParaRPr kumimoji="1" lang="en-US" altLang="zh-CN" sz="2800" dirty="0">
                      <a:latin typeface="Times New Roman" panose="02020603050405020304" pitchFamily="18" charset="0"/>
                    </a:endParaRPr>
                  </a:p>
                </p:txBody>
              </p:sp>
            </p:grpSp>
            <p:grpSp>
              <p:nvGrpSpPr>
                <p:cNvPr id="494643" name="Group 51"/>
                <p:cNvGrpSpPr/>
                <p:nvPr/>
              </p:nvGrpSpPr>
              <p:grpSpPr bwMode="auto">
                <a:xfrm>
                  <a:off x="720" y="1689"/>
                  <a:ext cx="1056" cy="240"/>
                  <a:chOff x="624" y="672"/>
                  <a:chExt cx="1056" cy="240"/>
                </a:xfrm>
              </p:grpSpPr>
              <p:sp>
                <p:nvSpPr>
                  <p:cNvPr id="494644" name="Rectangle 52"/>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645" name="Group 53"/>
                  <p:cNvGrpSpPr/>
                  <p:nvPr/>
                </p:nvGrpSpPr>
                <p:grpSpPr bwMode="auto">
                  <a:xfrm>
                    <a:off x="624" y="672"/>
                    <a:ext cx="720" cy="240"/>
                    <a:chOff x="624" y="672"/>
                    <a:chExt cx="720" cy="240"/>
                  </a:xfrm>
                </p:grpSpPr>
                <p:sp>
                  <p:nvSpPr>
                    <p:cNvPr id="494646" name="Line 54"/>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47" name="Rectangle 55"/>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grpSp>
              <p:nvGrpSpPr>
                <p:cNvPr id="494648" name="Group 56"/>
                <p:cNvGrpSpPr/>
                <p:nvPr/>
              </p:nvGrpSpPr>
              <p:grpSpPr bwMode="auto">
                <a:xfrm>
                  <a:off x="1632" y="1689"/>
                  <a:ext cx="1056" cy="240"/>
                  <a:chOff x="624" y="672"/>
                  <a:chExt cx="1056" cy="240"/>
                </a:xfrm>
              </p:grpSpPr>
              <p:sp>
                <p:nvSpPr>
                  <p:cNvPr id="494649" name="Rectangle 57"/>
                  <p:cNvSpPr>
                    <a:spLocks noChangeArrowheads="1"/>
                  </p:cNvSpPr>
                  <p:nvPr/>
                </p:nvSpPr>
                <p:spPr bwMode="auto">
                  <a:xfrm>
                    <a:off x="1344"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nvGrpSpPr>
                  <p:cNvPr id="494650" name="Group 58"/>
                  <p:cNvGrpSpPr/>
                  <p:nvPr/>
                </p:nvGrpSpPr>
                <p:grpSpPr bwMode="auto">
                  <a:xfrm>
                    <a:off x="624" y="672"/>
                    <a:ext cx="720" cy="240"/>
                    <a:chOff x="624" y="672"/>
                    <a:chExt cx="720" cy="240"/>
                  </a:xfrm>
                </p:grpSpPr>
                <p:sp>
                  <p:nvSpPr>
                    <p:cNvPr id="494651" name="Line 59"/>
                    <p:cNvSpPr>
                      <a:spLocks noChangeShapeType="1"/>
                    </p:cNvSpPr>
                    <p:nvPr/>
                  </p:nvSpPr>
                  <p:spPr bwMode="auto">
                    <a:xfrm>
                      <a:off x="624" y="795"/>
                      <a:ext cx="432" cy="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494652" name="Rectangle 60"/>
                    <p:cNvSpPr>
                      <a:spLocks noChangeArrowheads="1"/>
                    </p:cNvSpPr>
                    <p:nvPr/>
                  </p:nvSpPr>
                  <p:spPr bwMode="auto">
                    <a:xfrm>
                      <a:off x="1008" y="672"/>
                      <a:ext cx="336" cy="24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en-US" sz="2800" b="1">
                        <a:latin typeface="Book Antiqua" panose="02040602050305030304" pitchFamily="18" charset="0"/>
                      </a:endParaRPr>
                    </a:p>
                  </p:txBody>
                </p:sp>
              </p:grpSp>
            </p:grpSp>
            <p:sp>
              <p:nvSpPr>
                <p:cNvPr id="494653" name="Line 61"/>
                <p:cNvSpPr>
                  <a:spLocks noChangeShapeType="1"/>
                </p:cNvSpPr>
                <p:nvPr/>
              </p:nvSpPr>
              <p:spPr bwMode="auto">
                <a:xfrm flipV="1">
                  <a:off x="2592" y="1824"/>
                  <a:ext cx="1392" cy="0"/>
                </a:xfrm>
                <a:prstGeom prst="line">
                  <a:avLst/>
                </a:prstGeom>
                <a:noFill/>
                <a:ln w="76200">
                  <a:solidFill>
                    <a:srgbClr val="00FF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grpSp>
        </p:grpSp>
      </p:grpSp>
      <p:sp>
        <p:nvSpPr>
          <p:cNvPr id="494654" name="Rectangle 62"/>
          <p:cNvSpPr>
            <a:spLocks noChangeArrowheads="1"/>
          </p:cNvSpPr>
          <p:nvPr/>
        </p:nvSpPr>
        <p:spPr bwMode="auto">
          <a:xfrm>
            <a:off x="755015" y="5659983"/>
            <a:ext cx="48974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marL="0" indent="0" algn="just">
              <a:buNone/>
            </a:pPr>
            <a:r>
              <a:rPr lang="zh-CN" altLang="en-US" sz="2800" b="0" dirty="0">
                <a:solidFill>
                  <a:srgbClr val="CC0066"/>
                </a:solidFill>
              </a:rPr>
              <a:t>后删</a:t>
            </a:r>
            <a:r>
              <a:rPr lang="en-US" altLang="zh-CN" sz="2800" b="0" dirty="0">
                <a:solidFill>
                  <a:srgbClr val="CC0066"/>
                </a:solidFill>
              </a:rPr>
              <a:t>:</a:t>
            </a:r>
            <a:r>
              <a:rPr lang="en-US" altLang="zh-CN" sz="2800" b="0" dirty="0" smtClean="0"/>
              <a:t>free(p2</a:t>
            </a:r>
            <a:r>
              <a:rPr lang="en-US" altLang="zh-CN" sz="2800" b="0" dirty="0"/>
              <a:t>);</a:t>
            </a:r>
            <a:endParaRPr lang="zh-CN" altLang="en-US" sz="2800" b="0" dirty="0">
              <a:solidFill>
                <a:srgbClr val="CC0066"/>
              </a:solidFill>
            </a:endParaRPr>
          </a:p>
        </p:txBody>
      </p:sp>
      <p:sp>
        <p:nvSpPr>
          <p:cNvPr id="494659" name="Rectangle 67"/>
          <p:cNvSpPr>
            <a:spLocks noGrp="1" noChangeArrowheads="1"/>
          </p:cNvSpPr>
          <p:nvPr>
            <p:ph type="title"/>
          </p:nvPr>
        </p:nvSpPr>
        <p:spPr>
          <a:xfrm>
            <a:off x="672465" y="815975"/>
            <a:ext cx="8229600" cy="739775"/>
          </a:xfrm>
          <a:noFill/>
        </p:spPr>
        <p:txBody>
          <a:bodyPr/>
          <a:lstStyle/>
          <a:p>
            <a:r>
              <a:rPr lang="zh-CN" altLang="en-US" dirty="0" smtClean="0"/>
              <a:t>单链表</a:t>
            </a:r>
            <a:r>
              <a:rPr lang="zh-CN" altLang="en-US" dirty="0"/>
              <a:t>的常用操作</a:t>
            </a:r>
          </a:p>
        </p:txBody>
      </p:sp>
      <p:sp>
        <p:nvSpPr>
          <p:cNvPr id="494660" name="Rectangle 68"/>
          <p:cNvSpPr>
            <a:spLocks noChangeArrowheads="1"/>
          </p:cNvSpPr>
          <p:nvPr/>
        </p:nvSpPr>
        <p:spPr bwMode="auto">
          <a:xfrm>
            <a:off x="826453" y="1771650"/>
            <a:ext cx="7777162" cy="482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b="1">
                <a:solidFill>
                  <a:schemeClr val="tx1"/>
                </a:solidFill>
                <a:latin typeface="Arial" panose="020B0604020202020204" pitchFamily="34" charset="0"/>
                <a:ea typeface="宋体" panose="02010600030101010101" pitchFamily="2" charset="-122"/>
              </a:defRPr>
            </a:lvl9pPr>
          </a:lstStyle>
          <a:p>
            <a:pPr>
              <a:lnSpc>
                <a:spcPct val="80000"/>
              </a:lnSpc>
            </a:pPr>
            <a:r>
              <a:rPr lang="zh-CN" altLang="en-US" dirty="0" smtClean="0">
                <a:solidFill>
                  <a:srgbClr val="0000CC"/>
                </a:solidFill>
              </a:rPr>
              <a:t>删除结点</a:t>
            </a:r>
            <a:r>
              <a:rPr lang="en-US" altLang="zh-CN" dirty="0" smtClean="0">
                <a:solidFill>
                  <a:srgbClr val="0000CC"/>
                </a:solidFill>
              </a:rPr>
              <a:t>p2,</a:t>
            </a:r>
            <a:r>
              <a:rPr lang="zh-CN" altLang="en-US" dirty="0" smtClean="0">
                <a:solidFill>
                  <a:srgbClr val="0000CC"/>
                </a:solidFill>
              </a:rPr>
              <a:t>要找到前一节点</a:t>
            </a:r>
            <a:r>
              <a:rPr lang="en-US" altLang="zh-CN" dirty="0" smtClean="0">
                <a:solidFill>
                  <a:srgbClr val="0000CC"/>
                </a:solidFill>
              </a:rPr>
              <a:t>p1</a:t>
            </a:r>
            <a:endParaRPr lang="zh-CN" altLang="en-US" dirty="0">
              <a:solidFill>
                <a:srgbClr val="0000CC"/>
              </a:solidFill>
            </a:endParaRPr>
          </a:p>
          <a:p>
            <a:pPr>
              <a:lnSpc>
                <a:spcPct val="80000"/>
              </a:lnSpc>
            </a:pPr>
            <a:endParaRPr lang="zh-CN" altLang="en-US" dirty="0"/>
          </a:p>
        </p:txBody>
      </p:sp>
      <p:grpSp>
        <p:nvGrpSpPr>
          <p:cNvPr id="494661" name="Group 69"/>
          <p:cNvGrpSpPr/>
          <p:nvPr/>
        </p:nvGrpSpPr>
        <p:grpSpPr bwMode="auto">
          <a:xfrm>
            <a:off x="5058728" y="4014787"/>
            <a:ext cx="581025" cy="1133474"/>
            <a:chOff x="2592" y="912"/>
            <a:chExt cx="366" cy="714"/>
          </a:xfrm>
        </p:grpSpPr>
        <p:sp>
          <p:nvSpPr>
            <p:cNvPr id="494662" name="Text Box 70"/>
            <p:cNvSpPr txBox="1">
              <a:spLocks noChangeArrowheads="1"/>
            </p:cNvSpPr>
            <p:nvPr/>
          </p:nvSpPr>
          <p:spPr bwMode="auto">
            <a:xfrm>
              <a:off x="2592" y="1296"/>
              <a:ext cx="36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dirty="0" smtClean="0">
                  <a:latin typeface="Book Antiqua" panose="02040602050305030304" pitchFamily="18" charset="0"/>
                </a:rPr>
                <a:t>p2</a:t>
              </a:r>
              <a:endParaRPr kumimoji="1" lang="en-US" altLang="zh-CN" sz="2800" dirty="0">
                <a:latin typeface="Times New Roman" panose="02020603050405020304" pitchFamily="18" charset="0"/>
              </a:endParaRPr>
            </a:p>
          </p:txBody>
        </p:sp>
        <p:sp>
          <p:nvSpPr>
            <p:cNvPr id="494663" name="Line 71"/>
            <p:cNvSpPr>
              <a:spLocks noChangeShapeType="1"/>
            </p:cNvSpPr>
            <p:nvPr/>
          </p:nvSpPr>
          <p:spPr bwMode="auto">
            <a:xfrm flipV="1">
              <a:off x="2815" y="912"/>
              <a:ext cx="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grpSp>
      <p:sp>
        <p:nvSpPr>
          <p:cNvPr id="494664" name="Text Box 72"/>
          <p:cNvSpPr txBox="1">
            <a:spLocks noChangeArrowheads="1"/>
          </p:cNvSpPr>
          <p:nvPr/>
        </p:nvSpPr>
        <p:spPr bwMode="auto">
          <a:xfrm>
            <a:off x="6586220" y="5260975"/>
            <a:ext cx="2485390" cy="822960"/>
          </a:xfrm>
          <a:prstGeom prst="rect">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altLang="zh-CN" sz="2400" b="1" dirty="0" smtClean="0">
                <a:solidFill>
                  <a:srgbClr val="0000CC"/>
                </a:solidFill>
              </a:rPr>
              <a:t>p1-</a:t>
            </a:r>
            <a:r>
              <a:rPr lang="en-US" altLang="zh-CN" sz="2400" b="1" dirty="0">
                <a:solidFill>
                  <a:srgbClr val="0000CC"/>
                </a:solidFill>
              </a:rPr>
              <a:t>&gt;next =</a:t>
            </a:r>
          </a:p>
          <a:p>
            <a:r>
              <a:rPr lang="en-US" altLang="zh-CN" sz="2400" b="1" dirty="0" smtClean="0">
                <a:solidFill>
                  <a:srgbClr val="0000CC"/>
                </a:solidFill>
              </a:rPr>
              <a:t>p1-</a:t>
            </a:r>
            <a:r>
              <a:rPr lang="en-US" altLang="zh-CN" sz="2400" b="1" dirty="0">
                <a:solidFill>
                  <a:srgbClr val="0000CC"/>
                </a:solidFill>
              </a:rPr>
              <a:t>&gt;next-&gt;next;</a:t>
            </a:r>
          </a:p>
        </p:txBody>
      </p:sp>
      <p:sp>
        <p:nvSpPr>
          <p:cNvPr id="494665" name="Rectangle 73"/>
          <p:cNvSpPr>
            <a:spLocks noChangeArrowheads="1"/>
          </p:cNvSpPr>
          <p:nvPr/>
        </p:nvSpPr>
        <p:spPr bwMode="auto">
          <a:xfrm>
            <a:off x="826135" y="5227955"/>
            <a:ext cx="4969510" cy="1007745"/>
          </a:xfrm>
          <a:prstGeom prst="rect">
            <a:avLst/>
          </a:prstGeom>
          <a:noFill/>
          <a:ln w="12700">
            <a:solidFill>
              <a:schemeClr val="bg2"/>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zh-CN" altLang="en-US">
              <a:solidFill>
                <a:srgbClr val="0000CC"/>
              </a:solidFill>
            </a:endParaRPr>
          </a:p>
        </p:txBody>
      </p:sp>
      <p:sp>
        <p:nvSpPr>
          <p:cNvPr id="494666" name="AutoShape 74"/>
          <p:cNvSpPr>
            <a:spLocks noChangeArrowheads="1"/>
          </p:cNvSpPr>
          <p:nvPr/>
        </p:nvSpPr>
        <p:spPr bwMode="auto">
          <a:xfrm>
            <a:off x="5795328" y="5516563"/>
            <a:ext cx="720725" cy="358775"/>
          </a:xfrm>
          <a:prstGeom prst="leftRightArrow">
            <a:avLst>
              <a:gd name="adj1" fmla="val 50000"/>
              <a:gd name="adj2" fmla="val 4017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4595">
                                            <p:txEl>
                                              <p:pRg st="0" end="0"/>
                                            </p:txEl>
                                          </p:spTgt>
                                        </p:tgtEl>
                                        <p:attrNameLst>
                                          <p:attrName>style.visibility</p:attrName>
                                        </p:attrNameLst>
                                      </p:cBhvr>
                                      <p:to>
                                        <p:strVal val="visible"/>
                                      </p:to>
                                    </p:set>
                                    <p:anim calcmode="lin" valueType="num">
                                      <p:cBhvr additive="base">
                                        <p:cTn id="7" dur="500" fill="hold"/>
                                        <p:tgtEl>
                                          <p:spTgt spid="4945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45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46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46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46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94654">
                                            <p:txEl>
                                              <p:pRg st="0" end="0"/>
                                            </p:txEl>
                                          </p:spTgt>
                                        </p:tgtEl>
                                        <p:attrNameLst>
                                          <p:attrName>style.visibility</p:attrName>
                                        </p:attrNameLst>
                                      </p:cBhvr>
                                      <p:to>
                                        <p:strVal val="visible"/>
                                      </p:to>
                                    </p:set>
                                    <p:anim calcmode="lin" valueType="num">
                                      <p:cBhvr additive="base">
                                        <p:cTn id="21" dur="500" fill="hold"/>
                                        <p:tgtEl>
                                          <p:spTgt spid="494654">
                                            <p:txEl>
                                              <p:pRg st="0" end="0"/>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946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494661"/>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49462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94664"/>
                                        </p:tgtEl>
                                        <p:attrNameLst>
                                          <p:attrName>style.visibility</p:attrName>
                                        </p:attrNameLst>
                                      </p:cBhvr>
                                      <p:to>
                                        <p:strVal val="visible"/>
                                      </p:to>
                                    </p:set>
                                    <p:anim calcmode="lin" valueType="num">
                                      <p:cBhvr additive="base">
                                        <p:cTn id="33" dur="500" fill="hold"/>
                                        <p:tgtEl>
                                          <p:spTgt spid="494664"/>
                                        </p:tgtEl>
                                        <p:attrNameLst>
                                          <p:attrName>ppt_x</p:attrName>
                                        </p:attrNameLst>
                                      </p:cBhvr>
                                      <p:tavLst>
                                        <p:tav tm="0">
                                          <p:val>
                                            <p:strVal val="#ppt_x"/>
                                          </p:val>
                                        </p:tav>
                                        <p:tav tm="100000">
                                          <p:val>
                                            <p:strVal val="#ppt_x"/>
                                          </p:val>
                                        </p:tav>
                                      </p:tavLst>
                                    </p:anim>
                                    <p:anim calcmode="lin" valueType="num">
                                      <p:cBhvr additive="base">
                                        <p:cTn id="34" dur="500" fill="hold"/>
                                        <p:tgtEl>
                                          <p:spTgt spid="494664"/>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494665"/>
                                        </p:tgtEl>
                                        <p:attrNameLst>
                                          <p:attrName>style.visibility</p:attrName>
                                        </p:attrNameLst>
                                      </p:cBhvr>
                                      <p:to>
                                        <p:strVal val="visible"/>
                                      </p:to>
                                    </p:set>
                                  </p:childTnLst>
                                </p:cTn>
                              </p:par>
                            </p:childTnLst>
                          </p:cTn>
                        </p:par>
                        <p:par>
                          <p:cTn id="38" fill="hold">
                            <p:stCondLst>
                              <p:cond delay="500"/>
                            </p:stCondLst>
                            <p:childTnLst>
                              <p:par>
                                <p:cTn id="39" presetID="17" presetClass="entr" presetSubtype="10" fill="hold" grpId="0" nodeType="afterEffect">
                                  <p:stCondLst>
                                    <p:cond delay="0"/>
                                  </p:stCondLst>
                                  <p:childTnLst>
                                    <p:set>
                                      <p:cBhvr>
                                        <p:cTn id="40" dur="1" fill="hold">
                                          <p:stCondLst>
                                            <p:cond delay="0"/>
                                          </p:stCondLst>
                                        </p:cTn>
                                        <p:tgtEl>
                                          <p:spTgt spid="494666"/>
                                        </p:tgtEl>
                                        <p:attrNameLst>
                                          <p:attrName>style.visibility</p:attrName>
                                        </p:attrNameLst>
                                      </p:cBhvr>
                                      <p:to>
                                        <p:strVal val="visible"/>
                                      </p:to>
                                    </p:set>
                                    <p:anim calcmode="lin" valueType="num">
                                      <p:cBhvr>
                                        <p:cTn id="41" dur="500" fill="hold"/>
                                        <p:tgtEl>
                                          <p:spTgt spid="494666"/>
                                        </p:tgtEl>
                                        <p:attrNameLst>
                                          <p:attrName>ppt_w</p:attrName>
                                        </p:attrNameLst>
                                      </p:cBhvr>
                                      <p:tavLst>
                                        <p:tav tm="0">
                                          <p:val>
                                            <p:fltVal val="0"/>
                                          </p:val>
                                        </p:tav>
                                        <p:tav tm="100000">
                                          <p:val>
                                            <p:strVal val="#ppt_w"/>
                                          </p:val>
                                        </p:tav>
                                      </p:tavLst>
                                    </p:anim>
                                    <p:anim calcmode="lin" valueType="num">
                                      <p:cBhvr>
                                        <p:cTn id="42" dur="500" fill="hold"/>
                                        <p:tgtEl>
                                          <p:spTgt spid="4946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5" grpId="0" build="p" autoUpdateAnimBg="0"/>
      <p:bldP spid="494654" grpId="0" build="p" autoUpdateAnimBg="0"/>
      <p:bldP spid="494664" grpId="0" bldLvl="0" animBg="1"/>
      <p:bldP spid="494665" grpId="0" bldLvl="0" animBg="1"/>
      <p:bldP spid="494666" grpId="0" bldLvl="0" animBg="1"/>
    </p:bld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矩形 25"/>
          <p:cNvSpPr/>
          <p:nvPr/>
        </p:nvSpPr>
        <p:spPr>
          <a:xfrm>
            <a:off x="70863" y="221276"/>
            <a:ext cx="8604448" cy="6494085"/>
          </a:xfrm>
          <a:prstGeom prst="rect">
            <a:avLst/>
          </a:prstGeom>
        </p:spPr>
        <p:txBody>
          <a:bodyPr wrap="square">
            <a:spAutoFit/>
          </a:bodyPr>
          <a:lstStyle/>
          <a:p>
            <a:r>
              <a:rPr lang="en-US" altLang="zh-CN" sz="1600" b="1" dirty="0"/>
              <a:t>#include &lt;</a:t>
            </a:r>
            <a:r>
              <a:rPr lang="en-US" altLang="zh-CN" sz="1600" b="1" dirty="0" err="1"/>
              <a:t>stdio.h</a:t>
            </a:r>
            <a:r>
              <a:rPr lang="en-US" altLang="zh-CN" sz="1600" b="1" dirty="0"/>
              <a:t>&gt;</a:t>
            </a:r>
          </a:p>
          <a:p>
            <a:r>
              <a:rPr lang="en-US" altLang="zh-CN" sz="1600" b="1" dirty="0"/>
              <a:t>#include &lt;</a:t>
            </a:r>
            <a:r>
              <a:rPr lang="en-US" altLang="zh-CN" sz="1600" b="1" dirty="0" err="1"/>
              <a:t>stdlib.h</a:t>
            </a:r>
            <a:r>
              <a:rPr lang="en-US" altLang="zh-CN" sz="1600" b="1" dirty="0"/>
              <a:t>&gt;</a:t>
            </a:r>
          </a:p>
          <a:p>
            <a:r>
              <a:rPr lang="en-US" altLang="zh-CN" sz="1600" b="1" dirty="0" err="1"/>
              <a:t>int</a:t>
            </a:r>
            <a:r>
              <a:rPr lang="en-US" altLang="zh-CN" sz="1600" b="1" dirty="0"/>
              <a:t> main(){</a:t>
            </a:r>
          </a:p>
          <a:p>
            <a:r>
              <a:rPr lang="en-US" altLang="zh-CN" sz="1600" b="1" dirty="0" err="1"/>
              <a:t>struct</a:t>
            </a:r>
            <a:r>
              <a:rPr lang="en-US" altLang="zh-CN" sz="1600" b="1" dirty="0"/>
              <a:t> </a:t>
            </a:r>
            <a:r>
              <a:rPr lang="en-US" altLang="zh-CN" sz="1600" b="1" dirty="0" err="1"/>
              <a:t>stu_node</a:t>
            </a:r>
            <a:r>
              <a:rPr lang="en-US" altLang="zh-CN" sz="1600" b="1" dirty="0"/>
              <a:t>            //</a:t>
            </a:r>
            <a:r>
              <a:rPr lang="zh-CN" altLang="en-US" sz="1600" b="1" dirty="0"/>
              <a:t>结构体类型定义</a:t>
            </a:r>
          </a:p>
          <a:p>
            <a:r>
              <a:rPr lang="en-US" altLang="zh-CN" sz="1600" b="1" dirty="0"/>
              <a:t>{</a:t>
            </a:r>
          </a:p>
          <a:p>
            <a:r>
              <a:rPr lang="en-US" altLang="zh-CN" sz="1600" b="1" dirty="0"/>
              <a:t>	</a:t>
            </a:r>
            <a:r>
              <a:rPr lang="en-US" altLang="zh-CN" sz="1600" b="1" dirty="0" err="1"/>
              <a:t>int</a:t>
            </a:r>
            <a:r>
              <a:rPr lang="en-US" altLang="zh-CN" sz="1600" b="1" dirty="0"/>
              <a:t> </a:t>
            </a:r>
            <a:r>
              <a:rPr lang="en-US" altLang="zh-CN" sz="1600" b="1" dirty="0" err="1"/>
              <a:t>num</a:t>
            </a:r>
            <a:r>
              <a:rPr lang="en-US" altLang="zh-CN" sz="1600" b="1" dirty="0"/>
              <a:t>;</a:t>
            </a:r>
          </a:p>
          <a:p>
            <a:r>
              <a:rPr lang="en-US" altLang="zh-CN" sz="1600" b="1" dirty="0"/>
              <a:t>	char </a:t>
            </a:r>
            <a:r>
              <a:rPr lang="en-US" altLang="zh-CN" sz="1600" b="1" dirty="0" err="1"/>
              <a:t>tel</a:t>
            </a:r>
            <a:r>
              <a:rPr lang="en-US" altLang="zh-CN" sz="1600" b="1" dirty="0"/>
              <a:t>[11];</a:t>
            </a:r>
          </a:p>
          <a:p>
            <a:r>
              <a:rPr lang="en-US" altLang="zh-CN" sz="1600" b="1" dirty="0"/>
              <a:t>	</a:t>
            </a:r>
            <a:r>
              <a:rPr lang="en-US" altLang="zh-CN" sz="1600" b="1" dirty="0" err="1"/>
              <a:t>struct</a:t>
            </a:r>
            <a:r>
              <a:rPr lang="en-US" altLang="zh-CN" sz="1600" b="1" dirty="0"/>
              <a:t> </a:t>
            </a:r>
            <a:r>
              <a:rPr lang="en-US" altLang="zh-CN" sz="1600" b="1" dirty="0" err="1"/>
              <a:t>stu_node</a:t>
            </a:r>
            <a:r>
              <a:rPr lang="en-US" altLang="zh-CN" sz="1600" b="1" dirty="0"/>
              <a:t> *next;	//</a:t>
            </a:r>
            <a:r>
              <a:rPr lang="zh-CN" altLang="en-US" sz="1600" b="1" dirty="0"/>
              <a:t>指向下一个结点（也是此结构体类型）的指针</a:t>
            </a:r>
          </a:p>
          <a:p>
            <a:r>
              <a:rPr lang="en-US" altLang="zh-CN" sz="1600" b="1" dirty="0"/>
              <a:t>};</a:t>
            </a:r>
          </a:p>
          <a:p>
            <a:r>
              <a:rPr lang="en-US" altLang="zh-CN" sz="1600" b="1" dirty="0" err="1"/>
              <a:t>struct</a:t>
            </a:r>
            <a:r>
              <a:rPr lang="en-US" altLang="zh-CN" sz="1600" b="1" dirty="0"/>
              <a:t> </a:t>
            </a:r>
            <a:r>
              <a:rPr lang="en-US" altLang="zh-CN" sz="1600" b="1" dirty="0" err="1"/>
              <a:t>stu_node</a:t>
            </a:r>
            <a:r>
              <a:rPr lang="en-US" altLang="zh-CN" sz="1600" b="1" dirty="0"/>
              <a:t> *head,*tail,*p,*p1,*p2;       //</a:t>
            </a:r>
            <a:r>
              <a:rPr lang="zh-CN" altLang="en-US" sz="1600" b="1" dirty="0"/>
              <a:t>定义结点变量</a:t>
            </a:r>
          </a:p>
          <a:p>
            <a:r>
              <a:rPr lang="en-US" altLang="zh-CN" sz="1600" b="1" dirty="0" err="1"/>
              <a:t>int</a:t>
            </a:r>
            <a:r>
              <a:rPr lang="en-US" altLang="zh-CN" sz="1600" b="1" dirty="0"/>
              <a:t> n;</a:t>
            </a:r>
          </a:p>
          <a:p>
            <a:r>
              <a:rPr lang="en-US" altLang="zh-CN" sz="1600" b="1" dirty="0"/>
              <a:t>head=tail=NULL;       //</a:t>
            </a:r>
            <a:r>
              <a:rPr lang="zh-CN" altLang="en-US" sz="1600" b="1" dirty="0"/>
              <a:t>头尾指针赋初值</a:t>
            </a:r>
          </a:p>
          <a:p>
            <a:r>
              <a:rPr lang="en-US" altLang="zh-CN" sz="1600" b="1" dirty="0" err="1"/>
              <a:t>scanf</a:t>
            </a:r>
            <a:r>
              <a:rPr lang="en-US" altLang="zh-CN" sz="1600" b="1" dirty="0"/>
              <a:t>("%</a:t>
            </a:r>
            <a:r>
              <a:rPr lang="en-US" altLang="zh-CN" sz="1600" b="1" dirty="0" err="1"/>
              <a:t>d",&amp;n</a:t>
            </a:r>
            <a:r>
              <a:rPr lang="en-US" altLang="zh-CN" sz="1600" b="1" dirty="0"/>
              <a:t>);  //</a:t>
            </a:r>
            <a:r>
              <a:rPr lang="zh-CN" altLang="en-US" sz="1600" b="1" dirty="0"/>
              <a:t>输入学生人数</a:t>
            </a:r>
          </a:p>
          <a:p>
            <a:r>
              <a:rPr lang="en-US" altLang="zh-CN" sz="1600" b="1" dirty="0"/>
              <a:t>while(n!=0){</a:t>
            </a:r>
          </a:p>
          <a:p>
            <a:r>
              <a:rPr lang="en-US" altLang="zh-CN" sz="1600" b="1" dirty="0"/>
              <a:t>    p=(</a:t>
            </a:r>
            <a:r>
              <a:rPr lang="en-US" altLang="zh-CN" sz="1600" b="1" dirty="0" err="1"/>
              <a:t>struct</a:t>
            </a:r>
            <a:r>
              <a:rPr lang="en-US" altLang="zh-CN" sz="1600" b="1" dirty="0"/>
              <a:t> </a:t>
            </a:r>
            <a:r>
              <a:rPr lang="en-US" altLang="zh-CN" sz="1600" b="1" dirty="0" err="1"/>
              <a:t>stu_node</a:t>
            </a:r>
            <a:r>
              <a:rPr lang="en-US" altLang="zh-CN" sz="1600" b="1" dirty="0"/>
              <a:t> *)</a:t>
            </a:r>
            <a:r>
              <a:rPr lang="en-US" altLang="zh-CN" sz="1600" b="1" dirty="0" err="1"/>
              <a:t>malloc</a:t>
            </a:r>
            <a:r>
              <a:rPr lang="en-US" altLang="zh-CN" sz="1600" b="1" dirty="0"/>
              <a:t>(</a:t>
            </a:r>
            <a:r>
              <a:rPr lang="en-US" altLang="zh-CN" sz="1600" b="1" dirty="0" err="1"/>
              <a:t>sizeof</a:t>
            </a:r>
            <a:r>
              <a:rPr lang="en-US" altLang="zh-CN" sz="1600" b="1" dirty="0"/>
              <a:t>(</a:t>
            </a:r>
            <a:r>
              <a:rPr lang="en-US" altLang="zh-CN" sz="1600" b="1" dirty="0" err="1"/>
              <a:t>struct</a:t>
            </a:r>
            <a:r>
              <a:rPr lang="en-US" altLang="zh-CN" sz="1600" b="1" dirty="0"/>
              <a:t> </a:t>
            </a:r>
            <a:r>
              <a:rPr lang="en-US" altLang="zh-CN" sz="1600" b="1" dirty="0" err="1"/>
              <a:t>stu_node</a:t>
            </a:r>
            <a:r>
              <a:rPr lang="en-US" altLang="zh-CN" sz="1600" b="1" dirty="0"/>
              <a:t>));     //</a:t>
            </a:r>
            <a:r>
              <a:rPr lang="zh-CN" altLang="en-US" sz="1600" b="1" dirty="0"/>
              <a:t>动态申请新结点空间</a:t>
            </a:r>
          </a:p>
          <a:p>
            <a:r>
              <a:rPr lang="zh-CN" altLang="en-US" sz="1600" b="1" dirty="0"/>
              <a:t>    </a:t>
            </a:r>
            <a:r>
              <a:rPr lang="en-US" altLang="zh-CN" sz="1600" b="1" dirty="0" err="1"/>
              <a:t>scanf</a:t>
            </a:r>
            <a:r>
              <a:rPr lang="en-US" altLang="zh-CN" sz="1600" b="1" dirty="0"/>
              <a:t>("%</a:t>
            </a:r>
            <a:r>
              <a:rPr lang="en-US" altLang="zh-CN" sz="1600" b="1" dirty="0" err="1"/>
              <a:t>d%s</a:t>
            </a:r>
            <a:r>
              <a:rPr lang="en-US" altLang="zh-CN" sz="1600" b="1" dirty="0"/>
              <a:t>",&amp;(p-&gt;</a:t>
            </a:r>
            <a:r>
              <a:rPr lang="en-US" altLang="zh-CN" sz="1600" b="1" dirty="0" err="1"/>
              <a:t>num</a:t>
            </a:r>
            <a:r>
              <a:rPr lang="en-US" altLang="zh-CN" sz="1600" b="1" dirty="0"/>
              <a:t>),p-&gt;</a:t>
            </a:r>
            <a:r>
              <a:rPr lang="en-US" altLang="zh-CN" sz="1600" b="1" dirty="0" err="1"/>
              <a:t>tel</a:t>
            </a:r>
            <a:r>
              <a:rPr lang="en-US" altLang="zh-CN" sz="1600" b="1" dirty="0"/>
              <a:t>);                                      //</a:t>
            </a:r>
            <a:r>
              <a:rPr lang="zh-CN" altLang="en-US" sz="1600" b="1" dirty="0"/>
              <a:t>新结点成员赋值</a:t>
            </a:r>
          </a:p>
          <a:p>
            <a:r>
              <a:rPr lang="zh-CN" altLang="en-US" sz="1600" b="1" dirty="0"/>
              <a:t>    </a:t>
            </a:r>
            <a:r>
              <a:rPr lang="en-US" altLang="zh-CN" sz="1600" b="1" dirty="0"/>
              <a:t>p-&gt;next=NULL;        //</a:t>
            </a:r>
            <a:r>
              <a:rPr lang="zh-CN" altLang="en-US" sz="1600" b="1" dirty="0"/>
              <a:t>表尾添加法</a:t>
            </a:r>
            <a:r>
              <a:rPr lang="en-US" altLang="zh-CN" sz="1600" b="1" dirty="0"/>
              <a:t>,</a:t>
            </a:r>
            <a:r>
              <a:rPr lang="zh-CN" altLang="en-US" sz="1600" b="1" dirty="0"/>
              <a:t>新结点</a:t>
            </a:r>
            <a:r>
              <a:rPr lang="en-US" altLang="zh-CN" sz="1600" b="1" dirty="0"/>
              <a:t>next</a:t>
            </a:r>
            <a:r>
              <a:rPr lang="zh-CN" altLang="en-US" sz="1600" b="1" dirty="0"/>
              <a:t>指针置为空</a:t>
            </a:r>
          </a:p>
          <a:p>
            <a:r>
              <a:rPr lang="zh-CN" altLang="en-US" sz="1600" b="1" dirty="0"/>
              <a:t>    </a:t>
            </a:r>
            <a:r>
              <a:rPr lang="en-US" altLang="zh-CN" sz="1600" b="1" dirty="0"/>
              <a:t>if(head==NULL)</a:t>
            </a:r>
          </a:p>
          <a:p>
            <a:r>
              <a:rPr lang="en-US" altLang="zh-CN" sz="1600" b="1" dirty="0"/>
              <a:t>        head=p;</a:t>
            </a:r>
          </a:p>
          <a:p>
            <a:r>
              <a:rPr lang="en-US" altLang="zh-CN" sz="1600" b="1" dirty="0"/>
              <a:t>    else</a:t>
            </a:r>
          </a:p>
          <a:p>
            <a:r>
              <a:rPr lang="en-US" altLang="zh-CN" sz="1600" b="1" dirty="0"/>
              <a:t>        tail-&gt;next=p;</a:t>
            </a:r>
          </a:p>
          <a:p>
            <a:r>
              <a:rPr lang="en-US" altLang="zh-CN" sz="1600" b="1" dirty="0"/>
              <a:t>    tail=p;</a:t>
            </a:r>
          </a:p>
          <a:p>
            <a:r>
              <a:rPr lang="en-US" altLang="zh-CN" sz="1600" b="1" dirty="0"/>
              <a:t>    n--;</a:t>
            </a:r>
          </a:p>
          <a:p>
            <a:r>
              <a:rPr lang="en-US" altLang="zh-CN" sz="1600" b="1" dirty="0"/>
              <a:t>}</a:t>
            </a:r>
          </a:p>
          <a:p>
            <a:r>
              <a:rPr lang="en-US" altLang="zh-CN" sz="1600" b="1" dirty="0"/>
              <a:t>for(p=</a:t>
            </a:r>
            <a:r>
              <a:rPr lang="en-US" altLang="zh-CN" sz="1600" b="1" dirty="0" err="1"/>
              <a:t>head;p</a:t>
            </a:r>
            <a:r>
              <a:rPr lang="en-US" altLang="zh-CN" sz="1600" b="1" dirty="0"/>
              <a:t>!=</a:t>
            </a:r>
            <a:r>
              <a:rPr lang="en-US" altLang="zh-CN" sz="1600" b="1" dirty="0" err="1"/>
              <a:t>NULL;p</a:t>
            </a:r>
            <a:r>
              <a:rPr lang="en-US" altLang="zh-CN" sz="1600" b="1" dirty="0"/>
              <a:t>=p-&gt;next)                                          //</a:t>
            </a:r>
            <a:r>
              <a:rPr lang="zh-CN" altLang="en-US" sz="1600" b="1" dirty="0"/>
              <a:t>输出链表</a:t>
            </a:r>
          </a:p>
          <a:p>
            <a:r>
              <a:rPr lang="zh-CN" altLang="en-US" sz="1600" b="1" dirty="0"/>
              <a:t>    </a:t>
            </a:r>
            <a:r>
              <a:rPr lang="en-US" altLang="zh-CN" sz="1600" b="1" dirty="0" err="1"/>
              <a:t>printf</a:t>
            </a:r>
            <a:r>
              <a:rPr lang="en-US" altLang="zh-CN" sz="1600" b="1" dirty="0"/>
              <a:t>("%d\</a:t>
            </a:r>
            <a:r>
              <a:rPr lang="en-US" altLang="zh-CN" sz="1600" b="1" dirty="0" err="1"/>
              <a:t>t%s</a:t>
            </a:r>
            <a:r>
              <a:rPr lang="en-US" altLang="zh-CN" sz="1600" b="1" dirty="0"/>
              <a:t>\</a:t>
            </a:r>
            <a:r>
              <a:rPr lang="en-US" altLang="zh-CN" sz="1600" b="1" dirty="0" err="1"/>
              <a:t>n",p</a:t>
            </a:r>
            <a:r>
              <a:rPr lang="en-US" altLang="zh-CN" sz="1600" b="1" dirty="0"/>
              <a:t>-&gt;</a:t>
            </a:r>
            <a:r>
              <a:rPr lang="en-US" altLang="zh-CN" sz="1600" b="1" dirty="0" err="1"/>
              <a:t>num,p</a:t>
            </a:r>
            <a:r>
              <a:rPr lang="en-US" altLang="zh-CN" sz="1600" b="1" dirty="0"/>
              <a:t>-&gt;</a:t>
            </a:r>
            <a:r>
              <a:rPr lang="en-US" altLang="zh-CN" sz="1600" b="1" dirty="0" err="1"/>
              <a:t>tel</a:t>
            </a:r>
            <a:r>
              <a:rPr lang="en-US" altLang="zh-CN" sz="1600" b="1" dirty="0"/>
              <a:t>);</a:t>
            </a:r>
            <a:endParaRPr lang="zh-CN" altLang="en-US" sz="1600" b="1" dirty="0"/>
          </a:p>
        </p:txBody>
      </p:sp>
    </p:spTree>
    <p:extLst>
      <p:ext uri="{BB962C8B-B14F-4D97-AF65-F5344CB8AC3E}">
        <p14:creationId xmlns:p14="http://schemas.microsoft.com/office/powerpoint/2010/main" val="2208389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bwMode="auto">
          <a:xfrm>
            <a:off x="2395736" y="102793"/>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head</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grpSp>
        <p:nvGrpSpPr>
          <p:cNvPr id="6" name="组合 5"/>
          <p:cNvGrpSpPr/>
          <p:nvPr/>
        </p:nvGrpSpPr>
        <p:grpSpPr>
          <a:xfrm>
            <a:off x="3491412" y="66789"/>
            <a:ext cx="1512724" cy="432048"/>
            <a:chOff x="2267188" y="5229200"/>
            <a:chExt cx="1512724" cy="432048"/>
          </a:xfrm>
        </p:grpSpPr>
        <p:sp>
          <p:nvSpPr>
            <p:cNvPr id="7" name="矩形 6"/>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8" name="直接连接符 7"/>
            <p:cNvCxnSpPr>
              <a:stCxn id="7" idx="0"/>
              <a:endCxn id="7"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9" name="矩形 8"/>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A</a:t>
              </a:r>
              <a:endParaRPr lang="zh-CN" altLang="en-US" sz="1600" b="1" dirty="0">
                <a:solidFill>
                  <a:schemeClr val="accent4"/>
                </a:solidFill>
              </a:endParaRPr>
            </a:p>
          </p:txBody>
        </p:sp>
      </p:grpSp>
      <p:cxnSp>
        <p:nvCxnSpPr>
          <p:cNvPr id="10" name="直接箭头连接符 9"/>
          <p:cNvCxnSpPr>
            <a:stCxn id="4" idx="3"/>
            <a:endCxn id="7" idx="1"/>
          </p:cNvCxnSpPr>
          <p:nvPr/>
        </p:nvCxnSpPr>
        <p:spPr bwMode="auto">
          <a:xfrm>
            <a:off x="3168798" y="282813"/>
            <a:ext cx="322614" cy="0"/>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11" name="组合 10"/>
          <p:cNvGrpSpPr/>
          <p:nvPr/>
        </p:nvGrpSpPr>
        <p:grpSpPr>
          <a:xfrm>
            <a:off x="5326750" y="70157"/>
            <a:ext cx="1512724" cy="432048"/>
            <a:chOff x="2267188" y="5229200"/>
            <a:chExt cx="1512724" cy="432048"/>
          </a:xfrm>
        </p:grpSpPr>
        <p:sp>
          <p:nvSpPr>
            <p:cNvPr id="12" name="矩形 11"/>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13" name="组合 12"/>
            <p:cNvGrpSpPr/>
            <p:nvPr/>
          </p:nvGrpSpPr>
          <p:grpSpPr>
            <a:xfrm>
              <a:off x="3023550" y="5229200"/>
              <a:ext cx="756362" cy="432048"/>
              <a:chOff x="3023550" y="5229200"/>
              <a:chExt cx="756362" cy="432048"/>
            </a:xfrm>
          </p:grpSpPr>
          <p:cxnSp>
            <p:nvCxnSpPr>
              <p:cNvPr id="15" name="直接连接符 14"/>
              <p:cNvCxnSpPr>
                <a:stCxn id="12" idx="0"/>
                <a:endCxn id="12"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6" name="矩形 15"/>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endParaRPr lang="zh-CN" altLang="en-US" sz="1600" b="1" dirty="0">
                  <a:solidFill>
                    <a:schemeClr val="accent4"/>
                  </a:solidFill>
                </a:endParaRPr>
              </a:p>
            </p:txBody>
          </p:sp>
        </p:grpSp>
        <p:sp>
          <p:nvSpPr>
            <p:cNvPr id="14" name="矩形 13"/>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a:solidFill>
                    <a:schemeClr val="accent4"/>
                  </a:solidFill>
                </a:rPr>
                <a:t>B</a:t>
              </a:r>
              <a:endParaRPr lang="zh-CN" altLang="en-US" sz="1600" b="1" dirty="0">
                <a:solidFill>
                  <a:schemeClr val="accent4"/>
                </a:solidFill>
              </a:endParaRPr>
            </a:p>
          </p:txBody>
        </p:sp>
      </p:grpSp>
      <p:cxnSp>
        <p:nvCxnSpPr>
          <p:cNvPr id="17" name="直接箭头连接符 16"/>
          <p:cNvCxnSpPr/>
          <p:nvPr/>
        </p:nvCxnSpPr>
        <p:spPr bwMode="auto">
          <a:xfrm>
            <a:off x="4719990" y="282813"/>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19" name="组合 18"/>
          <p:cNvGrpSpPr/>
          <p:nvPr/>
        </p:nvGrpSpPr>
        <p:grpSpPr>
          <a:xfrm>
            <a:off x="7179455" y="57382"/>
            <a:ext cx="1512724" cy="432048"/>
            <a:chOff x="2267188" y="5229200"/>
            <a:chExt cx="1512724" cy="432048"/>
          </a:xfrm>
        </p:grpSpPr>
        <p:sp>
          <p:nvSpPr>
            <p:cNvPr id="20" name="矩形 19"/>
            <p:cNvSpPr/>
            <p:nvPr/>
          </p:nvSpPr>
          <p:spPr bwMode="auto">
            <a:xfrm>
              <a:off x="2267188" y="5229200"/>
              <a:ext cx="1512724" cy="43204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21" name="组合 20"/>
            <p:cNvGrpSpPr/>
            <p:nvPr/>
          </p:nvGrpSpPr>
          <p:grpSpPr>
            <a:xfrm>
              <a:off x="3023550" y="5229200"/>
              <a:ext cx="756362" cy="432048"/>
              <a:chOff x="3023550" y="5229200"/>
              <a:chExt cx="756362" cy="432048"/>
            </a:xfrm>
          </p:grpSpPr>
          <p:cxnSp>
            <p:nvCxnSpPr>
              <p:cNvPr id="23" name="直接连接符 22"/>
              <p:cNvCxnSpPr>
                <a:stCxn id="20" idx="0"/>
                <a:endCxn id="20" idx="2"/>
              </p:cNvCxnSpPr>
              <p:nvPr/>
            </p:nvCxnSpPr>
            <p:spPr bwMode="auto">
              <a:xfrm>
                <a:off x="3023550" y="5229200"/>
                <a:ext cx="0" cy="43204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24" name="矩形 23"/>
              <p:cNvSpPr/>
              <p:nvPr/>
            </p:nvSpPr>
            <p:spPr>
              <a:xfrm>
                <a:off x="3147385" y="5392263"/>
                <a:ext cx="632527" cy="196977"/>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NULL</a:t>
                </a:r>
                <a:endParaRPr lang="zh-CN" altLang="en-US" sz="1600" b="1" dirty="0">
                  <a:solidFill>
                    <a:schemeClr val="accent4"/>
                  </a:solidFill>
                </a:endParaRPr>
              </a:p>
            </p:txBody>
          </p:sp>
        </p:grpSp>
        <p:sp>
          <p:nvSpPr>
            <p:cNvPr id="22" name="矩形 21"/>
            <p:cNvSpPr/>
            <p:nvPr/>
          </p:nvSpPr>
          <p:spPr>
            <a:xfrm>
              <a:off x="2595199" y="5386302"/>
              <a:ext cx="244076" cy="202938"/>
            </a:xfrm>
            <a:prstGeom prst="rect">
              <a:avLst/>
            </a:prstGeom>
            <a:ln>
              <a:noFill/>
            </a:ln>
          </p:spPr>
          <p:txBody>
            <a:bodyPr wrap="square" lIns="0" tIns="0" rIns="0" bIns="0">
              <a:spAutoFit/>
            </a:bodyPr>
            <a:lstStyle/>
            <a:p>
              <a:pPr marL="0" lvl="1">
                <a:lnSpc>
                  <a:spcPct val="80000"/>
                </a:lnSpc>
                <a:buFont typeface="Wingdings" panose="05000000000000000000" pitchFamily="2" charset="2"/>
                <a:buNone/>
              </a:pPr>
              <a:r>
                <a:rPr lang="en-US" altLang="zh-CN" sz="1600" b="1" dirty="0" smtClean="0">
                  <a:solidFill>
                    <a:schemeClr val="accent4"/>
                  </a:solidFill>
                </a:rPr>
                <a:t>C</a:t>
              </a:r>
              <a:endParaRPr lang="zh-CN" altLang="en-US" sz="1600" b="1" dirty="0">
                <a:solidFill>
                  <a:schemeClr val="accent4"/>
                </a:solidFill>
              </a:endParaRPr>
            </a:p>
          </p:txBody>
        </p:sp>
      </p:grpSp>
      <p:sp>
        <p:nvSpPr>
          <p:cNvPr id="26" name="矩形 25"/>
          <p:cNvSpPr/>
          <p:nvPr/>
        </p:nvSpPr>
        <p:spPr bwMode="auto">
          <a:xfrm>
            <a:off x="2384943" y="498837"/>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p1</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cxnSp>
        <p:nvCxnSpPr>
          <p:cNvPr id="28" name="直接箭头连接符 27"/>
          <p:cNvCxnSpPr/>
          <p:nvPr/>
        </p:nvCxnSpPr>
        <p:spPr bwMode="auto">
          <a:xfrm flipV="1">
            <a:off x="3156889" y="462833"/>
            <a:ext cx="334523" cy="235068"/>
          </a:xfrm>
          <a:prstGeom prst="straightConnector1">
            <a:avLst/>
          </a:prstGeom>
          <a:solidFill>
            <a:schemeClr val="accent1"/>
          </a:solidFill>
          <a:ln w="28575" cap="flat" cmpd="sng" algn="ctr">
            <a:solidFill>
              <a:schemeClr val="tx1"/>
            </a:solidFill>
            <a:prstDash val="solid"/>
            <a:round/>
            <a:headEnd type="none" w="med" len="med"/>
            <a:tailEnd type="triangle"/>
          </a:ln>
        </p:spPr>
      </p:cxnSp>
      <p:grpSp>
        <p:nvGrpSpPr>
          <p:cNvPr id="18" name="组合 17"/>
          <p:cNvGrpSpPr/>
          <p:nvPr/>
        </p:nvGrpSpPr>
        <p:grpSpPr>
          <a:xfrm>
            <a:off x="3491412" y="489430"/>
            <a:ext cx="773062" cy="698089"/>
            <a:chOff x="4504782" y="231950"/>
            <a:chExt cx="773062" cy="698089"/>
          </a:xfrm>
        </p:grpSpPr>
        <p:sp>
          <p:nvSpPr>
            <p:cNvPr id="27" name="矩形 26"/>
            <p:cNvSpPr/>
            <p:nvPr/>
          </p:nvSpPr>
          <p:spPr bwMode="auto">
            <a:xfrm>
              <a:off x="4504782" y="569999"/>
              <a:ext cx="773062" cy="3600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lang="en-US" altLang="zh-CN" sz="1600" b="1" dirty="0" smtClean="0"/>
                <a:t>p2</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cxnSp>
          <p:nvCxnSpPr>
            <p:cNvPr id="29" name="直接箭头连接符 28"/>
            <p:cNvCxnSpPr>
              <a:stCxn id="27" idx="0"/>
            </p:cNvCxnSpPr>
            <p:nvPr/>
          </p:nvCxnSpPr>
          <p:spPr bwMode="auto">
            <a:xfrm flipV="1">
              <a:off x="4891313" y="231950"/>
              <a:ext cx="0" cy="338049"/>
            </a:xfrm>
            <a:prstGeom prst="straightConnector1">
              <a:avLst/>
            </a:prstGeom>
            <a:solidFill>
              <a:schemeClr val="accent1"/>
            </a:solidFill>
            <a:ln w="28575" cap="flat" cmpd="sng" algn="ctr">
              <a:solidFill>
                <a:schemeClr val="tx1"/>
              </a:solidFill>
              <a:prstDash val="solid"/>
              <a:round/>
              <a:headEnd type="none" w="med" len="med"/>
              <a:tailEnd type="triangle"/>
            </a:ln>
          </p:spPr>
        </p:cxnSp>
      </p:grpSp>
      <p:sp>
        <p:nvSpPr>
          <p:cNvPr id="3" name="矩形 2"/>
          <p:cNvSpPr/>
          <p:nvPr/>
        </p:nvSpPr>
        <p:spPr>
          <a:xfrm>
            <a:off x="155343" y="1035555"/>
            <a:ext cx="9129293" cy="5693866"/>
          </a:xfrm>
          <a:prstGeom prst="rect">
            <a:avLst/>
          </a:prstGeom>
        </p:spPr>
        <p:txBody>
          <a:bodyPr wrap="square">
            <a:spAutoFit/>
          </a:bodyPr>
          <a:lstStyle/>
          <a:p>
            <a:r>
              <a:rPr lang="zh-CN" altLang="en-US" sz="1400" b="1" dirty="0"/>
              <a:t>scanf("%d",&amp;n1); //输入要删除的学号</a:t>
            </a:r>
          </a:p>
          <a:p>
            <a:r>
              <a:rPr lang="zh-CN" altLang="en-US" sz="1400" b="1" dirty="0"/>
              <a:t>if(head==NULL){  //空链表不能删除</a:t>
            </a:r>
          </a:p>
          <a:p>
            <a:r>
              <a:rPr lang="zh-CN" altLang="en-US" sz="1400" b="1" dirty="0"/>
              <a:t>   printf("Can't Del.");</a:t>
            </a:r>
          </a:p>
          <a:p>
            <a:r>
              <a:rPr lang="zh-CN" altLang="en-US" sz="1400" b="1" dirty="0"/>
              <a:t>   return 0;</a:t>
            </a:r>
          </a:p>
          <a:p>
            <a:r>
              <a:rPr lang="zh-CN" altLang="en-US" sz="1400" b="1" dirty="0"/>
              <a:t>}</a:t>
            </a:r>
          </a:p>
          <a:p>
            <a:r>
              <a:rPr lang="zh-CN" altLang="en-US" sz="1400" b="1" dirty="0"/>
              <a:t>if(head-&gt;num==n1){   //删除表头结点</a:t>
            </a:r>
          </a:p>
          <a:p>
            <a:r>
              <a:rPr lang="zh-CN" altLang="en-US" sz="1400" b="1" dirty="0"/>
              <a:t>    p2=head;</a:t>
            </a:r>
          </a:p>
          <a:p>
            <a:r>
              <a:rPr lang="zh-CN" altLang="en-US" sz="1400" b="1" dirty="0"/>
              <a:t>    head=head-&gt;next;   //脱链</a:t>
            </a:r>
          </a:p>
          <a:p>
            <a:r>
              <a:rPr lang="zh-CN" altLang="en-US" sz="1400" b="1" dirty="0"/>
              <a:t>    free(p2);          //释放空间</a:t>
            </a:r>
          </a:p>
          <a:p>
            <a:r>
              <a:rPr lang="zh-CN" altLang="en-US" sz="1400" b="1" dirty="0"/>
              <a:t>}</a:t>
            </a:r>
          </a:p>
          <a:p>
            <a:r>
              <a:rPr lang="zh-CN" altLang="en-US" sz="1400" b="1" dirty="0"/>
              <a:t>p1=head;   //删除表头结点外的结点</a:t>
            </a:r>
          </a:p>
          <a:p>
            <a:r>
              <a:rPr lang="zh-CN" altLang="en-US" sz="1400" b="1" dirty="0"/>
              <a:t>p2=head-&gt;next;</a:t>
            </a:r>
          </a:p>
          <a:p>
            <a:r>
              <a:rPr lang="zh-CN" altLang="en-US" sz="1400" b="1" dirty="0"/>
              <a:t>while(p2!=NULL){  //从表头的下一个结点搜索</a:t>
            </a:r>
          </a:p>
          <a:p>
            <a:r>
              <a:rPr lang="zh-CN" altLang="en-US" sz="1400" b="1" dirty="0"/>
              <a:t>    if(p2-&gt;num==n1){  //p2所指结点是待删结点</a:t>
            </a:r>
          </a:p>
          <a:p>
            <a:r>
              <a:rPr lang="zh-CN" altLang="en-US" sz="1400" b="1" dirty="0"/>
              <a:t>        p1-&gt;next=p2-&gt;next;  //脱链</a:t>
            </a:r>
          </a:p>
          <a:p>
            <a:r>
              <a:rPr lang="zh-CN" altLang="en-US" sz="1400" b="1" dirty="0"/>
              <a:t>        free(p2);    //释放空间</a:t>
            </a:r>
          </a:p>
          <a:p>
            <a:r>
              <a:rPr lang="zh-CN" altLang="en-US" sz="1400" b="1" dirty="0"/>
              <a:t>    }</a:t>
            </a:r>
          </a:p>
          <a:p>
            <a:r>
              <a:rPr lang="zh-CN" altLang="en-US" sz="1400" b="1" dirty="0"/>
              <a:t>    else{   //p2不是待删结点,p1,p2后移一个结点</a:t>
            </a:r>
          </a:p>
          <a:p>
            <a:r>
              <a:rPr lang="zh-CN" altLang="en-US" sz="1400" b="1" dirty="0"/>
              <a:t>        p1=p2;</a:t>
            </a:r>
          </a:p>
          <a:p>
            <a:r>
              <a:rPr lang="zh-CN" altLang="en-US" sz="1400" b="1" dirty="0"/>
              <a:t>        p2=p2-&gt;next;</a:t>
            </a:r>
          </a:p>
          <a:p>
            <a:r>
              <a:rPr lang="zh-CN" altLang="en-US" sz="1400" b="1" dirty="0"/>
              <a:t>    }</a:t>
            </a:r>
          </a:p>
          <a:p>
            <a:r>
              <a:rPr lang="zh-CN" altLang="en-US" sz="1400" b="1" dirty="0"/>
              <a:t>}</a:t>
            </a:r>
          </a:p>
          <a:p>
            <a:r>
              <a:rPr lang="zh-CN" altLang="en-US" sz="1400" b="1" dirty="0"/>
              <a:t>for(p=head;p!=NULL;p=p-&gt;next)</a:t>
            </a:r>
          </a:p>
          <a:p>
            <a:r>
              <a:rPr lang="zh-CN" altLang="en-US" sz="1400" b="1" dirty="0"/>
              <a:t>    printf("%d\t%s\n",p-&gt;num,p-&gt;tel);</a:t>
            </a:r>
          </a:p>
          <a:p>
            <a:r>
              <a:rPr lang="zh-CN" altLang="en-US" sz="1400" b="1" dirty="0"/>
              <a:t>return 0;</a:t>
            </a:r>
          </a:p>
          <a:p>
            <a:r>
              <a:rPr lang="zh-CN" altLang="en-US" sz="1400" b="1" dirty="0"/>
              <a:t>}</a:t>
            </a:r>
          </a:p>
        </p:txBody>
      </p:sp>
      <p:cxnSp>
        <p:nvCxnSpPr>
          <p:cNvPr id="30" name="直接箭头连接符 29"/>
          <p:cNvCxnSpPr/>
          <p:nvPr/>
        </p:nvCxnSpPr>
        <p:spPr bwMode="auto">
          <a:xfrm>
            <a:off x="6572695" y="273680"/>
            <a:ext cx="606760" cy="1185"/>
          </a:xfrm>
          <a:prstGeom prst="straightConnector1">
            <a:avLst/>
          </a:prstGeom>
          <a:solidFill>
            <a:schemeClr val="accent1"/>
          </a:solidFill>
          <a:ln w="2857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1549849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小结</a:t>
            </a:r>
            <a:endParaRPr lang="zh-CN" altLang="en-US" dirty="0"/>
          </a:p>
        </p:txBody>
      </p:sp>
      <p:sp>
        <p:nvSpPr>
          <p:cNvPr id="3" name="内容占位符 2"/>
          <p:cNvSpPr>
            <a:spLocks noGrp="1"/>
          </p:cNvSpPr>
          <p:nvPr>
            <p:ph idx="1"/>
          </p:nvPr>
        </p:nvSpPr>
        <p:spPr/>
        <p:txBody>
          <a:bodyPr/>
          <a:lstStyle/>
          <a:p>
            <a:r>
              <a:rPr lang="zh-CN" altLang="en-US" sz="1800" dirty="0"/>
              <a:t>指针即地址，指针变量就是专门用于存放变量内存地址值的变量</a:t>
            </a:r>
            <a:r>
              <a:rPr lang="zh-CN" altLang="en-US" sz="1800" dirty="0" smtClean="0"/>
              <a:t>。利用指针可以间接访问它指向的变量或者数组。</a:t>
            </a:r>
            <a:endParaRPr lang="en-US" altLang="zh-CN" sz="1800" dirty="0" smtClean="0"/>
          </a:p>
          <a:p>
            <a:r>
              <a:rPr lang="zh-CN" altLang="en-US" sz="1800" dirty="0" smtClean="0"/>
              <a:t>指针</a:t>
            </a:r>
            <a:r>
              <a:rPr lang="zh-CN" altLang="en-US" sz="1800" dirty="0"/>
              <a:t>可以作为函数参数，也可以作为函数返回值。利用指针可以获得字符串的首地址，进而操作字符串。</a:t>
            </a:r>
          </a:p>
          <a:p>
            <a:r>
              <a:rPr lang="zh-CN" altLang="en-US" sz="1800" dirty="0"/>
              <a:t>结构体是由一系列具有相同类型或不同类型的数据构成的数据集合</a:t>
            </a:r>
            <a:r>
              <a:rPr lang="zh-CN" altLang="en-US" sz="1800" dirty="0" smtClean="0"/>
              <a:t>。可以用结构体声明结构体</a:t>
            </a:r>
            <a:r>
              <a:rPr lang="zh-CN" altLang="en-US" sz="1800" dirty="0"/>
              <a:t>变量、结构体数组、结构体指针</a:t>
            </a:r>
            <a:r>
              <a:rPr lang="zh-CN" altLang="en-US" sz="1800" dirty="0" smtClean="0"/>
              <a:t>等</a:t>
            </a:r>
            <a:r>
              <a:rPr lang="zh-CN" altLang="en-US" sz="1800" dirty="0"/>
              <a:t>，用以实现较复杂的数据结构。</a:t>
            </a:r>
          </a:p>
          <a:p>
            <a:r>
              <a:rPr lang="zh-CN" altLang="en-US" sz="1800" dirty="0"/>
              <a:t>链表是一种物理存储单元上非连续、非顺序的存储结构，数据元素的逻辑顺序是通过链表中的指针链接次序实现的。链表由一系列结点（链表中每一个元素称为结点）组成，结点可以在运行时动态生成。每个结点包括两个部分：一个是存储数据元素的数据域，另一个是存储下一处结点地址的指针域。相比于线性表顺序结构，链表的一个重要特点是插入、删除操作灵活方便，不需移动结点，只需改变结点中指针域的值即可。</a:t>
            </a:r>
          </a:p>
          <a:p>
            <a:endParaRPr lang="zh-CN" altLang="en-US" sz="1800" dirty="0"/>
          </a:p>
        </p:txBody>
      </p:sp>
    </p:spTree>
    <p:extLst>
      <p:ext uri="{BB962C8B-B14F-4D97-AF65-F5344CB8AC3E}">
        <p14:creationId xmlns:p14="http://schemas.microsoft.com/office/powerpoint/2010/main" val="1312935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3842</TotalTime>
  <Words>13596</Words>
  <Application>Microsoft Office PowerPoint</Application>
  <PresentationFormat>全屏显示(4:3)</PresentationFormat>
  <Paragraphs>2050</Paragraphs>
  <Slides>148</Slides>
  <Notes>30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148</vt:i4>
      </vt:variant>
    </vt:vector>
  </HeadingPairs>
  <TitlesOfParts>
    <vt:vector size="171" baseType="lpstr">
      <vt:lpstr>Dotum</vt:lpstr>
      <vt:lpstr>Gautami</vt:lpstr>
      <vt:lpstr>Monotype Sorts</vt:lpstr>
      <vt:lpstr>等线</vt:lpstr>
      <vt:lpstr>方正姚体</vt:lpstr>
      <vt:lpstr>仿宋_GB2312</vt:lpstr>
      <vt:lpstr>黑体</vt:lpstr>
      <vt:lpstr>华文仿宋</vt:lpstr>
      <vt:lpstr>华文楷体</vt:lpstr>
      <vt:lpstr>楷体_GB2312</vt:lpstr>
      <vt:lpstr>宋体</vt:lpstr>
      <vt:lpstr>幼圆</vt:lpstr>
      <vt:lpstr>Arial</vt:lpstr>
      <vt:lpstr>Arial Black</vt:lpstr>
      <vt:lpstr>Book Antiqua</vt:lpstr>
      <vt:lpstr>Courier New</vt:lpstr>
      <vt:lpstr>Symbol</vt:lpstr>
      <vt:lpstr>Times New Roman</vt:lpstr>
      <vt:lpstr>Webdings</vt:lpstr>
      <vt:lpstr>Wingdings</vt:lpstr>
      <vt:lpstr>Capsules</vt:lpstr>
      <vt:lpstr>Microsoft Word 97 - 2003 文档</vt:lpstr>
      <vt:lpstr>位图图像</vt:lpstr>
      <vt:lpstr>第六章 指针与结构体 </vt:lpstr>
      <vt:lpstr>主要内容</vt:lpstr>
      <vt:lpstr>PowerPoint 演示文稿</vt:lpstr>
      <vt:lpstr>指针</vt:lpstr>
      <vt:lpstr>PowerPoint 演示文稿</vt:lpstr>
      <vt:lpstr>变量的内存地址</vt:lpstr>
      <vt:lpstr>变量的直接寻址</vt:lpstr>
      <vt:lpstr>变量的间接寻址</vt:lpstr>
      <vt:lpstr>PowerPoint 演示文稿</vt:lpstr>
      <vt:lpstr>指针变量</vt:lpstr>
      <vt:lpstr>定义指针变量</vt:lpstr>
      <vt:lpstr>指针变量赋值</vt:lpstr>
      <vt:lpstr>指针变量赋值或者初始化为空指针</vt:lpstr>
      <vt:lpstr>指针变量初始化</vt:lpstr>
      <vt:lpstr>通过指针间接访问变量</vt:lpstr>
      <vt:lpstr>【例6-1】使用指针变量间接访问变量</vt:lpstr>
      <vt:lpstr>指针变量使用常见错误</vt:lpstr>
      <vt:lpstr>指针变量正确使用</vt:lpstr>
      <vt:lpstr>指针变量的其他运算—指针及运算符</vt:lpstr>
      <vt:lpstr>相同类型的指针变量赋值</vt:lpstr>
      <vt:lpstr>自增自减运算</vt:lpstr>
      <vt:lpstr>自增自减运算</vt:lpstr>
      <vt:lpstr>自增自减运算</vt:lpstr>
      <vt:lpstr>指针变量的其他运算</vt:lpstr>
      <vt:lpstr>PowerPoint 演示文稿</vt:lpstr>
      <vt:lpstr>PowerPoint 演示文稿</vt:lpstr>
      <vt:lpstr>指针与数组</vt:lpstr>
      <vt:lpstr>数组名和地址间的关系</vt:lpstr>
      <vt:lpstr>【例】分别用下标和数组名做基地址完成数组的输入输出</vt:lpstr>
      <vt:lpstr>通过指针变量访问数组</vt:lpstr>
      <vt:lpstr>PowerPoint 演示文稿</vt:lpstr>
      <vt:lpstr>【例6-6】用指针变量引用法完成数组的输入输出</vt:lpstr>
      <vt:lpstr>【例6-7】用指针变量引用数组元素完成数组的逆序</vt:lpstr>
      <vt:lpstr>PowerPoint 演示文稿</vt:lpstr>
      <vt:lpstr>PowerPoint 演示文稿</vt:lpstr>
      <vt:lpstr>案例:</vt:lpstr>
      <vt:lpstr>PowerPoint 演示文稿</vt:lpstr>
      <vt:lpstr>案例:</vt:lpstr>
      <vt:lpstr>案例:求p-a和++(*(++p))的值(1/2)</vt:lpstr>
      <vt:lpstr>案例:求p-a和++(*(++p))的值(2/2)</vt:lpstr>
      <vt:lpstr>PowerPoint 演示文稿</vt:lpstr>
      <vt:lpstr>指针与函数</vt:lpstr>
      <vt:lpstr>指针与函数</vt:lpstr>
      <vt:lpstr>PowerPoint 演示文稿</vt:lpstr>
      <vt:lpstr>指针与函数</vt:lpstr>
      <vt:lpstr>PowerPoint 演示文稿</vt:lpstr>
      <vt:lpstr>指针与函数</vt:lpstr>
      <vt:lpstr>指针与函数</vt:lpstr>
      <vt:lpstr>PowerPoint 演示文稿</vt:lpstr>
      <vt:lpstr>补充题 </vt:lpstr>
      <vt:lpstr>PowerPoint 演示文稿</vt:lpstr>
      <vt:lpstr>数组名作为函数参数</vt:lpstr>
      <vt:lpstr>数组名作为函数参数</vt:lpstr>
      <vt:lpstr>PowerPoint 演示文稿</vt:lpstr>
      <vt:lpstr>例6-10：通过函数调用完成数组的输入、排序和输出</vt:lpstr>
      <vt:lpstr>例：将数组元素逆序存放</vt:lpstr>
      <vt:lpstr>PowerPoint 演示文稿</vt:lpstr>
      <vt:lpstr>PowerPoint 演示文稿</vt:lpstr>
      <vt:lpstr>返回指针的函数</vt:lpstr>
      <vt:lpstr>动态内存分配</vt:lpstr>
      <vt:lpstr>动态内存分配的步骤 </vt:lpstr>
      <vt:lpstr>动态存储分配函数malloc()</vt:lpstr>
      <vt:lpstr>动态存储释放函数free </vt:lpstr>
      <vt:lpstr>PowerPoint 演示文稿</vt:lpstr>
      <vt:lpstr>PowerPoint 演示文稿</vt:lpstr>
      <vt:lpstr>指针与字符串</vt:lpstr>
      <vt:lpstr>指针与字符串</vt:lpstr>
      <vt:lpstr>字符数组和字符指针处理字符串常量</vt:lpstr>
      <vt:lpstr>字符数组与字符指针的重要区别 </vt:lpstr>
      <vt:lpstr>示例</vt:lpstr>
      <vt:lpstr>字符指针指向字符串常量</vt:lpstr>
      <vt:lpstr>字符指针指向输入的一个字符串</vt:lpstr>
      <vt:lpstr>使用字符指针遍历字符串</vt:lpstr>
      <vt:lpstr>PowerPoint 演示文稿</vt:lpstr>
      <vt:lpstr>对称字符串（回文）</vt:lpstr>
      <vt:lpstr>PowerPoint 演示文稿</vt:lpstr>
      <vt:lpstr>PowerPoint 演示文稿</vt:lpstr>
      <vt:lpstr>教材例6-14</vt:lpstr>
      <vt:lpstr>PowerPoint 演示文稿</vt:lpstr>
      <vt:lpstr>向函数传递字符串</vt:lpstr>
      <vt:lpstr>PowerPoint 演示文稿</vt:lpstr>
      <vt:lpstr>教材例6-15</vt:lpstr>
      <vt:lpstr>PowerPoint 演示文稿</vt:lpstr>
      <vt:lpstr>PowerPoint 演示文稿</vt:lpstr>
      <vt:lpstr>结构体</vt:lpstr>
      <vt:lpstr>为什么要定义结构体类型</vt:lpstr>
      <vt:lpstr>数组的解决方法</vt:lpstr>
      <vt:lpstr>数组的解决方法</vt:lpstr>
      <vt:lpstr>结构体类型</vt:lpstr>
      <vt:lpstr>PowerPoint 演示文稿</vt:lpstr>
      <vt:lpstr>结构体类型定义</vt:lpstr>
      <vt:lpstr>结构体类型定义</vt:lpstr>
      <vt:lpstr>结构体与数组的区别</vt:lpstr>
      <vt:lpstr>结构体变量的定义和初始化</vt:lpstr>
      <vt:lpstr>结构体变量的定义和初始化</vt:lpstr>
      <vt:lpstr>结构体变量引用</vt:lpstr>
      <vt:lpstr>结构体变量初始化</vt:lpstr>
      <vt:lpstr>结构体变量整体赋值</vt:lpstr>
      <vt:lpstr>例6-18 结构体变量的定义使用赋值</vt:lpstr>
      <vt:lpstr>复数乘积</vt:lpstr>
      <vt:lpstr>PowerPoint 演示文稿</vt:lpstr>
      <vt:lpstr>例</vt:lpstr>
      <vt:lpstr>PowerPoint 演示文稿</vt:lpstr>
      <vt:lpstr>PowerPoint 演示文稿</vt:lpstr>
      <vt:lpstr>结构体数组</vt:lpstr>
      <vt:lpstr>结构体数组</vt:lpstr>
      <vt:lpstr>结构体数组的初始化</vt:lpstr>
      <vt:lpstr>结构体数组元素及其成员的使用</vt:lpstr>
      <vt:lpstr>PowerPoint 演示文稿</vt:lpstr>
      <vt:lpstr>PowerPoint 演示文稿</vt:lpstr>
      <vt:lpstr>PowerPoint 演示文稿</vt:lpstr>
      <vt:lpstr>结构体指针</vt:lpstr>
      <vt:lpstr>结构体指针赋值</vt:lpstr>
      <vt:lpstr>结构体指针的使用</vt:lpstr>
      <vt:lpstr>PowerPoint 演示文稿</vt:lpstr>
      <vt:lpstr>指针访问结构体数组</vt:lpstr>
      <vt:lpstr>PowerPoint 演示文稿</vt:lpstr>
      <vt:lpstr>PowerPoint 演示文稿</vt:lpstr>
      <vt:lpstr>结构体与函数</vt:lpstr>
      <vt:lpstr>例6-22 用函数求平均值 </vt:lpstr>
      <vt:lpstr>PowerPoint 演示文稿</vt:lpstr>
      <vt:lpstr>结构体变量作为函数参数</vt:lpstr>
      <vt:lpstr>PowerPoint 演示文稿</vt:lpstr>
      <vt:lpstr>结构体指针作为函数参数</vt:lpstr>
      <vt:lpstr>例6-23 利用函数输出主函数中定义的结构体数组</vt:lpstr>
      <vt:lpstr>PowerPoint 演示文稿</vt:lpstr>
      <vt:lpstr>用指针和结构体处理链表</vt:lpstr>
      <vt:lpstr>PowerPoint 演示文稿</vt:lpstr>
      <vt:lpstr>链表的概念</vt:lpstr>
      <vt:lpstr>链表的概念</vt:lpstr>
      <vt:lpstr>单链表</vt:lpstr>
      <vt:lpstr>PowerPoint 演示文稿</vt:lpstr>
      <vt:lpstr>建立链表</vt:lpstr>
      <vt:lpstr>建立链表</vt:lpstr>
      <vt:lpstr>建立链表</vt:lpstr>
      <vt:lpstr>建立链表</vt:lpstr>
      <vt:lpstr>建立链表</vt:lpstr>
      <vt:lpstr>建立链表</vt:lpstr>
      <vt:lpstr>PowerPoint 演示文稿</vt:lpstr>
      <vt:lpstr>单链表的常用操作</vt:lpstr>
      <vt:lpstr>单链表的常用操作</vt:lpstr>
      <vt:lpstr>PowerPoint 演示文稿</vt:lpstr>
      <vt:lpstr>PowerPoint 演示文稿</vt:lpstr>
      <vt:lpstr>PowerPoint 演示文稿</vt:lpstr>
      <vt:lpstr>单链表的常用操作</vt:lpstr>
      <vt:lpstr>PowerPoint 演示文稿</vt:lpstr>
      <vt:lpstr>PowerPoint 演示文稿</vt:lpstr>
      <vt:lpstr>小结</vt:lpstr>
    </vt:vector>
  </TitlesOfParts>
  <Company>Shanghai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dc:title>
  <dc:creator>Richard M. Lu</dc:creator>
  <dc:description>2007年第五版</dc:description>
  <cp:lastModifiedBy>Windows 用户</cp:lastModifiedBy>
  <cp:revision>1374</cp:revision>
  <dcterms:created xsi:type="dcterms:W3CDTF">2007-07-11T13:28:00Z</dcterms:created>
  <dcterms:modified xsi:type="dcterms:W3CDTF">2020-02-08T15:51:28Z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2052-10.1.0.6029</vt:lpwstr>
  </property>
</Properties>
</file>