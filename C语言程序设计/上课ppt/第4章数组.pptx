
<file path=[Content_Types].xml><?xml version="1.0" encoding="utf-8"?>
<Types xmlns="http://schemas.openxmlformats.org/package/2006/content-types">
  <Default Extension="png" ContentType="image/png"/>
  <Default Extension="tmp"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3" r:id="rId1"/>
    <p:sldMasterId id="2147483689" r:id="rId2"/>
  </p:sldMasterIdLst>
  <p:notesMasterIdLst>
    <p:notesMasterId r:id="rId108"/>
  </p:notesMasterIdLst>
  <p:sldIdLst>
    <p:sldId id="599" r:id="rId3"/>
    <p:sldId id="600" r:id="rId4"/>
    <p:sldId id="740" r:id="rId5"/>
    <p:sldId id="786" r:id="rId6"/>
    <p:sldId id="787" r:id="rId7"/>
    <p:sldId id="799" r:id="rId8"/>
    <p:sldId id="800" r:id="rId9"/>
    <p:sldId id="801" r:id="rId10"/>
    <p:sldId id="790" r:id="rId11"/>
    <p:sldId id="792" r:id="rId12"/>
    <p:sldId id="802" r:id="rId13"/>
    <p:sldId id="794" r:id="rId14"/>
    <p:sldId id="803" r:id="rId15"/>
    <p:sldId id="804" r:id="rId16"/>
    <p:sldId id="796" r:id="rId17"/>
    <p:sldId id="805" r:id="rId18"/>
    <p:sldId id="806" r:id="rId19"/>
    <p:sldId id="759" r:id="rId20"/>
    <p:sldId id="760" r:id="rId21"/>
    <p:sldId id="761" r:id="rId22"/>
    <p:sldId id="778" r:id="rId23"/>
    <p:sldId id="762" r:id="rId24"/>
    <p:sldId id="763" r:id="rId25"/>
    <p:sldId id="764" r:id="rId26"/>
    <p:sldId id="644" r:id="rId27"/>
    <p:sldId id="647" r:id="rId28"/>
    <p:sldId id="625" r:id="rId29"/>
    <p:sldId id="768" r:id="rId30"/>
    <p:sldId id="769" r:id="rId31"/>
    <p:sldId id="772" r:id="rId32"/>
    <p:sldId id="770" r:id="rId33"/>
    <p:sldId id="771" r:id="rId34"/>
    <p:sldId id="767" r:id="rId35"/>
    <p:sldId id="700" r:id="rId36"/>
    <p:sldId id="765" r:id="rId37"/>
    <p:sldId id="629" r:id="rId38"/>
    <p:sldId id="702" r:id="rId39"/>
    <p:sldId id="632" r:id="rId40"/>
    <p:sldId id="703" r:id="rId41"/>
    <p:sldId id="736" r:id="rId42"/>
    <p:sldId id="766" r:id="rId43"/>
    <p:sldId id="737" r:id="rId44"/>
    <p:sldId id="634" r:id="rId45"/>
    <p:sldId id="636" r:id="rId46"/>
    <p:sldId id="773" r:id="rId47"/>
    <p:sldId id="774" r:id="rId48"/>
    <p:sldId id="752" r:id="rId49"/>
    <p:sldId id="708" r:id="rId50"/>
    <p:sldId id="655" r:id="rId51"/>
    <p:sldId id="657" r:id="rId52"/>
    <p:sldId id="779" r:id="rId53"/>
    <p:sldId id="781" r:id="rId54"/>
    <p:sldId id="775" r:id="rId55"/>
    <p:sldId id="637" r:id="rId56"/>
    <p:sldId id="705" r:id="rId57"/>
    <p:sldId id="639" r:id="rId58"/>
    <p:sldId id="640" r:id="rId59"/>
    <p:sldId id="706" r:id="rId60"/>
    <p:sldId id="641" r:id="rId61"/>
    <p:sldId id="748" r:id="rId62"/>
    <p:sldId id="749" r:id="rId63"/>
    <p:sldId id="642" r:id="rId64"/>
    <p:sldId id="643" r:id="rId65"/>
    <p:sldId id="777" r:id="rId66"/>
    <p:sldId id="776" r:id="rId67"/>
    <p:sldId id="751" r:id="rId68"/>
    <p:sldId id="659" r:id="rId69"/>
    <p:sldId id="709" r:id="rId70"/>
    <p:sldId id="710" r:id="rId71"/>
    <p:sldId id="727" r:id="rId72"/>
    <p:sldId id="728" r:id="rId73"/>
    <p:sldId id="753" r:id="rId74"/>
    <p:sldId id="729" r:id="rId75"/>
    <p:sldId id="730" r:id="rId76"/>
    <p:sldId id="731" r:id="rId77"/>
    <p:sldId id="732" r:id="rId78"/>
    <p:sldId id="667" r:id="rId79"/>
    <p:sldId id="716" r:id="rId80"/>
    <p:sldId id="782" r:id="rId81"/>
    <p:sldId id="669" r:id="rId82"/>
    <p:sldId id="733" r:id="rId83"/>
    <p:sldId id="755" r:id="rId84"/>
    <p:sldId id="754" r:id="rId85"/>
    <p:sldId id="756" r:id="rId86"/>
    <p:sldId id="757" r:id="rId87"/>
    <p:sldId id="671" r:id="rId88"/>
    <p:sldId id="711" r:id="rId89"/>
    <p:sldId id="672" r:id="rId90"/>
    <p:sldId id="712" r:id="rId91"/>
    <p:sldId id="739" r:id="rId92"/>
    <p:sldId id="673" r:id="rId93"/>
    <p:sldId id="713" r:id="rId94"/>
    <p:sldId id="714" r:id="rId95"/>
    <p:sldId id="715" r:id="rId96"/>
    <p:sldId id="674" r:id="rId97"/>
    <p:sldId id="717" r:id="rId98"/>
    <p:sldId id="675" r:id="rId99"/>
    <p:sldId id="718" r:id="rId100"/>
    <p:sldId id="676" r:id="rId101"/>
    <p:sldId id="719" r:id="rId102"/>
    <p:sldId id="783" r:id="rId103"/>
    <p:sldId id="677" r:id="rId104"/>
    <p:sldId id="678" r:id="rId105"/>
    <p:sldId id="697" r:id="rId106"/>
    <p:sldId id="698" r:id="rId107"/>
  </p:sldIdLst>
  <p:sldSz cx="9144000" cy="6858000" type="screen4x3"/>
  <p:notesSz cx="6858000" cy="9144000"/>
  <p:defaultTextStyle>
    <a:defPPr>
      <a:defRPr lang="zh-CN"/>
    </a:defPPr>
    <a:lvl1pPr algn="l" rtl="0" eaLnBrk="0" fontAlgn="base" hangingPunct="0">
      <a:spcBef>
        <a:spcPct val="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Arial" charset="0"/>
        <a:ea typeface="宋体" pitchFamily="2" charset="-122"/>
        <a:cs typeface="+mn-cs"/>
      </a:defRPr>
    </a:lvl6pPr>
    <a:lvl7pPr marL="2743200" algn="l" defTabSz="914400" rtl="0" eaLnBrk="1" latinLnBrk="0" hangingPunct="1">
      <a:defRPr sz="1200" kern="1200">
        <a:solidFill>
          <a:schemeClr val="tx1"/>
        </a:solidFill>
        <a:latin typeface="Arial" charset="0"/>
        <a:ea typeface="宋体" pitchFamily="2" charset="-122"/>
        <a:cs typeface="+mn-cs"/>
      </a:defRPr>
    </a:lvl7pPr>
    <a:lvl8pPr marL="3200400" algn="l" defTabSz="914400" rtl="0" eaLnBrk="1" latinLnBrk="0" hangingPunct="1">
      <a:defRPr sz="1200" kern="1200">
        <a:solidFill>
          <a:schemeClr val="tx1"/>
        </a:solidFill>
        <a:latin typeface="Arial" charset="0"/>
        <a:ea typeface="宋体" pitchFamily="2" charset="-122"/>
        <a:cs typeface="+mn-cs"/>
      </a:defRPr>
    </a:lvl8pPr>
    <a:lvl9pPr marL="3657600" algn="l" defTabSz="914400" rtl="0" eaLnBrk="1" latinLnBrk="0" hangingPunct="1">
      <a:defRPr sz="1200"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45" autoAdjust="0"/>
    <p:restoredTop sz="94618" autoAdjust="0"/>
  </p:normalViewPr>
  <p:slideViewPr>
    <p:cSldViewPr>
      <p:cViewPr varScale="1">
        <p:scale>
          <a:sx n="84" d="100"/>
          <a:sy n="84" d="100"/>
        </p:scale>
        <p:origin x="-1806" y="-90"/>
      </p:cViewPr>
      <p:guideLst>
        <p:guide orient="horz" pos="2160"/>
        <p:guide pos="2880"/>
      </p:guideLst>
    </p:cSldViewPr>
  </p:slideViewPr>
  <p:outlineViewPr>
    <p:cViewPr>
      <p:scale>
        <a:sx n="33" d="100"/>
        <a:sy n="33" d="100"/>
      </p:scale>
      <p:origin x="0" y="83046"/>
    </p:cViewPr>
  </p:outlin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07" Type="http://schemas.openxmlformats.org/officeDocument/2006/relationships/slide" Target="slides/slide105.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102" Type="http://schemas.openxmlformats.org/officeDocument/2006/relationships/slide" Target="slides/slide100.xml"/><Relationship Id="rId110"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presProps" Target="presProps.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38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a:lvl1pPr>
          </a:lstStyle>
          <a:p>
            <a:pPr>
              <a:defRPr/>
            </a:pPr>
            <a:endParaRPr lang="en-US" altLang="zh-CN" dirty="0"/>
          </a:p>
        </p:txBody>
      </p:sp>
      <p:sp>
        <p:nvSpPr>
          <p:cNvPr id="33382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a:lvl1pPr>
          </a:lstStyle>
          <a:p>
            <a:pPr>
              <a:defRPr/>
            </a:pPr>
            <a:endParaRPr lang="en-US" altLang="zh-CN" dirty="0"/>
          </a:p>
        </p:txBody>
      </p:sp>
      <p:sp>
        <p:nvSpPr>
          <p:cNvPr id="102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3382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3383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a:lvl1pPr>
          </a:lstStyle>
          <a:p>
            <a:pPr>
              <a:defRPr/>
            </a:pPr>
            <a:endParaRPr lang="en-US" altLang="zh-CN" dirty="0"/>
          </a:p>
        </p:txBody>
      </p:sp>
      <p:sp>
        <p:nvSpPr>
          <p:cNvPr id="33383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a:lvl1pPr>
          </a:lstStyle>
          <a:p>
            <a:pPr>
              <a:defRPr/>
            </a:pPr>
            <a:fld id="{06A1E78A-2B14-4A82-8C68-BF0F1494DE67}" type="slidenum">
              <a:rPr lang="en-US" altLang="zh-CN"/>
              <a:pPr>
                <a:defRPr/>
              </a:pPr>
              <a:t>‹#›</a:t>
            </a:fld>
            <a:endParaRPr lang="en-US" altLang="zh-CN" dirty="0"/>
          </a:p>
        </p:txBody>
      </p:sp>
    </p:spTree>
    <p:extLst>
      <p:ext uri="{BB962C8B-B14F-4D97-AF65-F5344CB8AC3E}">
        <p14:creationId xmlns:p14="http://schemas.microsoft.com/office/powerpoint/2010/main" val="36345782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6A1E78A-2B14-4A82-8C68-BF0F1494DE67}" type="slidenum">
              <a:rPr lang="en-US" altLang="zh-CN" smtClean="0"/>
              <a:pPr>
                <a:defRPr/>
              </a:pPr>
              <a:t>47</a:t>
            </a:fld>
            <a:endParaRPr lang="en-US" altLang="zh-CN" dirty="0"/>
          </a:p>
        </p:txBody>
      </p:sp>
    </p:spTree>
    <p:extLst>
      <p:ext uri="{BB962C8B-B14F-4D97-AF65-F5344CB8AC3E}">
        <p14:creationId xmlns:p14="http://schemas.microsoft.com/office/powerpoint/2010/main" val="314172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6A1E78A-2B14-4A82-8C68-BF0F1494DE67}" type="slidenum">
              <a:rPr lang="en-US" altLang="zh-CN" smtClean="0"/>
              <a:pPr>
                <a:defRPr/>
              </a:pPr>
              <a:t>51</a:t>
            </a:fld>
            <a:endParaRPr lang="en-US" altLang="zh-CN" dirty="0"/>
          </a:p>
        </p:txBody>
      </p:sp>
    </p:spTree>
    <p:extLst>
      <p:ext uri="{BB962C8B-B14F-4D97-AF65-F5344CB8AC3E}">
        <p14:creationId xmlns:p14="http://schemas.microsoft.com/office/powerpoint/2010/main" val="36952426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6A1E78A-2B14-4A82-8C68-BF0F1494DE67}" type="slidenum">
              <a:rPr lang="en-US" altLang="zh-CN" smtClean="0"/>
              <a:pPr>
                <a:defRPr/>
              </a:pPr>
              <a:t>59</a:t>
            </a:fld>
            <a:endParaRPr lang="en-US" altLang="zh-CN" dirty="0"/>
          </a:p>
        </p:txBody>
      </p:sp>
    </p:spTree>
    <p:extLst>
      <p:ext uri="{BB962C8B-B14F-4D97-AF65-F5344CB8AC3E}">
        <p14:creationId xmlns:p14="http://schemas.microsoft.com/office/powerpoint/2010/main" val="14558629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suppt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8339" name="Rectangle 3"/>
          <p:cNvSpPr>
            <a:spLocks noGrp="1" noChangeArrowheads="1"/>
          </p:cNvSpPr>
          <p:nvPr>
            <p:ph type="subTitle" idx="1"/>
          </p:nvPr>
        </p:nvSpPr>
        <p:spPr>
          <a:xfrm>
            <a:off x="1116013" y="3406775"/>
            <a:ext cx="7397750" cy="1822450"/>
          </a:xfrm>
        </p:spPr>
        <p:txBody>
          <a:bodyPr lIns="91440" tIns="45720" rIns="91440" bIns="45720" anchor="b"/>
          <a:lstStyle>
            <a:lvl1pPr marL="0" indent="0" algn="ctr">
              <a:buFont typeface="Webdings" pitchFamily="18" charset="2"/>
              <a:buNone/>
              <a:defRPr/>
            </a:lvl1pPr>
          </a:lstStyle>
          <a:p>
            <a:pPr lvl="0"/>
            <a:r>
              <a:rPr lang="zh-CN" altLang="en-US" noProof="0" smtClean="0"/>
              <a:t>单击此处编辑母版副标题样式</a:t>
            </a:r>
          </a:p>
        </p:txBody>
      </p:sp>
      <p:sp>
        <p:nvSpPr>
          <p:cNvPr id="398340" name="AutoShape 4"/>
          <p:cNvSpPr>
            <a:spLocks noGrp="1" noChangeArrowheads="1"/>
          </p:cNvSpPr>
          <p:nvPr>
            <p:ph type="ctrTitle" sz="quarter"/>
          </p:nvPr>
        </p:nvSpPr>
        <p:spPr>
          <a:xfrm>
            <a:off x="685800" y="1163638"/>
            <a:ext cx="8229600" cy="1905000"/>
          </a:xfrm>
          <a:prstGeom prst="roundRect">
            <a:avLst>
              <a:gd name="adj" fmla="val 50000"/>
            </a:avLst>
          </a:prstGeom>
        </p:spPr>
        <p:txBody>
          <a:bodyPr anchor="ctr"/>
          <a:lstStyle>
            <a:lvl1pPr algn="ctr">
              <a:defRPr/>
            </a:lvl1pPr>
          </a:lstStyle>
          <a:p>
            <a:pPr lvl="0"/>
            <a:r>
              <a:rPr lang="zh-CN" altLang="en-US" noProof="0" smtClean="0"/>
              <a:t>单击此处编辑母版标题样式</a:t>
            </a:r>
          </a:p>
        </p:txBody>
      </p:sp>
    </p:spTree>
    <p:extLst>
      <p:ext uri="{BB962C8B-B14F-4D97-AF65-F5344CB8AC3E}">
        <p14:creationId xmlns:p14="http://schemas.microsoft.com/office/powerpoint/2010/main" val="239130763"/>
      </p:ext>
    </p:extLst>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zh-CN" dirty="0"/>
          </a:p>
        </p:txBody>
      </p:sp>
      <p:sp>
        <p:nvSpPr>
          <p:cNvPr id="5" name="Rectangle 10"/>
          <p:cNvSpPr>
            <a:spLocks noGrp="1" noChangeArrowheads="1"/>
          </p:cNvSpPr>
          <p:nvPr>
            <p:ph type="sldNum" sz="quarter" idx="11"/>
          </p:nvPr>
        </p:nvSpPr>
        <p:spPr>
          <a:ln/>
        </p:spPr>
        <p:txBody>
          <a:bodyPr/>
          <a:lstStyle>
            <a:lvl1pPr>
              <a:defRPr/>
            </a:lvl1pPr>
          </a:lstStyle>
          <a:p>
            <a:pPr>
              <a:defRPr/>
            </a:pPr>
            <a:fld id="{1B21A633-576F-46D6-9FAA-ECFADAC6F967}" type="slidenum">
              <a:rPr lang="en-US" altLang="zh-CN"/>
              <a:pPr>
                <a:defRPr/>
              </a:pPr>
              <a:t>‹#›</a:t>
            </a:fld>
            <a:endParaRPr lang="en-US" altLang="zh-CN" dirty="0"/>
          </a:p>
        </p:txBody>
      </p:sp>
      <p:grpSp>
        <p:nvGrpSpPr>
          <p:cNvPr id="6" name="Group 4"/>
          <p:cNvGrpSpPr>
            <a:grpSpLocks/>
          </p:cNvGrpSpPr>
          <p:nvPr userDrawn="1"/>
        </p:nvGrpSpPr>
        <p:grpSpPr bwMode="auto">
          <a:xfrm>
            <a:off x="250825" y="1557338"/>
            <a:ext cx="7391400" cy="93662"/>
            <a:chOff x="144" y="1248"/>
            <a:chExt cx="4656" cy="201"/>
          </a:xfrm>
        </p:grpSpPr>
        <p:sp>
          <p:nvSpPr>
            <p:cNvPr id="7" name="AutoShape 5"/>
            <p:cNvSpPr>
              <a:spLocks noChangeArrowheads="1"/>
            </p:cNvSpPr>
            <p:nvPr userDrawn="1"/>
          </p:nvSpPr>
          <p:spPr bwMode="auto">
            <a:xfrm>
              <a:off x="384" y="1248"/>
              <a:ext cx="4416" cy="200"/>
            </a:xfrm>
            <a:prstGeom prst="roundRect">
              <a:avLst>
                <a:gd name="adj" fmla="val 0"/>
              </a:avLst>
            </a:prstGeom>
            <a:solidFill>
              <a:schemeClr va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AutoShape 6"/>
            <p:cNvSpPr>
              <a:spLocks noChangeArrowheads="1"/>
            </p:cNvSpPr>
            <p:nvPr userDrawn="1"/>
          </p:nvSpPr>
          <p:spPr bwMode="auto">
            <a:xfrm flipH="1">
              <a:off x="144" y="1248"/>
              <a:ext cx="248" cy="201"/>
            </a:xfrm>
            <a:prstGeom prst="flowChartDelay">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756121400"/>
      </p:ext>
    </p:extLst>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zh-CN" dirty="0"/>
          </a:p>
        </p:txBody>
      </p:sp>
      <p:sp>
        <p:nvSpPr>
          <p:cNvPr id="5" name="Rectangle 10"/>
          <p:cNvSpPr>
            <a:spLocks noGrp="1" noChangeArrowheads="1"/>
          </p:cNvSpPr>
          <p:nvPr>
            <p:ph type="sldNum" sz="quarter" idx="11"/>
          </p:nvPr>
        </p:nvSpPr>
        <p:spPr>
          <a:ln/>
        </p:spPr>
        <p:txBody>
          <a:bodyPr/>
          <a:lstStyle>
            <a:lvl1pPr>
              <a:defRPr/>
            </a:lvl1pPr>
          </a:lstStyle>
          <a:p>
            <a:pPr>
              <a:defRPr/>
            </a:pPr>
            <a:fld id="{19DEFFE2-EFC8-4A69-95FE-4D1D8AB31B48}" type="slidenum">
              <a:rPr lang="en-US" altLang="zh-CN"/>
              <a:pPr>
                <a:defRPr/>
              </a:pPr>
              <a:t>‹#›</a:t>
            </a:fld>
            <a:endParaRPr lang="en-US" altLang="zh-CN" dirty="0"/>
          </a:p>
        </p:txBody>
      </p:sp>
    </p:spTree>
    <p:extLst>
      <p:ext uri="{BB962C8B-B14F-4D97-AF65-F5344CB8AC3E}">
        <p14:creationId xmlns:p14="http://schemas.microsoft.com/office/powerpoint/2010/main" val="4154063064"/>
      </p:ext>
    </p:extLst>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755650" y="1700213"/>
            <a:ext cx="3919538" cy="4537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27588" y="1700213"/>
            <a:ext cx="3921125" cy="4537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9"/>
          <p:cNvSpPr>
            <a:spLocks noGrp="1" noChangeArrowheads="1"/>
          </p:cNvSpPr>
          <p:nvPr>
            <p:ph type="ftr" sz="quarter" idx="10"/>
          </p:nvPr>
        </p:nvSpPr>
        <p:spPr>
          <a:ln/>
        </p:spPr>
        <p:txBody>
          <a:bodyPr/>
          <a:lstStyle>
            <a:lvl1pPr>
              <a:defRPr/>
            </a:lvl1pPr>
          </a:lstStyle>
          <a:p>
            <a:pPr>
              <a:defRPr/>
            </a:pPr>
            <a:endParaRPr lang="en-US" altLang="zh-CN" dirty="0"/>
          </a:p>
        </p:txBody>
      </p:sp>
      <p:sp>
        <p:nvSpPr>
          <p:cNvPr id="6" name="Rectangle 10"/>
          <p:cNvSpPr>
            <a:spLocks noGrp="1" noChangeArrowheads="1"/>
          </p:cNvSpPr>
          <p:nvPr>
            <p:ph type="sldNum" sz="quarter" idx="11"/>
          </p:nvPr>
        </p:nvSpPr>
        <p:spPr>
          <a:ln/>
        </p:spPr>
        <p:txBody>
          <a:bodyPr/>
          <a:lstStyle>
            <a:lvl1pPr>
              <a:defRPr/>
            </a:lvl1pPr>
          </a:lstStyle>
          <a:p>
            <a:pPr>
              <a:defRPr/>
            </a:pPr>
            <a:fld id="{883631AF-0BB6-41EF-8F20-F2D0D077CE60}" type="slidenum">
              <a:rPr lang="en-US" altLang="zh-CN"/>
              <a:pPr>
                <a:defRPr/>
              </a:pPr>
              <a:t>‹#›</a:t>
            </a:fld>
            <a:endParaRPr lang="en-US" altLang="zh-CN" dirty="0"/>
          </a:p>
        </p:txBody>
      </p:sp>
    </p:spTree>
    <p:extLst>
      <p:ext uri="{BB962C8B-B14F-4D97-AF65-F5344CB8AC3E}">
        <p14:creationId xmlns:p14="http://schemas.microsoft.com/office/powerpoint/2010/main" val="2331915044"/>
      </p:ext>
    </p:extLst>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9"/>
          <p:cNvSpPr>
            <a:spLocks noGrp="1" noChangeArrowheads="1"/>
          </p:cNvSpPr>
          <p:nvPr>
            <p:ph type="ftr" sz="quarter" idx="10"/>
          </p:nvPr>
        </p:nvSpPr>
        <p:spPr>
          <a:ln/>
        </p:spPr>
        <p:txBody>
          <a:bodyPr/>
          <a:lstStyle>
            <a:lvl1pPr>
              <a:defRPr/>
            </a:lvl1pPr>
          </a:lstStyle>
          <a:p>
            <a:pPr>
              <a:defRPr/>
            </a:pPr>
            <a:endParaRPr lang="en-US" altLang="zh-CN" dirty="0"/>
          </a:p>
        </p:txBody>
      </p:sp>
      <p:sp>
        <p:nvSpPr>
          <p:cNvPr id="8" name="Rectangle 10"/>
          <p:cNvSpPr>
            <a:spLocks noGrp="1" noChangeArrowheads="1"/>
          </p:cNvSpPr>
          <p:nvPr>
            <p:ph type="sldNum" sz="quarter" idx="11"/>
          </p:nvPr>
        </p:nvSpPr>
        <p:spPr>
          <a:ln/>
        </p:spPr>
        <p:txBody>
          <a:bodyPr/>
          <a:lstStyle>
            <a:lvl1pPr>
              <a:defRPr/>
            </a:lvl1pPr>
          </a:lstStyle>
          <a:p>
            <a:pPr>
              <a:defRPr/>
            </a:pPr>
            <a:fld id="{F514BCB1-FD36-4419-B043-9BB339528B50}" type="slidenum">
              <a:rPr lang="en-US" altLang="zh-CN"/>
              <a:pPr>
                <a:defRPr/>
              </a:pPr>
              <a:t>‹#›</a:t>
            </a:fld>
            <a:endParaRPr lang="en-US" altLang="zh-CN" dirty="0"/>
          </a:p>
        </p:txBody>
      </p:sp>
    </p:spTree>
    <p:extLst>
      <p:ext uri="{BB962C8B-B14F-4D97-AF65-F5344CB8AC3E}">
        <p14:creationId xmlns:p14="http://schemas.microsoft.com/office/powerpoint/2010/main" val="1016661222"/>
      </p:ext>
    </p:extLst>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9"/>
          <p:cNvSpPr>
            <a:spLocks noGrp="1" noChangeArrowheads="1"/>
          </p:cNvSpPr>
          <p:nvPr>
            <p:ph type="ftr" sz="quarter" idx="10"/>
          </p:nvPr>
        </p:nvSpPr>
        <p:spPr>
          <a:ln/>
        </p:spPr>
        <p:txBody>
          <a:bodyPr/>
          <a:lstStyle>
            <a:lvl1pPr>
              <a:defRPr/>
            </a:lvl1pPr>
          </a:lstStyle>
          <a:p>
            <a:pPr>
              <a:defRPr/>
            </a:pPr>
            <a:endParaRPr lang="en-US" altLang="zh-CN" dirty="0"/>
          </a:p>
        </p:txBody>
      </p:sp>
      <p:sp>
        <p:nvSpPr>
          <p:cNvPr id="4" name="Rectangle 10"/>
          <p:cNvSpPr>
            <a:spLocks noGrp="1" noChangeArrowheads="1"/>
          </p:cNvSpPr>
          <p:nvPr>
            <p:ph type="sldNum" sz="quarter" idx="11"/>
          </p:nvPr>
        </p:nvSpPr>
        <p:spPr>
          <a:ln/>
        </p:spPr>
        <p:txBody>
          <a:bodyPr/>
          <a:lstStyle>
            <a:lvl1pPr>
              <a:defRPr/>
            </a:lvl1pPr>
          </a:lstStyle>
          <a:p>
            <a:pPr>
              <a:defRPr/>
            </a:pPr>
            <a:fld id="{FE44BEA9-DAA6-436C-834D-87E17424C89D}" type="slidenum">
              <a:rPr lang="en-US" altLang="zh-CN"/>
              <a:pPr>
                <a:defRPr/>
              </a:pPr>
              <a:t>‹#›</a:t>
            </a:fld>
            <a:endParaRPr lang="en-US" altLang="zh-CN" dirty="0"/>
          </a:p>
        </p:txBody>
      </p:sp>
    </p:spTree>
    <p:extLst>
      <p:ext uri="{BB962C8B-B14F-4D97-AF65-F5344CB8AC3E}">
        <p14:creationId xmlns:p14="http://schemas.microsoft.com/office/powerpoint/2010/main" val="2391559811"/>
      </p:ext>
    </p:extLst>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9"/>
          <p:cNvSpPr>
            <a:spLocks noGrp="1" noChangeArrowheads="1"/>
          </p:cNvSpPr>
          <p:nvPr>
            <p:ph type="ftr" sz="quarter" idx="10"/>
          </p:nvPr>
        </p:nvSpPr>
        <p:spPr>
          <a:ln/>
        </p:spPr>
        <p:txBody>
          <a:bodyPr/>
          <a:lstStyle>
            <a:lvl1pPr>
              <a:defRPr/>
            </a:lvl1pPr>
          </a:lstStyle>
          <a:p>
            <a:pPr>
              <a:defRPr/>
            </a:pPr>
            <a:endParaRPr lang="en-US" altLang="zh-CN" dirty="0"/>
          </a:p>
        </p:txBody>
      </p:sp>
      <p:sp>
        <p:nvSpPr>
          <p:cNvPr id="3" name="Rectangle 10"/>
          <p:cNvSpPr>
            <a:spLocks noGrp="1" noChangeArrowheads="1"/>
          </p:cNvSpPr>
          <p:nvPr>
            <p:ph type="sldNum" sz="quarter" idx="11"/>
          </p:nvPr>
        </p:nvSpPr>
        <p:spPr>
          <a:ln/>
        </p:spPr>
        <p:txBody>
          <a:bodyPr/>
          <a:lstStyle>
            <a:lvl1pPr>
              <a:defRPr/>
            </a:lvl1pPr>
          </a:lstStyle>
          <a:p>
            <a:pPr>
              <a:defRPr/>
            </a:pPr>
            <a:fld id="{56636351-7D5B-47CE-B54D-C31E7589E5E2}" type="slidenum">
              <a:rPr lang="en-US" altLang="zh-CN"/>
              <a:pPr>
                <a:defRPr/>
              </a:pPr>
              <a:t>‹#›</a:t>
            </a:fld>
            <a:endParaRPr lang="en-US" altLang="zh-CN" dirty="0"/>
          </a:p>
        </p:txBody>
      </p:sp>
    </p:spTree>
    <p:extLst>
      <p:ext uri="{BB962C8B-B14F-4D97-AF65-F5344CB8AC3E}">
        <p14:creationId xmlns:p14="http://schemas.microsoft.com/office/powerpoint/2010/main" val="2458528544"/>
      </p:ext>
    </p:extLst>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solidFill>
                  <a:schemeClr val="tx1"/>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ltLang="zh-CN" dirty="0"/>
          </a:p>
        </p:txBody>
      </p:sp>
      <p:sp>
        <p:nvSpPr>
          <p:cNvPr id="6" name="Rectangle 10"/>
          <p:cNvSpPr>
            <a:spLocks noGrp="1" noChangeArrowheads="1"/>
          </p:cNvSpPr>
          <p:nvPr>
            <p:ph type="sldNum" sz="quarter" idx="11"/>
          </p:nvPr>
        </p:nvSpPr>
        <p:spPr>
          <a:ln/>
        </p:spPr>
        <p:txBody>
          <a:bodyPr/>
          <a:lstStyle>
            <a:lvl1pPr>
              <a:defRPr/>
            </a:lvl1pPr>
          </a:lstStyle>
          <a:p>
            <a:pPr>
              <a:defRPr/>
            </a:pPr>
            <a:fld id="{18F0A702-BEA2-4348-8357-24E594FB1A51}" type="slidenum">
              <a:rPr lang="en-US" altLang="zh-CN"/>
              <a:pPr>
                <a:defRPr/>
              </a:pPr>
              <a:t>‹#›</a:t>
            </a:fld>
            <a:endParaRPr lang="en-US" altLang="zh-CN" dirty="0"/>
          </a:p>
        </p:txBody>
      </p:sp>
    </p:spTree>
    <p:extLst>
      <p:ext uri="{BB962C8B-B14F-4D97-AF65-F5344CB8AC3E}">
        <p14:creationId xmlns:p14="http://schemas.microsoft.com/office/powerpoint/2010/main" val="2670582535"/>
      </p:ext>
    </p:extLst>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ltLang="zh-CN" dirty="0"/>
          </a:p>
        </p:txBody>
      </p:sp>
      <p:sp>
        <p:nvSpPr>
          <p:cNvPr id="6" name="Rectangle 10"/>
          <p:cNvSpPr>
            <a:spLocks noGrp="1" noChangeArrowheads="1"/>
          </p:cNvSpPr>
          <p:nvPr>
            <p:ph type="sldNum" sz="quarter" idx="11"/>
          </p:nvPr>
        </p:nvSpPr>
        <p:spPr>
          <a:ln/>
        </p:spPr>
        <p:txBody>
          <a:bodyPr/>
          <a:lstStyle>
            <a:lvl1pPr>
              <a:defRPr/>
            </a:lvl1pPr>
          </a:lstStyle>
          <a:p>
            <a:pPr>
              <a:defRPr/>
            </a:pPr>
            <a:fld id="{24E11A0E-3169-4162-AF4A-D1DE4B8167BF}" type="slidenum">
              <a:rPr lang="en-US" altLang="zh-CN"/>
              <a:pPr>
                <a:defRPr/>
              </a:pPr>
              <a:t>‹#›</a:t>
            </a:fld>
            <a:endParaRPr lang="en-US" altLang="zh-CN" dirty="0"/>
          </a:p>
        </p:txBody>
      </p:sp>
    </p:spTree>
    <p:extLst>
      <p:ext uri="{BB962C8B-B14F-4D97-AF65-F5344CB8AC3E}">
        <p14:creationId xmlns:p14="http://schemas.microsoft.com/office/powerpoint/2010/main" val="2004798136"/>
      </p:ext>
    </p:extLst>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zh-CN" dirty="0"/>
          </a:p>
        </p:txBody>
      </p:sp>
      <p:sp>
        <p:nvSpPr>
          <p:cNvPr id="5" name="Rectangle 10"/>
          <p:cNvSpPr>
            <a:spLocks noGrp="1" noChangeArrowheads="1"/>
          </p:cNvSpPr>
          <p:nvPr>
            <p:ph type="sldNum" sz="quarter" idx="11"/>
          </p:nvPr>
        </p:nvSpPr>
        <p:spPr>
          <a:ln/>
        </p:spPr>
        <p:txBody>
          <a:bodyPr/>
          <a:lstStyle>
            <a:lvl1pPr>
              <a:defRPr/>
            </a:lvl1pPr>
          </a:lstStyle>
          <a:p>
            <a:pPr>
              <a:defRPr/>
            </a:pPr>
            <a:fld id="{D6749E25-5995-484F-9A62-6B7229AD865A}" type="slidenum">
              <a:rPr lang="en-US" altLang="zh-CN"/>
              <a:pPr>
                <a:defRPr/>
              </a:pPr>
              <a:t>‹#›</a:t>
            </a:fld>
            <a:endParaRPr lang="en-US" altLang="zh-CN" dirty="0"/>
          </a:p>
        </p:txBody>
      </p:sp>
    </p:spTree>
    <p:extLst>
      <p:ext uri="{BB962C8B-B14F-4D97-AF65-F5344CB8AC3E}">
        <p14:creationId xmlns:p14="http://schemas.microsoft.com/office/powerpoint/2010/main" val="3843899233"/>
      </p:ext>
    </p:extLst>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51638" y="765175"/>
            <a:ext cx="1997075" cy="547211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755650" y="765175"/>
            <a:ext cx="5843588" cy="5472113"/>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zh-CN" dirty="0"/>
          </a:p>
        </p:txBody>
      </p:sp>
      <p:sp>
        <p:nvSpPr>
          <p:cNvPr id="5" name="Rectangle 10"/>
          <p:cNvSpPr>
            <a:spLocks noGrp="1" noChangeArrowheads="1"/>
          </p:cNvSpPr>
          <p:nvPr>
            <p:ph type="sldNum" sz="quarter" idx="11"/>
          </p:nvPr>
        </p:nvSpPr>
        <p:spPr>
          <a:ln/>
        </p:spPr>
        <p:txBody>
          <a:bodyPr/>
          <a:lstStyle>
            <a:lvl1pPr>
              <a:defRPr/>
            </a:lvl1pPr>
          </a:lstStyle>
          <a:p>
            <a:pPr>
              <a:defRPr/>
            </a:pPr>
            <a:fld id="{A72F90D5-A31F-4C2A-BB7D-2C6A931A09EA}" type="slidenum">
              <a:rPr lang="en-US" altLang="zh-CN"/>
              <a:pPr>
                <a:defRPr/>
              </a:pPr>
              <a:t>‹#›</a:t>
            </a:fld>
            <a:endParaRPr lang="en-US" altLang="zh-CN" dirty="0"/>
          </a:p>
        </p:txBody>
      </p:sp>
    </p:spTree>
    <p:extLst>
      <p:ext uri="{BB962C8B-B14F-4D97-AF65-F5344CB8AC3E}">
        <p14:creationId xmlns:p14="http://schemas.microsoft.com/office/powerpoint/2010/main" val="3343869685"/>
      </p:ext>
    </p:extLst>
  </p:cSld>
  <p:clrMapOvr>
    <a:masterClrMapping/>
  </p:clrMapOvr>
  <p:transition spd="med">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33280C07-F647-4074-AB8C-32FC35032059}" type="datetimeFigureOut">
              <a:rPr lang="zh-CN" altLang="en-US" smtClean="0"/>
              <a:t>2020/4/18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4F2287-E228-44A9-80B4-B8759182C255}" type="slidenum">
              <a:rPr lang="zh-CN" altLang="en-US" smtClean="0"/>
              <a:t>‹#›</a:t>
            </a:fld>
            <a:endParaRPr lang="zh-CN" altLang="en-US"/>
          </a:p>
        </p:txBody>
      </p:sp>
    </p:spTree>
    <p:extLst>
      <p:ext uri="{BB962C8B-B14F-4D97-AF65-F5344CB8AC3E}">
        <p14:creationId xmlns:p14="http://schemas.microsoft.com/office/powerpoint/2010/main" val="39252460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3280C07-F647-4074-AB8C-32FC35032059}" type="datetimeFigureOut">
              <a:rPr lang="zh-CN" altLang="en-US" smtClean="0"/>
              <a:t>2020/4/18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4F2287-E228-44A9-80B4-B8759182C255}" type="slidenum">
              <a:rPr lang="zh-CN" altLang="en-US" smtClean="0"/>
              <a:t>‹#›</a:t>
            </a:fld>
            <a:endParaRPr lang="zh-CN" altLang="en-US"/>
          </a:p>
        </p:txBody>
      </p:sp>
    </p:spTree>
    <p:extLst>
      <p:ext uri="{BB962C8B-B14F-4D97-AF65-F5344CB8AC3E}">
        <p14:creationId xmlns:p14="http://schemas.microsoft.com/office/powerpoint/2010/main" val="31393384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33280C07-F647-4074-AB8C-32FC35032059}" type="datetimeFigureOut">
              <a:rPr lang="zh-CN" altLang="en-US" smtClean="0"/>
              <a:t>2020/4/18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4F2287-E228-44A9-80B4-B8759182C255}" type="slidenum">
              <a:rPr lang="zh-CN" altLang="en-US" smtClean="0"/>
              <a:t>‹#›</a:t>
            </a:fld>
            <a:endParaRPr lang="zh-CN" altLang="en-US"/>
          </a:p>
        </p:txBody>
      </p:sp>
    </p:spTree>
    <p:extLst>
      <p:ext uri="{BB962C8B-B14F-4D97-AF65-F5344CB8AC3E}">
        <p14:creationId xmlns:p14="http://schemas.microsoft.com/office/powerpoint/2010/main" val="42598766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33280C07-F647-4074-AB8C-32FC35032059}" type="datetimeFigureOut">
              <a:rPr lang="zh-CN" altLang="en-US" smtClean="0"/>
              <a:t>2020/4/18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4F2287-E228-44A9-80B4-B8759182C255}" type="slidenum">
              <a:rPr lang="zh-CN" altLang="en-US" smtClean="0"/>
              <a:t>‹#›</a:t>
            </a:fld>
            <a:endParaRPr lang="zh-CN" altLang="en-US"/>
          </a:p>
        </p:txBody>
      </p:sp>
    </p:spTree>
    <p:extLst>
      <p:ext uri="{BB962C8B-B14F-4D97-AF65-F5344CB8AC3E}">
        <p14:creationId xmlns:p14="http://schemas.microsoft.com/office/powerpoint/2010/main" val="19549678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33280C07-F647-4074-AB8C-32FC35032059}" type="datetimeFigureOut">
              <a:rPr lang="zh-CN" altLang="en-US" smtClean="0"/>
              <a:t>2020/4/18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24F2287-E228-44A9-80B4-B8759182C255}" type="slidenum">
              <a:rPr lang="zh-CN" altLang="en-US" smtClean="0"/>
              <a:t>‹#›</a:t>
            </a:fld>
            <a:endParaRPr lang="zh-CN" altLang="en-US"/>
          </a:p>
        </p:txBody>
      </p:sp>
    </p:spTree>
    <p:extLst>
      <p:ext uri="{BB962C8B-B14F-4D97-AF65-F5344CB8AC3E}">
        <p14:creationId xmlns:p14="http://schemas.microsoft.com/office/powerpoint/2010/main" val="26195881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33280C07-F647-4074-AB8C-32FC35032059}" type="datetimeFigureOut">
              <a:rPr lang="zh-CN" altLang="en-US" smtClean="0"/>
              <a:t>2020/4/18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24F2287-E228-44A9-80B4-B8759182C255}" type="slidenum">
              <a:rPr lang="zh-CN" altLang="en-US" smtClean="0"/>
              <a:t>‹#›</a:t>
            </a:fld>
            <a:endParaRPr lang="zh-CN" altLang="en-US"/>
          </a:p>
        </p:txBody>
      </p:sp>
    </p:spTree>
    <p:extLst>
      <p:ext uri="{BB962C8B-B14F-4D97-AF65-F5344CB8AC3E}">
        <p14:creationId xmlns:p14="http://schemas.microsoft.com/office/powerpoint/2010/main" val="12161881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3280C07-F647-4074-AB8C-32FC35032059}" type="datetimeFigureOut">
              <a:rPr lang="zh-CN" altLang="en-US" smtClean="0"/>
              <a:t>2020/4/18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24F2287-E228-44A9-80B4-B8759182C255}" type="slidenum">
              <a:rPr lang="zh-CN" altLang="en-US" smtClean="0"/>
              <a:t>‹#›</a:t>
            </a:fld>
            <a:endParaRPr lang="zh-CN" altLang="en-US"/>
          </a:p>
        </p:txBody>
      </p:sp>
    </p:spTree>
    <p:extLst>
      <p:ext uri="{BB962C8B-B14F-4D97-AF65-F5344CB8AC3E}">
        <p14:creationId xmlns:p14="http://schemas.microsoft.com/office/powerpoint/2010/main" val="42738506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33280C07-F647-4074-AB8C-32FC35032059}" type="datetimeFigureOut">
              <a:rPr lang="zh-CN" altLang="en-US" smtClean="0"/>
              <a:t>2020/4/18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4F2287-E228-44A9-80B4-B8759182C255}" type="slidenum">
              <a:rPr lang="zh-CN" altLang="en-US" smtClean="0"/>
              <a:t>‹#›</a:t>
            </a:fld>
            <a:endParaRPr lang="zh-CN" altLang="en-US"/>
          </a:p>
        </p:txBody>
      </p:sp>
    </p:spTree>
    <p:extLst>
      <p:ext uri="{BB962C8B-B14F-4D97-AF65-F5344CB8AC3E}">
        <p14:creationId xmlns:p14="http://schemas.microsoft.com/office/powerpoint/2010/main" val="12292962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33280C07-F647-4074-AB8C-32FC35032059}" type="datetimeFigureOut">
              <a:rPr lang="zh-CN" altLang="en-US" smtClean="0"/>
              <a:t>2020/4/18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4F2287-E228-44A9-80B4-B8759182C255}" type="slidenum">
              <a:rPr lang="zh-CN" altLang="en-US" smtClean="0"/>
              <a:t>‹#›</a:t>
            </a:fld>
            <a:endParaRPr lang="zh-CN" altLang="en-US"/>
          </a:p>
        </p:txBody>
      </p:sp>
    </p:spTree>
    <p:extLst>
      <p:ext uri="{BB962C8B-B14F-4D97-AF65-F5344CB8AC3E}">
        <p14:creationId xmlns:p14="http://schemas.microsoft.com/office/powerpoint/2010/main" val="42682741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3280C07-F647-4074-AB8C-32FC35032059}" type="datetimeFigureOut">
              <a:rPr lang="zh-CN" altLang="en-US" smtClean="0"/>
              <a:t>2020/4/18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4F2287-E228-44A9-80B4-B8759182C255}" type="slidenum">
              <a:rPr lang="zh-CN" altLang="en-US" smtClean="0"/>
              <a:t>‹#›</a:t>
            </a:fld>
            <a:endParaRPr lang="zh-CN" altLang="en-US"/>
          </a:p>
        </p:txBody>
      </p:sp>
    </p:spTree>
    <p:extLst>
      <p:ext uri="{BB962C8B-B14F-4D97-AF65-F5344CB8AC3E}">
        <p14:creationId xmlns:p14="http://schemas.microsoft.com/office/powerpoint/2010/main" val="27935624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3280C07-F647-4074-AB8C-32FC35032059}" type="datetimeFigureOut">
              <a:rPr lang="zh-CN" altLang="en-US" smtClean="0"/>
              <a:t>2020/4/18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4F2287-E228-44A9-80B4-B8759182C255}" type="slidenum">
              <a:rPr lang="zh-CN" altLang="en-US" smtClean="0"/>
              <a:t>‹#›</a:t>
            </a:fld>
            <a:endParaRPr lang="zh-CN" altLang="en-US"/>
          </a:p>
        </p:txBody>
      </p:sp>
    </p:spTree>
    <p:extLst>
      <p:ext uri="{BB962C8B-B14F-4D97-AF65-F5344CB8AC3E}">
        <p14:creationId xmlns:p14="http://schemas.microsoft.com/office/powerpoint/2010/main" val="1513707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9525" y="1588"/>
            <a:ext cx="762000" cy="6858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 name="Freeform 3"/>
          <p:cNvSpPr>
            <a:spLocks/>
          </p:cNvSpPr>
          <p:nvPr/>
        </p:nvSpPr>
        <p:spPr bwMode="auto">
          <a:xfrm>
            <a:off x="468313" y="0"/>
            <a:ext cx="2743200" cy="1052513"/>
          </a:xfrm>
          <a:custGeom>
            <a:avLst/>
            <a:gdLst>
              <a:gd name="T0" fmla="*/ 2147483647 w 1728"/>
              <a:gd name="T1" fmla="*/ 0 h 735"/>
              <a:gd name="T2" fmla="*/ 2147483647 w 1728"/>
              <a:gd name="T3" fmla="*/ 984285814 h 735"/>
              <a:gd name="T4" fmla="*/ 957659375 w 1728"/>
              <a:gd name="T5" fmla="*/ 988387034 h 735"/>
              <a:gd name="T6" fmla="*/ 892135313 w 1728"/>
              <a:gd name="T7" fmla="*/ 984285814 h 735"/>
              <a:gd name="T8" fmla="*/ 776208125 w 1728"/>
              <a:gd name="T9" fmla="*/ 1002741307 h 735"/>
              <a:gd name="T10" fmla="*/ 619958438 w 1728"/>
              <a:gd name="T11" fmla="*/ 1088866942 h 735"/>
              <a:gd name="T12" fmla="*/ 519152188 w 1728"/>
              <a:gd name="T13" fmla="*/ 1224205794 h 735"/>
              <a:gd name="T14" fmla="*/ 483870000 w 1728"/>
              <a:gd name="T15" fmla="*/ 1365697909 h 735"/>
              <a:gd name="T16" fmla="*/ 483870000 w 1728"/>
              <a:gd name="T17" fmla="*/ 1507188592 h 735"/>
              <a:gd name="T18" fmla="*/ 0 w 1728"/>
              <a:gd name="T19" fmla="*/ 1507188592 h 735"/>
              <a:gd name="T20" fmla="*/ 0 w 1728"/>
              <a:gd name="T21" fmla="*/ 984285814 h 735"/>
              <a:gd name="T22" fmla="*/ 0 w 1728"/>
              <a:gd name="T23" fmla="*/ 0 h 735"/>
              <a:gd name="T24" fmla="*/ 2147483647 w 1728"/>
              <a:gd name="T25" fmla="*/ 0 h 7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gradFill rotWithShape="1">
            <a:gsLst>
              <a:gs pos="0">
                <a:schemeClr val="accent2"/>
              </a:gs>
              <a:gs pos="100000">
                <a:srgbClr val="C7E8C4"/>
              </a:gs>
            </a:gsLst>
            <a:lin ang="0" scaled="1"/>
          </a:gra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7319" name="AutoShape 7"/>
          <p:cNvSpPr>
            <a:spLocks noGrp="1" noChangeArrowheads="1"/>
          </p:cNvSpPr>
          <p:nvPr>
            <p:ph type="title"/>
          </p:nvPr>
        </p:nvSpPr>
        <p:spPr bwMode="auto">
          <a:xfrm>
            <a:off x="755650" y="765175"/>
            <a:ext cx="7924800" cy="784225"/>
          </a:xfrm>
          <a:prstGeom prst="roundRect">
            <a:avLst>
              <a:gd name="adj" fmla="val 29759"/>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397320" name="Rectangle 8"/>
          <p:cNvSpPr>
            <a:spLocks noGrp="1" noChangeArrowheads="1"/>
          </p:cNvSpPr>
          <p:nvPr>
            <p:ph type="body" idx="1"/>
          </p:nvPr>
        </p:nvSpPr>
        <p:spPr bwMode="auto">
          <a:xfrm>
            <a:off x="755650" y="1700213"/>
            <a:ext cx="7993063" cy="453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97321" name="Rectangle 9"/>
          <p:cNvSpPr>
            <a:spLocks noGrp="1" noChangeArrowheads="1"/>
          </p:cNvSpPr>
          <p:nvPr>
            <p:ph type="ftr" sz="quarter" idx="3"/>
          </p:nvPr>
        </p:nvSpPr>
        <p:spPr bwMode="auto">
          <a:xfrm>
            <a:off x="4500563" y="6524625"/>
            <a:ext cx="4576762"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400">
                <a:solidFill>
                  <a:srgbClr val="FF0000"/>
                </a:solidFill>
                <a:ea typeface="+mn-ea"/>
              </a:defRPr>
            </a:lvl1pPr>
          </a:lstStyle>
          <a:p>
            <a:pPr>
              <a:defRPr/>
            </a:pPr>
            <a:endParaRPr lang="en-US" altLang="zh-CN" dirty="0"/>
          </a:p>
        </p:txBody>
      </p:sp>
      <p:sp>
        <p:nvSpPr>
          <p:cNvPr id="397322" name="Rectangle 10"/>
          <p:cNvSpPr>
            <a:spLocks noGrp="1" noChangeArrowheads="1"/>
          </p:cNvSpPr>
          <p:nvPr>
            <p:ph type="sldNum" sz="quarter" idx="4"/>
          </p:nvPr>
        </p:nvSpPr>
        <p:spPr bwMode="auto">
          <a:xfrm>
            <a:off x="84138" y="6308725"/>
            <a:ext cx="587375"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1" compatLnSpc="1">
            <a:prstTxWarp prst="textNoShape">
              <a:avLst/>
            </a:prstTxWarp>
          </a:bodyPr>
          <a:lstStyle>
            <a:lvl1pPr eaLnBrk="1" hangingPunct="1">
              <a:defRPr sz="2600" b="1">
                <a:solidFill>
                  <a:schemeClr val="bg1"/>
                </a:solidFill>
              </a:defRPr>
            </a:lvl1pPr>
          </a:lstStyle>
          <a:p>
            <a:pPr>
              <a:defRPr/>
            </a:pPr>
            <a:fld id="{6517A816-AE02-46E7-BAEE-4C81B905E149}" type="slidenum">
              <a:rPr lang="en-US" altLang="zh-CN"/>
              <a:pPr>
                <a:defRPr/>
              </a:pPr>
              <a:t>‹#›</a:t>
            </a:fld>
            <a:endParaRPr lang="en-US" altLang="zh-CN" dirty="0"/>
          </a:p>
        </p:txBody>
      </p:sp>
      <p:sp>
        <p:nvSpPr>
          <p:cNvPr id="1033" name="Text Box 11"/>
          <p:cNvSpPr txBox="1">
            <a:spLocks noChangeArrowheads="1"/>
          </p:cNvSpPr>
          <p:nvPr/>
        </p:nvSpPr>
        <p:spPr bwMode="auto">
          <a:xfrm>
            <a:off x="107950" y="4078288"/>
            <a:ext cx="549275" cy="2087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0"/>
              </a:spcBef>
              <a:spcAft>
                <a:spcPct val="0"/>
              </a:spcAft>
              <a:defRPr sz="1200">
                <a:solidFill>
                  <a:schemeClr val="tx1"/>
                </a:solidFill>
                <a:latin typeface="Arial" charset="0"/>
                <a:ea typeface="宋体" pitchFamily="2" charset="-122"/>
              </a:defRPr>
            </a:lvl6pPr>
            <a:lvl7pPr marL="2971800" indent="-228600" eaLnBrk="0" fontAlgn="base" hangingPunct="0">
              <a:spcBef>
                <a:spcPct val="0"/>
              </a:spcBef>
              <a:spcAft>
                <a:spcPct val="0"/>
              </a:spcAft>
              <a:defRPr sz="1200">
                <a:solidFill>
                  <a:schemeClr val="tx1"/>
                </a:solidFill>
                <a:latin typeface="Arial" charset="0"/>
                <a:ea typeface="宋体" pitchFamily="2" charset="-122"/>
              </a:defRPr>
            </a:lvl7pPr>
            <a:lvl8pPr marL="3429000" indent="-228600" eaLnBrk="0" fontAlgn="base" hangingPunct="0">
              <a:spcBef>
                <a:spcPct val="0"/>
              </a:spcBef>
              <a:spcAft>
                <a:spcPct val="0"/>
              </a:spcAft>
              <a:defRPr sz="1200">
                <a:solidFill>
                  <a:schemeClr val="tx1"/>
                </a:solidFill>
                <a:latin typeface="Arial" charset="0"/>
                <a:ea typeface="宋体" pitchFamily="2" charset="-122"/>
              </a:defRPr>
            </a:lvl8pPr>
            <a:lvl9pPr marL="3886200" indent="-228600" eaLnBrk="0" fontAlgn="base" hangingPunct="0">
              <a:spcBef>
                <a:spcPct val="0"/>
              </a:spcBef>
              <a:spcAft>
                <a:spcPct val="0"/>
              </a:spcAft>
              <a:defRPr sz="1200">
                <a:solidFill>
                  <a:schemeClr val="tx1"/>
                </a:solidFill>
                <a:latin typeface="Arial" charset="0"/>
                <a:ea typeface="宋体" pitchFamily="2" charset="-122"/>
              </a:defRPr>
            </a:lvl9pPr>
          </a:lstStyle>
          <a:p>
            <a:pPr eaLnBrk="1" hangingPunct="1">
              <a:spcBef>
                <a:spcPct val="50000"/>
              </a:spcBef>
              <a:defRPr/>
            </a:pPr>
            <a:r>
              <a:rPr lang="zh-CN" altLang="en-US" sz="2400" smtClean="0">
                <a:solidFill>
                  <a:srgbClr val="FFFFCC"/>
                </a:solidFill>
                <a:ea typeface="方正姚体" pitchFamily="2" charset="-122"/>
              </a:rPr>
              <a:t>计算中心编制</a:t>
            </a:r>
          </a:p>
        </p:txBody>
      </p:sp>
      <p:sp>
        <p:nvSpPr>
          <p:cNvPr id="1034" name="Rectangle 12"/>
          <p:cNvSpPr>
            <a:spLocks noChangeArrowheads="1"/>
          </p:cNvSpPr>
          <p:nvPr/>
        </p:nvSpPr>
        <p:spPr bwMode="auto">
          <a:xfrm>
            <a:off x="3197225" y="4763"/>
            <a:ext cx="3097213" cy="692150"/>
          </a:xfrm>
          <a:prstGeom prst="rect">
            <a:avLst/>
          </a:prstGeom>
          <a:gradFill rotWithShape="1">
            <a:gsLst>
              <a:gs pos="0">
                <a:srgbClr val="C7E8C4"/>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25" name="Text Box 13"/>
          <p:cNvSpPr txBox="1">
            <a:spLocks noChangeArrowheads="1"/>
          </p:cNvSpPr>
          <p:nvPr/>
        </p:nvSpPr>
        <p:spPr bwMode="auto">
          <a:xfrm>
            <a:off x="1116013" y="112713"/>
            <a:ext cx="56165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zh-CN" altLang="en-US" sz="3200" b="1">
                <a:solidFill>
                  <a:srgbClr val="FFFF99"/>
                </a:solidFill>
                <a:effectLst>
                  <a:outerShdw blurRad="38100" dist="38100" dir="2700000" algn="tl">
                    <a:srgbClr val="C0C0C0"/>
                  </a:outerShdw>
                </a:effectLst>
                <a:ea typeface="华文楷体" pitchFamily="2" charset="-122"/>
              </a:rPr>
              <a:t>上海大学</a:t>
            </a:r>
            <a:r>
              <a:rPr lang="zh-CN" altLang="en-US" sz="3200" b="1">
                <a:solidFill>
                  <a:srgbClr val="FFFFCC"/>
                </a:solidFill>
                <a:ea typeface="华文楷体" pitchFamily="2" charset="-122"/>
              </a:rPr>
              <a:t>    </a:t>
            </a:r>
            <a:r>
              <a:rPr lang="en-US" altLang="zh-CN" sz="2200" b="1" dirty="0">
                <a:solidFill>
                  <a:srgbClr val="339933"/>
                </a:solidFill>
                <a:latin typeface="Gautami" pitchFamily="2"/>
                <a:ea typeface="Dotum" pitchFamily="34" charset="-127"/>
              </a:rPr>
              <a:t>Shanghai University</a:t>
            </a:r>
          </a:p>
        </p:txBody>
      </p:sp>
      <p:pic>
        <p:nvPicPr>
          <p:cNvPr id="1036" name="Picture 14" descr="bg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8113" y="69850"/>
            <a:ext cx="60007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8"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ransition spd="med">
    <p:random/>
  </p:transition>
  <p:hf hdr="0" ftr="0" dt="0"/>
  <p:txStyles>
    <p:titleStyle>
      <a:lvl1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mj-lt"/>
          <a:ea typeface="+mj-ea"/>
          <a:cs typeface="+mj-cs"/>
        </a:defRPr>
      </a:lvl1pPr>
      <a:lvl2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2pPr>
      <a:lvl3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3pPr>
      <a:lvl4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4pPr>
      <a:lvl5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5pPr>
      <a:lvl6pPr marL="4572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6pPr>
      <a:lvl7pPr marL="9144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7pPr>
      <a:lvl8pPr marL="13716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8pPr>
      <a:lvl9pPr marL="18288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9pPr>
    </p:titleStyle>
    <p:body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chemeClr val="tx1"/>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chemeClr val="tx1"/>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280C07-F647-4074-AB8C-32FC35032059}" type="datetimeFigureOut">
              <a:rPr lang="zh-CN" altLang="en-US" smtClean="0"/>
              <a:t>2020/4/18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4F2287-E228-44A9-80B4-B8759182C255}" type="slidenum">
              <a:rPr lang="zh-CN" altLang="en-US" smtClean="0"/>
              <a:t>‹#›</a:t>
            </a:fld>
            <a:endParaRPr lang="zh-CN" altLang="en-US"/>
          </a:p>
        </p:txBody>
      </p:sp>
    </p:spTree>
    <p:extLst>
      <p:ext uri="{BB962C8B-B14F-4D97-AF65-F5344CB8AC3E}">
        <p14:creationId xmlns:p14="http://schemas.microsoft.com/office/powerpoint/2010/main" val="1171020148"/>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AutoShape 2"/>
          <p:cNvSpPr>
            <a:spLocks noGrp="1" noChangeArrowheads="1"/>
          </p:cNvSpPr>
          <p:nvPr>
            <p:ph type="ctrTitle"/>
          </p:nvPr>
        </p:nvSpPr>
        <p:spPr>
          <a:xfrm>
            <a:off x="611188" y="2209800"/>
            <a:ext cx="7772400" cy="2133600"/>
          </a:xfrm>
        </p:spPr>
        <p:txBody>
          <a:bodyPr/>
          <a:lstStyle/>
          <a:p>
            <a:pPr marL="685800" indent="-685800" eaLnBrk="1" hangingPunct="1">
              <a:defRPr/>
            </a:pPr>
            <a:r>
              <a:rPr lang="zh-CN" altLang="en-US" sz="4000" dirty="0" smtClean="0">
                <a:solidFill>
                  <a:srgbClr val="010000"/>
                </a:solidFill>
                <a:latin typeface="黑体" pitchFamily="2" charset="-122"/>
              </a:rPr>
              <a:t>第四章 数组</a:t>
            </a:r>
            <a:endParaRPr lang="zh-CN" altLang="en-US" sz="4000" i="1" dirty="0" smtClean="0"/>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369666"/>
                                        </p:tgtEl>
                                        <p:attrNameLst>
                                          <p:attrName>style.visibility</p:attrName>
                                        </p:attrNameLst>
                                      </p:cBhvr>
                                      <p:to>
                                        <p:strVal val="visible"/>
                                      </p:to>
                                    </p:set>
                                    <p:animEffect transition="in" filter="blinds(vertical)">
                                      <p:cBhvr>
                                        <p:cTn id="7" dur="1000"/>
                                        <p:tgtEl>
                                          <p:spTgt spid="369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4"/>
          <p:cNvSpPr>
            <a:spLocks noGrp="1"/>
          </p:cNvSpPr>
          <p:nvPr>
            <p:ph type="sldNum" sz="quarter" idx="11"/>
          </p:nvPr>
        </p:nvSpPr>
        <p:spPr>
          <a:noFill/>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0"/>
              </a:spcBef>
              <a:spcAft>
                <a:spcPct val="0"/>
              </a:spcAft>
              <a:defRPr sz="1200">
                <a:solidFill>
                  <a:schemeClr val="tx1"/>
                </a:solidFill>
                <a:latin typeface="Arial" charset="0"/>
                <a:ea typeface="宋体" pitchFamily="2" charset="-122"/>
              </a:defRPr>
            </a:lvl6pPr>
            <a:lvl7pPr marL="2971800" indent="-228600" eaLnBrk="0" fontAlgn="base" hangingPunct="0">
              <a:spcBef>
                <a:spcPct val="0"/>
              </a:spcBef>
              <a:spcAft>
                <a:spcPct val="0"/>
              </a:spcAft>
              <a:defRPr sz="1200">
                <a:solidFill>
                  <a:schemeClr val="tx1"/>
                </a:solidFill>
                <a:latin typeface="Arial" charset="0"/>
                <a:ea typeface="宋体" pitchFamily="2" charset="-122"/>
              </a:defRPr>
            </a:lvl7pPr>
            <a:lvl8pPr marL="3429000" indent="-228600" eaLnBrk="0" fontAlgn="base" hangingPunct="0">
              <a:spcBef>
                <a:spcPct val="0"/>
              </a:spcBef>
              <a:spcAft>
                <a:spcPct val="0"/>
              </a:spcAft>
              <a:defRPr sz="1200">
                <a:solidFill>
                  <a:schemeClr val="tx1"/>
                </a:solidFill>
                <a:latin typeface="Arial" charset="0"/>
                <a:ea typeface="宋体" pitchFamily="2" charset="-122"/>
              </a:defRPr>
            </a:lvl8pPr>
            <a:lvl9pPr marL="3886200" indent="-228600" eaLnBrk="0" fontAlgn="base" hangingPunct="0">
              <a:spcBef>
                <a:spcPct val="0"/>
              </a:spcBef>
              <a:spcAft>
                <a:spcPct val="0"/>
              </a:spcAft>
              <a:defRPr sz="1200">
                <a:solidFill>
                  <a:schemeClr val="tx1"/>
                </a:solidFill>
                <a:latin typeface="Arial" charset="0"/>
                <a:ea typeface="宋体" pitchFamily="2" charset="-122"/>
              </a:defRPr>
            </a:lvl9pPr>
          </a:lstStyle>
          <a:p>
            <a:fld id="{28F4AE1B-9DAC-4F0E-BA48-11944D710201}" type="slidenum">
              <a:rPr lang="en-US" altLang="zh-CN" sz="2600" smtClean="0">
                <a:solidFill>
                  <a:schemeClr val="bg1"/>
                </a:solidFill>
              </a:rPr>
              <a:pPr/>
              <a:t>1</a:t>
            </a:fld>
            <a:endParaRPr lang="en-US" altLang="zh-CN" sz="2600" dirty="0" smtClean="0">
              <a:solidFill>
                <a:schemeClr val="bg1"/>
              </a:solidFill>
            </a:endParaRPr>
          </a:p>
        </p:txBody>
      </p:sp>
      <p:sp>
        <p:nvSpPr>
          <p:cNvPr id="869378" name="AutoShape 2"/>
          <p:cNvSpPr>
            <a:spLocks noGrp="1" noChangeArrowheads="1"/>
          </p:cNvSpPr>
          <p:nvPr>
            <p:ph type="title"/>
          </p:nvPr>
        </p:nvSpPr>
        <p:spPr/>
        <p:txBody>
          <a:bodyPr/>
          <a:lstStyle/>
          <a:p>
            <a:pPr eaLnBrk="1" hangingPunct="1">
              <a:defRPr/>
            </a:pPr>
            <a:r>
              <a:rPr lang="zh-CN" altLang="en-US" dirty="0" smtClean="0"/>
              <a:t>数组</a:t>
            </a:r>
          </a:p>
        </p:txBody>
      </p:sp>
      <p:sp>
        <p:nvSpPr>
          <p:cNvPr id="6" name="矩形 5"/>
          <p:cNvSpPr/>
          <p:nvPr/>
        </p:nvSpPr>
        <p:spPr>
          <a:xfrm>
            <a:off x="671513" y="1772816"/>
            <a:ext cx="8136904" cy="2332946"/>
          </a:xfrm>
          <a:prstGeom prst="rect">
            <a:avLst/>
          </a:prstGeom>
        </p:spPr>
        <p:txBody>
          <a:bodyPr wrap="square">
            <a:spAutoFit/>
          </a:bodyPr>
          <a:lstStyle/>
          <a:p>
            <a:pPr marL="92075" indent="-92075" eaLnBrk="1" hangingPunct="1">
              <a:lnSpc>
                <a:spcPct val="120000"/>
              </a:lnSpc>
              <a:spcBef>
                <a:spcPct val="20000"/>
              </a:spcBef>
              <a:buClr>
                <a:srgbClr val="A50021"/>
              </a:buClr>
              <a:buSzPct val="75000"/>
              <a:buFont typeface="Webdings" pitchFamily="18" charset="2"/>
              <a:buChar char="·"/>
              <a:defRPr/>
            </a:pPr>
            <a:r>
              <a:rPr lang="zh-CN" altLang="en-US" sz="2800" b="1" dirty="0" smtClean="0">
                <a:effectLst>
                  <a:outerShdw blurRad="38100" dist="38100" dir="2700000" algn="tl">
                    <a:srgbClr val="000000">
                      <a:alpha val="43137"/>
                    </a:srgbClr>
                  </a:outerShdw>
                </a:effectLst>
                <a:latin typeface="+mn-lt"/>
                <a:ea typeface="+mn-ea"/>
              </a:rPr>
              <a:t>数组</a:t>
            </a:r>
            <a:r>
              <a:rPr lang="zh-CN" altLang="en-US" sz="2800" b="1" dirty="0">
                <a:effectLst>
                  <a:outerShdw blurRad="38100" dist="38100" dir="2700000" algn="tl">
                    <a:srgbClr val="000000">
                      <a:alpha val="43137"/>
                    </a:srgbClr>
                  </a:outerShdw>
                </a:effectLst>
                <a:latin typeface="+mn-lt"/>
                <a:ea typeface="+mn-ea"/>
              </a:rPr>
              <a:t>是复杂数据类型的代表之一，也称构造类型，用于存放一组相同类型数据的有序变量集合</a:t>
            </a:r>
            <a:r>
              <a:rPr lang="zh-CN" altLang="en-US" sz="2800" b="1" dirty="0" smtClean="0">
                <a:effectLst>
                  <a:outerShdw blurRad="38100" dist="38100" dir="2700000" algn="tl">
                    <a:srgbClr val="000000">
                      <a:alpha val="43137"/>
                    </a:srgbClr>
                  </a:outerShdw>
                </a:effectLst>
                <a:latin typeface="+mn-lt"/>
                <a:ea typeface="+mn-ea"/>
              </a:rPr>
              <a:t>。</a:t>
            </a:r>
            <a:endParaRPr lang="en-US" altLang="zh-CN" sz="2800" b="1" dirty="0" smtClean="0">
              <a:effectLst>
                <a:outerShdw blurRad="38100" dist="38100" dir="2700000" algn="tl">
                  <a:srgbClr val="000000">
                    <a:alpha val="43137"/>
                  </a:srgbClr>
                </a:outerShdw>
              </a:effectLst>
              <a:latin typeface="+mn-lt"/>
              <a:ea typeface="+mn-ea"/>
            </a:endParaRPr>
          </a:p>
          <a:p>
            <a:pPr marL="92075" indent="-92075" eaLnBrk="1" hangingPunct="1">
              <a:lnSpc>
                <a:spcPct val="120000"/>
              </a:lnSpc>
              <a:spcBef>
                <a:spcPct val="20000"/>
              </a:spcBef>
              <a:buClr>
                <a:srgbClr val="A50021"/>
              </a:buClr>
              <a:buSzPct val="75000"/>
              <a:buFont typeface="Webdings" pitchFamily="18" charset="2"/>
              <a:buChar char="·"/>
              <a:defRPr/>
            </a:pPr>
            <a:r>
              <a:rPr lang="en-US" altLang="zh-CN" sz="2800" b="1" dirty="0" smtClean="0">
                <a:effectLst>
                  <a:outerShdw blurRad="38100" dist="38100" dir="2700000" algn="tl">
                    <a:srgbClr val="000000">
                      <a:alpha val="43137"/>
                    </a:srgbClr>
                  </a:outerShdw>
                </a:effectLst>
                <a:latin typeface="+mn-lt"/>
                <a:ea typeface="+mn-ea"/>
              </a:rPr>
              <a:t>C</a:t>
            </a:r>
            <a:r>
              <a:rPr lang="zh-CN" altLang="en-US" sz="2800" b="1" dirty="0">
                <a:effectLst>
                  <a:outerShdw blurRad="38100" dist="38100" dir="2700000" algn="tl">
                    <a:srgbClr val="000000">
                      <a:alpha val="43137"/>
                    </a:srgbClr>
                  </a:outerShdw>
                </a:effectLst>
                <a:latin typeface="+mn-lt"/>
                <a:ea typeface="+mn-ea"/>
              </a:rPr>
              <a:t>语言支持一维数组和多维数组</a:t>
            </a:r>
            <a:r>
              <a:rPr lang="zh-CN" altLang="en-US" sz="2800" b="1" dirty="0" smtClean="0">
                <a:effectLst>
                  <a:outerShdw blurRad="38100" dist="38100" dir="2700000" algn="tl">
                    <a:srgbClr val="000000">
                      <a:alpha val="43137"/>
                    </a:srgbClr>
                  </a:outerShdw>
                </a:effectLst>
                <a:latin typeface="+mn-lt"/>
                <a:ea typeface="+mn-ea"/>
              </a:rPr>
              <a:t>。</a:t>
            </a:r>
            <a:endParaRPr lang="en-US" altLang="zh-CN" sz="2800" b="1" dirty="0" smtClean="0">
              <a:effectLst>
                <a:outerShdw blurRad="38100" dist="38100" dir="2700000" algn="tl">
                  <a:srgbClr val="000000">
                    <a:alpha val="43137"/>
                  </a:srgbClr>
                </a:outerShdw>
              </a:effectLst>
              <a:latin typeface="+mn-lt"/>
              <a:ea typeface="+mn-ea"/>
            </a:endParaRPr>
          </a:p>
          <a:p>
            <a:pPr marL="92075" indent="-92075" eaLnBrk="1" hangingPunct="1">
              <a:lnSpc>
                <a:spcPct val="120000"/>
              </a:lnSpc>
              <a:spcBef>
                <a:spcPct val="20000"/>
              </a:spcBef>
              <a:buClr>
                <a:srgbClr val="A50021"/>
              </a:buClr>
              <a:buSzPct val="75000"/>
              <a:buFont typeface="Webdings" pitchFamily="18" charset="2"/>
              <a:buChar char="·"/>
              <a:defRPr/>
            </a:pPr>
            <a:r>
              <a:rPr lang="zh-CN" altLang="en-US" sz="2800" b="1" dirty="0" smtClean="0">
                <a:effectLst>
                  <a:outerShdw blurRad="38100" dist="38100" dir="2700000" algn="tl">
                    <a:srgbClr val="000000">
                      <a:alpha val="43137"/>
                    </a:srgbClr>
                  </a:outerShdw>
                </a:effectLst>
                <a:latin typeface="+mn-lt"/>
                <a:ea typeface="+mn-ea"/>
              </a:rPr>
              <a:t>数组的定义、存储、操作等</a:t>
            </a:r>
            <a:endParaRPr lang="zh-CN" altLang="en-US" sz="2800" b="1" dirty="0">
              <a:effectLst>
                <a:outerShdw blurRad="38100" dist="38100" dir="2700000" algn="tl">
                  <a:srgbClr val="000000">
                    <a:alpha val="43137"/>
                  </a:srgbClr>
                </a:outerShdw>
              </a:effectLst>
              <a:latin typeface="+mn-lt"/>
              <a:ea typeface="+mn-ea"/>
            </a:endParaRPr>
          </a:p>
        </p:txBody>
      </p:sp>
    </p:spTree>
  </p:cSld>
  <p:clrMapOvr>
    <a:masterClrMapping/>
  </p:clrMapOvr>
  <p:transition spd="med">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4"/>
          <p:cNvSpPr>
            <a:spLocks noGrp="1"/>
          </p:cNvSpPr>
          <p:nvPr>
            <p:ph type="sldNum" sz="quarter" idx="11"/>
          </p:nvPr>
        </p:nvSpPr>
        <p:spPr>
          <a:noFill/>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0"/>
              </a:spcBef>
              <a:spcAft>
                <a:spcPct val="0"/>
              </a:spcAft>
              <a:defRPr sz="1200">
                <a:solidFill>
                  <a:schemeClr val="tx1"/>
                </a:solidFill>
                <a:latin typeface="Arial" charset="0"/>
                <a:ea typeface="宋体" pitchFamily="2" charset="-122"/>
              </a:defRPr>
            </a:lvl6pPr>
            <a:lvl7pPr marL="2971800" indent="-228600" eaLnBrk="0" fontAlgn="base" hangingPunct="0">
              <a:spcBef>
                <a:spcPct val="0"/>
              </a:spcBef>
              <a:spcAft>
                <a:spcPct val="0"/>
              </a:spcAft>
              <a:defRPr sz="1200">
                <a:solidFill>
                  <a:schemeClr val="tx1"/>
                </a:solidFill>
                <a:latin typeface="Arial" charset="0"/>
                <a:ea typeface="宋体" pitchFamily="2" charset="-122"/>
              </a:defRPr>
            </a:lvl7pPr>
            <a:lvl8pPr marL="3429000" indent="-228600" eaLnBrk="0" fontAlgn="base" hangingPunct="0">
              <a:spcBef>
                <a:spcPct val="0"/>
              </a:spcBef>
              <a:spcAft>
                <a:spcPct val="0"/>
              </a:spcAft>
              <a:defRPr sz="1200">
                <a:solidFill>
                  <a:schemeClr val="tx1"/>
                </a:solidFill>
                <a:latin typeface="Arial" charset="0"/>
                <a:ea typeface="宋体" pitchFamily="2" charset="-122"/>
              </a:defRPr>
            </a:lvl8pPr>
            <a:lvl9pPr marL="3886200" indent="-228600" eaLnBrk="0" fontAlgn="base" hangingPunct="0">
              <a:spcBef>
                <a:spcPct val="0"/>
              </a:spcBef>
              <a:spcAft>
                <a:spcPct val="0"/>
              </a:spcAft>
              <a:defRPr sz="1200">
                <a:solidFill>
                  <a:schemeClr val="tx1"/>
                </a:solidFill>
                <a:latin typeface="Arial" charset="0"/>
                <a:ea typeface="宋体" pitchFamily="2" charset="-122"/>
              </a:defRPr>
            </a:lvl9pPr>
          </a:lstStyle>
          <a:p>
            <a:fld id="{28F4AE1B-9DAC-4F0E-BA48-11944D710201}" type="slidenum">
              <a:rPr lang="en-US" altLang="zh-CN" sz="2600" smtClean="0">
                <a:solidFill>
                  <a:schemeClr val="bg1"/>
                </a:solidFill>
              </a:rPr>
              <a:pPr/>
              <a:t>2</a:t>
            </a:fld>
            <a:endParaRPr lang="en-US" altLang="zh-CN" sz="2600" dirty="0" smtClean="0">
              <a:solidFill>
                <a:schemeClr val="bg1"/>
              </a:solidFill>
            </a:endParaRPr>
          </a:p>
        </p:txBody>
      </p:sp>
      <p:sp>
        <p:nvSpPr>
          <p:cNvPr id="869378" name="AutoShape 2"/>
          <p:cNvSpPr>
            <a:spLocks noGrp="1" noChangeArrowheads="1"/>
          </p:cNvSpPr>
          <p:nvPr>
            <p:ph type="title"/>
          </p:nvPr>
        </p:nvSpPr>
        <p:spPr/>
        <p:txBody>
          <a:bodyPr/>
          <a:lstStyle/>
          <a:p>
            <a:pPr eaLnBrk="1" hangingPunct="1">
              <a:defRPr/>
            </a:pPr>
            <a:r>
              <a:rPr lang="zh-CN" altLang="en-US" dirty="0" smtClean="0"/>
              <a:t>主要内容</a:t>
            </a:r>
          </a:p>
        </p:txBody>
      </p:sp>
      <p:sp>
        <p:nvSpPr>
          <p:cNvPr id="869379" name="Rectangle 3"/>
          <p:cNvSpPr>
            <a:spLocks noGrp="1" noChangeArrowheads="1"/>
          </p:cNvSpPr>
          <p:nvPr>
            <p:ph type="body" idx="1"/>
          </p:nvPr>
        </p:nvSpPr>
        <p:spPr>
          <a:xfrm>
            <a:off x="755651" y="1700213"/>
            <a:ext cx="5544542" cy="2592883"/>
          </a:xfrm>
        </p:spPr>
        <p:txBody>
          <a:bodyPr/>
          <a:lstStyle/>
          <a:p>
            <a:pPr eaLnBrk="1" hangingPunct="1">
              <a:defRPr/>
            </a:pPr>
            <a:r>
              <a:rPr lang="en-US" altLang="zh-CN" sz="3600" dirty="0" smtClean="0"/>
              <a:t>4.1</a:t>
            </a:r>
            <a:r>
              <a:rPr lang="zh-CN" altLang="en-US" sz="3600" dirty="0" smtClean="0"/>
              <a:t>一维数组</a:t>
            </a:r>
            <a:endParaRPr lang="en-US" altLang="zh-CN" sz="3600" dirty="0" smtClean="0"/>
          </a:p>
          <a:p>
            <a:pPr eaLnBrk="1" hangingPunct="1">
              <a:defRPr/>
            </a:pPr>
            <a:r>
              <a:rPr lang="en-US" altLang="zh-CN" sz="3600" dirty="0" smtClean="0"/>
              <a:t>4.2</a:t>
            </a:r>
            <a:r>
              <a:rPr lang="zh-CN" altLang="en-US" sz="3600" dirty="0" smtClean="0"/>
              <a:t>二维数组</a:t>
            </a:r>
            <a:endParaRPr lang="en-US" altLang="zh-CN" sz="3600" dirty="0" smtClean="0"/>
          </a:p>
          <a:p>
            <a:pPr eaLnBrk="1" hangingPunct="1">
              <a:defRPr/>
            </a:pPr>
            <a:r>
              <a:rPr lang="en-US" altLang="zh-CN" sz="3600" dirty="0" smtClean="0"/>
              <a:t>4.3</a:t>
            </a:r>
            <a:r>
              <a:rPr lang="zh-CN" altLang="en-US" sz="3600" dirty="0" smtClean="0"/>
              <a:t>字符数组</a:t>
            </a:r>
            <a:endParaRPr lang="en-US" altLang="zh-CN" sz="3600" dirty="0" smtClean="0"/>
          </a:p>
        </p:txBody>
      </p:sp>
    </p:spTree>
    <p:extLst>
      <p:ext uri="{BB962C8B-B14F-4D97-AF65-F5344CB8AC3E}">
        <p14:creationId xmlns:p14="http://schemas.microsoft.com/office/powerpoint/2010/main" val="3434572011"/>
      </p:ext>
    </p:extLst>
  </p:cSld>
  <p:clrMapOvr>
    <a:masterClrMapping/>
  </p:clrMapOvr>
  <p:transition spd="med">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4"/>
          <p:cNvSpPr>
            <a:spLocks noGrp="1"/>
          </p:cNvSpPr>
          <p:nvPr>
            <p:ph type="sldNum" sz="quarter" idx="11"/>
          </p:nvPr>
        </p:nvSpPr>
        <p:spPr>
          <a:noFill/>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0"/>
              </a:spcBef>
              <a:spcAft>
                <a:spcPct val="0"/>
              </a:spcAft>
              <a:defRPr sz="1200">
                <a:solidFill>
                  <a:schemeClr val="tx1"/>
                </a:solidFill>
                <a:latin typeface="Arial" charset="0"/>
                <a:ea typeface="宋体" pitchFamily="2" charset="-122"/>
              </a:defRPr>
            </a:lvl6pPr>
            <a:lvl7pPr marL="2971800" indent="-228600" eaLnBrk="0" fontAlgn="base" hangingPunct="0">
              <a:spcBef>
                <a:spcPct val="0"/>
              </a:spcBef>
              <a:spcAft>
                <a:spcPct val="0"/>
              </a:spcAft>
              <a:defRPr sz="1200">
                <a:solidFill>
                  <a:schemeClr val="tx1"/>
                </a:solidFill>
                <a:latin typeface="Arial" charset="0"/>
                <a:ea typeface="宋体" pitchFamily="2" charset="-122"/>
              </a:defRPr>
            </a:lvl7pPr>
            <a:lvl8pPr marL="3429000" indent="-228600" eaLnBrk="0" fontAlgn="base" hangingPunct="0">
              <a:spcBef>
                <a:spcPct val="0"/>
              </a:spcBef>
              <a:spcAft>
                <a:spcPct val="0"/>
              </a:spcAft>
              <a:defRPr sz="1200">
                <a:solidFill>
                  <a:schemeClr val="tx1"/>
                </a:solidFill>
                <a:latin typeface="Arial" charset="0"/>
                <a:ea typeface="宋体" pitchFamily="2" charset="-122"/>
              </a:defRPr>
            </a:lvl8pPr>
            <a:lvl9pPr marL="3886200" indent="-228600" eaLnBrk="0" fontAlgn="base" hangingPunct="0">
              <a:spcBef>
                <a:spcPct val="0"/>
              </a:spcBef>
              <a:spcAft>
                <a:spcPct val="0"/>
              </a:spcAft>
              <a:defRPr sz="1200">
                <a:solidFill>
                  <a:schemeClr val="tx1"/>
                </a:solidFill>
                <a:latin typeface="Arial" charset="0"/>
                <a:ea typeface="宋体" pitchFamily="2" charset="-122"/>
              </a:defRPr>
            </a:lvl9pPr>
          </a:lstStyle>
          <a:p>
            <a:fld id="{A09AD7B7-31F4-404E-A6EC-AD1B17505555}" type="slidenum">
              <a:rPr lang="en-US" altLang="zh-CN" sz="2600" smtClean="0">
                <a:solidFill>
                  <a:schemeClr val="bg1"/>
                </a:solidFill>
              </a:rPr>
              <a:pPr/>
              <a:t>3</a:t>
            </a:fld>
            <a:endParaRPr lang="en-US" altLang="zh-CN" sz="2600" dirty="0" smtClean="0">
              <a:solidFill>
                <a:schemeClr val="bg1"/>
              </a:solidFill>
            </a:endParaRPr>
          </a:p>
        </p:txBody>
      </p:sp>
      <p:sp>
        <p:nvSpPr>
          <p:cNvPr id="870402" name="AutoShape 2"/>
          <p:cNvSpPr>
            <a:spLocks noGrp="1" noChangeArrowheads="1"/>
          </p:cNvSpPr>
          <p:nvPr>
            <p:ph type="title"/>
          </p:nvPr>
        </p:nvSpPr>
        <p:spPr/>
        <p:txBody>
          <a:bodyPr/>
          <a:lstStyle/>
          <a:p>
            <a:pPr eaLnBrk="1" hangingPunct="1">
              <a:defRPr/>
            </a:pPr>
            <a:r>
              <a:rPr lang="en-US" altLang="zh-CN" dirty="0" smtClean="0"/>
              <a:t>4.1</a:t>
            </a:r>
            <a:r>
              <a:rPr lang="zh-CN" altLang="en-US" dirty="0" smtClean="0"/>
              <a:t>一维数组</a:t>
            </a:r>
          </a:p>
        </p:txBody>
      </p:sp>
      <p:sp>
        <p:nvSpPr>
          <p:cNvPr id="870403" name="Rectangle 3"/>
          <p:cNvSpPr>
            <a:spLocks noGrp="1" noChangeArrowheads="1"/>
          </p:cNvSpPr>
          <p:nvPr>
            <p:ph type="body" idx="1"/>
          </p:nvPr>
        </p:nvSpPr>
        <p:spPr/>
        <p:txBody>
          <a:bodyPr/>
          <a:lstStyle/>
          <a:p>
            <a:pPr eaLnBrk="1" hangingPunct="1">
              <a:defRPr/>
            </a:pPr>
            <a:r>
              <a:rPr lang="zh-CN" altLang="en-US" dirty="0">
                <a:effectLst>
                  <a:outerShdw blurRad="38100" dist="38100" dir="2700000" algn="tl">
                    <a:srgbClr val="000000">
                      <a:alpha val="43137"/>
                    </a:srgbClr>
                  </a:outerShdw>
                </a:effectLst>
              </a:rPr>
              <a:t>数组是一组有序数据的集合</a:t>
            </a:r>
            <a:r>
              <a:rPr lang="zh-CN" altLang="en-US" dirty="0" smtClean="0">
                <a:effectLst>
                  <a:outerShdw blurRad="38100" dist="38100" dir="2700000" algn="tl">
                    <a:srgbClr val="000000">
                      <a:alpha val="43137"/>
                    </a:srgbClr>
                  </a:outerShdw>
                </a:effectLst>
              </a:rPr>
              <a:t>。</a:t>
            </a:r>
            <a:endParaRPr lang="en-US" altLang="zh-CN" dirty="0" smtClean="0">
              <a:effectLst>
                <a:outerShdw blurRad="38100" dist="38100" dir="2700000" algn="tl">
                  <a:srgbClr val="000000">
                    <a:alpha val="43137"/>
                  </a:srgbClr>
                </a:outerShdw>
              </a:effectLst>
            </a:endParaRPr>
          </a:p>
          <a:p>
            <a:pPr eaLnBrk="1" hangingPunct="1">
              <a:defRPr/>
            </a:pPr>
            <a:r>
              <a:rPr lang="zh-CN" altLang="en-US" dirty="0" smtClean="0">
                <a:effectLst>
                  <a:outerShdw blurRad="38100" dist="38100" dir="2700000" algn="tl">
                    <a:srgbClr val="000000">
                      <a:alpha val="43137"/>
                    </a:srgbClr>
                  </a:outerShdw>
                </a:effectLst>
              </a:rPr>
              <a:t>数组</a:t>
            </a:r>
            <a:r>
              <a:rPr lang="zh-CN" altLang="en-US" dirty="0">
                <a:effectLst>
                  <a:outerShdw blurRad="38100" dist="38100" dir="2700000" algn="tl">
                    <a:srgbClr val="000000">
                      <a:alpha val="43137"/>
                    </a:srgbClr>
                  </a:outerShdw>
                </a:effectLst>
              </a:rPr>
              <a:t>元素在内存中连续存放，每个元素都属于同一种数据类型，最低地址单元对应于数组第一个元素，最高地址单元对应于数组最后一个元素</a:t>
            </a:r>
            <a:r>
              <a:rPr lang="zh-CN" altLang="en-US" dirty="0" smtClean="0">
                <a:effectLst>
                  <a:outerShdw blurRad="38100" dist="38100" dir="2700000" algn="tl">
                    <a:srgbClr val="000000">
                      <a:alpha val="43137"/>
                    </a:srgbClr>
                  </a:outerShdw>
                </a:effectLst>
              </a:rPr>
              <a:t>。</a:t>
            </a:r>
            <a:endParaRPr lang="en-US" altLang="zh-CN" dirty="0" smtClean="0">
              <a:effectLst>
                <a:outerShdw blurRad="38100" dist="38100" dir="2700000" algn="tl">
                  <a:srgbClr val="000000">
                    <a:alpha val="43137"/>
                  </a:srgbClr>
                </a:outerShdw>
              </a:effectLst>
            </a:endParaRPr>
          </a:p>
          <a:p>
            <a:pPr eaLnBrk="1" hangingPunct="1">
              <a:defRPr/>
            </a:pPr>
            <a:r>
              <a:rPr lang="zh-CN" altLang="en-US" dirty="0" smtClean="0">
                <a:effectLst>
                  <a:outerShdw blurRad="38100" dist="38100" dir="2700000" algn="tl">
                    <a:srgbClr val="000000">
                      <a:alpha val="43137"/>
                    </a:srgbClr>
                  </a:outerShdw>
                </a:effectLst>
              </a:rPr>
              <a:t>下标代表数组</a:t>
            </a:r>
            <a:r>
              <a:rPr lang="zh-CN" altLang="en-US" dirty="0">
                <a:effectLst>
                  <a:outerShdw blurRad="38100" dist="38100" dir="2700000" algn="tl">
                    <a:srgbClr val="000000">
                      <a:alpha val="43137"/>
                    </a:srgbClr>
                  </a:outerShdw>
                </a:effectLst>
              </a:rPr>
              <a:t>元素的序号，用数组名和下标可以唯一地确定数组元素并进行操作</a:t>
            </a:r>
            <a:r>
              <a:rPr lang="zh-CN" altLang="en-US" dirty="0" smtClean="0">
                <a:effectLst>
                  <a:outerShdw blurRad="38100" dist="38100" dir="2700000" algn="tl">
                    <a:srgbClr val="000000">
                      <a:alpha val="43137"/>
                    </a:srgbClr>
                  </a:outerShdw>
                </a:effectLst>
              </a:rPr>
              <a:t>。</a:t>
            </a:r>
            <a:endParaRPr lang="en-US" altLang="zh-CN" dirty="0" smtClean="0">
              <a:effectLst>
                <a:outerShdw blurRad="38100" dist="38100" dir="2700000" algn="tl">
                  <a:srgbClr val="000000">
                    <a:alpha val="43137"/>
                  </a:srgbClr>
                </a:outerShdw>
              </a:effectLst>
            </a:endParaRPr>
          </a:p>
          <a:p>
            <a:pPr eaLnBrk="1" hangingPunct="1">
              <a:defRPr/>
            </a:pPr>
            <a:r>
              <a:rPr lang="zh-CN" altLang="en-US" dirty="0" smtClean="0">
                <a:effectLst>
                  <a:outerShdw blurRad="38100" dist="38100" dir="2700000" algn="tl">
                    <a:srgbClr val="000000">
                      <a:alpha val="43137"/>
                    </a:srgbClr>
                  </a:outerShdw>
                </a:effectLst>
              </a:rPr>
              <a:t>数组</a:t>
            </a:r>
            <a:r>
              <a:rPr lang="zh-CN" altLang="en-US" dirty="0">
                <a:effectLst>
                  <a:outerShdw blurRad="38100" dist="38100" dir="2700000" algn="tl">
                    <a:srgbClr val="000000">
                      <a:alpha val="43137"/>
                    </a:srgbClr>
                  </a:outerShdw>
                </a:effectLst>
              </a:rPr>
              <a:t>的每一个元素都属于同一个数据类型，不能把不同类型的数据放在同一个数组中。 </a:t>
            </a:r>
            <a:endParaRPr lang="zh-CN" altLang="en-US" dirty="0" smtClean="0">
              <a:effectLst>
                <a:outerShdw blurRad="38100" dist="38100" dir="2700000" algn="tl">
                  <a:srgbClr val="000000">
                    <a:alpha val="43137"/>
                  </a:srgbClr>
                </a:outerShdw>
              </a:effectLst>
            </a:endParaRPr>
          </a:p>
        </p:txBody>
      </p:sp>
    </p:spTree>
  </p:cSld>
  <p:clrMapOvr>
    <a:masterClrMapping/>
  </p:clrMapOvr>
  <p:transition spd="med">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4.1.1</a:t>
            </a:r>
            <a:r>
              <a:rPr lang="zh-CN" altLang="en-US" dirty="0" smtClean="0"/>
              <a:t>定义</a:t>
            </a:r>
            <a:endParaRPr lang="en-US" dirty="0"/>
          </a:p>
        </p:txBody>
      </p:sp>
      <p:sp>
        <p:nvSpPr>
          <p:cNvPr id="3" name="Content Placeholder 2"/>
          <p:cNvSpPr>
            <a:spLocks noGrp="1"/>
          </p:cNvSpPr>
          <p:nvPr>
            <p:ph idx="1"/>
          </p:nvPr>
        </p:nvSpPr>
        <p:spPr>
          <a:xfrm>
            <a:off x="755650" y="1700213"/>
            <a:ext cx="8208838" cy="4537075"/>
          </a:xfrm>
        </p:spPr>
        <p:txBody>
          <a:bodyPr/>
          <a:lstStyle/>
          <a:p>
            <a:r>
              <a:rPr lang="zh-TW" altLang="en-US" dirty="0"/>
              <a:t>一维数组定义的形式如下： </a:t>
            </a:r>
            <a:endParaRPr lang="en-US" altLang="zh-TW" dirty="0" smtClean="0"/>
          </a:p>
          <a:p>
            <a:pPr marL="0" indent="0">
              <a:buNone/>
            </a:pPr>
            <a:r>
              <a:rPr lang="en-US" altLang="zh-TW" dirty="0" smtClean="0"/>
              <a:t>          </a:t>
            </a:r>
            <a:r>
              <a:rPr lang="zh-TW" altLang="en-US" dirty="0" smtClean="0"/>
              <a:t>类型说明符   数组</a:t>
            </a:r>
            <a:r>
              <a:rPr lang="zh-TW" altLang="en-US" dirty="0"/>
              <a:t>名</a:t>
            </a:r>
            <a:r>
              <a:rPr lang="en-US" altLang="zh-TW" dirty="0"/>
              <a:t>[</a:t>
            </a:r>
            <a:r>
              <a:rPr lang="zh-TW" altLang="en-US" dirty="0"/>
              <a:t>常量表达式</a:t>
            </a:r>
            <a:r>
              <a:rPr lang="en-US" altLang="zh-TW" dirty="0"/>
              <a:t>]; </a:t>
            </a:r>
            <a:endParaRPr lang="en-US" altLang="zh-TW" dirty="0" smtClean="0"/>
          </a:p>
          <a:p>
            <a:pPr lvl="1"/>
            <a:r>
              <a:rPr lang="zh-TW" altLang="en-US" dirty="0"/>
              <a:t>类型说明符可以是任一种基本数据类型或构造数据类型。</a:t>
            </a:r>
            <a:endParaRPr lang="en-US" altLang="zh-TW" dirty="0"/>
          </a:p>
          <a:p>
            <a:pPr lvl="1"/>
            <a:r>
              <a:rPr lang="zh-TW" altLang="en-US" dirty="0"/>
              <a:t>数组名是用户自定义的标识符。方括号中的常量表达式表示数组元素个数，也称数组长度</a:t>
            </a:r>
            <a:r>
              <a:rPr lang="zh-TW" altLang="en-US" dirty="0" smtClean="0"/>
              <a:t>。</a:t>
            </a:r>
            <a:endParaRPr lang="en-US" altLang="zh-TW" dirty="0" smtClean="0"/>
          </a:p>
          <a:p>
            <a:pPr lvl="1"/>
            <a:r>
              <a:rPr lang="zh-CN" altLang="en-US" dirty="0" smtClean="0"/>
              <a:t>例如</a:t>
            </a:r>
            <a:endParaRPr lang="zh-CN" altLang="en-US" b="0" dirty="0"/>
          </a:p>
          <a:p>
            <a:pPr lvl="2"/>
            <a:r>
              <a:rPr lang="en-US" altLang="zh-CN" b="0" dirty="0"/>
              <a:t> </a:t>
            </a:r>
            <a:r>
              <a:rPr lang="en-US" altLang="zh-CN" dirty="0"/>
              <a:t>int a[10]; //</a:t>
            </a:r>
            <a:r>
              <a:rPr lang="zh-CN" altLang="en-US" dirty="0"/>
              <a:t>定义整型数组</a:t>
            </a:r>
            <a:r>
              <a:rPr lang="en-US" altLang="zh-CN" dirty="0"/>
              <a:t>a</a:t>
            </a:r>
            <a:r>
              <a:rPr lang="zh-CN" altLang="en-US" dirty="0"/>
              <a:t>，有</a:t>
            </a:r>
            <a:r>
              <a:rPr lang="en-US" altLang="zh-CN" dirty="0"/>
              <a:t>10</a:t>
            </a:r>
            <a:r>
              <a:rPr lang="zh-CN" altLang="en-US" dirty="0"/>
              <a:t>个元素 </a:t>
            </a:r>
          </a:p>
          <a:p>
            <a:pPr lvl="2"/>
            <a:r>
              <a:rPr lang="en-US" altLang="zh-CN" dirty="0"/>
              <a:t>float b[20]; //</a:t>
            </a:r>
            <a:r>
              <a:rPr lang="zh-CN" altLang="en-US" dirty="0"/>
              <a:t>定义单精度浮点型数组</a:t>
            </a:r>
            <a:r>
              <a:rPr lang="en-US" altLang="zh-CN" dirty="0"/>
              <a:t>b</a:t>
            </a:r>
            <a:r>
              <a:rPr lang="zh-CN" altLang="en-US" dirty="0"/>
              <a:t>，有</a:t>
            </a:r>
            <a:r>
              <a:rPr lang="en-US" altLang="zh-CN" dirty="0"/>
              <a:t>20</a:t>
            </a:r>
            <a:r>
              <a:rPr lang="zh-CN" altLang="en-US" dirty="0"/>
              <a:t>个元素 </a:t>
            </a:r>
          </a:p>
          <a:p>
            <a:pPr lvl="2"/>
            <a:r>
              <a:rPr lang="en-US" altLang="zh-CN" dirty="0"/>
              <a:t>double c[30]; //</a:t>
            </a:r>
            <a:r>
              <a:rPr lang="zh-CN" altLang="en-US" dirty="0"/>
              <a:t>定义双精度浮点数型数组</a:t>
            </a:r>
            <a:r>
              <a:rPr lang="en-US" altLang="zh-CN" dirty="0"/>
              <a:t>c</a:t>
            </a:r>
            <a:r>
              <a:rPr lang="zh-CN" altLang="en-US" dirty="0"/>
              <a:t>，有</a:t>
            </a:r>
            <a:r>
              <a:rPr lang="en-US" altLang="zh-CN" dirty="0"/>
              <a:t>30</a:t>
            </a:r>
            <a:r>
              <a:rPr lang="zh-CN" altLang="en-US" dirty="0"/>
              <a:t>个元素 </a:t>
            </a:r>
            <a:endParaRPr lang="en-US" dirty="0"/>
          </a:p>
          <a:p>
            <a:pPr marL="0" indent="0">
              <a:buNone/>
            </a:pP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4</a:t>
            </a:fld>
            <a:endParaRPr lang="en-US" altLang="zh-CN" dirty="0"/>
          </a:p>
        </p:txBody>
      </p:sp>
    </p:spTree>
    <p:extLst>
      <p:ext uri="{BB962C8B-B14F-4D97-AF65-F5344CB8AC3E}">
        <p14:creationId xmlns:p14="http://schemas.microsoft.com/office/powerpoint/2010/main" val="3594710132"/>
      </p:ext>
    </p:extLst>
  </p:cSld>
  <p:clrMapOvr>
    <a:masterClrMapping/>
  </p:clrMapOvr>
  <p:transition spd="med">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4.1.1</a:t>
            </a:r>
            <a:r>
              <a:rPr lang="zh-CN" altLang="en-US" dirty="0" smtClean="0"/>
              <a:t>定义</a:t>
            </a: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5</a:t>
            </a:fld>
            <a:endParaRPr lang="en-US" altLang="zh-CN" dirty="0"/>
          </a:p>
        </p:txBody>
      </p:sp>
      <p:sp>
        <p:nvSpPr>
          <p:cNvPr id="6" name="Content Placeholder 2"/>
          <p:cNvSpPr>
            <a:spLocks noGrp="1"/>
          </p:cNvSpPr>
          <p:nvPr>
            <p:ph idx="4294967295"/>
          </p:nvPr>
        </p:nvSpPr>
        <p:spPr>
          <a:xfrm>
            <a:off x="827584" y="1672280"/>
            <a:ext cx="8136904" cy="5184576"/>
          </a:xfrm>
        </p:spPr>
        <p:txBody>
          <a:bodyPr/>
          <a:lstStyle/>
          <a:p>
            <a:pPr eaLnBrk="1" hangingPunct="1">
              <a:defRPr/>
            </a:pPr>
            <a:r>
              <a:rPr lang="zh-TW" altLang="en-US" dirty="0">
                <a:effectLst>
                  <a:outerShdw blurRad="38100" dist="38100" dir="2700000" algn="tl">
                    <a:srgbClr val="000000">
                      <a:alpha val="43137"/>
                    </a:srgbClr>
                  </a:outerShdw>
                </a:effectLst>
              </a:rPr>
              <a:t>一维数组定义是一条完整的</a:t>
            </a:r>
            <a:r>
              <a:rPr lang="en-US" altLang="zh-TW" dirty="0">
                <a:effectLst>
                  <a:outerShdw blurRad="38100" dist="38100" dir="2700000" algn="tl">
                    <a:srgbClr val="000000">
                      <a:alpha val="43137"/>
                    </a:srgbClr>
                  </a:outerShdw>
                </a:effectLst>
              </a:rPr>
              <a:t>C</a:t>
            </a:r>
            <a:r>
              <a:rPr lang="zh-TW" altLang="en-US" dirty="0">
                <a:effectLst>
                  <a:outerShdw blurRad="38100" dist="38100" dir="2700000" algn="tl">
                    <a:srgbClr val="000000">
                      <a:alpha val="43137"/>
                    </a:srgbClr>
                  </a:outerShdw>
                </a:effectLst>
              </a:rPr>
              <a:t>语言语句，每条定义语句结束后，用分号“；”结束。</a:t>
            </a:r>
            <a:endParaRPr lang="en-US" altLang="zh-TW" dirty="0">
              <a:effectLst>
                <a:outerShdw blurRad="38100" dist="38100" dir="2700000" algn="tl">
                  <a:srgbClr val="000000">
                    <a:alpha val="43137"/>
                  </a:srgbClr>
                </a:outerShdw>
              </a:effectLst>
            </a:endParaRPr>
          </a:p>
          <a:p>
            <a:pPr eaLnBrk="1" hangingPunct="1">
              <a:defRPr/>
            </a:pPr>
            <a:r>
              <a:rPr lang="zh-TW" altLang="en-US" dirty="0">
                <a:effectLst>
                  <a:outerShdw blurRad="38100" dist="38100" dir="2700000" algn="tl">
                    <a:srgbClr val="000000">
                      <a:alpha val="43137"/>
                    </a:srgbClr>
                  </a:outerShdw>
                </a:effectLst>
              </a:rPr>
              <a:t>当需要定义多个同类型数组时，用逗号 “，”进行连续定义。</a:t>
            </a:r>
          </a:p>
          <a:p>
            <a:pPr eaLnBrk="1" hangingPunct="1">
              <a:defRPr/>
            </a:pPr>
            <a:r>
              <a:rPr lang="en-US" altLang="zh-CN" dirty="0">
                <a:effectLst>
                  <a:outerShdw blurRad="38100" dist="38100" dir="2700000" algn="tl">
                    <a:srgbClr val="000000">
                      <a:alpha val="43137"/>
                    </a:srgbClr>
                  </a:outerShdw>
                </a:effectLst>
              </a:rPr>
              <a:t>  </a:t>
            </a:r>
            <a:r>
              <a:rPr lang="zh-CN" altLang="en-US" dirty="0">
                <a:effectLst>
                  <a:outerShdw blurRad="38100" dist="38100" dir="2700000" algn="tl">
                    <a:srgbClr val="000000">
                      <a:alpha val="43137"/>
                    </a:srgbClr>
                  </a:outerShdw>
                </a:effectLst>
              </a:rPr>
              <a:t>例如</a:t>
            </a:r>
          </a:p>
          <a:p>
            <a:pPr lvl="2"/>
            <a:r>
              <a:rPr lang="en-US" altLang="zh-CN" dirty="0"/>
              <a:t>int a[10],b[10]; //</a:t>
            </a:r>
            <a:r>
              <a:rPr lang="zh-CN" altLang="en-US" dirty="0"/>
              <a:t>定义整型数组</a:t>
            </a:r>
            <a:r>
              <a:rPr lang="en-US" altLang="zh-CN" dirty="0"/>
              <a:t>a</a:t>
            </a:r>
            <a:r>
              <a:rPr lang="zh-CN" altLang="en-US" dirty="0"/>
              <a:t>和</a:t>
            </a:r>
            <a:r>
              <a:rPr lang="en-US" altLang="zh-CN" dirty="0"/>
              <a:t>b</a:t>
            </a:r>
            <a:r>
              <a:rPr lang="zh-CN" altLang="en-US" dirty="0"/>
              <a:t>，分别可放</a:t>
            </a:r>
            <a:r>
              <a:rPr lang="en-US" altLang="zh-CN" dirty="0"/>
              <a:t>10</a:t>
            </a:r>
            <a:r>
              <a:rPr lang="zh-CN" altLang="en-US" dirty="0"/>
              <a:t>个元素 </a:t>
            </a:r>
          </a:p>
          <a:p>
            <a:pPr lvl="2"/>
            <a:r>
              <a:rPr lang="en-US" altLang="zh-CN" dirty="0"/>
              <a:t>float c[20],d[20]; </a:t>
            </a:r>
            <a:r>
              <a:rPr lang="en-US" altLang="zh-CN" dirty="0" smtClean="0"/>
              <a:t>//</a:t>
            </a:r>
            <a:r>
              <a:rPr lang="zh-CN" altLang="en-US" dirty="0"/>
              <a:t>定义单精度浮点型数组</a:t>
            </a:r>
            <a:r>
              <a:rPr lang="en-US" altLang="zh-CN" dirty="0" smtClean="0"/>
              <a:t>c</a:t>
            </a:r>
            <a:r>
              <a:rPr lang="zh-CN" altLang="en-US" dirty="0"/>
              <a:t>和</a:t>
            </a:r>
            <a:r>
              <a:rPr lang="en-US" altLang="zh-CN" dirty="0"/>
              <a:t>d</a:t>
            </a:r>
            <a:r>
              <a:rPr lang="zh-CN" altLang="en-US" dirty="0"/>
              <a:t>，分别可放</a:t>
            </a:r>
            <a:r>
              <a:rPr lang="en-US" altLang="zh-CN" dirty="0"/>
              <a:t>20</a:t>
            </a:r>
            <a:r>
              <a:rPr lang="zh-CN" altLang="en-US" dirty="0"/>
              <a:t>个元素 </a:t>
            </a:r>
          </a:p>
          <a:p>
            <a:pPr lvl="2"/>
            <a:r>
              <a:rPr lang="en-US" altLang="zh-CN" dirty="0"/>
              <a:t>double e[30],f[30]; //</a:t>
            </a:r>
            <a:r>
              <a:rPr lang="zh-CN" altLang="en-US" dirty="0" smtClean="0"/>
              <a:t>定义</a:t>
            </a:r>
            <a:r>
              <a:rPr lang="zh-CN" altLang="en-US" dirty="0"/>
              <a:t>双</a:t>
            </a:r>
            <a:r>
              <a:rPr lang="zh-CN" altLang="en-US" dirty="0" smtClean="0"/>
              <a:t>精度</a:t>
            </a:r>
            <a:r>
              <a:rPr lang="zh-CN" altLang="en-US" dirty="0"/>
              <a:t>浮点型数组</a:t>
            </a:r>
            <a:r>
              <a:rPr lang="en-US" altLang="zh-CN" dirty="0" smtClean="0"/>
              <a:t>e</a:t>
            </a:r>
            <a:r>
              <a:rPr lang="zh-CN" altLang="en-US" dirty="0"/>
              <a:t>和</a:t>
            </a:r>
            <a:r>
              <a:rPr lang="en-US" altLang="zh-CN" dirty="0"/>
              <a:t>f</a:t>
            </a:r>
            <a:r>
              <a:rPr lang="zh-CN" altLang="en-US" dirty="0"/>
              <a:t>，分别可放</a:t>
            </a:r>
            <a:r>
              <a:rPr lang="en-US" altLang="zh-CN" dirty="0"/>
              <a:t>30</a:t>
            </a:r>
            <a:r>
              <a:rPr lang="zh-CN" altLang="en-US" dirty="0"/>
              <a:t>个元素 </a:t>
            </a:r>
            <a:endParaRPr lang="en-US" dirty="0"/>
          </a:p>
        </p:txBody>
      </p:sp>
    </p:spTree>
    <p:extLst>
      <p:ext uri="{BB962C8B-B14F-4D97-AF65-F5344CB8AC3E}">
        <p14:creationId xmlns:p14="http://schemas.microsoft.com/office/powerpoint/2010/main" val="681473354"/>
      </p:ext>
    </p:extLst>
  </p:cSld>
  <p:clrMapOvr>
    <a:masterClrMapping/>
  </p:clrMapOvr>
  <p:transition spd="med">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4.1.1</a:t>
            </a:r>
            <a:r>
              <a:rPr lang="zh-CN" altLang="en-US" dirty="0" smtClean="0"/>
              <a:t>定义</a:t>
            </a: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6</a:t>
            </a:fld>
            <a:endParaRPr lang="en-US" altLang="zh-CN" dirty="0"/>
          </a:p>
        </p:txBody>
      </p:sp>
      <p:sp>
        <p:nvSpPr>
          <p:cNvPr id="5" name="Content Placeholder 2"/>
          <p:cNvSpPr>
            <a:spLocks noGrp="1"/>
          </p:cNvSpPr>
          <p:nvPr>
            <p:ph idx="4294967295"/>
          </p:nvPr>
        </p:nvSpPr>
        <p:spPr>
          <a:xfrm>
            <a:off x="827584" y="1772816"/>
            <a:ext cx="7992888" cy="3816424"/>
          </a:xfrm>
        </p:spPr>
        <p:txBody>
          <a:bodyPr/>
          <a:lstStyle/>
          <a:p>
            <a:pPr eaLnBrk="1" hangingPunct="1">
              <a:defRPr/>
            </a:pPr>
            <a:r>
              <a:rPr lang="en-US" altLang="zh-TW" dirty="0">
                <a:effectLst>
                  <a:outerShdw blurRad="38100" dist="38100" dir="2700000" algn="tl">
                    <a:srgbClr val="000000">
                      <a:alpha val="43137"/>
                    </a:srgbClr>
                  </a:outerShdw>
                </a:effectLst>
              </a:rPr>
              <a:t>C</a:t>
            </a:r>
            <a:r>
              <a:rPr lang="zh-TW" altLang="en-US" dirty="0">
                <a:effectLst>
                  <a:outerShdw blurRad="38100" dist="38100" dir="2700000" algn="tl">
                    <a:srgbClr val="000000">
                      <a:alpha val="43137"/>
                    </a:srgbClr>
                  </a:outerShdw>
                </a:effectLst>
              </a:rPr>
              <a:t>语言不允许缺省数组长度或缺省方括号。</a:t>
            </a:r>
            <a:endParaRPr lang="en-US" altLang="zh-TW" dirty="0">
              <a:effectLst>
                <a:outerShdw blurRad="38100" dist="38100" dir="2700000" algn="tl">
                  <a:srgbClr val="000000">
                    <a:alpha val="43137"/>
                  </a:srgbClr>
                </a:outerShdw>
              </a:effectLst>
            </a:endParaRPr>
          </a:p>
          <a:p>
            <a:pPr lvl="2"/>
            <a:r>
              <a:rPr lang="en-US" altLang="zh-TW" dirty="0"/>
              <a:t> </a:t>
            </a:r>
            <a:r>
              <a:rPr lang="zh-TW" altLang="en-US" dirty="0"/>
              <a:t>例如：定义</a:t>
            </a:r>
            <a:r>
              <a:rPr lang="en-US" altLang="zh-TW" dirty="0">
                <a:solidFill>
                  <a:srgbClr val="FF0000"/>
                </a:solidFill>
              </a:rPr>
              <a:t>int a[];</a:t>
            </a:r>
            <a:r>
              <a:rPr lang="zh-TW" altLang="en-US" dirty="0"/>
              <a:t>是</a:t>
            </a:r>
            <a:r>
              <a:rPr lang="zh-TW" altLang="en-US" dirty="0">
                <a:solidFill>
                  <a:srgbClr val="FF0000"/>
                </a:solidFill>
              </a:rPr>
              <a:t>错误</a:t>
            </a:r>
            <a:r>
              <a:rPr lang="zh-TW" altLang="en-US" dirty="0"/>
              <a:t>的定义，</a:t>
            </a:r>
            <a:endParaRPr lang="en-US" altLang="zh-TW" dirty="0"/>
          </a:p>
          <a:p>
            <a:pPr lvl="2"/>
            <a:r>
              <a:rPr lang="zh-TW" altLang="en-US" dirty="0"/>
              <a:t>定义</a:t>
            </a:r>
            <a:r>
              <a:rPr lang="en-US" altLang="zh-TW" dirty="0"/>
              <a:t>int a</a:t>
            </a:r>
            <a:r>
              <a:rPr lang="zh-TW" altLang="en-US" dirty="0"/>
              <a:t>和</a:t>
            </a:r>
            <a:r>
              <a:rPr lang="en-US" altLang="zh-TW" dirty="0"/>
              <a:t>int a3</a:t>
            </a:r>
            <a:r>
              <a:rPr lang="zh-TW" altLang="en-US" dirty="0"/>
              <a:t>是定义一个变量而不是数组。</a:t>
            </a:r>
            <a:endParaRPr lang="en-US" altLang="zh-TW" dirty="0"/>
          </a:p>
          <a:p>
            <a:pPr eaLnBrk="1" hangingPunct="1">
              <a:defRPr/>
            </a:pPr>
            <a:r>
              <a:rPr lang="zh-TW" altLang="en-US" dirty="0">
                <a:effectLst>
                  <a:outerShdw blurRad="38100" dist="38100" dir="2700000" algn="tl">
                    <a:srgbClr val="000000">
                      <a:alpha val="43137"/>
                    </a:srgbClr>
                  </a:outerShdw>
                </a:effectLst>
              </a:rPr>
              <a:t>数组名不能与其它变量名相同。</a:t>
            </a:r>
            <a:endParaRPr lang="en-US" altLang="zh-TW" dirty="0">
              <a:effectLst>
                <a:outerShdw blurRad="38100" dist="38100" dir="2700000" algn="tl">
                  <a:srgbClr val="000000">
                    <a:alpha val="43137"/>
                  </a:srgbClr>
                </a:outerShdw>
              </a:effectLst>
            </a:endParaRPr>
          </a:p>
          <a:p>
            <a:pPr lvl="2"/>
            <a:r>
              <a:rPr lang="zh-TW" altLang="en-US" dirty="0"/>
              <a:t>例如：程序中同时出现语句</a:t>
            </a:r>
            <a:r>
              <a:rPr lang="en-US" altLang="zh-TW" dirty="0"/>
              <a:t>int a; float a[10];</a:t>
            </a:r>
            <a:r>
              <a:rPr lang="zh-TW" altLang="en-US" dirty="0"/>
              <a:t>是错误的</a:t>
            </a:r>
            <a:r>
              <a:rPr lang="zh-TW" altLang="en-US" dirty="0" smtClean="0"/>
              <a:t>。</a:t>
            </a:r>
            <a:endParaRPr lang="zh-TW" altLang="en-US" dirty="0"/>
          </a:p>
        </p:txBody>
      </p:sp>
    </p:spTree>
    <p:extLst>
      <p:ext uri="{BB962C8B-B14F-4D97-AF65-F5344CB8AC3E}">
        <p14:creationId xmlns:p14="http://schemas.microsoft.com/office/powerpoint/2010/main" val="3390701283"/>
      </p:ext>
    </p:extLst>
  </p:cSld>
  <p:clrMapOvr>
    <a:masterClrMapping/>
  </p:clrMapOvr>
  <p:transition spd="med">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4.1.1</a:t>
            </a:r>
            <a:r>
              <a:rPr lang="zh-CN" altLang="en-US" dirty="0" smtClean="0"/>
              <a:t>定义</a:t>
            </a: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7</a:t>
            </a:fld>
            <a:endParaRPr lang="en-US" altLang="zh-CN" dirty="0"/>
          </a:p>
        </p:txBody>
      </p:sp>
      <p:sp>
        <p:nvSpPr>
          <p:cNvPr id="5" name="Content Placeholder 2"/>
          <p:cNvSpPr>
            <a:spLocks noGrp="1"/>
          </p:cNvSpPr>
          <p:nvPr>
            <p:ph idx="4294967295"/>
          </p:nvPr>
        </p:nvSpPr>
        <p:spPr>
          <a:xfrm>
            <a:off x="827584" y="1772816"/>
            <a:ext cx="8208912" cy="3867996"/>
          </a:xfrm>
        </p:spPr>
        <p:txBody>
          <a:bodyPr/>
          <a:lstStyle/>
          <a:p>
            <a:pPr eaLnBrk="1" hangingPunct="1">
              <a:defRPr/>
            </a:pPr>
            <a:r>
              <a:rPr lang="en-US" altLang="zh-TW" dirty="0" smtClean="0">
                <a:effectLst>
                  <a:outerShdw blurRad="38100" dist="38100" dir="2700000" algn="tl">
                    <a:srgbClr val="000000">
                      <a:alpha val="43137"/>
                    </a:srgbClr>
                  </a:outerShdw>
                </a:effectLst>
              </a:rPr>
              <a:t>C</a:t>
            </a:r>
            <a:r>
              <a:rPr lang="zh-TW" altLang="en-US" dirty="0">
                <a:effectLst>
                  <a:outerShdw blurRad="38100" dist="38100" dir="2700000" algn="tl">
                    <a:srgbClr val="000000">
                      <a:alpha val="43137"/>
                    </a:srgbClr>
                  </a:outerShdw>
                </a:effectLst>
              </a:rPr>
              <a:t>语言数组长度必须是常量表达式，不能用变量来表示数组长度。</a:t>
            </a:r>
            <a:endParaRPr lang="en-US" altLang="zh-TW" dirty="0">
              <a:effectLst>
                <a:outerShdw blurRad="38100" dist="38100" dir="2700000" algn="tl">
                  <a:srgbClr val="000000">
                    <a:alpha val="43137"/>
                  </a:srgbClr>
                </a:outerShdw>
              </a:effectLst>
            </a:endParaRPr>
          </a:p>
          <a:p>
            <a:pPr lvl="2"/>
            <a:r>
              <a:rPr lang="zh-TW" altLang="en-US" dirty="0"/>
              <a:t>例如：</a:t>
            </a:r>
            <a:r>
              <a:rPr lang="en-US" altLang="zh-TW" dirty="0">
                <a:solidFill>
                  <a:srgbClr val="FF0000"/>
                </a:solidFill>
              </a:rPr>
              <a:t>int n=4;int a[n]; </a:t>
            </a:r>
            <a:r>
              <a:rPr lang="zh-TW" altLang="en-US" dirty="0"/>
              <a:t>是</a:t>
            </a:r>
            <a:r>
              <a:rPr lang="zh-TW" altLang="en-US" dirty="0">
                <a:solidFill>
                  <a:srgbClr val="FF0000"/>
                </a:solidFill>
              </a:rPr>
              <a:t>错误</a:t>
            </a:r>
            <a:r>
              <a:rPr lang="zh-TW" altLang="en-US" dirty="0"/>
              <a:t>的。</a:t>
            </a:r>
            <a:endParaRPr lang="en-US" altLang="zh-TW" dirty="0"/>
          </a:p>
          <a:p>
            <a:pPr lvl="2"/>
            <a:r>
              <a:rPr lang="zh-TW" altLang="en-US" dirty="0"/>
              <a:t>但</a:t>
            </a:r>
            <a:r>
              <a:rPr lang="zh-TW" altLang="en-US" dirty="0" smtClean="0"/>
              <a:t>可用</a:t>
            </a:r>
            <a:r>
              <a:rPr lang="en-US" altLang="zh-TW" dirty="0" smtClean="0"/>
              <a:t>define</a:t>
            </a:r>
            <a:r>
              <a:rPr lang="zh-TW" altLang="en-US" dirty="0"/>
              <a:t>定义符号常量来标识数组长度。</a:t>
            </a:r>
            <a:endParaRPr lang="en-US" altLang="zh-TW" dirty="0"/>
          </a:p>
          <a:p>
            <a:pPr marL="536575" lvl="2" indent="0">
              <a:buNone/>
            </a:pPr>
            <a:r>
              <a:rPr lang="en-US" altLang="zh-CN" dirty="0" smtClean="0"/>
              <a:t>#</a:t>
            </a:r>
            <a:r>
              <a:rPr lang="en-US" altLang="zh-CN" dirty="0"/>
              <a:t>define N 5  //define定义符号常量N=5</a:t>
            </a:r>
            <a:r>
              <a:rPr lang="zh-CN" altLang="en-US" dirty="0"/>
              <a:t>，放在</a:t>
            </a:r>
            <a:r>
              <a:rPr lang="en-US" altLang="zh-CN" dirty="0"/>
              <a:t>mian</a:t>
            </a:r>
            <a:r>
              <a:rPr lang="zh-CN" altLang="en-US" dirty="0"/>
              <a:t>函数外</a:t>
            </a:r>
            <a:endParaRPr lang="en-US" altLang="zh-CN" dirty="0"/>
          </a:p>
          <a:p>
            <a:pPr marL="536575" lvl="2" indent="0">
              <a:buNone/>
            </a:pPr>
            <a:r>
              <a:rPr lang="en-US" altLang="zh-CN" dirty="0" smtClean="0"/>
              <a:t>……</a:t>
            </a:r>
            <a:endParaRPr lang="is-IS" altLang="zh-CN" dirty="0" smtClean="0"/>
          </a:p>
          <a:p>
            <a:pPr marL="536575" lvl="2" indent="0">
              <a:buNone/>
            </a:pPr>
            <a:r>
              <a:rPr lang="pt-BR" altLang="zh-CN" dirty="0" smtClean="0"/>
              <a:t>int </a:t>
            </a:r>
            <a:r>
              <a:rPr lang="pt-BR" altLang="zh-CN" dirty="0"/>
              <a:t>a[N];</a:t>
            </a:r>
            <a:r>
              <a:rPr lang="en-US" altLang="zh-CN" dirty="0"/>
              <a:t> </a:t>
            </a:r>
          </a:p>
        </p:txBody>
      </p:sp>
    </p:spTree>
    <p:extLst>
      <p:ext uri="{BB962C8B-B14F-4D97-AF65-F5344CB8AC3E}">
        <p14:creationId xmlns:p14="http://schemas.microsoft.com/office/powerpoint/2010/main" val="41679940"/>
      </p:ext>
    </p:extLst>
  </p:cSld>
  <p:clrMapOvr>
    <a:masterClrMapping/>
  </p:clrMapOvr>
  <p:transition spd="med">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4.1.2</a:t>
            </a:r>
            <a:r>
              <a:rPr lang="zh-CN" altLang="en-US" dirty="0" smtClean="0"/>
              <a:t>存储</a:t>
            </a:r>
            <a:endParaRPr lang="en-US" dirty="0"/>
          </a:p>
        </p:txBody>
      </p:sp>
      <p:sp>
        <p:nvSpPr>
          <p:cNvPr id="3" name="Content Placeholder 2"/>
          <p:cNvSpPr>
            <a:spLocks noGrp="1"/>
          </p:cNvSpPr>
          <p:nvPr>
            <p:ph idx="1"/>
          </p:nvPr>
        </p:nvSpPr>
        <p:spPr>
          <a:xfrm>
            <a:off x="755650" y="1700213"/>
            <a:ext cx="8280846" cy="4537075"/>
          </a:xfrm>
        </p:spPr>
        <p:txBody>
          <a:bodyPr/>
          <a:lstStyle/>
          <a:p>
            <a:r>
              <a:rPr lang="zh-TW" altLang="en-US" dirty="0"/>
              <a:t>一维数组存储方式是在内存中连续开辟存储空间，依次存放数据元素</a:t>
            </a:r>
            <a:r>
              <a:rPr lang="zh-TW" altLang="en-US" dirty="0" smtClean="0"/>
              <a:t>。</a:t>
            </a:r>
            <a:endParaRPr lang="en-US" altLang="zh-TW" dirty="0" smtClean="0"/>
          </a:p>
          <a:p>
            <a:pPr lvl="1"/>
            <a:r>
              <a:rPr lang="zh-TW" altLang="en-US" dirty="0" smtClean="0"/>
              <a:t>数组</a:t>
            </a:r>
            <a:r>
              <a:rPr lang="zh-TW" altLang="en-US" dirty="0"/>
              <a:t>分别存储</a:t>
            </a:r>
            <a:r>
              <a:rPr lang="en-US" altLang="zh-TW" dirty="0"/>
              <a:t>a[0]</a:t>
            </a:r>
            <a:r>
              <a:rPr lang="zh-TW" altLang="en-US" dirty="0"/>
              <a:t>到</a:t>
            </a:r>
            <a:r>
              <a:rPr lang="en-US" altLang="zh-TW" dirty="0"/>
              <a:t>a[N-1]</a:t>
            </a:r>
            <a:r>
              <a:rPr lang="zh-TW" altLang="en-US" dirty="0"/>
              <a:t>的</a:t>
            </a:r>
            <a:r>
              <a:rPr lang="en-US" altLang="zh-TW" dirty="0"/>
              <a:t>N</a:t>
            </a:r>
            <a:r>
              <a:rPr lang="zh-TW" altLang="en-US" dirty="0"/>
              <a:t>个元素，其中</a:t>
            </a:r>
            <a:r>
              <a:rPr lang="en-US" altLang="zh-TW" dirty="0"/>
              <a:t>N</a:t>
            </a:r>
            <a:r>
              <a:rPr lang="zh-TW" altLang="en-US" dirty="0"/>
              <a:t>是描述数组长度的常量表达式</a:t>
            </a:r>
            <a:r>
              <a:rPr lang="zh-TW" altLang="en-US" dirty="0" smtClean="0"/>
              <a:t>。</a:t>
            </a:r>
            <a:endParaRPr lang="en-US" altLang="zh-TW" dirty="0" smtClean="0"/>
          </a:p>
          <a:p>
            <a:pPr lvl="1"/>
            <a:r>
              <a:rPr lang="pt-BR" altLang="zh-TW" dirty="0" smtClean="0"/>
              <a:t> </a:t>
            </a:r>
            <a:r>
              <a:rPr lang="zh-TW" altLang="pt-BR" dirty="0" smtClean="0"/>
              <a:t>例如</a:t>
            </a:r>
            <a:r>
              <a:rPr lang="zh-TW" altLang="pt-BR" dirty="0"/>
              <a:t>：</a:t>
            </a:r>
            <a:r>
              <a:rPr lang="pt-BR" altLang="zh-TW" dirty="0" err="1"/>
              <a:t>int</a:t>
            </a:r>
            <a:r>
              <a:rPr lang="pt-BR" altLang="zh-TW" dirty="0"/>
              <a:t> a[8]</a:t>
            </a:r>
            <a:r>
              <a:rPr lang="zh-TW" altLang="pt-BR" dirty="0"/>
              <a:t>；表示数组</a:t>
            </a:r>
            <a:r>
              <a:rPr lang="pt-BR" altLang="zh-TW" dirty="0"/>
              <a:t>a</a:t>
            </a:r>
            <a:r>
              <a:rPr lang="zh-TW" altLang="pt-BR" dirty="0"/>
              <a:t>有</a:t>
            </a:r>
            <a:r>
              <a:rPr lang="pt-BR" altLang="zh-TW" dirty="0"/>
              <a:t>8</a:t>
            </a:r>
            <a:r>
              <a:rPr lang="zh-TW" altLang="pt-BR" dirty="0"/>
              <a:t>个元素</a:t>
            </a:r>
            <a:r>
              <a:rPr lang="zh-TW" altLang="pt-BR" dirty="0" smtClean="0"/>
              <a:t>，其</a:t>
            </a:r>
            <a:r>
              <a:rPr lang="zh-TW" altLang="pt-BR" dirty="0"/>
              <a:t>下标从</a:t>
            </a:r>
            <a:r>
              <a:rPr lang="pt-BR" altLang="zh-TW" dirty="0"/>
              <a:t>0</a:t>
            </a:r>
            <a:r>
              <a:rPr lang="zh-TW" altLang="pt-BR" dirty="0"/>
              <a:t>开始计算，分别</a:t>
            </a:r>
            <a:r>
              <a:rPr lang="zh-TW" altLang="pt-BR" dirty="0" smtClean="0"/>
              <a:t>为</a:t>
            </a:r>
            <a:r>
              <a:rPr lang="en-US" altLang="zh-TW" dirty="0" smtClean="0"/>
              <a:t>:</a:t>
            </a:r>
          </a:p>
          <a:p>
            <a:pPr marL="271463" lvl="1" indent="0" algn="ctr">
              <a:buNone/>
            </a:pPr>
            <a:r>
              <a:rPr lang="pt-BR" altLang="zh-TW" dirty="0" smtClean="0"/>
              <a:t>a[0</a:t>
            </a:r>
            <a:r>
              <a:rPr lang="pt-BR" altLang="zh-TW" dirty="0"/>
              <a:t>], a[1], a[2], a[3], a[4] , a[5] , a[6] , a[7] </a:t>
            </a:r>
            <a:r>
              <a:rPr lang="zh-TW" altLang="pt-BR" dirty="0" smtClean="0"/>
              <a:t> </a:t>
            </a:r>
            <a:endParaRPr lang="zh-TW" altLang="en-US" dirty="0" smtClean="0"/>
          </a:p>
          <a:p>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8</a:t>
            </a:fld>
            <a:endParaRPr lang="en-US" altLang="zh-CN" dirty="0"/>
          </a:p>
        </p:txBody>
      </p:sp>
    </p:spTree>
    <p:extLst>
      <p:ext uri="{BB962C8B-B14F-4D97-AF65-F5344CB8AC3E}">
        <p14:creationId xmlns:p14="http://schemas.microsoft.com/office/powerpoint/2010/main" val="3295281228"/>
      </p:ext>
    </p:extLst>
  </p:cSld>
  <p:clrMapOvr>
    <a:masterClrMapping/>
  </p:clrMapOvr>
  <p:transition spd="med">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3481" name="Group 457"/>
          <p:cNvGraphicFramePr>
            <a:graphicFrameLocks noGrp="1"/>
          </p:cNvGraphicFramePr>
          <p:nvPr>
            <p:ph sz="half" idx="2"/>
            <p:extLst>
              <p:ext uri="{D42A27DB-BD31-4B8C-83A1-F6EECF244321}">
                <p14:modId xmlns:p14="http://schemas.microsoft.com/office/powerpoint/2010/main" val="1710502059"/>
              </p:ext>
            </p:extLst>
          </p:nvPr>
        </p:nvGraphicFramePr>
        <p:xfrm>
          <a:off x="5651500" y="981075"/>
          <a:ext cx="3024188" cy="4365636"/>
        </p:xfrm>
        <a:graphic>
          <a:graphicData uri="http://schemas.openxmlformats.org/drawingml/2006/table">
            <a:tbl>
              <a:tblPr/>
              <a:tblGrid>
                <a:gridCol w="1296988"/>
                <a:gridCol w="863600"/>
                <a:gridCol w="863600"/>
              </a:tblGrid>
              <a:tr h="3968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1" i="0" u="none" strike="noStrike" cap="none" normalizeH="0" baseline="0" dirty="0" smtClean="0">
                          <a:ln>
                            <a:noFill/>
                          </a:ln>
                          <a:solidFill>
                            <a:schemeClr val="tx1"/>
                          </a:solidFill>
                          <a:effectLst/>
                          <a:latin typeface="Arial" charset="0"/>
                          <a:ea typeface="宋体" pitchFamily="2" charset="-122"/>
                        </a:rPr>
                        <a:t>内存地址</a:t>
                      </a:r>
                    </a:p>
                  </a:txBody>
                  <a:tcPr marL="92075" marR="92075" marT="46038" marB="46038"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1" i="0" u="none" strike="noStrike" cap="none" normalizeH="0" baseline="0" smtClean="0">
                          <a:ln>
                            <a:noFill/>
                          </a:ln>
                          <a:solidFill>
                            <a:schemeClr val="tx1"/>
                          </a:solidFill>
                          <a:effectLst/>
                          <a:latin typeface="Arial" charset="0"/>
                          <a:ea typeface="宋体" pitchFamily="2" charset="-122"/>
                        </a:rPr>
                        <a:t>下标</a:t>
                      </a:r>
                    </a:p>
                  </a:txBody>
                  <a:tcPr marL="92075" marR="92075" marT="46038" marB="46038"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1" i="0" u="none" strike="noStrike" cap="none" normalizeH="0" baseline="0" smtClean="0">
                          <a:ln>
                            <a:noFill/>
                          </a:ln>
                          <a:solidFill>
                            <a:schemeClr val="tx1"/>
                          </a:solidFill>
                          <a:effectLst/>
                          <a:latin typeface="Arial" charset="0"/>
                          <a:ea typeface="宋体" pitchFamily="2" charset="-122"/>
                        </a:rPr>
                        <a:t>值</a:t>
                      </a:r>
                    </a:p>
                  </a:txBody>
                  <a:tcPr marL="92075" marR="92075" marT="46038" marB="46038"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smtClean="0">
                          <a:ln>
                            <a:noFill/>
                          </a:ln>
                          <a:solidFill>
                            <a:schemeClr val="tx1"/>
                          </a:solidFill>
                          <a:effectLst/>
                          <a:latin typeface="Arial" charset="0"/>
                          <a:ea typeface="宋体" pitchFamily="2" charset="-122"/>
                        </a:rPr>
                        <a:t>4046</a:t>
                      </a:r>
                    </a:p>
                  </a:txBody>
                  <a:tcPr marL="92075" marR="92075" marT="46038" marB="46038"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smtClean="0">
                          <a:ln>
                            <a:noFill/>
                          </a:ln>
                          <a:solidFill>
                            <a:schemeClr val="tx1"/>
                          </a:solidFill>
                          <a:effectLst/>
                          <a:latin typeface="Arial" charset="0"/>
                          <a:ea typeface="宋体" pitchFamily="2" charset="-122"/>
                        </a:rPr>
                        <a:t>9</a:t>
                      </a:r>
                    </a:p>
                  </a:txBody>
                  <a:tcPr marL="92075" marR="92075" marT="46038" marB="46038"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1" i="0" u="none" strike="noStrike" cap="none" normalizeH="0" baseline="0" dirty="0" smtClean="0">
                        <a:ln>
                          <a:noFill/>
                        </a:ln>
                        <a:solidFill>
                          <a:schemeClr val="tx1"/>
                        </a:solidFill>
                        <a:effectLst/>
                        <a:latin typeface="Arial" charset="0"/>
                        <a:ea typeface="宋体"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smtClean="0">
                          <a:ln>
                            <a:noFill/>
                          </a:ln>
                          <a:solidFill>
                            <a:schemeClr val="tx1"/>
                          </a:solidFill>
                          <a:effectLst/>
                          <a:latin typeface="Arial" charset="0"/>
                          <a:ea typeface="宋体" pitchFamily="2" charset="-122"/>
                        </a:rPr>
                        <a:t>4042</a:t>
                      </a:r>
                    </a:p>
                  </a:txBody>
                  <a:tcPr marL="92075" marR="92075" marT="46038" marB="46038"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smtClean="0">
                          <a:ln>
                            <a:noFill/>
                          </a:ln>
                          <a:solidFill>
                            <a:schemeClr val="tx1"/>
                          </a:solidFill>
                          <a:effectLst/>
                          <a:latin typeface="Arial" charset="0"/>
                          <a:ea typeface="宋体" pitchFamily="2" charset="-122"/>
                        </a:rPr>
                        <a:t>8</a:t>
                      </a:r>
                    </a:p>
                  </a:txBody>
                  <a:tcPr marL="92075" marR="92075" marT="46038" marB="46038"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1" i="0" u="none" strike="noStrike" cap="none" normalizeH="0" baseline="0" dirty="0" smtClean="0">
                        <a:ln>
                          <a:noFill/>
                        </a:ln>
                        <a:solidFill>
                          <a:schemeClr val="tx1"/>
                        </a:solidFill>
                        <a:effectLst/>
                        <a:latin typeface="Arial" charset="0"/>
                        <a:ea typeface="宋体"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smtClean="0">
                          <a:ln>
                            <a:noFill/>
                          </a:ln>
                          <a:solidFill>
                            <a:schemeClr val="tx1"/>
                          </a:solidFill>
                          <a:effectLst/>
                          <a:latin typeface="Arial" charset="0"/>
                          <a:ea typeface="宋体" pitchFamily="2" charset="-122"/>
                        </a:rPr>
                        <a:t>4038</a:t>
                      </a:r>
                    </a:p>
                  </a:txBody>
                  <a:tcPr marL="92075" marR="92075" marT="46038" marB="46038"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smtClean="0">
                          <a:ln>
                            <a:noFill/>
                          </a:ln>
                          <a:solidFill>
                            <a:schemeClr val="tx1"/>
                          </a:solidFill>
                          <a:effectLst/>
                          <a:latin typeface="Arial" charset="0"/>
                          <a:ea typeface="宋体" pitchFamily="2" charset="-122"/>
                        </a:rPr>
                        <a:t>7</a:t>
                      </a:r>
                    </a:p>
                  </a:txBody>
                  <a:tcPr marL="92075" marR="92075" marT="46038" marB="46038"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1" i="0" u="none" strike="noStrike" cap="none" normalizeH="0" baseline="0" dirty="0" smtClean="0">
                        <a:ln>
                          <a:noFill/>
                        </a:ln>
                        <a:solidFill>
                          <a:schemeClr val="tx1"/>
                        </a:solidFill>
                        <a:effectLst/>
                        <a:latin typeface="Arial" charset="0"/>
                        <a:ea typeface="宋体"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smtClean="0">
                          <a:ln>
                            <a:noFill/>
                          </a:ln>
                          <a:solidFill>
                            <a:schemeClr val="tx1"/>
                          </a:solidFill>
                          <a:effectLst/>
                          <a:latin typeface="Arial" charset="0"/>
                          <a:ea typeface="宋体" pitchFamily="2" charset="-122"/>
                        </a:rPr>
                        <a:t>4034</a:t>
                      </a:r>
                    </a:p>
                  </a:txBody>
                  <a:tcPr marL="92075" marR="92075" marT="46038" marB="46038"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smtClean="0">
                          <a:ln>
                            <a:noFill/>
                          </a:ln>
                          <a:solidFill>
                            <a:schemeClr val="tx1"/>
                          </a:solidFill>
                          <a:effectLst/>
                          <a:latin typeface="Arial" charset="0"/>
                          <a:ea typeface="宋体" pitchFamily="2" charset="-122"/>
                        </a:rPr>
                        <a:t>6</a:t>
                      </a:r>
                    </a:p>
                  </a:txBody>
                  <a:tcPr marL="92075" marR="92075" marT="46038" marB="46038"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1" i="0" u="none" strike="noStrike" cap="none" normalizeH="0" baseline="0" dirty="0" smtClean="0">
                        <a:ln>
                          <a:noFill/>
                        </a:ln>
                        <a:solidFill>
                          <a:schemeClr val="tx1"/>
                        </a:solidFill>
                        <a:effectLst/>
                        <a:latin typeface="Arial" charset="0"/>
                        <a:ea typeface="宋体"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smtClean="0">
                          <a:ln>
                            <a:noFill/>
                          </a:ln>
                          <a:solidFill>
                            <a:schemeClr val="tx1"/>
                          </a:solidFill>
                          <a:effectLst/>
                          <a:latin typeface="Arial" charset="0"/>
                          <a:ea typeface="宋体" pitchFamily="2" charset="-122"/>
                        </a:rPr>
                        <a:t>4030</a:t>
                      </a:r>
                    </a:p>
                  </a:txBody>
                  <a:tcPr marL="92075" marR="92075" marT="46038" marB="46038"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smtClean="0">
                          <a:ln>
                            <a:noFill/>
                          </a:ln>
                          <a:solidFill>
                            <a:schemeClr val="tx1"/>
                          </a:solidFill>
                          <a:effectLst/>
                          <a:latin typeface="Arial" charset="0"/>
                          <a:ea typeface="宋体" pitchFamily="2" charset="-122"/>
                        </a:rPr>
                        <a:t>5</a:t>
                      </a:r>
                    </a:p>
                  </a:txBody>
                  <a:tcPr marL="92075" marR="92075" marT="46038" marB="46038"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1" i="0" u="none" strike="noStrike" cap="none" normalizeH="0" baseline="0" dirty="0" smtClean="0">
                        <a:ln>
                          <a:noFill/>
                        </a:ln>
                        <a:solidFill>
                          <a:schemeClr val="tx1"/>
                        </a:solidFill>
                        <a:effectLst/>
                        <a:latin typeface="Arial" charset="0"/>
                        <a:ea typeface="宋体"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smtClean="0">
                          <a:ln>
                            <a:noFill/>
                          </a:ln>
                          <a:solidFill>
                            <a:schemeClr val="tx1"/>
                          </a:solidFill>
                          <a:effectLst/>
                          <a:latin typeface="Arial" charset="0"/>
                          <a:ea typeface="宋体" pitchFamily="2" charset="-122"/>
                        </a:rPr>
                        <a:t>4026</a:t>
                      </a:r>
                    </a:p>
                  </a:txBody>
                  <a:tcPr marL="92075" marR="92075" marT="46038" marB="46038"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smtClean="0">
                          <a:ln>
                            <a:noFill/>
                          </a:ln>
                          <a:solidFill>
                            <a:schemeClr val="tx1"/>
                          </a:solidFill>
                          <a:effectLst/>
                          <a:latin typeface="Arial" charset="0"/>
                          <a:ea typeface="宋体" pitchFamily="2" charset="-122"/>
                        </a:rPr>
                        <a:t>4</a:t>
                      </a:r>
                    </a:p>
                  </a:txBody>
                  <a:tcPr marL="92075" marR="92075" marT="46038" marB="46038"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1" i="0" u="none" strike="noStrike" cap="none" normalizeH="0" baseline="0" dirty="0" smtClean="0">
                        <a:ln>
                          <a:noFill/>
                        </a:ln>
                        <a:solidFill>
                          <a:schemeClr val="tx1"/>
                        </a:solidFill>
                        <a:effectLst/>
                        <a:latin typeface="Arial" charset="0"/>
                        <a:ea typeface="宋体"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smtClean="0">
                          <a:ln>
                            <a:noFill/>
                          </a:ln>
                          <a:solidFill>
                            <a:schemeClr val="tx1"/>
                          </a:solidFill>
                          <a:effectLst/>
                          <a:latin typeface="Arial" charset="0"/>
                          <a:ea typeface="宋体" pitchFamily="2" charset="-122"/>
                        </a:rPr>
                        <a:t>4022</a:t>
                      </a:r>
                    </a:p>
                  </a:txBody>
                  <a:tcPr marL="92075" marR="92075" marT="46038" marB="46038"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smtClean="0">
                          <a:ln>
                            <a:noFill/>
                          </a:ln>
                          <a:solidFill>
                            <a:schemeClr val="tx1"/>
                          </a:solidFill>
                          <a:effectLst/>
                          <a:latin typeface="Arial" charset="0"/>
                          <a:ea typeface="宋体" pitchFamily="2" charset="-122"/>
                        </a:rPr>
                        <a:t>3</a:t>
                      </a:r>
                    </a:p>
                  </a:txBody>
                  <a:tcPr marL="92075" marR="92075" marT="46038" marB="46038"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1" i="0" u="none" strike="noStrike" cap="none" normalizeH="0" baseline="0" dirty="0" smtClean="0">
                        <a:ln>
                          <a:noFill/>
                        </a:ln>
                        <a:solidFill>
                          <a:schemeClr val="tx1"/>
                        </a:solidFill>
                        <a:effectLst/>
                        <a:latin typeface="Arial" charset="0"/>
                        <a:ea typeface="宋体"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smtClean="0">
                          <a:ln>
                            <a:noFill/>
                          </a:ln>
                          <a:solidFill>
                            <a:schemeClr val="tx1"/>
                          </a:solidFill>
                          <a:effectLst/>
                          <a:latin typeface="Arial" charset="0"/>
                          <a:ea typeface="宋体" pitchFamily="2" charset="-122"/>
                        </a:rPr>
                        <a:t>4018</a:t>
                      </a:r>
                    </a:p>
                  </a:txBody>
                  <a:tcPr marL="92075" marR="92075" marT="46038" marB="46038"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smtClean="0">
                          <a:ln>
                            <a:noFill/>
                          </a:ln>
                          <a:solidFill>
                            <a:schemeClr val="tx1"/>
                          </a:solidFill>
                          <a:effectLst/>
                          <a:latin typeface="Arial" charset="0"/>
                          <a:ea typeface="宋体" pitchFamily="2" charset="-122"/>
                        </a:rPr>
                        <a:t>2</a:t>
                      </a:r>
                    </a:p>
                  </a:txBody>
                  <a:tcPr marL="92075" marR="92075" marT="46038" marB="46038"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1" i="0" u="none" strike="noStrike" cap="none" normalizeH="0" baseline="0" dirty="0" smtClean="0">
                        <a:ln>
                          <a:noFill/>
                        </a:ln>
                        <a:solidFill>
                          <a:schemeClr val="tx1"/>
                        </a:solidFill>
                        <a:effectLst/>
                        <a:latin typeface="Arial" charset="0"/>
                        <a:ea typeface="宋体"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smtClean="0">
                          <a:ln>
                            <a:noFill/>
                          </a:ln>
                          <a:solidFill>
                            <a:schemeClr val="tx1"/>
                          </a:solidFill>
                          <a:effectLst/>
                          <a:latin typeface="Arial" charset="0"/>
                          <a:ea typeface="宋体" pitchFamily="2" charset="-122"/>
                        </a:rPr>
                        <a:t>4014</a:t>
                      </a:r>
                    </a:p>
                  </a:txBody>
                  <a:tcPr marL="92075" marR="92075" marT="46038" marB="46038"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smtClean="0">
                          <a:ln>
                            <a:noFill/>
                          </a:ln>
                          <a:solidFill>
                            <a:schemeClr val="tx1"/>
                          </a:solidFill>
                          <a:effectLst/>
                          <a:latin typeface="Arial" charset="0"/>
                          <a:ea typeface="宋体" pitchFamily="2" charset="-122"/>
                        </a:rPr>
                        <a:t>1</a:t>
                      </a:r>
                    </a:p>
                  </a:txBody>
                  <a:tcPr marL="92075" marR="92075" marT="46038" marB="46038"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1" i="0" u="none" strike="noStrike" cap="none" normalizeH="0" baseline="0" dirty="0" smtClean="0">
                        <a:ln>
                          <a:noFill/>
                        </a:ln>
                        <a:solidFill>
                          <a:schemeClr val="tx1"/>
                        </a:solidFill>
                        <a:effectLst/>
                        <a:latin typeface="Arial" charset="0"/>
                        <a:ea typeface="宋体"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smtClean="0">
                          <a:ln>
                            <a:noFill/>
                          </a:ln>
                          <a:solidFill>
                            <a:schemeClr val="tx1"/>
                          </a:solidFill>
                          <a:effectLst/>
                          <a:latin typeface="Arial" charset="0"/>
                          <a:ea typeface="宋体" pitchFamily="2" charset="-122"/>
                        </a:rPr>
                        <a:t>4010</a:t>
                      </a:r>
                    </a:p>
                  </a:txBody>
                  <a:tcPr marL="92075" marR="92075" marT="46038" marB="46038"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smtClean="0">
                          <a:ln>
                            <a:noFill/>
                          </a:ln>
                          <a:solidFill>
                            <a:schemeClr val="tx1"/>
                          </a:solidFill>
                          <a:effectLst/>
                          <a:latin typeface="Arial" charset="0"/>
                          <a:ea typeface="宋体" pitchFamily="2" charset="-122"/>
                        </a:rPr>
                        <a:t>0</a:t>
                      </a:r>
                    </a:p>
                  </a:txBody>
                  <a:tcPr marL="92075" marR="92075" marT="46038" marB="46038" horzOverflow="overflow">
                    <a:lnL>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000" b="1" i="0" u="none" strike="noStrike" cap="none" normalizeH="0" baseline="0" smtClean="0">
                        <a:ln>
                          <a:noFill/>
                        </a:ln>
                        <a:solidFill>
                          <a:schemeClr val="tx1"/>
                        </a:solidFill>
                        <a:effectLst/>
                        <a:latin typeface="Arial" charset="0"/>
                        <a:ea typeface="宋体"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13474" name="Text Box 450"/>
          <p:cNvSpPr txBox="1">
            <a:spLocks noChangeArrowheads="1"/>
          </p:cNvSpPr>
          <p:nvPr/>
        </p:nvSpPr>
        <p:spPr bwMode="auto">
          <a:xfrm>
            <a:off x="5580063" y="4724400"/>
            <a:ext cx="395942" cy="544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4400" b="1" baseline="-25000" dirty="0">
                <a:solidFill>
                  <a:srgbClr val="FF0000"/>
                </a:solidFill>
              </a:rPr>
              <a:t>a</a:t>
            </a:r>
          </a:p>
        </p:txBody>
      </p:sp>
      <p:sp>
        <p:nvSpPr>
          <p:cNvPr id="9266" name="Rectangle 451"/>
          <p:cNvSpPr>
            <a:spLocks noChangeArrowheads="1"/>
          </p:cNvSpPr>
          <p:nvPr/>
        </p:nvSpPr>
        <p:spPr bwMode="auto">
          <a:xfrm>
            <a:off x="1115616" y="826454"/>
            <a:ext cx="1670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zh-CN" altLang="zh-CN" sz="2800" b="1" dirty="0"/>
              <a:t>int </a:t>
            </a:r>
            <a:r>
              <a:rPr lang="zh-CN" altLang="en-US" sz="2800" b="1" dirty="0">
                <a:solidFill>
                  <a:srgbClr val="CC0066"/>
                </a:solidFill>
              </a:rPr>
              <a:t>a</a:t>
            </a:r>
            <a:r>
              <a:rPr lang="zh-CN" altLang="zh-CN" sz="2800" b="1" dirty="0">
                <a:solidFill>
                  <a:srgbClr val="CC0066"/>
                </a:solidFill>
              </a:rPr>
              <a:t>[</a:t>
            </a:r>
            <a:r>
              <a:rPr lang="zh-CN" altLang="en-US" sz="2800" b="1" dirty="0">
                <a:solidFill>
                  <a:srgbClr val="CC0066"/>
                </a:solidFill>
              </a:rPr>
              <a:t>1</a:t>
            </a:r>
            <a:r>
              <a:rPr lang="en-US" altLang="zh-CN" sz="2800" b="1" dirty="0">
                <a:solidFill>
                  <a:srgbClr val="CC0066"/>
                </a:solidFill>
              </a:rPr>
              <a:t>0</a:t>
            </a:r>
            <a:r>
              <a:rPr lang="zh-CN" altLang="zh-CN" sz="2800" b="1" dirty="0">
                <a:solidFill>
                  <a:srgbClr val="CC0066"/>
                </a:solidFill>
              </a:rPr>
              <a:t>]</a:t>
            </a:r>
            <a:r>
              <a:rPr lang="zh-CN" altLang="zh-CN" sz="2800" b="1" dirty="0"/>
              <a:t>;</a:t>
            </a:r>
            <a:endParaRPr lang="en-US" altLang="zh-CN" sz="2800" b="1" dirty="0"/>
          </a:p>
        </p:txBody>
      </p:sp>
      <p:sp>
        <p:nvSpPr>
          <p:cNvPr id="9267" name="Rectangle 458"/>
          <p:cNvSpPr>
            <a:spLocks noChangeArrowheads="1"/>
          </p:cNvSpPr>
          <p:nvPr/>
        </p:nvSpPr>
        <p:spPr bwMode="auto">
          <a:xfrm>
            <a:off x="833438" y="1865121"/>
            <a:ext cx="4877938" cy="1385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p>
            <a:pPr eaLnBrk="0" hangingPunct="0"/>
            <a:r>
              <a:rPr lang="zh-CN" altLang="en-US" sz="2800" b="1" dirty="0">
                <a:effectLst>
                  <a:outerShdw blurRad="38100" dist="38100" dir="2700000" algn="tl">
                    <a:srgbClr val="000000">
                      <a:alpha val="43137"/>
                    </a:srgbClr>
                  </a:outerShdw>
                </a:effectLst>
                <a:latin typeface="+mn-ea"/>
                <a:ea typeface="+mn-ea"/>
              </a:rPr>
              <a:t>假设系统规定</a:t>
            </a:r>
            <a:r>
              <a:rPr lang="en-US" altLang="zh-CN" sz="2800" b="1" dirty="0">
                <a:effectLst>
                  <a:outerShdw blurRad="38100" dist="38100" dir="2700000" algn="tl">
                    <a:srgbClr val="000000">
                      <a:alpha val="43137"/>
                    </a:srgbClr>
                  </a:outerShdw>
                </a:effectLst>
                <a:latin typeface="+mn-ea"/>
                <a:ea typeface="+mn-ea"/>
              </a:rPr>
              <a:t>int</a:t>
            </a:r>
            <a:r>
              <a:rPr lang="zh-CN" altLang="en-US" sz="2800" b="1" dirty="0">
                <a:effectLst>
                  <a:outerShdw blurRad="38100" dist="38100" dir="2700000" algn="tl">
                    <a:srgbClr val="000000">
                      <a:alpha val="43137"/>
                    </a:srgbClr>
                  </a:outerShdw>
                </a:effectLst>
                <a:latin typeface="+mn-ea"/>
                <a:ea typeface="+mn-ea"/>
              </a:rPr>
              <a:t>类型</a:t>
            </a:r>
            <a:r>
              <a:rPr lang="zh-CN" altLang="en-US" sz="2800" b="1" dirty="0" smtClean="0">
                <a:effectLst>
                  <a:outerShdw blurRad="38100" dist="38100" dir="2700000" algn="tl">
                    <a:srgbClr val="000000">
                      <a:alpha val="43137"/>
                    </a:srgbClr>
                  </a:outerShdw>
                </a:effectLst>
                <a:latin typeface="+mn-ea"/>
                <a:ea typeface="+mn-ea"/>
              </a:rPr>
              <a:t>占用</a:t>
            </a:r>
            <a:r>
              <a:rPr lang="en-US" altLang="zh-CN" sz="2800" b="1" dirty="0" smtClean="0">
                <a:effectLst>
                  <a:outerShdw blurRad="38100" dist="38100" dir="2700000" algn="tl">
                    <a:srgbClr val="000000">
                      <a:alpha val="43137"/>
                    </a:srgbClr>
                  </a:outerShdw>
                </a:effectLst>
                <a:latin typeface="+mn-ea"/>
                <a:ea typeface="+mn-ea"/>
              </a:rPr>
              <a:t>4</a:t>
            </a:r>
            <a:r>
              <a:rPr lang="zh-CN" altLang="en-US" sz="2800" b="1" dirty="0" smtClean="0">
                <a:effectLst>
                  <a:outerShdw blurRad="38100" dist="38100" dir="2700000" algn="tl">
                    <a:srgbClr val="000000">
                      <a:alpha val="43137"/>
                    </a:srgbClr>
                  </a:outerShdw>
                </a:effectLst>
                <a:latin typeface="+mn-ea"/>
                <a:ea typeface="+mn-ea"/>
              </a:rPr>
              <a:t>个</a:t>
            </a:r>
            <a:endParaRPr lang="zh-CN" altLang="en-US" sz="2800" b="1" dirty="0">
              <a:effectLst>
                <a:outerShdw blurRad="38100" dist="38100" dir="2700000" algn="tl">
                  <a:srgbClr val="000000">
                    <a:alpha val="43137"/>
                  </a:srgbClr>
                </a:outerShdw>
              </a:effectLst>
              <a:latin typeface="+mn-ea"/>
              <a:ea typeface="+mn-ea"/>
            </a:endParaRPr>
          </a:p>
          <a:p>
            <a:pPr eaLnBrk="0" hangingPunct="0"/>
            <a:r>
              <a:rPr lang="zh-CN" altLang="en-US" sz="2800" b="1" dirty="0">
                <a:effectLst>
                  <a:outerShdw blurRad="38100" dist="38100" dir="2700000" algn="tl">
                    <a:srgbClr val="000000">
                      <a:alpha val="43137"/>
                    </a:srgbClr>
                  </a:outerShdw>
                </a:effectLst>
                <a:latin typeface="+mn-ea"/>
                <a:ea typeface="+mn-ea"/>
              </a:rPr>
              <a:t>字节，则对于数组</a:t>
            </a:r>
            <a:r>
              <a:rPr lang="en-US" altLang="zh-CN" sz="2800" b="1" dirty="0">
                <a:effectLst>
                  <a:outerShdw blurRad="38100" dist="38100" dir="2700000" algn="tl">
                    <a:srgbClr val="000000">
                      <a:alpha val="43137"/>
                    </a:srgbClr>
                  </a:outerShdw>
                </a:effectLst>
                <a:latin typeface="+mn-ea"/>
                <a:ea typeface="+mn-ea"/>
              </a:rPr>
              <a:t>a</a:t>
            </a:r>
            <a:r>
              <a:rPr lang="zh-CN" altLang="en-US" sz="2800" b="1" dirty="0">
                <a:effectLst>
                  <a:outerShdw blurRad="38100" dist="38100" dir="2700000" algn="tl">
                    <a:srgbClr val="000000">
                      <a:alpha val="43137"/>
                    </a:srgbClr>
                  </a:outerShdw>
                </a:effectLst>
                <a:latin typeface="+mn-ea"/>
                <a:ea typeface="+mn-ea"/>
              </a:rPr>
              <a:t>，其内存</a:t>
            </a:r>
          </a:p>
          <a:p>
            <a:pPr eaLnBrk="0" hangingPunct="0"/>
            <a:r>
              <a:rPr lang="zh-CN" altLang="en-US" sz="2800" b="1" dirty="0">
                <a:effectLst>
                  <a:outerShdw blurRad="38100" dist="38100" dir="2700000" algn="tl">
                    <a:srgbClr val="000000">
                      <a:alpha val="43137"/>
                    </a:srgbClr>
                  </a:outerShdw>
                </a:effectLst>
                <a:latin typeface="+mn-ea"/>
                <a:ea typeface="+mn-ea"/>
              </a:rPr>
              <a:t>分配形式 </a:t>
            </a:r>
          </a:p>
        </p:txBody>
      </p:sp>
      <p:sp>
        <p:nvSpPr>
          <p:cNvPr id="513484" name="Rectangle 460"/>
          <p:cNvSpPr>
            <a:spLocks noChangeArrowheads="1"/>
          </p:cNvSpPr>
          <p:nvPr/>
        </p:nvSpPr>
        <p:spPr bwMode="auto">
          <a:xfrm>
            <a:off x="864340" y="3251836"/>
            <a:ext cx="4827587"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p>
            <a:pPr eaLnBrk="0" hangingPunct="0"/>
            <a:r>
              <a:rPr lang="zh-CN" altLang="en-US" sz="2800" b="1" dirty="0">
                <a:effectLst>
                  <a:outerShdw blurRad="38100" dist="38100" dir="2700000" algn="tl">
                    <a:srgbClr val="000000">
                      <a:alpha val="43137"/>
                    </a:srgbClr>
                  </a:outerShdw>
                </a:effectLst>
                <a:latin typeface="Yu Gothic UI Semibold" pitchFamily="34" charset="-128"/>
                <a:ea typeface="Yu Gothic UI Semibold" pitchFamily="34" charset="-128"/>
              </a:rPr>
              <a:t>只要知道了数组第一个元素的</a:t>
            </a:r>
          </a:p>
          <a:p>
            <a:pPr eaLnBrk="0" hangingPunct="0"/>
            <a:r>
              <a:rPr lang="zh-CN" altLang="en-US" sz="2800" b="1" dirty="0">
                <a:effectLst>
                  <a:outerShdw blurRad="38100" dist="38100" dir="2700000" algn="tl">
                    <a:srgbClr val="000000">
                      <a:alpha val="43137"/>
                    </a:srgbClr>
                  </a:outerShdw>
                </a:effectLst>
                <a:latin typeface="Yu Gothic UI Semibold" pitchFamily="34" charset="-128"/>
                <a:ea typeface="Yu Gothic UI Semibold" pitchFamily="34" charset="-128"/>
              </a:rPr>
              <a:t>地址以及每个元素所需的字节</a:t>
            </a:r>
          </a:p>
          <a:p>
            <a:pPr eaLnBrk="0" hangingPunct="0"/>
            <a:r>
              <a:rPr lang="zh-CN" altLang="en-US" sz="2800" b="1" dirty="0">
                <a:effectLst>
                  <a:outerShdw blurRad="38100" dist="38100" dir="2700000" algn="tl">
                    <a:srgbClr val="000000">
                      <a:alpha val="43137"/>
                    </a:srgbClr>
                  </a:outerShdw>
                </a:effectLst>
                <a:latin typeface="Yu Gothic UI Semibold" pitchFamily="34" charset="-128"/>
                <a:ea typeface="Yu Gothic UI Semibold" pitchFamily="34" charset="-128"/>
              </a:rPr>
              <a:t>数，其余各个元素的存储地址</a:t>
            </a:r>
          </a:p>
          <a:p>
            <a:pPr eaLnBrk="0" hangingPunct="0"/>
            <a:r>
              <a:rPr lang="zh-CN" altLang="en-US" sz="2800" b="1" dirty="0">
                <a:effectLst>
                  <a:outerShdw blurRad="38100" dist="38100" dir="2700000" algn="tl">
                    <a:srgbClr val="000000">
                      <a:alpha val="43137"/>
                    </a:srgbClr>
                  </a:outerShdw>
                </a:effectLst>
                <a:latin typeface="Yu Gothic UI Semibold" pitchFamily="34" charset="-128"/>
                <a:ea typeface="Yu Gothic UI Semibold" pitchFamily="34" charset="-128"/>
              </a:rPr>
              <a:t>均可计算得到。 </a:t>
            </a:r>
          </a:p>
        </p:txBody>
      </p:sp>
      <p:sp>
        <p:nvSpPr>
          <p:cNvPr id="513485" name="Rectangle 461"/>
          <p:cNvSpPr>
            <a:spLocks noChangeArrowheads="1"/>
          </p:cNvSpPr>
          <p:nvPr/>
        </p:nvSpPr>
        <p:spPr bwMode="auto">
          <a:xfrm>
            <a:off x="841101" y="5445224"/>
            <a:ext cx="66135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p>
            <a:pPr eaLnBrk="0" hangingPunct="0">
              <a:buFont typeface="Wingdings" pitchFamily="2" charset="2"/>
              <a:buNone/>
              <a:tabLst>
                <a:tab pos="533400" algn="l"/>
                <a:tab pos="596900" algn="l"/>
              </a:tabLst>
            </a:pPr>
            <a:r>
              <a:rPr lang="zh-CN" altLang="en-US" sz="2800" b="1" dirty="0">
                <a:effectLst>
                  <a:outerShdw blurRad="38100" dist="38100" dir="2700000" algn="tl">
                    <a:srgbClr val="000000">
                      <a:alpha val="43137"/>
                    </a:srgbClr>
                  </a:outerShdw>
                </a:effectLst>
                <a:latin typeface="黑体" pitchFamily="49" charset="-122"/>
                <a:ea typeface="黑体" pitchFamily="49" charset="-122"/>
              </a:rPr>
              <a:t>数组名是一个地址常量，存放</a:t>
            </a:r>
          </a:p>
          <a:p>
            <a:pPr eaLnBrk="0" hangingPunct="0">
              <a:buFont typeface="Wingdings" pitchFamily="2" charset="2"/>
              <a:buNone/>
              <a:tabLst>
                <a:tab pos="533400" algn="l"/>
                <a:tab pos="596900" algn="l"/>
              </a:tabLst>
            </a:pPr>
            <a:r>
              <a:rPr lang="zh-CN" altLang="en-US" sz="2800" b="1" dirty="0">
                <a:effectLst>
                  <a:outerShdw blurRad="38100" dist="38100" dir="2700000" algn="tl">
                    <a:srgbClr val="000000">
                      <a:alpha val="43137"/>
                    </a:srgbClr>
                  </a:outerShdw>
                </a:effectLst>
                <a:latin typeface="黑体" pitchFamily="49" charset="-122"/>
                <a:ea typeface="黑体" pitchFamily="49" charset="-122"/>
              </a:rPr>
              <a:t>数组内存空间的首地址。不允许被修改。</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3474"/>
                                        </p:tgtEl>
                                        <p:attrNameLst>
                                          <p:attrName>style.visibility</p:attrName>
                                        </p:attrNameLst>
                                      </p:cBhvr>
                                      <p:to>
                                        <p:strVal val="visible"/>
                                      </p:to>
                                    </p:set>
                                    <p:anim calcmode="lin" valueType="num">
                                      <p:cBhvr additive="base">
                                        <p:cTn id="7" dur="500" fill="hold"/>
                                        <p:tgtEl>
                                          <p:spTgt spid="513474"/>
                                        </p:tgtEl>
                                        <p:attrNameLst>
                                          <p:attrName>ppt_x</p:attrName>
                                        </p:attrNameLst>
                                      </p:cBhvr>
                                      <p:tavLst>
                                        <p:tav tm="0">
                                          <p:val>
                                            <p:strVal val="#ppt_x"/>
                                          </p:val>
                                        </p:tav>
                                        <p:tav tm="100000">
                                          <p:val>
                                            <p:strVal val="#ppt_x"/>
                                          </p:val>
                                        </p:tav>
                                      </p:tavLst>
                                    </p:anim>
                                    <p:anim calcmode="lin" valueType="num">
                                      <p:cBhvr additive="base">
                                        <p:cTn id="8" dur="500" fill="hold"/>
                                        <p:tgtEl>
                                          <p:spTgt spid="51347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13481"/>
                                        </p:tgtEl>
                                        <p:attrNameLst>
                                          <p:attrName>style.visibility</p:attrName>
                                        </p:attrNameLst>
                                      </p:cBhvr>
                                      <p:to>
                                        <p:strVal val="visible"/>
                                      </p:to>
                                    </p:set>
                                    <p:anim calcmode="lin" valueType="num">
                                      <p:cBhvr additive="base">
                                        <p:cTn id="11" dur="500" fill="hold"/>
                                        <p:tgtEl>
                                          <p:spTgt spid="513481"/>
                                        </p:tgtEl>
                                        <p:attrNameLst>
                                          <p:attrName>ppt_x</p:attrName>
                                        </p:attrNameLst>
                                      </p:cBhvr>
                                      <p:tavLst>
                                        <p:tav tm="0">
                                          <p:val>
                                            <p:strVal val="#ppt_x"/>
                                          </p:val>
                                        </p:tav>
                                        <p:tav tm="100000">
                                          <p:val>
                                            <p:strVal val="#ppt_x"/>
                                          </p:val>
                                        </p:tav>
                                      </p:tavLst>
                                    </p:anim>
                                    <p:anim calcmode="lin" valueType="num">
                                      <p:cBhvr additive="base">
                                        <p:cTn id="12" dur="500" fill="hold"/>
                                        <p:tgtEl>
                                          <p:spTgt spid="513481"/>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13484"/>
                                        </p:tgtEl>
                                        <p:attrNameLst>
                                          <p:attrName>style.visibility</p:attrName>
                                        </p:attrNameLst>
                                      </p:cBhvr>
                                      <p:to>
                                        <p:strVal val="visible"/>
                                      </p:to>
                                    </p:set>
                                    <p:anim calcmode="lin" valueType="num">
                                      <p:cBhvr additive="base">
                                        <p:cTn id="17" dur="500" fill="hold"/>
                                        <p:tgtEl>
                                          <p:spTgt spid="513484"/>
                                        </p:tgtEl>
                                        <p:attrNameLst>
                                          <p:attrName>ppt_x</p:attrName>
                                        </p:attrNameLst>
                                      </p:cBhvr>
                                      <p:tavLst>
                                        <p:tav tm="0">
                                          <p:val>
                                            <p:strVal val="#ppt_x"/>
                                          </p:val>
                                        </p:tav>
                                        <p:tav tm="100000">
                                          <p:val>
                                            <p:strVal val="#ppt_x"/>
                                          </p:val>
                                        </p:tav>
                                      </p:tavLst>
                                    </p:anim>
                                    <p:anim calcmode="lin" valueType="num">
                                      <p:cBhvr additive="base">
                                        <p:cTn id="18" dur="500" fill="hold"/>
                                        <p:tgtEl>
                                          <p:spTgt spid="513484"/>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13485"/>
                                        </p:tgtEl>
                                        <p:attrNameLst>
                                          <p:attrName>style.visibility</p:attrName>
                                        </p:attrNameLst>
                                      </p:cBhvr>
                                      <p:to>
                                        <p:strVal val="visible"/>
                                      </p:to>
                                    </p:set>
                                    <p:anim calcmode="lin" valueType="num">
                                      <p:cBhvr additive="base">
                                        <p:cTn id="23" dur="500" fill="hold"/>
                                        <p:tgtEl>
                                          <p:spTgt spid="513485"/>
                                        </p:tgtEl>
                                        <p:attrNameLst>
                                          <p:attrName>ppt_x</p:attrName>
                                        </p:attrNameLst>
                                      </p:cBhvr>
                                      <p:tavLst>
                                        <p:tav tm="0">
                                          <p:val>
                                            <p:strVal val="#ppt_x"/>
                                          </p:val>
                                        </p:tav>
                                        <p:tav tm="100000">
                                          <p:val>
                                            <p:strVal val="#ppt_x"/>
                                          </p:val>
                                        </p:tav>
                                      </p:tavLst>
                                    </p:anim>
                                    <p:anim calcmode="lin" valueType="num">
                                      <p:cBhvr additive="base">
                                        <p:cTn id="24" dur="500" fill="hold"/>
                                        <p:tgtEl>
                                          <p:spTgt spid="5134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474" grpId="0"/>
      <p:bldP spid="513484" grpId="0"/>
      <p:bldP spid="51348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4.1.2</a:t>
            </a:r>
            <a:r>
              <a:rPr lang="zh-CN" altLang="en-US" dirty="0" smtClean="0"/>
              <a:t>存储</a:t>
            </a: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10</a:t>
            </a:fld>
            <a:endParaRPr lang="en-US" altLang="zh-CN" dirty="0"/>
          </a:p>
        </p:txBody>
      </p:sp>
      <p:sp>
        <p:nvSpPr>
          <p:cNvPr id="6" name="Content Placeholder 2"/>
          <p:cNvSpPr>
            <a:spLocks noGrp="1"/>
          </p:cNvSpPr>
          <p:nvPr>
            <p:ph idx="4294967295"/>
          </p:nvPr>
        </p:nvSpPr>
        <p:spPr>
          <a:xfrm>
            <a:off x="827584" y="1772816"/>
            <a:ext cx="7993062" cy="2448272"/>
          </a:xfrm>
        </p:spPr>
        <p:txBody>
          <a:bodyPr/>
          <a:lstStyle/>
          <a:p>
            <a:r>
              <a:rPr lang="zh-TW" altLang="en-US" dirty="0">
                <a:effectLst>
                  <a:outerShdw blurRad="38100" dist="38100" dir="2700000" algn="tl">
                    <a:srgbClr val="000000">
                      <a:alpha val="43137"/>
                    </a:srgbClr>
                  </a:outerShdw>
                </a:effectLst>
                <a:latin typeface="+mn-ea"/>
              </a:rPr>
              <a:t>存在数组所需的内存量与类型说明符的数据类型和数组长度有关，以字节为单位的总内存量计算公式为</a:t>
            </a:r>
            <a:r>
              <a:rPr lang="zh-TW" altLang="en-US" dirty="0" smtClean="0">
                <a:effectLst>
                  <a:outerShdw blurRad="38100" dist="38100" dir="2700000" algn="tl">
                    <a:srgbClr val="000000">
                      <a:alpha val="43137"/>
                    </a:srgbClr>
                  </a:outerShdw>
                </a:effectLst>
                <a:latin typeface="+mn-ea"/>
              </a:rPr>
              <a:t>：</a:t>
            </a:r>
            <a:endParaRPr lang="en-US" altLang="zh-TW" dirty="0" smtClean="0">
              <a:effectLst>
                <a:outerShdw blurRad="38100" dist="38100" dir="2700000" algn="tl">
                  <a:srgbClr val="000000">
                    <a:alpha val="43137"/>
                  </a:srgbClr>
                </a:outerShdw>
              </a:effectLst>
              <a:latin typeface="+mn-ea"/>
            </a:endParaRPr>
          </a:p>
          <a:p>
            <a:pPr lvl="1"/>
            <a:r>
              <a:rPr lang="zh-TW" altLang="en-US" dirty="0" smtClean="0">
                <a:effectLst>
                  <a:outerShdw blurRad="38100" dist="38100" dir="2700000" algn="tl">
                    <a:srgbClr val="000000">
                      <a:alpha val="43137"/>
                    </a:srgbClr>
                  </a:outerShdw>
                </a:effectLst>
                <a:latin typeface="+mn-ea"/>
              </a:rPr>
              <a:t>总</a:t>
            </a:r>
            <a:r>
              <a:rPr lang="zh-TW" altLang="en-US" dirty="0">
                <a:effectLst>
                  <a:outerShdw blurRad="38100" dist="38100" dir="2700000" algn="tl">
                    <a:srgbClr val="000000">
                      <a:alpha val="43137"/>
                    </a:srgbClr>
                  </a:outerShdw>
                </a:effectLst>
                <a:latin typeface="+mn-ea"/>
              </a:rPr>
              <a:t>字节数 ＝ </a:t>
            </a:r>
            <a:r>
              <a:rPr lang="en-US" altLang="zh-TW" dirty="0">
                <a:effectLst>
                  <a:outerShdw blurRad="38100" dist="38100" dir="2700000" algn="tl">
                    <a:srgbClr val="000000">
                      <a:alpha val="43137"/>
                    </a:srgbClr>
                  </a:outerShdw>
                </a:effectLst>
                <a:latin typeface="+mn-ea"/>
              </a:rPr>
              <a:t>sizeof (</a:t>
            </a:r>
            <a:r>
              <a:rPr lang="zh-TW" altLang="en-US" dirty="0">
                <a:effectLst>
                  <a:outerShdw blurRad="38100" dist="38100" dir="2700000" algn="tl">
                    <a:srgbClr val="000000">
                      <a:alpha val="43137"/>
                    </a:srgbClr>
                  </a:outerShdw>
                </a:effectLst>
                <a:latin typeface="+mn-ea"/>
              </a:rPr>
              <a:t>数据类型</a:t>
            </a:r>
            <a:r>
              <a:rPr lang="en-US" altLang="zh-TW" dirty="0">
                <a:effectLst>
                  <a:outerShdw blurRad="38100" dist="38100" dir="2700000" algn="tl">
                    <a:srgbClr val="000000">
                      <a:alpha val="43137"/>
                    </a:srgbClr>
                  </a:outerShdw>
                </a:effectLst>
                <a:latin typeface="+mn-ea"/>
              </a:rPr>
              <a:t>)×</a:t>
            </a:r>
            <a:r>
              <a:rPr lang="zh-TW" altLang="en-US" dirty="0">
                <a:effectLst>
                  <a:outerShdw blurRad="38100" dist="38100" dir="2700000" algn="tl">
                    <a:srgbClr val="000000">
                      <a:alpha val="43137"/>
                    </a:srgbClr>
                  </a:outerShdw>
                </a:effectLst>
                <a:latin typeface="+mn-ea"/>
              </a:rPr>
              <a:t>数组</a:t>
            </a:r>
            <a:r>
              <a:rPr lang="zh-TW" altLang="en-US" dirty="0" smtClean="0">
                <a:effectLst>
                  <a:outerShdw blurRad="38100" dist="38100" dir="2700000" algn="tl">
                    <a:srgbClr val="000000">
                      <a:alpha val="43137"/>
                    </a:srgbClr>
                  </a:outerShdw>
                </a:effectLst>
                <a:latin typeface="+mn-ea"/>
              </a:rPr>
              <a:t>长度</a:t>
            </a:r>
            <a:endParaRPr lang="zh-TW" altLang="en-US" dirty="0">
              <a:effectLst>
                <a:outerShdw blurRad="38100" dist="38100" dir="2700000" algn="tl">
                  <a:srgbClr val="000000">
                    <a:alpha val="43137"/>
                  </a:srgbClr>
                </a:outerShdw>
              </a:effectLst>
              <a:latin typeface="+mn-ea"/>
            </a:endParaRPr>
          </a:p>
          <a:p>
            <a:endParaRPr lang="en-US"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4004563376"/>
      </p:ext>
    </p:extLst>
  </p:cSld>
  <p:clrMapOvr>
    <a:masterClrMapping/>
  </p:clrMapOvr>
  <p:transition spd="med">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4.1.3</a:t>
            </a:r>
            <a:r>
              <a:rPr lang="zh-CN" altLang="en-US" dirty="0" smtClean="0"/>
              <a:t>引用</a:t>
            </a: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11</a:t>
            </a:fld>
            <a:endParaRPr lang="en-US" altLang="zh-CN" dirty="0"/>
          </a:p>
        </p:txBody>
      </p:sp>
      <p:sp>
        <p:nvSpPr>
          <p:cNvPr id="7" name="Content Placeholder 2"/>
          <p:cNvSpPr>
            <a:spLocks noGrp="1"/>
          </p:cNvSpPr>
          <p:nvPr>
            <p:ph idx="4294967295"/>
          </p:nvPr>
        </p:nvSpPr>
        <p:spPr>
          <a:xfrm>
            <a:off x="827584" y="1772816"/>
            <a:ext cx="7993062" cy="3456384"/>
          </a:xfrm>
        </p:spPr>
        <p:txBody>
          <a:bodyPr/>
          <a:lstStyle/>
          <a:p>
            <a:r>
              <a:rPr lang="zh-TW" altLang="en-US" dirty="0"/>
              <a:t>数组元素引用的</a:t>
            </a:r>
            <a:r>
              <a:rPr lang="zh-TW" altLang="en-US" dirty="0" smtClean="0"/>
              <a:t>形式</a:t>
            </a:r>
            <a:endParaRPr lang="en-US" altLang="zh-TW" dirty="0" smtClean="0"/>
          </a:p>
          <a:p>
            <a:pPr marL="0" indent="0" algn="ctr">
              <a:buNone/>
            </a:pPr>
            <a:r>
              <a:rPr lang="zh-TW" altLang="en-US" dirty="0" smtClean="0">
                <a:solidFill>
                  <a:srgbClr val="0000FF"/>
                </a:solidFill>
              </a:rPr>
              <a:t>数组</a:t>
            </a:r>
            <a:r>
              <a:rPr lang="zh-TW" altLang="en-US" dirty="0">
                <a:solidFill>
                  <a:srgbClr val="0000FF"/>
                </a:solidFill>
              </a:rPr>
              <a:t>名</a:t>
            </a:r>
            <a:r>
              <a:rPr lang="en-US" altLang="zh-TW" dirty="0">
                <a:solidFill>
                  <a:srgbClr val="0000FF"/>
                </a:solidFill>
              </a:rPr>
              <a:t>[</a:t>
            </a:r>
            <a:r>
              <a:rPr lang="zh-TW" altLang="en-US" dirty="0">
                <a:solidFill>
                  <a:srgbClr val="0000FF"/>
                </a:solidFill>
              </a:rPr>
              <a:t>下标</a:t>
            </a:r>
            <a:r>
              <a:rPr lang="en-US" altLang="zh-CN" dirty="0">
                <a:solidFill>
                  <a:srgbClr val="0000FF"/>
                </a:solidFill>
              </a:rPr>
              <a:t>]</a:t>
            </a:r>
            <a:endParaRPr lang="zh-TW" altLang="en-US" dirty="0">
              <a:solidFill>
                <a:srgbClr val="0000FF"/>
              </a:solidFill>
            </a:endParaRPr>
          </a:p>
          <a:p>
            <a:r>
              <a:rPr lang="zh-TW" altLang="en-US" dirty="0"/>
              <a:t>下标表示了元素在数组中的顺序号，下标最大值为数组长度</a:t>
            </a:r>
            <a:r>
              <a:rPr lang="en-US" altLang="zh-TW" dirty="0"/>
              <a:t>N-1</a:t>
            </a:r>
            <a:r>
              <a:rPr lang="zh-TW" altLang="en-US" dirty="0"/>
              <a:t>。</a:t>
            </a:r>
          </a:p>
          <a:p>
            <a:r>
              <a:rPr lang="zh-TW" altLang="en-US" dirty="0"/>
              <a:t>下标只能为整型常量或整型表达式。例如：</a:t>
            </a:r>
            <a:r>
              <a:rPr lang="en-US" altLang="zh-TW" dirty="0"/>
              <a:t>a[5]; a[i+j]; a[i</a:t>
            </a:r>
            <a:r>
              <a:rPr lang="en-US" altLang="zh-TW" dirty="0" smtClean="0"/>
              <a:t>++];</a:t>
            </a:r>
            <a:endParaRPr lang="en-US" altLang="zh-TW" dirty="0"/>
          </a:p>
        </p:txBody>
      </p:sp>
    </p:spTree>
    <p:extLst>
      <p:ext uri="{BB962C8B-B14F-4D97-AF65-F5344CB8AC3E}">
        <p14:creationId xmlns:p14="http://schemas.microsoft.com/office/powerpoint/2010/main" val="2613124423"/>
      </p:ext>
    </p:extLst>
  </p:cSld>
  <p:clrMapOvr>
    <a:masterClrMapping/>
  </p:clrMapOvr>
  <p:transition spd="med">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4.1.3</a:t>
            </a:r>
            <a:r>
              <a:rPr lang="zh-CN" altLang="en-US" dirty="0" smtClean="0"/>
              <a:t>引用</a:t>
            </a:r>
            <a:endParaRPr lang="en-US" dirty="0"/>
          </a:p>
        </p:txBody>
      </p:sp>
      <p:sp>
        <p:nvSpPr>
          <p:cNvPr id="3" name="Content Placeholder 2"/>
          <p:cNvSpPr>
            <a:spLocks noGrp="1"/>
          </p:cNvSpPr>
          <p:nvPr>
            <p:ph idx="1"/>
          </p:nvPr>
        </p:nvSpPr>
        <p:spPr/>
        <p:txBody>
          <a:bodyPr/>
          <a:lstStyle/>
          <a:p>
            <a:r>
              <a:rPr lang="zh-TW" altLang="en-US" dirty="0" smtClean="0"/>
              <a:t>对一维数组而</a:t>
            </a:r>
            <a:r>
              <a:rPr lang="zh-TW" altLang="en-US" dirty="0"/>
              <a:t>言，目标地址的计算由基地址和偏移量决定，其中偏移量是数组第</a:t>
            </a:r>
            <a:r>
              <a:rPr lang="en-US" altLang="zh-TW" dirty="0"/>
              <a:t>i</a:t>
            </a:r>
            <a:r>
              <a:rPr lang="zh-TW" altLang="en-US" dirty="0"/>
              <a:t>个元素与第</a:t>
            </a:r>
            <a:r>
              <a:rPr lang="en-US" altLang="zh-TW" dirty="0"/>
              <a:t>0</a:t>
            </a:r>
            <a:r>
              <a:rPr lang="zh-TW" altLang="en-US" dirty="0"/>
              <a:t>个元素的</a:t>
            </a:r>
            <a:r>
              <a:rPr lang="zh-TW" altLang="en-US" dirty="0" smtClean="0"/>
              <a:t>偏差。</a:t>
            </a:r>
          </a:p>
          <a:p>
            <a:pPr lvl="1"/>
            <a:r>
              <a:rPr lang="zh-CN" altLang="en-US" dirty="0" smtClean="0"/>
              <a:t>计算公式：</a:t>
            </a:r>
            <a:r>
              <a:rPr lang="en-US" altLang="zh-CN" dirty="0"/>
              <a:t>a[i</a:t>
            </a:r>
            <a:r>
              <a:rPr lang="en-US" altLang="zh-CN" dirty="0" smtClean="0"/>
              <a:t>]</a:t>
            </a:r>
            <a:r>
              <a:rPr lang="zh-CN" altLang="en-US" dirty="0" smtClean="0"/>
              <a:t>地址 </a:t>
            </a:r>
            <a:r>
              <a:rPr lang="zh-CN" altLang="en-US" dirty="0"/>
              <a:t>＝ 基地</a:t>
            </a:r>
            <a:r>
              <a:rPr lang="zh-CN" altLang="en-US" dirty="0" smtClean="0"/>
              <a:t>址</a:t>
            </a:r>
            <a:r>
              <a:rPr lang="en-US" altLang="zh-CN" dirty="0" smtClean="0"/>
              <a:t> + sizeof </a:t>
            </a:r>
            <a:r>
              <a:rPr lang="en-US" altLang="zh-CN" dirty="0"/>
              <a:t>(</a:t>
            </a:r>
            <a:r>
              <a:rPr lang="zh-CN" altLang="en-US" dirty="0"/>
              <a:t>数据类型</a:t>
            </a:r>
            <a:r>
              <a:rPr lang="en-US" altLang="zh-CN" dirty="0" smtClean="0"/>
              <a:t>) ×i</a:t>
            </a:r>
          </a:p>
          <a:p>
            <a:r>
              <a:rPr lang="zh-TW" altLang="en-US" dirty="0"/>
              <a:t>对于数组的整体引用或整体赋值需要用循环语句来逐个操作数组元素。</a:t>
            </a:r>
          </a:p>
          <a:p>
            <a:pPr lvl="1"/>
            <a:r>
              <a:rPr lang="zh-CN" altLang="en-US" dirty="0" smtClean="0"/>
              <a:t>例如：</a:t>
            </a:r>
            <a:r>
              <a:rPr lang="en-US" altLang="zh-CN" dirty="0" smtClean="0"/>
              <a:t>	</a:t>
            </a:r>
            <a:endParaRPr lang="zh-CN" altLang="en-US" dirty="0"/>
          </a:p>
          <a:p>
            <a:pPr marL="0" indent="0">
              <a:buNone/>
            </a:pPr>
            <a:r>
              <a:rPr lang="pt-BR" altLang="zh-CN" sz="2400" dirty="0"/>
              <a:t>  </a:t>
            </a:r>
            <a:r>
              <a:rPr lang="pt-BR" altLang="zh-CN" sz="2400" dirty="0" smtClean="0"/>
              <a:t>       for(i=0</a:t>
            </a:r>
            <a:r>
              <a:rPr lang="pt-BR" altLang="zh-CN" sz="2400" dirty="0"/>
              <a:t>; i&lt;10; i++)</a:t>
            </a:r>
          </a:p>
          <a:p>
            <a:pPr marL="0" indent="0">
              <a:buNone/>
            </a:pPr>
            <a:r>
              <a:rPr lang="pt-BR" altLang="zh-CN" sz="2400" dirty="0"/>
              <a:t>  </a:t>
            </a:r>
            <a:r>
              <a:rPr lang="pt-BR" altLang="zh-CN" sz="2400" dirty="0" smtClean="0"/>
              <a:t>          printf</a:t>
            </a:r>
            <a:r>
              <a:rPr lang="pt-BR" altLang="zh-CN" sz="2400" dirty="0"/>
              <a:t>("%d",a[i]);</a:t>
            </a:r>
          </a:p>
          <a:p>
            <a:pPr lvl="1"/>
            <a:endParaRPr lang="en-US" altLang="zh-CN" dirty="0"/>
          </a:p>
          <a:p>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12</a:t>
            </a:fld>
            <a:endParaRPr lang="en-US" altLang="zh-CN" dirty="0"/>
          </a:p>
        </p:txBody>
      </p:sp>
      <p:sp>
        <p:nvSpPr>
          <p:cNvPr id="5" name="Content Placeholder 2"/>
          <p:cNvSpPr txBox="1">
            <a:spLocks/>
          </p:cNvSpPr>
          <p:nvPr/>
        </p:nvSpPr>
        <p:spPr bwMode="auto">
          <a:xfrm>
            <a:off x="4904581" y="4797152"/>
            <a:ext cx="3996532" cy="1592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rgbClr val="0066FF"/>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rgbClr val="0066FF"/>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rgbClr val="0066FF"/>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rgbClr val="0066FF"/>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rgbClr val="0066FF"/>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a:lstStyle>
          <a:p>
            <a:pPr marL="0" indent="0">
              <a:buNone/>
            </a:pPr>
            <a:r>
              <a:rPr lang="zh-CN" altLang="en-US" sz="2400" dirty="0"/>
              <a:t>例如：</a:t>
            </a:r>
            <a:r>
              <a:rPr lang="en-US" altLang="zh-CN" dirty="0" smtClean="0"/>
              <a:t>	</a:t>
            </a:r>
            <a:endParaRPr lang="zh-CN" altLang="en-US" dirty="0" smtClean="0"/>
          </a:p>
          <a:p>
            <a:pPr marL="0" indent="0">
              <a:buFont typeface="Webdings" pitchFamily="18" charset="2"/>
              <a:buNone/>
            </a:pPr>
            <a:r>
              <a:rPr lang="pt-BR" altLang="zh-CN" sz="2400" dirty="0" smtClean="0"/>
              <a:t>         for(i=0; i&lt;10; i++)</a:t>
            </a:r>
          </a:p>
          <a:p>
            <a:pPr marL="0" indent="0">
              <a:buFont typeface="Webdings" pitchFamily="18" charset="2"/>
              <a:buNone/>
            </a:pPr>
            <a:r>
              <a:rPr lang="pt-BR" altLang="zh-CN" sz="2400" dirty="0" smtClean="0"/>
              <a:t>            scanf("%d",&amp;a[i]);</a:t>
            </a:r>
          </a:p>
          <a:p>
            <a:pPr lvl="1"/>
            <a:endParaRPr lang="en-US" altLang="zh-CN" dirty="0" smtClean="0"/>
          </a:p>
          <a:p>
            <a:endParaRPr lang="en-US" dirty="0"/>
          </a:p>
        </p:txBody>
      </p:sp>
    </p:spTree>
    <p:extLst>
      <p:ext uri="{BB962C8B-B14F-4D97-AF65-F5344CB8AC3E}">
        <p14:creationId xmlns:p14="http://schemas.microsoft.com/office/powerpoint/2010/main" val="3220663072"/>
      </p:ext>
    </p:extLst>
  </p:cSld>
  <p:clrMapOvr>
    <a:masterClrMapping/>
  </p:clrMapOvr>
  <p:transition spd="med">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4.1.3</a:t>
            </a:r>
            <a:r>
              <a:rPr lang="zh-CN" altLang="en-US" dirty="0" smtClean="0"/>
              <a:t>引用</a:t>
            </a: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13</a:t>
            </a:fld>
            <a:endParaRPr lang="en-US" altLang="zh-CN" dirty="0"/>
          </a:p>
        </p:txBody>
      </p:sp>
      <p:sp>
        <p:nvSpPr>
          <p:cNvPr id="7" name="Content Placeholder 2"/>
          <p:cNvSpPr>
            <a:spLocks noGrp="1"/>
          </p:cNvSpPr>
          <p:nvPr>
            <p:ph idx="4294967295"/>
          </p:nvPr>
        </p:nvSpPr>
        <p:spPr>
          <a:xfrm>
            <a:off x="747101" y="1772816"/>
            <a:ext cx="8388350" cy="4032448"/>
          </a:xfrm>
        </p:spPr>
        <p:txBody>
          <a:bodyPr/>
          <a:lstStyle/>
          <a:p>
            <a:r>
              <a:rPr lang="zh-CN" altLang="en-US" dirty="0"/>
              <a:t>数组访问不能越界，即数组长度</a:t>
            </a:r>
            <a:r>
              <a:rPr lang="en-US" altLang="zh-CN" dirty="0"/>
              <a:t>N-1</a:t>
            </a:r>
            <a:r>
              <a:rPr lang="zh-CN" altLang="en-US" dirty="0"/>
              <a:t>。</a:t>
            </a:r>
            <a:endParaRPr lang="en-US" altLang="zh-CN" dirty="0"/>
          </a:p>
          <a:p>
            <a:r>
              <a:rPr lang="zh-TW" altLang="en-US" dirty="0"/>
              <a:t>动态赋值的形式：</a:t>
            </a:r>
            <a:endParaRPr lang="en-US" altLang="zh-TW" dirty="0"/>
          </a:p>
          <a:p>
            <a:pPr marL="271463" lvl="1" indent="0" algn="ctr">
              <a:buNone/>
            </a:pPr>
            <a:r>
              <a:rPr lang="zh-TW" altLang="en-US" dirty="0"/>
              <a:t>数组名</a:t>
            </a:r>
            <a:r>
              <a:rPr lang="en-US" altLang="zh-TW" dirty="0"/>
              <a:t>[</a:t>
            </a:r>
            <a:r>
              <a:rPr lang="zh-TW" altLang="en-US" dirty="0"/>
              <a:t>常量表达式</a:t>
            </a:r>
            <a:r>
              <a:rPr lang="en-US" altLang="zh-TW" dirty="0"/>
              <a:t>]  = </a:t>
            </a:r>
            <a:r>
              <a:rPr lang="zh-TW" altLang="en-US" dirty="0"/>
              <a:t>值</a:t>
            </a:r>
            <a:r>
              <a:rPr lang="en-US" altLang="zh-TW" dirty="0"/>
              <a:t>;</a:t>
            </a:r>
          </a:p>
          <a:p>
            <a:pPr marL="0" indent="0">
              <a:buNone/>
            </a:pPr>
            <a:r>
              <a:rPr lang="en-US" altLang="zh-TW" dirty="0"/>
              <a:t> </a:t>
            </a:r>
            <a:r>
              <a:rPr lang="en-US" altLang="zh-TW" dirty="0" smtClean="0"/>
              <a:t>  </a:t>
            </a:r>
            <a:r>
              <a:rPr lang="zh-TW" altLang="en-US" dirty="0" smtClean="0"/>
              <a:t>其中</a:t>
            </a:r>
            <a:r>
              <a:rPr lang="zh-TW" altLang="en-US" dirty="0"/>
              <a:t>常量表达式不能大于数组长度，如果出现这种情况，则称为数组越界。 </a:t>
            </a:r>
          </a:p>
          <a:p>
            <a:r>
              <a:rPr lang="zh-TW" altLang="en-US" dirty="0"/>
              <a:t>动态赋值只能每次对一个数组元素进行赋值</a:t>
            </a:r>
            <a:endParaRPr lang="en-US" altLang="zh-TW" dirty="0"/>
          </a:p>
          <a:p>
            <a:pPr lvl="1"/>
            <a:r>
              <a:rPr lang="zh-TW" altLang="en-US" dirty="0"/>
              <a:t>例如：</a:t>
            </a:r>
            <a:r>
              <a:rPr lang="en-US" altLang="zh-TW" dirty="0"/>
              <a:t>int a[5]; </a:t>
            </a:r>
            <a:r>
              <a:rPr lang="zh-CN" altLang="en-US" dirty="0"/>
              <a:t>语句</a:t>
            </a:r>
            <a:r>
              <a:rPr lang="en-US" altLang="zh-TW" dirty="0"/>
              <a:t>a[5]={5,6};</a:t>
            </a:r>
            <a:r>
              <a:rPr lang="zh-TW" altLang="en-US" dirty="0"/>
              <a:t>和</a:t>
            </a:r>
            <a:r>
              <a:rPr lang="en-US" altLang="zh-TW" dirty="0"/>
              <a:t>a[5,6]=7;</a:t>
            </a:r>
            <a:r>
              <a:rPr lang="zh-TW" altLang="en-US" dirty="0"/>
              <a:t>都是错误的。 </a:t>
            </a:r>
            <a:endParaRPr lang="en-US" altLang="zh-TW" dirty="0"/>
          </a:p>
          <a:p>
            <a:endParaRPr lang="zh-CN" altLang="en-US" dirty="0"/>
          </a:p>
          <a:p>
            <a:endParaRPr lang="en-US" dirty="0"/>
          </a:p>
        </p:txBody>
      </p:sp>
    </p:spTree>
    <p:extLst>
      <p:ext uri="{BB962C8B-B14F-4D97-AF65-F5344CB8AC3E}">
        <p14:creationId xmlns:p14="http://schemas.microsoft.com/office/powerpoint/2010/main" val="1802572764"/>
      </p:ext>
    </p:extLst>
  </p:cSld>
  <p:clrMapOvr>
    <a:masterClrMapping/>
  </p:clrMapOvr>
  <p:transition spd="med">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4.1.4</a:t>
            </a:r>
            <a:r>
              <a:rPr lang="zh-CN" altLang="en-US" dirty="0" smtClean="0"/>
              <a:t>初始化</a:t>
            </a:r>
            <a:endParaRPr lang="en-US" dirty="0"/>
          </a:p>
        </p:txBody>
      </p:sp>
      <p:sp>
        <p:nvSpPr>
          <p:cNvPr id="3" name="Content Placeholder 2"/>
          <p:cNvSpPr>
            <a:spLocks noGrp="1"/>
          </p:cNvSpPr>
          <p:nvPr>
            <p:ph idx="1"/>
          </p:nvPr>
        </p:nvSpPr>
        <p:spPr>
          <a:xfrm>
            <a:off x="755650" y="1700213"/>
            <a:ext cx="8568878" cy="4537075"/>
          </a:xfrm>
        </p:spPr>
        <p:txBody>
          <a:bodyPr/>
          <a:lstStyle/>
          <a:p>
            <a:r>
              <a:rPr lang="zh-TW" altLang="en-US" dirty="0" smtClean="0"/>
              <a:t>数组赋值分为初始化赋值方法和动态赋值</a:t>
            </a:r>
            <a:r>
              <a:rPr lang="zh-TW" altLang="en-US" dirty="0"/>
              <a:t>方法</a:t>
            </a:r>
            <a:r>
              <a:rPr lang="zh-TW" altLang="en-US" dirty="0" smtClean="0"/>
              <a:t>。</a:t>
            </a:r>
          </a:p>
          <a:p>
            <a:r>
              <a:rPr lang="zh-TW" altLang="en-US" dirty="0"/>
              <a:t>初始化赋值</a:t>
            </a:r>
            <a:r>
              <a:rPr lang="zh-TW" altLang="en-US" dirty="0" smtClean="0"/>
              <a:t>的形式：</a:t>
            </a:r>
            <a:endParaRPr lang="zh-TW" altLang="en-US" dirty="0"/>
          </a:p>
          <a:p>
            <a:pPr marL="0" indent="0" algn="ctr">
              <a:buNone/>
            </a:pPr>
            <a:r>
              <a:rPr lang="en-US" altLang="zh-TW" sz="2400" dirty="0" smtClean="0"/>
              <a:t> </a:t>
            </a:r>
            <a:r>
              <a:rPr lang="zh-TW" altLang="en-US" sz="2400" dirty="0" smtClean="0"/>
              <a:t>类型说</a:t>
            </a:r>
            <a:r>
              <a:rPr lang="zh-TW" altLang="en-US" sz="2400" dirty="0"/>
              <a:t>明符 </a:t>
            </a:r>
            <a:r>
              <a:rPr lang="zh-TW" altLang="en-US" sz="2400" dirty="0" smtClean="0"/>
              <a:t> 数组名</a:t>
            </a:r>
            <a:r>
              <a:rPr lang="en-US" altLang="zh-TW" sz="2400" dirty="0"/>
              <a:t>[</a:t>
            </a:r>
            <a:r>
              <a:rPr lang="zh-TW" altLang="en-US" sz="2400" dirty="0"/>
              <a:t>常量表达式</a:t>
            </a:r>
            <a:r>
              <a:rPr lang="en-US" altLang="zh-TW" sz="2400" dirty="0"/>
              <a:t>] = {</a:t>
            </a:r>
            <a:r>
              <a:rPr lang="zh-TW" altLang="en-US" sz="2400" dirty="0"/>
              <a:t>值</a:t>
            </a:r>
            <a:r>
              <a:rPr lang="en-US" altLang="zh-TW" sz="2400" dirty="0"/>
              <a:t>,</a:t>
            </a:r>
            <a:r>
              <a:rPr lang="zh-TW" altLang="en-US" sz="2400" dirty="0"/>
              <a:t>值</a:t>
            </a:r>
            <a:r>
              <a:rPr lang="en-US" altLang="zh-TW" sz="2400" dirty="0"/>
              <a:t>…….</a:t>
            </a:r>
            <a:r>
              <a:rPr lang="zh-TW" altLang="en-US" sz="2400" dirty="0"/>
              <a:t>值 </a:t>
            </a:r>
            <a:r>
              <a:rPr lang="en-US" altLang="zh-TW" sz="2400" dirty="0"/>
              <a:t>};</a:t>
            </a:r>
          </a:p>
          <a:p>
            <a:pPr lvl="1"/>
            <a:r>
              <a:rPr lang="zh-TW" altLang="en-US" dirty="0" smtClean="0"/>
              <a:t>例如</a:t>
            </a:r>
            <a:r>
              <a:rPr lang="zh-TW" altLang="en-US" dirty="0"/>
              <a:t>：</a:t>
            </a:r>
            <a:r>
              <a:rPr lang="en-US" altLang="zh-TW" dirty="0"/>
              <a:t>int a[10]={0,1,2,3,4,5,6,7,8,9</a:t>
            </a:r>
            <a:r>
              <a:rPr lang="en-US" altLang="zh-TW" dirty="0" smtClean="0"/>
              <a:t>};</a:t>
            </a:r>
          </a:p>
          <a:p>
            <a:pPr marL="271463" lvl="1" indent="0">
              <a:buNone/>
            </a:pPr>
            <a:r>
              <a:rPr lang="en-US" altLang="zh-TW" dirty="0" smtClean="0"/>
              <a:t>   </a:t>
            </a:r>
            <a:r>
              <a:rPr lang="zh-TW" altLang="en-US" dirty="0" smtClean="0"/>
              <a:t>等价</a:t>
            </a:r>
            <a:r>
              <a:rPr lang="zh-TW" altLang="en-US" dirty="0"/>
              <a:t>于赋值</a:t>
            </a:r>
            <a:r>
              <a:rPr lang="zh-TW" altLang="en-US" dirty="0" smtClean="0"/>
              <a:t>语句 </a:t>
            </a:r>
            <a:r>
              <a:rPr lang="en-US" altLang="zh-TW" dirty="0" smtClean="0"/>
              <a:t>a[0</a:t>
            </a:r>
            <a:r>
              <a:rPr lang="en-US" altLang="zh-TW" dirty="0"/>
              <a:t>]=0; a[1]=1; ... a[9]=9</a:t>
            </a:r>
            <a:r>
              <a:rPr lang="en-US" altLang="zh-TW" dirty="0" smtClean="0"/>
              <a:t>;</a:t>
            </a:r>
          </a:p>
          <a:p>
            <a:r>
              <a:rPr lang="zh-TW" altLang="en-US" dirty="0"/>
              <a:t>初始化赋值可以只给部分元素赋初值</a:t>
            </a:r>
            <a:r>
              <a:rPr lang="zh-TW" altLang="en-US" dirty="0" smtClean="0"/>
              <a:t>。</a:t>
            </a:r>
            <a:endParaRPr lang="en-US" altLang="zh-TW" dirty="0" smtClean="0"/>
          </a:p>
          <a:p>
            <a:pPr lvl="1"/>
            <a:r>
              <a:rPr lang="zh-TW" altLang="en-US" dirty="0" smtClean="0"/>
              <a:t>例如</a:t>
            </a:r>
            <a:r>
              <a:rPr lang="zh-TW" altLang="en-US" dirty="0"/>
              <a:t>：</a:t>
            </a:r>
            <a:r>
              <a:rPr lang="en-US" altLang="zh-TW" dirty="0"/>
              <a:t>int a[10]={0,1,2,3,4};</a:t>
            </a:r>
            <a:r>
              <a:rPr lang="zh-TW" altLang="en-US" dirty="0"/>
              <a:t>表示只给</a:t>
            </a:r>
            <a:r>
              <a:rPr lang="en-US" altLang="zh-TW" dirty="0"/>
              <a:t>a[0]</a:t>
            </a:r>
            <a:r>
              <a:rPr lang="zh-TW" altLang="en-US" dirty="0"/>
              <a:t>到</a:t>
            </a:r>
            <a:r>
              <a:rPr lang="en-US" altLang="zh-TW" dirty="0"/>
              <a:t>a[4]</a:t>
            </a:r>
            <a:r>
              <a:rPr lang="zh-TW" altLang="en-US" dirty="0"/>
              <a:t>的</a:t>
            </a:r>
            <a:r>
              <a:rPr lang="en-US" altLang="zh-TW" dirty="0"/>
              <a:t>5</a:t>
            </a:r>
            <a:r>
              <a:rPr lang="zh-TW" altLang="en-US" dirty="0"/>
              <a:t>个元素赋值，而后</a:t>
            </a:r>
            <a:r>
              <a:rPr lang="en-US" altLang="zh-TW" dirty="0"/>
              <a:t>5</a:t>
            </a:r>
            <a:r>
              <a:rPr lang="zh-TW" altLang="en-US" dirty="0"/>
              <a:t>个元素值未知。</a:t>
            </a:r>
          </a:p>
          <a:p>
            <a:pPr marL="271463" lvl="1" indent="0">
              <a:buNone/>
            </a:pPr>
            <a:endParaRPr lang="en-US" altLang="zh-TW" dirty="0"/>
          </a:p>
          <a:p>
            <a:endParaRPr lang="zh-TW" altLang="en-US" dirty="0"/>
          </a:p>
          <a:p>
            <a:endParaRPr lang="en-US" dirty="0" smtClean="0"/>
          </a:p>
          <a:p>
            <a:pPr marL="0" indent="0">
              <a:buNone/>
            </a:pP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14</a:t>
            </a:fld>
            <a:endParaRPr lang="en-US" altLang="zh-CN" dirty="0"/>
          </a:p>
        </p:txBody>
      </p:sp>
    </p:spTree>
    <p:extLst>
      <p:ext uri="{BB962C8B-B14F-4D97-AF65-F5344CB8AC3E}">
        <p14:creationId xmlns:p14="http://schemas.microsoft.com/office/powerpoint/2010/main" val="4262649824"/>
      </p:ext>
    </p:extLst>
  </p:cSld>
  <p:clrMapOvr>
    <a:masterClrMapping/>
  </p:clrMapOvr>
  <p:transition spd="med">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4.1.4</a:t>
            </a:r>
            <a:r>
              <a:rPr lang="zh-CN" altLang="en-US" dirty="0" smtClean="0"/>
              <a:t>初始化</a:t>
            </a: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15</a:t>
            </a:fld>
            <a:endParaRPr lang="en-US" altLang="zh-CN" dirty="0"/>
          </a:p>
        </p:txBody>
      </p:sp>
      <p:sp>
        <p:nvSpPr>
          <p:cNvPr id="6" name="Content Placeholder 2"/>
          <p:cNvSpPr>
            <a:spLocks noGrp="1"/>
          </p:cNvSpPr>
          <p:nvPr>
            <p:ph idx="4294967295"/>
          </p:nvPr>
        </p:nvSpPr>
        <p:spPr>
          <a:xfrm>
            <a:off x="755576" y="1700809"/>
            <a:ext cx="8208912" cy="4104456"/>
          </a:xfrm>
        </p:spPr>
        <p:txBody>
          <a:bodyPr/>
          <a:lstStyle/>
          <a:p>
            <a:r>
              <a:rPr lang="zh-TW" altLang="en-US" dirty="0"/>
              <a:t>初始化赋值只能逐个给元素赋值，不能给数组整体赋值。</a:t>
            </a:r>
          </a:p>
          <a:p>
            <a:pPr lvl="1"/>
            <a:r>
              <a:rPr lang="zh-TW" altLang="en-US" dirty="0" smtClean="0"/>
              <a:t>例如</a:t>
            </a:r>
            <a:r>
              <a:rPr lang="zh-TW" altLang="en-US" dirty="0"/>
              <a:t>：</a:t>
            </a:r>
            <a:r>
              <a:rPr lang="en-US" altLang="zh-TW" dirty="0"/>
              <a:t>int a[10]={1,1,1,1,1,1,1,1,1,1</a:t>
            </a:r>
            <a:r>
              <a:rPr lang="en-US" altLang="zh-TW" dirty="0" smtClean="0"/>
              <a:t>}</a:t>
            </a:r>
          </a:p>
          <a:p>
            <a:pPr marL="271463" lvl="1" indent="0">
              <a:buNone/>
            </a:pPr>
            <a:r>
              <a:rPr lang="en-US" altLang="zh-TW" dirty="0" smtClean="0"/>
              <a:t>              </a:t>
            </a:r>
            <a:r>
              <a:rPr lang="zh-TW" altLang="en-US" dirty="0" smtClean="0"/>
              <a:t>而不能</a:t>
            </a:r>
            <a:r>
              <a:rPr lang="zh-TW" altLang="en-US" dirty="0"/>
              <a:t>写成</a:t>
            </a:r>
            <a:r>
              <a:rPr lang="en-US" altLang="zh-TW" dirty="0"/>
              <a:t>int a[10]=1</a:t>
            </a:r>
            <a:r>
              <a:rPr lang="zh-TW" altLang="en-US" dirty="0"/>
              <a:t>。</a:t>
            </a:r>
          </a:p>
          <a:p>
            <a:r>
              <a:rPr lang="en-US" altLang="zh-TW" dirty="0"/>
              <a:t>C</a:t>
            </a:r>
            <a:r>
              <a:rPr lang="zh-TW" altLang="en-US" dirty="0"/>
              <a:t>语言编译时必须知道数组的大小。初始化赋值如给全部元素赋值，则数组定义时可缺省数组长度。</a:t>
            </a:r>
          </a:p>
          <a:p>
            <a:pPr lvl="1"/>
            <a:r>
              <a:rPr lang="en-US" altLang="zh-TW" dirty="0"/>
              <a:t> </a:t>
            </a:r>
            <a:r>
              <a:rPr lang="zh-TW" altLang="en-US" dirty="0"/>
              <a:t>例如</a:t>
            </a:r>
            <a:r>
              <a:rPr lang="zh-TW" altLang="en-US" dirty="0" smtClean="0"/>
              <a:t>：</a:t>
            </a:r>
            <a:r>
              <a:rPr lang="en-US" altLang="zh-TW" dirty="0" smtClean="0"/>
              <a:t>int </a:t>
            </a:r>
            <a:r>
              <a:rPr lang="en-US" altLang="zh-TW" dirty="0"/>
              <a:t>a[5]={1,2,3,4,5};</a:t>
            </a:r>
            <a:r>
              <a:rPr lang="zh-TW" altLang="en-US" dirty="0"/>
              <a:t>可写成：</a:t>
            </a:r>
            <a:r>
              <a:rPr lang="en-US" altLang="zh-TW" dirty="0"/>
              <a:t>int a[]={1,2,3,4,5</a:t>
            </a:r>
            <a:r>
              <a:rPr lang="en-US" altLang="zh-TW" dirty="0" smtClean="0"/>
              <a:t>};</a:t>
            </a:r>
          </a:p>
          <a:p>
            <a:pPr marL="271463" lvl="1" indent="0">
              <a:buNone/>
            </a:pPr>
            <a:endParaRPr lang="en-US" altLang="zh-TW" dirty="0"/>
          </a:p>
          <a:p>
            <a:endParaRPr lang="en-US" dirty="0"/>
          </a:p>
        </p:txBody>
      </p:sp>
    </p:spTree>
    <p:extLst>
      <p:ext uri="{BB962C8B-B14F-4D97-AF65-F5344CB8AC3E}">
        <p14:creationId xmlns:p14="http://schemas.microsoft.com/office/powerpoint/2010/main" val="2600057640"/>
      </p:ext>
    </p:extLst>
  </p:cSld>
  <p:clrMapOvr>
    <a:masterClrMapping/>
  </p:clrMapOvr>
  <p:transition spd="med">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4.1.4</a:t>
            </a:r>
            <a:r>
              <a:rPr lang="zh-CN" altLang="en-US" dirty="0" smtClean="0"/>
              <a:t>初始化</a:t>
            </a: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16</a:t>
            </a:fld>
            <a:endParaRPr lang="en-US" altLang="zh-CN" dirty="0"/>
          </a:p>
        </p:txBody>
      </p:sp>
      <p:sp>
        <p:nvSpPr>
          <p:cNvPr id="5" name="Content Placeholder 2"/>
          <p:cNvSpPr>
            <a:spLocks noGrp="1"/>
          </p:cNvSpPr>
          <p:nvPr>
            <p:ph idx="4294967295"/>
          </p:nvPr>
        </p:nvSpPr>
        <p:spPr>
          <a:xfrm>
            <a:off x="827584" y="1700808"/>
            <a:ext cx="7993062" cy="3528392"/>
          </a:xfrm>
        </p:spPr>
        <p:txBody>
          <a:bodyPr/>
          <a:lstStyle/>
          <a:p>
            <a:r>
              <a:rPr lang="zh-TW" altLang="en-US" dirty="0"/>
              <a:t>静态数据类型的数组初始化的形式如下：</a:t>
            </a:r>
          </a:p>
          <a:p>
            <a:pPr marL="0" indent="0" algn="ctr">
              <a:buNone/>
            </a:pPr>
            <a:r>
              <a:rPr lang="en-US" altLang="zh-TW" sz="2400" dirty="0" smtClean="0">
                <a:solidFill>
                  <a:srgbClr val="FF0000"/>
                </a:solidFill>
              </a:rPr>
              <a:t>static</a:t>
            </a:r>
            <a:r>
              <a:rPr lang="en-US" altLang="zh-TW" sz="2400" dirty="0" smtClean="0"/>
              <a:t> </a:t>
            </a:r>
            <a:r>
              <a:rPr lang="zh-TW" altLang="en-US" sz="2400" dirty="0" smtClean="0"/>
              <a:t>类型</a:t>
            </a:r>
            <a:r>
              <a:rPr lang="zh-TW" altLang="en-US" sz="2400" dirty="0"/>
              <a:t>说明符 </a:t>
            </a:r>
            <a:r>
              <a:rPr lang="zh-TW" altLang="en-US" sz="2400" dirty="0" smtClean="0"/>
              <a:t> 数组</a:t>
            </a:r>
            <a:r>
              <a:rPr lang="zh-TW" altLang="en-US" sz="2400" dirty="0"/>
              <a:t>名</a:t>
            </a:r>
            <a:r>
              <a:rPr lang="en-US" altLang="zh-TW" sz="2400" dirty="0"/>
              <a:t>[</a:t>
            </a:r>
            <a:r>
              <a:rPr lang="zh-TW" altLang="en-US" sz="2400" dirty="0"/>
              <a:t>常量表达式</a:t>
            </a:r>
            <a:r>
              <a:rPr lang="en-US" altLang="zh-TW" sz="2400" dirty="0"/>
              <a:t>] = {</a:t>
            </a:r>
            <a:r>
              <a:rPr lang="zh-TW" altLang="en-US" sz="2400" dirty="0"/>
              <a:t>值</a:t>
            </a:r>
            <a:r>
              <a:rPr lang="en-US" altLang="zh-TW" sz="2400" dirty="0"/>
              <a:t>,</a:t>
            </a:r>
            <a:r>
              <a:rPr lang="zh-TW" altLang="en-US" sz="2400" dirty="0"/>
              <a:t>值</a:t>
            </a:r>
            <a:r>
              <a:rPr lang="en-US" altLang="zh-TW" sz="2400" dirty="0"/>
              <a:t>…….</a:t>
            </a:r>
            <a:r>
              <a:rPr lang="zh-TW" altLang="en-US" sz="2400" dirty="0"/>
              <a:t>值</a:t>
            </a:r>
            <a:r>
              <a:rPr lang="en-US" altLang="zh-TW" sz="2400" dirty="0"/>
              <a:t>};</a:t>
            </a:r>
          </a:p>
          <a:p>
            <a:pPr lvl="1"/>
            <a:r>
              <a:rPr lang="zh-TW" altLang="en-US" dirty="0"/>
              <a:t>关键字</a:t>
            </a:r>
            <a:r>
              <a:rPr lang="en-US" altLang="zh-TW" dirty="0"/>
              <a:t>static</a:t>
            </a:r>
            <a:r>
              <a:rPr lang="zh-TW" altLang="en-US" dirty="0"/>
              <a:t>用于标识静态数组</a:t>
            </a:r>
            <a:r>
              <a:rPr lang="zh-TW" altLang="en-US" dirty="0" smtClean="0"/>
              <a:t>。</a:t>
            </a:r>
            <a:endParaRPr lang="en-US" altLang="zh-TW" dirty="0" smtClean="0"/>
          </a:p>
          <a:p>
            <a:r>
              <a:rPr lang="zh-TW" altLang="en-US" dirty="0" smtClean="0"/>
              <a:t>当</a:t>
            </a:r>
            <a:r>
              <a:rPr lang="zh-TW" altLang="en-US" dirty="0"/>
              <a:t>初始化值的个数少于数组元素个数时，前面元素按序初始化相应值，后面元素初始化为</a:t>
            </a:r>
            <a:r>
              <a:rPr lang="en-US" altLang="zh-TW" dirty="0"/>
              <a:t>0</a:t>
            </a:r>
            <a:r>
              <a:rPr lang="zh-TW" altLang="en-US" dirty="0" smtClean="0"/>
              <a:t>。</a:t>
            </a:r>
            <a:endParaRPr lang="en-US" altLang="zh-TW" dirty="0" smtClean="0"/>
          </a:p>
          <a:p>
            <a:pPr lvl="1"/>
            <a:r>
              <a:rPr lang="zh-CN" altLang="en-US" dirty="0"/>
              <a:t>例如： </a:t>
            </a:r>
            <a:r>
              <a:rPr lang="en-US" altLang="zh-CN" dirty="0"/>
              <a:t>static int a[5]={1,2}; </a:t>
            </a:r>
            <a:r>
              <a:rPr lang="zh-TW" altLang="en-US" dirty="0"/>
              <a:t> </a:t>
            </a:r>
            <a:r>
              <a:rPr lang="en-US" altLang="zh-CN" dirty="0" smtClean="0"/>
              <a:t>int b[5]={1,2};</a:t>
            </a:r>
            <a:endParaRPr lang="en-US" dirty="0"/>
          </a:p>
        </p:txBody>
      </p:sp>
    </p:spTree>
    <p:extLst>
      <p:ext uri="{BB962C8B-B14F-4D97-AF65-F5344CB8AC3E}">
        <p14:creationId xmlns:p14="http://schemas.microsoft.com/office/powerpoint/2010/main" val="3860047781"/>
      </p:ext>
    </p:extLst>
  </p:cSld>
  <p:clrMapOvr>
    <a:masterClrMapping/>
  </p:clrMapOvr>
  <p:transition spd="med">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4"/>
          <p:cNvSpPr>
            <a:spLocks noGrp="1"/>
          </p:cNvSpPr>
          <p:nvPr>
            <p:ph type="sldNum" sz="quarter" idx="11"/>
          </p:nvPr>
        </p:nvSpPr>
        <p:spPr>
          <a:noFill/>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0"/>
              </a:spcBef>
              <a:spcAft>
                <a:spcPct val="0"/>
              </a:spcAft>
              <a:defRPr sz="1200">
                <a:solidFill>
                  <a:schemeClr val="tx1"/>
                </a:solidFill>
                <a:latin typeface="Arial" charset="0"/>
                <a:ea typeface="宋体" pitchFamily="2" charset="-122"/>
              </a:defRPr>
            </a:lvl6pPr>
            <a:lvl7pPr marL="2971800" indent="-228600" eaLnBrk="0" fontAlgn="base" hangingPunct="0">
              <a:spcBef>
                <a:spcPct val="0"/>
              </a:spcBef>
              <a:spcAft>
                <a:spcPct val="0"/>
              </a:spcAft>
              <a:defRPr sz="1200">
                <a:solidFill>
                  <a:schemeClr val="tx1"/>
                </a:solidFill>
                <a:latin typeface="Arial" charset="0"/>
                <a:ea typeface="宋体" pitchFamily="2" charset="-122"/>
              </a:defRPr>
            </a:lvl7pPr>
            <a:lvl8pPr marL="3429000" indent="-228600" eaLnBrk="0" fontAlgn="base" hangingPunct="0">
              <a:spcBef>
                <a:spcPct val="0"/>
              </a:spcBef>
              <a:spcAft>
                <a:spcPct val="0"/>
              </a:spcAft>
              <a:defRPr sz="1200">
                <a:solidFill>
                  <a:schemeClr val="tx1"/>
                </a:solidFill>
                <a:latin typeface="Arial" charset="0"/>
                <a:ea typeface="宋体" pitchFamily="2" charset="-122"/>
              </a:defRPr>
            </a:lvl8pPr>
            <a:lvl9pPr marL="3886200" indent="-228600" eaLnBrk="0" fontAlgn="base" hangingPunct="0">
              <a:spcBef>
                <a:spcPct val="0"/>
              </a:spcBef>
              <a:spcAft>
                <a:spcPct val="0"/>
              </a:spcAft>
              <a:defRPr sz="1200">
                <a:solidFill>
                  <a:schemeClr val="tx1"/>
                </a:solidFill>
                <a:latin typeface="Arial" charset="0"/>
                <a:ea typeface="宋体" pitchFamily="2" charset="-122"/>
              </a:defRPr>
            </a:lvl9pPr>
          </a:lstStyle>
          <a:p>
            <a:fld id="{A09AD7B7-31F4-404E-A6EC-AD1B17505555}" type="slidenum">
              <a:rPr lang="en-US" altLang="zh-CN" sz="2600" smtClean="0">
                <a:solidFill>
                  <a:schemeClr val="bg1"/>
                </a:solidFill>
              </a:rPr>
              <a:pPr/>
              <a:t>17</a:t>
            </a:fld>
            <a:endParaRPr lang="en-US" altLang="zh-CN" sz="2600" dirty="0" smtClean="0">
              <a:solidFill>
                <a:schemeClr val="bg1"/>
              </a:solidFill>
            </a:endParaRPr>
          </a:p>
        </p:txBody>
      </p:sp>
      <p:sp>
        <p:nvSpPr>
          <p:cNvPr id="870402" name="AutoShape 2"/>
          <p:cNvSpPr>
            <a:spLocks noGrp="1" noChangeArrowheads="1"/>
          </p:cNvSpPr>
          <p:nvPr>
            <p:ph type="title"/>
          </p:nvPr>
        </p:nvSpPr>
        <p:spPr/>
        <p:txBody>
          <a:bodyPr/>
          <a:lstStyle/>
          <a:p>
            <a:pPr eaLnBrk="1" hangingPunct="1">
              <a:defRPr/>
            </a:pPr>
            <a:r>
              <a:rPr lang="en-US" altLang="zh-CN" dirty="0" smtClean="0"/>
              <a:t>4.1</a:t>
            </a:r>
            <a:r>
              <a:rPr lang="zh-CN" altLang="en-US" dirty="0" smtClean="0"/>
              <a:t>一维数组</a:t>
            </a:r>
          </a:p>
        </p:txBody>
      </p:sp>
      <p:sp>
        <p:nvSpPr>
          <p:cNvPr id="870403" name="Rectangle 3"/>
          <p:cNvSpPr>
            <a:spLocks noGrp="1" noChangeArrowheads="1"/>
          </p:cNvSpPr>
          <p:nvPr>
            <p:ph type="body" idx="1"/>
          </p:nvPr>
        </p:nvSpPr>
        <p:spPr>
          <a:xfrm>
            <a:off x="755651" y="1700213"/>
            <a:ext cx="4680446" cy="576659"/>
          </a:xfrm>
        </p:spPr>
        <p:txBody>
          <a:bodyPr/>
          <a:lstStyle/>
          <a:p>
            <a:pPr eaLnBrk="1" hangingPunct="1">
              <a:defRPr/>
            </a:pPr>
            <a:r>
              <a:rPr lang="zh-CN" altLang="en-US" dirty="0" smtClean="0">
                <a:solidFill>
                  <a:srgbClr val="0000FF"/>
                </a:solidFill>
                <a:effectLst>
                  <a:outerShdw blurRad="38100" dist="38100" dir="2700000" algn="tl">
                    <a:srgbClr val="000000">
                      <a:alpha val="43137"/>
                    </a:srgbClr>
                  </a:outerShdw>
                </a:effectLst>
              </a:rPr>
              <a:t>利用数组输入</a:t>
            </a:r>
            <a:r>
              <a:rPr lang="en-US" altLang="zh-CN" dirty="0" smtClean="0">
                <a:solidFill>
                  <a:srgbClr val="0000FF"/>
                </a:solidFill>
                <a:effectLst>
                  <a:outerShdw blurRad="38100" dist="38100" dir="2700000" algn="tl">
                    <a:srgbClr val="000000">
                      <a:alpha val="43137"/>
                    </a:srgbClr>
                  </a:outerShdw>
                </a:effectLst>
              </a:rPr>
              <a:t>5</a:t>
            </a:r>
            <a:r>
              <a:rPr lang="zh-CN" altLang="en-US" dirty="0" smtClean="0">
                <a:solidFill>
                  <a:srgbClr val="0000FF"/>
                </a:solidFill>
                <a:effectLst>
                  <a:outerShdw blurRad="38100" dist="38100" dir="2700000" algn="tl">
                    <a:srgbClr val="000000">
                      <a:alpha val="43137"/>
                    </a:srgbClr>
                  </a:outerShdw>
                </a:effectLst>
              </a:rPr>
              <a:t>个数，输出</a:t>
            </a:r>
          </a:p>
        </p:txBody>
      </p:sp>
      <p:sp>
        <p:nvSpPr>
          <p:cNvPr id="3" name="矩形 2"/>
          <p:cNvSpPr/>
          <p:nvPr/>
        </p:nvSpPr>
        <p:spPr>
          <a:xfrm>
            <a:off x="864096" y="2196147"/>
            <a:ext cx="8279904" cy="4401205"/>
          </a:xfrm>
          <a:prstGeom prst="rect">
            <a:avLst/>
          </a:prstGeom>
        </p:spPr>
        <p:txBody>
          <a:bodyPr wrap="square">
            <a:spAutoFit/>
          </a:bodyPr>
          <a:lstStyle/>
          <a:p>
            <a:r>
              <a:rPr lang="zh-CN" altLang="en-US" sz="2800" b="1" dirty="0">
                <a:effectLst>
                  <a:outerShdw blurRad="38100" dist="38100" dir="2700000" algn="tl">
                    <a:srgbClr val="000000">
                      <a:alpha val="43137"/>
                    </a:srgbClr>
                  </a:outerShdw>
                </a:effectLst>
              </a:rPr>
              <a:t>#include &lt;stdio.h&gt;</a:t>
            </a:r>
          </a:p>
          <a:p>
            <a:r>
              <a:rPr lang="zh-CN" altLang="en-US" sz="2800" b="1" dirty="0">
                <a:effectLst>
                  <a:outerShdw blurRad="38100" dist="38100" dir="2700000" algn="tl">
                    <a:srgbClr val="000000">
                      <a:alpha val="43137"/>
                    </a:srgbClr>
                  </a:outerShdw>
                </a:effectLst>
              </a:rPr>
              <a:t>int main()</a:t>
            </a:r>
          </a:p>
          <a:p>
            <a:r>
              <a:rPr lang="zh-CN" altLang="en-US" sz="2800" b="1" dirty="0">
                <a:effectLst>
                  <a:outerShdw blurRad="38100" dist="38100" dir="2700000" algn="tl">
                    <a:srgbClr val="000000">
                      <a:alpha val="43137"/>
                    </a:srgbClr>
                  </a:outerShdw>
                </a:effectLst>
              </a:rPr>
              <a:t>{</a:t>
            </a:r>
          </a:p>
          <a:p>
            <a:r>
              <a:rPr lang="zh-CN" altLang="en-US" sz="2800" b="1" dirty="0">
                <a:effectLst>
                  <a:outerShdw blurRad="38100" dist="38100" dir="2700000" algn="tl">
                    <a:srgbClr val="000000">
                      <a:alpha val="43137"/>
                    </a:srgbClr>
                  </a:outerShdw>
                </a:effectLst>
              </a:rPr>
              <a:t>    int </a:t>
            </a:r>
            <a:r>
              <a:rPr lang="zh-CN" altLang="en-US" sz="2800" b="1" dirty="0">
                <a:solidFill>
                  <a:srgbClr val="FF0000"/>
                </a:solidFill>
                <a:effectLst>
                  <a:outerShdw blurRad="38100" dist="38100" dir="2700000" algn="tl">
                    <a:srgbClr val="000000">
                      <a:alpha val="43137"/>
                    </a:srgbClr>
                  </a:outerShdw>
                </a:effectLst>
              </a:rPr>
              <a:t>a[5]</a:t>
            </a:r>
            <a:r>
              <a:rPr lang="zh-CN" altLang="en-US" sz="2800" b="1" dirty="0">
                <a:effectLst>
                  <a:outerShdw blurRad="38100" dist="38100" dir="2700000" algn="tl">
                    <a:srgbClr val="000000">
                      <a:alpha val="43137"/>
                    </a:srgbClr>
                  </a:outerShdw>
                </a:effectLst>
              </a:rPr>
              <a:t>,i;   </a:t>
            </a:r>
            <a:r>
              <a:rPr lang="zh-CN" altLang="en-US" sz="2800" b="1" dirty="0" smtClean="0">
                <a:effectLst>
                  <a:outerShdw blurRad="38100" dist="38100" dir="2700000" algn="tl">
                    <a:srgbClr val="000000">
                      <a:alpha val="43137"/>
                    </a:srgbClr>
                  </a:outerShdw>
                </a:effectLst>
              </a:rPr>
              <a:t>                   </a:t>
            </a:r>
            <a:r>
              <a:rPr lang="zh-CN" altLang="en-US" sz="2800" b="1" dirty="0" smtClean="0">
                <a:solidFill>
                  <a:srgbClr val="0000FF"/>
                </a:solidFill>
                <a:effectLst>
                  <a:outerShdw blurRad="38100" dist="38100" dir="2700000" algn="tl">
                    <a:srgbClr val="000000">
                      <a:alpha val="43137"/>
                    </a:srgbClr>
                  </a:outerShdw>
                </a:effectLst>
              </a:rPr>
              <a:t>//</a:t>
            </a:r>
            <a:r>
              <a:rPr lang="zh-CN" altLang="en-US" sz="2800" b="1" dirty="0">
                <a:solidFill>
                  <a:srgbClr val="0000FF"/>
                </a:solidFill>
                <a:effectLst>
                  <a:outerShdw blurRad="38100" dist="38100" dir="2700000" algn="tl">
                    <a:srgbClr val="000000">
                      <a:alpha val="43137"/>
                    </a:srgbClr>
                  </a:outerShdw>
                </a:effectLst>
              </a:rPr>
              <a:t>定义整型数组</a:t>
            </a:r>
          </a:p>
          <a:p>
            <a:r>
              <a:rPr lang="zh-CN" altLang="en-US" sz="2800" b="1" dirty="0">
                <a:effectLst>
                  <a:outerShdw blurRad="38100" dist="38100" dir="2700000" algn="tl">
                    <a:srgbClr val="000000">
                      <a:alpha val="43137"/>
                    </a:srgbClr>
                  </a:outerShdw>
                </a:effectLst>
              </a:rPr>
              <a:t>    for(i=0;i&lt;5;i++)</a:t>
            </a:r>
          </a:p>
          <a:p>
            <a:r>
              <a:rPr lang="zh-CN" altLang="en-US" sz="2800" b="1" dirty="0">
                <a:effectLst>
                  <a:outerShdw blurRad="38100" dist="38100" dir="2700000" algn="tl">
                    <a:srgbClr val="000000">
                      <a:alpha val="43137"/>
                    </a:srgbClr>
                  </a:outerShdw>
                </a:effectLst>
              </a:rPr>
              <a:t>        scanf("%d",</a:t>
            </a:r>
            <a:r>
              <a:rPr lang="zh-CN" altLang="en-US" sz="2800" b="1" dirty="0">
                <a:solidFill>
                  <a:srgbClr val="FF0000"/>
                </a:solidFill>
                <a:effectLst>
                  <a:outerShdw blurRad="38100" dist="38100" dir="2700000" algn="tl">
                    <a:srgbClr val="000000">
                      <a:alpha val="43137"/>
                    </a:srgbClr>
                  </a:outerShdw>
                </a:effectLst>
              </a:rPr>
              <a:t>&amp;a[i]</a:t>
            </a:r>
            <a:r>
              <a:rPr lang="zh-CN" altLang="en-US" sz="2800" b="1" dirty="0">
                <a:effectLst>
                  <a:outerShdw blurRad="38100" dist="38100" dir="2700000" algn="tl">
                    <a:srgbClr val="000000">
                      <a:alpha val="43137"/>
                    </a:srgbClr>
                  </a:outerShdw>
                </a:effectLst>
              </a:rPr>
              <a:t>);  </a:t>
            </a:r>
            <a:r>
              <a:rPr lang="zh-CN" altLang="en-US" sz="2800" b="1" dirty="0">
                <a:solidFill>
                  <a:srgbClr val="0000FF"/>
                </a:solidFill>
                <a:effectLst>
                  <a:outerShdw blurRad="38100" dist="38100" dir="2700000" algn="tl">
                    <a:srgbClr val="000000">
                      <a:alpha val="43137"/>
                    </a:srgbClr>
                  </a:outerShdw>
                </a:effectLst>
              </a:rPr>
              <a:t>//利用循环输入数组元素</a:t>
            </a:r>
          </a:p>
          <a:p>
            <a:r>
              <a:rPr lang="zh-CN" altLang="en-US" sz="2800" b="1" dirty="0">
                <a:effectLst>
                  <a:outerShdw blurRad="38100" dist="38100" dir="2700000" algn="tl">
                    <a:srgbClr val="000000">
                      <a:alpha val="43137"/>
                    </a:srgbClr>
                  </a:outerShdw>
                </a:effectLst>
              </a:rPr>
              <a:t>    for(i=0;i&lt;5;i++)</a:t>
            </a:r>
          </a:p>
          <a:p>
            <a:r>
              <a:rPr lang="zh-CN" altLang="en-US" sz="2800" b="1" dirty="0">
                <a:effectLst>
                  <a:outerShdw blurRad="38100" dist="38100" dir="2700000" algn="tl">
                    <a:srgbClr val="000000">
                      <a:alpha val="43137"/>
                    </a:srgbClr>
                  </a:outerShdw>
                </a:effectLst>
              </a:rPr>
              <a:t>        printf</a:t>
            </a:r>
            <a:r>
              <a:rPr lang="zh-CN" altLang="en-US" sz="2800" b="1" dirty="0" smtClean="0">
                <a:effectLst>
                  <a:outerShdw blurRad="38100" dist="38100" dir="2700000" algn="tl">
                    <a:srgbClr val="000000">
                      <a:alpha val="43137"/>
                    </a:srgbClr>
                  </a:outerShdw>
                </a:effectLst>
              </a:rPr>
              <a:t>("%d,",</a:t>
            </a:r>
            <a:r>
              <a:rPr lang="zh-CN" altLang="en-US" sz="2800" b="1" dirty="0">
                <a:solidFill>
                  <a:srgbClr val="FF0000"/>
                </a:solidFill>
                <a:effectLst>
                  <a:outerShdw blurRad="38100" dist="38100" dir="2700000" algn="tl">
                    <a:srgbClr val="000000">
                      <a:alpha val="43137"/>
                    </a:srgbClr>
                  </a:outerShdw>
                </a:effectLst>
              </a:rPr>
              <a:t>a[i]</a:t>
            </a:r>
            <a:r>
              <a:rPr lang="zh-CN" altLang="en-US" sz="2800" b="1" dirty="0">
                <a:effectLst>
                  <a:outerShdw blurRad="38100" dist="38100" dir="2700000" algn="tl">
                    <a:srgbClr val="000000">
                      <a:alpha val="43137"/>
                    </a:srgbClr>
                  </a:outerShdw>
                </a:effectLst>
              </a:rPr>
              <a:t>); </a:t>
            </a:r>
            <a:r>
              <a:rPr lang="zh-CN" altLang="en-US" sz="2800" b="1" dirty="0" smtClean="0">
                <a:effectLst>
                  <a:outerShdw blurRad="38100" dist="38100" dir="2700000" algn="tl">
                    <a:srgbClr val="000000">
                      <a:alpha val="43137"/>
                    </a:srgbClr>
                  </a:outerShdw>
                </a:effectLst>
              </a:rPr>
              <a:t>   </a:t>
            </a:r>
            <a:r>
              <a:rPr lang="zh-CN" altLang="en-US" sz="2800" b="1" dirty="0" smtClean="0">
                <a:solidFill>
                  <a:srgbClr val="0000FF"/>
                </a:solidFill>
                <a:effectLst>
                  <a:outerShdw blurRad="38100" dist="38100" dir="2700000" algn="tl">
                    <a:srgbClr val="000000">
                      <a:alpha val="43137"/>
                    </a:srgbClr>
                  </a:outerShdw>
                </a:effectLst>
              </a:rPr>
              <a:t>//</a:t>
            </a:r>
            <a:r>
              <a:rPr lang="zh-CN" altLang="en-US" sz="2800" b="1" dirty="0">
                <a:solidFill>
                  <a:srgbClr val="0000FF"/>
                </a:solidFill>
                <a:effectLst>
                  <a:outerShdw blurRad="38100" dist="38100" dir="2700000" algn="tl">
                    <a:srgbClr val="000000">
                      <a:alpha val="43137"/>
                    </a:srgbClr>
                  </a:outerShdw>
                </a:effectLst>
              </a:rPr>
              <a:t>利用循环输出数组元素</a:t>
            </a:r>
          </a:p>
          <a:p>
            <a:r>
              <a:rPr lang="zh-CN" altLang="en-US" sz="2800" b="1" dirty="0">
                <a:effectLst>
                  <a:outerShdw blurRad="38100" dist="38100" dir="2700000" algn="tl">
                    <a:srgbClr val="000000">
                      <a:alpha val="43137"/>
                    </a:srgbClr>
                  </a:outerShdw>
                </a:effectLst>
              </a:rPr>
              <a:t>    return 0;</a:t>
            </a:r>
          </a:p>
          <a:p>
            <a:r>
              <a:rPr lang="zh-CN" altLang="en-US" sz="2800" b="1"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3544846554"/>
      </p:ext>
    </p:extLst>
  </p:cSld>
  <p:clrMapOvr>
    <a:masterClrMapping/>
  </p:clrMapOvr>
  <p:transition spd="med">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4"/>
          <p:cNvSpPr>
            <a:spLocks noGrp="1"/>
          </p:cNvSpPr>
          <p:nvPr>
            <p:ph type="sldNum" sz="quarter" idx="11"/>
          </p:nvPr>
        </p:nvSpPr>
        <p:spPr>
          <a:noFill/>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0"/>
              </a:spcBef>
              <a:spcAft>
                <a:spcPct val="0"/>
              </a:spcAft>
              <a:defRPr sz="1200">
                <a:solidFill>
                  <a:schemeClr val="tx1"/>
                </a:solidFill>
                <a:latin typeface="Arial" charset="0"/>
                <a:ea typeface="宋体" pitchFamily="2" charset="-122"/>
              </a:defRPr>
            </a:lvl6pPr>
            <a:lvl7pPr marL="2971800" indent="-228600" eaLnBrk="0" fontAlgn="base" hangingPunct="0">
              <a:spcBef>
                <a:spcPct val="0"/>
              </a:spcBef>
              <a:spcAft>
                <a:spcPct val="0"/>
              </a:spcAft>
              <a:defRPr sz="1200">
                <a:solidFill>
                  <a:schemeClr val="tx1"/>
                </a:solidFill>
                <a:latin typeface="Arial" charset="0"/>
                <a:ea typeface="宋体" pitchFamily="2" charset="-122"/>
              </a:defRPr>
            </a:lvl7pPr>
            <a:lvl8pPr marL="3429000" indent="-228600" eaLnBrk="0" fontAlgn="base" hangingPunct="0">
              <a:spcBef>
                <a:spcPct val="0"/>
              </a:spcBef>
              <a:spcAft>
                <a:spcPct val="0"/>
              </a:spcAft>
              <a:defRPr sz="1200">
                <a:solidFill>
                  <a:schemeClr val="tx1"/>
                </a:solidFill>
                <a:latin typeface="Arial" charset="0"/>
                <a:ea typeface="宋体" pitchFamily="2" charset="-122"/>
              </a:defRPr>
            </a:lvl8pPr>
            <a:lvl9pPr marL="3886200" indent="-228600" eaLnBrk="0" fontAlgn="base" hangingPunct="0">
              <a:spcBef>
                <a:spcPct val="0"/>
              </a:spcBef>
              <a:spcAft>
                <a:spcPct val="0"/>
              </a:spcAft>
              <a:defRPr sz="1200">
                <a:solidFill>
                  <a:schemeClr val="tx1"/>
                </a:solidFill>
                <a:latin typeface="Arial" charset="0"/>
                <a:ea typeface="宋体" pitchFamily="2" charset="-122"/>
              </a:defRPr>
            </a:lvl9pPr>
          </a:lstStyle>
          <a:p>
            <a:fld id="{A09AD7B7-31F4-404E-A6EC-AD1B17505555}" type="slidenum">
              <a:rPr lang="en-US" altLang="zh-CN" sz="2600" smtClean="0">
                <a:solidFill>
                  <a:schemeClr val="bg1"/>
                </a:solidFill>
              </a:rPr>
              <a:pPr/>
              <a:t>18</a:t>
            </a:fld>
            <a:endParaRPr lang="en-US" altLang="zh-CN" sz="2600" dirty="0" smtClean="0">
              <a:solidFill>
                <a:schemeClr val="bg1"/>
              </a:solidFill>
            </a:endParaRPr>
          </a:p>
        </p:txBody>
      </p:sp>
      <p:sp>
        <p:nvSpPr>
          <p:cNvPr id="870402" name="AutoShape 2"/>
          <p:cNvSpPr>
            <a:spLocks noGrp="1" noChangeArrowheads="1"/>
          </p:cNvSpPr>
          <p:nvPr>
            <p:ph type="title"/>
          </p:nvPr>
        </p:nvSpPr>
        <p:spPr/>
        <p:txBody>
          <a:bodyPr/>
          <a:lstStyle/>
          <a:p>
            <a:pPr eaLnBrk="1" hangingPunct="1">
              <a:defRPr/>
            </a:pPr>
            <a:r>
              <a:rPr lang="en-US" altLang="zh-CN" dirty="0" smtClean="0"/>
              <a:t>4.1</a:t>
            </a:r>
            <a:r>
              <a:rPr lang="zh-CN" altLang="en-US" dirty="0" smtClean="0"/>
              <a:t>一维数组</a:t>
            </a:r>
          </a:p>
        </p:txBody>
      </p:sp>
      <p:sp>
        <p:nvSpPr>
          <p:cNvPr id="870403" name="Rectangle 3"/>
          <p:cNvSpPr>
            <a:spLocks noGrp="1" noChangeArrowheads="1"/>
          </p:cNvSpPr>
          <p:nvPr>
            <p:ph type="body" idx="1"/>
          </p:nvPr>
        </p:nvSpPr>
        <p:spPr>
          <a:xfrm>
            <a:off x="755651" y="1700213"/>
            <a:ext cx="5616550" cy="576659"/>
          </a:xfrm>
        </p:spPr>
        <p:txBody>
          <a:bodyPr/>
          <a:lstStyle/>
          <a:p>
            <a:pPr eaLnBrk="1" hangingPunct="1">
              <a:defRPr/>
            </a:pPr>
            <a:r>
              <a:rPr lang="zh-CN" altLang="en-US" dirty="0" smtClean="0">
                <a:solidFill>
                  <a:srgbClr val="0000FF"/>
                </a:solidFill>
                <a:effectLst>
                  <a:outerShdw blurRad="38100" dist="38100" dir="2700000" algn="tl">
                    <a:srgbClr val="000000">
                      <a:alpha val="43137"/>
                    </a:srgbClr>
                  </a:outerShdw>
                </a:effectLst>
              </a:rPr>
              <a:t>利用符号常量定义数组长度</a:t>
            </a:r>
          </a:p>
        </p:txBody>
      </p:sp>
      <p:sp>
        <p:nvSpPr>
          <p:cNvPr id="2" name="矩形 1"/>
          <p:cNvSpPr/>
          <p:nvPr/>
        </p:nvSpPr>
        <p:spPr>
          <a:xfrm>
            <a:off x="809874" y="2204864"/>
            <a:ext cx="8154614" cy="4524315"/>
          </a:xfrm>
          <a:prstGeom prst="rect">
            <a:avLst/>
          </a:prstGeom>
        </p:spPr>
        <p:txBody>
          <a:bodyPr wrap="square">
            <a:spAutoFit/>
          </a:bodyPr>
          <a:lstStyle/>
          <a:p>
            <a:r>
              <a:rPr lang="zh-CN" altLang="en-US" sz="2400" b="1" dirty="0"/>
              <a:t>#include &lt;stdio.h&gt;</a:t>
            </a:r>
          </a:p>
          <a:p>
            <a:r>
              <a:rPr lang="zh-CN" altLang="en-US" sz="2400" b="1" dirty="0">
                <a:solidFill>
                  <a:srgbClr val="FF0000"/>
                </a:solidFill>
              </a:rPr>
              <a:t>#define N 5</a:t>
            </a:r>
          </a:p>
          <a:p>
            <a:r>
              <a:rPr lang="zh-CN" altLang="en-US" sz="2400" b="1" dirty="0"/>
              <a:t>int main()</a:t>
            </a:r>
          </a:p>
          <a:p>
            <a:r>
              <a:rPr lang="zh-CN" altLang="en-US" sz="2400" b="1" dirty="0"/>
              <a:t>{</a:t>
            </a:r>
          </a:p>
          <a:p>
            <a:r>
              <a:rPr lang="zh-CN" altLang="en-US" sz="2400" b="1" dirty="0"/>
              <a:t>    int a[</a:t>
            </a:r>
            <a:r>
              <a:rPr lang="zh-CN" altLang="en-US" sz="2400" b="1" dirty="0">
                <a:solidFill>
                  <a:srgbClr val="FF0000"/>
                </a:solidFill>
              </a:rPr>
              <a:t>N</a:t>
            </a:r>
            <a:r>
              <a:rPr lang="zh-CN" altLang="en-US" sz="2400" b="1" dirty="0"/>
              <a:t>],i;            </a:t>
            </a:r>
            <a:r>
              <a:rPr lang="zh-CN" altLang="en-US" sz="2400" b="1" dirty="0" smtClean="0"/>
              <a:t>          </a:t>
            </a:r>
            <a:r>
              <a:rPr lang="zh-CN" altLang="en-US" sz="2400" b="1" dirty="0">
                <a:solidFill>
                  <a:srgbClr val="0000FF"/>
                </a:solidFill>
                <a:latin typeface="黑体" pitchFamily="49" charset="-122"/>
                <a:ea typeface="黑体" pitchFamily="49" charset="-122"/>
              </a:rPr>
              <a:t>//利用符号常量定义</a:t>
            </a:r>
            <a:r>
              <a:rPr lang="zh-CN" altLang="en-US" sz="2400" b="1" dirty="0" smtClean="0">
                <a:solidFill>
                  <a:srgbClr val="0000FF"/>
                </a:solidFill>
                <a:latin typeface="黑体" pitchFamily="49" charset="-122"/>
                <a:ea typeface="黑体" pitchFamily="49" charset="-122"/>
              </a:rPr>
              <a:t>数组</a:t>
            </a:r>
            <a:r>
              <a:rPr lang="zh-CN" altLang="en-US" sz="2400" b="1" dirty="0">
                <a:solidFill>
                  <a:srgbClr val="0000FF"/>
                </a:solidFill>
                <a:latin typeface="黑体" pitchFamily="49" charset="-122"/>
                <a:ea typeface="黑体" pitchFamily="49" charset="-122"/>
              </a:rPr>
              <a:t>长度</a:t>
            </a:r>
          </a:p>
          <a:p>
            <a:r>
              <a:rPr lang="zh-CN" altLang="en-US" sz="2400" b="1" dirty="0"/>
              <a:t>    int m;</a:t>
            </a:r>
          </a:p>
          <a:p>
            <a:r>
              <a:rPr lang="zh-CN" altLang="en-US" sz="2400" b="1" dirty="0"/>
              <a:t>    for(i=0;i&lt;</a:t>
            </a:r>
            <a:r>
              <a:rPr lang="zh-CN" altLang="en-US" sz="2400" b="1" dirty="0">
                <a:solidFill>
                  <a:srgbClr val="FF0000"/>
                </a:solidFill>
              </a:rPr>
              <a:t>N</a:t>
            </a:r>
            <a:r>
              <a:rPr lang="zh-CN" altLang="en-US" sz="2400" b="1" dirty="0"/>
              <a:t>;i++)</a:t>
            </a:r>
          </a:p>
          <a:p>
            <a:r>
              <a:rPr lang="zh-CN" altLang="en-US" sz="2400" b="1" dirty="0"/>
              <a:t>        scanf("%d",&amp;a[i]);  </a:t>
            </a:r>
            <a:r>
              <a:rPr lang="zh-CN" altLang="en-US" sz="2400" b="1" dirty="0">
                <a:solidFill>
                  <a:srgbClr val="0000FF"/>
                </a:solidFill>
                <a:latin typeface="黑体" pitchFamily="49" charset="-122"/>
                <a:ea typeface="黑体" pitchFamily="49" charset="-122"/>
              </a:rPr>
              <a:t>//利用循环输入数组元素</a:t>
            </a:r>
          </a:p>
          <a:p>
            <a:r>
              <a:rPr lang="zh-CN" altLang="en-US" sz="2400" b="1" dirty="0"/>
              <a:t>    for(i=0;i&lt;</a:t>
            </a:r>
            <a:r>
              <a:rPr lang="zh-CN" altLang="en-US" sz="2400" b="1" dirty="0">
                <a:solidFill>
                  <a:srgbClr val="FF0000"/>
                </a:solidFill>
              </a:rPr>
              <a:t>N</a:t>
            </a:r>
            <a:r>
              <a:rPr lang="zh-CN" altLang="en-US" sz="2400" b="1" dirty="0"/>
              <a:t>;i++)</a:t>
            </a:r>
          </a:p>
          <a:p>
            <a:r>
              <a:rPr lang="zh-CN" altLang="en-US" sz="2400" b="1" dirty="0"/>
              <a:t>        printf</a:t>
            </a:r>
            <a:r>
              <a:rPr lang="zh-CN" altLang="en-US" sz="2400" b="1" dirty="0" smtClean="0"/>
              <a:t>("%d,",</a:t>
            </a:r>
            <a:r>
              <a:rPr lang="zh-CN" altLang="en-US" sz="2400" b="1" dirty="0"/>
              <a:t>a[i]); </a:t>
            </a:r>
            <a:r>
              <a:rPr lang="zh-CN" altLang="en-US" sz="2400" b="1" dirty="0" smtClean="0"/>
              <a:t>   </a:t>
            </a:r>
            <a:r>
              <a:rPr lang="zh-CN" altLang="en-US" sz="2400" b="1" dirty="0" smtClean="0">
                <a:solidFill>
                  <a:srgbClr val="0000FF"/>
                </a:solidFill>
                <a:latin typeface="黑体" pitchFamily="49" charset="-122"/>
                <a:ea typeface="黑体" pitchFamily="49" charset="-122"/>
              </a:rPr>
              <a:t>//</a:t>
            </a:r>
            <a:r>
              <a:rPr lang="zh-CN" altLang="en-US" sz="2400" b="1" dirty="0">
                <a:solidFill>
                  <a:srgbClr val="0000FF"/>
                </a:solidFill>
                <a:latin typeface="黑体" pitchFamily="49" charset="-122"/>
                <a:ea typeface="黑体" pitchFamily="49" charset="-122"/>
              </a:rPr>
              <a:t>利用循环输出数组元素</a:t>
            </a:r>
          </a:p>
          <a:p>
            <a:r>
              <a:rPr lang="zh-CN" altLang="en-US" sz="2400" b="1" dirty="0"/>
              <a:t>    return 0;</a:t>
            </a:r>
          </a:p>
          <a:p>
            <a:r>
              <a:rPr lang="zh-CN" altLang="en-US" sz="2400" b="1" dirty="0"/>
              <a:t>}</a:t>
            </a:r>
          </a:p>
        </p:txBody>
      </p:sp>
    </p:spTree>
    <p:extLst>
      <p:ext uri="{BB962C8B-B14F-4D97-AF65-F5344CB8AC3E}">
        <p14:creationId xmlns:p14="http://schemas.microsoft.com/office/powerpoint/2010/main" val="3622802790"/>
      </p:ext>
    </p:extLst>
  </p:cSld>
  <p:clrMapOvr>
    <a:masterClrMapping/>
  </p:clrMapOvr>
  <p:transition spd="med">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4"/>
          <p:cNvSpPr>
            <a:spLocks noGrp="1"/>
          </p:cNvSpPr>
          <p:nvPr>
            <p:ph type="sldNum" sz="quarter" idx="11"/>
          </p:nvPr>
        </p:nvSpPr>
        <p:spPr>
          <a:noFill/>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0"/>
              </a:spcBef>
              <a:spcAft>
                <a:spcPct val="0"/>
              </a:spcAft>
              <a:defRPr sz="1200">
                <a:solidFill>
                  <a:schemeClr val="tx1"/>
                </a:solidFill>
                <a:latin typeface="Arial" charset="0"/>
                <a:ea typeface="宋体" pitchFamily="2" charset="-122"/>
              </a:defRPr>
            </a:lvl6pPr>
            <a:lvl7pPr marL="2971800" indent="-228600" eaLnBrk="0" fontAlgn="base" hangingPunct="0">
              <a:spcBef>
                <a:spcPct val="0"/>
              </a:spcBef>
              <a:spcAft>
                <a:spcPct val="0"/>
              </a:spcAft>
              <a:defRPr sz="1200">
                <a:solidFill>
                  <a:schemeClr val="tx1"/>
                </a:solidFill>
                <a:latin typeface="Arial" charset="0"/>
                <a:ea typeface="宋体" pitchFamily="2" charset="-122"/>
              </a:defRPr>
            </a:lvl7pPr>
            <a:lvl8pPr marL="3429000" indent="-228600" eaLnBrk="0" fontAlgn="base" hangingPunct="0">
              <a:spcBef>
                <a:spcPct val="0"/>
              </a:spcBef>
              <a:spcAft>
                <a:spcPct val="0"/>
              </a:spcAft>
              <a:defRPr sz="1200">
                <a:solidFill>
                  <a:schemeClr val="tx1"/>
                </a:solidFill>
                <a:latin typeface="Arial" charset="0"/>
                <a:ea typeface="宋体" pitchFamily="2" charset="-122"/>
              </a:defRPr>
            </a:lvl8pPr>
            <a:lvl9pPr marL="3886200" indent="-228600" eaLnBrk="0" fontAlgn="base" hangingPunct="0">
              <a:spcBef>
                <a:spcPct val="0"/>
              </a:spcBef>
              <a:spcAft>
                <a:spcPct val="0"/>
              </a:spcAft>
              <a:defRPr sz="1200">
                <a:solidFill>
                  <a:schemeClr val="tx1"/>
                </a:solidFill>
                <a:latin typeface="Arial" charset="0"/>
                <a:ea typeface="宋体" pitchFamily="2" charset="-122"/>
              </a:defRPr>
            </a:lvl9pPr>
          </a:lstStyle>
          <a:p>
            <a:fld id="{A09AD7B7-31F4-404E-A6EC-AD1B17505555}" type="slidenum">
              <a:rPr lang="en-US" altLang="zh-CN" sz="2600" smtClean="0">
                <a:solidFill>
                  <a:schemeClr val="bg1"/>
                </a:solidFill>
              </a:rPr>
              <a:pPr/>
              <a:t>19</a:t>
            </a:fld>
            <a:endParaRPr lang="en-US" altLang="zh-CN" sz="2600" dirty="0" smtClean="0">
              <a:solidFill>
                <a:schemeClr val="bg1"/>
              </a:solidFill>
            </a:endParaRPr>
          </a:p>
        </p:txBody>
      </p:sp>
      <p:sp>
        <p:nvSpPr>
          <p:cNvPr id="870402" name="AutoShape 2"/>
          <p:cNvSpPr>
            <a:spLocks noGrp="1" noChangeArrowheads="1"/>
          </p:cNvSpPr>
          <p:nvPr>
            <p:ph type="title"/>
          </p:nvPr>
        </p:nvSpPr>
        <p:spPr/>
        <p:txBody>
          <a:bodyPr/>
          <a:lstStyle/>
          <a:p>
            <a:pPr eaLnBrk="1" hangingPunct="1">
              <a:defRPr/>
            </a:pPr>
            <a:r>
              <a:rPr lang="en-US" altLang="zh-CN" dirty="0" smtClean="0"/>
              <a:t>4.1</a:t>
            </a:r>
            <a:r>
              <a:rPr lang="zh-CN" altLang="en-US" dirty="0" smtClean="0"/>
              <a:t>一维数组</a:t>
            </a:r>
          </a:p>
        </p:txBody>
      </p:sp>
      <p:sp>
        <p:nvSpPr>
          <p:cNvPr id="870403" name="Rectangle 3"/>
          <p:cNvSpPr>
            <a:spLocks noGrp="1" noChangeArrowheads="1"/>
          </p:cNvSpPr>
          <p:nvPr>
            <p:ph type="body" idx="1"/>
          </p:nvPr>
        </p:nvSpPr>
        <p:spPr>
          <a:xfrm>
            <a:off x="755651" y="1700213"/>
            <a:ext cx="5616550" cy="576659"/>
          </a:xfrm>
        </p:spPr>
        <p:txBody>
          <a:bodyPr/>
          <a:lstStyle/>
          <a:p>
            <a:pPr eaLnBrk="1" hangingPunct="1">
              <a:defRPr/>
            </a:pPr>
            <a:r>
              <a:rPr lang="zh-CN" altLang="en-US" dirty="0" smtClean="0">
                <a:solidFill>
                  <a:srgbClr val="0000FF"/>
                </a:solidFill>
                <a:effectLst>
                  <a:outerShdw blurRad="38100" dist="38100" dir="2700000" algn="tl">
                    <a:srgbClr val="000000">
                      <a:alpha val="43137"/>
                    </a:srgbClr>
                  </a:outerShdw>
                </a:effectLst>
              </a:rPr>
              <a:t>数组个数不确定</a:t>
            </a:r>
          </a:p>
        </p:txBody>
      </p:sp>
      <p:sp>
        <p:nvSpPr>
          <p:cNvPr id="3" name="矩形 2"/>
          <p:cNvSpPr/>
          <p:nvPr/>
        </p:nvSpPr>
        <p:spPr>
          <a:xfrm>
            <a:off x="1691680" y="2276872"/>
            <a:ext cx="3879580" cy="4524315"/>
          </a:xfrm>
          <a:prstGeom prst="rect">
            <a:avLst/>
          </a:prstGeom>
        </p:spPr>
        <p:txBody>
          <a:bodyPr wrap="square">
            <a:spAutoFit/>
          </a:bodyPr>
          <a:lstStyle/>
          <a:p>
            <a:r>
              <a:rPr lang="zh-CN" altLang="en-US" sz="2400" b="1" dirty="0"/>
              <a:t>#include &lt;stdio.h&gt;</a:t>
            </a:r>
          </a:p>
          <a:p>
            <a:r>
              <a:rPr lang="zh-CN" altLang="en-US" sz="2400" b="1" dirty="0"/>
              <a:t>int main()</a:t>
            </a:r>
          </a:p>
          <a:p>
            <a:r>
              <a:rPr lang="zh-CN" altLang="en-US" sz="2400" b="1" dirty="0"/>
              <a:t>{</a:t>
            </a:r>
          </a:p>
          <a:p>
            <a:r>
              <a:rPr lang="zh-CN" altLang="en-US" sz="2400" b="1" dirty="0"/>
              <a:t>    int </a:t>
            </a:r>
            <a:r>
              <a:rPr lang="zh-CN" altLang="en-US" sz="2400" b="1" dirty="0">
                <a:solidFill>
                  <a:srgbClr val="FF0000"/>
                </a:solidFill>
              </a:rPr>
              <a:t>a[100]</a:t>
            </a:r>
            <a:r>
              <a:rPr lang="zh-CN" altLang="en-US" sz="2400" b="1" dirty="0"/>
              <a:t>,i;</a:t>
            </a:r>
          </a:p>
          <a:p>
            <a:r>
              <a:rPr lang="zh-CN" altLang="en-US" sz="2400" b="1" dirty="0"/>
              <a:t>    int m;</a:t>
            </a:r>
          </a:p>
          <a:p>
            <a:r>
              <a:rPr lang="zh-CN" altLang="en-US" sz="2400" b="1" dirty="0"/>
              <a:t>    scanf("%d",&amp;m);</a:t>
            </a:r>
          </a:p>
          <a:p>
            <a:r>
              <a:rPr lang="zh-CN" altLang="en-US" sz="2400" b="1" dirty="0"/>
              <a:t>    for(i=0;i&lt;m;i++)</a:t>
            </a:r>
          </a:p>
          <a:p>
            <a:r>
              <a:rPr lang="zh-CN" altLang="en-US" sz="2400" b="1" dirty="0"/>
              <a:t>      </a:t>
            </a:r>
            <a:r>
              <a:rPr lang="zh-CN" altLang="en-US" sz="2400" b="1" dirty="0" smtClean="0"/>
              <a:t> scanf</a:t>
            </a:r>
            <a:r>
              <a:rPr lang="zh-CN" altLang="en-US" sz="2400" b="1" dirty="0"/>
              <a:t>("%d",&amp;a[i]); </a:t>
            </a:r>
            <a:endParaRPr lang="en-US" altLang="zh-CN" sz="2400" b="1" dirty="0" smtClean="0"/>
          </a:p>
          <a:p>
            <a:r>
              <a:rPr lang="en-US" altLang="zh-CN" sz="2400" b="1" dirty="0"/>
              <a:t> </a:t>
            </a:r>
            <a:r>
              <a:rPr lang="en-US" altLang="zh-CN" sz="2400" b="1" dirty="0" smtClean="0"/>
              <a:t>   </a:t>
            </a:r>
            <a:r>
              <a:rPr lang="zh-CN" altLang="en-US" sz="2400" b="1" dirty="0" smtClean="0"/>
              <a:t>for</a:t>
            </a:r>
            <a:r>
              <a:rPr lang="zh-CN" altLang="en-US" sz="2400" b="1" dirty="0"/>
              <a:t>(i=0;</a:t>
            </a:r>
            <a:r>
              <a:rPr lang="zh-CN" altLang="en-US" sz="2400" b="1" dirty="0">
                <a:solidFill>
                  <a:srgbClr val="FF0000"/>
                </a:solidFill>
              </a:rPr>
              <a:t>i&lt;m</a:t>
            </a:r>
            <a:r>
              <a:rPr lang="zh-CN" altLang="en-US" sz="2400" b="1" dirty="0"/>
              <a:t>;i++)</a:t>
            </a:r>
          </a:p>
          <a:p>
            <a:r>
              <a:rPr lang="zh-CN" altLang="en-US" sz="2400" b="1" dirty="0"/>
              <a:t>      </a:t>
            </a:r>
            <a:r>
              <a:rPr lang="zh-CN" altLang="en-US" sz="2400" b="1" dirty="0" smtClean="0"/>
              <a:t> printf</a:t>
            </a:r>
            <a:r>
              <a:rPr lang="zh-CN" altLang="en-US" sz="2400" b="1" dirty="0"/>
              <a:t>("%d,",a[i]); </a:t>
            </a:r>
          </a:p>
          <a:p>
            <a:r>
              <a:rPr lang="zh-CN" altLang="en-US" sz="2400" b="1" dirty="0"/>
              <a:t>    return 0;</a:t>
            </a:r>
          </a:p>
          <a:p>
            <a:r>
              <a:rPr lang="zh-CN" altLang="en-US" sz="2400" b="1" dirty="0"/>
              <a:t>}</a:t>
            </a:r>
          </a:p>
        </p:txBody>
      </p:sp>
    </p:spTree>
    <p:extLst>
      <p:ext uri="{BB962C8B-B14F-4D97-AF65-F5344CB8AC3E}">
        <p14:creationId xmlns:p14="http://schemas.microsoft.com/office/powerpoint/2010/main" val="3139611212"/>
      </p:ext>
    </p:extLst>
  </p:cSld>
  <p:clrMapOvr>
    <a:masterClrMapping/>
  </p:clrMapOvr>
  <p:transition spd="med">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4"/>
          <p:cNvSpPr>
            <a:spLocks noGrp="1"/>
          </p:cNvSpPr>
          <p:nvPr>
            <p:ph type="sldNum" sz="quarter" idx="11"/>
          </p:nvPr>
        </p:nvSpPr>
        <p:spPr>
          <a:noFill/>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0"/>
              </a:spcBef>
              <a:spcAft>
                <a:spcPct val="0"/>
              </a:spcAft>
              <a:defRPr sz="1200">
                <a:solidFill>
                  <a:schemeClr val="tx1"/>
                </a:solidFill>
                <a:latin typeface="Arial" charset="0"/>
                <a:ea typeface="宋体" pitchFamily="2" charset="-122"/>
              </a:defRPr>
            </a:lvl6pPr>
            <a:lvl7pPr marL="2971800" indent="-228600" eaLnBrk="0" fontAlgn="base" hangingPunct="0">
              <a:spcBef>
                <a:spcPct val="0"/>
              </a:spcBef>
              <a:spcAft>
                <a:spcPct val="0"/>
              </a:spcAft>
              <a:defRPr sz="1200">
                <a:solidFill>
                  <a:schemeClr val="tx1"/>
                </a:solidFill>
                <a:latin typeface="Arial" charset="0"/>
                <a:ea typeface="宋体" pitchFamily="2" charset="-122"/>
              </a:defRPr>
            </a:lvl7pPr>
            <a:lvl8pPr marL="3429000" indent="-228600" eaLnBrk="0" fontAlgn="base" hangingPunct="0">
              <a:spcBef>
                <a:spcPct val="0"/>
              </a:spcBef>
              <a:spcAft>
                <a:spcPct val="0"/>
              </a:spcAft>
              <a:defRPr sz="1200">
                <a:solidFill>
                  <a:schemeClr val="tx1"/>
                </a:solidFill>
                <a:latin typeface="Arial" charset="0"/>
                <a:ea typeface="宋体" pitchFamily="2" charset="-122"/>
              </a:defRPr>
            </a:lvl8pPr>
            <a:lvl9pPr marL="3886200" indent="-228600" eaLnBrk="0" fontAlgn="base" hangingPunct="0">
              <a:spcBef>
                <a:spcPct val="0"/>
              </a:spcBef>
              <a:spcAft>
                <a:spcPct val="0"/>
              </a:spcAft>
              <a:defRPr sz="1200">
                <a:solidFill>
                  <a:schemeClr val="tx1"/>
                </a:solidFill>
                <a:latin typeface="Arial" charset="0"/>
                <a:ea typeface="宋体" pitchFamily="2" charset="-122"/>
              </a:defRPr>
            </a:lvl9pPr>
          </a:lstStyle>
          <a:p>
            <a:fld id="{A09AD7B7-31F4-404E-A6EC-AD1B17505555}" type="slidenum">
              <a:rPr lang="en-US" altLang="zh-CN" sz="2600" smtClean="0">
                <a:solidFill>
                  <a:schemeClr val="bg1"/>
                </a:solidFill>
              </a:rPr>
              <a:pPr/>
              <a:t>20</a:t>
            </a:fld>
            <a:endParaRPr lang="en-US" altLang="zh-CN" sz="2600" dirty="0" smtClean="0">
              <a:solidFill>
                <a:schemeClr val="bg1"/>
              </a:solidFill>
            </a:endParaRPr>
          </a:p>
        </p:txBody>
      </p:sp>
      <p:sp>
        <p:nvSpPr>
          <p:cNvPr id="870402" name="AutoShape 2"/>
          <p:cNvSpPr>
            <a:spLocks noGrp="1" noChangeArrowheads="1"/>
          </p:cNvSpPr>
          <p:nvPr>
            <p:ph type="title"/>
          </p:nvPr>
        </p:nvSpPr>
        <p:spPr/>
        <p:txBody>
          <a:bodyPr/>
          <a:lstStyle/>
          <a:p>
            <a:pPr eaLnBrk="1" hangingPunct="1">
              <a:defRPr/>
            </a:pPr>
            <a:r>
              <a:rPr lang="en-US" altLang="zh-CN" dirty="0" smtClean="0"/>
              <a:t>4.1</a:t>
            </a:r>
            <a:r>
              <a:rPr lang="zh-CN" altLang="en-US" dirty="0" smtClean="0"/>
              <a:t>一维数组</a:t>
            </a:r>
          </a:p>
        </p:txBody>
      </p:sp>
      <p:sp>
        <p:nvSpPr>
          <p:cNvPr id="870403" name="Rectangle 3"/>
          <p:cNvSpPr>
            <a:spLocks noGrp="1" noChangeArrowheads="1"/>
          </p:cNvSpPr>
          <p:nvPr>
            <p:ph type="body" idx="1"/>
          </p:nvPr>
        </p:nvSpPr>
        <p:spPr>
          <a:xfrm>
            <a:off x="755651" y="1700213"/>
            <a:ext cx="5616550" cy="576659"/>
          </a:xfrm>
        </p:spPr>
        <p:txBody>
          <a:bodyPr/>
          <a:lstStyle/>
          <a:p>
            <a:pPr eaLnBrk="1" hangingPunct="1">
              <a:defRPr/>
            </a:pPr>
            <a:r>
              <a:rPr lang="zh-CN" altLang="en-US" dirty="0" smtClean="0">
                <a:solidFill>
                  <a:srgbClr val="0000FF"/>
                </a:solidFill>
                <a:effectLst>
                  <a:outerShdw blurRad="38100" dist="38100" dir="2700000" algn="tl">
                    <a:srgbClr val="000000">
                      <a:alpha val="43137"/>
                    </a:srgbClr>
                  </a:outerShdw>
                </a:effectLst>
              </a:rPr>
              <a:t>数组个数不确定</a:t>
            </a:r>
          </a:p>
        </p:txBody>
      </p:sp>
      <p:sp>
        <p:nvSpPr>
          <p:cNvPr id="3" name="矩形 2"/>
          <p:cNvSpPr/>
          <p:nvPr/>
        </p:nvSpPr>
        <p:spPr>
          <a:xfrm>
            <a:off x="4067944" y="1784410"/>
            <a:ext cx="3879580" cy="4893647"/>
          </a:xfrm>
          <a:prstGeom prst="rect">
            <a:avLst/>
          </a:prstGeom>
        </p:spPr>
        <p:txBody>
          <a:bodyPr wrap="square">
            <a:spAutoFit/>
          </a:bodyPr>
          <a:lstStyle/>
          <a:p>
            <a:r>
              <a:rPr lang="en-US" altLang="zh-CN" sz="2400" b="1" dirty="0"/>
              <a:t>#include &lt;</a:t>
            </a:r>
            <a:r>
              <a:rPr lang="en-US" altLang="zh-CN" sz="2400" b="1" dirty="0" err="1"/>
              <a:t>stdio.h</a:t>
            </a:r>
            <a:r>
              <a:rPr lang="en-US" altLang="zh-CN" sz="2400" b="1" dirty="0"/>
              <a:t>&gt;</a:t>
            </a:r>
          </a:p>
          <a:p>
            <a:r>
              <a:rPr lang="en-US" altLang="zh-CN" sz="2400" b="1" dirty="0">
                <a:solidFill>
                  <a:srgbClr val="FF0000"/>
                </a:solidFill>
              </a:rPr>
              <a:t>#define N 100</a:t>
            </a:r>
          </a:p>
          <a:p>
            <a:r>
              <a:rPr lang="en-US" altLang="zh-CN" sz="2400" b="1" dirty="0" err="1"/>
              <a:t>int</a:t>
            </a:r>
            <a:r>
              <a:rPr lang="en-US" altLang="zh-CN" sz="2400" b="1" dirty="0"/>
              <a:t> main()</a:t>
            </a:r>
          </a:p>
          <a:p>
            <a:r>
              <a:rPr lang="en-US" altLang="zh-CN" sz="2400" b="1" dirty="0"/>
              <a:t>{</a:t>
            </a:r>
          </a:p>
          <a:p>
            <a:r>
              <a:rPr lang="en-US" altLang="zh-CN" sz="2400" b="1" dirty="0"/>
              <a:t>    </a:t>
            </a:r>
            <a:r>
              <a:rPr lang="en-US" altLang="zh-CN" sz="2400" b="1" dirty="0" err="1"/>
              <a:t>int</a:t>
            </a:r>
            <a:r>
              <a:rPr lang="en-US" altLang="zh-CN" sz="2400" b="1" dirty="0"/>
              <a:t> a[</a:t>
            </a:r>
            <a:r>
              <a:rPr lang="en-US" altLang="zh-CN" sz="2400" b="1" dirty="0">
                <a:solidFill>
                  <a:srgbClr val="FF0000"/>
                </a:solidFill>
              </a:rPr>
              <a:t>N</a:t>
            </a:r>
            <a:r>
              <a:rPr lang="en-US" altLang="zh-CN" sz="2400" b="1" dirty="0"/>
              <a:t>],</a:t>
            </a:r>
            <a:r>
              <a:rPr lang="en-US" altLang="zh-CN" sz="2400" b="1" dirty="0" err="1"/>
              <a:t>i</a:t>
            </a:r>
            <a:r>
              <a:rPr lang="en-US" altLang="zh-CN" sz="2400" b="1" dirty="0"/>
              <a:t>;</a:t>
            </a:r>
          </a:p>
          <a:p>
            <a:r>
              <a:rPr lang="en-US" altLang="zh-CN" sz="2400" b="1" dirty="0"/>
              <a:t>    </a:t>
            </a:r>
            <a:r>
              <a:rPr lang="en-US" altLang="zh-CN" sz="2400" b="1" dirty="0" err="1"/>
              <a:t>int</a:t>
            </a:r>
            <a:r>
              <a:rPr lang="en-US" altLang="zh-CN" sz="2400" b="1" dirty="0"/>
              <a:t> m;</a:t>
            </a:r>
          </a:p>
          <a:p>
            <a:r>
              <a:rPr lang="en-US" altLang="zh-CN" sz="2400" b="1" dirty="0"/>
              <a:t>    </a:t>
            </a:r>
            <a:r>
              <a:rPr lang="en-US" altLang="zh-CN" sz="2400" b="1" dirty="0" err="1"/>
              <a:t>scanf</a:t>
            </a:r>
            <a:r>
              <a:rPr lang="en-US" altLang="zh-CN" sz="2400" b="1" dirty="0"/>
              <a:t>("%</a:t>
            </a:r>
            <a:r>
              <a:rPr lang="en-US" altLang="zh-CN" sz="2400" b="1" dirty="0" err="1"/>
              <a:t>d",</a:t>
            </a:r>
            <a:r>
              <a:rPr lang="en-US" altLang="zh-CN" sz="2400" b="1" dirty="0" err="1">
                <a:solidFill>
                  <a:srgbClr val="FF0000"/>
                </a:solidFill>
              </a:rPr>
              <a:t>&amp;m</a:t>
            </a:r>
            <a:r>
              <a:rPr lang="en-US" altLang="zh-CN" sz="2400" b="1" dirty="0"/>
              <a:t>);</a:t>
            </a:r>
          </a:p>
          <a:p>
            <a:r>
              <a:rPr lang="en-US" altLang="zh-CN" sz="2400" b="1" dirty="0"/>
              <a:t>    for(</a:t>
            </a:r>
            <a:r>
              <a:rPr lang="en-US" altLang="zh-CN" sz="2400" b="1" dirty="0" err="1"/>
              <a:t>i</a:t>
            </a:r>
            <a:r>
              <a:rPr lang="en-US" altLang="zh-CN" sz="2400" b="1" dirty="0"/>
              <a:t>=0;i&lt;</a:t>
            </a:r>
            <a:r>
              <a:rPr lang="en-US" altLang="zh-CN" sz="2400" b="1" dirty="0" err="1"/>
              <a:t>m;i</a:t>
            </a:r>
            <a:r>
              <a:rPr lang="en-US" altLang="zh-CN" sz="2400" b="1" dirty="0"/>
              <a:t>++)</a:t>
            </a:r>
          </a:p>
          <a:p>
            <a:r>
              <a:rPr lang="en-US" altLang="zh-CN" sz="2400" b="1" dirty="0"/>
              <a:t>       </a:t>
            </a:r>
            <a:r>
              <a:rPr lang="en-US" altLang="zh-CN" sz="2400" b="1" dirty="0" err="1"/>
              <a:t>scanf</a:t>
            </a:r>
            <a:r>
              <a:rPr lang="en-US" altLang="zh-CN" sz="2400" b="1" dirty="0"/>
              <a:t>("%</a:t>
            </a:r>
            <a:r>
              <a:rPr lang="en-US" altLang="zh-CN" sz="2400" b="1" dirty="0" err="1"/>
              <a:t>d",&amp;a</a:t>
            </a:r>
            <a:r>
              <a:rPr lang="en-US" altLang="zh-CN" sz="2400" b="1" dirty="0"/>
              <a:t>[</a:t>
            </a:r>
            <a:r>
              <a:rPr lang="en-US" altLang="zh-CN" sz="2400" b="1" dirty="0" err="1"/>
              <a:t>i</a:t>
            </a:r>
            <a:r>
              <a:rPr lang="en-US" altLang="zh-CN" sz="2400" b="1" dirty="0"/>
              <a:t>]);</a:t>
            </a:r>
          </a:p>
          <a:p>
            <a:r>
              <a:rPr lang="en-US" altLang="zh-CN" sz="2400" b="1" dirty="0"/>
              <a:t>    for(</a:t>
            </a:r>
            <a:r>
              <a:rPr lang="en-US" altLang="zh-CN" sz="2400" b="1" dirty="0" err="1"/>
              <a:t>i</a:t>
            </a:r>
            <a:r>
              <a:rPr lang="en-US" altLang="zh-CN" sz="2400" b="1" dirty="0"/>
              <a:t>=0;i&lt;</a:t>
            </a:r>
            <a:r>
              <a:rPr lang="en-US" altLang="zh-CN" sz="2400" b="1" dirty="0" err="1"/>
              <a:t>m;i</a:t>
            </a:r>
            <a:r>
              <a:rPr lang="en-US" altLang="zh-CN" sz="2400" b="1" dirty="0"/>
              <a:t>++)</a:t>
            </a:r>
          </a:p>
          <a:p>
            <a:r>
              <a:rPr lang="en-US" altLang="zh-CN" sz="2400" b="1" dirty="0"/>
              <a:t>       </a:t>
            </a:r>
            <a:r>
              <a:rPr lang="en-US" altLang="zh-CN" sz="2400" b="1" dirty="0" err="1"/>
              <a:t>printf</a:t>
            </a:r>
            <a:r>
              <a:rPr lang="en-US" altLang="zh-CN" sz="2400" b="1" dirty="0"/>
              <a:t>("%</a:t>
            </a:r>
            <a:r>
              <a:rPr lang="en-US" altLang="zh-CN" sz="2400" b="1" dirty="0" err="1"/>
              <a:t>d,",a</a:t>
            </a:r>
            <a:r>
              <a:rPr lang="en-US" altLang="zh-CN" sz="2400" b="1" dirty="0"/>
              <a:t>[</a:t>
            </a:r>
            <a:r>
              <a:rPr lang="en-US" altLang="zh-CN" sz="2400" b="1" dirty="0" err="1"/>
              <a:t>i</a:t>
            </a:r>
            <a:r>
              <a:rPr lang="en-US" altLang="zh-CN" sz="2400" b="1" dirty="0"/>
              <a:t>]);</a:t>
            </a:r>
          </a:p>
          <a:p>
            <a:r>
              <a:rPr lang="en-US" altLang="zh-CN" sz="2400" b="1" dirty="0"/>
              <a:t>    return 0;</a:t>
            </a:r>
          </a:p>
          <a:p>
            <a:r>
              <a:rPr lang="en-US" altLang="zh-CN" sz="2400" b="1" dirty="0"/>
              <a:t>}</a:t>
            </a:r>
            <a:endParaRPr lang="zh-CN" altLang="en-US" sz="2400" b="1" dirty="0"/>
          </a:p>
        </p:txBody>
      </p:sp>
    </p:spTree>
    <p:extLst>
      <p:ext uri="{BB962C8B-B14F-4D97-AF65-F5344CB8AC3E}">
        <p14:creationId xmlns:p14="http://schemas.microsoft.com/office/powerpoint/2010/main" val="4210077593"/>
      </p:ext>
    </p:extLst>
  </p:cSld>
  <p:clrMapOvr>
    <a:masterClrMapping/>
  </p:clrMapOvr>
  <p:transition spd="med">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4"/>
          <p:cNvSpPr>
            <a:spLocks noGrp="1"/>
          </p:cNvSpPr>
          <p:nvPr>
            <p:ph type="sldNum" sz="quarter" idx="11"/>
          </p:nvPr>
        </p:nvSpPr>
        <p:spPr>
          <a:noFill/>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0"/>
              </a:spcBef>
              <a:spcAft>
                <a:spcPct val="0"/>
              </a:spcAft>
              <a:defRPr sz="1200">
                <a:solidFill>
                  <a:schemeClr val="tx1"/>
                </a:solidFill>
                <a:latin typeface="Arial" charset="0"/>
                <a:ea typeface="宋体" pitchFamily="2" charset="-122"/>
              </a:defRPr>
            </a:lvl6pPr>
            <a:lvl7pPr marL="2971800" indent="-228600" eaLnBrk="0" fontAlgn="base" hangingPunct="0">
              <a:spcBef>
                <a:spcPct val="0"/>
              </a:spcBef>
              <a:spcAft>
                <a:spcPct val="0"/>
              </a:spcAft>
              <a:defRPr sz="1200">
                <a:solidFill>
                  <a:schemeClr val="tx1"/>
                </a:solidFill>
                <a:latin typeface="Arial" charset="0"/>
                <a:ea typeface="宋体" pitchFamily="2" charset="-122"/>
              </a:defRPr>
            </a:lvl7pPr>
            <a:lvl8pPr marL="3429000" indent="-228600" eaLnBrk="0" fontAlgn="base" hangingPunct="0">
              <a:spcBef>
                <a:spcPct val="0"/>
              </a:spcBef>
              <a:spcAft>
                <a:spcPct val="0"/>
              </a:spcAft>
              <a:defRPr sz="1200">
                <a:solidFill>
                  <a:schemeClr val="tx1"/>
                </a:solidFill>
                <a:latin typeface="Arial" charset="0"/>
                <a:ea typeface="宋体" pitchFamily="2" charset="-122"/>
              </a:defRPr>
            </a:lvl8pPr>
            <a:lvl9pPr marL="3886200" indent="-228600" eaLnBrk="0" fontAlgn="base" hangingPunct="0">
              <a:spcBef>
                <a:spcPct val="0"/>
              </a:spcBef>
              <a:spcAft>
                <a:spcPct val="0"/>
              </a:spcAft>
              <a:defRPr sz="1200">
                <a:solidFill>
                  <a:schemeClr val="tx1"/>
                </a:solidFill>
                <a:latin typeface="Arial" charset="0"/>
                <a:ea typeface="宋体" pitchFamily="2" charset="-122"/>
              </a:defRPr>
            </a:lvl9pPr>
          </a:lstStyle>
          <a:p>
            <a:fld id="{A09AD7B7-31F4-404E-A6EC-AD1B17505555}" type="slidenum">
              <a:rPr lang="en-US" altLang="zh-CN" sz="2600" smtClean="0">
                <a:solidFill>
                  <a:schemeClr val="bg1"/>
                </a:solidFill>
              </a:rPr>
              <a:pPr/>
              <a:t>21</a:t>
            </a:fld>
            <a:endParaRPr lang="en-US" altLang="zh-CN" sz="2600" dirty="0" smtClean="0">
              <a:solidFill>
                <a:schemeClr val="bg1"/>
              </a:solidFill>
            </a:endParaRPr>
          </a:p>
        </p:txBody>
      </p:sp>
      <p:sp>
        <p:nvSpPr>
          <p:cNvPr id="870402" name="AutoShape 2"/>
          <p:cNvSpPr>
            <a:spLocks noGrp="1" noChangeArrowheads="1"/>
          </p:cNvSpPr>
          <p:nvPr>
            <p:ph type="title"/>
          </p:nvPr>
        </p:nvSpPr>
        <p:spPr/>
        <p:txBody>
          <a:bodyPr/>
          <a:lstStyle/>
          <a:p>
            <a:pPr eaLnBrk="1" hangingPunct="1">
              <a:defRPr/>
            </a:pPr>
            <a:r>
              <a:rPr lang="en-US" altLang="zh-CN" dirty="0" smtClean="0"/>
              <a:t>4.1</a:t>
            </a:r>
            <a:r>
              <a:rPr lang="zh-CN" altLang="en-US" dirty="0" smtClean="0"/>
              <a:t>一维数组</a:t>
            </a:r>
          </a:p>
        </p:txBody>
      </p:sp>
      <p:sp>
        <p:nvSpPr>
          <p:cNvPr id="870403" name="Rectangle 3"/>
          <p:cNvSpPr>
            <a:spLocks noGrp="1" noChangeArrowheads="1"/>
          </p:cNvSpPr>
          <p:nvPr>
            <p:ph type="body" idx="1"/>
          </p:nvPr>
        </p:nvSpPr>
        <p:spPr>
          <a:xfrm>
            <a:off x="755651" y="1700213"/>
            <a:ext cx="5616550" cy="576659"/>
          </a:xfrm>
        </p:spPr>
        <p:txBody>
          <a:bodyPr/>
          <a:lstStyle/>
          <a:p>
            <a:pPr eaLnBrk="1" hangingPunct="1">
              <a:defRPr/>
            </a:pPr>
            <a:r>
              <a:rPr lang="zh-CN" altLang="en-US" dirty="0" smtClean="0">
                <a:solidFill>
                  <a:srgbClr val="0000FF"/>
                </a:solidFill>
                <a:effectLst>
                  <a:outerShdw blurRad="38100" dist="38100" dir="2700000" algn="tl">
                    <a:srgbClr val="000000">
                      <a:alpha val="43137"/>
                    </a:srgbClr>
                  </a:outerShdw>
                </a:effectLst>
              </a:rPr>
              <a:t>数组初始化赋值</a:t>
            </a:r>
          </a:p>
        </p:txBody>
      </p:sp>
      <p:sp>
        <p:nvSpPr>
          <p:cNvPr id="2" name="矩形 1"/>
          <p:cNvSpPr/>
          <p:nvPr/>
        </p:nvSpPr>
        <p:spPr>
          <a:xfrm>
            <a:off x="899592" y="2564904"/>
            <a:ext cx="7920880" cy="3046988"/>
          </a:xfrm>
          <a:prstGeom prst="rect">
            <a:avLst/>
          </a:prstGeom>
        </p:spPr>
        <p:txBody>
          <a:bodyPr wrap="square">
            <a:spAutoFit/>
          </a:bodyPr>
          <a:lstStyle/>
          <a:p>
            <a:r>
              <a:rPr lang="zh-CN" altLang="en-US" sz="2400" b="1" dirty="0"/>
              <a:t>#include &lt;stdio.h&gt;</a:t>
            </a:r>
          </a:p>
          <a:p>
            <a:r>
              <a:rPr lang="zh-CN" altLang="en-US" sz="2400" b="1" dirty="0"/>
              <a:t>int main()</a:t>
            </a:r>
          </a:p>
          <a:p>
            <a:r>
              <a:rPr lang="zh-CN" altLang="en-US" sz="2400" b="1" dirty="0"/>
              <a:t>{</a:t>
            </a:r>
          </a:p>
          <a:p>
            <a:r>
              <a:rPr lang="zh-CN" altLang="en-US" sz="2400" b="1" dirty="0"/>
              <a:t>    int </a:t>
            </a:r>
            <a:r>
              <a:rPr lang="zh-CN" altLang="en-US" sz="2400" b="1" dirty="0">
                <a:solidFill>
                  <a:srgbClr val="FF0000"/>
                </a:solidFill>
              </a:rPr>
              <a:t>a[5]={1,2,3,4,5}</a:t>
            </a:r>
            <a:r>
              <a:rPr lang="zh-CN" altLang="en-US" sz="2400" b="1" dirty="0"/>
              <a:t>,i; </a:t>
            </a:r>
            <a:r>
              <a:rPr lang="zh-CN" altLang="en-US" sz="2400" b="1" dirty="0" smtClean="0"/>
              <a:t>     </a:t>
            </a:r>
            <a:r>
              <a:rPr lang="zh-CN" altLang="en-US" sz="2400" b="1" dirty="0" smtClean="0">
                <a:solidFill>
                  <a:srgbClr val="0000FF"/>
                </a:solidFill>
                <a:latin typeface="黑体" pitchFamily="49" charset="-122"/>
                <a:ea typeface="黑体" pitchFamily="49" charset="-122"/>
              </a:rPr>
              <a:t>//</a:t>
            </a:r>
            <a:r>
              <a:rPr lang="zh-CN" altLang="en-US" sz="2400" b="1" dirty="0">
                <a:solidFill>
                  <a:srgbClr val="0000FF"/>
                </a:solidFill>
                <a:latin typeface="黑体" pitchFamily="49" charset="-122"/>
                <a:ea typeface="黑体" pitchFamily="49" charset="-122"/>
              </a:rPr>
              <a:t>定义数组</a:t>
            </a:r>
            <a:r>
              <a:rPr lang="zh-CN" altLang="en-US" sz="2400" b="1" dirty="0" smtClean="0">
                <a:solidFill>
                  <a:srgbClr val="0000FF"/>
                </a:solidFill>
                <a:latin typeface="黑体" pitchFamily="49" charset="-122"/>
                <a:ea typeface="黑体" pitchFamily="49" charset="-122"/>
              </a:rPr>
              <a:t>时初始化赋值</a:t>
            </a:r>
            <a:endParaRPr lang="zh-CN" altLang="en-US" sz="2400" b="1" dirty="0">
              <a:solidFill>
                <a:srgbClr val="0000FF"/>
              </a:solidFill>
              <a:latin typeface="黑体" pitchFamily="49" charset="-122"/>
              <a:ea typeface="黑体" pitchFamily="49" charset="-122"/>
            </a:endParaRPr>
          </a:p>
          <a:p>
            <a:r>
              <a:rPr lang="zh-CN" altLang="en-US" sz="2400" b="1" dirty="0"/>
              <a:t>    for(i=0;i&lt;5;i++)</a:t>
            </a:r>
          </a:p>
          <a:p>
            <a:r>
              <a:rPr lang="zh-CN" altLang="en-US" sz="2400" b="1" dirty="0"/>
              <a:t>      printf("%d,",a[i]);</a:t>
            </a:r>
          </a:p>
          <a:p>
            <a:r>
              <a:rPr lang="zh-CN" altLang="en-US" sz="2400" b="1" dirty="0"/>
              <a:t>    return 0;</a:t>
            </a:r>
          </a:p>
          <a:p>
            <a:r>
              <a:rPr lang="zh-CN" altLang="en-US" sz="2400" b="1" dirty="0"/>
              <a:t>}</a:t>
            </a:r>
          </a:p>
        </p:txBody>
      </p:sp>
    </p:spTree>
    <p:extLst>
      <p:ext uri="{BB962C8B-B14F-4D97-AF65-F5344CB8AC3E}">
        <p14:creationId xmlns:p14="http://schemas.microsoft.com/office/powerpoint/2010/main" val="2631723153"/>
      </p:ext>
    </p:extLst>
  </p:cSld>
  <p:clrMapOvr>
    <a:masterClrMapping/>
  </p:clrMapOvr>
  <p:transition spd="med">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4"/>
          <p:cNvSpPr>
            <a:spLocks noGrp="1"/>
          </p:cNvSpPr>
          <p:nvPr>
            <p:ph type="sldNum" sz="quarter" idx="11"/>
          </p:nvPr>
        </p:nvSpPr>
        <p:spPr>
          <a:noFill/>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0"/>
              </a:spcBef>
              <a:spcAft>
                <a:spcPct val="0"/>
              </a:spcAft>
              <a:defRPr sz="1200">
                <a:solidFill>
                  <a:schemeClr val="tx1"/>
                </a:solidFill>
                <a:latin typeface="Arial" charset="0"/>
                <a:ea typeface="宋体" pitchFamily="2" charset="-122"/>
              </a:defRPr>
            </a:lvl6pPr>
            <a:lvl7pPr marL="2971800" indent="-228600" eaLnBrk="0" fontAlgn="base" hangingPunct="0">
              <a:spcBef>
                <a:spcPct val="0"/>
              </a:spcBef>
              <a:spcAft>
                <a:spcPct val="0"/>
              </a:spcAft>
              <a:defRPr sz="1200">
                <a:solidFill>
                  <a:schemeClr val="tx1"/>
                </a:solidFill>
                <a:latin typeface="Arial" charset="0"/>
                <a:ea typeface="宋体" pitchFamily="2" charset="-122"/>
              </a:defRPr>
            </a:lvl7pPr>
            <a:lvl8pPr marL="3429000" indent="-228600" eaLnBrk="0" fontAlgn="base" hangingPunct="0">
              <a:spcBef>
                <a:spcPct val="0"/>
              </a:spcBef>
              <a:spcAft>
                <a:spcPct val="0"/>
              </a:spcAft>
              <a:defRPr sz="1200">
                <a:solidFill>
                  <a:schemeClr val="tx1"/>
                </a:solidFill>
                <a:latin typeface="Arial" charset="0"/>
                <a:ea typeface="宋体" pitchFamily="2" charset="-122"/>
              </a:defRPr>
            </a:lvl8pPr>
            <a:lvl9pPr marL="3886200" indent="-228600" eaLnBrk="0" fontAlgn="base" hangingPunct="0">
              <a:spcBef>
                <a:spcPct val="0"/>
              </a:spcBef>
              <a:spcAft>
                <a:spcPct val="0"/>
              </a:spcAft>
              <a:defRPr sz="1200">
                <a:solidFill>
                  <a:schemeClr val="tx1"/>
                </a:solidFill>
                <a:latin typeface="Arial" charset="0"/>
                <a:ea typeface="宋体" pitchFamily="2" charset="-122"/>
              </a:defRPr>
            </a:lvl9pPr>
          </a:lstStyle>
          <a:p>
            <a:fld id="{A09AD7B7-31F4-404E-A6EC-AD1B17505555}" type="slidenum">
              <a:rPr lang="en-US" altLang="zh-CN" sz="2600" smtClean="0">
                <a:solidFill>
                  <a:schemeClr val="bg1"/>
                </a:solidFill>
              </a:rPr>
              <a:pPr/>
              <a:t>22</a:t>
            </a:fld>
            <a:endParaRPr lang="en-US" altLang="zh-CN" sz="2600" dirty="0" smtClean="0">
              <a:solidFill>
                <a:schemeClr val="bg1"/>
              </a:solidFill>
            </a:endParaRPr>
          </a:p>
        </p:txBody>
      </p:sp>
      <p:sp>
        <p:nvSpPr>
          <p:cNvPr id="870402" name="AutoShape 2"/>
          <p:cNvSpPr>
            <a:spLocks noGrp="1" noChangeArrowheads="1"/>
          </p:cNvSpPr>
          <p:nvPr>
            <p:ph type="title"/>
          </p:nvPr>
        </p:nvSpPr>
        <p:spPr/>
        <p:txBody>
          <a:bodyPr/>
          <a:lstStyle/>
          <a:p>
            <a:pPr eaLnBrk="1" hangingPunct="1">
              <a:defRPr/>
            </a:pPr>
            <a:r>
              <a:rPr lang="en-US" altLang="zh-CN" dirty="0" smtClean="0"/>
              <a:t>4.1</a:t>
            </a:r>
            <a:r>
              <a:rPr lang="zh-CN" altLang="en-US" dirty="0" smtClean="0"/>
              <a:t>一维数组</a:t>
            </a:r>
          </a:p>
        </p:txBody>
      </p:sp>
      <p:sp>
        <p:nvSpPr>
          <p:cNvPr id="870403" name="Rectangle 3"/>
          <p:cNvSpPr>
            <a:spLocks noGrp="1" noChangeArrowheads="1"/>
          </p:cNvSpPr>
          <p:nvPr>
            <p:ph type="body" idx="1"/>
          </p:nvPr>
        </p:nvSpPr>
        <p:spPr>
          <a:xfrm>
            <a:off x="755651" y="1700213"/>
            <a:ext cx="5616550" cy="576659"/>
          </a:xfrm>
        </p:spPr>
        <p:txBody>
          <a:bodyPr/>
          <a:lstStyle/>
          <a:p>
            <a:pPr eaLnBrk="1" hangingPunct="1">
              <a:defRPr/>
            </a:pPr>
            <a:r>
              <a:rPr lang="zh-CN" altLang="en-US" dirty="0" smtClean="0">
                <a:solidFill>
                  <a:srgbClr val="0000FF"/>
                </a:solidFill>
                <a:effectLst>
                  <a:outerShdw blurRad="38100" dist="38100" dir="2700000" algn="tl">
                    <a:srgbClr val="000000">
                      <a:alpha val="43137"/>
                    </a:srgbClr>
                  </a:outerShdw>
                </a:effectLst>
              </a:rPr>
              <a:t>数组初始化赋值</a:t>
            </a:r>
          </a:p>
        </p:txBody>
      </p:sp>
      <p:sp>
        <p:nvSpPr>
          <p:cNvPr id="2" name="矩形 1"/>
          <p:cNvSpPr/>
          <p:nvPr/>
        </p:nvSpPr>
        <p:spPr>
          <a:xfrm>
            <a:off x="899592" y="2564904"/>
            <a:ext cx="7056784" cy="3046988"/>
          </a:xfrm>
          <a:prstGeom prst="rect">
            <a:avLst/>
          </a:prstGeom>
        </p:spPr>
        <p:txBody>
          <a:bodyPr wrap="square">
            <a:spAutoFit/>
          </a:bodyPr>
          <a:lstStyle/>
          <a:p>
            <a:r>
              <a:rPr lang="zh-CN" altLang="en-US" sz="2400" b="1" dirty="0"/>
              <a:t>#include &lt;stdio.h&gt;</a:t>
            </a:r>
          </a:p>
          <a:p>
            <a:r>
              <a:rPr lang="zh-CN" altLang="en-US" sz="2400" b="1" dirty="0"/>
              <a:t>int main()</a:t>
            </a:r>
          </a:p>
          <a:p>
            <a:r>
              <a:rPr lang="zh-CN" altLang="en-US" sz="2400" b="1" dirty="0"/>
              <a:t>{</a:t>
            </a:r>
          </a:p>
          <a:p>
            <a:r>
              <a:rPr lang="zh-CN" altLang="en-US" sz="2400" b="1" dirty="0"/>
              <a:t>    int a[5]={</a:t>
            </a:r>
            <a:r>
              <a:rPr lang="zh-CN" altLang="en-US" sz="2400" b="1" dirty="0">
                <a:solidFill>
                  <a:srgbClr val="FF0000"/>
                </a:solidFill>
              </a:rPr>
              <a:t>1,2,</a:t>
            </a:r>
            <a:r>
              <a:rPr lang="zh-CN" altLang="en-US" sz="2400" b="1" dirty="0" smtClean="0">
                <a:solidFill>
                  <a:srgbClr val="FF0000"/>
                </a:solidFill>
              </a:rPr>
              <a:t>3</a:t>
            </a:r>
            <a:r>
              <a:rPr lang="zh-CN" altLang="en-US" sz="2400" b="1" dirty="0" smtClean="0"/>
              <a:t>},</a:t>
            </a:r>
            <a:r>
              <a:rPr lang="zh-CN" altLang="en-US" sz="2400" b="1" dirty="0"/>
              <a:t>i; </a:t>
            </a:r>
            <a:r>
              <a:rPr lang="zh-CN" altLang="en-US" sz="2400" b="1" dirty="0" smtClean="0"/>
              <a:t>     </a:t>
            </a:r>
            <a:r>
              <a:rPr lang="zh-CN" altLang="en-US" sz="2400" b="1" dirty="0" smtClean="0">
                <a:solidFill>
                  <a:srgbClr val="0000FF"/>
                </a:solidFill>
                <a:latin typeface="黑体" pitchFamily="49" charset="-122"/>
                <a:ea typeface="黑体" pitchFamily="49" charset="-122"/>
              </a:rPr>
              <a:t>//</a:t>
            </a:r>
            <a:r>
              <a:rPr lang="zh-CN" altLang="en-US" sz="2400" b="1" dirty="0">
                <a:solidFill>
                  <a:srgbClr val="0000FF"/>
                </a:solidFill>
                <a:latin typeface="黑体" pitchFamily="49" charset="-122"/>
                <a:ea typeface="黑体" pitchFamily="49" charset="-122"/>
              </a:rPr>
              <a:t>定义数组</a:t>
            </a:r>
            <a:r>
              <a:rPr lang="zh-CN" altLang="en-US" sz="2400" b="1" dirty="0" smtClean="0">
                <a:solidFill>
                  <a:srgbClr val="0000FF"/>
                </a:solidFill>
                <a:latin typeface="黑体" pitchFamily="49" charset="-122"/>
                <a:ea typeface="黑体" pitchFamily="49" charset="-122"/>
              </a:rPr>
              <a:t>时初始化赋值</a:t>
            </a:r>
            <a:endParaRPr lang="zh-CN" altLang="en-US" sz="2400" b="1" dirty="0">
              <a:solidFill>
                <a:srgbClr val="0000FF"/>
              </a:solidFill>
              <a:latin typeface="黑体" pitchFamily="49" charset="-122"/>
              <a:ea typeface="黑体" pitchFamily="49" charset="-122"/>
            </a:endParaRPr>
          </a:p>
          <a:p>
            <a:r>
              <a:rPr lang="zh-CN" altLang="en-US" sz="2400" b="1" dirty="0"/>
              <a:t>    for(i=0;i&lt;5;i++)</a:t>
            </a:r>
          </a:p>
          <a:p>
            <a:r>
              <a:rPr lang="zh-CN" altLang="en-US" sz="2400" b="1" dirty="0"/>
              <a:t>      printf("%d,",a[i]);</a:t>
            </a:r>
          </a:p>
          <a:p>
            <a:r>
              <a:rPr lang="zh-CN" altLang="en-US" sz="2400" b="1" dirty="0"/>
              <a:t>    return 0;</a:t>
            </a:r>
          </a:p>
          <a:p>
            <a:r>
              <a:rPr lang="zh-CN" altLang="en-US" sz="2400" b="1" dirty="0"/>
              <a:t>}</a:t>
            </a:r>
          </a:p>
        </p:txBody>
      </p:sp>
      <p:sp>
        <p:nvSpPr>
          <p:cNvPr id="3" name="矩形 2"/>
          <p:cNvSpPr/>
          <p:nvPr/>
        </p:nvSpPr>
        <p:spPr bwMode="auto">
          <a:xfrm>
            <a:off x="5004048" y="4869160"/>
            <a:ext cx="2664296" cy="576064"/>
          </a:xfrm>
          <a:prstGeom prst="rect">
            <a:avLst/>
          </a:prstGeom>
          <a:no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2400" b="1" dirty="0">
                <a:solidFill>
                  <a:srgbClr val="FF0000"/>
                </a:solidFill>
                <a:effectLst>
                  <a:outerShdw blurRad="38100" dist="38100" dir="2700000" algn="tl">
                    <a:srgbClr val="000000">
                      <a:alpha val="43137"/>
                    </a:srgbClr>
                  </a:outerShdw>
                </a:effectLst>
              </a:rPr>
              <a:t>各</a:t>
            </a:r>
            <a:r>
              <a:rPr kumimoji="0" lang="zh-CN" altLang="en-US" sz="2400" b="1" i="0" u="none" strike="noStrike" cap="none" normalizeH="0" baseline="0" dirty="0" smtClean="0">
                <a:ln>
                  <a:noFill/>
                </a:ln>
                <a:solidFill>
                  <a:srgbClr val="FF0000"/>
                </a:solidFill>
                <a:effectLst>
                  <a:outerShdw blurRad="38100" dist="38100" dir="2700000" algn="tl">
                    <a:srgbClr val="000000">
                      <a:alpha val="43137"/>
                    </a:srgbClr>
                  </a:outerShdw>
                </a:effectLst>
              </a:rPr>
              <a:t>数组元素的值？</a:t>
            </a:r>
          </a:p>
        </p:txBody>
      </p:sp>
    </p:spTree>
    <p:extLst>
      <p:ext uri="{BB962C8B-B14F-4D97-AF65-F5344CB8AC3E}">
        <p14:creationId xmlns:p14="http://schemas.microsoft.com/office/powerpoint/2010/main" val="2891552316"/>
      </p:ext>
    </p:extLst>
  </p:cSld>
  <p:clrMapOvr>
    <a:masterClrMapping/>
  </p:clrMapOvr>
  <p:transition spd="med">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4"/>
          <p:cNvSpPr>
            <a:spLocks noGrp="1"/>
          </p:cNvSpPr>
          <p:nvPr>
            <p:ph type="sldNum" sz="quarter" idx="11"/>
          </p:nvPr>
        </p:nvSpPr>
        <p:spPr>
          <a:noFill/>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0"/>
              </a:spcBef>
              <a:spcAft>
                <a:spcPct val="0"/>
              </a:spcAft>
              <a:defRPr sz="1200">
                <a:solidFill>
                  <a:schemeClr val="tx1"/>
                </a:solidFill>
                <a:latin typeface="Arial" charset="0"/>
                <a:ea typeface="宋体" pitchFamily="2" charset="-122"/>
              </a:defRPr>
            </a:lvl6pPr>
            <a:lvl7pPr marL="2971800" indent="-228600" eaLnBrk="0" fontAlgn="base" hangingPunct="0">
              <a:spcBef>
                <a:spcPct val="0"/>
              </a:spcBef>
              <a:spcAft>
                <a:spcPct val="0"/>
              </a:spcAft>
              <a:defRPr sz="1200">
                <a:solidFill>
                  <a:schemeClr val="tx1"/>
                </a:solidFill>
                <a:latin typeface="Arial" charset="0"/>
                <a:ea typeface="宋体" pitchFamily="2" charset="-122"/>
              </a:defRPr>
            </a:lvl7pPr>
            <a:lvl8pPr marL="3429000" indent="-228600" eaLnBrk="0" fontAlgn="base" hangingPunct="0">
              <a:spcBef>
                <a:spcPct val="0"/>
              </a:spcBef>
              <a:spcAft>
                <a:spcPct val="0"/>
              </a:spcAft>
              <a:defRPr sz="1200">
                <a:solidFill>
                  <a:schemeClr val="tx1"/>
                </a:solidFill>
                <a:latin typeface="Arial" charset="0"/>
                <a:ea typeface="宋体" pitchFamily="2" charset="-122"/>
              </a:defRPr>
            </a:lvl8pPr>
            <a:lvl9pPr marL="3886200" indent="-228600" eaLnBrk="0" fontAlgn="base" hangingPunct="0">
              <a:spcBef>
                <a:spcPct val="0"/>
              </a:spcBef>
              <a:spcAft>
                <a:spcPct val="0"/>
              </a:spcAft>
              <a:defRPr sz="1200">
                <a:solidFill>
                  <a:schemeClr val="tx1"/>
                </a:solidFill>
                <a:latin typeface="Arial" charset="0"/>
                <a:ea typeface="宋体" pitchFamily="2" charset="-122"/>
              </a:defRPr>
            </a:lvl9pPr>
          </a:lstStyle>
          <a:p>
            <a:fld id="{A09AD7B7-31F4-404E-A6EC-AD1B17505555}" type="slidenum">
              <a:rPr lang="en-US" altLang="zh-CN" sz="2600" smtClean="0">
                <a:solidFill>
                  <a:schemeClr val="bg1"/>
                </a:solidFill>
              </a:rPr>
              <a:pPr/>
              <a:t>23</a:t>
            </a:fld>
            <a:endParaRPr lang="en-US" altLang="zh-CN" sz="2600" dirty="0" smtClean="0">
              <a:solidFill>
                <a:schemeClr val="bg1"/>
              </a:solidFill>
            </a:endParaRPr>
          </a:p>
        </p:txBody>
      </p:sp>
      <p:sp>
        <p:nvSpPr>
          <p:cNvPr id="870402" name="AutoShape 2"/>
          <p:cNvSpPr>
            <a:spLocks noGrp="1" noChangeArrowheads="1"/>
          </p:cNvSpPr>
          <p:nvPr>
            <p:ph type="title"/>
          </p:nvPr>
        </p:nvSpPr>
        <p:spPr/>
        <p:txBody>
          <a:bodyPr/>
          <a:lstStyle/>
          <a:p>
            <a:pPr eaLnBrk="1" hangingPunct="1">
              <a:defRPr/>
            </a:pPr>
            <a:r>
              <a:rPr lang="en-US" altLang="zh-CN" dirty="0" smtClean="0"/>
              <a:t>4.1</a:t>
            </a:r>
            <a:r>
              <a:rPr lang="zh-CN" altLang="en-US" dirty="0" smtClean="0"/>
              <a:t>一维数组</a:t>
            </a:r>
          </a:p>
        </p:txBody>
      </p:sp>
      <p:sp>
        <p:nvSpPr>
          <p:cNvPr id="870403" name="Rectangle 3"/>
          <p:cNvSpPr>
            <a:spLocks noGrp="1" noChangeArrowheads="1"/>
          </p:cNvSpPr>
          <p:nvPr>
            <p:ph type="body" idx="1"/>
          </p:nvPr>
        </p:nvSpPr>
        <p:spPr>
          <a:xfrm>
            <a:off x="755651" y="1700213"/>
            <a:ext cx="5616550" cy="576659"/>
          </a:xfrm>
        </p:spPr>
        <p:txBody>
          <a:bodyPr/>
          <a:lstStyle/>
          <a:p>
            <a:pPr eaLnBrk="1" hangingPunct="1">
              <a:defRPr/>
            </a:pPr>
            <a:r>
              <a:rPr lang="zh-CN" altLang="en-US" dirty="0" smtClean="0">
                <a:solidFill>
                  <a:srgbClr val="0000FF"/>
                </a:solidFill>
                <a:effectLst>
                  <a:outerShdw blurRad="38100" dist="38100" dir="2700000" algn="tl">
                    <a:srgbClr val="000000">
                      <a:alpha val="43137"/>
                    </a:srgbClr>
                  </a:outerShdw>
                </a:effectLst>
              </a:rPr>
              <a:t>静态数组初始化赋值</a:t>
            </a:r>
          </a:p>
        </p:txBody>
      </p:sp>
      <p:sp>
        <p:nvSpPr>
          <p:cNvPr id="2" name="矩形 1"/>
          <p:cNvSpPr/>
          <p:nvPr/>
        </p:nvSpPr>
        <p:spPr>
          <a:xfrm>
            <a:off x="899592" y="2564904"/>
            <a:ext cx="7056784" cy="3046988"/>
          </a:xfrm>
          <a:prstGeom prst="rect">
            <a:avLst/>
          </a:prstGeom>
        </p:spPr>
        <p:txBody>
          <a:bodyPr wrap="square">
            <a:spAutoFit/>
          </a:bodyPr>
          <a:lstStyle/>
          <a:p>
            <a:r>
              <a:rPr lang="zh-CN" altLang="en-US" sz="2400" b="1" dirty="0"/>
              <a:t>#include &lt;stdio.h&gt;</a:t>
            </a:r>
          </a:p>
          <a:p>
            <a:r>
              <a:rPr lang="zh-CN" altLang="en-US" sz="2400" b="1" dirty="0"/>
              <a:t>int main()</a:t>
            </a:r>
          </a:p>
          <a:p>
            <a:r>
              <a:rPr lang="zh-CN" altLang="en-US" sz="2400" b="1" dirty="0"/>
              <a:t>{</a:t>
            </a:r>
          </a:p>
          <a:p>
            <a:r>
              <a:rPr lang="zh-CN" altLang="en-US" sz="2400" b="1" dirty="0"/>
              <a:t>   </a:t>
            </a:r>
            <a:r>
              <a:rPr lang="zh-CN" altLang="en-US" sz="2400" b="1" dirty="0" smtClean="0"/>
              <a:t> </a:t>
            </a:r>
            <a:r>
              <a:rPr lang="en-US" altLang="zh-CN" sz="2400" b="1" dirty="0" smtClean="0"/>
              <a:t>static</a:t>
            </a:r>
            <a:r>
              <a:rPr lang="zh-CN" altLang="en-US" sz="2400" b="1" dirty="0" smtClean="0"/>
              <a:t> </a:t>
            </a:r>
            <a:r>
              <a:rPr lang="zh-CN" altLang="en-US" sz="2400" b="1" dirty="0"/>
              <a:t>int a[5]={</a:t>
            </a:r>
            <a:r>
              <a:rPr lang="zh-CN" altLang="en-US" sz="2400" b="1" dirty="0">
                <a:solidFill>
                  <a:srgbClr val="FF0000"/>
                </a:solidFill>
              </a:rPr>
              <a:t>1,2,</a:t>
            </a:r>
            <a:r>
              <a:rPr lang="zh-CN" altLang="en-US" sz="2400" b="1" dirty="0" smtClean="0">
                <a:solidFill>
                  <a:srgbClr val="FF0000"/>
                </a:solidFill>
              </a:rPr>
              <a:t>3</a:t>
            </a:r>
            <a:r>
              <a:rPr lang="zh-CN" altLang="en-US" sz="2400" b="1" dirty="0" smtClean="0"/>
              <a:t>},</a:t>
            </a:r>
            <a:r>
              <a:rPr lang="zh-CN" altLang="en-US" sz="2400" b="1" dirty="0"/>
              <a:t>i; </a:t>
            </a:r>
            <a:r>
              <a:rPr lang="zh-CN" altLang="en-US" sz="2400" b="1" dirty="0" smtClean="0"/>
              <a:t>     </a:t>
            </a:r>
            <a:r>
              <a:rPr lang="zh-CN" altLang="en-US" sz="2400" b="1" dirty="0" smtClean="0">
                <a:solidFill>
                  <a:srgbClr val="0000FF"/>
                </a:solidFill>
                <a:latin typeface="黑体" pitchFamily="49" charset="-122"/>
                <a:ea typeface="黑体" pitchFamily="49" charset="-122"/>
              </a:rPr>
              <a:t>//静态数组初始化</a:t>
            </a:r>
            <a:endParaRPr lang="zh-CN" altLang="en-US" sz="2400" b="1" dirty="0">
              <a:solidFill>
                <a:srgbClr val="0000FF"/>
              </a:solidFill>
              <a:latin typeface="黑体" pitchFamily="49" charset="-122"/>
              <a:ea typeface="黑体" pitchFamily="49" charset="-122"/>
            </a:endParaRPr>
          </a:p>
          <a:p>
            <a:r>
              <a:rPr lang="zh-CN" altLang="en-US" sz="2400" b="1" dirty="0"/>
              <a:t>    for(i=0;i&lt;5;i++)</a:t>
            </a:r>
          </a:p>
          <a:p>
            <a:r>
              <a:rPr lang="zh-CN" altLang="en-US" sz="2400" b="1" dirty="0"/>
              <a:t>    </a:t>
            </a:r>
            <a:r>
              <a:rPr lang="zh-CN" altLang="en-US" sz="2400" b="1" dirty="0" smtClean="0"/>
              <a:t>   </a:t>
            </a:r>
            <a:r>
              <a:rPr lang="zh-CN" altLang="en-US" sz="2400" b="1" dirty="0"/>
              <a:t>printf("%d,",a[i]);</a:t>
            </a:r>
          </a:p>
          <a:p>
            <a:r>
              <a:rPr lang="zh-CN" altLang="en-US" sz="2400" b="1" dirty="0"/>
              <a:t>    return 0;</a:t>
            </a:r>
          </a:p>
          <a:p>
            <a:r>
              <a:rPr lang="zh-CN" altLang="en-US" sz="2400" b="1" dirty="0"/>
              <a:t>}</a:t>
            </a:r>
          </a:p>
        </p:txBody>
      </p:sp>
    </p:spTree>
    <p:extLst>
      <p:ext uri="{BB962C8B-B14F-4D97-AF65-F5344CB8AC3E}">
        <p14:creationId xmlns:p14="http://schemas.microsoft.com/office/powerpoint/2010/main" val="1665600713"/>
      </p:ext>
    </p:extLst>
  </p:cSld>
  <p:clrMapOvr>
    <a:masterClrMapping/>
  </p:clrMapOvr>
  <p:transition spd="med">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4.2</a:t>
            </a:r>
            <a:r>
              <a:rPr lang="zh-CN" altLang="en-US" dirty="0" smtClean="0"/>
              <a:t>二维数组</a:t>
            </a:r>
            <a:endParaRPr lang="en-US" dirty="0"/>
          </a:p>
        </p:txBody>
      </p:sp>
      <p:sp>
        <p:nvSpPr>
          <p:cNvPr id="3" name="Content Placeholder 2"/>
          <p:cNvSpPr>
            <a:spLocks noGrp="1"/>
          </p:cNvSpPr>
          <p:nvPr>
            <p:ph idx="1"/>
          </p:nvPr>
        </p:nvSpPr>
        <p:spPr>
          <a:xfrm>
            <a:off x="755650" y="1700213"/>
            <a:ext cx="7993063" cy="2520875"/>
          </a:xfrm>
        </p:spPr>
        <p:txBody>
          <a:bodyPr/>
          <a:lstStyle/>
          <a:p>
            <a:r>
              <a:rPr lang="zh-TW" altLang="en-US" dirty="0"/>
              <a:t>二维数组本质上是以数组作为数组元素的数组，即“数组的数组”</a:t>
            </a:r>
            <a:r>
              <a:rPr lang="zh-TW" altLang="en-US" dirty="0" smtClean="0"/>
              <a:t>。</a:t>
            </a:r>
          </a:p>
          <a:p>
            <a:r>
              <a:rPr lang="zh-TW" altLang="en-US" dirty="0" smtClean="0"/>
              <a:t>多维数组可由二维数组类推而</a:t>
            </a:r>
            <a:r>
              <a:rPr lang="zh-TW" altLang="en-US" dirty="0"/>
              <a:t>得到</a:t>
            </a:r>
            <a:r>
              <a:rPr lang="zh-TW" altLang="en-US" dirty="0" smtClean="0"/>
              <a:t>。</a:t>
            </a:r>
            <a:endParaRPr lang="en-US" altLang="zh-TW" dirty="0" smtClean="0"/>
          </a:p>
          <a:p>
            <a:r>
              <a:rPr lang="zh-TW" altLang="en-US" dirty="0" smtClean="0"/>
              <a:t> </a:t>
            </a:r>
            <a:r>
              <a:rPr lang="zh-CN" altLang="en-US" dirty="0" smtClean="0"/>
              <a:t>二维数组的定义、引用、初始化同一维数组</a:t>
            </a: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24</a:t>
            </a:fld>
            <a:endParaRPr lang="en-US" altLang="zh-CN" dirty="0"/>
          </a:p>
        </p:txBody>
      </p:sp>
      <p:grpSp>
        <p:nvGrpSpPr>
          <p:cNvPr id="16" name="组合 15"/>
          <p:cNvGrpSpPr/>
          <p:nvPr/>
        </p:nvGrpSpPr>
        <p:grpSpPr>
          <a:xfrm>
            <a:off x="1259632" y="4077072"/>
            <a:ext cx="7128792" cy="2713484"/>
            <a:chOff x="1259632" y="3573016"/>
            <a:chExt cx="7128792" cy="2713484"/>
          </a:xfrm>
        </p:grpSpPr>
        <p:grpSp>
          <p:nvGrpSpPr>
            <p:cNvPr id="15" name="组合 14"/>
            <p:cNvGrpSpPr/>
            <p:nvPr/>
          </p:nvGrpSpPr>
          <p:grpSpPr>
            <a:xfrm>
              <a:off x="1419225" y="4381500"/>
              <a:ext cx="381000" cy="1905000"/>
              <a:chOff x="1419225" y="4381500"/>
              <a:chExt cx="381000" cy="1905000"/>
            </a:xfrm>
          </p:grpSpPr>
          <p:sp>
            <p:nvSpPr>
              <p:cNvPr id="5" name="AutoShape 4"/>
              <p:cNvSpPr>
                <a:spLocks noChangeArrowheads="1"/>
              </p:cNvSpPr>
              <p:nvPr/>
            </p:nvSpPr>
            <p:spPr bwMode="auto">
              <a:xfrm>
                <a:off x="1419225" y="5143500"/>
                <a:ext cx="381000" cy="381000"/>
              </a:xfrm>
              <a:prstGeom prst="smileyFace">
                <a:avLst>
                  <a:gd name="adj" fmla="val 4653"/>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AutoShape 5"/>
              <p:cNvSpPr>
                <a:spLocks noChangeArrowheads="1"/>
              </p:cNvSpPr>
              <p:nvPr/>
            </p:nvSpPr>
            <p:spPr bwMode="auto">
              <a:xfrm>
                <a:off x="1419225" y="5524500"/>
                <a:ext cx="381000" cy="381000"/>
              </a:xfrm>
              <a:prstGeom prst="smileyFace">
                <a:avLst>
                  <a:gd name="adj" fmla="val 4653"/>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AutoShape 6"/>
              <p:cNvSpPr>
                <a:spLocks noChangeArrowheads="1"/>
              </p:cNvSpPr>
              <p:nvPr/>
            </p:nvSpPr>
            <p:spPr bwMode="auto">
              <a:xfrm>
                <a:off x="1419225" y="5905500"/>
                <a:ext cx="381000" cy="381000"/>
              </a:xfrm>
              <a:prstGeom prst="smileyFace">
                <a:avLst>
                  <a:gd name="adj" fmla="val 4653"/>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AutoShape 7"/>
              <p:cNvSpPr>
                <a:spLocks noChangeArrowheads="1"/>
              </p:cNvSpPr>
              <p:nvPr/>
            </p:nvSpPr>
            <p:spPr bwMode="auto">
              <a:xfrm>
                <a:off x="1419225" y="4762500"/>
                <a:ext cx="381000" cy="381000"/>
              </a:xfrm>
              <a:prstGeom prst="smileyFace">
                <a:avLst>
                  <a:gd name="adj" fmla="val 4653"/>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AutoShape 8"/>
              <p:cNvSpPr>
                <a:spLocks noChangeArrowheads="1"/>
              </p:cNvSpPr>
              <p:nvPr/>
            </p:nvSpPr>
            <p:spPr bwMode="auto">
              <a:xfrm>
                <a:off x="1419225" y="4381500"/>
                <a:ext cx="381000" cy="381000"/>
              </a:xfrm>
              <a:prstGeom prst="smileyFace">
                <a:avLst>
                  <a:gd name="adj" fmla="val 4653"/>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5" name="Rectangle 25"/>
            <p:cNvSpPr txBox="1">
              <a:spLocks noChangeArrowheads="1"/>
            </p:cNvSpPr>
            <p:nvPr/>
          </p:nvSpPr>
          <p:spPr>
            <a:xfrm>
              <a:off x="1259632" y="3573016"/>
              <a:ext cx="6400800" cy="457200"/>
            </a:xfrm>
            <a:prstGeom prst="rect">
              <a:avLst/>
            </a:prstGeom>
          </p:spPr>
          <p:txBody>
            <a:bodyPr/>
            <a:lst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rgbClr val="FF3300"/>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rgbClr val="3333FF"/>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a:lstStyle>
            <a:p>
              <a:pPr eaLnBrk="1" hangingPunct="1">
                <a:buFont typeface="Wingdings" pitchFamily="2" charset="2"/>
                <a:buNone/>
              </a:pPr>
              <a:r>
                <a:rPr lang="zh-CN" altLang="en-US" dirty="0" smtClean="0"/>
                <a:t>一维                二维                      三维    </a:t>
              </a:r>
              <a:endParaRPr lang="zh-CN" altLang="en-US" b="0" dirty="0" smtClean="0"/>
            </a:p>
          </p:txBody>
        </p:sp>
        <p:pic>
          <p:nvPicPr>
            <p:cNvPr id="31" name="图片 30"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0912" y="4450804"/>
              <a:ext cx="2397512" cy="1714500"/>
            </a:xfrm>
            <a:prstGeom prst="rect">
              <a:avLst/>
            </a:prstGeom>
          </p:spPr>
        </p:pic>
        <p:grpSp>
          <p:nvGrpSpPr>
            <p:cNvPr id="14" name="组合 13"/>
            <p:cNvGrpSpPr/>
            <p:nvPr/>
          </p:nvGrpSpPr>
          <p:grpSpPr>
            <a:xfrm>
              <a:off x="3069398" y="4572000"/>
              <a:ext cx="2181200" cy="1553029"/>
              <a:chOff x="3069398" y="4572000"/>
              <a:chExt cx="2181200" cy="1553029"/>
            </a:xfrm>
          </p:grpSpPr>
          <p:grpSp>
            <p:nvGrpSpPr>
              <p:cNvPr id="13" name="组合 12"/>
              <p:cNvGrpSpPr/>
              <p:nvPr/>
            </p:nvGrpSpPr>
            <p:grpSpPr>
              <a:xfrm>
                <a:off x="3069398" y="4572000"/>
                <a:ext cx="381000" cy="1524000"/>
                <a:chOff x="2987824" y="4443547"/>
                <a:chExt cx="381000" cy="1524000"/>
              </a:xfrm>
            </p:grpSpPr>
            <p:sp>
              <p:nvSpPr>
                <p:cNvPr id="17" name="AutoShape 4"/>
                <p:cNvSpPr>
                  <a:spLocks noChangeArrowheads="1"/>
                </p:cNvSpPr>
                <p:nvPr/>
              </p:nvSpPr>
              <p:spPr bwMode="auto">
                <a:xfrm>
                  <a:off x="2987824" y="5205547"/>
                  <a:ext cx="381000" cy="381000"/>
                </a:xfrm>
                <a:prstGeom prst="smileyFace">
                  <a:avLst>
                    <a:gd name="adj" fmla="val 4653"/>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AutoShape 5"/>
                <p:cNvSpPr>
                  <a:spLocks noChangeArrowheads="1"/>
                </p:cNvSpPr>
                <p:nvPr/>
              </p:nvSpPr>
              <p:spPr bwMode="auto">
                <a:xfrm>
                  <a:off x="2987824" y="5586547"/>
                  <a:ext cx="381000" cy="381000"/>
                </a:xfrm>
                <a:prstGeom prst="smileyFace">
                  <a:avLst>
                    <a:gd name="adj" fmla="val 4653"/>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AutoShape 7"/>
                <p:cNvSpPr>
                  <a:spLocks noChangeArrowheads="1"/>
                </p:cNvSpPr>
                <p:nvPr/>
              </p:nvSpPr>
              <p:spPr bwMode="auto">
                <a:xfrm>
                  <a:off x="2987824" y="4824547"/>
                  <a:ext cx="381000" cy="381000"/>
                </a:xfrm>
                <a:prstGeom prst="smileyFace">
                  <a:avLst>
                    <a:gd name="adj" fmla="val 4653"/>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AutoShape 8"/>
                <p:cNvSpPr>
                  <a:spLocks noChangeArrowheads="1"/>
                </p:cNvSpPr>
                <p:nvPr/>
              </p:nvSpPr>
              <p:spPr bwMode="auto">
                <a:xfrm>
                  <a:off x="2987824" y="4443547"/>
                  <a:ext cx="381000" cy="381000"/>
                </a:xfrm>
                <a:prstGeom prst="smileyFace">
                  <a:avLst>
                    <a:gd name="adj" fmla="val 4653"/>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 name="组合 11"/>
              <p:cNvGrpSpPr/>
              <p:nvPr/>
            </p:nvGrpSpPr>
            <p:grpSpPr>
              <a:xfrm>
                <a:off x="3669465" y="4588329"/>
                <a:ext cx="381000" cy="1524000"/>
                <a:chOff x="3563888" y="4459876"/>
                <a:chExt cx="381000" cy="1524000"/>
              </a:xfrm>
            </p:grpSpPr>
            <p:sp>
              <p:nvSpPr>
                <p:cNvPr id="22" name="AutoShape 4"/>
                <p:cNvSpPr>
                  <a:spLocks noChangeArrowheads="1"/>
                </p:cNvSpPr>
                <p:nvPr/>
              </p:nvSpPr>
              <p:spPr bwMode="auto">
                <a:xfrm>
                  <a:off x="3563888" y="5221876"/>
                  <a:ext cx="381000" cy="381000"/>
                </a:xfrm>
                <a:prstGeom prst="smileyFace">
                  <a:avLst>
                    <a:gd name="adj" fmla="val 4653"/>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AutoShape 5"/>
                <p:cNvSpPr>
                  <a:spLocks noChangeArrowheads="1"/>
                </p:cNvSpPr>
                <p:nvPr/>
              </p:nvSpPr>
              <p:spPr bwMode="auto">
                <a:xfrm>
                  <a:off x="3563888" y="5602876"/>
                  <a:ext cx="381000" cy="381000"/>
                </a:xfrm>
                <a:prstGeom prst="smileyFace">
                  <a:avLst>
                    <a:gd name="adj" fmla="val 4653"/>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AutoShape 7"/>
                <p:cNvSpPr>
                  <a:spLocks noChangeArrowheads="1"/>
                </p:cNvSpPr>
                <p:nvPr/>
              </p:nvSpPr>
              <p:spPr bwMode="auto">
                <a:xfrm>
                  <a:off x="3563888" y="4840876"/>
                  <a:ext cx="381000" cy="381000"/>
                </a:xfrm>
                <a:prstGeom prst="smileyFace">
                  <a:avLst>
                    <a:gd name="adj" fmla="val 4653"/>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AutoShape 8"/>
                <p:cNvSpPr>
                  <a:spLocks noChangeArrowheads="1"/>
                </p:cNvSpPr>
                <p:nvPr/>
              </p:nvSpPr>
              <p:spPr bwMode="auto">
                <a:xfrm>
                  <a:off x="3563888" y="4459876"/>
                  <a:ext cx="381000" cy="381000"/>
                </a:xfrm>
                <a:prstGeom prst="smileyFace">
                  <a:avLst>
                    <a:gd name="adj" fmla="val 4653"/>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 name="组合 10"/>
              <p:cNvGrpSpPr/>
              <p:nvPr/>
            </p:nvGrpSpPr>
            <p:grpSpPr>
              <a:xfrm>
                <a:off x="4269532" y="4572000"/>
                <a:ext cx="381000" cy="1524000"/>
                <a:chOff x="4099443" y="4443547"/>
                <a:chExt cx="381000" cy="1524000"/>
              </a:xfrm>
            </p:grpSpPr>
            <p:sp>
              <p:nvSpPr>
                <p:cNvPr id="34" name="AutoShape 4"/>
                <p:cNvSpPr>
                  <a:spLocks noChangeArrowheads="1"/>
                </p:cNvSpPr>
                <p:nvPr/>
              </p:nvSpPr>
              <p:spPr bwMode="auto">
                <a:xfrm>
                  <a:off x="4099443" y="5205547"/>
                  <a:ext cx="381000" cy="381000"/>
                </a:xfrm>
                <a:prstGeom prst="smileyFace">
                  <a:avLst>
                    <a:gd name="adj" fmla="val 4653"/>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AutoShape 5"/>
                <p:cNvSpPr>
                  <a:spLocks noChangeArrowheads="1"/>
                </p:cNvSpPr>
                <p:nvPr/>
              </p:nvSpPr>
              <p:spPr bwMode="auto">
                <a:xfrm>
                  <a:off x="4099443" y="5586547"/>
                  <a:ext cx="381000" cy="381000"/>
                </a:xfrm>
                <a:prstGeom prst="smileyFace">
                  <a:avLst>
                    <a:gd name="adj" fmla="val 4653"/>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AutoShape 7"/>
                <p:cNvSpPr>
                  <a:spLocks noChangeArrowheads="1"/>
                </p:cNvSpPr>
                <p:nvPr/>
              </p:nvSpPr>
              <p:spPr bwMode="auto">
                <a:xfrm>
                  <a:off x="4099443" y="4824547"/>
                  <a:ext cx="381000" cy="381000"/>
                </a:xfrm>
                <a:prstGeom prst="smileyFace">
                  <a:avLst>
                    <a:gd name="adj" fmla="val 4653"/>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AutoShape 8"/>
                <p:cNvSpPr>
                  <a:spLocks noChangeArrowheads="1"/>
                </p:cNvSpPr>
                <p:nvPr/>
              </p:nvSpPr>
              <p:spPr bwMode="auto">
                <a:xfrm>
                  <a:off x="4099443" y="4443547"/>
                  <a:ext cx="381000" cy="381000"/>
                </a:xfrm>
                <a:prstGeom prst="smileyFace">
                  <a:avLst>
                    <a:gd name="adj" fmla="val 4653"/>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 name="组合 9"/>
              <p:cNvGrpSpPr/>
              <p:nvPr/>
            </p:nvGrpSpPr>
            <p:grpSpPr>
              <a:xfrm>
                <a:off x="4869598" y="4601029"/>
                <a:ext cx="381000" cy="1524000"/>
                <a:chOff x="4788024" y="4472576"/>
                <a:chExt cx="381000" cy="1524000"/>
              </a:xfrm>
            </p:grpSpPr>
            <p:sp>
              <p:nvSpPr>
                <p:cNvPr id="39" name="AutoShape 4"/>
                <p:cNvSpPr>
                  <a:spLocks noChangeArrowheads="1"/>
                </p:cNvSpPr>
                <p:nvPr/>
              </p:nvSpPr>
              <p:spPr bwMode="auto">
                <a:xfrm>
                  <a:off x="4788024" y="5234576"/>
                  <a:ext cx="381000" cy="381000"/>
                </a:xfrm>
                <a:prstGeom prst="smileyFace">
                  <a:avLst>
                    <a:gd name="adj" fmla="val 4653"/>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AutoShape 5"/>
                <p:cNvSpPr>
                  <a:spLocks noChangeArrowheads="1"/>
                </p:cNvSpPr>
                <p:nvPr/>
              </p:nvSpPr>
              <p:spPr bwMode="auto">
                <a:xfrm>
                  <a:off x="4788024" y="5615576"/>
                  <a:ext cx="381000" cy="381000"/>
                </a:xfrm>
                <a:prstGeom prst="smileyFace">
                  <a:avLst>
                    <a:gd name="adj" fmla="val 4653"/>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AutoShape 7"/>
                <p:cNvSpPr>
                  <a:spLocks noChangeArrowheads="1"/>
                </p:cNvSpPr>
                <p:nvPr/>
              </p:nvSpPr>
              <p:spPr bwMode="auto">
                <a:xfrm>
                  <a:off x="4788024" y="4853576"/>
                  <a:ext cx="381000" cy="381000"/>
                </a:xfrm>
                <a:prstGeom prst="smileyFace">
                  <a:avLst>
                    <a:gd name="adj" fmla="val 4653"/>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AutoShape 8"/>
                <p:cNvSpPr>
                  <a:spLocks noChangeArrowheads="1"/>
                </p:cNvSpPr>
                <p:nvPr/>
              </p:nvSpPr>
              <p:spPr bwMode="auto">
                <a:xfrm>
                  <a:off x="4788024" y="4472576"/>
                  <a:ext cx="381000" cy="381000"/>
                </a:xfrm>
                <a:prstGeom prst="smileyFace">
                  <a:avLst>
                    <a:gd name="adj" fmla="val 4653"/>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spTree>
    <p:extLst>
      <p:ext uri="{BB962C8B-B14F-4D97-AF65-F5344CB8AC3E}">
        <p14:creationId xmlns:p14="http://schemas.microsoft.com/office/powerpoint/2010/main" val="2987255846"/>
      </p:ext>
    </p:extLst>
  </p:cSld>
  <p:clrMapOvr>
    <a:masterClrMapping/>
  </p:clrMapOvr>
  <p:transition spd="med">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4.2 </a:t>
            </a:r>
            <a:r>
              <a:rPr lang="zh-CN" altLang="en-US" dirty="0" smtClean="0"/>
              <a:t>二维数组存储</a:t>
            </a:r>
            <a:endParaRPr lang="en-US" dirty="0"/>
          </a:p>
        </p:txBody>
      </p:sp>
      <p:sp>
        <p:nvSpPr>
          <p:cNvPr id="3" name="Content Placeholder 2"/>
          <p:cNvSpPr>
            <a:spLocks noGrp="1"/>
          </p:cNvSpPr>
          <p:nvPr>
            <p:ph idx="1"/>
          </p:nvPr>
        </p:nvSpPr>
        <p:spPr>
          <a:xfrm>
            <a:off x="755650" y="1700213"/>
            <a:ext cx="8208838" cy="4537075"/>
          </a:xfrm>
        </p:spPr>
        <p:txBody>
          <a:bodyPr/>
          <a:lstStyle/>
          <a:p>
            <a:r>
              <a:rPr lang="zh-TW" altLang="en-US" dirty="0"/>
              <a:t>二维数组是按行</a:t>
            </a:r>
            <a:r>
              <a:rPr lang="zh-TW" altLang="en-US" dirty="0" smtClean="0"/>
              <a:t>存储，</a:t>
            </a:r>
            <a:r>
              <a:rPr lang="zh-TW" altLang="en-US" dirty="0"/>
              <a:t>先依次存储行数组上的数据，再依次存储列数组上的数据</a:t>
            </a:r>
            <a:r>
              <a:rPr lang="zh-TW" altLang="en-US" dirty="0" smtClean="0"/>
              <a:t>。</a:t>
            </a:r>
          </a:p>
          <a:p>
            <a:r>
              <a:rPr lang="zh-CN" altLang="en-US" dirty="0" smtClean="0"/>
              <a:t>例如：</a:t>
            </a:r>
            <a:r>
              <a:rPr lang="pt-BR" altLang="zh-CN" dirty="0" smtClean="0"/>
              <a:t>int </a:t>
            </a:r>
            <a:r>
              <a:rPr lang="pt-BR" altLang="zh-CN" dirty="0"/>
              <a:t>a[3][4]</a:t>
            </a:r>
            <a:r>
              <a:rPr lang="zh-CN" altLang="en-US" dirty="0" smtClean="0"/>
              <a:t>存储示例</a:t>
            </a: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25</a:t>
            </a:fld>
            <a:endParaRPr lang="en-US" altLang="zh-CN" dirty="0"/>
          </a:p>
        </p:txBody>
      </p:sp>
      <p:pic>
        <p:nvPicPr>
          <p:cNvPr id="5" name="图片 4"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629" y="3573016"/>
            <a:ext cx="7920880" cy="2016224"/>
          </a:xfrm>
          <a:prstGeom prst="rect">
            <a:avLst/>
          </a:prstGeom>
        </p:spPr>
      </p:pic>
    </p:spTree>
    <p:extLst>
      <p:ext uri="{BB962C8B-B14F-4D97-AF65-F5344CB8AC3E}">
        <p14:creationId xmlns:p14="http://schemas.microsoft.com/office/powerpoint/2010/main" val="366190927"/>
      </p:ext>
    </p:extLst>
  </p:cSld>
  <p:clrMapOvr>
    <a:masterClrMapping/>
  </p:clrMapOvr>
  <p:transition spd="med">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4.2 </a:t>
            </a:r>
            <a:r>
              <a:rPr lang="zh-CN" altLang="en-US" dirty="0" smtClean="0"/>
              <a:t>二维数组输入输出</a:t>
            </a: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26</a:t>
            </a:fld>
            <a:endParaRPr lang="en-US" altLang="zh-CN" dirty="0"/>
          </a:p>
        </p:txBody>
      </p:sp>
      <p:sp>
        <p:nvSpPr>
          <p:cNvPr id="6" name="矩形 5"/>
          <p:cNvSpPr/>
          <p:nvPr/>
        </p:nvSpPr>
        <p:spPr>
          <a:xfrm>
            <a:off x="971600" y="1621986"/>
            <a:ext cx="7416824" cy="5262979"/>
          </a:xfrm>
          <a:prstGeom prst="rect">
            <a:avLst/>
          </a:prstGeom>
        </p:spPr>
        <p:txBody>
          <a:bodyPr wrap="square">
            <a:spAutoFit/>
          </a:bodyPr>
          <a:lstStyle/>
          <a:p>
            <a:r>
              <a:rPr lang="zh-CN" altLang="en-US" sz="2400" b="1" dirty="0">
                <a:effectLst>
                  <a:outerShdw blurRad="38100" dist="38100" dir="2700000" algn="tl">
                    <a:srgbClr val="000000">
                      <a:alpha val="43137"/>
                    </a:srgbClr>
                  </a:outerShdw>
                </a:effectLst>
              </a:rPr>
              <a:t>#include &lt;stdio.h&gt;</a:t>
            </a:r>
          </a:p>
          <a:p>
            <a:r>
              <a:rPr lang="zh-CN" altLang="en-US" sz="2400" b="1" dirty="0">
                <a:effectLst>
                  <a:outerShdw blurRad="38100" dist="38100" dir="2700000" algn="tl">
                    <a:srgbClr val="000000">
                      <a:alpha val="43137"/>
                    </a:srgbClr>
                  </a:outerShdw>
                </a:effectLst>
              </a:rPr>
              <a:t>int main()</a:t>
            </a:r>
          </a:p>
          <a:p>
            <a:r>
              <a:rPr lang="zh-CN" altLang="en-US" sz="2400" b="1" dirty="0">
                <a:effectLst>
                  <a:outerShdw blurRad="38100" dist="38100" dir="2700000" algn="tl">
                    <a:srgbClr val="000000">
                      <a:alpha val="43137"/>
                    </a:srgbClr>
                  </a:outerShdw>
                </a:effectLst>
              </a:rPr>
              <a:t>{</a:t>
            </a:r>
          </a:p>
          <a:p>
            <a:r>
              <a:rPr lang="zh-CN" altLang="en-US" sz="2400" b="1" dirty="0">
                <a:effectLst>
                  <a:outerShdw blurRad="38100" dist="38100" dir="2700000" algn="tl">
                    <a:srgbClr val="000000">
                      <a:alpha val="43137"/>
                    </a:srgbClr>
                  </a:outerShdw>
                </a:effectLst>
              </a:rPr>
              <a:t>    int i,j,a[3][3]</a:t>
            </a:r>
            <a:r>
              <a:rPr lang="zh-CN" altLang="en-US" sz="2400" b="1" dirty="0" smtClean="0">
                <a:effectLst>
                  <a:outerShdw blurRad="38100" dist="38100" dir="2700000" algn="tl">
                    <a:srgbClr val="000000">
                      <a:alpha val="43137"/>
                    </a:srgbClr>
                  </a:outerShdw>
                </a:effectLst>
              </a:rPr>
              <a:t>;          </a:t>
            </a:r>
            <a:r>
              <a:rPr lang="en-US" altLang="zh-CN" sz="2400" b="1" dirty="0" smtClean="0">
                <a:solidFill>
                  <a:srgbClr val="0000FF"/>
                </a:solidFill>
                <a:effectLst>
                  <a:outerShdw blurRad="38100" dist="38100" dir="2700000" algn="tl">
                    <a:srgbClr val="000000">
                      <a:alpha val="43137"/>
                    </a:srgbClr>
                  </a:outerShdw>
                </a:effectLst>
              </a:rPr>
              <a:t>//</a:t>
            </a:r>
            <a:r>
              <a:rPr lang="zh-CN" altLang="en-US" sz="2400" b="1" dirty="0" smtClean="0">
                <a:solidFill>
                  <a:srgbClr val="0000FF"/>
                </a:solidFill>
                <a:effectLst>
                  <a:outerShdw blurRad="38100" dist="38100" dir="2700000" algn="tl">
                    <a:srgbClr val="000000">
                      <a:alpha val="43137"/>
                    </a:srgbClr>
                  </a:outerShdw>
                </a:effectLst>
              </a:rPr>
              <a:t>定义一个</a:t>
            </a:r>
            <a:r>
              <a:rPr lang="en-US" altLang="zh-CN" sz="2400" b="1" dirty="0" smtClean="0">
                <a:solidFill>
                  <a:srgbClr val="0000FF"/>
                </a:solidFill>
                <a:effectLst>
                  <a:outerShdw blurRad="38100" dist="38100" dir="2700000" algn="tl">
                    <a:srgbClr val="000000">
                      <a:alpha val="43137"/>
                    </a:srgbClr>
                  </a:outerShdw>
                </a:effectLst>
              </a:rPr>
              <a:t>3</a:t>
            </a:r>
            <a:r>
              <a:rPr lang="zh-CN" altLang="en-US" sz="2400" b="1" dirty="0" smtClean="0">
                <a:solidFill>
                  <a:srgbClr val="0000FF"/>
                </a:solidFill>
                <a:effectLst>
                  <a:outerShdw blurRad="38100" dist="38100" dir="2700000" algn="tl">
                    <a:srgbClr val="000000">
                      <a:alpha val="43137"/>
                    </a:srgbClr>
                  </a:outerShdw>
                </a:effectLst>
              </a:rPr>
              <a:t>行</a:t>
            </a:r>
            <a:r>
              <a:rPr lang="en-US" altLang="zh-CN" sz="2400" b="1" dirty="0" smtClean="0">
                <a:solidFill>
                  <a:srgbClr val="0000FF"/>
                </a:solidFill>
                <a:effectLst>
                  <a:outerShdw blurRad="38100" dist="38100" dir="2700000" algn="tl">
                    <a:srgbClr val="000000">
                      <a:alpha val="43137"/>
                    </a:srgbClr>
                  </a:outerShdw>
                </a:effectLst>
              </a:rPr>
              <a:t>3</a:t>
            </a:r>
            <a:r>
              <a:rPr lang="zh-CN" altLang="en-US" sz="2400" b="1" dirty="0" smtClean="0">
                <a:solidFill>
                  <a:srgbClr val="0000FF"/>
                </a:solidFill>
                <a:effectLst>
                  <a:outerShdw blurRad="38100" dist="38100" dir="2700000" algn="tl">
                    <a:srgbClr val="000000">
                      <a:alpha val="43137"/>
                    </a:srgbClr>
                  </a:outerShdw>
                </a:effectLst>
              </a:rPr>
              <a:t>列的二维数组</a:t>
            </a:r>
            <a:endParaRPr lang="zh-CN" altLang="en-US" sz="2400" b="1" dirty="0">
              <a:solidFill>
                <a:srgbClr val="0000FF"/>
              </a:solidFill>
              <a:effectLst>
                <a:outerShdw blurRad="38100" dist="38100" dir="2700000" algn="tl">
                  <a:srgbClr val="000000">
                    <a:alpha val="43137"/>
                  </a:srgbClr>
                </a:outerShdw>
              </a:effectLst>
            </a:endParaRPr>
          </a:p>
          <a:p>
            <a:r>
              <a:rPr lang="zh-CN" altLang="en-US" sz="2400" b="1" dirty="0">
                <a:effectLst>
                  <a:outerShdw blurRad="38100" dist="38100" dir="2700000" algn="tl">
                    <a:srgbClr val="000000">
                      <a:alpha val="43137"/>
                    </a:srgbClr>
                  </a:outerShdw>
                </a:effectLst>
              </a:rPr>
              <a:t>    for(i=0;i&lt;3;i++)</a:t>
            </a:r>
          </a:p>
          <a:p>
            <a:r>
              <a:rPr lang="zh-CN" altLang="en-US" sz="2400" b="1" dirty="0">
                <a:effectLst>
                  <a:outerShdw blurRad="38100" dist="38100" dir="2700000" algn="tl">
                    <a:srgbClr val="000000">
                      <a:alpha val="43137"/>
                    </a:srgbClr>
                  </a:outerShdw>
                </a:effectLst>
              </a:rPr>
              <a:t>      for(j=0;j&lt;3;j++)</a:t>
            </a:r>
          </a:p>
          <a:p>
            <a:r>
              <a:rPr lang="zh-CN" altLang="en-US" sz="2400" b="1" dirty="0">
                <a:effectLst>
                  <a:outerShdw blurRad="38100" dist="38100" dir="2700000" algn="tl">
                    <a:srgbClr val="000000">
                      <a:alpha val="43137"/>
                    </a:srgbClr>
                  </a:outerShdw>
                </a:effectLst>
              </a:rPr>
              <a:t>          scanf</a:t>
            </a:r>
            <a:r>
              <a:rPr lang="zh-CN" altLang="en-US" sz="2400" b="1" dirty="0" smtClean="0">
                <a:effectLst>
                  <a:outerShdw blurRad="38100" dist="38100" dir="2700000" algn="tl">
                    <a:srgbClr val="000000">
                      <a:alpha val="43137"/>
                    </a:srgbClr>
                  </a:outerShdw>
                </a:effectLst>
              </a:rPr>
              <a:t>("%d",</a:t>
            </a:r>
            <a:r>
              <a:rPr lang="zh-CN" altLang="en-US" sz="2400" b="1" dirty="0" smtClean="0">
                <a:solidFill>
                  <a:srgbClr val="FF0000"/>
                </a:solidFill>
                <a:effectLst>
                  <a:outerShdw blurRad="38100" dist="38100" dir="2700000" algn="tl">
                    <a:srgbClr val="000000">
                      <a:alpha val="43137"/>
                    </a:srgbClr>
                  </a:outerShdw>
                </a:effectLst>
              </a:rPr>
              <a:t>&amp;</a:t>
            </a:r>
            <a:r>
              <a:rPr lang="zh-CN" altLang="en-US" sz="2400" b="1" dirty="0">
                <a:solidFill>
                  <a:srgbClr val="FF0000"/>
                </a:solidFill>
                <a:effectLst>
                  <a:outerShdw blurRad="38100" dist="38100" dir="2700000" algn="tl">
                    <a:srgbClr val="000000">
                      <a:alpha val="43137"/>
                    </a:srgbClr>
                  </a:outerShdw>
                </a:effectLst>
              </a:rPr>
              <a:t>a[i][j]</a:t>
            </a:r>
            <a:r>
              <a:rPr lang="zh-CN" altLang="en-US" sz="2400" b="1" dirty="0">
                <a:effectLst>
                  <a:outerShdw blurRad="38100" dist="38100" dir="2700000" algn="tl">
                    <a:srgbClr val="000000">
                      <a:alpha val="43137"/>
                    </a:srgbClr>
                  </a:outerShdw>
                </a:effectLst>
              </a:rPr>
              <a:t>)</a:t>
            </a:r>
            <a:r>
              <a:rPr lang="zh-CN" altLang="en-US" sz="2400" b="1" dirty="0" smtClean="0">
                <a:effectLst>
                  <a:outerShdw blurRad="38100" dist="38100" dir="2700000" algn="tl">
                    <a:srgbClr val="000000">
                      <a:alpha val="43137"/>
                    </a:srgbClr>
                  </a:outerShdw>
                </a:effectLst>
              </a:rPr>
              <a:t>;     </a:t>
            </a:r>
            <a:r>
              <a:rPr lang="en-US" altLang="zh-CN" sz="2400" b="1" dirty="0" smtClean="0">
                <a:effectLst>
                  <a:outerShdw blurRad="38100" dist="38100" dir="2700000" algn="tl">
                    <a:srgbClr val="000000">
                      <a:alpha val="43137"/>
                    </a:srgbClr>
                  </a:outerShdw>
                </a:effectLst>
              </a:rPr>
              <a:t>//</a:t>
            </a:r>
            <a:r>
              <a:rPr lang="zh-CN" altLang="en-US" sz="2400" b="1" dirty="0" smtClean="0">
                <a:effectLst>
                  <a:outerShdw blurRad="38100" dist="38100" dir="2700000" algn="tl">
                    <a:srgbClr val="000000">
                      <a:alpha val="43137"/>
                    </a:srgbClr>
                  </a:outerShdw>
                </a:effectLst>
              </a:rPr>
              <a:t>二维数组的引用</a:t>
            </a:r>
            <a:endParaRPr lang="zh-CN" altLang="en-US" sz="2400" b="1" dirty="0">
              <a:effectLst>
                <a:outerShdw blurRad="38100" dist="38100" dir="2700000" algn="tl">
                  <a:srgbClr val="000000">
                    <a:alpha val="43137"/>
                  </a:srgbClr>
                </a:outerShdw>
              </a:effectLst>
            </a:endParaRPr>
          </a:p>
          <a:p>
            <a:r>
              <a:rPr lang="zh-CN" altLang="en-US" sz="2400" b="1" dirty="0">
                <a:effectLst>
                  <a:outerShdw blurRad="38100" dist="38100" dir="2700000" algn="tl">
                    <a:srgbClr val="000000">
                      <a:alpha val="43137"/>
                    </a:srgbClr>
                  </a:outerShdw>
                </a:effectLst>
              </a:rPr>
              <a:t>    for(i=0;i&lt;3;i++){</a:t>
            </a:r>
          </a:p>
          <a:p>
            <a:r>
              <a:rPr lang="zh-CN" altLang="en-US" sz="2400" b="1" dirty="0">
                <a:effectLst>
                  <a:outerShdw blurRad="38100" dist="38100" dir="2700000" algn="tl">
                    <a:srgbClr val="000000">
                      <a:alpha val="43137"/>
                    </a:srgbClr>
                  </a:outerShdw>
                </a:effectLst>
              </a:rPr>
              <a:t>      for(j=0;j&lt;3;j++)</a:t>
            </a:r>
          </a:p>
          <a:p>
            <a:r>
              <a:rPr lang="zh-CN" altLang="en-US" sz="2400" b="1" dirty="0">
                <a:effectLst>
                  <a:outerShdw blurRad="38100" dist="38100" dir="2700000" algn="tl">
                    <a:srgbClr val="000000">
                      <a:alpha val="43137"/>
                    </a:srgbClr>
                  </a:outerShdw>
                </a:effectLst>
              </a:rPr>
              <a:t>          printf</a:t>
            </a:r>
            <a:r>
              <a:rPr lang="zh-CN" altLang="en-US" sz="2400" b="1" dirty="0" smtClean="0">
                <a:effectLst>
                  <a:outerShdw blurRad="38100" dist="38100" dir="2700000" algn="tl">
                    <a:srgbClr val="000000">
                      <a:alpha val="43137"/>
                    </a:srgbClr>
                  </a:outerShdw>
                </a:effectLst>
              </a:rPr>
              <a:t>("%</a:t>
            </a:r>
            <a:r>
              <a:rPr lang="en-US" altLang="zh-CN" sz="2400" b="1" dirty="0" smtClean="0">
                <a:effectLst>
                  <a:outerShdw blurRad="38100" dist="38100" dir="2700000" algn="tl">
                    <a:srgbClr val="000000">
                      <a:alpha val="43137"/>
                    </a:srgbClr>
                  </a:outerShdw>
                </a:effectLst>
              </a:rPr>
              <a:t>4</a:t>
            </a:r>
            <a:r>
              <a:rPr lang="zh-CN" altLang="en-US" sz="2400" b="1" dirty="0" smtClean="0">
                <a:effectLst>
                  <a:outerShdw blurRad="38100" dist="38100" dir="2700000" algn="tl">
                    <a:srgbClr val="000000">
                      <a:alpha val="43137"/>
                    </a:srgbClr>
                  </a:outerShdw>
                </a:effectLst>
              </a:rPr>
              <a:t>d</a:t>
            </a:r>
            <a:r>
              <a:rPr lang="zh-CN" altLang="en-US" sz="2400" b="1" dirty="0">
                <a:effectLst>
                  <a:outerShdw blurRad="38100" dist="38100" dir="2700000" algn="tl">
                    <a:srgbClr val="000000">
                      <a:alpha val="43137"/>
                    </a:srgbClr>
                  </a:outerShdw>
                </a:effectLst>
              </a:rPr>
              <a:t>",</a:t>
            </a:r>
            <a:r>
              <a:rPr lang="zh-CN" altLang="en-US" sz="2400" b="1" dirty="0">
                <a:solidFill>
                  <a:srgbClr val="FF0000"/>
                </a:solidFill>
                <a:effectLst>
                  <a:outerShdw blurRad="38100" dist="38100" dir="2700000" algn="tl">
                    <a:srgbClr val="000000">
                      <a:alpha val="43137"/>
                    </a:srgbClr>
                  </a:outerShdw>
                </a:effectLst>
              </a:rPr>
              <a:t>a[i][j]</a:t>
            </a:r>
            <a:r>
              <a:rPr lang="zh-CN" altLang="en-US" sz="2400" b="1" dirty="0">
                <a:effectLst>
                  <a:outerShdw blurRad="38100" dist="38100" dir="2700000" algn="tl">
                    <a:srgbClr val="000000">
                      <a:alpha val="43137"/>
                    </a:srgbClr>
                  </a:outerShdw>
                </a:effectLst>
              </a:rPr>
              <a:t>);</a:t>
            </a:r>
          </a:p>
          <a:p>
            <a:r>
              <a:rPr lang="zh-CN" altLang="en-US" sz="2400" b="1" dirty="0">
                <a:effectLst>
                  <a:outerShdw blurRad="38100" dist="38100" dir="2700000" algn="tl">
                    <a:srgbClr val="000000">
                      <a:alpha val="43137"/>
                    </a:srgbClr>
                  </a:outerShdw>
                </a:effectLst>
              </a:rPr>
              <a:t>      printf("\n");</a:t>
            </a:r>
          </a:p>
          <a:p>
            <a:r>
              <a:rPr lang="zh-CN" altLang="en-US" sz="2400" b="1" dirty="0">
                <a:effectLst>
                  <a:outerShdw blurRad="38100" dist="38100" dir="2700000" algn="tl">
                    <a:srgbClr val="000000">
                      <a:alpha val="43137"/>
                    </a:srgbClr>
                  </a:outerShdw>
                </a:effectLst>
              </a:rPr>
              <a:t>    }</a:t>
            </a:r>
          </a:p>
          <a:p>
            <a:r>
              <a:rPr lang="zh-CN" altLang="en-US" sz="2400" b="1" dirty="0">
                <a:effectLst>
                  <a:outerShdw blurRad="38100" dist="38100" dir="2700000" algn="tl">
                    <a:srgbClr val="000000">
                      <a:alpha val="43137"/>
                    </a:srgbClr>
                  </a:outerShdw>
                </a:effectLst>
              </a:rPr>
              <a:t>    return 0;</a:t>
            </a:r>
          </a:p>
          <a:p>
            <a:r>
              <a:rPr lang="zh-CN" altLang="en-US" sz="2400" b="1"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97399271"/>
      </p:ext>
    </p:extLst>
  </p:cSld>
  <p:clrMapOvr>
    <a:masterClrMapping/>
  </p:clrMapOvr>
  <p:transition spd="med">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4.2 </a:t>
            </a:r>
            <a:r>
              <a:rPr lang="zh-CN" altLang="en-US" dirty="0" smtClean="0"/>
              <a:t>二维数组初始化赋值</a:t>
            </a: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27</a:t>
            </a:fld>
            <a:endParaRPr lang="en-US" altLang="zh-CN" dirty="0"/>
          </a:p>
        </p:txBody>
      </p:sp>
      <p:sp>
        <p:nvSpPr>
          <p:cNvPr id="3" name="矩形 2"/>
          <p:cNvSpPr/>
          <p:nvPr/>
        </p:nvSpPr>
        <p:spPr>
          <a:xfrm>
            <a:off x="827584" y="1626215"/>
            <a:ext cx="7488832" cy="4154984"/>
          </a:xfrm>
          <a:prstGeom prst="rect">
            <a:avLst/>
          </a:prstGeom>
        </p:spPr>
        <p:txBody>
          <a:bodyPr wrap="square">
            <a:spAutoFit/>
          </a:bodyPr>
          <a:lstStyle/>
          <a:p>
            <a:r>
              <a:rPr lang="zh-CN" altLang="en-US" sz="2400" b="1" dirty="0">
                <a:effectLst>
                  <a:outerShdw blurRad="38100" dist="38100" dir="2700000" algn="tl">
                    <a:srgbClr val="000000">
                      <a:alpha val="43137"/>
                    </a:srgbClr>
                  </a:outerShdw>
                </a:effectLst>
              </a:rPr>
              <a:t>#include &lt;stdio.h&gt;</a:t>
            </a:r>
          </a:p>
          <a:p>
            <a:r>
              <a:rPr lang="zh-CN" altLang="en-US" sz="2400" b="1" dirty="0">
                <a:effectLst>
                  <a:outerShdw blurRad="38100" dist="38100" dir="2700000" algn="tl">
                    <a:srgbClr val="000000">
                      <a:alpha val="43137"/>
                    </a:srgbClr>
                  </a:outerShdw>
                </a:effectLst>
              </a:rPr>
              <a:t>int main()</a:t>
            </a:r>
          </a:p>
          <a:p>
            <a:r>
              <a:rPr lang="zh-CN" altLang="en-US" sz="2400" b="1" dirty="0">
                <a:effectLst>
                  <a:outerShdw blurRad="38100" dist="38100" dir="2700000" algn="tl">
                    <a:srgbClr val="000000">
                      <a:alpha val="43137"/>
                    </a:srgbClr>
                  </a:outerShdw>
                </a:effectLst>
              </a:rPr>
              <a:t>{</a:t>
            </a:r>
          </a:p>
          <a:p>
            <a:r>
              <a:rPr lang="zh-CN" altLang="en-US" sz="2400" b="1" dirty="0">
                <a:effectLst>
                  <a:outerShdw blurRad="38100" dist="38100" dir="2700000" algn="tl">
                    <a:srgbClr val="000000">
                      <a:alpha val="43137"/>
                    </a:srgbClr>
                  </a:outerShdw>
                </a:effectLst>
              </a:rPr>
              <a:t>    int i,j,a[3][3]={{1,2,3},{4,5,6},{7,8,9}};</a:t>
            </a:r>
          </a:p>
          <a:p>
            <a:r>
              <a:rPr lang="zh-CN" altLang="en-US" sz="2400" b="1" dirty="0">
                <a:effectLst>
                  <a:outerShdw blurRad="38100" dist="38100" dir="2700000" algn="tl">
                    <a:srgbClr val="000000">
                      <a:alpha val="43137"/>
                    </a:srgbClr>
                  </a:outerShdw>
                </a:effectLst>
              </a:rPr>
              <a:t>    for(i=0;i&lt;3;i++){</a:t>
            </a:r>
          </a:p>
          <a:p>
            <a:r>
              <a:rPr lang="zh-CN" altLang="en-US" sz="2400" b="1" dirty="0">
                <a:effectLst>
                  <a:outerShdw blurRad="38100" dist="38100" dir="2700000" algn="tl">
                    <a:srgbClr val="000000">
                      <a:alpha val="43137"/>
                    </a:srgbClr>
                  </a:outerShdw>
                </a:effectLst>
              </a:rPr>
              <a:t>      for(j=0;j&lt;3;j++)</a:t>
            </a:r>
          </a:p>
          <a:p>
            <a:r>
              <a:rPr lang="zh-CN" altLang="en-US" sz="2400" b="1" dirty="0">
                <a:effectLst>
                  <a:outerShdw blurRad="38100" dist="38100" dir="2700000" algn="tl">
                    <a:srgbClr val="000000">
                      <a:alpha val="43137"/>
                    </a:srgbClr>
                  </a:outerShdw>
                </a:effectLst>
              </a:rPr>
              <a:t>          printf</a:t>
            </a:r>
            <a:r>
              <a:rPr lang="zh-CN" altLang="en-US" sz="2400" b="1" dirty="0" smtClean="0">
                <a:effectLst>
                  <a:outerShdw blurRad="38100" dist="38100" dir="2700000" algn="tl">
                    <a:srgbClr val="000000">
                      <a:alpha val="43137"/>
                    </a:srgbClr>
                  </a:outerShdw>
                </a:effectLst>
              </a:rPr>
              <a:t>("%</a:t>
            </a:r>
            <a:r>
              <a:rPr lang="en-US" altLang="zh-CN" sz="2400" b="1" dirty="0" smtClean="0">
                <a:effectLst>
                  <a:outerShdw blurRad="38100" dist="38100" dir="2700000" algn="tl">
                    <a:srgbClr val="000000">
                      <a:alpha val="43137"/>
                    </a:srgbClr>
                  </a:outerShdw>
                </a:effectLst>
              </a:rPr>
              <a:t>4</a:t>
            </a:r>
            <a:r>
              <a:rPr lang="zh-CN" altLang="en-US" sz="2400" b="1" dirty="0" smtClean="0">
                <a:effectLst>
                  <a:outerShdw blurRad="38100" dist="38100" dir="2700000" algn="tl">
                    <a:srgbClr val="000000">
                      <a:alpha val="43137"/>
                    </a:srgbClr>
                  </a:outerShdw>
                </a:effectLst>
              </a:rPr>
              <a:t>d</a:t>
            </a:r>
            <a:r>
              <a:rPr lang="zh-CN" altLang="en-US" sz="2400" b="1" dirty="0">
                <a:effectLst>
                  <a:outerShdw blurRad="38100" dist="38100" dir="2700000" algn="tl">
                    <a:srgbClr val="000000">
                      <a:alpha val="43137"/>
                    </a:srgbClr>
                  </a:outerShdw>
                </a:effectLst>
              </a:rPr>
              <a:t>",a[i][j]);</a:t>
            </a:r>
          </a:p>
          <a:p>
            <a:r>
              <a:rPr lang="zh-CN" altLang="en-US" sz="2400" b="1" dirty="0">
                <a:effectLst>
                  <a:outerShdw blurRad="38100" dist="38100" dir="2700000" algn="tl">
                    <a:srgbClr val="000000">
                      <a:alpha val="43137"/>
                    </a:srgbClr>
                  </a:outerShdw>
                </a:effectLst>
              </a:rPr>
              <a:t>      printf("\n");</a:t>
            </a:r>
          </a:p>
          <a:p>
            <a:r>
              <a:rPr lang="zh-CN" altLang="en-US" sz="2400" b="1" dirty="0">
                <a:effectLst>
                  <a:outerShdw blurRad="38100" dist="38100" dir="2700000" algn="tl">
                    <a:srgbClr val="000000">
                      <a:alpha val="43137"/>
                    </a:srgbClr>
                  </a:outerShdw>
                </a:effectLst>
              </a:rPr>
              <a:t>    }</a:t>
            </a:r>
          </a:p>
          <a:p>
            <a:r>
              <a:rPr lang="zh-CN" altLang="en-US" sz="2400" b="1" dirty="0">
                <a:effectLst>
                  <a:outerShdw blurRad="38100" dist="38100" dir="2700000" algn="tl">
                    <a:srgbClr val="000000">
                      <a:alpha val="43137"/>
                    </a:srgbClr>
                  </a:outerShdw>
                </a:effectLst>
              </a:rPr>
              <a:t>    return 0;</a:t>
            </a:r>
          </a:p>
          <a:p>
            <a:r>
              <a:rPr lang="zh-CN" altLang="en-US" sz="2400" b="1"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995187286"/>
      </p:ext>
    </p:extLst>
  </p:cSld>
  <p:clrMapOvr>
    <a:masterClrMapping/>
  </p:clrMapOvr>
  <p:transition spd="med">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4.2 </a:t>
            </a:r>
            <a:r>
              <a:rPr lang="zh-CN" altLang="en-US" dirty="0" smtClean="0"/>
              <a:t>二维数组初始化</a:t>
            </a:r>
            <a:r>
              <a:rPr lang="zh-CN" altLang="en-US" dirty="0"/>
              <a:t>赋值</a:t>
            </a: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28</a:t>
            </a:fld>
            <a:endParaRPr lang="en-US" altLang="zh-CN" dirty="0"/>
          </a:p>
        </p:txBody>
      </p:sp>
      <p:sp>
        <p:nvSpPr>
          <p:cNvPr id="3" name="矩形 2"/>
          <p:cNvSpPr/>
          <p:nvPr/>
        </p:nvSpPr>
        <p:spPr>
          <a:xfrm>
            <a:off x="827584" y="1626215"/>
            <a:ext cx="7488832" cy="4154984"/>
          </a:xfrm>
          <a:prstGeom prst="rect">
            <a:avLst/>
          </a:prstGeom>
        </p:spPr>
        <p:txBody>
          <a:bodyPr wrap="square">
            <a:spAutoFit/>
          </a:bodyPr>
          <a:lstStyle/>
          <a:p>
            <a:r>
              <a:rPr lang="zh-CN" altLang="en-US" sz="2400" b="1" dirty="0">
                <a:effectLst>
                  <a:outerShdw blurRad="38100" dist="38100" dir="2700000" algn="tl">
                    <a:srgbClr val="000000">
                      <a:alpha val="43137"/>
                    </a:srgbClr>
                  </a:outerShdw>
                </a:effectLst>
              </a:rPr>
              <a:t>#include &lt;stdio.h&gt;</a:t>
            </a:r>
          </a:p>
          <a:p>
            <a:r>
              <a:rPr lang="zh-CN" altLang="en-US" sz="2400" b="1" dirty="0">
                <a:effectLst>
                  <a:outerShdw blurRad="38100" dist="38100" dir="2700000" algn="tl">
                    <a:srgbClr val="000000">
                      <a:alpha val="43137"/>
                    </a:srgbClr>
                  </a:outerShdw>
                </a:effectLst>
              </a:rPr>
              <a:t>int main()</a:t>
            </a:r>
          </a:p>
          <a:p>
            <a:r>
              <a:rPr lang="zh-CN" altLang="en-US" sz="2400" b="1" dirty="0">
                <a:effectLst>
                  <a:outerShdw blurRad="38100" dist="38100" dir="2700000" algn="tl">
                    <a:srgbClr val="000000">
                      <a:alpha val="43137"/>
                    </a:srgbClr>
                  </a:outerShdw>
                </a:effectLst>
              </a:rPr>
              <a:t>{</a:t>
            </a:r>
          </a:p>
          <a:p>
            <a:r>
              <a:rPr lang="zh-CN" altLang="en-US" sz="2400" b="1" dirty="0">
                <a:effectLst>
                  <a:outerShdw blurRad="38100" dist="38100" dir="2700000" algn="tl">
                    <a:srgbClr val="000000">
                      <a:alpha val="43137"/>
                    </a:srgbClr>
                  </a:outerShdw>
                </a:effectLst>
              </a:rPr>
              <a:t>    int i,j,a</a:t>
            </a:r>
            <a:r>
              <a:rPr lang="zh-CN" altLang="en-US" sz="2400" b="1" dirty="0" smtClean="0">
                <a:effectLst>
                  <a:outerShdw blurRad="38100" dist="38100" dir="2700000" algn="tl">
                    <a:srgbClr val="000000">
                      <a:alpha val="43137"/>
                    </a:srgbClr>
                  </a:outerShdw>
                </a:effectLst>
              </a:rPr>
              <a:t>[</a:t>
            </a:r>
            <a:r>
              <a:rPr lang="en-US" altLang="zh-CN" sz="2400" b="1" dirty="0" smtClean="0">
                <a:effectLst>
                  <a:outerShdw blurRad="38100" dist="38100" dir="2700000" algn="tl">
                    <a:srgbClr val="000000">
                      <a:alpha val="43137"/>
                    </a:srgbClr>
                  </a:outerShdw>
                </a:effectLst>
              </a:rPr>
              <a:t>3</a:t>
            </a:r>
            <a:r>
              <a:rPr lang="zh-CN" altLang="en-US" sz="2400" b="1" dirty="0" smtClean="0">
                <a:effectLst>
                  <a:outerShdw blurRad="38100" dist="38100" dir="2700000" algn="tl">
                    <a:srgbClr val="000000">
                      <a:alpha val="43137"/>
                    </a:srgbClr>
                  </a:outerShdw>
                </a:effectLst>
              </a:rPr>
              <a:t>][</a:t>
            </a:r>
            <a:r>
              <a:rPr lang="zh-CN" altLang="en-US" sz="2400" b="1" dirty="0">
                <a:effectLst>
                  <a:outerShdw blurRad="38100" dist="38100" dir="2700000" algn="tl">
                    <a:srgbClr val="000000">
                      <a:alpha val="43137"/>
                    </a:srgbClr>
                  </a:outerShdw>
                </a:effectLst>
              </a:rPr>
              <a:t>3</a:t>
            </a:r>
            <a:r>
              <a:rPr lang="zh-CN" altLang="en-US" sz="2400" b="1" dirty="0" smtClean="0">
                <a:effectLst>
                  <a:outerShdw blurRad="38100" dist="38100" dir="2700000" algn="tl">
                    <a:srgbClr val="000000">
                      <a:alpha val="43137"/>
                    </a:srgbClr>
                  </a:outerShdw>
                </a:effectLst>
              </a:rPr>
              <a:t>]={1</a:t>
            </a:r>
            <a:r>
              <a:rPr lang="zh-CN" altLang="en-US" sz="2400" b="1" dirty="0">
                <a:effectLst>
                  <a:outerShdw blurRad="38100" dist="38100" dir="2700000" algn="tl">
                    <a:srgbClr val="000000">
                      <a:alpha val="43137"/>
                    </a:srgbClr>
                  </a:outerShdw>
                </a:effectLst>
              </a:rPr>
              <a:t>,2,</a:t>
            </a:r>
            <a:r>
              <a:rPr lang="zh-CN" altLang="en-US" sz="2400" b="1" dirty="0" smtClean="0">
                <a:effectLst>
                  <a:outerShdw blurRad="38100" dist="38100" dir="2700000" algn="tl">
                    <a:srgbClr val="000000">
                      <a:alpha val="43137"/>
                    </a:srgbClr>
                  </a:outerShdw>
                </a:effectLst>
              </a:rPr>
              <a:t>3,4</a:t>
            </a:r>
            <a:r>
              <a:rPr lang="zh-CN" altLang="en-US" sz="2400" b="1" dirty="0">
                <a:effectLst>
                  <a:outerShdw blurRad="38100" dist="38100" dir="2700000" algn="tl">
                    <a:srgbClr val="000000">
                      <a:alpha val="43137"/>
                    </a:srgbClr>
                  </a:outerShdw>
                </a:effectLst>
              </a:rPr>
              <a:t>,5,</a:t>
            </a:r>
            <a:r>
              <a:rPr lang="zh-CN" altLang="en-US" sz="2400" b="1" dirty="0" smtClean="0">
                <a:effectLst>
                  <a:outerShdw blurRad="38100" dist="38100" dir="2700000" algn="tl">
                    <a:srgbClr val="000000">
                      <a:alpha val="43137"/>
                    </a:srgbClr>
                  </a:outerShdw>
                </a:effectLst>
              </a:rPr>
              <a:t>6</a:t>
            </a:r>
            <a:r>
              <a:rPr lang="en-US" altLang="zh-CN" sz="2400" b="1" dirty="0" smtClean="0">
                <a:effectLst>
                  <a:outerShdw blurRad="38100" dist="38100" dir="2700000" algn="tl">
                    <a:srgbClr val="000000">
                      <a:alpha val="43137"/>
                    </a:srgbClr>
                  </a:outerShdw>
                </a:effectLst>
              </a:rPr>
              <a:t>,7,8,9</a:t>
            </a:r>
            <a:r>
              <a:rPr lang="zh-CN" altLang="en-US" sz="2400" b="1" dirty="0" smtClean="0">
                <a:effectLst>
                  <a:outerShdw blurRad="38100" dist="38100" dir="2700000" algn="tl">
                    <a:srgbClr val="000000">
                      <a:alpha val="43137"/>
                    </a:srgbClr>
                  </a:outerShdw>
                </a:effectLst>
              </a:rPr>
              <a:t>}</a:t>
            </a:r>
            <a:r>
              <a:rPr lang="zh-CN" altLang="en-US" sz="2400" b="1" dirty="0">
                <a:effectLst>
                  <a:outerShdw blurRad="38100" dist="38100" dir="2700000" algn="tl">
                    <a:srgbClr val="000000">
                      <a:alpha val="43137"/>
                    </a:srgbClr>
                  </a:outerShdw>
                </a:effectLst>
              </a:rPr>
              <a:t>;</a:t>
            </a:r>
          </a:p>
          <a:p>
            <a:r>
              <a:rPr lang="zh-CN" altLang="en-US" sz="2400" b="1" dirty="0">
                <a:effectLst>
                  <a:outerShdw blurRad="38100" dist="38100" dir="2700000" algn="tl">
                    <a:srgbClr val="000000">
                      <a:alpha val="43137"/>
                    </a:srgbClr>
                  </a:outerShdw>
                </a:effectLst>
              </a:rPr>
              <a:t>    for(i=0;i</a:t>
            </a:r>
            <a:r>
              <a:rPr lang="zh-CN" altLang="en-US" sz="2400" b="1" dirty="0" smtClean="0">
                <a:effectLst>
                  <a:outerShdw blurRad="38100" dist="38100" dir="2700000" algn="tl">
                    <a:srgbClr val="000000">
                      <a:alpha val="43137"/>
                    </a:srgbClr>
                  </a:outerShdw>
                </a:effectLst>
              </a:rPr>
              <a:t>&lt;</a:t>
            </a:r>
            <a:r>
              <a:rPr lang="en-US" altLang="zh-CN" sz="2400" b="1" dirty="0" smtClean="0">
                <a:effectLst>
                  <a:outerShdw blurRad="38100" dist="38100" dir="2700000" algn="tl">
                    <a:srgbClr val="000000">
                      <a:alpha val="43137"/>
                    </a:srgbClr>
                  </a:outerShdw>
                </a:effectLst>
              </a:rPr>
              <a:t>3</a:t>
            </a:r>
            <a:r>
              <a:rPr lang="zh-CN" altLang="en-US" sz="2400" b="1" dirty="0" smtClean="0">
                <a:effectLst>
                  <a:outerShdw blurRad="38100" dist="38100" dir="2700000" algn="tl">
                    <a:srgbClr val="000000">
                      <a:alpha val="43137"/>
                    </a:srgbClr>
                  </a:outerShdw>
                </a:effectLst>
              </a:rPr>
              <a:t>;</a:t>
            </a:r>
            <a:r>
              <a:rPr lang="zh-CN" altLang="en-US" sz="2400" b="1" dirty="0">
                <a:effectLst>
                  <a:outerShdw blurRad="38100" dist="38100" dir="2700000" algn="tl">
                    <a:srgbClr val="000000">
                      <a:alpha val="43137"/>
                    </a:srgbClr>
                  </a:outerShdw>
                </a:effectLst>
              </a:rPr>
              <a:t>i++){</a:t>
            </a:r>
          </a:p>
          <a:p>
            <a:r>
              <a:rPr lang="zh-CN" altLang="en-US" sz="2400" b="1" dirty="0">
                <a:effectLst>
                  <a:outerShdw blurRad="38100" dist="38100" dir="2700000" algn="tl">
                    <a:srgbClr val="000000">
                      <a:alpha val="43137"/>
                    </a:srgbClr>
                  </a:outerShdw>
                </a:effectLst>
              </a:rPr>
              <a:t>      for(j=0;j&lt;3;j++)</a:t>
            </a:r>
          </a:p>
          <a:p>
            <a:r>
              <a:rPr lang="zh-CN" altLang="en-US" sz="2400" b="1" dirty="0">
                <a:effectLst>
                  <a:outerShdw blurRad="38100" dist="38100" dir="2700000" algn="tl">
                    <a:srgbClr val="000000">
                      <a:alpha val="43137"/>
                    </a:srgbClr>
                  </a:outerShdw>
                </a:effectLst>
              </a:rPr>
              <a:t>          printf</a:t>
            </a:r>
            <a:r>
              <a:rPr lang="zh-CN" altLang="en-US" sz="2400" b="1" dirty="0" smtClean="0">
                <a:effectLst>
                  <a:outerShdw blurRad="38100" dist="38100" dir="2700000" algn="tl">
                    <a:srgbClr val="000000">
                      <a:alpha val="43137"/>
                    </a:srgbClr>
                  </a:outerShdw>
                </a:effectLst>
              </a:rPr>
              <a:t>("%</a:t>
            </a:r>
            <a:r>
              <a:rPr lang="en-US" altLang="zh-CN" sz="2400" b="1" dirty="0" smtClean="0">
                <a:effectLst>
                  <a:outerShdw blurRad="38100" dist="38100" dir="2700000" algn="tl">
                    <a:srgbClr val="000000">
                      <a:alpha val="43137"/>
                    </a:srgbClr>
                  </a:outerShdw>
                </a:effectLst>
              </a:rPr>
              <a:t>4</a:t>
            </a:r>
            <a:r>
              <a:rPr lang="zh-CN" altLang="en-US" sz="2400" b="1" dirty="0" smtClean="0">
                <a:effectLst>
                  <a:outerShdw blurRad="38100" dist="38100" dir="2700000" algn="tl">
                    <a:srgbClr val="000000">
                      <a:alpha val="43137"/>
                    </a:srgbClr>
                  </a:outerShdw>
                </a:effectLst>
              </a:rPr>
              <a:t>d</a:t>
            </a:r>
            <a:r>
              <a:rPr lang="zh-CN" altLang="en-US" sz="2400" b="1" dirty="0">
                <a:effectLst>
                  <a:outerShdw blurRad="38100" dist="38100" dir="2700000" algn="tl">
                    <a:srgbClr val="000000">
                      <a:alpha val="43137"/>
                    </a:srgbClr>
                  </a:outerShdw>
                </a:effectLst>
              </a:rPr>
              <a:t>",a[i][j]);</a:t>
            </a:r>
          </a:p>
          <a:p>
            <a:r>
              <a:rPr lang="zh-CN" altLang="en-US" sz="2400" b="1" dirty="0">
                <a:effectLst>
                  <a:outerShdw blurRad="38100" dist="38100" dir="2700000" algn="tl">
                    <a:srgbClr val="000000">
                      <a:alpha val="43137"/>
                    </a:srgbClr>
                  </a:outerShdw>
                </a:effectLst>
              </a:rPr>
              <a:t>      printf("\n");</a:t>
            </a:r>
          </a:p>
          <a:p>
            <a:r>
              <a:rPr lang="zh-CN" altLang="en-US" sz="2400" b="1" dirty="0">
                <a:effectLst>
                  <a:outerShdw blurRad="38100" dist="38100" dir="2700000" algn="tl">
                    <a:srgbClr val="000000">
                      <a:alpha val="43137"/>
                    </a:srgbClr>
                  </a:outerShdw>
                </a:effectLst>
              </a:rPr>
              <a:t>    }</a:t>
            </a:r>
          </a:p>
          <a:p>
            <a:r>
              <a:rPr lang="zh-CN" altLang="en-US" sz="2400" b="1" dirty="0">
                <a:effectLst>
                  <a:outerShdw blurRad="38100" dist="38100" dir="2700000" algn="tl">
                    <a:srgbClr val="000000">
                      <a:alpha val="43137"/>
                    </a:srgbClr>
                  </a:outerShdw>
                </a:effectLst>
              </a:rPr>
              <a:t>    return 0;</a:t>
            </a:r>
          </a:p>
          <a:p>
            <a:r>
              <a:rPr lang="zh-CN" altLang="en-US" sz="2400" b="1"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2939012036"/>
      </p:ext>
    </p:extLst>
  </p:cSld>
  <p:clrMapOvr>
    <a:masterClrMapping/>
  </p:clrMapOvr>
  <p:transition spd="med">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4.2 </a:t>
            </a:r>
            <a:r>
              <a:rPr lang="zh-CN" altLang="en-US" dirty="0" smtClean="0"/>
              <a:t>二维数组初始化</a:t>
            </a:r>
            <a:r>
              <a:rPr lang="zh-CN" altLang="en-US" dirty="0"/>
              <a:t>赋值</a:t>
            </a: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29</a:t>
            </a:fld>
            <a:endParaRPr lang="en-US" altLang="zh-CN" dirty="0"/>
          </a:p>
        </p:txBody>
      </p:sp>
      <p:sp>
        <p:nvSpPr>
          <p:cNvPr id="3" name="矩形 2"/>
          <p:cNvSpPr/>
          <p:nvPr/>
        </p:nvSpPr>
        <p:spPr>
          <a:xfrm>
            <a:off x="827584" y="1626215"/>
            <a:ext cx="7488832" cy="4154984"/>
          </a:xfrm>
          <a:prstGeom prst="rect">
            <a:avLst/>
          </a:prstGeom>
        </p:spPr>
        <p:txBody>
          <a:bodyPr wrap="square">
            <a:spAutoFit/>
          </a:bodyPr>
          <a:lstStyle/>
          <a:p>
            <a:r>
              <a:rPr lang="zh-CN" altLang="en-US" sz="2400" b="1" dirty="0">
                <a:effectLst>
                  <a:outerShdw blurRad="38100" dist="38100" dir="2700000" algn="tl">
                    <a:srgbClr val="000000">
                      <a:alpha val="43137"/>
                    </a:srgbClr>
                  </a:outerShdw>
                </a:effectLst>
              </a:rPr>
              <a:t>#include &lt;stdio.h&gt;</a:t>
            </a:r>
          </a:p>
          <a:p>
            <a:r>
              <a:rPr lang="zh-CN" altLang="en-US" sz="2400" b="1" dirty="0">
                <a:effectLst>
                  <a:outerShdw blurRad="38100" dist="38100" dir="2700000" algn="tl">
                    <a:srgbClr val="000000">
                      <a:alpha val="43137"/>
                    </a:srgbClr>
                  </a:outerShdw>
                </a:effectLst>
              </a:rPr>
              <a:t>int main()</a:t>
            </a:r>
          </a:p>
          <a:p>
            <a:r>
              <a:rPr lang="zh-CN" altLang="en-US" sz="2400" b="1" dirty="0">
                <a:effectLst>
                  <a:outerShdw blurRad="38100" dist="38100" dir="2700000" algn="tl">
                    <a:srgbClr val="000000">
                      <a:alpha val="43137"/>
                    </a:srgbClr>
                  </a:outerShdw>
                </a:effectLst>
              </a:rPr>
              <a:t>{</a:t>
            </a:r>
          </a:p>
          <a:p>
            <a:r>
              <a:rPr lang="zh-CN" altLang="en-US" sz="2400" b="1" dirty="0">
                <a:effectLst>
                  <a:outerShdw blurRad="38100" dist="38100" dir="2700000" algn="tl">
                    <a:srgbClr val="000000">
                      <a:alpha val="43137"/>
                    </a:srgbClr>
                  </a:outerShdw>
                </a:effectLst>
              </a:rPr>
              <a:t>    int i,j,a[3][3]={{1,2,3},{4,</a:t>
            </a:r>
            <a:r>
              <a:rPr lang="zh-CN" altLang="en-US" sz="2400" b="1" dirty="0" smtClean="0">
                <a:effectLst>
                  <a:outerShdw blurRad="38100" dist="38100" dir="2700000" algn="tl">
                    <a:srgbClr val="000000">
                      <a:alpha val="43137"/>
                    </a:srgbClr>
                  </a:outerShdw>
                </a:effectLst>
              </a:rPr>
              <a:t>5}</a:t>
            </a:r>
            <a:r>
              <a:rPr lang="en-US" altLang="zh-CN" sz="2400" b="1" dirty="0" smtClean="0">
                <a:effectLst>
                  <a:outerShdw blurRad="38100" dist="38100" dir="2700000" algn="tl">
                    <a:srgbClr val="000000">
                      <a:alpha val="43137"/>
                    </a:srgbClr>
                  </a:outerShdw>
                </a:effectLst>
              </a:rPr>
              <a:t>}</a:t>
            </a:r>
            <a:r>
              <a:rPr lang="zh-CN" altLang="en-US" sz="2400" b="1" dirty="0" smtClean="0">
                <a:effectLst>
                  <a:outerShdw blurRad="38100" dist="38100" dir="2700000" algn="tl">
                    <a:srgbClr val="000000">
                      <a:alpha val="43137"/>
                    </a:srgbClr>
                  </a:outerShdw>
                </a:effectLst>
              </a:rPr>
              <a:t>;</a:t>
            </a:r>
            <a:endParaRPr lang="zh-CN" altLang="en-US" sz="2400" b="1" dirty="0">
              <a:effectLst>
                <a:outerShdw blurRad="38100" dist="38100" dir="2700000" algn="tl">
                  <a:srgbClr val="000000">
                    <a:alpha val="43137"/>
                  </a:srgbClr>
                </a:outerShdw>
              </a:effectLst>
            </a:endParaRPr>
          </a:p>
          <a:p>
            <a:r>
              <a:rPr lang="zh-CN" altLang="en-US" sz="2400" b="1" dirty="0">
                <a:effectLst>
                  <a:outerShdw blurRad="38100" dist="38100" dir="2700000" algn="tl">
                    <a:srgbClr val="000000">
                      <a:alpha val="43137"/>
                    </a:srgbClr>
                  </a:outerShdw>
                </a:effectLst>
              </a:rPr>
              <a:t>    for(i=0;i&lt;3;i++){</a:t>
            </a:r>
          </a:p>
          <a:p>
            <a:r>
              <a:rPr lang="zh-CN" altLang="en-US" sz="2400" b="1" dirty="0">
                <a:effectLst>
                  <a:outerShdw blurRad="38100" dist="38100" dir="2700000" algn="tl">
                    <a:srgbClr val="000000">
                      <a:alpha val="43137"/>
                    </a:srgbClr>
                  </a:outerShdw>
                </a:effectLst>
              </a:rPr>
              <a:t>      for(j=0;j&lt;3;j++)</a:t>
            </a:r>
          </a:p>
          <a:p>
            <a:r>
              <a:rPr lang="zh-CN" altLang="en-US" sz="2400" b="1" dirty="0">
                <a:effectLst>
                  <a:outerShdw blurRad="38100" dist="38100" dir="2700000" algn="tl">
                    <a:srgbClr val="000000">
                      <a:alpha val="43137"/>
                    </a:srgbClr>
                  </a:outerShdw>
                </a:effectLst>
              </a:rPr>
              <a:t>          printf</a:t>
            </a:r>
            <a:r>
              <a:rPr lang="zh-CN" altLang="en-US" sz="2400" b="1" dirty="0" smtClean="0">
                <a:effectLst>
                  <a:outerShdw blurRad="38100" dist="38100" dir="2700000" algn="tl">
                    <a:srgbClr val="000000">
                      <a:alpha val="43137"/>
                    </a:srgbClr>
                  </a:outerShdw>
                </a:effectLst>
              </a:rPr>
              <a:t>("%</a:t>
            </a:r>
            <a:r>
              <a:rPr lang="en-US" altLang="zh-CN" sz="2400" b="1" dirty="0" smtClean="0">
                <a:effectLst>
                  <a:outerShdw blurRad="38100" dist="38100" dir="2700000" algn="tl">
                    <a:srgbClr val="000000">
                      <a:alpha val="43137"/>
                    </a:srgbClr>
                  </a:outerShdw>
                </a:effectLst>
              </a:rPr>
              <a:t>4</a:t>
            </a:r>
            <a:r>
              <a:rPr lang="zh-CN" altLang="en-US" sz="2400" b="1" dirty="0" smtClean="0">
                <a:effectLst>
                  <a:outerShdw blurRad="38100" dist="38100" dir="2700000" algn="tl">
                    <a:srgbClr val="000000">
                      <a:alpha val="43137"/>
                    </a:srgbClr>
                  </a:outerShdw>
                </a:effectLst>
              </a:rPr>
              <a:t>d</a:t>
            </a:r>
            <a:r>
              <a:rPr lang="zh-CN" altLang="en-US" sz="2400" b="1" dirty="0">
                <a:effectLst>
                  <a:outerShdw blurRad="38100" dist="38100" dir="2700000" algn="tl">
                    <a:srgbClr val="000000">
                      <a:alpha val="43137"/>
                    </a:srgbClr>
                  </a:outerShdw>
                </a:effectLst>
              </a:rPr>
              <a:t>",a[i][j]);</a:t>
            </a:r>
          </a:p>
          <a:p>
            <a:r>
              <a:rPr lang="zh-CN" altLang="en-US" sz="2400" b="1" dirty="0">
                <a:effectLst>
                  <a:outerShdw blurRad="38100" dist="38100" dir="2700000" algn="tl">
                    <a:srgbClr val="000000">
                      <a:alpha val="43137"/>
                    </a:srgbClr>
                  </a:outerShdw>
                </a:effectLst>
              </a:rPr>
              <a:t>      printf("\n");</a:t>
            </a:r>
          </a:p>
          <a:p>
            <a:r>
              <a:rPr lang="zh-CN" altLang="en-US" sz="2400" b="1" dirty="0">
                <a:effectLst>
                  <a:outerShdw blurRad="38100" dist="38100" dir="2700000" algn="tl">
                    <a:srgbClr val="000000">
                      <a:alpha val="43137"/>
                    </a:srgbClr>
                  </a:outerShdw>
                </a:effectLst>
              </a:rPr>
              <a:t>    }</a:t>
            </a:r>
          </a:p>
          <a:p>
            <a:r>
              <a:rPr lang="zh-CN" altLang="en-US" sz="2400" b="1" dirty="0">
                <a:effectLst>
                  <a:outerShdw blurRad="38100" dist="38100" dir="2700000" algn="tl">
                    <a:srgbClr val="000000">
                      <a:alpha val="43137"/>
                    </a:srgbClr>
                  </a:outerShdw>
                </a:effectLst>
              </a:rPr>
              <a:t>    return 0;</a:t>
            </a:r>
          </a:p>
          <a:p>
            <a:r>
              <a:rPr lang="zh-CN" altLang="en-US" sz="2400" b="1"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3350433763"/>
      </p:ext>
    </p:extLst>
  </p:cSld>
  <p:clrMapOvr>
    <a:masterClrMapping/>
  </p:clrMapOvr>
  <p:transition spd="med">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4.2 </a:t>
            </a:r>
            <a:r>
              <a:rPr lang="zh-CN" altLang="en-US" dirty="0" smtClean="0"/>
              <a:t>二维数组初始化</a:t>
            </a:r>
            <a:r>
              <a:rPr lang="zh-CN" altLang="en-US" dirty="0"/>
              <a:t>赋值</a:t>
            </a: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30</a:t>
            </a:fld>
            <a:endParaRPr lang="en-US" altLang="zh-CN" dirty="0"/>
          </a:p>
        </p:txBody>
      </p:sp>
      <p:sp>
        <p:nvSpPr>
          <p:cNvPr id="3" name="矩形 2"/>
          <p:cNvSpPr/>
          <p:nvPr/>
        </p:nvSpPr>
        <p:spPr>
          <a:xfrm>
            <a:off x="827584" y="1626215"/>
            <a:ext cx="7488832" cy="4154984"/>
          </a:xfrm>
          <a:prstGeom prst="rect">
            <a:avLst/>
          </a:prstGeom>
        </p:spPr>
        <p:txBody>
          <a:bodyPr wrap="square">
            <a:spAutoFit/>
          </a:bodyPr>
          <a:lstStyle/>
          <a:p>
            <a:r>
              <a:rPr lang="zh-CN" altLang="en-US" sz="2400" b="1" dirty="0">
                <a:effectLst>
                  <a:outerShdw blurRad="38100" dist="38100" dir="2700000" algn="tl">
                    <a:srgbClr val="000000">
                      <a:alpha val="43137"/>
                    </a:srgbClr>
                  </a:outerShdw>
                </a:effectLst>
              </a:rPr>
              <a:t>#include &lt;stdio.h&gt;</a:t>
            </a:r>
          </a:p>
          <a:p>
            <a:r>
              <a:rPr lang="zh-CN" altLang="en-US" sz="2400" b="1" dirty="0">
                <a:effectLst>
                  <a:outerShdw blurRad="38100" dist="38100" dir="2700000" algn="tl">
                    <a:srgbClr val="000000">
                      <a:alpha val="43137"/>
                    </a:srgbClr>
                  </a:outerShdw>
                </a:effectLst>
              </a:rPr>
              <a:t>int main()</a:t>
            </a:r>
          </a:p>
          <a:p>
            <a:r>
              <a:rPr lang="zh-CN" altLang="en-US" sz="2400" b="1" dirty="0">
                <a:effectLst>
                  <a:outerShdw blurRad="38100" dist="38100" dir="2700000" algn="tl">
                    <a:srgbClr val="000000">
                      <a:alpha val="43137"/>
                    </a:srgbClr>
                  </a:outerShdw>
                </a:effectLst>
              </a:rPr>
              <a:t>{</a:t>
            </a:r>
          </a:p>
          <a:p>
            <a:r>
              <a:rPr lang="zh-CN" altLang="en-US" sz="2400" b="1" dirty="0">
                <a:effectLst>
                  <a:outerShdw blurRad="38100" dist="38100" dir="2700000" algn="tl">
                    <a:srgbClr val="000000">
                      <a:alpha val="43137"/>
                    </a:srgbClr>
                  </a:outerShdw>
                </a:effectLst>
              </a:rPr>
              <a:t>    int i,j,a</a:t>
            </a:r>
            <a:r>
              <a:rPr lang="zh-CN" altLang="en-US" sz="2400" b="1" dirty="0" smtClean="0">
                <a:effectLst>
                  <a:outerShdw blurRad="38100" dist="38100" dir="2700000" algn="tl">
                    <a:srgbClr val="000000">
                      <a:alpha val="43137"/>
                    </a:srgbClr>
                  </a:outerShdw>
                </a:effectLst>
              </a:rPr>
              <a:t>[</a:t>
            </a:r>
            <a:r>
              <a:rPr lang="en-US" altLang="zh-CN" sz="2400" b="1" dirty="0" smtClean="0">
                <a:effectLst>
                  <a:outerShdw blurRad="38100" dist="38100" dir="2700000" algn="tl">
                    <a:srgbClr val="000000">
                      <a:alpha val="43137"/>
                    </a:srgbClr>
                  </a:outerShdw>
                </a:effectLst>
              </a:rPr>
              <a:t>3</a:t>
            </a:r>
            <a:r>
              <a:rPr lang="zh-CN" altLang="en-US" sz="2400" b="1" dirty="0" smtClean="0">
                <a:effectLst>
                  <a:outerShdw blurRad="38100" dist="38100" dir="2700000" algn="tl">
                    <a:srgbClr val="000000">
                      <a:alpha val="43137"/>
                    </a:srgbClr>
                  </a:outerShdw>
                </a:effectLst>
              </a:rPr>
              <a:t>][</a:t>
            </a:r>
            <a:r>
              <a:rPr lang="zh-CN" altLang="en-US" sz="2400" b="1" dirty="0">
                <a:effectLst>
                  <a:outerShdw blurRad="38100" dist="38100" dir="2700000" algn="tl">
                    <a:srgbClr val="000000">
                      <a:alpha val="43137"/>
                    </a:srgbClr>
                  </a:outerShdw>
                </a:effectLst>
              </a:rPr>
              <a:t>3</a:t>
            </a:r>
            <a:r>
              <a:rPr lang="zh-CN" altLang="en-US" sz="2400" b="1" dirty="0" smtClean="0">
                <a:effectLst>
                  <a:outerShdw blurRad="38100" dist="38100" dir="2700000" algn="tl">
                    <a:srgbClr val="000000">
                      <a:alpha val="43137"/>
                    </a:srgbClr>
                  </a:outerShdw>
                </a:effectLst>
              </a:rPr>
              <a:t>]={1</a:t>
            </a:r>
            <a:r>
              <a:rPr lang="zh-CN" altLang="en-US" sz="2400" b="1" dirty="0">
                <a:effectLst>
                  <a:outerShdw blurRad="38100" dist="38100" dir="2700000" algn="tl">
                    <a:srgbClr val="000000">
                      <a:alpha val="43137"/>
                    </a:srgbClr>
                  </a:outerShdw>
                </a:effectLst>
              </a:rPr>
              <a:t>,2,</a:t>
            </a:r>
            <a:r>
              <a:rPr lang="zh-CN" altLang="en-US" sz="2400" b="1" dirty="0" smtClean="0">
                <a:effectLst>
                  <a:outerShdw blurRad="38100" dist="38100" dir="2700000" algn="tl">
                    <a:srgbClr val="000000">
                      <a:alpha val="43137"/>
                    </a:srgbClr>
                  </a:outerShdw>
                </a:effectLst>
              </a:rPr>
              <a:t>3,4}</a:t>
            </a:r>
            <a:r>
              <a:rPr lang="zh-CN" altLang="en-US" sz="2400" b="1" dirty="0">
                <a:effectLst>
                  <a:outerShdw blurRad="38100" dist="38100" dir="2700000" algn="tl">
                    <a:srgbClr val="000000">
                      <a:alpha val="43137"/>
                    </a:srgbClr>
                  </a:outerShdw>
                </a:effectLst>
              </a:rPr>
              <a:t>;</a:t>
            </a:r>
          </a:p>
          <a:p>
            <a:r>
              <a:rPr lang="zh-CN" altLang="en-US" sz="2400" b="1" dirty="0">
                <a:effectLst>
                  <a:outerShdw blurRad="38100" dist="38100" dir="2700000" algn="tl">
                    <a:srgbClr val="000000">
                      <a:alpha val="43137"/>
                    </a:srgbClr>
                  </a:outerShdw>
                </a:effectLst>
              </a:rPr>
              <a:t>    for(i=0;i</a:t>
            </a:r>
            <a:r>
              <a:rPr lang="zh-CN" altLang="en-US" sz="2400" b="1" dirty="0" smtClean="0">
                <a:effectLst>
                  <a:outerShdw blurRad="38100" dist="38100" dir="2700000" algn="tl">
                    <a:srgbClr val="000000">
                      <a:alpha val="43137"/>
                    </a:srgbClr>
                  </a:outerShdw>
                </a:effectLst>
              </a:rPr>
              <a:t>&lt;</a:t>
            </a:r>
            <a:r>
              <a:rPr lang="en-US" altLang="zh-CN" sz="2400" b="1" dirty="0" smtClean="0">
                <a:effectLst>
                  <a:outerShdw blurRad="38100" dist="38100" dir="2700000" algn="tl">
                    <a:srgbClr val="000000">
                      <a:alpha val="43137"/>
                    </a:srgbClr>
                  </a:outerShdw>
                </a:effectLst>
              </a:rPr>
              <a:t>3</a:t>
            </a:r>
            <a:r>
              <a:rPr lang="zh-CN" altLang="en-US" sz="2400" b="1" dirty="0" smtClean="0">
                <a:effectLst>
                  <a:outerShdw blurRad="38100" dist="38100" dir="2700000" algn="tl">
                    <a:srgbClr val="000000">
                      <a:alpha val="43137"/>
                    </a:srgbClr>
                  </a:outerShdw>
                </a:effectLst>
              </a:rPr>
              <a:t>;</a:t>
            </a:r>
            <a:r>
              <a:rPr lang="zh-CN" altLang="en-US" sz="2400" b="1" dirty="0">
                <a:effectLst>
                  <a:outerShdw blurRad="38100" dist="38100" dir="2700000" algn="tl">
                    <a:srgbClr val="000000">
                      <a:alpha val="43137"/>
                    </a:srgbClr>
                  </a:outerShdw>
                </a:effectLst>
              </a:rPr>
              <a:t>i++){</a:t>
            </a:r>
          </a:p>
          <a:p>
            <a:r>
              <a:rPr lang="zh-CN" altLang="en-US" sz="2400" b="1" dirty="0">
                <a:effectLst>
                  <a:outerShdw blurRad="38100" dist="38100" dir="2700000" algn="tl">
                    <a:srgbClr val="000000">
                      <a:alpha val="43137"/>
                    </a:srgbClr>
                  </a:outerShdw>
                </a:effectLst>
              </a:rPr>
              <a:t>      for(j=0;j&lt;3;j++)</a:t>
            </a:r>
          </a:p>
          <a:p>
            <a:r>
              <a:rPr lang="zh-CN" altLang="en-US" sz="2400" b="1" dirty="0">
                <a:effectLst>
                  <a:outerShdw blurRad="38100" dist="38100" dir="2700000" algn="tl">
                    <a:srgbClr val="000000">
                      <a:alpha val="43137"/>
                    </a:srgbClr>
                  </a:outerShdw>
                </a:effectLst>
              </a:rPr>
              <a:t>          printf</a:t>
            </a:r>
            <a:r>
              <a:rPr lang="zh-CN" altLang="en-US" sz="2400" b="1" dirty="0" smtClean="0">
                <a:effectLst>
                  <a:outerShdw blurRad="38100" dist="38100" dir="2700000" algn="tl">
                    <a:srgbClr val="000000">
                      <a:alpha val="43137"/>
                    </a:srgbClr>
                  </a:outerShdw>
                </a:effectLst>
              </a:rPr>
              <a:t>("%</a:t>
            </a:r>
            <a:r>
              <a:rPr lang="en-US" altLang="zh-CN" sz="2400" b="1" dirty="0" smtClean="0">
                <a:effectLst>
                  <a:outerShdw blurRad="38100" dist="38100" dir="2700000" algn="tl">
                    <a:srgbClr val="000000">
                      <a:alpha val="43137"/>
                    </a:srgbClr>
                  </a:outerShdw>
                </a:effectLst>
              </a:rPr>
              <a:t>4</a:t>
            </a:r>
            <a:r>
              <a:rPr lang="zh-CN" altLang="en-US" sz="2400" b="1" dirty="0" smtClean="0">
                <a:effectLst>
                  <a:outerShdw blurRad="38100" dist="38100" dir="2700000" algn="tl">
                    <a:srgbClr val="000000">
                      <a:alpha val="43137"/>
                    </a:srgbClr>
                  </a:outerShdw>
                </a:effectLst>
              </a:rPr>
              <a:t>d</a:t>
            </a:r>
            <a:r>
              <a:rPr lang="zh-CN" altLang="en-US" sz="2400" b="1" dirty="0">
                <a:effectLst>
                  <a:outerShdw blurRad="38100" dist="38100" dir="2700000" algn="tl">
                    <a:srgbClr val="000000">
                      <a:alpha val="43137"/>
                    </a:srgbClr>
                  </a:outerShdw>
                </a:effectLst>
              </a:rPr>
              <a:t>",a[i][j]);</a:t>
            </a:r>
          </a:p>
          <a:p>
            <a:r>
              <a:rPr lang="zh-CN" altLang="en-US" sz="2400" b="1" dirty="0">
                <a:effectLst>
                  <a:outerShdw blurRad="38100" dist="38100" dir="2700000" algn="tl">
                    <a:srgbClr val="000000">
                      <a:alpha val="43137"/>
                    </a:srgbClr>
                  </a:outerShdw>
                </a:effectLst>
              </a:rPr>
              <a:t>      printf("\n");</a:t>
            </a:r>
          </a:p>
          <a:p>
            <a:r>
              <a:rPr lang="zh-CN" altLang="en-US" sz="2400" b="1" dirty="0">
                <a:effectLst>
                  <a:outerShdw blurRad="38100" dist="38100" dir="2700000" algn="tl">
                    <a:srgbClr val="000000">
                      <a:alpha val="43137"/>
                    </a:srgbClr>
                  </a:outerShdw>
                </a:effectLst>
              </a:rPr>
              <a:t>    }</a:t>
            </a:r>
          </a:p>
          <a:p>
            <a:r>
              <a:rPr lang="zh-CN" altLang="en-US" sz="2400" b="1" dirty="0">
                <a:effectLst>
                  <a:outerShdw blurRad="38100" dist="38100" dir="2700000" algn="tl">
                    <a:srgbClr val="000000">
                      <a:alpha val="43137"/>
                    </a:srgbClr>
                  </a:outerShdw>
                </a:effectLst>
              </a:rPr>
              <a:t>    return 0;</a:t>
            </a:r>
          </a:p>
          <a:p>
            <a:r>
              <a:rPr lang="zh-CN" altLang="en-US" sz="2400" b="1"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1255271516"/>
      </p:ext>
    </p:extLst>
  </p:cSld>
  <p:clrMapOvr>
    <a:masterClrMapping/>
  </p:clrMapOvr>
  <p:transition spd="med">
    <p:rand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4.2 </a:t>
            </a:r>
            <a:r>
              <a:rPr lang="zh-CN" altLang="en-US" dirty="0" smtClean="0"/>
              <a:t>二维数组初始化</a:t>
            </a:r>
            <a:r>
              <a:rPr lang="zh-CN" altLang="en-US" dirty="0"/>
              <a:t>赋值</a:t>
            </a: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31</a:t>
            </a:fld>
            <a:endParaRPr lang="en-US" altLang="zh-CN" dirty="0"/>
          </a:p>
        </p:txBody>
      </p:sp>
      <p:sp>
        <p:nvSpPr>
          <p:cNvPr id="3" name="矩形 2"/>
          <p:cNvSpPr/>
          <p:nvPr/>
        </p:nvSpPr>
        <p:spPr>
          <a:xfrm>
            <a:off x="827584" y="1626215"/>
            <a:ext cx="7488832" cy="4524315"/>
          </a:xfrm>
          <a:prstGeom prst="rect">
            <a:avLst/>
          </a:prstGeom>
        </p:spPr>
        <p:txBody>
          <a:bodyPr wrap="square">
            <a:spAutoFit/>
          </a:bodyPr>
          <a:lstStyle/>
          <a:p>
            <a:r>
              <a:rPr lang="zh-CN" altLang="en-US" sz="2400" b="1" dirty="0">
                <a:effectLst>
                  <a:outerShdw blurRad="38100" dist="38100" dir="2700000" algn="tl">
                    <a:srgbClr val="000000">
                      <a:alpha val="43137"/>
                    </a:srgbClr>
                  </a:outerShdw>
                </a:effectLst>
              </a:rPr>
              <a:t>#include &lt;stdio.h&gt;</a:t>
            </a:r>
          </a:p>
          <a:p>
            <a:r>
              <a:rPr lang="zh-CN" altLang="en-US" sz="2400" b="1" dirty="0">
                <a:effectLst>
                  <a:outerShdw blurRad="38100" dist="38100" dir="2700000" algn="tl">
                    <a:srgbClr val="000000">
                      <a:alpha val="43137"/>
                    </a:srgbClr>
                  </a:outerShdw>
                </a:effectLst>
              </a:rPr>
              <a:t>int main()</a:t>
            </a:r>
          </a:p>
          <a:p>
            <a:r>
              <a:rPr lang="zh-CN" altLang="en-US" sz="2400" b="1" dirty="0">
                <a:effectLst>
                  <a:outerShdw blurRad="38100" dist="38100" dir="2700000" algn="tl">
                    <a:srgbClr val="000000">
                      <a:alpha val="43137"/>
                    </a:srgbClr>
                  </a:outerShdw>
                </a:effectLst>
              </a:rPr>
              <a:t>{</a:t>
            </a:r>
          </a:p>
          <a:p>
            <a:r>
              <a:rPr lang="zh-CN" altLang="en-US" sz="2400" b="1" dirty="0">
                <a:effectLst>
                  <a:outerShdw blurRad="38100" dist="38100" dir="2700000" algn="tl">
                    <a:srgbClr val="000000">
                      <a:alpha val="43137"/>
                    </a:srgbClr>
                  </a:outerShdw>
                </a:effectLst>
              </a:rPr>
              <a:t>    </a:t>
            </a:r>
            <a:r>
              <a:rPr lang="en-US" altLang="zh-CN" sz="2400" b="1" dirty="0" smtClean="0">
                <a:effectLst>
                  <a:outerShdw blurRad="38100" dist="38100" dir="2700000" algn="tl">
                    <a:srgbClr val="000000">
                      <a:alpha val="43137"/>
                    </a:srgbClr>
                  </a:outerShdw>
                </a:effectLst>
              </a:rPr>
              <a:t>static </a:t>
            </a:r>
            <a:r>
              <a:rPr lang="zh-CN" altLang="en-US" sz="2400" b="1" dirty="0" smtClean="0">
                <a:effectLst>
                  <a:outerShdw blurRad="38100" dist="38100" dir="2700000" algn="tl">
                    <a:srgbClr val="000000">
                      <a:alpha val="43137"/>
                    </a:srgbClr>
                  </a:outerShdw>
                </a:effectLst>
              </a:rPr>
              <a:t>int a[</a:t>
            </a:r>
            <a:r>
              <a:rPr lang="en-US" altLang="zh-CN" sz="2400" b="1" dirty="0" smtClean="0">
                <a:effectLst>
                  <a:outerShdw blurRad="38100" dist="38100" dir="2700000" algn="tl">
                    <a:srgbClr val="000000">
                      <a:alpha val="43137"/>
                    </a:srgbClr>
                  </a:outerShdw>
                </a:effectLst>
              </a:rPr>
              <a:t>3</a:t>
            </a:r>
            <a:r>
              <a:rPr lang="zh-CN" altLang="en-US" sz="2400" b="1" dirty="0" smtClean="0">
                <a:effectLst>
                  <a:outerShdw blurRad="38100" dist="38100" dir="2700000" algn="tl">
                    <a:srgbClr val="000000">
                      <a:alpha val="43137"/>
                    </a:srgbClr>
                  </a:outerShdw>
                </a:effectLst>
              </a:rPr>
              <a:t>][</a:t>
            </a:r>
            <a:r>
              <a:rPr lang="zh-CN" altLang="en-US" sz="2400" b="1" dirty="0">
                <a:effectLst>
                  <a:outerShdw blurRad="38100" dist="38100" dir="2700000" algn="tl">
                    <a:srgbClr val="000000">
                      <a:alpha val="43137"/>
                    </a:srgbClr>
                  </a:outerShdw>
                </a:effectLst>
              </a:rPr>
              <a:t>3</a:t>
            </a:r>
            <a:r>
              <a:rPr lang="zh-CN" altLang="en-US" sz="2400" b="1" dirty="0" smtClean="0">
                <a:effectLst>
                  <a:outerShdw blurRad="38100" dist="38100" dir="2700000" algn="tl">
                    <a:srgbClr val="000000">
                      <a:alpha val="43137"/>
                    </a:srgbClr>
                  </a:outerShdw>
                </a:effectLst>
              </a:rPr>
              <a:t>]={1</a:t>
            </a:r>
            <a:r>
              <a:rPr lang="zh-CN" altLang="en-US" sz="2400" b="1" dirty="0">
                <a:effectLst>
                  <a:outerShdw blurRad="38100" dist="38100" dir="2700000" algn="tl">
                    <a:srgbClr val="000000">
                      <a:alpha val="43137"/>
                    </a:srgbClr>
                  </a:outerShdw>
                </a:effectLst>
              </a:rPr>
              <a:t>,2,</a:t>
            </a:r>
            <a:r>
              <a:rPr lang="zh-CN" altLang="en-US" sz="2400" b="1" dirty="0" smtClean="0">
                <a:effectLst>
                  <a:outerShdw blurRad="38100" dist="38100" dir="2700000" algn="tl">
                    <a:srgbClr val="000000">
                      <a:alpha val="43137"/>
                    </a:srgbClr>
                  </a:outerShdw>
                </a:effectLst>
              </a:rPr>
              <a:t>3,4};</a:t>
            </a:r>
            <a:endParaRPr lang="en-US" altLang="zh-CN" sz="2400" b="1" dirty="0" smtClean="0">
              <a:effectLst>
                <a:outerShdw blurRad="38100" dist="38100" dir="2700000" algn="tl">
                  <a:srgbClr val="000000">
                    <a:alpha val="43137"/>
                  </a:srgbClr>
                </a:outerShdw>
              </a:effectLst>
            </a:endParaRPr>
          </a:p>
          <a:p>
            <a:r>
              <a:rPr lang="en-US" altLang="zh-CN" sz="2400" b="1" dirty="0">
                <a:effectLst>
                  <a:outerShdw blurRad="38100" dist="38100" dir="2700000" algn="tl">
                    <a:srgbClr val="000000">
                      <a:alpha val="43137"/>
                    </a:srgbClr>
                  </a:outerShdw>
                </a:effectLst>
              </a:rPr>
              <a:t> </a:t>
            </a:r>
            <a:r>
              <a:rPr lang="en-US" altLang="zh-CN" sz="2400" b="1" dirty="0" smtClean="0">
                <a:effectLst>
                  <a:outerShdw blurRad="38100" dist="38100" dir="2700000" algn="tl">
                    <a:srgbClr val="000000">
                      <a:alpha val="43137"/>
                    </a:srgbClr>
                  </a:outerShdw>
                </a:effectLst>
              </a:rPr>
              <a:t>   </a:t>
            </a:r>
            <a:r>
              <a:rPr lang="en-US" altLang="zh-CN" sz="2400" b="1" dirty="0" err="1" smtClean="0">
                <a:effectLst>
                  <a:outerShdw blurRad="38100" dist="38100" dir="2700000" algn="tl">
                    <a:srgbClr val="000000">
                      <a:alpha val="43137"/>
                    </a:srgbClr>
                  </a:outerShdw>
                </a:effectLst>
              </a:rPr>
              <a:t>int</a:t>
            </a:r>
            <a:r>
              <a:rPr lang="en-US" altLang="zh-CN" sz="2400" b="1" dirty="0" smtClean="0">
                <a:effectLst>
                  <a:outerShdw blurRad="38100" dist="38100" dir="2700000" algn="tl">
                    <a:srgbClr val="000000">
                      <a:alpha val="43137"/>
                    </a:srgbClr>
                  </a:outerShdw>
                </a:effectLst>
              </a:rPr>
              <a:t> </a:t>
            </a:r>
            <a:r>
              <a:rPr lang="en-US" altLang="zh-CN" sz="2400" b="1" dirty="0" err="1" smtClean="0">
                <a:effectLst>
                  <a:outerShdw blurRad="38100" dist="38100" dir="2700000" algn="tl">
                    <a:srgbClr val="000000">
                      <a:alpha val="43137"/>
                    </a:srgbClr>
                  </a:outerShdw>
                </a:effectLst>
              </a:rPr>
              <a:t>i,j</a:t>
            </a:r>
            <a:r>
              <a:rPr lang="en-US" altLang="zh-CN" sz="2400" b="1" dirty="0" smtClean="0">
                <a:effectLst>
                  <a:outerShdw blurRad="38100" dist="38100" dir="2700000" algn="tl">
                    <a:srgbClr val="000000">
                      <a:alpha val="43137"/>
                    </a:srgbClr>
                  </a:outerShdw>
                </a:effectLst>
              </a:rPr>
              <a:t>;</a:t>
            </a:r>
            <a:endParaRPr lang="zh-CN" altLang="en-US" sz="2400" b="1" dirty="0">
              <a:effectLst>
                <a:outerShdw blurRad="38100" dist="38100" dir="2700000" algn="tl">
                  <a:srgbClr val="000000">
                    <a:alpha val="43137"/>
                  </a:srgbClr>
                </a:outerShdw>
              </a:effectLst>
            </a:endParaRPr>
          </a:p>
          <a:p>
            <a:r>
              <a:rPr lang="zh-CN" altLang="en-US" sz="2400" b="1" dirty="0">
                <a:effectLst>
                  <a:outerShdw blurRad="38100" dist="38100" dir="2700000" algn="tl">
                    <a:srgbClr val="000000">
                      <a:alpha val="43137"/>
                    </a:srgbClr>
                  </a:outerShdw>
                </a:effectLst>
              </a:rPr>
              <a:t>    for(i=0;i</a:t>
            </a:r>
            <a:r>
              <a:rPr lang="zh-CN" altLang="en-US" sz="2400" b="1" dirty="0" smtClean="0">
                <a:effectLst>
                  <a:outerShdw blurRad="38100" dist="38100" dir="2700000" algn="tl">
                    <a:srgbClr val="000000">
                      <a:alpha val="43137"/>
                    </a:srgbClr>
                  </a:outerShdw>
                </a:effectLst>
              </a:rPr>
              <a:t>&lt;</a:t>
            </a:r>
            <a:r>
              <a:rPr lang="en-US" altLang="zh-CN" sz="2400" b="1" dirty="0" smtClean="0">
                <a:effectLst>
                  <a:outerShdw blurRad="38100" dist="38100" dir="2700000" algn="tl">
                    <a:srgbClr val="000000">
                      <a:alpha val="43137"/>
                    </a:srgbClr>
                  </a:outerShdw>
                </a:effectLst>
              </a:rPr>
              <a:t>3</a:t>
            </a:r>
            <a:r>
              <a:rPr lang="zh-CN" altLang="en-US" sz="2400" b="1" dirty="0" smtClean="0">
                <a:effectLst>
                  <a:outerShdw blurRad="38100" dist="38100" dir="2700000" algn="tl">
                    <a:srgbClr val="000000">
                      <a:alpha val="43137"/>
                    </a:srgbClr>
                  </a:outerShdw>
                </a:effectLst>
              </a:rPr>
              <a:t>;</a:t>
            </a:r>
            <a:r>
              <a:rPr lang="zh-CN" altLang="en-US" sz="2400" b="1" dirty="0">
                <a:effectLst>
                  <a:outerShdw blurRad="38100" dist="38100" dir="2700000" algn="tl">
                    <a:srgbClr val="000000">
                      <a:alpha val="43137"/>
                    </a:srgbClr>
                  </a:outerShdw>
                </a:effectLst>
              </a:rPr>
              <a:t>i++){</a:t>
            </a:r>
          </a:p>
          <a:p>
            <a:r>
              <a:rPr lang="zh-CN" altLang="en-US" sz="2400" b="1" dirty="0">
                <a:effectLst>
                  <a:outerShdw blurRad="38100" dist="38100" dir="2700000" algn="tl">
                    <a:srgbClr val="000000">
                      <a:alpha val="43137"/>
                    </a:srgbClr>
                  </a:outerShdw>
                </a:effectLst>
              </a:rPr>
              <a:t>      for(j=0;j&lt;3;j++)</a:t>
            </a:r>
          </a:p>
          <a:p>
            <a:r>
              <a:rPr lang="zh-CN" altLang="en-US" sz="2400" b="1" dirty="0">
                <a:effectLst>
                  <a:outerShdw blurRad="38100" dist="38100" dir="2700000" algn="tl">
                    <a:srgbClr val="000000">
                      <a:alpha val="43137"/>
                    </a:srgbClr>
                  </a:outerShdw>
                </a:effectLst>
              </a:rPr>
              <a:t>          printf</a:t>
            </a:r>
            <a:r>
              <a:rPr lang="zh-CN" altLang="en-US" sz="2400" b="1" dirty="0" smtClean="0">
                <a:effectLst>
                  <a:outerShdw blurRad="38100" dist="38100" dir="2700000" algn="tl">
                    <a:srgbClr val="000000">
                      <a:alpha val="43137"/>
                    </a:srgbClr>
                  </a:outerShdw>
                </a:effectLst>
              </a:rPr>
              <a:t>("%</a:t>
            </a:r>
            <a:r>
              <a:rPr lang="en-US" altLang="zh-CN" sz="2400" b="1" dirty="0" smtClean="0">
                <a:effectLst>
                  <a:outerShdw blurRad="38100" dist="38100" dir="2700000" algn="tl">
                    <a:srgbClr val="000000">
                      <a:alpha val="43137"/>
                    </a:srgbClr>
                  </a:outerShdw>
                </a:effectLst>
              </a:rPr>
              <a:t>4</a:t>
            </a:r>
            <a:r>
              <a:rPr lang="zh-CN" altLang="en-US" sz="2400" b="1" dirty="0" smtClean="0">
                <a:effectLst>
                  <a:outerShdw blurRad="38100" dist="38100" dir="2700000" algn="tl">
                    <a:srgbClr val="000000">
                      <a:alpha val="43137"/>
                    </a:srgbClr>
                  </a:outerShdw>
                </a:effectLst>
              </a:rPr>
              <a:t>d</a:t>
            </a:r>
            <a:r>
              <a:rPr lang="zh-CN" altLang="en-US" sz="2400" b="1" dirty="0">
                <a:effectLst>
                  <a:outerShdw blurRad="38100" dist="38100" dir="2700000" algn="tl">
                    <a:srgbClr val="000000">
                      <a:alpha val="43137"/>
                    </a:srgbClr>
                  </a:outerShdw>
                </a:effectLst>
              </a:rPr>
              <a:t>",a[i][j]);</a:t>
            </a:r>
          </a:p>
          <a:p>
            <a:r>
              <a:rPr lang="zh-CN" altLang="en-US" sz="2400" b="1" dirty="0">
                <a:effectLst>
                  <a:outerShdw blurRad="38100" dist="38100" dir="2700000" algn="tl">
                    <a:srgbClr val="000000">
                      <a:alpha val="43137"/>
                    </a:srgbClr>
                  </a:outerShdw>
                </a:effectLst>
              </a:rPr>
              <a:t>      printf("\n");</a:t>
            </a:r>
          </a:p>
          <a:p>
            <a:r>
              <a:rPr lang="zh-CN" altLang="en-US" sz="2400" b="1" dirty="0">
                <a:effectLst>
                  <a:outerShdw blurRad="38100" dist="38100" dir="2700000" algn="tl">
                    <a:srgbClr val="000000">
                      <a:alpha val="43137"/>
                    </a:srgbClr>
                  </a:outerShdw>
                </a:effectLst>
              </a:rPr>
              <a:t>    }</a:t>
            </a:r>
          </a:p>
          <a:p>
            <a:r>
              <a:rPr lang="zh-CN" altLang="en-US" sz="2400" b="1" dirty="0">
                <a:effectLst>
                  <a:outerShdw blurRad="38100" dist="38100" dir="2700000" algn="tl">
                    <a:srgbClr val="000000">
                      <a:alpha val="43137"/>
                    </a:srgbClr>
                  </a:outerShdw>
                </a:effectLst>
              </a:rPr>
              <a:t>    return 0;</a:t>
            </a:r>
          </a:p>
          <a:p>
            <a:r>
              <a:rPr lang="zh-CN" altLang="en-US" sz="2400" b="1"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1074694423"/>
      </p:ext>
    </p:extLst>
  </p:cSld>
  <p:clrMapOvr>
    <a:masterClrMapping/>
  </p:clrMapOvr>
  <p:transition spd="med">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4.1 </a:t>
            </a:r>
            <a:r>
              <a:rPr lang="zh-CN" altLang="en-US" dirty="0" smtClean="0"/>
              <a:t>一维数组典型例题</a:t>
            </a:r>
            <a:endParaRPr lang="en-US" dirty="0"/>
          </a:p>
        </p:txBody>
      </p:sp>
      <p:sp>
        <p:nvSpPr>
          <p:cNvPr id="3" name="Content Placeholder 2"/>
          <p:cNvSpPr>
            <a:spLocks noGrp="1"/>
          </p:cNvSpPr>
          <p:nvPr>
            <p:ph idx="1"/>
          </p:nvPr>
        </p:nvSpPr>
        <p:spPr>
          <a:xfrm>
            <a:off x="755650" y="1700213"/>
            <a:ext cx="8388350" cy="4537075"/>
          </a:xfrm>
        </p:spPr>
        <p:txBody>
          <a:bodyPr/>
          <a:lstStyle/>
          <a:p>
            <a:r>
              <a:rPr lang="en-US" altLang="zh-TW" dirty="0"/>
              <a:t>【</a:t>
            </a:r>
            <a:r>
              <a:rPr lang="zh-TW" altLang="en-US" dirty="0"/>
              <a:t>例</a:t>
            </a:r>
            <a:r>
              <a:rPr lang="en-US" altLang="zh-TW" dirty="0"/>
              <a:t>4-1】</a:t>
            </a:r>
            <a:r>
              <a:rPr lang="zh-TW" altLang="en-US" dirty="0"/>
              <a:t>计算平均值。给定</a:t>
            </a:r>
            <a:r>
              <a:rPr lang="en-US" altLang="zh-TW" dirty="0"/>
              <a:t>10</a:t>
            </a:r>
            <a:r>
              <a:rPr lang="zh-TW" altLang="en-US" dirty="0"/>
              <a:t>个学生考试成绩，计算平均值并保留小数点后</a:t>
            </a:r>
            <a:r>
              <a:rPr lang="en-US" altLang="zh-TW" dirty="0"/>
              <a:t>2</a:t>
            </a:r>
            <a:r>
              <a:rPr lang="zh-TW" altLang="en-US" dirty="0"/>
              <a:t>位</a:t>
            </a:r>
            <a:r>
              <a:rPr lang="zh-TW" altLang="en-US" dirty="0" smtClean="0"/>
              <a:t>。</a:t>
            </a:r>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32</a:t>
            </a:fld>
            <a:endParaRPr lang="en-US" altLang="zh-CN" dirty="0"/>
          </a:p>
        </p:txBody>
      </p:sp>
      <p:sp>
        <p:nvSpPr>
          <p:cNvPr id="5" name="矩形 4"/>
          <p:cNvSpPr/>
          <p:nvPr/>
        </p:nvSpPr>
        <p:spPr>
          <a:xfrm>
            <a:off x="1043608" y="2942543"/>
            <a:ext cx="7135409" cy="3785652"/>
          </a:xfrm>
          <a:prstGeom prst="rect">
            <a:avLst/>
          </a:prstGeom>
        </p:spPr>
        <p:txBody>
          <a:bodyPr wrap="square">
            <a:spAutoFit/>
          </a:bodyPr>
          <a:lstStyle/>
          <a:p>
            <a:r>
              <a:rPr lang="zh-CN" altLang="en-US" sz="2400" b="1" dirty="0">
                <a:effectLst>
                  <a:outerShdw blurRad="38100" dist="38100" dir="2700000" algn="tl">
                    <a:srgbClr val="000000">
                      <a:alpha val="43137"/>
                    </a:srgbClr>
                  </a:outerShdw>
                </a:effectLst>
              </a:rPr>
              <a:t>#include &lt;stdio.h&gt;</a:t>
            </a:r>
          </a:p>
          <a:p>
            <a:r>
              <a:rPr lang="zh-CN" altLang="en-US" sz="2400" b="1" dirty="0">
                <a:effectLst>
                  <a:outerShdw blurRad="38100" dist="38100" dir="2700000" algn="tl">
                    <a:srgbClr val="000000">
                      <a:alpha val="43137"/>
                    </a:srgbClr>
                  </a:outerShdw>
                </a:effectLst>
              </a:rPr>
              <a:t>int main()</a:t>
            </a:r>
          </a:p>
          <a:p>
            <a:r>
              <a:rPr lang="zh-CN" altLang="en-US" sz="2400" b="1" dirty="0">
                <a:effectLst>
                  <a:outerShdw blurRad="38100" dist="38100" dir="2700000" algn="tl">
                    <a:srgbClr val="000000">
                      <a:alpha val="43137"/>
                    </a:srgbClr>
                  </a:outerShdw>
                </a:effectLst>
              </a:rPr>
              <a:t>{</a:t>
            </a:r>
          </a:p>
          <a:p>
            <a:r>
              <a:rPr lang="zh-CN" altLang="en-US" sz="2400" b="1" dirty="0">
                <a:effectLst>
                  <a:outerShdw blurRad="38100" dist="38100" dir="2700000" algn="tl">
                    <a:srgbClr val="000000">
                      <a:alpha val="43137"/>
                    </a:srgbClr>
                  </a:outerShdw>
                </a:effectLst>
              </a:rPr>
              <a:t>    int </a:t>
            </a:r>
            <a:r>
              <a:rPr lang="zh-CN" altLang="en-US" sz="2400" b="1" dirty="0">
                <a:solidFill>
                  <a:srgbClr val="FF0000"/>
                </a:solidFill>
                <a:effectLst>
                  <a:outerShdw blurRad="38100" dist="38100" dir="2700000" algn="tl">
                    <a:srgbClr val="000000">
                      <a:alpha val="43137"/>
                    </a:srgbClr>
                  </a:outerShdw>
                </a:effectLst>
              </a:rPr>
              <a:t>a</a:t>
            </a:r>
            <a:r>
              <a:rPr lang="zh-CN" altLang="en-US" sz="2400" b="1" dirty="0" smtClean="0">
                <a:solidFill>
                  <a:srgbClr val="FF0000"/>
                </a:solidFill>
                <a:effectLst>
                  <a:outerShdw blurRad="38100" dist="38100" dir="2700000" algn="tl">
                    <a:srgbClr val="000000">
                      <a:alpha val="43137"/>
                    </a:srgbClr>
                  </a:outerShdw>
                </a:effectLst>
              </a:rPr>
              <a:t>[</a:t>
            </a:r>
            <a:r>
              <a:rPr lang="en-US" altLang="zh-CN" sz="2400" b="1" dirty="0" smtClean="0">
                <a:solidFill>
                  <a:srgbClr val="FF0000"/>
                </a:solidFill>
                <a:effectLst>
                  <a:outerShdw blurRad="38100" dist="38100" dir="2700000" algn="tl">
                    <a:srgbClr val="000000">
                      <a:alpha val="43137"/>
                    </a:srgbClr>
                  </a:outerShdw>
                </a:effectLst>
              </a:rPr>
              <a:t>10</a:t>
            </a:r>
            <a:r>
              <a:rPr lang="zh-CN" altLang="en-US" sz="2400" b="1" dirty="0" smtClean="0">
                <a:solidFill>
                  <a:srgbClr val="FF0000"/>
                </a:solidFill>
                <a:effectLst>
                  <a:outerShdw blurRad="38100" dist="38100" dir="2700000" algn="tl">
                    <a:srgbClr val="000000">
                      <a:alpha val="43137"/>
                    </a:srgbClr>
                  </a:outerShdw>
                </a:effectLst>
              </a:rPr>
              <a:t>]</a:t>
            </a:r>
            <a:r>
              <a:rPr lang="zh-CN" altLang="en-US" sz="2400" b="1" dirty="0" smtClean="0">
                <a:effectLst>
                  <a:outerShdw blurRad="38100" dist="38100" dir="2700000" algn="tl">
                    <a:srgbClr val="000000">
                      <a:alpha val="43137"/>
                    </a:srgbClr>
                  </a:outerShdw>
                </a:effectLst>
              </a:rPr>
              <a:t>,</a:t>
            </a:r>
            <a:r>
              <a:rPr lang="zh-CN" altLang="en-US" sz="2400" b="1" dirty="0">
                <a:effectLst>
                  <a:outerShdw blurRad="38100" dist="38100" dir="2700000" algn="tl">
                    <a:srgbClr val="000000">
                      <a:alpha val="43137"/>
                    </a:srgbClr>
                  </a:outerShdw>
                </a:effectLst>
              </a:rPr>
              <a:t>i;   </a:t>
            </a:r>
            <a:r>
              <a:rPr lang="zh-CN" altLang="en-US" sz="2400" b="1" dirty="0" smtClean="0">
                <a:effectLst>
                  <a:outerShdw blurRad="38100" dist="38100" dir="2700000" algn="tl">
                    <a:srgbClr val="000000">
                      <a:alpha val="43137"/>
                    </a:srgbClr>
                  </a:outerShdw>
                </a:effectLst>
              </a:rPr>
              <a:t>                   </a:t>
            </a:r>
            <a:r>
              <a:rPr lang="zh-CN" altLang="en-US" sz="2400" b="1" dirty="0" smtClean="0">
                <a:solidFill>
                  <a:srgbClr val="0000FF"/>
                </a:solidFill>
                <a:effectLst>
                  <a:outerShdw blurRad="38100" dist="38100" dir="2700000" algn="tl">
                    <a:srgbClr val="000000">
                      <a:alpha val="43137"/>
                    </a:srgbClr>
                  </a:outerShdw>
                </a:effectLst>
              </a:rPr>
              <a:t>//</a:t>
            </a:r>
            <a:r>
              <a:rPr lang="zh-CN" altLang="en-US" sz="2400" b="1" dirty="0">
                <a:solidFill>
                  <a:srgbClr val="0000FF"/>
                </a:solidFill>
                <a:effectLst>
                  <a:outerShdw blurRad="38100" dist="38100" dir="2700000" algn="tl">
                    <a:srgbClr val="000000">
                      <a:alpha val="43137"/>
                    </a:srgbClr>
                  </a:outerShdw>
                </a:effectLst>
              </a:rPr>
              <a:t>定义整型数组</a:t>
            </a:r>
          </a:p>
          <a:p>
            <a:r>
              <a:rPr lang="zh-CN" altLang="en-US" sz="2400" b="1" dirty="0">
                <a:effectLst>
                  <a:outerShdw blurRad="38100" dist="38100" dir="2700000" algn="tl">
                    <a:srgbClr val="000000">
                      <a:alpha val="43137"/>
                    </a:srgbClr>
                  </a:outerShdw>
                </a:effectLst>
              </a:rPr>
              <a:t>    for(i=0;i</a:t>
            </a:r>
            <a:r>
              <a:rPr lang="zh-CN" altLang="en-US" sz="2400" b="1" dirty="0" smtClean="0">
                <a:effectLst>
                  <a:outerShdw blurRad="38100" dist="38100" dir="2700000" algn="tl">
                    <a:srgbClr val="000000">
                      <a:alpha val="43137"/>
                    </a:srgbClr>
                  </a:outerShdw>
                </a:effectLst>
              </a:rPr>
              <a:t>&lt;</a:t>
            </a:r>
            <a:r>
              <a:rPr lang="en-US" altLang="zh-CN" sz="2400" b="1" dirty="0" smtClean="0">
                <a:effectLst>
                  <a:outerShdw blurRad="38100" dist="38100" dir="2700000" algn="tl">
                    <a:srgbClr val="000000">
                      <a:alpha val="43137"/>
                    </a:srgbClr>
                  </a:outerShdw>
                </a:effectLst>
              </a:rPr>
              <a:t>10</a:t>
            </a:r>
            <a:r>
              <a:rPr lang="zh-CN" altLang="en-US" sz="2400" b="1" dirty="0" smtClean="0">
                <a:effectLst>
                  <a:outerShdw blurRad="38100" dist="38100" dir="2700000" algn="tl">
                    <a:srgbClr val="000000">
                      <a:alpha val="43137"/>
                    </a:srgbClr>
                  </a:outerShdw>
                </a:effectLst>
              </a:rPr>
              <a:t>;</a:t>
            </a:r>
            <a:r>
              <a:rPr lang="zh-CN" altLang="en-US" sz="2400" b="1" dirty="0">
                <a:effectLst>
                  <a:outerShdw blurRad="38100" dist="38100" dir="2700000" algn="tl">
                    <a:srgbClr val="000000">
                      <a:alpha val="43137"/>
                    </a:srgbClr>
                  </a:outerShdw>
                </a:effectLst>
              </a:rPr>
              <a:t>i++)</a:t>
            </a:r>
          </a:p>
          <a:p>
            <a:r>
              <a:rPr lang="zh-CN" altLang="en-US" sz="2400" b="1" dirty="0">
                <a:effectLst>
                  <a:outerShdw blurRad="38100" dist="38100" dir="2700000" algn="tl">
                    <a:srgbClr val="000000">
                      <a:alpha val="43137"/>
                    </a:srgbClr>
                  </a:outerShdw>
                </a:effectLst>
              </a:rPr>
              <a:t>        scanf("%d",</a:t>
            </a:r>
            <a:r>
              <a:rPr lang="zh-CN" altLang="en-US" sz="2400" b="1" dirty="0">
                <a:solidFill>
                  <a:srgbClr val="FF0000"/>
                </a:solidFill>
                <a:effectLst>
                  <a:outerShdw blurRad="38100" dist="38100" dir="2700000" algn="tl">
                    <a:srgbClr val="000000">
                      <a:alpha val="43137"/>
                    </a:srgbClr>
                  </a:outerShdw>
                </a:effectLst>
              </a:rPr>
              <a:t>&amp;a[i]</a:t>
            </a:r>
            <a:r>
              <a:rPr lang="zh-CN" altLang="en-US" sz="2400" b="1" dirty="0">
                <a:effectLst>
                  <a:outerShdw blurRad="38100" dist="38100" dir="2700000" algn="tl">
                    <a:srgbClr val="000000">
                      <a:alpha val="43137"/>
                    </a:srgbClr>
                  </a:outerShdw>
                </a:effectLst>
              </a:rPr>
              <a:t>);  </a:t>
            </a:r>
            <a:r>
              <a:rPr lang="zh-CN" altLang="en-US" sz="2400" b="1" dirty="0">
                <a:solidFill>
                  <a:srgbClr val="0000FF"/>
                </a:solidFill>
                <a:effectLst>
                  <a:outerShdw blurRad="38100" dist="38100" dir="2700000" algn="tl">
                    <a:srgbClr val="000000">
                      <a:alpha val="43137"/>
                    </a:srgbClr>
                  </a:outerShdw>
                </a:effectLst>
              </a:rPr>
              <a:t>//利用循环输入数组元素</a:t>
            </a:r>
          </a:p>
          <a:p>
            <a:r>
              <a:rPr lang="zh-CN" altLang="en-US" sz="2400" b="1" dirty="0">
                <a:effectLst>
                  <a:outerShdw blurRad="38100" dist="38100" dir="2700000" algn="tl">
                    <a:srgbClr val="000000">
                      <a:alpha val="43137"/>
                    </a:srgbClr>
                  </a:outerShdw>
                </a:effectLst>
              </a:rPr>
              <a:t>    for(i=0;i</a:t>
            </a:r>
            <a:r>
              <a:rPr lang="zh-CN" altLang="en-US" sz="2400" b="1" dirty="0" smtClean="0">
                <a:effectLst>
                  <a:outerShdw blurRad="38100" dist="38100" dir="2700000" algn="tl">
                    <a:srgbClr val="000000">
                      <a:alpha val="43137"/>
                    </a:srgbClr>
                  </a:outerShdw>
                </a:effectLst>
              </a:rPr>
              <a:t>&lt;</a:t>
            </a:r>
            <a:r>
              <a:rPr lang="en-US" altLang="zh-CN" sz="2400" b="1" dirty="0" smtClean="0">
                <a:effectLst>
                  <a:outerShdw blurRad="38100" dist="38100" dir="2700000" algn="tl">
                    <a:srgbClr val="000000">
                      <a:alpha val="43137"/>
                    </a:srgbClr>
                  </a:outerShdw>
                </a:effectLst>
              </a:rPr>
              <a:t>10</a:t>
            </a:r>
            <a:r>
              <a:rPr lang="zh-CN" altLang="en-US" sz="2400" b="1" dirty="0" smtClean="0">
                <a:effectLst>
                  <a:outerShdw blurRad="38100" dist="38100" dir="2700000" algn="tl">
                    <a:srgbClr val="000000">
                      <a:alpha val="43137"/>
                    </a:srgbClr>
                  </a:outerShdw>
                </a:effectLst>
              </a:rPr>
              <a:t>;</a:t>
            </a:r>
            <a:r>
              <a:rPr lang="zh-CN" altLang="en-US" sz="2400" b="1" dirty="0">
                <a:effectLst>
                  <a:outerShdw blurRad="38100" dist="38100" dir="2700000" algn="tl">
                    <a:srgbClr val="000000">
                      <a:alpha val="43137"/>
                    </a:srgbClr>
                  </a:outerShdw>
                </a:effectLst>
              </a:rPr>
              <a:t>i++)</a:t>
            </a:r>
          </a:p>
          <a:p>
            <a:r>
              <a:rPr lang="zh-CN" altLang="en-US" sz="2400" b="1" dirty="0">
                <a:effectLst>
                  <a:outerShdw blurRad="38100" dist="38100" dir="2700000" algn="tl">
                    <a:srgbClr val="000000">
                      <a:alpha val="43137"/>
                    </a:srgbClr>
                  </a:outerShdw>
                </a:effectLst>
              </a:rPr>
              <a:t>        printf</a:t>
            </a:r>
            <a:r>
              <a:rPr lang="zh-CN" altLang="en-US" sz="2400" b="1" dirty="0" smtClean="0">
                <a:effectLst>
                  <a:outerShdw blurRad="38100" dist="38100" dir="2700000" algn="tl">
                    <a:srgbClr val="000000">
                      <a:alpha val="43137"/>
                    </a:srgbClr>
                  </a:outerShdw>
                </a:effectLst>
              </a:rPr>
              <a:t>("%d,",</a:t>
            </a:r>
            <a:r>
              <a:rPr lang="zh-CN" altLang="en-US" sz="2400" b="1" dirty="0">
                <a:solidFill>
                  <a:srgbClr val="FF0000"/>
                </a:solidFill>
                <a:effectLst>
                  <a:outerShdw blurRad="38100" dist="38100" dir="2700000" algn="tl">
                    <a:srgbClr val="000000">
                      <a:alpha val="43137"/>
                    </a:srgbClr>
                  </a:outerShdw>
                </a:effectLst>
              </a:rPr>
              <a:t>a[i]</a:t>
            </a:r>
            <a:r>
              <a:rPr lang="zh-CN" altLang="en-US" sz="2400" b="1" dirty="0">
                <a:effectLst>
                  <a:outerShdw blurRad="38100" dist="38100" dir="2700000" algn="tl">
                    <a:srgbClr val="000000">
                      <a:alpha val="43137"/>
                    </a:srgbClr>
                  </a:outerShdw>
                </a:effectLst>
              </a:rPr>
              <a:t>); </a:t>
            </a:r>
            <a:r>
              <a:rPr lang="zh-CN" altLang="en-US" sz="2400" b="1" dirty="0" smtClean="0">
                <a:effectLst>
                  <a:outerShdw blurRad="38100" dist="38100" dir="2700000" algn="tl">
                    <a:srgbClr val="000000">
                      <a:alpha val="43137"/>
                    </a:srgbClr>
                  </a:outerShdw>
                </a:effectLst>
              </a:rPr>
              <a:t>   </a:t>
            </a:r>
            <a:r>
              <a:rPr lang="zh-CN" altLang="en-US" sz="2400" b="1" dirty="0" smtClean="0">
                <a:solidFill>
                  <a:srgbClr val="0000FF"/>
                </a:solidFill>
                <a:effectLst>
                  <a:outerShdw blurRad="38100" dist="38100" dir="2700000" algn="tl">
                    <a:srgbClr val="000000">
                      <a:alpha val="43137"/>
                    </a:srgbClr>
                  </a:outerShdw>
                </a:effectLst>
              </a:rPr>
              <a:t>//</a:t>
            </a:r>
            <a:r>
              <a:rPr lang="zh-CN" altLang="en-US" sz="2400" b="1" dirty="0">
                <a:solidFill>
                  <a:srgbClr val="0000FF"/>
                </a:solidFill>
                <a:effectLst>
                  <a:outerShdw blurRad="38100" dist="38100" dir="2700000" algn="tl">
                    <a:srgbClr val="000000">
                      <a:alpha val="43137"/>
                    </a:srgbClr>
                  </a:outerShdw>
                </a:effectLst>
              </a:rPr>
              <a:t>利用循环输出数组元素</a:t>
            </a:r>
          </a:p>
          <a:p>
            <a:r>
              <a:rPr lang="zh-CN" altLang="en-US" sz="2400" b="1" dirty="0">
                <a:effectLst>
                  <a:outerShdw blurRad="38100" dist="38100" dir="2700000" algn="tl">
                    <a:srgbClr val="000000">
                      <a:alpha val="43137"/>
                    </a:srgbClr>
                  </a:outerShdw>
                </a:effectLst>
              </a:rPr>
              <a:t>    return 0;</a:t>
            </a:r>
          </a:p>
          <a:p>
            <a:r>
              <a:rPr lang="zh-CN" altLang="en-US" sz="2400" b="1"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3089689926"/>
      </p:ext>
    </p:extLst>
  </p:cSld>
  <p:clrMapOvr>
    <a:masterClrMapping/>
  </p:clrMapOvr>
  <p:transition spd="med">
    <p:rand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99392"/>
            <a:ext cx="8388350" cy="6641976"/>
          </a:xfrm>
        </p:spPr>
        <p:txBody>
          <a:bodyPr/>
          <a:lstStyle/>
          <a:p>
            <a:pPr marL="0" indent="0">
              <a:lnSpc>
                <a:spcPct val="100000"/>
              </a:lnSpc>
              <a:buNone/>
            </a:pPr>
            <a:r>
              <a:rPr lang="en-US" altLang="zh-CN" dirty="0"/>
              <a:t>#include &lt;stdio.h&gt;</a:t>
            </a:r>
          </a:p>
          <a:p>
            <a:pPr marL="0" indent="0">
              <a:lnSpc>
                <a:spcPct val="100000"/>
              </a:lnSpc>
              <a:buNone/>
            </a:pPr>
            <a:r>
              <a:rPr lang="en-US" altLang="zh-CN" dirty="0"/>
              <a:t>int main</a:t>
            </a:r>
            <a:r>
              <a:rPr lang="en-US" altLang="zh-CN" dirty="0" smtClean="0"/>
              <a:t>()</a:t>
            </a:r>
          </a:p>
          <a:p>
            <a:pPr marL="0" indent="0">
              <a:lnSpc>
                <a:spcPct val="100000"/>
              </a:lnSpc>
              <a:buNone/>
            </a:pPr>
            <a:r>
              <a:rPr lang="en-US" altLang="zh-CN" dirty="0" smtClean="0"/>
              <a:t>{</a:t>
            </a:r>
            <a:endParaRPr lang="en-US" altLang="zh-CN" dirty="0"/>
          </a:p>
          <a:p>
            <a:pPr marL="0" indent="0">
              <a:lnSpc>
                <a:spcPct val="100000"/>
              </a:lnSpc>
              <a:buNone/>
            </a:pPr>
            <a:r>
              <a:rPr lang="en-US" altLang="zh-CN" dirty="0" smtClean="0"/>
              <a:t>  int </a:t>
            </a:r>
            <a:r>
              <a:rPr lang="en-US" altLang="zh-CN" dirty="0"/>
              <a:t>i</a:t>
            </a:r>
            <a:r>
              <a:rPr lang="en-US" altLang="zh-CN" dirty="0" smtClean="0"/>
              <a:t>;  double </a:t>
            </a:r>
            <a:r>
              <a:rPr lang="en-US" altLang="zh-CN" dirty="0"/>
              <a:t>a[10];</a:t>
            </a:r>
          </a:p>
          <a:p>
            <a:pPr marL="0" indent="0">
              <a:lnSpc>
                <a:spcPct val="100000"/>
              </a:lnSpc>
              <a:buNone/>
            </a:pPr>
            <a:r>
              <a:rPr lang="en-US" altLang="zh-CN" dirty="0" smtClean="0"/>
              <a:t>  double </a:t>
            </a:r>
            <a:r>
              <a:rPr lang="en-US" altLang="zh-CN" dirty="0"/>
              <a:t>sum=0.0;//定义变量并初始化</a:t>
            </a:r>
          </a:p>
          <a:p>
            <a:pPr marL="0" indent="0">
              <a:lnSpc>
                <a:spcPct val="100000"/>
              </a:lnSpc>
              <a:buNone/>
            </a:pPr>
            <a:r>
              <a:rPr lang="en-US" altLang="zh-CN" dirty="0" smtClean="0"/>
              <a:t>  printf</a:t>
            </a:r>
            <a:r>
              <a:rPr lang="en-US" altLang="zh-CN" dirty="0"/>
              <a:t>("Please insert 10 scores：\n");</a:t>
            </a:r>
          </a:p>
          <a:p>
            <a:pPr marL="0" indent="0">
              <a:lnSpc>
                <a:spcPct val="100000"/>
              </a:lnSpc>
              <a:buNone/>
            </a:pPr>
            <a:r>
              <a:rPr lang="en-US" altLang="zh-CN" dirty="0" smtClean="0"/>
              <a:t>  for(i=0;i&lt;10;i</a:t>
            </a:r>
            <a:r>
              <a:rPr lang="en-US" altLang="zh-CN" dirty="0"/>
              <a:t>++)//循环遍历输入10个数据</a:t>
            </a:r>
          </a:p>
          <a:p>
            <a:pPr marL="0" indent="0">
              <a:lnSpc>
                <a:spcPct val="100000"/>
              </a:lnSpc>
              <a:buNone/>
            </a:pPr>
            <a:r>
              <a:rPr lang="en-US" altLang="zh-CN" dirty="0" smtClean="0"/>
              <a:t>      scanf</a:t>
            </a:r>
            <a:r>
              <a:rPr lang="en-US" altLang="zh-CN" dirty="0"/>
              <a:t>("%lf",&amp;a[i]);</a:t>
            </a:r>
          </a:p>
          <a:p>
            <a:pPr marL="0" indent="0">
              <a:lnSpc>
                <a:spcPct val="100000"/>
              </a:lnSpc>
              <a:buNone/>
            </a:pPr>
            <a:r>
              <a:rPr lang="en-US" altLang="zh-CN" dirty="0" smtClean="0"/>
              <a:t>  for(i=0;i&lt;10;i</a:t>
            </a:r>
            <a:r>
              <a:rPr lang="en-US" altLang="zh-CN" dirty="0"/>
              <a:t>++)//循环遍历累加10个数据</a:t>
            </a:r>
          </a:p>
          <a:p>
            <a:pPr marL="0" indent="0">
              <a:lnSpc>
                <a:spcPct val="100000"/>
              </a:lnSpc>
              <a:buNone/>
            </a:pPr>
            <a:r>
              <a:rPr lang="en-US" altLang="zh-CN" dirty="0"/>
              <a:t>  </a:t>
            </a:r>
            <a:r>
              <a:rPr lang="en-US" altLang="zh-CN" dirty="0" smtClean="0"/>
              <a:t>    sum</a:t>
            </a:r>
            <a:r>
              <a:rPr lang="en-US" altLang="zh-CN" dirty="0"/>
              <a:t>+=a[i];</a:t>
            </a:r>
          </a:p>
          <a:p>
            <a:pPr marL="0" indent="0">
              <a:lnSpc>
                <a:spcPct val="100000"/>
              </a:lnSpc>
              <a:buNone/>
            </a:pPr>
            <a:r>
              <a:rPr lang="en-US" altLang="zh-CN" dirty="0" smtClean="0"/>
              <a:t>  printf</a:t>
            </a:r>
            <a:r>
              <a:rPr lang="en-US" altLang="zh-CN" dirty="0"/>
              <a:t>("The average is:%.2lf",sum/10);//求平均分</a:t>
            </a:r>
          </a:p>
          <a:p>
            <a:pPr marL="0" indent="0">
              <a:lnSpc>
                <a:spcPct val="100000"/>
              </a:lnSpc>
              <a:buNone/>
            </a:pPr>
            <a:r>
              <a:rPr lang="en-US" altLang="zh-CN" dirty="0" smtClean="0"/>
              <a:t>  return </a:t>
            </a:r>
            <a:r>
              <a:rPr lang="en-US" altLang="zh-CN" dirty="0"/>
              <a:t>0;</a:t>
            </a:r>
          </a:p>
          <a:p>
            <a:pPr marL="0" indent="0">
              <a:lnSpc>
                <a:spcPct val="100000"/>
              </a:lnSpc>
              <a:buNone/>
            </a:pPr>
            <a:r>
              <a:rPr lang="en-US" altLang="zh-CN" dirty="0"/>
              <a:t>}</a:t>
            </a:r>
          </a:p>
          <a:p>
            <a:endParaRPr lang="en-US" dirty="0"/>
          </a:p>
        </p:txBody>
      </p:sp>
      <p:graphicFrame>
        <p:nvGraphicFramePr>
          <p:cNvPr id="4" name="表格 3"/>
          <p:cNvGraphicFramePr>
            <a:graphicFrameLocks noGrp="1"/>
          </p:cNvGraphicFramePr>
          <p:nvPr>
            <p:extLst>
              <p:ext uri="{D42A27DB-BD31-4B8C-83A1-F6EECF244321}">
                <p14:modId xmlns:p14="http://schemas.microsoft.com/office/powerpoint/2010/main" val="1769028365"/>
              </p:ext>
            </p:extLst>
          </p:nvPr>
        </p:nvGraphicFramePr>
        <p:xfrm>
          <a:off x="5508104" y="692696"/>
          <a:ext cx="2880319" cy="335280"/>
        </p:xfrm>
        <a:graphic>
          <a:graphicData uri="http://schemas.openxmlformats.org/drawingml/2006/table">
            <a:tbl>
              <a:tblPr firstRow="1" bandRow="1">
                <a:tableStyleId>{5C22544A-7EE6-4342-B048-85BDC9FD1C3A}</a:tableStyleId>
              </a:tblPr>
              <a:tblGrid>
                <a:gridCol w="545555">
                  <a:extLst>
                    <a:ext uri="{9D8B030D-6E8A-4147-A177-3AD203B41FA5}">
                      <a16:colId xmlns:a16="http://schemas.microsoft.com/office/drawing/2014/main" xmlns="" val="4573996"/>
                    </a:ext>
                  </a:extLst>
                </a:gridCol>
                <a:gridCol w="545555">
                  <a:extLst>
                    <a:ext uri="{9D8B030D-6E8A-4147-A177-3AD203B41FA5}">
                      <a16:colId xmlns:a16="http://schemas.microsoft.com/office/drawing/2014/main" xmlns="" val="1940628640"/>
                    </a:ext>
                  </a:extLst>
                </a:gridCol>
                <a:gridCol w="545555">
                  <a:extLst>
                    <a:ext uri="{9D8B030D-6E8A-4147-A177-3AD203B41FA5}">
                      <a16:colId xmlns:a16="http://schemas.microsoft.com/office/drawing/2014/main" xmlns="" val="1224197718"/>
                    </a:ext>
                  </a:extLst>
                </a:gridCol>
                <a:gridCol w="637271">
                  <a:extLst>
                    <a:ext uri="{9D8B030D-6E8A-4147-A177-3AD203B41FA5}">
                      <a16:colId xmlns:a16="http://schemas.microsoft.com/office/drawing/2014/main" xmlns="" val="2244228631"/>
                    </a:ext>
                  </a:extLst>
                </a:gridCol>
                <a:gridCol w="606383">
                  <a:extLst>
                    <a:ext uri="{9D8B030D-6E8A-4147-A177-3AD203B41FA5}">
                      <a16:colId xmlns:a16="http://schemas.microsoft.com/office/drawing/2014/main" xmlns="" val="2047208367"/>
                    </a:ext>
                  </a:extLst>
                </a:gridCol>
              </a:tblGrid>
              <a:tr h="298832">
                <a:tc>
                  <a:txBody>
                    <a:bodyPr/>
                    <a:lstStyle/>
                    <a:p>
                      <a:r>
                        <a:rPr lang="en-US" altLang="zh-CN" sz="1600" dirty="0" smtClean="0">
                          <a:solidFill>
                            <a:schemeClr val="tx1"/>
                          </a:solidFill>
                        </a:rPr>
                        <a:t>a[0]</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a[1]</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a[2]</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solidFill>
                            <a:schemeClr val="tx1"/>
                          </a:solidFill>
                        </a:rPr>
                        <a:t>……</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a[9]</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1969233"/>
                  </a:ext>
                </a:extLst>
              </a:tr>
            </a:tbl>
          </a:graphicData>
        </a:graphic>
      </p:graphicFrame>
    </p:spTree>
    <p:extLst>
      <p:ext uri="{BB962C8B-B14F-4D97-AF65-F5344CB8AC3E}">
        <p14:creationId xmlns:p14="http://schemas.microsoft.com/office/powerpoint/2010/main" val="298431156"/>
      </p:ext>
    </p:extLst>
  </p:cSld>
  <p:clrMapOvr>
    <a:masterClrMapping/>
  </p:clrMapOvr>
  <p:transition spd="med">
    <p:rand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323528" y="260648"/>
            <a:ext cx="3384376" cy="57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chemeClr val="tx1"/>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chemeClr val="tx1"/>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a:lstStyle>
          <a:p>
            <a:pPr eaLnBrk="1" hangingPunct="1">
              <a:defRPr/>
            </a:pPr>
            <a:r>
              <a:rPr lang="zh-CN" altLang="en-US" kern="0" dirty="0" smtClean="0">
                <a:solidFill>
                  <a:srgbClr val="0000FF"/>
                </a:solidFill>
                <a:effectLst>
                  <a:outerShdw blurRad="38100" dist="38100" dir="2700000" algn="tl">
                    <a:srgbClr val="000000">
                      <a:alpha val="43137"/>
                    </a:srgbClr>
                  </a:outerShdw>
                </a:effectLst>
              </a:rPr>
              <a:t>输入</a:t>
            </a:r>
            <a:r>
              <a:rPr lang="en-US" altLang="zh-CN" kern="0" dirty="0" smtClean="0">
                <a:solidFill>
                  <a:srgbClr val="0000FF"/>
                </a:solidFill>
                <a:effectLst>
                  <a:outerShdw blurRad="38100" dist="38100" dir="2700000" algn="tl">
                    <a:srgbClr val="000000">
                      <a:alpha val="43137"/>
                    </a:srgbClr>
                  </a:outerShdw>
                </a:effectLst>
              </a:rPr>
              <a:t>n</a:t>
            </a:r>
            <a:r>
              <a:rPr lang="zh-CN" altLang="en-US" kern="0" dirty="0" smtClean="0">
                <a:solidFill>
                  <a:srgbClr val="0000FF"/>
                </a:solidFill>
                <a:effectLst>
                  <a:outerShdw blurRad="38100" dist="38100" dir="2700000" algn="tl">
                    <a:srgbClr val="000000">
                      <a:alpha val="43137"/>
                    </a:srgbClr>
                  </a:outerShdw>
                </a:effectLst>
              </a:rPr>
              <a:t>个数，求和</a:t>
            </a:r>
          </a:p>
        </p:txBody>
      </p:sp>
      <p:sp>
        <p:nvSpPr>
          <p:cNvPr id="6" name="矩形 5"/>
          <p:cNvSpPr/>
          <p:nvPr/>
        </p:nvSpPr>
        <p:spPr>
          <a:xfrm>
            <a:off x="483650" y="980728"/>
            <a:ext cx="6588224" cy="5632311"/>
          </a:xfrm>
          <a:prstGeom prst="rect">
            <a:avLst/>
          </a:prstGeom>
        </p:spPr>
        <p:txBody>
          <a:bodyPr wrap="square">
            <a:spAutoFit/>
          </a:bodyPr>
          <a:lstStyle/>
          <a:p>
            <a:r>
              <a:rPr lang="zh-CN" altLang="en-US" sz="2400" b="1" dirty="0">
                <a:effectLst>
                  <a:outerShdw blurRad="38100" dist="38100" dir="2700000" algn="tl">
                    <a:srgbClr val="000000">
                      <a:alpha val="43137"/>
                    </a:srgbClr>
                  </a:outerShdw>
                </a:effectLst>
              </a:rPr>
              <a:t>#include &lt;stdio.h&gt;</a:t>
            </a:r>
          </a:p>
          <a:p>
            <a:r>
              <a:rPr lang="zh-CN" altLang="en-US" sz="2400" b="1" dirty="0">
                <a:effectLst>
                  <a:outerShdw blurRad="38100" dist="38100" dir="2700000" algn="tl">
                    <a:srgbClr val="000000">
                      <a:alpha val="43137"/>
                    </a:srgbClr>
                  </a:outerShdw>
                </a:effectLst>
              </a:rPr>
              <a:t>#define N 100</a:t>
            </a:r>
          </a:p>
          <a:p>
            <a:r>
              <a:rPr lang="zh-CN" altLang="en-US" sz="2400" b="1" dirty="0">
                <a:effectLst>
                  <a:outerShdw blurRad="38100" dist="38100" dir="2700000" algn="tl">
                    <a:srgbClr val="000000">
                      <a:alpha val="43137"/>
                    </a:srgbClr>
                  </a:outerShdw>
                </a:effectLst>
              </a:rPr>
              <a:t>int main()</a:t>
            </a:r>
          </a:p>
          <a:p>
            <a:r>
              <a:rPr lang="zh-CN" altLang="en-US" sz="2400" b="1" dirty="0">
                <a:effectLst>
                  <a:outerShdw blurRad="38100" dist="38100" dir="2700000" algn="tl">
                    <a:srgbClr val="000000">
                      <a:alpha val="43137"/>
                    </a:srgbClr>
                  </a:outerShdw>
                </a:effectLst>
              </a:rPr>
              <a:t>{</a:t>
            </a:r>
          </a:p>
          <a:p>
            <a:r>
              <a:rPr lang="zh-CN" altLang="en-US" sz="2400" b="1" dirty="0">
                <a:effectLst>
                  <a:outerShdw blurRad="38100" dist="38100" dir="2700000" algn="tl">
                    <a:srgbClr val="000000">
                      <a:alpha val="43137"/>
                    </a:srgbClr>
                  </a:outerShdw>
                </a:effectLst>
              </a:rPr>
              <a:t>  int i,n;  double a[N];</a:t>
            </a:r>
          </a:p>
          <a:p>
            <a:r>
              <a:rPr lang="zh-CN" altLang="en-US" sz="2400" b="1" dirty="0">
                <a:effectLst>
                  <a:outerShdw blurRad="38100" dist="38100" dir="2700000" algn="tl">
                    <a:srgbClr val="000000">
                      <a:alpha val="43137"/>
                    </a:srgbClr>
                  </a:outerShdw>
                </a:effectLst>
              </a:rPr>
              <a:t>  double sum=0.0;</a:t>
            </a:r>
          </a:p>
          <a:p>
            <a:r>
              <a:rPr lang="zh-CN" altLang="en-US" sz="2400" b="1" dirty="0">
                <a:effectLst>
                  <a:outerShdw blurRad="38100" dist="38100" dir="2700000" algn="tl">
                    <a:srgbClr val="000000">
                      <a:alpha val="43137"/>
                    </a:srgbClr>
                  </a:outerShdw>
                </a:effectLst>
              </a:rPr>
              <a:t>  scanf("%d",&amp;n);</a:t>
            </a:r>
          </a:p>
          <a:p>
            <a:r>
              <a:rPr lang="zh-CN" altLang="en-US" sz="2400" b="1" dirty="0">
                <a:effectLst>
                  <a:outerShdw blurRad="38100" dist="38100" dir="2700000" algn="tl">
                    <a:srgbClr val="000000">
                      <a:alpha val="43137"/>
                    </a:srgbClr>
                  </a:outerShdw>
                </a:effectLst>
              </a:rPr>
              <a:t>  printf("Please insert scores：\n");</a:t>
            </a:r>
          </a:p>
          <a:p>
            <a:r>
              <a:rPr lang="zh-CN" altLang="en-US" sz="2400" b="1" dirty="0">
                <a:effectLst>
                  <a:outerShdw blurRad="38100" dist="38100" dir="2700000" algn="tl">
                    <a:srgbClr val="000000">
                      <a:alpha val="43137"/>
                    </a:srgbClr>
                  </a:outerShdw>
                </a:effectLst>
              </a:rPr>
              <a:t>  for(i=0;i&lt;n;i++){</a:t>
            </a:r>
          </a:p>
          <a:p>
            <a:r>
              <a:rPr lang="zh-CN" altLang="en-US" sz="2400" b="1" dirty="0">
                <a:effectLst>
                  <a:outerShdw blurRad="38100" dist="38100" dir="2700000" algn="tl">
                    <a:srgbClr val="000000">
                      <a:alpha val="43137"/>
                    </a:srgbClr>
                  </a:outerShdw>
                </a:effectLst>
              </a:rPr>
              <a:t>      scanf("%lf",&amp;a[i]);</a:t>
            </a:r>
          </a:p>
          <a:p>
            <a:r>
              <a:rPr lang="zh-CN" altLang="en-US" sz="2400" b="1" dirty="0">
                <a:effectLst>
                  <a:outerShdw blurRad="38100" dist="38100" dir="2700000" algn="tl">
                    <a:srgbClr val="000000">
                      <a:alpha val="43137"/>
                    </a:srgbClr>
                  </a:outerShdw>
                </a:effectLst>
              </a:rPr>
              <a:t>      sum+=a[i];</a:t>
            </a:r>
          </a:p>
          <a:p>
            <a:r>
              <a:rPr lang="zh-CN" altLang="en-US" sz="2400" b="1" dirty="0">
                <a:effectLst>
                  <a:outerShdw blurRad="38100" dist="38100" dir="2700000" algn="tl">
                    <a:srgbClr val="000000">
                      <a:alpha val="43137"/>
                    </a:srgbClr>
                  </a:outerShdw>
                </a:effectLst>
              </a:rPr>
              <a:t>  }</a:t>
            </a:r>
          </a:p>
          <a:p>
            <a:r>
              <a:rPr lang="zh-CN" altLang="en-US" sz="2400" b="1" dirty="0">
                <a:effectLst>
                  <a:outerShdw blurRad="38100" dist="38100" dir="2700000" algn="tl">
                    <a:srgbClr val="000000">
                      <a:alpha val="43137"/>
                    </a:srgbClr>
                  </a:outerShdw>
                </a:effectLst>
              </a:rPr>
              <a:t>  printf("The sum is:%.2lf",sum);</a:t>
            </a:r>
          </a:p>
          <a:p>
            <a:r>
              <a:rPr lang="zh-CN" altLang="en-US" sz="2400" b="1" dirty="0">
                <a:effectLst>
                  <a:outerShdw blurRad="38100" dist="38100" dir="2700000" algn="tl">
                    <a:srgbClr val="000000">
                      <a:alpha val="43137"/>
                    </a:srgbClr>
                  </a:outerShdw>
                </a:effectLst>
              </a:rPr>
              <a:t>  return 0;</a:t>
            </a:r>
          </a:p>
          <a:p>
            <a:r>
              <a:rPr lang="zh-CN" altLang="en-US" sz="2400" b="1"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4114103492"/>
      </p:ext>
    </p:extLst>
  </p:cSld>
  <p:clrMapOvr>
    <a:masterClrMapping/>
  </p:clrMapOvr>
  <p:transition spd="med">
    <p:rand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35</a:t>
            </a:fld>
            <a:endParaRPr lang="en-US" altLang="zh-CN" dirty="0"/>
          </a:p>
        </p:txBody>
      </p:sp>
      <p:sp>
        <p:nvSpPr>
          <p:cNvPr id="3" name="Content Placeholder 2"/>
          <p:cNvSpPr>
            <a:spLocks noGrp="1"/>
          </p:cNvSpPr>
          <p:nvPr>
            <p:ph idx="4294967295"/>
          </p:nvPr>
        </p:nvSpPr>
        <p:spPr>
          <a:xfrm>
            <a:off x="0" y="0"/>
            <a:ext cx="9073182" cy="6858000"/>
          </a:xfrm>
        </p:spPr>
        <p:txBody>
          <a:bodyPr/>
          <a:lstStyle/>
          <a:p>
            <a:r>
              <a:rPr lang="en-US" altLang="zh-TW" sz="2600" dirty="0">
                <a:solidFill>
                  <a:srgbClr val="0066FF"/>
                </a:solidFill>
              </a:rPr>
              <a:t>【</a:t>
            </a:r>
            <a:r>
              <a:rPr lang="zh-TW" altLang="en-US" sz="2600" dirty="0">
                <a:solidFill>
                  <a:srgbClr val="0066FF"/>
                </a:solidFill>
              </a:rPr>
              <a:t>例</a:t>
            </a:r>
            <a:r>
              <a:rPr lang="en-US" altLang="zh-TW" sz="2600" dirty="0">
                <a:solidFill>
                  <a:srgbClr val="0066FF"/>
                </a:solidFill>
              </a:rPr>
              <a:t>4-3】</a:t>
            </a:r>
            <a:r>
              <a:rPr lang="zh-TW" altLang="en-US" sz="2600" dirty="0">
                <a:solidFill>
                  <a:srgbClr val="0066FF"/>
                </a:solidFill>
              </a:rPr>
              <a:t>给定</a:t>
            </a:r>
            <a:r>
              <a:rPr lang="en-US" altLang="zh-TW" sz="2600" dirty="0">
                <a:solidFill>
                  <a:srgbClr val="0066FF"/>
                </a:solidFill>
              </a:rPr>
              <a:t>N</a:t>
            </a:r>
            <a:r>
              <a:rPr lang="zh-TW" altLang="en-US" sz="2600" dirty="0">
                <a:solidFill>
                  <a:srgbClr val="0066FF"/>
                </a:solidFill>
              </a:rPr>
              <a:t>个正整数数据</a:t>
            </a:r>
            <a:r>
              <a:rPr lang="en-US" altLang="zh-TW" sz="2600" dirty="0">
                <a:solidFill>
                  <a:srgbClr val="0066FF"/>
                </a:solidFill>
              </a:rPr>
              <a:t>(N&lt;=100)</a:t>
            </a:r>
            <a:r>
              <a:rPr lang="zh-TW" altLang="en-US" sz="2600" dirty="0">
                <a:solidFill>
                  <a:srgbClr val="0066FF"/>
                </a:solidFill>
              </a:rPr>
              <a:t>，查找最大值并</a:t>
            </a:r>
            <a:r>
              <a:rPr lang="zh-TW" altLang="en-US" sz="2600" dirty="0" smtClean="0">
                <a:solidFill>
                  <a:srgbClr val="0066FF"/>
                </a:solidFill>
              </a:rPr>
              <a:t>输出</a:t>
            </a:r>
            <a:r>
              <a:rPr lang="zh-CN" altLang="en-US" sz="2600" dirty="0" smtClean="0">
                <a:solidFill>
                  <a:srgbClr val="0066FF"/>
                </a:solidFill>
              </a:rPr>
              <a:t>数值和下标值</a:t>
            </a:r>
            <a:r>
              <a:rPr lang="zh-TW" altLang="en-US" sz="2600" dirty="0" smtClean="0">
                <a:solidFill>
                  <a:srgbClr val="0066FF"/>
                </a:solidFill>
              </a:rPr>
              <a:t>。</a:t>
            </a:r>
            <a:endParaRPr lang="en-US" altLang="zh-TW" sz="2600" dirty="0" smtClean="0"/>
          </a:p>
          <a:p>
            <a:endParaRPr lang="en-US" altLang="zh-TW" dirty="0"/>
          </a:p>
          <a:p>
            <a:endParaRPr lang="en-US" altLang="zh-TW" dirty="0" smtClean="0"/>
          </a:p>
          <a:p>
            <a:endParaRPr lang="en-US" altLang="zh-TW" dirty="0" smtClean="0"/>
          </a:p>
          <a:p>
            <a:endParaRPr lang="zh-TW" altLang="en-US" dirty="0"/>
          </a:p>
          <a:p>
            <a:pPr marL="0" indent="0">
              <a:buNone/>
            </a:pPr>
            <a:r>
              <a:rPr lang="en-US" dirty="0" smtClean="0"/>
              <a:t> </a:t>
            </a:r>
            <a:endParaRPr lang="en-US" dirty="0"/>
          </a:p>
        </p:txBody>
      </p:sp>
      <p:sp>
        <p:nvSpPr>
          <p:cNvPr id="5" name="矩形 4"/>
          <p:cNvSpPr/>
          <p:nvPr/>
        </p:nvSpPr>
        <p:spPr>
          <a:xfrm>
            <a:off x="447008" y="945296"/>
            <a:ext cx="8445470" cy="5940088"/>
          </a:xfrm>
          <a:prstGeom prst="rect">
            <a:avLst/>
          </a:prstGeom>
        </p:spPr>
        <p:txBody>
          <a:bodyPr wrap="square">
            <a:spAutoFit/>
          </a:bodyPr>
          <a:lstStyle/>
          <a:p>
            <a:r>
              <a:rPr lang="en-US" altLang="zh-CN" sz="2000" b="1" dirty="0" smtClean="0"/>
              <a:t>#</a:t>
            </a:r>
            <a:r>
              <a:rPr lang="en-US" altLang="zh-CN" sz="2000" b="1" dirty="0"/>
              <a:t>include &lt;stdio.h&gt; </a:t>
            </a:r>
          </a:p>
          <a:p>
            <a:r>
              <a:rPr lang="en-US" altLang="zh-CN" sz="2000" b="1" dirty="0"/>
              <a:t>int main</a:t>
            </a:r>
            <a:r>
              <a:rPr lang="en-US" altLang="zh-CN" sz="2000" b="1" dirty="0" smtClean="0"/>
              <a:t>()</a:t>
            </a:r>
          </a:p>
          <a:p>
            <a:r>
              <a:rPr lang="en-US" altLang="zh-CN" sz="2000" b="1" dirty="0" smtClean="0"/>
              <a:t>{ </a:t>
            </a:r>
            <a:endParaRPr lang="en-US" altLang="zh-CN" sz="2000" b="1" dirty="0"/>
          </a:p>
          <a:p>
            <a:r>
              <a:rPr lang="en-US" altLang="zh-CN" sz="2000" b="1" dirty="0" smtClean="0"/>
              <a:t>    </a:t>
            </a:r>
            <a:r>
              <a:rPr lang="en-US" altLang="zh-CN" sz="2000" b="1" dirty="0" err="1" smtClean="0"/>
              <a:t>int</a:t>
            </a:r>
            <a:r>
              <a:rPr lang="en-US" altLang="zh-CN" sz="2000" b="1" dirty="0" smtClean="0"/>
              <a:t> </a:t>
            </a:r>
            <a:r>
              <a:rPr lang="en-US" altLang="zh-CN" sz="2000" b="1" dirty="0" err="1" smtClean="0"/>
              <a:t>i,j,n,max</a:t>
            </a:r>
            <a:r>
              <a:rPr lang="en-US" altLang="zh-CN" sz="2000" b="1" dirty="0" smtClean="0"/>
              <a:t>, </a:t>
            </a:r>
            <a:r>
              <a:rPr lang="en-US" altLang="zh-CN" sz="2000" b="1" dirty="0"/>
              <a:t>a[100]; </a:t>
            </a:r>
          </a:p>
          <a:p>
            <a:r>
              <a:rPr lang="en-US" altLang="zh-CN" sz="2000" b="1" dirty="0" smtClean="0"/>
              <a:t>    printf</a:t>
            </a:r>
            <a:r>
              <a:rPr lang="en-US" altLang="zh-CN" sz="2000" b="1" dirty="0"/>
              <a:t>("Input length (N&lt;=100):\n"); </a:t>
            </a:r>
          </a:p>
          <a:p>
            <a:r>
              <a:rPr lang="en-US" altLang="zh-CN" sz="2000" b="1" dirty="0" smtClean="0"/>
              <a:t>    scanf</a:t>
            </a:r>
            <a:r>
              <a:rPr lang="en-US" altLang="zh-CN" sz="2000" b="1" dirty="0"/>
              <a:t>("%d",&amp;n); </a:t>
            </a:r>
          </a:p>
          <a:p>
            <a:r>
              <a:rPr lang="en-US" altLang="zh-CN" sz="2000" b="1" dirty="0" smtClean="0"/>
              <a:t>    for(i=0;i&lt;n;i</a:t>
            </a:r>
            <a:r>
              <a:rPr lang="en-US" altLang="zh-CN" sz="2000" b="1" dirty="0"/>
              <a:t>++) </a:t>
            </a:r>
          </a:p>
          <a:p>
            <a:r>
              <a:rPr lang="en-US" altLang="zh-CN" sz="2000" b="1" dirty="0" smtClean="0"/>
              <a:t>       </a:t>
            </a:r>
            <a:r>
              <a:rPr lang="en-US" altLang="zh-CN" sz="2000" b="1" dirty="0" err="1" smtClean="0"/>
              <a:t>scanf</a:t>
            </a:r>
            <a:r>
              <a:rPr lang="en-US" altLang="zh-CN" sz="2000" b="1" dirty="0"/>
              <a:t>("%d",&amp;a[i]); </a:t>
            </a:r>
          </a:p>
          <a:p>
            <a:r>
              <a:rPr lang="en-US" altLang="zh-CN" sz="2000" b="1" dirty="0" smtClean="0"/>
              <a:t>    max=a[0</a:t>
            </a:r>
            <a:r>
              <a:rPr lang="en-US" altLang="zh-CN" sz="2000" b="1" dirty="0"/>
              <a:t>]; </a:t>
            </a:r>
            <a:r>
              <a:rPr lang="en-US" altLang="zh-CN" sz="2000" b="1" dirty="0" smtClean="0"/>
              <a:t>  </a:t>
            </a:r>
            <a:r>
              <a:rPr lang="en-US" altLang="zh-CN" sz="2000" b="1" dirty="0" smtClean="0">
                <a:solidFill>
                  <a:srgbClr val="0000FF"/>
                </a:solidFill>
              </a:rPr>
              <a:t>//</a:t>
            </a:r>
            <a:r>
              <a:rPr lang="zh-CN" altLang="en-US" sz="2000" b="1" dirty="0">
                <a:solidFill>
                  <a:srgbClr val="0000FF"/>
                </a:solidFill>
              </a:rPr>
              <a:t>设置一个初始最大值</a:t>
            </a:r>
            <a:r>
              <a:rPr lang="zh-CN" altLang="en-US" sz="2000" b="1" dirty="0"/>
              <a:t> </a:t>
            </a:r>
            <a:endParaRPr lang="en-US" altLang="zh-CN" sz="2000" b="1" dirty="0" smtClean="0"/>
          </a:p>
          <a:p>
            <a:r>
              <a:rPr lang="en-US" altLang="zh-CN" sz="2000" b="1" dirty="0"/>
              <a:t> </a:t>
            </a:r>
            <a:r>
              <a:rPr lang="en-US" altLang="zh-CN" sz="2000" b="1" dirty="0" smtClean="0"/>
              <a:t>   j=0;             </a:t>
            </a:r>
            <a:r>
              <a:rPr lang="en-US" altLang="zh-CN" sz="2000" b="1" dirty="0" smtClean="0">
                <a:solidFill>
                  <a:srgbClr val="0000FF"/>
                </a:solidFill>
              </a:rPr>
              <a:t>//</a:t>
            </a:r>
            <a:r>
              <a:rPr lang="zh-CN" altLang="en-US" sz="2000" b="1" dirty="0" smtClean="0">
                <a:solidFill>
                  <a:srgbClr val="0000FF"/>
                </a:solidFill>
              </a:rPr>
              <a:t>记录下标值</a:t>
            </a:r>
            <a:endParaRPr lang="zh-CN" altLang="en-US" sz="2000" b="1" dirty="0">
              <a:solidFill>
                <a:srgbClr val="0000FF"/>
              </a:solidFill>
            </a:endParaRPr>
          </a:p>
          <a:p>
            <a:r>
              <a:rPr lang="en-US" altLang="zh-CN" sz="2000" b="1" dirty="0" smtClean="0"/>
              <a:t>    </a:t>
            </a:r>
            <a:r>
              <a:rPr lang="en-US" altLang="zh-CN" sz="2000" b="1" dirty="0" smtClean="0">
                <a:solidFill>
                  <a:srgbClr val="FF0000"/>
                </a:solidFill>
              </a:rPr>
              <a:t>for(</a:t>
            </a:r>
            <a:r>
              <a:rPr lang="en-US" altLang="zh-CN" sz="2000" b="1" dirty="0" err="1" smtClean="0">
                <a:solidFill>
                  <a:srgbClr val="FF0000"/>
                </a:solidFill>
              </a:rPr>
              <a:t>i</a:t>
            </a:r>
            <a:r>
              <a:rPr lang="en-US" altLang="zh-CN" sz="2000" b="1" dirty="0" smtClean="0">
                <a:solidFill>
                  <a:srgbClr val="FF0000"/>
                </a:solidFill>
              </a:rPr>
              <a:t>=1;i&lt;</a:t>
            </a:r>
            <a:r>
              <a:rPr lang="en-US" altLang="zh-CN" sz="2000" b="1" dirty="0" err="1" smtClean="0">
                <a:solidFill>
                  <a:srgbClr val="FF0000"/>
                </a:solidFill>
              </a:rPr>
              <a:t>n;i</a:t>
            </a:r>
            <a:r>
              <a:rPr lang="en-US" altLang="zh-CN" sz="2000" b="1" dirty="0">
                <a:solidFill>
                  <a:srgbClr val="FF0000"/>
                </a:solidFill>
              </a:rPr>
              <a:t>++)</a:t>
            </a:r>
          </a:p>
          <a:p>
            <a:r>
              <a:rPr lang="en-US" altLang="zh-CN" sz="2000" b="1" dirty="0" smtClean="0">
                <a:solidFill>
                  <a:srgbClr val="FF0000"/>
                </a:solidFill>
              </a:rPr>
              <a:t>        if(max&lt;a[i</a:t>
            </a:r>
            <a:r>
              <a:rPr lang="en-US" altLang="zh-CN" sz="2000" b="1" dirty="0">
                <a:solidFill>
                  <a:srgbClr val="FF0000"/>
                </a:solidFill>
              </a:rPr>
              <a:t>]) </a:t>
            </a:r>
            <a:r>
              <a:rPr lang="en-US" altLang="zh-CN" sz="2000" b="1" dirty="0" smtClean="0">
                <a:solidFill>
                  <a:srgbClr val="FF0000"/>
                </a:solidFill>
              </a:rPr>
              <a:t>{</a:t>
            </a:r>
            <a:endParaRPr lang="en-US" altLang="zh-CN" sz="2000" b="1" dirty="0">
              <a:solidFill>
                <a:srgbClr val="FF0000"/>
              </a:solidFill>
            </a:endParaRPr>
          </a:p>
          <a:p>
            <a:r>
              <a:rPr lang="en-US" altLang="zh-CN" sz="2000" b="1" dirty="0" smtClean="0">
                <a:solidFill>
                  <a:srgbClr val="FF0000"/>
                </a:solidFill>
              </a:rPr>
              <a:t>          max=a[</a:t>
            </a:r>
            <a:r>
              <a:rPr lang="en-US" altLang="zh-CN" sz="2000" b="1" dirty="0" err="1" smtClean="0">
                <a:solidFill>
                  <a:srgbClr val="FF0000"/>
                </a:solidFill>
              </a:rPr>
              <a:t>i</a:t>
            </a:r>
            <a:r>
              <a:rPr lang="en-US" altLang="zh-CN" sz="2000" b="1" dirty="0" smtClean="0">
                <a:solidFill>
                  <a:srgbClr val="FF0000"/>
                </a:solidFill>
              </a:rPr>
              <a:t>];  </a:t>
            </a:r>
            <a:r>
              <a:rPr lang="en-US" altLang="zh-CN" sz="2000" b="1" dirty="0" smtClean="0">
                <a:solidFill>
                  <a:srgbClr val="0000FF"/>
                </a:solidFill>
              </a:rPr>
              <a:t>//</a:t>
            </a:r>
            <a:r>
              <a:rPr lang="zh-CN" altLang="en-US" sz="2000" b="1" dirty="0">
                <a:solidFill>
                  <a:srgbClr val="0000FF"/>
                </a:solidFill>
              </a:rPr>
              <a:t>如果当前遍历</a:t>
            </a:r>
            <a:r>
              <a:rPr lang="zh-CN" altLang="en-US" sz="2000" b="1" dirty="0" smtClean="0">
                <a:solidFill>
                  <a:srgbClr val="0000FF"/>
                </a:solidFill>
              </a:rPr>
              <a:t>的大于</a:t>
            </a:r>
            <a:r>
              <a:rPr lang="en-US" altLang="zh-CN" sz="2000" b="1" dirty="0" smtClean="0">
                <a:solidFill>
                  <a:srgbClr val="0000FF"/>
                </a:solidFill>
              </a:rPr>
              <a:t>max</a:t>
            </a:r>
            <a:r>
              <a:rPr lang="zh-CN" altLang="en-US" sz="2000" b="1" dirty="0" smtClean="0">
                <a:solidFill>
                  <a:srgbClr val="0000FF"/>
                </a:solidFill>
              </a:rPr>
              <a:t>，</a:t>
            </a:r>
            <a:r>
              <a:rPr lang="zh-CN" altLang="en-US" sz="2000" b="1" dirty="0">
                <a:solidFill>
                  <a:srgbClr val="0000FF"/>
                </a:solidFill>
              </a:rPr>
              <a:t>则</a:t>
            </a:r>
            <a:r>
              <a:rPr lang="en-US" altLang="zh-CN" sz="2000" b="1" dirty="0">
                <a:solidFill>
                  <a:srgbClr val="0000FF"/>
                </a:solidFill>
              </a:rPr>
              <a:t>max</a:t>
            </a:r>
            <a:r>
              <a:rPr lang="zh-CN" altLang="en-US" sz="2000" b="1" dirty="0">
                <a:solidFill>
                  <a:srgbClr val="0000FF"/>
                </a:solidFill>
              </a:rPr>
              <a:t>保存当前</a:t>
            </a:r>
            <a:r>
              <a:rPr lang="zh-CN" altLang="en-US" sz="2000" b="1" dirty="0" smtClean="0">
                <a:solidFill>
                  <a:srgbClr val="0000FF"/>
                </a:solidFill>
              </a:rPr>
              <a:t>值</a:t>
            </a:r>
            <a:endParaRPr lang="en-US" altLang="zh-CN" sz="2000" b="1" dirty="0" smtClean="0">
              <a:solidFill>
                <a:srgbClr val="0000FF"/>
              </a:solidFill>
            </a:endParaRPr>
          </a:p>
          <a:p>
            <a:r>
              <a:rPr lang="en-US" altLang="zh-CN" sz="2000" b="1" dirty="0" smtClean="0">
                <a:solidFill>
                  <a:srgbClr val="FF0000"/>
                </a:solidFill>
              </a:rPr>
              <a:t>          j=</a:t>
            </a:r>
            <a:r>
              <a:rPr lang="en-US" altLang="zh-CN" sz="2000" b="1" dirty="0" err="1" smtClean="0">
                <a:solidFill>
                  <a:srgbClr val="FF0000"/>
                </a:solidFill>
              </a:rPr>
              <a:t>i</a:t>
            </a:r>
            <a:r>
              <a:rPr lang="en-US" altLang="zh-CN" sz="2000" b="1" dirty="0" smtClean="0">
                <a:solidFill>
                  <a:srgbClr val="FF0000"/>
                </a:solidFill>
              </a:rPr>
              <a:t>;</a:t>
            </a:r>
          </a:p>
          <a:p>
            <a:r>
              <a:rPr lang="en-US" altLang="zh-CN" sz="2000" b="1" dirty="0">
                <a:solidFill>
                  <a:srgbClr val="FF0000"/>
                </a:solidFill>
              </a:rPr>
              <a:t> </a:t>
            </a:r>
            <a:r>
              <a:rPr lang="en-US" altLang="zh-CN" sz="2000" b="1" dirty="0" smtClean="0">
                <a:solidFill>
                  <a:srgbClr val="FF0000"/>
                </a:solidFill>
              </a:rPr>
              <a:t>       }</a:t>
            </a:r>
            <a:endParaRPr lang="zh-CN" altLang="en-US" sz="2000" b="1" dirty="0">
              <a:solidFill>
                <a:srgbClr val="FF0000"/>
              </a:solidFill>
            </a:endParaRPr>
          </a:p>
          <a:p>
            <a:r>
              <a:rPr lang="en-US" altLang="zh-CN" sz="2000" b="1" dirty="0" smtClean="0"/>
              <a:t>     printf</a:t>
            </a:r>
            <a:r>
              <a:rPr lang="en-US" altLang="zh-CN" sz="2000" b="1" dirty="0"/>
              <a:t>("The max is %</a:t>
            </a:r>
            <a:r>
              <a:rPr lang="en-US" altLang="zh-CN" sz="2000" b="1" dirty="0" smtClean="0"/>
              <a:t>d\n", </a:t>
            </a:r>
            <a:r>
              <a:rPr lang="en-US" altLang="zh-CN" sz="2000" b="1" dirty="0"/>
              <a:t>max); </a:t>
            </a:r>
            <a:endParaRPr lang="en-US" altLang="zh-CN" sz="2000" b="1" dirty="0" smtClean="0"/>
          </a:p>
          <a:p>
            <a:r>
              <a:rPr lang="en-US" altLang="zh-CN" sz="2000" b="1" dirty="0" smtClean="0"/>
              <a:t>     </a:t>
            </a:r>
            <a:r>
              <a:rPr lang="en-US" altLang="zh-CN" sz="2000" b="1" dirty="0" err="1" smtClean="0"/>
              <a:t>printf</a:t>
            </a:r>
            <a:r>
              <a:rPr lang="en-US" altLang="zh-CN" sz="2000" b="1" dirty="0"/>
              <a:t>("The index is %d", j);</a:t>
            </a:r>
          </a:p>
          <a:p>
            <a:r>
              <a:rPr lang="en-US" altLang="zh-CN" sz="2000" b="1" dirty="0" smtClean="0"/>
              <a:t>     return </a:t>
            </a:r>
            <a:r>
              <a:rPr lang="en-US" altLang="zh-CN" sz="2000" b="1" dirty="0"/>
              <a:t>0; </a:t>
            </a:r>
          </a:p>
          <a:p>
            <a:r>
              <a:rPr lang="en-US" altLang="zh-CN" sz="2000" b="1" dirty="0"/>
              <a:t>} </a:t>
            </a:r>
            <a:endParaRPr lang="zh-CN" altLang="en-US" sz="2000" b="1" dirty="0"/>
          </a:p>
        </p:txBody>
      </p:sp>
      <p:graphicFrame>
        <p:nvGraphicFramePr>
          <p:cNvPr id="2" name="表格 1"/>
          <p:cNvGraphicFramePr>
            <a:graphicFrameLocks noGrp="1"/>
          </p:cNvGraphicFramePr>
          <p:nvPr>
            <p:extLst>
              <p:ext uri="{D42A27DB-BD31-4B8C-83A1-F6EECF244321}">
                <p14:modId xmlns:p14="http://schemas.microsoft.com/office/powerpoint/2010/main" val="1027625760"/>
              </p:ext>
            </p:extLst>
          </p:nvPr>
        </p:nvGraphicFramePr>
        <p:xfrm>
          <a:off x="5508104" y="692696"/>
          <a:ext cx="3384374" cy="335280"/>
        </p:xfrm>
        <a:graphic>
          <a:graphicData uri="http://schemas.openxmlformats.org/drawingml/2006/table">
            <a:tbl>
              <a:tblPr firstRow="1" bandRow="1">
                <a:tableStyleId>{5C22544A-7EE6-4342-B048-85BDC9FD1C3A}</a:tableStyleId>
              </a:tblPr>
              <a:tblGrid>
                <a:gridCol w="641027">
                  <a:extLst>
                    <a:ext uri="{9D8B030D-6E8A-4147-A177-3AD203B41FA5}">
                      <a16:colId xmlns:a16="http://schemas.microsoft.com/office/drawing/2014/main" xmlns="" val="4573996"/>
                    </a:ext>
                  </a:extLst>
                </a:gridCol>
                <a:gridCol w="641027">
                  <a:extLst>
                    <a:ext uri="{9D8B030D-6E8A-4147-A177-3AD203B41FA5}">
                      <a16:colId xmlns:a16="http://schemas.microsoft.com/office/drawing/2014/main" xmlns="" val="1940628640"/>
                    </a:ext>
                  </a:extLst>
                </a:gridCol>
                <a:gridCol w="641027">
                  <a:extLst>
                    <a:ext uri="{9D8B030D-6E8A-4147-A177-3AD203B41FA5}">
                      <a16:colId xmlns:a16="http://schemas.microsoft.com/office/drawing/2014/main" xmlns="" val="1224197718"/>
                    </a:ext>
                  </a:extLst>
                </a:gridCol>
                <a:gridCol w="748794">
                  <a:extLst>
                    <a:ext uri="{9D8B030D-6E8A-4147-A177-3AD203B41FA5}">
                      <a16:colId xmlns:a16="http://schemas.microsoft.com/office/drawing/2014/main" xmlns="" val="2244228631"/>
                    </a:ext>
                  </a:extLst>
                </a:gridCol>
                <a:gridCol w="712499">
                  <a:extLst>
                    <a:ext uri="{9D8B030D-6E8A-4147-A177-3AD203B41FA5}">
                      <a16:colId xmlns:a16="http://schemas.microsoft.com/office/drawing/2014/main" xmlns="" val="2047208367"/>
                    </a:ext>
                  </a:extLst>
                </a:gridCol>
              </a:tblGrid>
              <a:tr h="298832">
                <a:tc>
                  <a:txBody>
                    <a:bodyPr/>
                    <a:lstStyle/>
                    <a:p>
                      <a:r>
                        <a:rPr lang="en-US" altLang="zh-CN" sz="1600" dirty="0" smtClean="0">
                          <a:solidFill>
                            <a:schemeClr val="tx1"/>
                          </a:solidFill>
                        </a:rPr>
                        <a:t>a[0]</a:t>
                      </a:r>
                      <a:endParaRPr lang="zh-CN" altLang="en-US" sz="16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a[1]</a:t>
                      </a:r>
                      <a:endParaRPr lang="zh-CN" altLang="en-US" sz="1600" dirty="0" smtClean="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a[2]</a:t>
                      </a:r>
                      <a:endParaRPr lang="zh-CN" altLang="en-US" sz="1600" dirty="0" smtClean="0">
                        <a:solidFill>
                          <a:schemeClr val="tx1"/>
                        </a:solidFill>
                      </a:endParaRPr>
                    </a:p>
                  </a:txBody>
                  <a:tcPr/>
                </a:tc>
                <a:tc>
                  <a:txBody>
                    <a:bodyPr/>
                    <a:lstStyle/>
                    <a:p>
                      <a:r>
                        <a:rPr lang="en-US" altLang="zh-CN" sz="1600" dirty="0" smtClean="0">
                          <a:solidFill>
                            <a:schemeClr val="tx1"/>
                          </a:solidFill>
                        </a:rPr>
                        <a:t>……</a:t>
                      </a:r>
                      <a:endParaRPr lang="zh-CN" altLang="en-US" sz="16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a[n-1]</a:t>
                      </a:r>
                      <a:endParaRPr lang="zh-CN" altLang="en-US" sz="1600" dirty="0" smtClean="0">
                        <a:solidFill>
                          <a:schemeClr val="tx1"/>
                        </a:solidFill>
                      </a:endParaRPr>
                    </a:p>
                  </a:txBody>
                  <a:tcPr/>
                </a:tc>
                <a:extLst>
                  <a:ext uri="{0D108BD9-81ED-4DB2-BD59-A6C34878D82A}">
                    <a16:rowId xmlns:a16="http://schemas.microsoft.com/office/drawing/2014/main" xmlns="" val="241969233"/>
                  </a:ext>
                </a:extLst>
              </a:tr>
            </a:tbl>
          </a:graphicData>
        </a:graphic>
      </p:graphicFrame>
      <p:cxnSp>
        <p:nvCxnSpPr>
          <p:cNvPr id="7" name="直接箭头连接符 6"/>
          <p:cNvCxnSpPr/>
          <p:nvPr/>
        </p:nvCxnSpPr>
        <p:spPr bwMode="auto">
          <a:xfrm>
            <a:off x="5796136" y="1027976"/>
            <a:ext cx="432048" cy="568957"/>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0" name="组合 9"/>
          <p:cNvGrpSpPr/>
          <p:nvPr/>
        </p:nvGrpSpPr>
        <p:grpSpPr>
          <a:xfrm>
            <a:off x="6084168" y="1596933"/>
            <a:ext cx="720080" cy="648072"/>
            <a:chOff x="6804248" y="1920969"/>
            <a:chExt cx="720080" cy="648072"/>
          </a:xfrm>
        </p:grpSpPr>
        <p:sp>
          <p:nvSpPr>
            <p:cNvPr id="8" name="椭圆 7"/>
            <p:cNvSpPr/>
            <p:nvPr/>
          </p:nvSpPr>
          <p:spPr bwMode="auto">
            <a:xfrm>
              <a:off x="6804248" y="1920969"/>
              <a:ext cx="648072" cy="648072"/>
            </a:xfrm>
            <a:prstGeom prst="ellipse">
              <a:avLst/>
            </a:prstGeom>
            <a:noFill/>
            <a:ln w="381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smtClean="0">
                  <a:ln>
                    <a:noFill/>
                  </a:ln>
                  <a:solidFill>
                    <a:schemeClr val="accent4"/>
                  </a:solidFill>
                  <a:effectLst/>
                  <a:latin typeface="Arial" charset="0"/>
                  <a:ea typeface="宋体" pitchFamily="2" charset="-122"/>
                </a:rPr>
                <a:t> </a:t>
              </a:r>
              <a:endParaRPr kumimoji="0" lang="zh-CN" altLang="en-US" sz="2000" b="0" i="0" u="none" strike="noStrike" cap="none" normalizeH="0" baseline="0" dirty="0" smtClean="0">
                <a:ln>
                  <a:noFill/>
                </a:ln>
                <a:solidFill>
                  <a:schemeClr val="accent4"/>
                </a:solidFill>
                <a:effectLst/>
                <a:latin typeface="Arial" charset="0"/>
                <a:ea typeface="宋体" pitchFamily="2" charset="-122"/>
              </a:endParaRPr>
            </a:p>
          </p:txBody>
        </p:sp>
        <p:sp>
          <p:nvSpPr>
            <p:cNvPr id="9" name="文本框 8"/>
            <p:cNvSpPr txBox="1"/>
            <p:nvPr/>
          </p:nvSpPr>
          <p:spPr>
            <a:xfrm>
              <a:off x="6804248" y="2027614"/>
              <a:ext cx="720080" cy="400110"/>
            </a:xfrm>
            <a:prstGeom prst="rect">
              <a:avLst/>
            </a:prstGeom>
            <a:noFill/>
          </p:spPr>
          <p:txBody>
            <a:bodyPr wrap="square" rtlCol="0">
              <a:spAutoFit/>
            </a:bodyPr>
            <a:lstStyle/>
            <a:p>
              <a:r>
                <a:rPr lang="en-US" altLang="zh-CN" sz="2000" b="1" dirty="0" smtClean="0">
                  <a:effectLst>
                    <a:outerShdw blurRad="38100" dist="38100" dir="2700000" algn="tl">
                      <a:srgbClr val="000000">
                        <a:alpha val="43137"/>
                      </a:srgbClr>
                    </a:outerShdw>
                  </a:effectLst>
                </a:rPr>
                <a:t>max</a:t>
              </a:r>
              <a:endParaRPr lang="zh-CN" altLang="en-US" sz="2000" b="1" dirty="0">
                <a:effectLst>
                  <a:outerShdw blurRad="38100" dist="38100" dir="2700000" algn="tl">
                    <a:srgbClr val="000000">
                      <a:alpha val="43137"/>
                    </a:srgbClr>
                  </a:outerShdw>
                </a:effectLst>
              </a:endParaRPr>
            </a:p>
          </p:txBody>
        </p:sp>
      </p:grpSp>
      <p:cxnSp>
        <p:nvCxnSpPr>
          <p:cNvPr id="13" name="直接箭头连接符 12"/>
          <p:cNvCxnSpPr/>
          <p:nvPr/>
        </p:nvCxnSpPr>
        <p:spPr bwMode="auto">
          <a:xfrm flipV="1">
            <a:off x="6444208" y="1027977"/>
            <a:ext cx="0" cy="384799"/>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872638268"/>
      </p:ext>
    </p:extLst>
  </p:cSld>
  <p:clrMapOvr>
    <a:masterClrMapping/>
  </p:clrMapOvr>
  <p:transition spd="med">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36</a:t>
            </a:fld>
            <a:endParaRPr lang="en-US" altLang="zh-CN" dirty="0"/>
          </a:p>
        </p:txBody>
      </p:sp>
      <p:sp>
        <p:nvSpPr>
          <p:cNvPr id="3" name="Content Placeholder 2"/>
          <p:cNvSpPr>
            <a:spLocks noGrp="1"/>
          </p:cNvSpPr>
          <p:nvPr>
            <p:ph idx="4294967295"/>
          </p:nvPr>
        </p:nvSpPr>
        <p:spPr>
          <a:xfrm>
            <a:off x="827584" y="836712"/>
            <a:ext cx="7993062" cy="4537075"/>
          </a:xfrm>
        </p:spPr>
        <p:txBody>
          <a:bodyPr/>
          <a:lstStyle/>
          <a:p>
            <a:endParaRPr lang="zh-TW" altLang="en-US" dirty="0"/>
          </a:p>
          <a:p>
            <a:r>
              <a:rPr lang="en-US" altLang="zh-TW" dirty="0">
                <a:solidFill>
                  <a:srgbClr val="0066FF"/>
                </a:solidFill>
              </a:rPr>
              <a:t>【</a:t>
            </a:r>
            <a:r>
              <a:rPr lang="zh-TW" altLang="en-US" dirty="0">
                <a:solidFill>
                  <a:srgbClr val="0066FF"/>
                </a:solidFill>
              </a:rPr>
              <a:t>例</a:t>
            </a:r>
            <a:r>
              <a:rPr lang="en-US" altLang="zh-TW" dirty="0">
                <a:solidFill>
                  <a:srgbClr val="0066FF"/>
                </a:solidFill>
              </a:rPr>
              <a:t>4-4】</a:t>
            </a:r>
            <a:r>
              <a:rPr lang="zh-TW" altLang="en-US" dirty="0">
                <a:solidFill>
                  <a:srgbClr val="0066FF"/>
                </a:solidFill>
              </a:rPr>
              <a:t>给定</a:t>
            </a:r>
            <a:r>
              <a:rPr lang="en-US" altLang="zh-TW" dirty="0">
                <a:solidFill>
                  <a:srgbClr val="0066FF"/>
                </a:solidFill>
              </a:rPr>
              <a:t>N</a:t>
            </a:r>
            <a:r>
              <a:rPr lang="zh-TW" altLang="en-US" dirty="0">
                <a:solidFill>
                  <a:srgbClr val="0066FF"/>
                </a:solidFill>
              </a:rPr>
              <a:t>个正整数数据</a:t>
            </a:r>
            <a:r>
              <a:rPr lang="en-US" altLang="zh-TW" dirty="0">
                <a:solidFill>
                  <a:srgbClr val="0066FF"/>
                </a:solidFill>
              </a:rPr>
              <a:t>(N&lt;=100)</a:t>
            </a:r>
            <a:r>
              <a:rPr lang="zh-TW" altLang="en-US" dirty="0">
                <a:solidFill>
                  <a:srgbClr val="0066FF"/>
                </a:solidFill>
              </a:rPr>
              <a:t>，查找最小值并输出。 </a:t>
            </a:r>
          </a:p>
          <a:p>
            <a:pPr marL="0" indent="0">
              <a:buNone/>
            </a:pPr>
            <a:endParaRPr lang="en-US" dirty="0"/>
          </a:p>
        </p:txBody>
      </p:sp>
    </p:spTree>
    <p:extLst>
      <p:ext uri="{BB962C8B-B14F-4D97-AF65-F5344CB8AC3E}">
        <p14:creationId xmlns:p14="http://schemas.microsoft.com/office/powerpoint/2010/main" val="2927713856"/>
      </p:ext>
    </p:extLst>
  </p:cSld>
  <p:clrMapOvr>
    <a:masterClrMapping/>
  </p:clrMapOvr>
  <p:transition spd="med">
    <p:rand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37</a:t>
            </a:fld>
            <a:endParaRPr lang="en-US" altLang="zh-CN" dirty="0"/>
          </a:p>
        </p:txBody>
      </p:sp>
      <p:sp>
        <p:nvSpPr>
          <p:cNvPr id="3" name="Content Placeholder 2"/>
          <p:cNvSpPr>
            <a:spLocks noGrp="1"/>
          </p:cNvSpPr>
          <p:nvPr>
            <p:ph idx="4294967295"/>
          </p:nvPr>
        </p:nvSpPr>
        <p:spPr>
          <a:xfrm>
            <a:off x="827584" y="764704"/>
            <a:ext cx="7993062" cy="6093296"/>
          </a:xfrm>
        </p:spPr>
        <p:txBody>
          <a:bodyPr/>
          <a:lstStyle/>
          <a:p>
            <a:r>
              <a:rPr lang="de-DE" dirty="0">
                <a:solidFill>
                  <a:srgbClr val="0066FF"/>
                </a:solidFill>
              </a:rPr>
              <a:t>【例4-5】斐波那契数列计算问题。给定一个斐波那契数列的前几个数组，观察规律并计算第i位的数值(小于100位)。</a:t>
            </a:r>
          </a:p>
          <a:p>
            <a:pPr marL="0" indent="0" algn="ctr">
              <a:buNone/>
            </a:pPr>
            <a:r>
              <a:rPr lang="de-DE" dirty="0" smtClean="0">
                <a:solidFill>
                  <a:srgbClr val="0066FF"/>
                </a:solidFill>
              </a:rPr>
              <a:t>  </a:t>
            </a:r>
            <a:r>
              <a:rPr lang="de-DE" dirty="0">
                <a:solidFill>
                  <a:srgbClr val="0066FF"/>
                </a:solidFill>
              </a:rPr>
              <a:t>1   1   2  3   5   8 …………</a:t>
            </a:r>
          </a:p>
          <a:p>
            <a:pPr lvl="1"/>
            <a:r>
              <a:rPr lang="de-DE" dirty="0">
                <a:solidFill>
                  <a:srgbClr val="0066FF"/>
                </a:solidFill>
              </a:rPr>
              <a:t>分析：斐波那契数列的特点是第1位和第2位数值固定为1，其后第i位的值为前2位数值之和</a:t>
            </a:r>
            <a:r>
              <a:rPr lang="de-DE" dirty="0" smtClean="0">
                <a:solidFill>
                  <a:srgbClr val="0066FF"/>
                </a:solidFill>
              </a:rPr>
              <a:t>。</a:t>
            </a:r>
          </a:p>
          <a:p>
            <a:pPr lvl="1"/>
            <a:endParaRPr lang="de-DE" dirty="0">
              <a:solidFill>
                <a:srgbClr val="0066FF"/>
              </a:solidFill>
            </a:endParaRPr>
          </a:p>
          <a:p>
            <a:pPr lvl="1" algn="just" eaLnBrk="1" hangingPunct="1">
              <a:lnSpc>
                <a:spcPct val="124000"/>
              </a:lnSpc>
              <a:buNone/>
            </a:pPr>
            <a:r>
              <a:rPr lang="en-US" altLang="zh-CN" dirty="0" smtClean="0"/>
              <a:t>a[0</a:t>
            </a:r>
            <a:r>
              <a:rPr lang="en-US" altLang="zh-CN" dirty="0"/>
              <a:t>] = </a:t>
            </a:r>
            <a:r>
              <a:rPr lang="en-US" altLang="zh-CN" dirty="0" smtClean="0"/>
              <a:t>a[1</a:t>
            </a:r>
            <a:r>
              <a:rPr lang="en-US" altLang="zh-CN" dirty="0"/>
              <a:t>] = 1</a:t>
            </a:r>
          </a:p>
          <a:p>
            <a:pPr lvl="1" algn="just" eaLnBrk="1" hangingPunct="1">
              <a:lnSpc>
                <a:spcPct val="124000"/>
              </a:lnSpc>
              <a:buNone/>
            </a:pPr>
            <a:r>
              <a:rPr lang="en-US" altLang="zh-CN" dirty="0" smtClean="0"/>
              <a:t>a[n</a:t>
            </a:r>
            <a:r>
              <a:rPr lang="en-US" altLang="zh-CN" dirty="0"/>
              <a:t>] = </a:t>
            </a:r>
            <a:r>
              <a:rPr lang="en-US" altLang="zh-CN" dirty="0" smtClean="0"/>
              <a:t>a[n-1</a:t>
            </a:r>
            <a:r>
              <a:rPr lang="en-US" altLang="zh-CN" dirty="0"/>
              <a:t>] + </a:t>
            </a:r>
            <a:r>
              <a:rPr lang="en-US" altLang="zh-CN" dirty="0" smtClean="0"/>
              <a:t>a[n-2</a:t>
            </a:r>
            <a:r>
              <a:rPr lang="en-US" altLang="zh-CN" dirty="0"/>
              <a:t>]    2≤</a:t>
            </a:r>
            <a:r>
              <a:rPr lang="en-US" altLang="zh-CN" dirty="0" smtClean="0"/>
              <a:t>n&lt;100</a:t>
            </a:r>
            <a:endParaRPr lang="en-US" altLang="zh-CN" dirty="0"/>
          </a:p>
          <a:p>
            <a:endParaRPr lang="en-US" dirty="0"/>
          </a:p>
        </p:txBody>
      </p:sp>
    </p:spTree>
    <p:extLst>
      <p:ext uri="{BB962C8B-B14F-4D97-AF65-F5344CB8AC3E}">
        <p14:creationId xmlns:p14="http://schemas.microsoft.com/office/powerpoint/2010/main" val="554070497"/>
      </p:ext>
    </p:extLst>
  </p:cSld>
  <p:clrMapOvr>
    <a:masterClrMapping/>
  </p:clrMapOvr>
  <p:transition spd="med">
    <p:rand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38</a:t>
            </a:fld>
            <a:endParaRPr lang="en-US" altLang="zh-CN" dirty="0"/>
          </a:p>
        </p:txBody>
      </p:sp>
      <p:sp>
        <p:nvSpPr>
          <p:cNvPr id="3" name="Content Placeholder 2"/>
          <p:cNvSpPr>
            <a:spLocks noGrp="1"/>
          </p:cNvSpPr>
          <p:nvPr>
            <p:ph idx="4294967295"/>
          </p:nvPr>
        </p:nvSpPr>
        <p:spPr>
          <a:xfrm>
            <a:off x="144016" y="122691"/>
            <a:ext cx="8892480" cy="6608309"/>
          </a:xfrm>
        </p:spPr>
        <p:txBody>
          <a:bodyPr/>
          <a:lstStyle/>
          <a:p>
            <a:pPr marL="0" indent="0">
              <a:lnSpc>
                <a:spcPct val="100000"/>
              </a:lnSpc>
              <a:buNone/>
            </a:pPr>
            <a:r>
              <a:rPr lang="en-US" altLang="zh-CN" dirty="0">
                <a:solidFill>
                  <a:schemeClr val="tx1"/>
                </a:solidFill>
              </a:rPr>
              <a:t>#include &lt;stdio.h&gt;</a:t>
            </a:r>
          </a:p>
          <a:p>
            <a:pPr marL="0" indent="0">
              <a:lnSpc>
                <a:spcPct val="100000"/>
              </a:lnSpc>
              <a:buNone/>
            </a:pPr>
            <a:r>
              <a:rPr lang="en-US" altLang="zh-CN" dirty="0">
                <a:solidFill>
                  <a:schemeClr val="tx1"/>
                </a:solidFill>
              </a:rPr>
              <a:t>int main()</a:t>
            </a:r>
          </a:p>
          <a:p>
            <a:pPr marL="0" indent="0">
              <a:lnSpc>
                <a:spcPct val="100000"/>
              </a:lnSpc>
              <a:buNone/>
            </a:pPr>
            <a:r>
              <a:rPr lang="en-US" altLang="zh-CN" dirty="0">
                <a:solidFill>
                  <a:schemeClr val="tx1"/>
                </a:solidFill>
              </a:rPr>
              <a:t>{</a:t>
            </a:r>
          </a:p>
          <a:p>
            <a:pPr marL="0" indent="0">
              <a:lnSpc>
                <a:spcPct val="100000"/>
              </a:lnSpc>
              <a:buNone/>
            </a:pPr>
            <a:r>
              <a:rPr lang="en-US" altLang="zh-CN" dirty="0">
                <a:solidFill>
                  <a:schemeClr val="tx1"/>
                </a:solidFill>
              </a:rPr>
              <a:t>    int a[100],i,j;</a:t>
            </a:r>
          </a:p>
          <a:p>
            <a:pPr marL="0" indent="0">
              <a:lnSpc>
                <a:spcPct val="100000"/>
              </a:lnSpc>
              <a:buNone/>
            </a:pPr>
            <a:r>
              <a:rPr lang="en-US" altLang="zh-CN" dirty="0">
                <a:solidFill>
                  <a:schemeClr val="tx1"/>
                </a:solidFill>
              </a:rPr>
              <a:t>    a[0]=1;</a:t>
            </a:r>
          </a:p>
          <a:p>
            <a:pPr marL="0" indent="0">
              <a:lnSpc>
                <a:spcPct val="100000"/>
              </a:lnSpc>
              <a:buNone/>
            </a:pPr>
            <a:r>
              <a:rPr lang="en-US" altLang="zh-CN" dirty="0">
                <a:solidFill>
                  <a:schemeClr val="tx1"/>
                </a:solidFill>
              </a:rPr>
              <a:t>    a[1]=1;</a:t>
            </a:r>
          </a:p>
          <a:p>
            <a:pPr marL="0" indent="0">
              <a:lnSpc>
                <a:spcPct val="100000"/>
              </a:lnSpc>
              <a:buNone/>
            </a:pPr>
            <a:r>
              <a:rPr lang="en-US" altLang="zh-CN" dirty="0">
                <a:solidFill>
                  <a:schemeClr val="tx1"/>
                </a:solidFill>
              </a:rPr>
              <a:t>    printf("Please select I number to be  printed:\n");</a:t>
            </a:r>
          </a:p>
          <a:p>
            <a:pPr marL="0" indent="0">
              <a:lnSpc>
                <a:spcPct val="100000"/>
              </a:lnSpc>
              <a:buNone/>
            </a:pPr>
            <a:r>
              <a:rPr lang="en-US" altLang="zh-CN" dirty="0">
                <a:solidFill>
                  <a:schemeClr val="tx1"/>
                </a:solidFill>
              </a:rPr>
              <a:t>    scanf("%d",&amp;i);</a:t>
            </a:r>
          </a:p>
          <a:p>
            <a:pPr marL="0" indent="0">
              <a:lnSpc>
                <a:spcPct val="100000"/>
              </a:lnSpc>
              <a:buNone/>
            </a:pPr>
            <a:r>
              <a:rPr lang="en-US" altLang="zh-CN" dirty="0">
                <a:solidFill>
                  <a:schemeClr val="tx1"/>
                </a:solidFill>
              </a:rPr>
              <a:t>    for(j=2;j&lt;</a:t>
            </a:r>
            <a:r>
              <a:rPr lang="en-US" altLang="zh-CN" dirty="0">
                <a:solidFill>
                  <a:srgbClr val="FF0000"/>
                </a:solidFill>
              </a:rPr>
              <a:t>i</a:t>
            </a:r>
            <a:r>
              <a:rPr lang="en-US" altLang="zh-CN" dirty="0">
                <a:solidFill>
                  <a:schemeClr val="tx1"/>
                </a:solidFill>
              </a:rPr>
              <a:t>;j++)</a:t>
            </a:r>
          </a:p>
          <a:p>
            <a:pPr marL="0" indent="0">
              <a:lnSpc>
                <a:spcPct val="100000"/>
              </a:lnSpc>
              <a:buNone/>
            </a:pPr>
            <a:r>
              <a:rPr lang="en-US" altLang="zh-CN" dirty="0">
                <a:solidFill>
                  <a:schemeClr val="tx1"/>
                </a:solidFill>
              </a:rPr>
              <a:t>        a[j]=a[j-1]+a[j-2];</a:t>
            </a:r>
          </a:p>
          <a:p>
            <a:pPr marL="0" indent="0">
              <a:lnSpc>
                <a:spcPct val="100000"/>
              </a:lnSpc>
              <a:buNone/>
            </a:pPr>
            <a:r>
              <a:rPr lang="en-US" altLang="zh-CN" dirty="0">
                <a:solidFill>
                  <a:schemeClr val="tx1"/>
                </a:solidFill>
              </a:rPr>
              <a:t>    printf("The number is %d",a[i-1]);</a:t>
            </a:r>
          </a:p>
          <a:p>
            <a:pPr marL="0" indent="0">
              <a:lnSpc>
                <a:spcPct val="100000"/>
              </a:lnSpc>
              <a:buNone/>
            </a:pPr>
            <a:r>
              <a:rPr lang="en-US" altLang="zh-CN" dirty="0">
                <a:solidFill>
                  <a:schemeClr val="tx1"/>
                </a:solidFill>
              </a:rPr>
              <a:t>    return 0;</a:t>
            </a:r>
          </a:p>
          <a:p>
            <a:pPr marL="0" indent="0">
              <a:lnSpc>
                <a:spcPct val="100000"/>
              </a:lnSpc>
              <a:buNone/>
            </a:pPr>
            <a:r>
              <a:rPr lang="en-US" altLang="zh-CN" dirty="0" smtClean="0">
                <a:solidFill>
                  <a:schemeClr val="tx1"/>
                </a:solidFill>
              </a:rPr>
              <a:t>}</a:t>
            </a:r>
            <a:endParaRPr lang="en-US" dirty="0"/>
          </a:p>
        </p:txBody>
      </p:sp>
      <p:sp>
        <p:nvSpPr>
          <p:cNvPr id="2" name="矩形 1"/>
          <p:cNvSpPr/>
          <p:nvPr/>
        </p:nvSpPr>
        <p:spPr>
          <a:xfrm>
            <a:off x="3563888" y="980728"/>
            <a:ext cx="4610558" cy="523220"/>
          </a:xfrm>
          <a:prstGeom prst="rect">
            <a:avLst/>
          </a:prstGeom>
        </p:spPr>
        <p:txBody>
          <a:bodyPr wrap="none">
            <a:spAutoFit/>
          </a:bodyPr>
          <a:lstStyle/>
          <a:p>
            <a:r>
              <a:rPr lang="de-DE" altLang="zh-CN" sz="2800" b="1" kern="0" dirty="0">
                <a:solidFill>
                  <a:srgbClr val="0066FF"/>
                </a:solidFill>
                <a:effectLst>
                  <a:outerShdw blurRad="38100" dist="38100" dir="2700000" algn="tl">
                    <a:srgbClr val="C0C0C0"/>
                  </a:outerShdw>
                </a:effectLst>
                <a:latin typeface="Arial"/>
                <a:ea typeface="黑体"/>
              </a:rPr>
              <a:t> 1  </a:t>
            </a:r>
            <a:r>
              <a:rPr lang="de-DE" altLang="zh-CN" sz="2800" b="1" kern="0" dirty="0" smtClean="0">
                <a:solidFill>
                  <a:srgbClr val="0066FF"/>
                </a:solidFill>
                <a:effectLst>
                  <a:outerShdw blurRad="38100" dist="38100" dir="2700000" algn="tl">
                    <a:srgbClr val="C0C0C0"/>
                  </a:outerShdw>
                </a:effectLst>
                <a:latin typeface="Arial"/>
                <a:ea typeface="黑体"/>
              </a:rPr>
              <a:t>  </a:t>
            </a:r>
            <a:r>
              <a:rPr lang="de-DE" altLang="zh-CN" sz="2800" b="1" kern="0" dirty="0">
                <a:solidFill>
                  <a:srgbClr val="0066FF"/>
                </a:solidFill>
                <a:effectLst>
                  <a:outerShdw blurRad="38100" dist="38100" dir="2700000" algn="tl">
                    <a:srgbClr val="C0C0C0"/>
                  </a:outerShdw>
                </a:effectLst>
                <a:latin typeface="Arial"/>
                <a:ea typeface="黑体"/>
              </a:rPr>
              <a:t>1  </a:t>
            </a:r>
            <a:r>
              <a:rPr lang="de-DE" altLang="zh-CN" sz="2800" b="1" kern="0" dirty="0" smtClean="0">
                <a:solidFill>
                  <a:srgbClr val="0066FF"/>
                </a:solidFill>
                <a:effectLst>
                  <a:outerShdw blurRad="38100" dist="38100" dir="2700000" algn="tl">
                    <a:srgbClr val="C0C0C0"/>
                  </a:outerShdw>
                </a:effectLst>
                <a:latin typeface="Arial"/>
                <a:ea typeface="黑体"/>
              </a:rPr>
              <a:t>   </a:t>
            </a:r>
            <a:r>
              <a:rPr lang="de-DE" altLang="zh-CN" sz="2800" b="1" kern="0" dirty="0">
                <a:solidFill>
                  <a:srgbClr val="0066FF"/>
                </a:solidFill>
                <a:effectLst>
                  <a:outerShdw blurRad="38100" dist="38100" dir="2700000" algn="tl">
                    <a:srgbClr val="C0C0C0"/>
                  </a:outerShdw>
                </a:effectLst>
                <a:latin typeface="Arial"/>
                <a:ea typeface="黑体"/>
              </a:rPr>
              <a:t>2  </a:t>
            </a:r>
            <a:r>
              <a:rPr lang="de-DE" altLang="zh-CN" sz="2800" b="1" kern="0" dirty="0" smtClean="0">
                <a:solidFill>
                  <a:srgbClr val="0066FF"/>
                </a:solidFill>
                <a:effectLst>
                  <a:outerShdw blurRad="38100" dist="38100" dir="2700000" algn="tl">
                    <a:srgbClr val="C0C0C0"/>
                  </a:outerShdw>
                </a:effectLst>
                <a:latin typeface="Arial"/>
                <a:ea typeface="黑体"/>
              </a:rPr>
              <a:t>  3     </a:t>
            </a:r>
            <a:r>
              <a:rPr lang="de-DE" altLang="zh-CN" sz="2800" b="1" kern="0" dirty="0">
                <a:solidFill>
                  <a:srgbClr val="0066FF"/>
                </a:solidFill>
                <a:effectLst>
                  <a:outerShdw blurRad="38100" dist="38100" dir="2700000" algn="tl">
                    <a:srgbClr val="C0C0C0"/>
                  </a:outerShdw>
                </a:effectLst>
                <a:latin typeface="Arial"/>
                <a:ea typeface="黑体"/>
              </a:rPr>
              <a:t>5 </a:t>
            </a:r>
            <a:r>
              <a:rPr lang="de-DE" altLang="zh-CN" sz="2800" b="1" kern="0" dirty="0" smtClean="0">
                <a:solidFill>
                  <a:srgbClr val="0066FF"/>
                </a:solidFill>
                <a:effectLst>
                  <a:outerShdw blurRad="38100" dist="38100" dir="2700000" algn="tl">
                    <a:srgbClr val="C0C0C0"/>
                  </a:outerShdw>
                </a:effectLst>
                <a:latin typeface="Arial"/>
                <a:ea typeface="黑体"/>
              </a:rPr>
              <a:t>…………</a:t>
            </a:r>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1814301597"/>
              </p:ext>
            </p:extLst>
          </p:nvPr>
        </p:nvGraphicFramePr>
        <p:xfrm>
          <a:off x="3538341" y="645448"/>
          <a:ext cx="4850083" cy="335280"/>
        </p:xfrm>
        <a:graphic>
          <a:graphicData uri="http://schemas.openxmlformats.org/drawingml/2006/table">
            <a:tbl>
              <a:tblPr firstRow="1" bandRow="1">
                <a:tableStyleId>{5C22544A-7EE6-4342-B048-85BDC9FD1C3A}</a:tableStyleId>
              </a:tblPr>
              <a:tblGrid>
                <a:gridCol w="641027">
                  <a:extLst>
                    <a:ext uri="{9D8B030D-6E8A-4147-A177-3AD203B41FA5}">
                      <a16:colId xmlns:a16="http://schemas.microsoft.com/office/drawing/2014/main" xmlns="" val="4573996"/>
                    </a:ext>
                  </a:extLst>
                </a:gridCol>
                <a:gridCol w="641027">
                  <a:extLst>
                    <a:ext uri="{9D8B030D-6E8A-4147-A177-3AD203B41FA5}">
                      <a16:colId xmlns:a16="http://schemas.microsoft.com/office/drawing/2014/main" xmlns="" val="1940628640"/>
                    </a:ext>
                  </a:extLst>
                </a:gridCol>
                <a:gridCol w="641027">
                  <a:extLst>
                    <a:ext uri="{9D8B030D-6E8A-4147-A177-3AD203B41FA5}">
                      <a16:colId xmlns:a16="http://schemas.microsoft.com/office/drawing/2014/main" xmlns="" val="1224197718"/>
                    </a:ext>
                  </a:extLst>
                </a:gridCol>
                <a:gridCol w="622746">
                  <a:extLst>
                    <a:ext uri="{9D8B030D-6E8A-4147-A177-3AD203B41FA5}">
                      <a16:colId xmlns:a16="http://schemas.microsoft.com/office/drawing/2014/main" xmlns="" val="2244228631"/>
                    </a:ext>
                  </a:extLst>
                </a:gridCol>
                <a:gridCol w="684076">
                  <a:extLst>
                    <a:ext uri="{9D8B030D-6E8A-4147-A177-3AD203B41FA5}">
                      <a16:colId xmlns:a16="http://schemas.microsoft.com/office/drawing/2014/main" xmlns="" val="2511130238"/>
                    </a:ext>
                  </a:extLst>
                </a:gridCol>
                <a:gridCol w="684076">
                  <a:extLst>
                    <a:ext uri="{9D8B030D-6E8A-4147-A177-3AD203B41FA5}">
                      <a16:colId xmlns:a16="http://schemas.microsoft.com/office/drawing/2014/main" xmlns="" val="2734035475"/>
                    </a:ext>
                  </a:extLst>
                </a:gridCol>
                <a:gridCol w="936104">
                  <a:extLst>
                    <a:ext uri="{9D8B030D-6E8A-4147-A177-3AD203B41FA5}">
                      <a16:colId xmlns:a16="http://schemas.microsoft.com/office/drawing/2014/main" xmlns="" val="2047208367"/>
                    </a:ext>
                  </a:extLst>
                </a:gridCol>
              </a:tblGrid>
              <a:tr h="298832">
                <a:tc>
                  <a:txBody>
                    <a:bodyPr/>
                    <a:lstStyle/>
                    <a:p>
                      <a:r>
                        <a:rPr lang="en-US" altLang="zh-CN" sz="1600" dirty="0" smtClean="0">
                          <a:solidFill>
                            <a:schemeClr val="tx1"/>
                          </a:solidFill>
                        </a:rPr>
                        <a:t>a[0]</a:t>
                      </a:r>
                      <a:endParaRPr lang="zh-CN" altLang="en-US" sz="16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a[1]</a:t>
                      </a:r>
                      <a:endParaRPr lang="zh-CN" altLang="en-US" sz="1600" dirty="0" smtClean="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a[2]</a:t>
                      </a:r>
                      <a:endParaRPr lang="zh-CN" altLang="en-US" sz="1600" dirty="0" smtClean="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a[3]</a:t>
                      </a:r>
                      <a:endParaRPr lang="zh-CN" altLang="en-US" sz="1600" dirty="0" smtClean="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a[4]</a:t>
                      </a:r>
                      <a:endParaRPr lang="zh-CN" altLang="en-US" sz="1600" dirty="0" smtClean="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a:t>
                      </a:r>
                      <a:endParaRPr lang="zh-CN" altLang="en-US" sz="1600" dirty="0" smtClean="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a[n-1]</a:t>
                      </a:r>
                      <a:endParaRPr lang="zh-CN" altLang="en-US" sz="1600" dirty="0" smtClean="0">
                        <a:solidFill>
                          <a:schemeClr val="tx1"/>
                        </a:solidFill>
                      </a:endParaRPr>
                    </a:p>
                  </a:txBody>
                  <a:tcPr/>
                </a:tc>
                <a:extLst>
                  <a:ext uri="{0D108BD9-81ED-4DB2-BD59-A6C34878D82A}">
                    <a16:rowId xmlns:a16="http://schemas.microsoft.com/office/drawing/2014/main" xmlns="" val="241969233"/>
                  </a:ext>
                </a:extLst>
              </a:tr>
            </a:tbl>
          </a:graphicData>
        </a:graphic>
      </p:graphicFrame>
      <p:sp>
        <p:nvSpPr>
          <p:cNvPr id="6" name="矩形 5"/>
          <p:cNvSpPr/>
          <p:nvPr/>
        </p:nvSpPr>
        <p:spPr>
          <a:xfrm>
            <a:off x="3635896" y="276116"/>
            <a:ext cx="4752528" cy="369332"/>
          </a:xfrm>
          <a:prstGeom prst="rect">
            <a:avLst/>
          </a:prstGeom>
        </p:spPr>
        <p:txBody>
          <a:bodyPr wrap="square">
            <a:spAutoFit/>
          </a:bodyPr>
          <a:lstStyle/>
          <a:p>
            <a:r>
              <a:rPr lang="de-DE" altLang="zh-CN" sz="1800" b="1" kern="0" dirty="0">
                <a:solidFill>
                  <a:srgbClr val="FF0000"/>
                </a:solidFill>
                <a:effectLst>
                  <a:outerShdw blurRad="38100" dist="38100" dir="2700000" algn="tl">
                    <a:srgbClr val="C0C0C0"/>
                  </a:outerShdw>
                </a:effectLst>
                <a:latin typeface="Arial"/>
                <a:ea typeface="黑体"/>
              </a:rPr>
              <a:t> 1  </a:t>
            </a:r>
            <a:r>
              <a:rPr lang="de-DE" altLang="zh-CN" sz="1800" b="1" kern="0" dirty="0" smtClean="0">
                <a:solidFill>
                  <a:srgbClr val="FF0000"/>
                </a:solidFill>
                <a:effectLst>
                  <a:outerShdw blurRad="38100" dist="38100" dir="2700000" algn="tl">
                    <a:srgbClr val="C0C0C0"/>
                  </a:outerShdw>
                </a:effectLst>
                <a:latin typeface="Arial"/>
                <a:ea typeface="黑体"/>
              </a:rPr>
              <a:t>      </a:t>
            </a:r>
            <a:r>
              <a:rPr lang="en-US" altLang="zh-CN" sz="1800" b="1" kern="0" dirty="0" smtClean="0">
                <a:solidFill>
                  <a:srgbClr val="FF0000"/>
                </a:solidFill>
                <a:effectLst>
                  <a:outerShdw blurRad="38100" dist="38100" dir="2700000" algn="tl">
                    <a:srgbClr val="C0C0C0"/>
                  </a:outerShdw>
                </a:effectLst>
                <a:latin typeface="Arial"/>
                <a:ea typeface="黑体"/>
              </a:rPr>
              <a:t>2</a:t>
            </a:r>
            <a:r>
              <a:rPr lang="de-DE" altLang="zh-CN" sz="1800" b="1" kern="0" dirty="0" smtClean="0">
                <a:solidFill>
                  <a:srgbClr val="FF0000"/>
                </a:solidFill>
                <a:effectLst>
                  <a:outerShdw blurRad="38100" dist="38100" dir="2700000" algn="tl">
                    <a:srgbClr val="C0C0C0"/>
                  </a:outerShdw>
                </a:effectLst>
                <a:latin typeface="Arial"/>
                <a:ea typeface="黑体"/>
              </a:rPr>
              <a:t>        </a:t>
            </a:r>
            <a:r>
              <a:rPr lang="en-US" altLang="zh-CN" sz="1800" b="1" kern="0" dirty="0" smtClean="0">
                <a:solidFill>
                  <a:srgbClr val="FF0000"/>
                </a:solidFill>
                <a:effectLst>
                  <a:outerShdw blurRad="38100" dist="38100" dir="2700000" algn="tl">
                    <a:srgbClr val="C0C0C0"/>
                  </a:outerShdw>
                </a:effectLst>
                <a:latin typeface="Arial"/>
                <a:ea typeface="黑体"/>
              </a:rPr>
              <a:t>3</a:t>
            </a:r>
            <a:r>
              <a:rPr lang="de-DE" altLang="zh-CN" sz="1800" b="1" kern="0" dirty="0" smtClean="0">
                <a:solidFill>
                  <a:srgbClr val="FF0000"/>
                </a:solidFill>
                <a:effectLst>
                  <a:outerShdw blurRad="38100" dist="38100" dir="2700000" algn="tl">
                    <a:srgbClr val="C0C0C0"/>
                  </a:outerShdw>
                </a:effectLst>
                <a:latin typeface="Arial"/>
                <a:ea typeface="黑体"/>
              </a:rPr>
              <a:t>        </a:t>
            </a:r>
            <a:r>
              <a:rPr lang="en-US" altLang="zh-CN" sz="1800" b="1" kern="0" dirty="0" smtClean="0">
                <a:solidFill>
                  <a:srgbClr val="FF0000"/>
                </a:solidFill>
                <a:effectLst>
                  <a:outerShdw blurRad="38100" dist="38100" dir="2700000" algn="tl">
                    <a:srgbClr val="C0C0C0"/>
                  </a:outerShdw>
                </a:effectLst>
                <a:latin typeface="Arial"/>
                <a:ea typeface="黑体"/>
              </a:rPr>
              <a:t>4</a:t>
            </a:r>
            <a:r>
              <a:rPr lang="de-DE" altLang="zh-CN" sz="1800" b="1" kern="0" dirty="0" smtClean="0">
                <a:solidFill>
                  <a:srgbClr val="FF0000"/>
                </a:solidFill>
                <a:effectLst>
                  <a:outerShdw blurRad="38100" dist="38100" dir="2700000" algn="tl">
                    <a:srgbClr val="C0C0C0"/>
                  </a:outerShdw>
                </a:effectLst>
                <a:latin typeface="Arial"/>
                <a:ea typeface="黑体"/>
              </a:rPr>
              <a:t>       </a:t>
            </a:r>
            <a:r>
              <a:rPr lang="de-DE" altLang="zh-CN" sz="1800" b="1" kern="0" dirty="0">
                <a:solidFill>
                  <a:srgbClr val="FF0000"/>
                </a:solidFill>
                <a:effectLst>
                  <a:outerShdw blurRad="38100" dist="38100" dir="2700000" algn="tl">
                    <a:srgbClr val="C0C0C0"/>
                  </a:outerShdw>
                </a:effectLst>
                <a:latin typeface="Arial"/>
                <a:ea typeface="黑体"/>
              </a:rPr>
              <a:t>5 </a:t>
            </a:r>
            <a:r>
              <a:rPr lang="de-DE" altLang="zh-CN" sz="1800" b="1" kern="0" dirty="0" smtClean="0">
                <a:solidFill>
                  <a:srgbClr val="FF0000"/>
                </a:solidFill>
                <a:effectLst>
                  <a:outerShdw blurRad="38100" dist="38100" dir="2700000" algn="tl">
                    <a:srgbClr val="C0C0C0"/>
                  </a:outerShdw>
                </a:effectLst>
                <a:latin typeface="Arial"/>
                <a:ea typeface="黑体"/>
              </a:rPr>
              <a:t>…………     n</a:t>
            </a:r>
            <a:r>
              <a:rPr lang="zh-CN" altLang="en-US" sz="1800" b="1" kern="0" dirty="0" smtClean="0">
                <a:solidFill>
                  <a:srgbClr val="FF0000"/>
                </a:solidFill>
                <a:effectLst>
                  <a:outerShdw blurRad="38100" dist="38100" dir="2700000" algn="tl">
                    <a:srgbClr val="C0C0C0"/>
                  </a:outerShdw>
                </a:effectLst>
                <a:latin typeface="Arial"/>
                <a:ea typeface="黑体"/>
              </a:rPr>
              <a:t>项</a:t>
            </a:r>
            <a:endParaRPr lang="zh-CN" altLang="en-US" sz="1800" dirty="0">
              <a:solidFill>
                <a:srgbClr val="FF0000"/>
              </a:solidFill>
            </a:endParaRPr>
          </a:p>
        </p:txBody>
      </p:sp>
    </p:spTree>
    <p:extLst>
      <p:ext uri="{BB962C8B-B14F-4D97-AF65-F5344CB8AC3E}">
        <p14:creationId xmlns:p14="http://schemas.microsoft.com/office/powerpoint/2010/main" val="1558033195"/>
      </p:ext>
    </p:extLst>
  </p:cSld>
  <p:clrMapOvr>
    <a:masterClrMapping/>
  </p:clrMapOvr>
  <p:transition spd="med">
    <p:rand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39</a:t>
            </a:fld>
            <a:endParaRPr lang="en-US" altLang="zh-CN" dirty="0"/>
          </a:p>
        </p:txBody>
      </p:sp>
      <p:sp>
        <p:nvSpPr>
          <p:cNvPr id="3" name="Content Placeholder 2"/>
          <p:cNvSpPr>
            <a:spLocks noGrp="1"/>
          </p:cNvSpPr>
          <p:nvPr>
            <p:ph idx="4294967295"/>
          </p:nvPr>
        </p:nvSpPr>
        <p:spPr>
          <a:xfrm>
            <a:off x="827584" y="764704"/>
            <a:ext cx="7993062" cy="6093296"/>
          </a:xfrm>
        </p:spPr>
        <p:txBody>
          <a:bodyPr/>
          <a:lstStyle/>
          <a:p>
            <a:r>
              <a:rPr lang="zh-CN" altLang="en-US" dirty="0"/>
              <a:t>顺序查找：输入</a:t>
            </a:r>
            <a:r>
              <a:rPr lang="en-US" altLang="zh-CN" dirty="0"/>
              <a:t>10</a:t>
            </a:r>
            <a:r>
              <a:rPr lang="zh-CN" altLang="en-US" dirty="0"/>
              <a:t>个整数，将它们存入数组</a:t>
            </a:r>
            <a:r>
              <a:rPr lang="en-US" altLang="zh-CN" dirty="0"/>
              <a:t>a</a:t>
            </a:r>
            <a:r>
              <a:rPr lang="zh-CN" altLang="en-US" dirty="0"/>
              <a:t>中，再输入</a:t>
            </a:r>
            <a:r>
              <a:rPr lang="en-US" altLang="zh-CN" dirty="0"/>
              <a:t>1</a:t>
            </a:r>
            <a:r>
              <a:rPr lang="zh-CN" altLang="en-US" dirty="0"/>
              <a:t>个数</a:t>
            </a:r>
            <a:r>
              <a:rPr lang="en-US" altLang="zh-CN" dirty="0"/>
              <a:t>x</a:t>
            </a:r>
            <a:r>
              <a:rPr lang="zh-CN" altLang="en-US" dirty="0"/>
              <a:t>，然后在数组中查找</a:t>
            </a:r>
            <a:r>
              <a:rPr lang="en-US" altLang="zh-CN" dirty="0"/>
              <a:t>x</a:t>
            </a:r>
            <a:r>
              <a:rPr lang="zh-CN" altLang="en-US" dirty="0"/>
              <a:t>，如果找到，输出相应的下标，否则，输出“</a:t>
            </a:r>
            <a:r>
              <a:rPr lang="en-US" altLang="zh-CN" dirty="0"/>
              <a:t>Not Found”</a:t>
            </a:r>
            <a:r>
              <a:rPr lang="zh-CN" altLang="en-US" dirty="0"/>
              <a:t>。</a:t>
            </a:r>
            <a:endParaRPr lang="en-US" dirty="0"/>
          </a:p>
        </p:txBody>
      </p:sp>
    </p:spTree>
    <p:extLst>
      <p:ext uri="{BB962C8B-B14F-4D97-AF65-F5344CB8AC3E}">
        <p14:creationId xmlns:p14="http://schemas.microsoft.com/office/powerpoint/2010/main" val="735420129"/>
      </p:ext>
    </p:extLst>
  </p:cSld>
  <p:clrMapOvr>
    <a:masterClrMapping/>
  </p:clrMapOvr>
  <p:transition spd="med">
    <p:rand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灯片编号占位符 1"/>
          <p:cNvSpPr>
            <a:spLocks noGrp="1"/>
          </p:cNvSpPr>
          <p:nvPr>
            <p:ph type="sldNum" sz="quarter" idx="11"/>
          </p:nvPr>
        </p:nvSpPr>
        <p:spPr/>
        <p:txBody>
          <a:bodyPr/>
          <a:lstStyle/>
          <a:p>
            <a:pPr>
              <a:defRPr/>
            </a:pPr>
            <a:fld id="{56636351-7D5B-47CE-B54D-C31E7589E5E2}" type="slidenum">
              <a:rPr lang="en-US" altLang="zh-CN" smtClean="0"/>
              <a:pPr>
                <a:defRPr/>
              </a:pPr>
              <a:t>40</a:t>
            </a:fld>
            <a:endParaRPr lang="en-US" altLang="zh-CN" dirty="0"/>
          </a:p>
        </p:txBody>
      </p:sp>
      <p:sp>
        <p:nvSpPr>
          <p:cNvPr id="3" name="矩形 2"/>
          <p:cNvSpPr/>
          <p:nvPr/>
        </p:nvSpPr>
        <p:spPr>
          <a:xfrm>
            <a:off x="179512" y="188640"/>
            <a:ext cx="7632848" cy="6001643"/>
          </a:xfrm>
          <a:prstGeom prst="rect">
            <a:avLst/>
          </a:prstGeom>
        </p:spPr>
        <p:txBody>
          <a:bodyPr wrap="square">
            <a:spAutoFit/>
          </a:bodyPr>
          <a:lstStyle/>
          <a:p>
            <a:r>
              <a:rPr lang="en-US" altLang="zh-CN" sz="2400" b="1" dirty="0"/>
              <a:t>#include &lt;stdio.h&gt;</a:t>
            </a:r>
          </a:p>
          <a:p>
            <a:r>
              <a:rPr lang="en-US" altLang="zh-CN" sz="2400" b="1" dirty="0"/>
              <a:t>#define N 10</a:t>
            </a:r>
          </a:p>
          <a:p>
            <a:r>
              <a:rPr lang="en-US" altLang="zh-CN" sz="2400" b="1" dirty="0"/>
              <a:t>int main()</a:t>
            </a:r>
          </a:p>
          <a:p>
            <a:r>
              <a:rPr lang="en-US" altLang="zh-CN" sz="2400" b="1" dirty="0"/>
              <a:t>{   </a:t>
            </a:r>
          </a:p>
          <a:p>
            <a:r>
              <a:rPr lang="en-US" altLang="zh-CN" sz="2400" b="1" dirty="0" smtClean="0"/>
              <a:t>    </a:t>
            </a:r>
            <a:r>
              <a:rPr lang="en-US" altLang="zh-CN" sz="2400" b="1" dirty="0" err="1" smtClean="0"/>
              <a:t>int</a:t>
            </a:r>
            <a:r>
              <a:rPr lang="en-US" altLang="zh-CN" sz="2400" b="1" dirty="0" smtClean="0"/>
              <a:t> </a:t>
            </a:r>
            <a:r>
              <a:rPr lang="en-US" altLang="zh-CN" sz="2400" b="1" dirty="0"/>
              <a:t>i, </a:t>
            </a:r>
            <a:r>
              <a:rPr lang="en-US" altLang="zh-CN" sz="2400" b="1" dirty="0" err="1" smtClean="0"/>
              <a:t>x,a</a:t>
            </a:r>
            <a:r>
              <a:rPr lang="en-US" altLang="zh-CN" sz="2400" b="1" dirty="0" smtClean="0"/>
              <a:t>[N</a:t>
            </a:r>
            <a:r>
              <a:rPr lang="en-US" altLang="zh-CN" sz="2400" b="1" dirty="0"/>
              <a:t>]; </a:t>
            </a:r>
          </a:p>
          <a:p>
            <a:r>
              <a:rPr lang="en-US" altLang="zh-CN" sz="2400" b="1" dirty="0"/>
              <a:t>    for(i = 0; i &lt; N; i++) </a:t>
            </a:r>
          </a:p>
          <a:p>
            <a:r>
              <a:rPr lang="en-US" altLang="zh-CN" sz="2400" b="1" dirty="0"/>
              <a:t>        scanf("%d", &amp;a[i]);</a:t>
            </a:r>
          </a:p>
          <a:p>
            <a:r>
              <a:rPr lang="en-US" altLang="zh-CN" sz="2400" b="1" dirty="0"/>
              <a:t>    scanf("%d", &amp;x);</a:t>
            </a:r>
          </a:p>
          <a:p>
            <a:r>
              <a:rPr lang="en-US" altLang="zh-CN" sz="2400" b="1" dirty="0" smtClean="0"/>
              <a:t>    for(</a:t>
            </a:r>
            <a:r>
              <a:rPr lang="en-US" altLang="zh-CN" sz="2400" b="1" dirty="0" err="1" smtClean="0"/>
              <a:t>i</a:t>
            </a:r>
            <a:r>
              <a:rPr lang="en-US" altLang="zh-CN" sz="2400" b="1" dirty="0" smtClean="0"/>
              <a:t> </a:t>
            </a:r>
            <a:r>
              <a:rPr lang="en-US" altLang="zh-CN" sz="2400" b="1" dirty="0"/>
              <a:t>= 0; i &lt; N; i++) </a:t>
            </a:r>
          </a:p>
          <a:p>
            <a:r>
              <a:rPr lang="en-US" altLang="zh-CN" sz="2400" b="1" dirty="0"/>
              <a:t>        if(a[i] == x){ </a:t>
            </a:r>
          </a:p>
          <a:p>
            <a:r>
              <a:rPr lang="en-US" altLang="zh-CN" sz="2400" b="1" dirty="0"/>
              <a:t>            printf("Index is %d\n", i);</a:t>
            </a:r>
          </a:p>
          <a:p>
            <a:r>
              <a:rPr lang="en-US" altLang="zh-CN" sz="2400" b="1" dirty="0" smtClean="0">
                <a:solidFill>
                  <a:srgbClr val="FF0000"/>
                </a:solidFill>
              </a:rPr>
              <a:t>            break</a:t>
            </a:r>
            <a:r>
              <a:rPr lang="en-US" altLang="zh-CN" sz="2400" b="1" dirty="0"/>
              <a:t>;</a:t>
            </a:r>
          </a:p>
          <a:p>
            <a:r>
              <a:rPr lang="en-US" altLang="zh-CN" sz="2400" b="1" dirty="0"/>
              <a:t>        }</a:t>
            </a:r>
          </a:p>
          <a:p>
            <a:r>
              <a:rPr lang="en-US" altLang="zh-CN" sz="2400" b="1" dirty="0"/>
              <a:t>    </a:t>
            </a:r>
            <a:r>
              <a:rPr lang="en-US" altLang="zh-CN" sz="2400" b="1" dirty="0" smtClean="0"/>
              <a:t>if(</a:t>
            </a:r>
            <a:r>
              <a:rPr lang="en-US" altLang="zh-CN" sz="2400" b="1" dirty="0" err="1" smtClean="0"/>
              <a:t>i</a:t>
            </a:r>
            <a:r>
              <a:rPr lang="en-US" altLang="zh-CN" sz="2400" b="1" dirty="0" smtClean="0"/>
              <a:t> </a:t>
            </a:r>
            <a:r>
              <a:rPr lang="en-US" altLang="zh-CN" sz="2400" b="1" dirty="0"/>
              <a:t>== </a:t>
            </a:r>
            <a:r>
              <a:rPr lang="en-US" altLang="zh-CN" sz="2400" b="1" dirty="0" smtClean="0"/>
              <a:t>N)  </a:t>
            </a:r>
            <a:r>
              <a:rPr lang="en-US" altLang="zh-CN" sz="2400" b="1" dirty="0"/>
              <a:t>printf("Not Found\n");</a:t>
            </a:r>
          </a:p>
          <a:p>
            <a:r>
              <a:rPr lang="en-US" altLang="zh-CN" sz="2400" b="1" dirty="0"/>
              <a:t>    return 0;</a:t>
            </a:r>
          </a:p>
          <a:p>
            <a:r>
              <a:rPr lang="en-US" altLang="zh-CN" sz="2400" b="1" dirty="0"/>
              <a:t>} </a:t>
            </a:r>
            <a:endParaRPr lang="zh-CN" altLang="en-US" sz="2400" b="1" dirty="0"/>
          </a:p>
        </p:txBody>
      </p:sp>
      <p:graphicFrame>
        <p:nvGraphicFramePr>
          <p:cNvPr id="4" name="表格 3"/>
          <p:cNvGraphicFramePr>
            <a:graphicFrameLocks noGrp="1"/>
          </p:cNvGraphicFramePr>
          <p:nvPr>
            <p:extLst>
              <p:ext uri="{D42A27DB-BD31-4B8C-83A1-F6EECF244321}">
                <p14:modId xmlns:p14="http://schemas.microsoft.com/office/powerpoint/2010/main" val="3809164783"/>
              </p:ext>
            </p:extLst>
          </p:nvPr>
        </p:nvGraphicFramePr>
        <p:xfrm>
          <a:off x="5508104" y="692696"/>
          <a:ext cx="3384374" cy="335280"/>
        </p:xfrm>
        <a:graphic>
          <a:graphicData uri="http://schemas.openxmlformats.org/drawingml/2006/table">
            <a:tbl>
              <a:tblPr firstRow="1" bandRow="1">
                <a:tableStyleId>{5C22544A-7EE6-4342-B048-85BDC9FD1C3A}</a:tableStyleId>
              </a:tblPr>
              <a:tblGrid>
                <a:gridCol w="641027">
                  <a:extLst>
                    <a:ext uri="{9D8B030D-6E8A-4147-A177-3AD203B41FA5}">
                      <a16:colId xmlns:a16="http://schemas.microsoft.com/office/drawing/2014/main" xmlns="" val="4573996"/>
                    </a:ext>
                  </a:extLst>
                </a:gridCol>
                <a:gridCol w="641027">
                  <a:extLst>
                    <a:ext uri="{9D8B030D-6E8A-4147-A177-3AD203B41FA5}">
                      <a16:colId xmlns:a16="http://schemas.microsoft.com/office/drawing/2014/main" xmlns="" val="1940628640"/>
                    </a:ext>
                  </a:extLst>
                </a:gridCol>
                <a:gridCol w="641027">
                  <a:extLst>
                    <a:ext uri="{9D8B030D-6E8A-4147-A177-3AD203B41FA5}">
                      <a16:colId xmlns:a16="http://schemas.microsoft.com/office/drawing/2014/main" xmlns="" val="1224197718"/>
                    </a:ext>
                  </a:extLst>
                </a:gridCol>
                <a:gridCol w="748794">
                  <a:extLst>
                    <a:ext uri="{9D8B030D-6E8A-4147-A177-3AD203B41FA5}">
                      <a16:colId xmlns:a16="http://schemas.microsoft.com/office/drawing/2014/main" xmlns="" val="2244228631"/>
                    </a:ext>
                  </a:extLst>
                </a:gridCol>
                <a:gridCol w="712499">
                  <a:extLst>
                    <a:ext uri="{9D8B030D-6E8A-4147-A177-3AD203B41FA5}">
                      <a16:colId xmlns:a16="http://schemas.microsoft.com/office/drawing/2014/main" xmlns="" val="2047208367"/>
                    </a:ext>
                  </a:extLst>
                </a:gridCol>
              </a:tblGrid>
              <a:tr h="298832">
                <a:tc>
                  <a:txBody>
                    <a:bodyPr/>
                    <a:lstStyle/>
                    <a:p>
                      <a:r>
                        <a:rPr lang="en-US" altLang="zh-CN" sz="1600" dirty="0" smtClean="0">
                          <a:solidFill>
                            <a:schemeClr val="tx1"/>
                          </a:solidFill>
                        </a:rPr>
                        <a:t>a[0]</a:t>
                      </a:r>
                      <a:endParaRPr lang="zh-CN" altLang="en-US" sz="16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a[1]</a:t>
                      </a:r>
                      <a:endParaRPr lang="zh-CN" altLang="en-US" sz="1600" dirty="0" smtClean="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a[2]</a:t>
                      </a:r>
                      <a:endParaRPr lang="zh-CN" altLang="en-US" sz="1600" dirty="0" smtClean="0">
                        <a:solidFill>
                          <a:schemeClr val="tx1"/>
                        </a:solidFill>
                      </a:endParaRPr>
                    </a:p>
                  </a:txBody>
                  <a:tcPr/>
                </a:tc>
                <a:tc>
                  <a:txBody>
                    <a:bodyPr/>
                    <a:lstStyle/>
                    <a:p>
                      <a:r>
                        <a:rPr lang="en-US" altLang="zh-CN" sz="1600" dirty="0" smtClean="0">
                          <a:solidFill>
                            <a:schemeClr val="tx1"/>
                          </a:solidFill>
                        </a:rPr>
                        <a:t>……</a:t>
                      </a:r>
                      <a:endParaRPr lang="zh-CN" altLang="en-US" sz="16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a[n-1]</a:t>
                      </a:r>
                      <a:endParaRPr lang="zh-CN" altLang="en-US" sz="1600" dirty="0" smtClean="0">
                        <a:solidFill>
                          <a:schemeClr val="tx1"/>
                        </a:solidFill>
                      </a:endParaRPr>
                    </a:p>
                  </a:txBody>
                  <a:tcPr/>
                </a:tc>
                <a:extLst>
                  <a:ext uri="{0D108BD9-81ED-4DB2-BD59-A6C34878D82A}">
                    <a16:rowId xmlns:a16="http://schemas.microsoft.com/office/drawing/2014/main" xmlns="" val="241969233"/>
                  </a:ext>
                </a:extLst>
              </a:tr>
            </a:tbl>
          </a:graphicData>
        </a:graphic>
      </p:graphicFrame>
      <p:cxnSp>
        <p:nvCxnSpPr>
          <p:cNvPr id="5" name="直接箭头连接符 4"/>
          <p:cNvCxnSpPr/>
          <p:nvPr/>
        </p:nvCxnSpPr>
        <p:spPr bwMode="auto">
          <a:xfrm flipV="1">
            <a:off x="5796136" y="988625"/>
            <a:ext cx="0" cy="456808"/>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 name="组合 5"/>
          <p:cNvGrpSpPr/>
          <p:nvPr/>
        </p:nvGrpSpPr>
        <p:grpSpPr>
          <a:xfrm>
            <a:off x="6084168" y="1596933"/>
            <a:ext cx="720080" cy="648072"/>
            <a:chOff x="6804248" y="1920969"/>
            <a:chExt cx="720080" cy="648072"/>
          </a:xfrm>
        </p:grpSpPr>
        <p:sp>
          <p:nvSpPr>
            <p:cNvPr id="7" name="椭圆 6"/>
            <p:cNvSpPr/>
            <p:nvPr/>
          </p:nvSpPr>
          <p:spPr bwMode="auto">
            <a:xfrm>
              <a:off x="6804248" y="1920969"/>
              <a:ext cx="648072" cy="648072"/>
            </a:xfrm>
            <a:prstGeom prst="ellipse">
              <a:avLst/>
            </a:prstGeom>
            <a:noFill/>
            <a:ln w="381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smtClean="0">
                  <a:ln>
                    <a:noFill/>
                  </a:ln>
                  <a:solidFill>
                    <a:schemeClr val="accent4"/>
                  </a:solidFill>
                  <a:effectLst/>
                  <a:latin typeface="Arial" charset="0"/>
                  <a:ea typeface="宋体" pitchFamily="2" charset="-122"/>
                </a:rPr>
                <a:t> </a:t>
              </a:r>
              <a:endParaRPr kumimoji="0" lang="zh-CN" altLang="en-US" sz="2000" b="0" i="0" u="none" strike="noStrike" cap="none" normalizeH="0" baseline="0" dirty="0" smtClean="0">
                <a:ln>
                  <a:noFill/>
                </a:ln>
                <a:solidFill>
                  <a:schemeClr val="accent4"/>
                </a:solidFill>
                <a:effectLst/>
                <a:latin typeface="Arial" charset="0"/>
                <a:ea typeface="宋体" pitchFamily="2" charset="-122"/>
              </a:endParaRPr>
            </a:p>
          </p:txBody>
        </p:sp>
        <p:sp>
          <p:nvSpPr>
            <p:cNvPr id="8" name="文本框 7"/>
            <p:cNvSpPr txBox="1"/>
            <p:nvPr/>
          </p:nvSpPr>
          <p:spPr>
            <a:xfrm>
              <a:off x="6804248" y="2027614"/>
              <a:ext cx="720080" cy="400110"/>
            </a:xfrm>
            <a:prstGeom prst="rect">
              <a:avLst/>
            </a:prstGeom>
            <a:noFill/>
          </p:spPr>
          <p:txBody>
            <a:bodyPr wrap="square" rtlCol="0">
              <a:spAutoFit/>
            </a:bodyPr>
            <a:lstStyle/>
            <a:p>
              <a:pPr algn="ctr"/>
              <a:r>
                <a:rPr lang="en-US" altLang="zh-CN" sz="2000" b="1" dirty="0">
                  <a:effectLst>
                    <a:outerShdw blurRad="38100" dist="38100" dir="2700000" algn="tl">
                      <a:srgbClr val="000000">
                        <a:alpha val="43137"/>
                      </a:srgbClr>
                    </a:outerShdw>
                  </a:effectLst>
                </a:rPr>
                <a:t>x</a:t>
              </a:r>
              <a:endParaRPr lang="zh-CN" altLang="en-US" sz="2000" b="1" dirty="0">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1508002401"/>
      </p:ext>
    </p:extLst>
  </p:cSld>
  <p:clrMapOvr>
    <a:masterClrMapping/>
  </p:clrMapOvr>
  <p:transition spd="med">
    <p:random/>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灯片编号占位符 1"/>
          <p:cNvSpPr>
            <a:spLocks noGrp="1"/>
          </p:cNvSpPr>
          <p:nvPr>
            <p:ph type="sldNum" sz="quarter" idx="11"/>
          </p:nvPr>
        </p:nvSpPr>
        <p:spPr/>
        <p:txBody>
          <a:bodyPr/>
          <a:lstStyle/>
          <a:p>
            <a:pPr>
              <a:defRPr/>
            </a:pPr>
            <a:fld id="{56636351-7D5B-47CE-B54D-C31E7589E5E2}" type="slidenum">
              <a:rPr lang="en-US" altLang="zh-CN" smtClean="0"/>
              <a:pPr>
                <a:defRPr/>
              </a:pPr>
              <a:t>41</a:t>
            </a:fld>
            <a:endParaRPr lang="en-US" altLang="zh-CN" dirty="0"/>
          </a:p>
        </p:txBody>
      </p:sp>
      <p:sp>
        <p:nvSpPr>
          <p:cNvPr id="3" name="矩形 2"/>
          <p:cNvSpPr/>
          <p:nvPr/>
        </p:nvSpPr>
        <p:spPr>
          <a:xfrm>
            <a:off x="179512" y="188640"/>
            <a:ext cx="7632848" cy="6740307"/>
          </a:xfrm>
          <a:prstGeom prst="rect">
            <a:avLst/>
          </a:prstGeom>
        </p:spPr>
        <p:txBody>
          <a:bodyPr wrap="square">
            <a:spAutoFit/>
          </a:bodyPr>
          <a:lstStyle/>
          <a:p>
            <a:r>
              <a:rPr lang="en-US" altLang="zh-CN" sz="2400" b="1" dirty="0"/>
              <a:t>#include &lt;stdio.h&gt;</a:t>
            </a:r>
          </a:p>
          <a:p>
            <a:r>
              <a:rPr lang="en-US" altLang="zh-CN" sz="2400" b="1" dirty="0"/>
              <a:t>#define N 10</a:t>
            </a:r>
          </a:p>
          <a:p>
            <a:r>
              <a:rPr lang="en-US" altLang="zh-CN" sz="2400" b="1" dirty="0"/>
              <a:t>int main()</a:t>
            </a:r>
          </a:p>
          <a:p>
            <a:r>
              <a:rPr lang="en-US" altLang="zh-CN" sz="2400" b="1" dirty="0"/>
              <a:t>{   </a:t>
            </a:r>
          </a:p>
          <a:p>
            <a:r>
              <a:rPr lang="en-US" altLang="zh-CN" sz="2400" b="1" dirty="0" smtClean="0"/>
              <a:t>    </a:t>
            </a:r>
            <a:r>
              <a:rPr lang="en-US" altLang="zh-CN" sz="2400" b="1" dirty="0" err="1" smtClean="0"/>
              <a:t>int</a:t>
            </a:r>
            <a:r>
              <a:rPr lang="en-US" altLang="zh-CN" sz="2400" b="1" dirty="0" smtClean="0"/>
              <a:t> </a:t>
            </a:r>
            <a:r>
              <a:rPr lang="en-US" altLang="zh-CN" sz="2400" b="1" dirty="0"/>
              <a:t>i, flag, x,a[N]; </a:t>
            </a:r>
          </a:p>
          <a:p>
            <a:r>
              <a:rPr lang="en-US" altLang="zh-CN" sz="2400" b="1" dirty="0"/>
              <a:t>    for(i = 0; i &lt; N; i++) </a:t>
            </a:r>
          </a:p>
          <a:p>
            <a:r>
              <a:rPr lang="en-US" altLang="zh-CN" sz="2400" b="1" dirty="0"/>
              <a:t>        scanf("%d", &amp;a[i]);</a:t>
            </a:r>
          </a:p>
          <a:p>
            <a:r>
              <a:rPr lang="en-US" altLang="zh-CN" sz="2400" b="1" dirty="0"/>
              <a:t>    scanf("%d", &amp;x);</a:t>
            </a:r>
          </a:p>
          <a:p>
            <a:r>
              <a:rPr lang="en-US" altLang="zh-CN" sz="2400" b="1" dirty="0"/>
              <a:t>    flag = 0;</a:t>
            </a:r>
          </a:p>
          <a:p>
            <a:r>
              <a:rPr lang="en-US" altLang="zh-CN" sz="2400" b="1" dirty="0"/>
              <a:t>    for(i = 0; i &lt; N; i++) </a:t>
            </a:r>
          </a:p>
          <a:p>
            <a:r>
              <a:rPr lang="en-US" altLang="zh-CN" sz="2400" b="1" dirty="0"/>
              <a:t>        if(a[i] == x){ </a:t>
            </a:r>
          </a:p>
          <a:p>
            <a:r>
              <a:rPr lang="en-US" altLang="zh-CN" sz="2400" b="1" dirty="0"/>
              <a:t>            printf("Index is %d\n", i);</a:t>
            </a:r>
          </a:p>
          <a:p>
            <a:r>
              <a:rPr lang="en-US" altLang="zh-CN" sz="2400" b="1" dirty="0"/>
              <a:t>            flag = 1;</a:t>
            </a:r>
          </a:p>
          <a:p>
            <a:r>
              <a:rPr lang="en-US" altLang="zh-CN" sz="2400" b="1" dirty="0"/>
              <a:t>            </a:t>
            </a:r>
            <a:r>
              <a:rPr lang="en-US" altLang="zh-CN" sz="2400" b="1" dirty="0">
                <a:solidFill>
                  <a:srgbClr val="FF0000"/>
                </a:solidFill>
              </a:rPr>
              <a:t>break</a:t>
            </a:r>
            <a:r>
              <a:rPr lang="en-US" altLang="zh-CN" sz="2400" b="1" dirty="0"/>
              <a:t>;</a:t>
            </a:r>
          </a:p>
          <a:p>
            <a:r>
              <a:rPr lang="en-US" altLang="zh-CN" sz="2400" b="1" dirty="0"/>
              <a:t>        }</a:t>
            </a:r>
          </a:p>
          <a:p>
            <a:r>
              <a:rPr lang="en-US" altLang="zh-CN" sz="2400" b="1" dirty="0"/>
              <a:t>    if(flag == 0)  printf("Not Found\n");</a:t>
            </a:r>
          </a:p>
          <a:p>
            <a:r>
              <a:rPr lang="en-US" altLang="zh-CN" sz="2400" b="1" dirty="0"/>
              <a:t>    return 0;</a:t>
            </a:r>
          </a:p>
          <a:p>
            <a:r>
              <a:rPr lang="en-US" altLang="zh-CN" sz="2400" b="1" dirty="0"/>
              <a:t>} </a:t>
            </a:r>
            <a:endParaRPr lang="zh-CN" altLang="en-US" sz="2400" b="1" dirty="0"/>
          </a:p>
        </p:txBody>
      </p:sp>
      <p:graphicFrame>
        <p:nvGraphicFramePr>
          <p:cNvPr id="4" name="表格 3"/>
          <p:cNvGraphicFramePr>
            <a:graphicFrameLocks noGrp="1"/>
          </p:cNvGraphicFramePr>
          <p:nvPr>
            <p:extLst>
              <p:ext uri="{D42A27DB-BD31-4B8C-83A1-F6EECF244321}">
                <p14:modId xmlns:p14="http://schemas.microsoft.com/office/powerpoint/2010/main" val="3809164783"/>
              </p:ext>
            </p:extLst>
          </p:nvPr>
        </p:nvGraphicFramePr>
        <p:xfrm>
          <a:off x="5508104" y="692696"/>
          <a:ext cx="3384374" cy="335280"/>
        </p:xfrm>
        <a:graphic>
          <a:graphicData uri="http://schemas.openxmlformats.org/drawingml/2006/table">
            <a:tbl>
              <a:tblPr firstRow="1" bandRow="1">
                <a:tableStyleId>{5C22544A-7EE6-4342-B048-85BDC9FD1C3A}</a:tableStyleId>
              </a:tblPr>
              <a:tblGrid>
                <a:gridCol w="641027">
                  <a:extLst>
                    <a:ext uri="{9D8B030D-6E8A-4147-A177-3AD203B41FA5}">
                      <a16:colId xmlns:a16="http://schemas.microsoft.com/office/drawing/2014/main" xmlns="" val="4573996"/>
                    </a:ext>
                  </a:extLst>
                </a:gridCol>
                <a:gridCol w="641027">
                  <a:extLst>
                    <a:ext uri="{9D8B030D-6E8A-4147-A177-3AD203B41FA5}">
                      <a16:colId xmlns:a16="http://schemas.microsoft.com/office/drawing/2014/main" xmlns="" val="1940628640"/>
                    </a:ext>
                  </a:extLst>
                </a:gridCol>
                <a:gridCol w="641027">
                  <a:extLst>
                    <a:ext uri="{9D8B030D-6E8A-4147-A177-3AD203B41FA5}">
                      <a16:colId xmlns:a16="http://schemas.microsoft.com/office/drawing/2014/main" xmlns="" val="1224197718"/>
                    </a:ext>
                  </a:extLst>
                </a:gridCol>
                <a:gridCol w="748794">
                  <a:extLst>
                    <a:ext uri="{9D8B030D-6E8A-4147-A177-3AD203B41FA5}">
                      <a16:colId xmlns:a16="http://schemas.microsoft.com/office/drawing/2014/main" xmlns="" val="2244228631"/>
                    </a:ext>
                  </a:extLst>
                </a:gridCol>
                <a:gridCol w="712499">
                  <a:extLst>
                    <a:ext uri="{9D8B030D-6E8A-4147-A177-3AD203B41FA5}">
                      <a16:colId xmlns:a16="http://schemas.microsoft.com/office/drawing/2014/main" xmlns="" val="2047208367"/>
                    </a:ext>
                  </a:extLst>
                </a:gridCol>
              </a:tblGrid>
              <a:tr h="298832">
                <a:tc>
                  <a:txBody>
                    <a:bodyPr/>
                    <a:lstStyle/>
                    <a:p>
                      <a:r>
                        <a:rPr lang="en-US" altLang="zh-CN" sz="1600" dirty="0" smtClean="0">
                          <a:solidFill>
                            <a:schemeClr val="tx1"/>
                          </a:solidFill>
                        </a:rPr>
                        <a:t>a[0]</a:t>
                      </a:r>
                      <a:endParaRPr lang="zh-CN" altLang="en-US" sz="16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a[1]</a:t>
                      </a:r>
                      <a:endParaRPr lang="zh-CN" altLang="en-US" sz="1600" dirty="0" smtClean="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a[2]</a:t>
                      </a:r>
                      <a:endParaRPr lang="zh-CN" altLang="en-US" sz="1600" dirty="0" smtClean="0">
                        <a:solidFill>
                          <a:schemeClr val="tx1"/>
                        </a:solidFill>
                      </a:endParaRPr>
                    </a:p>
                  </a:txBody>
                  <a:tcPr/>
                </a:tc>
                <a:tc>
                  <a:txBody>
                    <a:bodyPr/>
                    <a:lstStyle/>
                    <a:p>
                      <a:r>
                        <a:rPr lang="en-US" altLang="zh-CN" sz="1600" dirty="0" smtClean="0">
                          <a:solidFill>
                            <a:schemeClr val="tx1"/>
                          </a:solidFill>
                        </a:rPr>
                        <a:t>……</a:t>
                      </a:r>
                      <a:endParaRPr lang="zh-CN" altLang="en-US" sz="16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a[n-1]</a:t>
                      </a:r>
                      <a:endParaRPr lang="zh-CN" altLang="en-US" sz="1600" dirty="0" smtClean="0">
                        <a:solidFill>
                          <a:schemeClr val="tx1"/>
                        </a:solidFill>
                      </a:endParaRPr>
                    </a:p>
                  </a:txBody>
                  <a:tcPr/>
                </a:tc>
                <a:extLst>
                  <a:ext uri="{0D108BD9-81ED-4DB2-BD59-A6C34878D82A}">
                    <a16:rowId xmlns:a16="http://schemas.microsoft.com/office/drawing/2014/main" xmlns="" val="241969233"/>
                  </a:ext>
                </a:extLst>
              </a:tr>
            </a:tbl>
          </a:graphicData>
        </a:graphic>
      </p:graphicFrame>
      <p:cxnSp>
        <p:nvCxnSpPr>
          <p:cNvPr id="5" name="直接箭头连接符 4"/>
          <p:cNvCxnSpPr/>
          <p:nvPr/>
        </p:nvCxnSpPr>
        <p:spPr bwMode="auto">
          <a:xfrm flipV="1">
            <a:off x="5796136" y="988625"/>
            <a:ext cx="0" cy="456808"/>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 name="组合 5"/>
          <p:cNvGrpSpPr/>
          <p:nvPr/>
        </p:nvGrpSpPr>
        <p:grpSpPr>
          <a:xfrm>
            <a:off x="6084168" y="1596933"/>
            <a:ext cx="720080" cy="648072"/>
            <a:chOff x="6804248" y="1920969"/>
            <a:chExt cx="720080" cy="648072"/>
          </a:xfrm>
        </p:grpSpPr>
        <p:sp>
          <p:nvSpPr>
            <p:cNvPr id="7" name="椭圆 6"/>
            <p:cNvSpPr/>
            <p:nvPr/>
          </p:nvSpPr>
          <p:spPr bwMode="auto">
            <a:xfrm>
              <a:off x="6804248" y="1920969"/>
              <a:ext cx="648072" cy="648072"/>
            </a:xfrm>
            <a:prstGeom prst="ellipse">
              <a:avLst/>
            </a:prstGeom>
            <a:noFill/>
            <a:ln w="381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smtClean="0">
                  <a:ln>
                    <a:noFill/>
                  </a:ln>
                  <a:solidFill>
                    <a:schemeClr val="accent4"/>
                  </a:solidFill>
                  <a:effectLst/>
                  <a:latin typeface="Arial" charset="0"/>
                  <a:ea typeface="宋体" pitchFamily="2" charset="-122"/>
                </a:rPr>
                <a:t> </a:t>
              </a:r>
              <a:endParaRPr kumimoji="0" lang="zh-CN" altLang="en-US" sz="2000" b="0" i="0" u="none" strike="noStrike" cap="none" normalizeH="0" baseline="0" dirty="0" smtClean="0">
                <a:ln>
                  <a:noFill/>
                </a:ln>
                <a:solidFill>
                  <a:schemeClr val="accent4"/>
                </a:solidFill>
                <a:effectLst/>
                <a:latin typeface="Arial" charset="0"/>
                <a:ea typeface="宋体" pitchFamily="2" charset="-122"/>
              </a:endParaRPr>
            </a:p>
          </p:txBody>
        </p:sp>
        <p:sp>
          <p:nvSpPr>
            <p:cNvPr id="8" name="文本框 7"/>
            <p:cNvSpPr txBox="1"/>
            <p:nvPr/>
          </p:nvSpPr>
          <p:spPr>
            <a:xfrm>
              <a:off x="6804248" y="2027614"/>
              <a:ext cx="720080" cy="400110"/>
            </a:xfrm>
            <a:prstGeom prst="rect">
              <a:avLst/>
            </a:prstGeom>
            <a:noFill/>
          </p:spPr>
          <p:txBody>
            <a:bodyPr wrap="square" rtlCol="0">
              <a:spAutoFit/>
            </a:bodyPr>
            <a:lstStyle/>
            <a:p>
              <a:pPr algn="ctr"/>
              <a:r>
                <a:rPr lang="en-US" altLang="zh-CN" sz="2000" b="1" dirty="0">
                  <a:effectLst>
                    <a:outerShdw blurRad="38100" dist="38100" dir="2700000" algn="tl">
                      <a:srgbClr val="000000">
                        <a:alpha val="43137"/>
                      </a:srgbClr>
                    </a:outerShdw>
                  </a:effectLst>
                </a:rPr>
                <a:t>x</a:t>
              </a:r>
              <a:endParaRPr lang="zh-CN" altLang="en-US" sz="2000" b="1" dirty="0">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1197644911"/>
      </p:ext>
    </p:extLst>
  </p:cSld>
  <p:clrMapOvr>
    <a:masterClrMapping/>
  </p:clrMapOvr>
  <p:transition spd="med">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42</a:t>
            </a:fld>
            <a:endParaRPr lang="en-US" altLang="zh-CN" dirty="0"/>
          </a:p>
        </p:txBody>
      </p:sp>
      <p:sp>
        <p:nvSpPr>
          <p:cNvPr id="3" name="Content Placeholder 2"/>
          <p:cNvSpPr>
            <a:spLocks noGrp="1"/>
          </p:cNvSpPr>
          <p:nvPr>
            <p:ph idx="4294967295"/>
          </p:nvPr>
        </p:nvSpPr>
        <p:spPr>
          <a:xfrm>
            <a:off x="827584" y="836712"/>
            <a:ext cx="7993062" cy="4537075"/>
          </a:xfrm>
        </p:spPr>
        <p:txBody>
          <a:bodyPr/>
          <a:lstStyle/>
          <a:p>
            <a:r>
              <a:rPr lang="en-US" altLang="zh-TW" dirty="0">
                <a:solidFill>
                  <a:srgbClr val="0066FF"/>
                </a:solidFill>
              </a:rPr>
              <a:t>【</a:t>
            </a:r>
            <a:r>
              <a:rPr lang="zh-TW" altLang="en-US" dirty="0">
                <a:solidFill>
                  <a:srgbClr val="0066FF"/>
                </a:solidFill>
              </a:rPr>
              <a:t>例</a:t>
            </a:r>
            <a:r>
              <a:rPr lang="en-US" altLang="zh-TW" dirty="0">
                <a:solidFill>
                  <a:srgbClr val="0066FF"/>
                </a:solidFill>
              </a:rPr>
              <a:t>4-6】</a:t>
            </a:r>
            <a:r>
              <a:rPr lang="zh-TW" altLang="en-US" dirty="0">
                <a:solidFill>
                  <a:srgbClr val="0066FF"/>
                </a:solidFill>
              </a:rPr>
              <a:t>二分查找</a:t>
            </a:r>
            <a:r>
              <a:rPr lang="zh-TW" altLang="en-US" dirty="0" smtClean="0">
                <a:solidFill>
                  <a:srgbClr val="0066FF"/>
                </a:solidFill>
              </a:rPr>
              <a:t>。</a:t>
            </a:r>
            <a:r>
              <a:rPr lang="zh-CN" altLang="en-US" dirty="0" smtClean="0">
                <a:solidFill>
                  <a:srgbClr val="0066FF"/>
                </a:solidFill>
              </a:rPr>
              <a:t>折半查找法。</a:t>
            </a:r>
            <a:r>
              <a:rPr lang="zh-TW" altLang="en-US" dirty="0" smtClean="0">
                <a:solidFill>
                  <a:srgbClr val="0066FF"/>
                </a:solidFill>
              </a:rPr>
              <a:t>给定</a:t>
            </a:r>
            <a:r>
              <a:rPr lang="zh-TW" altLang="en-US" dirty="0">
                <a:solidFill>
                  <a:srgbClr val="0066FF"/>
                </a:solidFill>
              </a:rPr>
              <a:t>一个</a:t>
            </a:r>
            <a:r>
              <a:rPr lang="zh-TW" altLang="en-US" dirty="0">
                <a:solidFill>
                  <a:srgbClr val="FF0000"/>
                </a:solidFill>
              </a:rPr>
              <a:t>有序</a:t>
            </a:r>
            <a:r>
              <a:rPr lang="zh-TW" altLang="en-US" dirty="0">
                <a:solidFill>
                  <a:srgbClr val="0066FF"/>
                </a:solidFill>
              </a:rPr>
              <a:t>的数列，查找指定的数值。如果查询到该数值返回该数值在数组中的位置</a:t>
            </a:r>
            <a:r>
              <a:rPr lang="zh-TW" altLang="en-US" dirty="0" smtClean="0">
                <a:solidFill>
                  <a:srgbClr val="0066FF"/>
                </a:solidFill>
              </a:rPr>
              <a:t>。</a:t>
            </a:r>
            <a:endParaRPr lang="en-US" dirty="0">
              <a:solidFill>
                <a:srgbClr val="0066FF"/>
              </a:solidFill>
            </a:endParaRPr>
          </a:p>
        </p:txBody>
      </p:sp>
      <p:sp>
        <p:nvSpPr>
          <p:cNvPr id="7" name="Content Placeholder 2"/>
          <p:cNvSpPr txBox="1">
            <a:spLocks/>
          </p:cNvSpPr>
          <p:nvPr/>
        </p:nvSpPr>
        <p:spPr bwMode="auto">
          <a:xfrm>
            <a:off x="971600" y="2492896"/>
            <a:ext cx="7488832" cy="1766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rgbClr val="FF3300"/>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rgbClr val="3333FF"/>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a:lstStyle>
          <a:p>
            <a:pPr lvl="1"/>
            <a:r>
              <a:rPr lang="zh-TW" altLang="en-US" dirty="0" smtClean="0">
                <a:solidFill>
                  <a:srgbClr val="0066FF"/>
                </a:solidFill>
              </a:rPr>
              <a:t>分析：给定一个有序数列，二分查找方法根据中位数来判断是否满足。否则，根据中位数大小来决定查找区域落到左半部分还是右半部分，进而继续查找，直至查询结束。 </a:t>
            </a:r>
            <a:endParaRPr lang="en-US" dirty="0">
              <a:solidFill>
                <a:srgbClr val="0066FF"/>
              </a:solidFill>
            </a:endParaRPr>
          </a:p>
        </p:txBody>
      </p:sp>
      <p:graphicFrame>
        <p:nvGraphicFramePr>
          <p:cNvPr id="5" name="表格 4"/>
          <p:cNvGraphicFramePr>
            <a:graphicFrameLocks noGrp="1"/>
          </p:cNvGraphicFramePr>
          <p:nvPr>
            <p:extLst>
              <p:ext uri="{D42A27DB-BD31-4B8C-83A1-F6EECF244321}">
                <p14:modId xmlns:p14="http://schemas.microsoft.com/office/powerpoint/2010/main" val="2406838513"/>
              </p:ext>
            </p:extLst>
          </p:nvPr>
        </p:nvGraphicFramePr>
        <p:xfrm>
          <a:off x="1216400" y="4812391"/>
          <a:ext cx="7272810" cy="335280"/>
        </p:xfrm>
        <a:graphic>
          <a:graphicData uri="http://schemas.openxmlformats.org/drawingml/2006/table">
            <a:tbl>
              <a:tblPr firstRow="1" bandRow="1">
                <a:tableStyleId>{5C22544A-7EE6-4342-B048-85BDC9FD1C3A}</a:tableStyleId>
              </a:tblPr>
              <a:tblGrid>
                <a:gridCol w="727281">
                  <a:extLst>
                    <a:ext uri="{9D8B030D-6E8A-4147-A177-3AD203B41FA5}">
                      <a16:colId xmlns:a16="http://schemas.microsoft.com/office/drawing/2014/main" xmlns="" val="4573996"/>
                    </a:ext>
                  </a:extLst>
                </a:gridCol>
                <a:gridCol w="727281">
                  <a:extLst>
                    <a:ext uri="{9D8B030D-6E8A-4147-A177-3AD203B41FA5}">
                      <a16:colId xmlns:a16="http://schemas.microsoft.com/office/drawing/2014/main" xmlns="" val="1940628640"/>
                    </a:ext>
                  </a:extLst>
                </a:gridCol>
                <a:gridCol w="727281">
                  <a:extLst>
                    <a:ext uri="{9D8B030D-6E8A-4147-A177-3AD203B41FA5}">
                      <a16:colId xmlns:a16="http://schemas.microsoft.com/office/drawing/2014/main" xmlns="" val="1224197718"/>
                    </a:ext>
                  </a:extLst>
                </a:gridCol>
                <a:gridCol w="727281">
                  <a:extLst>
                    <a:ext uri="{9D8B030D-6E8A-4147-A177-3AD203B41FA5}">
                      <a16:colId xmlns:a16="http://schemas.microsoft.com/office/drawing/2014/main" xmlns="" val="2244228631"/>
                    </a:ext>
                  </a:extLst>
                </a:gridCol>
                <a:gridCol w="727281">
                  <a:extLst>
                    <a:ext uri="{9D8B030D-6E8A-4147-A177-3AD203B41FA5}">
                      <a16:colId xmlns:a16="http://schemas.microsoft.com/office/drawing/2014/main" xmlns="" val="86740440"/>
                    </a:ext>
                  </a:extLst>
                </a:gridCol>
                <a:gridCol w="727281">
                  <a:extLst>
                    <a:ext uri="{9D8B030D-6E8A-4147-A177-3AD203B41FA5}">
                      <a16:colId xmlns:a16="http://schemas.microsoft.com/office/drawing/2014/main" xmlns="" val="283601583"/>
                    </a:ext>
                  </a:extLst>
                </a:gridCol>
                <a:gridCol w="727281">
                  <a:extLst>
                    <a:ext uri="{9D8B030D-6E8A-4147-A177-3AD203B41FA5}">
                      <a16:colId xmlns:a16="http://schemas.microsoft.com/office/drawing/2014/main" xmlns="" val="2808256216"/>
                    </a:ext>
                  </a:extLst>
                </a:gridCol>
                <a:gridCol w="727281">
                  <a:extLst>
                    <a:ext uri="{9D8B030D-6E8A-4147-A177-3AD203B41FA5}">
                      <a16:colId xmlns:a16="http://schemas.microsoft.com/office/drawing/2014/main" xmlns="" val="632204425"/>
                    </a:ext>
                  </a:extLst>
                </a:gridCol>
                <a:gridCol w="727281">
                  <a:extLst>
                    <a:ext uri="{9D8B030D-6E8A-4147-A177-3AD203B41FA5}">
                      <a16:colId xmlns:a16="http://schemas.microsoft.com/office/drawing/2014/main" xmlns="" val="3145119439"/>
                    </a:ext>
                  </a:extLst>
                </a:gridCol>
                <a:gridCol w="727281">
                  <a:extLst>
                    <a:ext uri="{9D8B030D-6E8A-4147-A177-3AD203B41FA5}">
                      <a16:colId xmlns:a16="http://schemas.microsoft.com/office/drawing/2014/main" xmlns="" val="2047208367"/>
                    </a:ext>
                  </a:extLst>
                </a:gridCol>
              </a:tblGrid>
              <a:tr h="298832">
                <a:tc>
                  <a:txBody>
                    <a:bodyPr/>
                    <a:lstStyle/>
                    <a:p>
                      <a:pPr algn="ctr"/>
                      <a:r>
                        <a:rPr lang="en-US" altLang="zh-CN" sz="1600" dirty="0" smtClean="0">
                          <a:solidFill>
                            <a:schemeClr val="tx1"/>
                          </a:solidFill>
                        </a:rPr>
                        <a:t>0</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1</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2</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3</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4</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5</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6</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7</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8</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9</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1969233"/>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2208657654"/>
              </p:ext>
            </p:extLst>
          </p:nvPr>
        </p:nvGraphicFramePr>
        <p:xfrm>
          <a:off x="1210395" y="4313879"/>
          <a:ext cx="7272810" cy="335280"/>
        </p:xfrm>
        <a:graphic>
          <a:graphicData uri="http://schemas.openxmlformats.org/drawingml/2006/table">
            <a:tbl>
              <a:tblPr firstRow="1" bandRow="1">
                <a:tableStyleId>{5C22544A-7EE6-4342-B048-85BDC9FD1C3A}</a:tableStyleId>
              </a:tblPr>
              <a:tblGrid>
                <a:gridCol w="727281">
                  <a:extLst>
                    <a:ext uri="{9D8B030D-6E8A-4147-A177-3AD203B41FA5}">
                      <a16:colId xmlns:a16="http://schemas.microsoft.com/office/drawing/2014/main" xmlns="" val="4573996"/>
                    </a:ext>
                  </a:extLst>
                </a:gridCol>
                <a:gridCol w="727281">
                  <a:extLst>
                    <a:ext uri="{9D8B030D-6E8A-4147-A177-3AD203B41FA5}">
                      <a16:colId xmlns:a16="http://schemas.microsoft.com/office/drawing/2014/main" xmlns="" val="1940628640"/>
                    </a:ext>
                  </a:extLst>
                </a:gridCol>
                <a:gridCol w="727281">
                  <a:extLst>
                    <a:ext uri="{9D8B030D-6E8A-4147-A177-3AD203B41FA5}">
                      <a16:colId xmlns:a16="http://schemas.microsoft.com/office/drawing/2014/main" xmlns="" val="1224197718"/>
                    </a:ext>
                  </a:extLst>
                </a:gridCol>
                <a:gridCol w="727281">
                  <a:extLst>
                    <a:ext uri="{9D8B030D-6E8A-4147-A177-3AD203B41FA5}">
                      <a16:colId xmlns:a16="http://schemas.microsoft.com/office/drawing/2014/main" xmlns="" val="2244228631"/>
                    </a:ext>
                  </a:extLst>
                </a:gridCol>
                <a:gridCol w="727281">
                  <a:extLst>
                    <a:ext uri="{9D8B030D-6E8A-4147-A177-3AD203B41FA5}">
                      <a16:colId xmlns:a16="http://schemas.microsoft.com/office/drawing/2014/main" xmlns="" val="86740440"/>
                    </a:ext>
                  </a:extLst>
                </a:gridCol>
                <a:gridCol w="727281">
                  <a:extLst>
                    <a:ext uri="{9D8B030D-6E8A-4147-A177-3AD203B41FA5}">
                      <a16:colId xmlns:a16="http://schemas.microsoft.com/office/drawing/2014/main" xmlns="" val="283601583"/>
                    </a:ext>
                  </a:extLst>
                </a:gridCol>
                <a:gridCol w="727281">
                  <a:extLst>
                    <a:ext uri="{9D8B030D-6E8A-4147-A177-3AD203B41FA5}">
                      <a16:colId xmlns:a16="http://schemas.microsoft.com/office/drawing/2014/main" xmlns="" val="2808256216"/>
                    </a:ext>
                  </a:extLst>
                </a:gridCol>
                <a:gridCol w="727281">
                  <a:extLst>
                    <a:ext uri="{9D8B030D-6E8A-4147-A177-3AD203B41FA5}">
                      <a16:colId xmlns:a16="http://schemas.microsoft.com/office/drawing/2014/main" xmlns="" val="632204425"/>
                    </a:ext>
                  </a:extLst>
                </a:gridCol>
                <a:gridCol w="727281">
                  <a:extLst>
                    <a:ext uri="{9D8B030D-6E8A-4147-A177-3AD203B41FA5}">
                      <a16:colId xmlns:a16="http://schemas.microsoft.com/office/drawing/2014/main" xmlns="" val="3145119439"/>
                    </a:ext>
                  </a:extLst>
                </a:gridCol>
                <a:gridCol w="727281">
                  <a:extLst>
                    <a:ext uri="{9D8B030D-6E8A-4147-A177-3AD203B41FA5}">
                      <a16:colId xmlns:a16="http://schemas.microsoft.com/office/drawing/2014/main" xmlns="" val="2047208367"/>
                    </a:ext>
                  </a:extLst>
                </a:gridCol>
              </a:tblGrid>
              <a:tr h="298832">
                <a:tc>
                  <a:txBody>
                    <a:bodyPr/>
                    <a:lstStyle/>
                    <a:p>
                      <a:pPr algn="ctr"/>
                      <a:r>
                        <a:rPr lang="en-US" altLang="zh-CN" sz="1600" dirty="0" smtClean="0">
                          <a:solidFill>
                            <a:schemeClr val="tx1"/>
                          </a:solidFill>
                        </a:rPr>
                        <a:t>1</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2</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3</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4</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5</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6</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7</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8</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9</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10</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1969233"/>
                  </a:ext>
                </a:extLst>
              </a:tr>
            </a:tbl>
          </a:graphicData>
        </a:graphic>
      </p:graphicFrame>
      <p:grpSp>
        <p:nvGrpSpPr>
          <p:cNvPr id="19" name="组合 18"/>
          <p:cNvGrpSpPr/>
          <p:nvPr/>
        </p:nvGrpSpPr>
        <p:grpSpPr>
          <a:xfrm>
            <a:off x="8496610" y="5676422"/>
            <a:ext cx="648072" cy="632833"/>
            <a:chOff x="1223628" y="5147671"/>
            <a:chExt cx="648072" cy="632833"/>
          </a:xfrm>
        </p:grpSpPr>
        <p:cxnSp>
          <p:nvCxnSpPr>
            <p:cNvPr id="8" name="直接箭头连接符 7"/>
            <p:cNvCxnSpPr/>
            <p:nvPr/>
          </p:nvCxnSpPr>
          <p:spPr bwMode="auto">
            <a:xfrm flipV="1">
              <a:off x="1547664" y="5147671"/>
              <a:ext cx="0" cy="297553"/>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矩形 9"/>
            <p:cNvSpPr/>
            <p:nvPr/>
          </p:nvSpPr>
          <p:spPr bwMode="auto">
            <a:xfrm>
              <a:off x="1223628" y="5445224"/>
              <a:ext cx="648072"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low</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grpSp>
        <p:nvGrpSpPr>
          <p:cNvPr id="14" name="组合 13"/>
          <p:cNvGrpSpPr/>
          <p:nvPr/>
        </p:nvGrpSpPr>
        <p:grpSpPr>
          <a:xfrm>
            <a:off x="7800181" y="5147671"/>
            <a:ext cx="640184" cy="632833"/>
            <a:chOff x="7780300" y="5147671"/>
            <a:chExt cx="640184" cy="632833"/>
          </a:xfrm>
        </p:grpSpPr>
        <p:cxnSp>
          <p:nvCxnSpPr>
            <p:cNvPr id="9" name="直接箭头连接符 8"/>
            <p:cNvCxnSpPr/>
            <p:nvPr/>
          </p:nvCxnSpPr>
          <p:spPr bwMode="auto">
            <a:xfrm flipV="1">
              <a:off x="8100392" y="5147671"/>
              <a:ext cx="0" cy="297553"/>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矩形 10"/>
            <p:cNvSpPr/>
            <p:nvPr/>
          </p:nvSpPr>
          <p:spPr bwMode="auto">
            <a:xfrm>
              <a:off x="7780300" y="5445224"/>
              <a:ext cx="640184"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high</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sp>
        <p:nvSpPr>
          <p:cNvPr id="12" name="矩形 11"/>
          <p:cNvSpPr/>
          <p:nvPr/>
        </p:nvSpPr>
        <p:spPr bwMode="auto">
          <a:xfrm>
            <a:off x="503548" y="4313879"/>
            <a:ext cx="648072"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dirty="0" smtClean="0">
                <a:ln>
                  <a:noFill/>
                </a:ln>
                <a:solidFill>
                  <a:schemeClr val="tx1"/>
                </a:solidFill>
                <a:effectLst/>
                <a:latin typeface="Arial" charset="0"/>
                <a:ea typeface="宋体" pitchFamily="2" charset="-122"/>
              </a:rPr>
              <a:t>数值</a:t>
            </a:r>
          </a:p>
        </p:txBody>
      </p:sp>
      <p:sp>
        <p:nvSpPr>
          <p:cNvPr id="13" name="矩形 12"/>
          <p:cNvSpPr/>
          <p:nvPr/>
        </p:nvSpPr>
        <p:spPr bwMode="auto">
          <a:xfrm>
            <a:off x="503548" y="4812391"/>
            <a:ext cx="648072"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1400" b="1" dirty="0"/>
              <a:t>a</a:t>
            </a:r>
            <a:r>
              <a:rPr lang="zh-CN" altLang="en-US" sz="1400" b="1" dirty="0" smtClean="0"/>
              <a:t>下标</a:t>
            </a:r>
            <a:endParaRPr kumimoji="0" lang="zh-CN" altLang="en-US" sz="1400" b="1" i="0" u="none" strike="noStrike" cap="none" normalizeH="0" baseline="0" dirty="0" smtClean="0">
              <a:ln>
                <a:noFill/>
              </a:ln>
              <a:solidFill>
                <a:schemeClr val="tx1"/>
              </a:solidFill>
              <a:effectLst/>
            </a:endParaRPr>
          </a:p>
        </p:txBody>
      </p:sp>
      <p:grpSp>
        <p:nvGrpSpPr>
          <p:cNvPr id="15" name="组合 14"/>
          <p:cNvGrpSpPr/>
          <p:nvPr/>
        </p:nvGrpSpPr>
        <p:grpSpPr>
          <a:xfrm>
            <a:off x="7843021" y="6203445"/>
            <a:ext cx="640184" cy="632833"/>
            <a:chOff x="7780300" y="5147671"/>
            <a:chExt cx="640184" cy="632833"/>
          </a:xfrm>
        </p:grpSpPr>
        <p:cxnSp>
          <p:nvCxnSpPr>
            <p:cNvPr id="16" name="直接箭头连接符 15"/>
            <p:cNvCxnSpPr/>
            <p:nvPr/>
          </p:nvCxnSpPr>
          <p:spPr bwMode="auto">
            <a:xfrm flipV="1">
              <a:off x="8100392" y="5147671"/>
              <a:ext cx="0" cy="297553"/>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矩形 16"/>
            <p:cNvSpPr/>
            <p:nvPr/>
          </p:nvSpPr>
          <p:spPr bwMode="auto">
            <a:xfrm>
              <a:off x="7780300" y="5445224"/>
              <a:ext cx="640184"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1600" b="1" dirty="0" smtClean="0"/>
                <a:t>mid</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sp>
        <p:nvSpPr>
          <p:cNvPr id="18" name="矩形 17"/>
          <p:cNvSpPr/>
          <p:nvPr/>
        </p:nvSpPr>
        <p:spPr bwMode="auto">
          <a:xfrm>
            <a:off x="2771800" y="6278134"/>
            <a:ext cx="1301007"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x==a[mid]?</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sp>
        <p:nvSpPr>
          <p:cNvPr id="20" name="矩形 19"/>
          <p:cNvSpPr/>
          <p:nvPr/>
        </p:nvSpPr>
        <p:spPr bwMode="auto">
          <a:xfrm>
            <a:off x="1151620" y="6278134"/>
            <a:ext cx="675603"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x=7</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sp>
        <p:nvSpPr>
          <p:cNvPr id="21" name="矩形 20"/>
          <p:cNvSpPr/>
          <p:nvPr/>
        </p:nvSpPr>
        <p:spPr bwMode="auto">
          <a:xfrm>
            <a:off x="4228536" y="6260234"/>
            <a:ext cx="675603"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x=5</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sp>
        <p:nvSpPr>
          <p:cNvPr id="22" name="矩形 21"/>
          <p:cNvSpPr/>
          <p:nvPr/>
        </p:nvSpPr>
        <p:spPr bwMode="auto">
          <a:xfrm>
            <a:off x="5292080" y="6260234"/>
            <a:ext cx="675603"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x=12</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581120568"/>
      </p:ext>
    </p:extLst>
  </p:cSld>
  <p:clrMapOvr>
    <a:masterClrMapping/>
  </p:clrMapOvr>
  <p:transition spd="med">
    <p:random/>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43</a:t>
            </a:fld>
            <a:endParaRPr lang="en-US" altLang="zh-CN" dirty="0"/>
          </a:p>
        </p:txBody>
      </p:sp>
      <p:sp>
        <p:nvSpPr>
          <p:cNvPr id="3" name="Content Placeholder 2"/>
          <p:cNvSpPr>
            <a:spLocks noGrp="1"/>
          </p:cNvSpPr>
          <p:nvPr>
            <p:ph idx="4294967295"/>
          </p:nvPr>
        </p:nvSpPr>
        <p:spPr>
          <a:xfrm>
            <a:off x="179512" y="72008"/>
            <a:ext cx="8352854" cy="6597352"/>
          </a:xfrm>
        </p:spPr>
        <p:txBody>
          <a:bodyPr/>
          <a:lstStyle/>
          <a:p>
            <a:pPr marL="0" indent="0">
              <a:lnSpc>
                <a:spcPct val="80000"/>
              </a:lnSpc>
              <a:buNone/>
            </a:pPr>
            <a:r>
              <a:rPr lang="en-US" sz="1900" dirty="0" smtClean="0">
                <a:solidFill>
                  <a:schemeClr val="tx1"/>
                </a:solidFill>
                <a:effectLst/>
              </a:rPr>
              <a:t>#</a:t>
            </a:r>
            <a:r>
              <a:rPr lang="en-US" sz="1900" dirty="0">
                <a:solidFill>
                  <a:schemeClr val="tx1"/>
                </a:solidFill>
                <a:effectLst/>
              </a:rPr>
              <a:t>define N 10</a:t>
            </a:r>
          </a:p>
          <a:p>
            <a:pPr marL="0" indent="0">
              <a:lnSpc>
                <a:spcPct val="80000"/>
              </a:lnSpc>
              <a:buNone/>
            </a:pPr>
            <a:r>
              <a:rPr lang="en-US" sz="1900" dirty="0">
                <a:solidFill>
                  <a:schemeClr val="tx1"/>
                </a:solidFill>
                <a:effectLst/>
              </a:rPr>
              <a:t>#include &lt;stdio.h&gt;</a:t>
            </a:r>
          </a:p>
          <a:p>
            <a:pPr marL="0" indent="0">
              <a:lnSpc>
                <a:spcPct val="80000"/>
              </a:lnSpc>
              <a:buNone/>
            </a:pPr>
            <a:r>
              <a:rPr lang="en-US" sz="1900" dirty="0">
                <a:solidFill>
                  <a:schemeClr val="tx1"/>
                </a:solidFill>
                <a:effectLst/>
              </a:rPr>
              <a:t>int main</a:t>
            </a:r>
            <a:r>
              <a:rPr lang="en-US" sz="1900" dirty="0" smtClean="0">
                <a:solidFill>
                  <a:schemeClr val="tx1"/>
                </a:solidFill>
                <a:effectLst/>
              </a:rPr>
              <a:t>()</a:t>
            </a:r>
          </a:p>
          <a:p>
            <a:pPr marL="0" indent="0">
              <a:lnSpc>
                <a:spcPct val="80000"/>
              </a:lnSpc>
              <a:buNone/>
            </a:pPr>
            <a:r>
              <a:rPr lang="en-US" sz="1900" dirty="0" smtClean="0">
                <a:solidFill>
                  <a:schemeClr val="tx1"/>
                </a:solidFill>
                <a:effectLst/>
              </a:rPr>
              <a:t>{</a:t>
            </a:r>
            <a:endParaRPr lang="en-US" sz="1900" dirty="0">
              <a:solidFill>
                <a:schemeClr val="tx1"/>
              </a:solidFill>
              <a:effectLst/>
            </a:endParaRPr>
          </a:p>
          <a:p>
            <a:pPr marL="0" indent="0">
              <a:lnSpc>
                <a:spcPct val="80000"/>
              </a:lnSpc>
              <a:buNone/>
            </a:pPr>
            <a:r>
              <a:rPr lang="en-US" sz="1900" dirty="0" smtClean="0">
                <a:solidFill>
                  <a:schemeClr val="tx1"/>
                </a:solidFill>
                <a:effectLst/>
              </a:rPr>
              <a:t>    int </a:t>
            </a:r>
            <a:r>
              <a:rPr lang="en-US" sz="1900" dirty="0">
                <a:solidFill>
                  <a:schemeClr val="tx1"/>
                </a:solidFill>
                <a:effectLst/>
              </a:rPr>
              <a:t>a[N]={1,2,3,4,5,6,7,8,9,10};</a:t>
            </a:r>
          </a:p>
          <a:p>
            <a:pPr marL="0" indent="0">
              <a:lnSpc>
                <a:spcPct val="80000"/>
              </a:lnSpc>
              <a:buNone/>
            </a:pPr>
            <a:r>
              <a:rPr lang="en-US" sz="1900" dirty="0" smtClean="0">
                <a:solidFill>
                  <a:schemeClr val="tx1"/>
                </a:solidFill>
                <a:effectLst/>
              </a:rPr>
              <a:t>    int </a:t>
            </a:r>
            <a:r>
              <a:rPr lang="en-US" sz="1900" dirty="0">
                <a:solidFill>
                  <a:schemeClr val="tx1"/>
                </a:solidFill>
                <a:effectLst/>
              </a:rPr>
              <a:t>low,high,mid,x;</a:t>
            </a:r>
          </a:p>
          <a:p>
            <a:pPr marL="0" indent="0">
              <a:lnSpc>
                <a:spcPct val="80000"/>
              </a:lnSpc>
              <a:buNone/>
            </a:pPr>
            <a:r>
              <a:rPr lang="en-US" sz="1900" dirty="0" smtClean="0">
                <a:solidFill>
                  <a:schemeClr val="tx1"/>
                </a:solidFill>
                <a:effectLst/>
              </a:rPr>
              <a:t>    scanf</a:t>
            </a:r>
            <a:r>
              <a:rPr lang="en-US" sz="1900" dirty="0">
                <a:solidFill>
                  <a:schemeClr val="tx1"/>
                </a:solidFill>
                <a:effectLst/>
              </a:rPr>
              <a:t>("%d",&amp;x);</a:t>
            </a:r>
          </a:p>
          <a:p>
            <a:pPr marL="0" indent="0">
              <a:lnSpc>
                <a:spcPct val="80000"/>
              </a:lnSpc>
              <a:buNone/>
            </a:pPr>
            <a:r>
              <a:rPr lang="en-US" sz="1900" dirty="0" smtClean="0">
                <a:solidFill>
                  <a:schemeClr val="tx1"/>
                </a:solidFill>
                <a:effectLst/>
              </a:rPr>
              <a:t>    low </a:t>
            </a:r>
            <a:r>
              <a:rPr lang="en-US" sz="1900" dirty="0">
                <a:solidFill>
                  <a:schemeClr val="tx1"/>
                </a:solidFill>
                <a:effectLst/>
              </a:rPr>
              <a:t>= 0; high = N - 1;                /* 开始时查找区间为整个数组 */</a:t>
            </a:r>
          </a:p>
          <a:p>
            <a:pPr marL="0" indent="0">
              <a:lnSpc>
                <a:spcPct val="80000"/>
              </a:lnSpc>
              <a:buNone/>
            </a:pPr>
            <a:r>
              <a:rPr lang="en-US" sz="1900" dirty="0">
                <a:solidFill>
                  <a:schemeClr val="tx1"/>
                </a:solidFill>
                <a:effectLst/>
              </a:rPr>
              <a:t>    while (low &lt;= high)  {               /* 循环条件 */</a:t>
            </a:r>
          </a:p>
          <a:p>
            <a:pPr marL="0" indent="0">
              <a:lnSpc>
                <a:spcPct val="80000"/>
              </a:lnSpc>
              <a:buNone/>
            </a:pPr>
            <a:r>
              <a:rPr lang="en-US" sz="1900" dirty="0">
                <a:solidFill>
                  <a:schemeClr val="tx1"/>
                </a:solidFill>
                <a:effectLst/>
              </a:rPr>
              <a:t>        mid = (low + high) / 2;           /* 中间位置 */</a:t>
            </a:r>
          </a:p>
          <a:p>
            <a:pPr marL="0" indent="0">
              <a:lnSpc>
                <a:spcPct val="80000"/>
              </a:lnSpc>
              <a:buNone/>
            </a:pPr>
            <a:r>
              <a:rPr lang="en-US" sz="1900" dirty="0">
                <a:solidFill>
                  <a:schemeClr val="tx1"/>
                </a:solidFill>
                <a:effectLst/>
              </a:rPr>
              <a:t>        if (x == a[mid])</a:t>
            </a:r>
          </a:p>
          <a:p>
            <a:pPr marL="0" indent="0">
              <a:lnSpc>
                <a:spcPct val="80000"/>
              </a:lnSpc>
              <a:buNone/>
            </a:pPr>
            <a:r>
              <a:rPr lang="en-US" sz="1900" dirty="0">
                <a:solidFill>
                  <a:schemeClr val="tx1"/>
                </a:solidFill>
                <a:effectLst/>
              </a:rPr>
              <a:t>            break;                    /* 查找成功，中止循环 */</a:t>
            </a:r>
          </a:p>
          <a:p>
            <a:pPr marL="0" indent="0">
              <a:lnSpc>
                <a:spcPct val="80000"/>
              </a:lnSpc>
              <a:buNone/>
            </a:pPr>
            <a:r>
              <a:rPr lang="en-US" sz="1900" dirty="0">
                <a:solidFill>
                  <a:schemeClr val="tx1"/>
                </a:solidFill>
                <a:effectLst/>
              </a:rPr>
              <a:t>        else if (x &lt; a[mid])</a:t>
            </a:r>
          </a:p>
          <a:p>
            <a:pPr marL="0" indent="0">
              <a:lnSpc>
                <a:spcPct val="80000"/>
              </a:lnSpc>
              <a:buNone/>
            </a:pPr>
            <a:r>
              <a:rPr lang="en-US" sz="1900" dirty="0">
                <a:solidFill>
                  <a:schemeClr val="tx1"/>
                </a:solidFill>
                <a:effectLst/>
              </a:rPr>
              <a:t>            high = mid - 1;             /* 前半段，high前移 */        </a:t>
            </a:r>
          </a:p>
          <a:p>
            <a:pPr marL="0" indent="0">
              <a:lnSpc>
                <a:spcPct val="80000"/>
              </a:lnSpc>
              <a:buNone/>
            </a:pPr>
            <a:r>
              <a:rPr lang="en-US" sz="1900" dirty="0">
                <a:solidFill>
                  <a:schemeClr val="tx1"/>
                </a:solidFill>
                <a:effectLst/>
              </a:rPr>
              <a:t>        else       </a:t>
            </a:r>
          </a:p>
          <a:p>
            <a:pPr marL="0" indent="0">
              <a:lnSpc>
                <a:spcPct val="80000"/>
              </a:lnSpc>
              <a:buNone/>
            </a:pPr>
            <a:r>
              <a:rPr lang="en-US" sz="1900" dirty="0">
                <a:solidFill>
                  <a:schemeClr val="tx1"/>
                </a:solidFill>
                <a:effectLst/>
              </a:rPr>
              <a:t>            low = mid + 1;              /* 后半段，low后移 */</a:t>
            </a:r>
          </a:p>
          <a:p>
            <a:pPr marL="0" indent="0">
              <a:lnSpc>
                <a:spcPct val="80000"/>
              </a:lnSpc>
              <a:buNone/>
            </a:pPr>
            <a:r>
              <a:rPr lang="en-US" sz="1900" dirty="0">
                <a:solidFill>
                  <a:schemeClr val="tx1"/>
                </a:solidFill>
                <a:effectLst/>
              </a:rPr>
              <a:t>    }    </a:t>
            </a:r>
          </a:p>
          <a:p>
            <a:pPr marL="0" indent="0">
              <a:lnSpc>
                <a:spcPct val="80000"/>
              </a:lnSpc>
              <a:buNone/>
            </a:pPr>
            <a:r>
              <a:rPr lang="en-US" sz="1900" dirty="0">
                <a:solidFill>
                  <a:schemeClr val="tx1"/>
                </a:solidFill>
                <a:effectLst/>
              </a:rPr>
              <a:t>    if(low &lt;= high)   </a:t>
            </a:r>
          </a:p>
          <a:p>
            <a:pPr marL="0" indent="0">
              <a:lnSpc>
                <a:spcPct val="80000"/>
              </a:lnSpc>
              <a:buNone/>
            </a:pPr>
            <a:r>
              <a:rPr lang="en-US" sz="1900" dirty="0">
                <a:solidFill>
                  <a:schemeClr val="tx1"/>
                </a:solidFill>
                <a:effectLst/>
              </a:rPr>
              <a:t>        printf("Index is %d \n",mid);</a:t>
            </a:r>
          </a:p>
          <a:p>
            <a:pPr marL="0" indent="0">
              <a:lnSpc>
                <a:spcPct val="80000"/>
              </a:lnSpc>
              <a:buNone/>
            </a:pPr>
            <a:r>
              <a:rPr lang="en-US" sz="1900" dirty="0">
                <a:solidFill>
                  <a:schemeClr val="tx1"/>
                </a:solidFill>
                <a:effectLst/>
              </a:rPr>
              <a:t>    else </a:t>
            </a:r>
          </a:p>
          <a:p>
            <a:pPr marL="0" indent="0">
              <a:lnSpc>
                <a:spcPct val="80000"/>
              </a:lnSpc>
              <a:buNone/>
            </a:pPr>
            <a:r>
              <a:rPr lang="en-US" sz="1900" dirty="0">
                <a:solidFill>
                  <a:schemeClr val="tx1"/>
                </a:solidFill>
                <a:effectLst/>
              </a:rPr>
              <a:t>        printf</a:t>
            </a:r>
            <a:r>
              <a:rPr lang="en-US" sz="1900" dirty="0" smtClean="0">
                <a:solidFill>
                  <a:schemeClr val="tx1"/>
                </a:solidFill>
                <a:effectLst/>
              </a:rPr>
              <a:t>(</a:t>
            </a:r>
            <a:r>
              <a:rPr lang="en-US" altLang="zh-CN" sz="1900" dirty="0">
                <a:solidFill>
                  <a:schemeClr val="tx1"/>
                </a:solidFill>
                <a:effectLst/>
              </a:rPr>
              <a:t>"</a:t>
            </a:r>
            <a:r>
              <a:rPr lang="en-US" sz="1900" dirty="0" smtClean="0">
                <a:solidFill>
                  <a:schemeClr val="tx1"/>
                </a:solidFill>
                <a:effectLst/>
              </a:rPr>
              <a:t>Not Found\n</a:t>
            </a:r>
            <a:r>
              <a:rPr lang="en-US" altLang="zh-CN" sz="1900" dirty="0">
                <a:solidFill>
                  <a:schemeClr val="tx1"/>
                </a:solidFill>
                <a:effectLst/>
              </a:rPr>
              <a:t>"</a:t>
            </a:r>
            <a:r>
              <a:rPr lang="en-US" sz="1900" dirty="0" smtClean="0">
                <a:solidFill>
                  <a:schemeClr val="tx1"/>
                </a:solidFill>
                <a:effectLst/>
              </a:rPr>
              <a:t>);</a:t>
            </a:r>
          </a:p>
          <a:p>
            <a:pPr marL="0" indent="0">
              <a:lnSpc>
                <a:spcPct val="80000"/>
              </a:lnSpc>
              <a:buNone/>
            </a:pPr>
            <a:r>
              <a:rPr lang="en-US" sz="1900" dirty="0">
                <a:solidFill>
                  <a:schemeClr val="tx1"/>
                </a:solidFill>
                <a:effectLst/>
              </a:rPr>
              <a:t> </a:t>
            </a:r>
            <a:r>
              <a:rPr lang="en-US" sz="1900" dirty="0" smtClean="0">
                <a:solidFill>
                  <a:schemeClr val="tx1"/>
                </a:solidFill>
                <a:effectLst/>
              </a:rPr>
              <a:t>   return 0;    </a:t>
            </a:r>
          </a:p>
          <a:p>
            <a:pPr marL="0" indent="0">
              <a:lnSpc>
                <a:spcPct val="80000"/>
              </a:lnSpc>
              <a:buNone/>
            </a:pPr>
            <a:r>
              <a:rPr lang="en-US" sz="1900" dirty="0" smtClean="0">
                <a:solidFill>
                  <a:schemeClr val="tx1"/>
                </a:solidFill>
                <a:effectLst/>
              </a:rPr>
              <a:t> </a:t>
            </a:r>
            <a:r>
              <a:rPr lang="en-US" altLang="zh-CN" sz="1900" dirty="0">
                <a:solidFill>
                  <a:schemeClr val="tx1"/>
                </a:solidFill>
                <a:effectLst/>
              </a:rPr>
              <a:t>}</a:t>
            </a:r>
            <a:endParaRPr lang="en-US" sz="1900" dirty="0">
              <a:solidFill>
                <a:schemeClr val="tx1"/>
              </a:solidFill>
              <a:effectLst/>
            </a:endParaRPr>
          </a:p>
          <a:p>
            <a:pPr marL="0" indent="0">
              <a:lnSpc>
                <a:spcPct val="80000"/>
              </a:lnSpc>
              <a:buNone/>
            </a:pPr>
            <a:endParaRPr lang="en-US" sz="1900" dirty="0"/>
          </a:p>
          <a:p>
            <a:pPr marL="0" indent="0">
              <a:lnSpc>
                <a:spcPct val="80000"/>
              </a:lnSpc>
              <a:buNone/>
            </a:pPr>
            <a:endParaRPr lang="en-US" sz="1900" dirty="0"/>
          </a:p>
        </p:txBody>
      </p:sp>
    </p:spTree>
    <p:extLst>
      <p:ext uri="{BB962C8B-B14F-4D97-AF65-F5344CB8AC3E}">
        <p14:creationId xmlns:p14="http://schemas.microsoft.com/office/powerpoint/2010/main" val="1693809666"/>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4.2 </a:t>
            </a:r>
            <a:r>
              <a:rPr lang="zh-CN" altLang="en-US" dirty="0" smtClean="0"/>
              <a:t>二维数组典型案例</a:t>
            </a:r>
            <a:endParaRPr lang="en-US" dirty="0"/>
          </a:p>
        </p:txBody>
      </p:sp>
      <p:sp>
        <p:nvSpPr>
          <p:cNvPr id="3" name="Content Placeholder 2"/>
          <p:cNvSpPr>
            <a:spLocks noGrp="1"/>
          </p:cNvSpPr>
          <p:nvPr>
            <p:ph idx="1"/>
          </p:nvPr>
        </p:nvSpPr>
        <p:spPr>
          <a:xfrm>
            <a:off x="755650" y="1700213"/>
            <a:ext cx="8208838" cy="4537075"/>
          </a:xfrm>
        </p:spPr>
        <p:txBody>
          <a:bodyPr/>
          <a:lstStyle/>
          <a:p>
            <a:r>
              <a:rPr lang="zh-TW" altLang="en-US" dirty="0"/>
              <a:t>设</a:t>
            </a:r>
            <a:r>
              <a:rPr lang="en-US" altLang="zh-TW" dirty="0"/>
              <a:t>N</a:t>
            </a:r>
            <a:r>
              <a:rPr lang="zh-TW" altLang="en-US" dirty="0"/>
              <a:t>是正整数，定义一个</a:t>
            </a:r>
            <a:r>
              <a:rPr lang="en-US" altLang="zh-TW" dirty="0"/>
              <a:t>N</a:t>
            </a:r>
            <a:r>
              <a:rPr lang="zh-TW" altLang="en-US" dirty="0"/>
              <a:t>行</a:t>
            </a:r>
            <a:r>
              <a:rPr lang="en-US" altLang="zh-TW" dirty="0"/>
              <a:t>N</a:t>
            </a:r>
            <a:r>
              <a:rPr lang="zh-TW" altLang="en-US" dirty="0"/>
              <a:t>列的二维数组</a:t>
            </a:r>
            <a:r>
              <a:rPr lang="en-US" altLang="zh-TW" dirty="0"/>
              <a:t>a</a:t>
            </a:r>
            <a:r>
              <a:rPr lang="zh-TW" altLang="en-US" dirty="0"/>
              <a:t>。用该二维数组</a:t>
            </a:r>
            <a:r>
              <a:rPr lang="en-US" altLang="zh-TW" dirty="0"/>
              <a:t>a</a:t>
            </a:r>
            <a:r>
              <a:rPr lang="zh-TW" altLang="en-US" dirty="0"/>
              <a:t>表示</a:t>
            </a:r>
            <a:r>
              <a:rPr lang="en-US" altLang="zh-TW" dirty="0"/>
              <a:t>n*n</a:t>
            </a:r>
            <a:r>
              <a:rPr lang="zh-TW" altLang="en-US" dirty="0"/>
              <a:t>方阵时，矩阵的一些常用术语与二维数组行、列下标的对应关系如下图。</a:t>
            </a:r>
            <a:endParaRPr lang="en-US" altLang="zh-TW"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44</a:t>
            </a:fld>
            <a:endParaRPr lang="en-US" altLang="zh-CN" dirty="0"/>
          </a:p>
        </p:txBody>
      </p:sp>
      <p:pic>
        <p:nvPicPr>
          <p:cNvPr id="6" name="图片 5"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953" y="3175992"/>
            <a:ext cx="8213543" cy="3555008"/>
          </a:xfrm>
          <a:prstGeom prst="rect">
            <a:avLst/>
          </a:prstGeom>
        </p:spPr>
      </p:pic>
    </p:spTree>
    <p:extLst>
      <p:ext uri="{BB962C8B-B14F-4D97-AF65-F5344CB8AC3E}">
        <p14:creationId xmlns:p14="http://schemas.microsoft.com/office/powerpoint/2010/main" val="591364570"/>
      </p:ext>
    </p:extLst>
  </p:cSld>
  <p:clrMapOvr>
    <a:masterClrMapping/>
  </p:clrMapOvr>
  <p:transition spd="med">
    <p:random/>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4.2 </a:t>
            </a:r>
            <a:r>
              <a:rPr lang="zh-CN" altLang="en-US" dirty="0" smtClean="0"/>
              <a:t>二维数组典型案例</a:t>
            </a:r>
            <a:endParaRPr lang="en-US" dirty="0"/>
          </a:p>
        </p:txBody>
      </p:sp>
      <p:sp>
        <p:nvSpPr>
          <p:cNvPr id="3" name="Content Placeholder 2"/>
          <p:cNvSpPr>
            <a:spLocks noGrp="1"/>
          </p:cNvSpPr>
          <p:nvPr>
            <p:ph idx="1"/>
          </p:nvPr>
        </p:nvSpPr>
        <p:spPr>
          <a:xfrm>
            <a:off x="755650" y="1700213"/>
            <a:ext cx="8208838" cy="936699"/>
          </a:xfrm>
        </p:spPr>
        <p:txBody>
          <a:bodyPr/>
          <a:lstStyle/>
          <a:p>
            <a:r>
              <a:rPr lang="zh-CN" altLang="en-US" dirty="0" smtClean="0"/>
              <a:t>编程</a:t>
            </a:r>
            <a:r>
              <a:rPr lang="zh-CN" altLang="en-US" dirty="0"/>
              <a:t>实现输出矩阵</a:t>
            </a:r>
            <a:r>
              <a:rPr lang="zh-CN" altLang="en-US" dirty="0" smtClean="0"/>
              <a:t>上</a:t>
            </a:r>
            <a:r>
              <a:rPr lang="en-US" altLang="zh-CN" dirty="0" smtClean="0"/>
              <a:t>/</a:t>
            </a:r>
            <a:r>
              <a:rPr lang="zh-CN" altLang="en-US" dirty="0" smtClean="0"/>
              <a:t>下三</a:t>
            </a:r>
            <a:r>
              <a:rPr lang="zh-CN" altLang="en-US" dirty="0"/>
              <a:t>角的</a:t>
            </a:r>
            <a:r>
              <a:rPr lang="zh-CN" altLang="en-US" dirty="0" smtClean="0"/>
              <a:t>数据</a:t>
            </a:r>
            <a:endParaRPr lang="zh-TW" alt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45</a:t>
            </a:fld>
            <a:endParaRPr lang="en-US" altLang="zh-CN" dirty="0"/>
          </a:p>
        </p:txBody>
      </p:sp>
    </p:spTree>
    <p:extLst>
      <p:ext uri="{BB962C8B-B14F-4D97-AF65-F5344CB8AC3E}">
        <p14:creationId xmlns:p14="http://schemas.microsoft.com/office/powerpoint/2010/main" val="3628654083"/>
      </p:ext>
    </p:extLst>
  </p:cSld>
  <p:clrMapOvr>
    <a:masterClrMapping/>
  </p:clrMapOvr>
  <p:transition spd="med">
    <p:random/>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107504" y="331362"/>
            <a:ext cx="8424936" cy="6001643"/>
          </a:xfrm>
          <a:prstGeom prst="rect">
            <a:avLst/>
          </a:prstGeom>
        </p:spPr>
        <p:txBody>
          <a:bodyPr wrap="square">
            <a:spAutoFit/>
          </a:bodyPr>
          <a:lstStyle/>
          <a:p>
            <a:r>
              <a:rPr lang="en-US" altLang="zh-CN" sz="2400" b="1" dirty="0"/>
              <a:t>#include &lt;</a:t>
            </a:r>
            <a:r>
              <a:rPr lang="en-US" altLang="zh-CN" sz="2400" b="1" dirty="0" err="1"/>
              <a:t>stdio.h</a:t>
            </a:r>
            <a:r>
              <a:rPr lang="en-US" altLang="zh-CN" sz="2400" b="1" dirty="0"/>
              <a:t>&gt;</a:t>
            </a:r>
          </a:p>
          <a:p>
            <a:r>
              <a:rPr lang="en-US" altLang="zh-CN" sz="2400" b="1" dirty="0" smtClean="0"/>
              <a:t>#define N 4</a:t>
            </a:r>
          </a:p>
          <a:p>
            <a:r>
              <a:rPr lang="en-US" altLang="zh-CN" sz="2400" b="1" dirty="0" err="1" smtClean="0"/>
              <a:t>int</a:t>
            </a:r>
            <a:r>
              <a:rPr lang="en-US" altLang="zh-CN" sz="2400" b="1" dirty="0" smtClean="0"/>
              <a:t> </a:t>
            </a:r>
            <a:r>
              <a:rPr lang="en-US" altLang="zh-CN" sz="2400" b="1" dirty="0"/>
              <a:t>main()</a:t>
            </a:r>
          </a:p>
          <a:p>
            <a:r>
              <a:rPr lang="en-US" altLang="zh-CN" sz="2400" b="1" dirty="0"/>
              <a:t>{</a:t>
            </a:r>
          </a:p>
          <a:p>
            <a:r>
              <a:rPr lang="en-US" altLang="zh-CN" sz="2400" b="1" dirty="0"/>
              <a:t>  </a:t>
            </a:r>
            <a:r>
              <a:rPr lang="en-US" altLang="zh-CN" sz="2400" b="1" dirty="0" err="1"/>
              <a:t>int</a:t>
            </a:r>
            <a:r>
              <a:rPr lang="en-US" altLang="zh-CN" sz="2400" b="1" dirty="0"/>
              <a:t> </a:t>
            </a:r>
            <a:r>
              <a:rPr lang="en-US" altLang="zh-CN" sz="2400" b="1" dirty="0" err="1" smtClean="0"/>
              <a:t>i,j,a</a:t>
            </a:r>
            <a:r>
              <a:rPr lang="en-US" altLang="zh-CN" sz="2400" b="1" dirty="0" smtClean="0"/>
              <a:t>[N][N];</a:t>
            </a:r>
          </a:p>
          <a:p>
            <a:r>
              <a:rPr lang="en-US" altLang="zh-CN" sz="2400" b="1" dirty="0" smtClean="0"/>
              <a:t>  for(</a:t>
            </a:r>
            <a:r>
              <a:rPr lang="en-US" altLang="zh-CN" sz="2400" b="1" dirty="0" err="1" smtClean="0"/>
              <a:t>i</a:t>
            </a:r>
            <a:r>
              <a:rPr lang="en-US" altLang="zh-CN" sz="2400" b="1" dirty="0" smtClean="0"/>
              <a:t>=0;i&lt;</a:t>
            </a:r>
            <a:r>
              <a:rPr lang="en-US" altLang="zh-CN" sz="2400" b="1" dirty="0" err="1" smtClean="0"/>
              <a:t>N;i</a:t>
            </a:r>
            <a:r>
              <a:rPr lang="en-US" altLang="zh-CN" sz="2400" b="1" dirty="0"/>
              <a:t>++)</a:t>
            </a:r>
          </a:p>
          <a:p>
            <a:r>
              <a:rPr lang="en-US" altLang="zh-CN" sz="2400" b="1" dirty="0"/>
              <a:t>    for(j=0;j&lt;</a:t>
            </a:r>
            <a:r>
              <a:rPr lang="en-US" altLang="zh-CN" sz="2400" b="1" dirty="0" err="1"/>
              <a:t>N;j</a:t>
            </a:r>
            <a:r>
              <a:rPr lang="en-US" altLang="zh-CN" sz="2400" b="1" dirty="0"/>
              <a:t>++)</a:t>
            </a:r>
          </a:p>
          <a:p>
            <a:r>
              <a:rPr lang="en-US" altLang="zh-CN" sz="2400" b="1" dirty="0"/>
              <a:t>      </a:t>
            </a:r>
            <a:r>
              <a:rPr lang="en-US" altLang="zh-CN" sz="2400" b="1" dirty="0" err="1"/>
              <a:t>scanf</a:t>
            </a:r>
            <a:r>
              <a:rPr lang="en-US" altLang="zh-CN" sz="2400" b="1" dirty="0"/>
              <a:t>("%</a:t>
            </a:r>
            <a:r>
              <a:rPr lang="en-US" altLang="zh-CN" sz="2400" b="1" dirty="0" err="1"/>
              <a:t>d",&amp;a</a:t>
            </a:r>
            <a:r>
              <a:rPr lang="en-US" altLang="zh-CN" sz="2400" b="1" dirty="0"/>
              <a:t>[</a:t>
            </a:r>
            <a:r>
              <a:rPr lang="en-US" altLang="zh-CN" sz="2400" b="1" dirty="0" err="1"/>
              <a:t>i</a:t>
            </a:r>
            <a:r>
              <a:rPr lang="en-US" altLang="zh-CN" sz="2400" b="1" dirty="0"/>
              <a:t>][j]);</a:t>
            </a:r>
          </a:p>
          <a:p>
            <a:r>
              <a:rPr lang="en-US" altLang="zh-CN" sz="2400" b="1" dirty="0" smtClean="0"/>
              <a:t>  for(i=0;i&lt;</a:t>
            </a:r>
            <a:r>
              <a:rPr lang="en-US" altLang="zh-CN" sz="2400" b="1" dirty="0" err="1" smtClean="0"/>
              <a:t>N;i</a:t>
            </a:r>
            <a:r>
              <a:rPr lang="en-US" altLang="zh-CN" sz="2400" b="1" dirty="0"/>
              <a:t>++)</a:t>
            </a:r>
          </a:p>
          <a:p>
            <a:r>
              <a:rPr lang="en-US" altLang="zh-CN" sz="2400" b="1" dirty="0"/>
              <a:t>  {</a:t>
            </a:r>
          </a:p>
          <a:p>
            <a:r>
              <a:rPr lang="en-US" altLang="zh-CN" sz="2400" b="1" dirty="0"/>
              <a:t>    for(j=0;j&lt;=</a:t>
            </a:r>
            <a:r>
              <a:rPr lang="en-US" altLang="zh-CN" sz="2400" b="1" dirty="0" err="1"/>
              <a:t>i;j</a:t>
            </a:r>
            <a:r>
              <a:rPr lang="en-US" altLang="zh-CN" sz="2400" b="1" dirty="0"/>
              <a:t>++)</a:t>
            </a:r>
          </a:p>
          <a:p>
            <a:r>
              <a:rPr lang="en-US" altLang="zh-CN" sz="2400" b="1" dirty="0"/>
              <a:t>        </a:t>
            </a:r>
            <a:r>
              <a:rPr lang="en-US" altLang="zh-CN" sz="2400" b="1" dirty="0" err="1"/>
              <a:t>printf</a:t>
            </a:r>
            <a:r>
              <a:rPr lang="en-US" altLang="zh-CN" sz="2400" b="1" dirty="0" smtClean="0"/>
              <a:t>("%-4d</a:t>
            </a:r>
            <a:r>
              <a:rPr lang="en-US" altLang="zh-CN" sz="2400" b="1" dirty="0"/>
              <a:t>",a[i][j]);</a:t>
            </a:r>
          </a:p>
          <a:p>
            <a:r>
              <a:rPr lang="en-US" altLang="zh-CN" sz="2400" b="1" dirty="0"/>
              <a:t>    </a:t>
            </a:r>
            <a:r>
              <a:rPr lang="en-US" altLang="zh-CN" sz="2400" b="1" dirty="0" err="1"/>
              <a:t>printf</a:t>
            </a:r>
            <a:r>
              <a:rPr lang="en-US" altLang="zh-CN" sz="2400" b="1" dirty="0"/>
              <a:t>("\n");</a:t>
            </a:r>
          </a:p>
          <a:p>
            <a:r>
              <a:rPr lang="en-US" altLang="zh-CN" sz="2400" b="1" dirty="0"/>
              <a:t>  }</a:t>
            </a:r>
          </a:p>
          <a:p>
            <a:r>
              <a:rPr lang="en-US" altLang="zh-CN" sz="2400" b="1" dirty="0"/>
              <a:t>  return 0;</a:t>
            </a:r>
          </a:p>
          <a:p>
            <a:r>
              <a:rPr lang="en-US" altLang="zh-CN" sz="2400" b="1" dirty="0"/>
              <a:t>}</a:t>
            </a:r>
          </a:p>
        </p:txBody>
      </p:sp>
      <p:graphicFrame>
        <p:nvGraphicFramePr>
          <p:cNvPr id="4" name="表格 3"/>
          <p:cNvGraphicFramePr>
            <a:graphicFrameLocks noGrp="1"/>
          </p:cNvGraphicFramePr>
          <p:nvPr>
            <p:extLst>
              <p:ext uri="{D42A27DB-BD31-4B8C-83A1-F6EECF244321}">
                <p14:modId xmlns:p14="http://schemas.microsoft.com/office/powerpoint/2010/main" val="529458733"/>
              </p:ext>
            </p:extLst>
          </p:nvPr>
        </p:nvGraphicFramePr>
        <p:xfrm>
          <a:off x="5436096" y="3356992"/>
          <a:ext cx="2950160" cy="2941264"/>
        </p:xfrm>
        <a:graphic>
          <a:graphicData uri="http://schemas.openxmlformats.org/drawingml/2006/table">
            <a:tbl>
              <a:tblPr firstRow="1" bandRow="1">
                <a:tableStyleId>{5C22544A-7EE6-4342-B048-85BDC9FD1C3A}</a:tableStyleId>
              </a:tblPr>
              <a:tblGrid>
                <a:gridCol w="737540">
                  <a:extLst>
                    <a:ext uri="{9D8B030D-6E8A-4147-A177-3AD203B41FA5}">
                      <a16:colId xmlns:a16="http://schemas.microsoft.com/office/drawing/2014/main" xmlns="" val="20000"/>
                    </a:ext>
                  </a:extLst>
                </a:gridCol>
                <a:gridCol w="737540">
                  <a:extLst>
                    <a:ext uri="{9D8B030D-6E8A-4147-A177-3AD203B41FA5}">
                      <a16:colId xmlns:a16="http://schemas.microsoft.com/office/drawing/2014/main" xmlns="" val="20001"/>
                    </a:ext>
                  </a:extLst>
                </a:gridCol>
                <a:gridCol w="737540">
                  <a:extLst>
                    <a:ext uri="{9D8B030D-6E8A-4147-A177-3AD203B41FA5}">
                      <a16:colId xmlns:a16="http://schemas.microsoft.com/office/drawing/2014/main" xmlns="" val="20002"/>
                    </a:ext>
                  </a:extLst>
                </a:gridCol>
                <a:gridCol w="737540">
                  <a:extLst>
                    <a:ext uri="{9D8B030D-6E8A-4147-A177-3AD203B41FA5}">
                      <a16:colId xmlns:a16="http://schemas.microsoft.com/office/drawing/2014/main" xmlns="" val="20003"/>
                    </a:ext>
                  </a:extLst>
                </a:gridCol>
              </a:tblGrid>
              <a:tr h="735316">
                <a:tc>
                  <a:txBody>
                    <a:bodyPr/>
                    <a:lstStyle/>
                    <a:p>
                      <a:pPr algn="ctr"/>
                      <a:r>
                        <a:rPr lang="en-US" altLang="zh-CN" sz="2000" b="1" dirty="0" smtClean="0">
                          <a:solidFill>
                            <a:schemeClr val="tx1"/>
                          </a:solidFill>
                        </a:rPr>
                        <a:t>1</a:t>
                      </a:r>
                      <a:endParaRPr lang="zh-CN" altLang="en-US" sz="2000" b="1" dirty="0">
                        <a:solidFill>
                          <a:schemeClr val="tx1"/>
                        </a:solidFill>
                      </a:endParaRPr>
                    </a:p>
                  </a:txBody>
                  <a:tcPr marL="103122" marR="103122" marT="51561" marB="51561" anchor="ctr">
                    <a:solidFill>
                      <a:schemeClr val="tx1">
                        <a:lumMod val="20000"/>
                        <a:lumOff val="80000"/>
                      </a:schemeClr>
                    </a:solidFill>
                  </a:tcPr>
                </a:tc>
                <a:tc>
                  <a:txBody>
                    <a:bodyPr/>
                    <a:lstStyle/>
                    <a:p>
                      <a:pPr algn="ctr"/>
                      <a:r>
                        <a:rPr lang="en-US" altLang="zh-CN" sz="2000" b="1" dirty="0" smtClean="0">
                          <a:solidFill>
                            <a:schemeClr val="tx1"/>
                          </a:solidFill>
                        </a:rPr>
                        <a:t>2</a:t>
                      </a:r>
                      <a:endParaRPr lang="zh-CN" altLang="en-US" sz="2000" b="1" dirty="0">
                        <a:solidFill>
                          <a:schemeClr val="tx1"/>
                        </a:solidFill>
                      </a:endParaRPr>
                    </a:p>
                  </a:txBody>
                  <a:tcPr marL="103122" marR="103122" marT="51561" marB="51561" anchor="ctr">
                    <a:noFill/>
                  </a:tcPr>
                </a:tc>
                <a:tc>
                  <a:txBody>
                    <a:bodyPr/>
                    <a:lstStyle/>
                    <a:p>
                      <a:pPr algn="ctr"/>
                      <a:r>
                        <a:rPr lang="en-US" altLang="zh-CN" sz="2000" b="1" dirty="0" smtClean="0">
                          <a:solidFill>
                            <a:schemeClr val="tx1"/>
                          </a:solidFill>
                        </a:rPr>
                        <a:t>3</a:t>
                      </a:r>
                      <a:endParaRPr lang="zh-CN" altLang="en-US" sz="2000" b="1" dirty="0">
                        <a:solidFill>
                          <a:schemeClr val="tx1"/>
                        </a:solidFill>
                      </a:endParaRPr>
                    </a:p>
                  </a:txBody>
                  <a:tcPr marL="103122" marR="103122" marT="51561" marB="51561" anchor="ctr">
                    <a:noFill/>
                  </a:tcPr>
                </a:tc>
                <a:tc>
                  <a:txBody>
                    <a:bodyPr/>
                    <a:lstStyle/>
                    <a:p>
                      <a:pPr algn="ctr"/>
                      <a:r>
                        <a:rPr lang="en-US" altLang="zh-CN" sz="2000" b="1" dirty="0" smtClean="0">
                          <a:solidFill>
                            <a:schemeClr val="tx1"/>
                          </a:solidFill>
                        </a:rPr>
                        <a:t>4</a:t>
                      </a:r>
                      <a:endParaRPr lang="zh-CN" altLang="en-US" sz="2000" b="1" dirty="0">
                        <a:solidFill>
                          <a:schemeClr val="tx1"/>
                        </a:solidFill>
                      </a:endParaRPr>
                    </a:p>
                  </a:txBody>
                  <a:tcPr marL="103122" marR="103122" marT="51561" marB="51561" anchor="ctr">
                    <a:noFill/>
                  </a:tcPr>
                </a:tc>
                <a:extLst>
                  <a:ext uri="{0D108BD9-81ED-4DB2-BD59-A6C34878D82A}">
                    <a16:rowId xmlns:a16="http://schemas.microsoft.com/office/drawing/2014/main" xmlns="" val="10000"/>
                  </a:ext>
                </a:extLst>
              </a:tr>
              <a:tr h="735316">
                <a:tc>
                  <a:txBody>
                    <a:bodyPr/>
                    <a:lstStyle/>
                    <a:p>
                      <a:pPr algn="ctr"/>
                      <a:r>
                        <a:rPr lang="en-US" altLang="zh-CN" sz="2000" b="1" dirty="0" smtClean="0">
                          <a:solidFill>
                            <a:schemeClr val="tx1"/>
                          </a:solidFill>
                        </a:rPr>
                        <a:t>5</a:t>
                      </a:r>
                      <a:endParaRPr lang="zh-CN" altLang="en-US" sz="2000" b="1" dirty="0">
                        <a:solidFill>
                          <a:schemeClr val="tx1"/>
                        </a:solidFill>
                      </a:endParaRPr>
                    </a:p>
                  </a:txBody>
                  <a:tcPr marL="103122" marR="103122" marT="51561" marB="51561" anchor="ctr">
                    <a:solidFill>
                      <a:schemeClr val="tx1">
                        <a:lumMod val="20000"/>
                        <a:lumOff val="80000"/>
                      </a:schemeClr>
                    </a:solidFill>
                  </a:tcPr>
                </a:tc>
                <a:tc>
                  <a:txBody>
                    <a:bodyPr/>
                    <a:lstStyle/>
                    <a:p>
                      <a:pPr algn="ctr"/>
                      <a:r>
                        <a:rPr lang="en-US" altLang="zh-CN" sz="2000" b="1" dirty="0" smtClean="0">
                          <a:solidFill>
                            <a:schemeClr val="tx1"/>
                          </a:solidFill>
                        </a:rPr>
                        <a:t>6</a:t>
                      </a:r>
                      <a:endParaRPr lang="zh-CN" altLang="en-US" sz="2000" b="1" dirty="0">
                        <a:solidFill>
                          <a:schemeClr val="tx1"/>
                        </a:solidFill>
                      </a:endParaRPr>
                    </a:p>
                  </a:txBody>
                  <a:tcPr marL="103122" marR="103122" marT="51561" marB="51561" anchor="ctr">
                    <a:solidFill>
                      <a:schemeClr val="tx1">
                        <a:lumMod val="20000"/>
                        <a:lumOff val="80000"/>
                      </a:schemeClr>
                    </a:solidFill>
                  </a:tcPr>
                </a:tc>
                <a:tc>
                  <a:txBody>
                    <a:bodyPr/>
                    <a:lstStyle/>
                    <a:p>
                      <a:pPr algn="ctr"/>
                      <a:r>
                        <a:rPr lang="en-US" altLang="zh-CN" sz="2000" b="1" dirty="0" smtClean="0">
                          <a:solidFill>
                            <a:schemeClr val="tx1"/>
                          </a:solidFill>
                        </a:rPr>
                        <a:t>7</a:t>
                      </a:r>
                      <a:endParaRPr lang="zh-CN" altLang="en-US" sz="2000" b="1" dirty="0">
                        <a:solidFill>
                          <a:schemeClr val="tx1"/>
                        </a:solidFill>
                      </a:endParaRPr>
                    </a:p>
                  </a:txBody>
                  <a:tcPr marL="103122" marR="103122" marT="51561" marB="51561" anchor="ctr">
                    <a:noFill/>
                  </a:tcPr>
                </a:tc>
                <a:tc>
                  <a:txBody>
                    <a:bodyPr/>
                    <a:lstStyle/>
                    <a:p>
                      <a:pPr algn="ctr"/>
                      <a:r>
                        <a:rPr lang="en-US" altLang="zh-CN" sz="2000" b="1" dirty="0" smtClean="0">
                          <a:solidFill>
                            <a:schemeClr val="tx1"/>
                          </a:solidFill>
                        </a:rPr>
                        <a:t>8</a:t>
                      </a:r>
                      <a:endParaRPr lang="zh-CN" altLang="en-US" sz="2000" b="1" dirty="0">
                        <a:solidFill>
                          <a:schemeClr val="tx1"/>
                        </a:solidFill>
                      </a:endParaRPr>
                    </a:p>
                  </a:txBody>
                  <a:tcPr marL="103122" marR="103122" marT="51561" marB="51561" anchor="ctr">
                    <a:noFill/>
                  </a:tcPr>
                </a:tc>
                <a:extLst>
                  <a:ext uri="{0D108BD9-81ED-4DB2-BD59-A6C34878D82A}">
                    <a16:rowId xmlns:a16="http://schemas.microsoft.com/office/drawing/2014/main" xmlns="" val="10001"/>
                  </a:ext>
                </a:extLst>
              </a:tr>
              <a:tr h="735316">
                <a:tc>
                  <a:txBody>
                    <a:bodyPr/>
                    <a:lstStyle/>
                    <a:p>
                      <a:pPr algn="ctr"/>
                      <a:r>
                        <a:rPr lang="en-US" altLang="zh-CN" sz="2000" b="1" dirty="0" smtClean="0">
                          <a:solidFill>
                            <a:schemeClr val="tx1"/>
                          </a:solidFill>
                        </a:rPr>
                        <a:t>9</a:t>
                      </a:r>
                      <a:endParaRPr lang="zh-CN" altLang="en-US" sz="2000" b="1" dirty="0">
                        <a:solidFill>
                          <a:schemeClr val="tx1"/>
                        </a:solidFill>
                      </a:endParaRPr>
                    </a:p>
                  </a:txBody>
                  <a:tcPr marL="103122" marR="103122" marT="51561" marB="51561" anchor="ctr">
                    <a:solidFill>
                      <a:schemeClr val="tx1">
                        <a:lumMod val="20000"/>
                        <a:lumOff val="80000"/>
                      </a:schemeClr>
                    </a:solidFill>
                  </a:tcPr>
                </a:tc>
                <a:tc>
                  <a:txBody>
                    <a:bodyPr/>
                    <a:lstStyle/>
                    <a:p>
                      <a:pPr algn="ctr"/>
                      <a:r>
                        <a:rPr lang="en-US" altLang="zh-CN" sz="2000" b="1" dirty="0" smtClean="0">
                          <a:solidFill>
                            <a:schemeClr val="tx1"/>
                          </a:solidFill>
                        </a:rPr>
                        <a:t>10</a:t>
                      </a:r>
                      <a:endParaRPr lang="zh-CN" altLang="en-US" sz="2000" b="1" dirty="0">
                        <a:solidFill>
                          <a:schemeClr val="tx1"/>
                        </a:solidFill>
                      </a:endParaRPr>
                    </a:p>
                  </a:txBody>
                  <a:tcPr marL="103122" marR="103122" marT="51561" marB="51561" anchor="ctr">
                    <a:solidFill>
                      <a:schemeClr val="tx1">
                        <a:lumMod val="20000"/>
                        <a:lumOff val="80000"/>
                      </a:schemeClr>
                    </a:solidFill>
                  </a:tcPr>
                </a:tc>
                <a:tc>
                  <a:txBody>
                    <a:bodyPr/>
                    <a:lstStyle/>
                    <a:p>
                      <a:pPr algn="ctr"/>
                      <a:r>
                        <a:rPr lang="en-US" altLang="zh-CN" sz="2000" b="1" dirty="0" smtClean="0">
                          <a:solidFill>
                            <a:schemeClr val="tx1"/>
                          </a:solidFill>
                        </a:rPr>
                        <a:t>11</a:t>
                      </a:r>
                      <a:endParaRPr lang="zh-CN" altLang="en-US" sz="2000" b="1" dirty="0">
                        <a:solidFill>
                          <a:schemeClr val="tx1"/>
                        </a:solidFill>
                      </a:endParaRPr>
                    </a:p>
                  </a:txBody>
                  <a:tcPr marL="103122" marR="103122" marT="51561" marB="51561" anchor="ctr">
                    <a:solidFill>
                      <a:schemeClr val="tx1">
                        <a:lumMod val="20000"/>
                        <a:lumOff val="80000"/>
                      </a:schemeClr>
                    </a:solidFill>
                  </a:tcPr>
                </a:tc>
                <a:tc>
                  <a:txBody>
                    <a:bodyPr/>
                    <a:lstStyle/>
                    <a:p>
                      <a:pPr algn="ctr"/>
                      <a:r>
                        <a:rPr lang="en-US" altLang="zh-CN" sz="2000" b="1" dirty="0" smtClean="0">
                          <a:solidFill>
                            <a:schemeClr val="tx1"/>
                          </a:solidFill>
                        </a:rPr>
                        <a:t>12</a:t>
                      </a:r>
                      <a:endParaRPr lang="zh-CN" altLang="en-US" sz="2000" b="1" dirty="0">
                        <a:solidFill>
                          <a:schemeClr val="tx1"/>
                        </a:solidFill>
                      </a:endParaRPr>
                    </a:p>
                  </a:txBody>
                  <a:tcPr marL="103122" marR="103122" marT="51561" marB="51561" anchor="ctr">
                    <a:noFill/>
                  </a:tcPr>
                </a:tc>
                <a:extLst>
                  <a:ext uri="{0D108BD9-81ED-4DB2-BD59-A6C34878D82A}">
                    <a16:rowId xmlns:a16="http://schemas.microsoft.com/office/drawing/2014/main" xmlns="" val="10002"/>
                  </a:ext>
                </a:extLst>
              </a:tr>
              <a:tr h="735316">
                <a:tc>
                  <a:txBody>
                    <a:bodyPr/>
                    <a:lstStyle/>
                    <a:p>
                      <a:pPr algn="ctr"/>
                      <a:r>
                        <a:rPr lang="en-US" altLang="zh-CN" sz="2000" b="1" dirty="0" smtClean="0">
                          <a:solidFill>
                            <a:schemeClr val="tx1"/>
                          </a:solidFill>
                        </a:rPr>
                        <a:t>13</a:t>
                      </a:r>
                      <a:endParaRPr lang="zh-CN" altLang="en-US" sz="2000" b="1" dirty="0">
                        <a:solidFill>
                          <a:schemeClr val="tx1"/>
                        </a:solidFill>
                      </a:endParaRPr>
                    </a:p>
                  </a:txBody>
                  <a:tcPr marL="103122" marR="103122" marT="51561" marB="51561" anchor="ctr">
                    <a:solidFill>
                      <a:schemeClr val="tx1">
                        <a:lumMod val="20000"/>
                        <a:lumOff val="80000"/>
                      </a:schemeClr>
                    </a:solidFill>
                  </a:tcPr>
                </a:tc>
                <a:tc>
                  <a:txBody>
                    <a:bodyPr/>
                    <a:lstStyle/>
                    <a:p>
                      <a:pPr algn="ctr"/>
                      <a:r>
                        <a:rPr lang="en-US" altLang="zh-CN" sz="2000" b="1" dirty="0" smtClean="0">
                          <a:solidFill>
                            <a:schemeClr val="tx1"/>
                          </a:solidFill>
                        </a:rPr>
                        <a:t>14</a:t>
                      </a:r>
                      <a:endParaRPr lang="zh-CN" altLang="en-US" sz="2000" b="1" dirty="0">
                        <a:solidFill>
                          <a:schemeClr val="tx1"/>
                        </a:solidFill>
                      </a:endParaRPr>
                    </a:p>
                  </a:txBody>
                  <a:tcPr marL="103122" marR="103122" marT="51561" marB="51561" anchor="ctr">
                    <a:solidFill>
                      <a:schemeClr val="tx1">
                        <a:lumMod val="20000"/>
                        <a:lumOff val="80000"/>
                      </a:schemeClr>
                    </a:solidFill>
                  </a:tcPr>
                </a:tc>
                <a:tc>
                  <a:txBody>
                    <a:bodyPr/>
                    <a:lstStyle/>
                    <a:p>
                      <a:pPr algn="ctr"/>
                      <a:r>
                        <a:rPr lang="en-US" altLang="zh-CN" sz="2000" b="1" dirty="0" smtClean="0">
                          <a:solidFill>
                            <a:schemeClr val="tx1"/>
                          </a:solidFill>
                        </a:rPr>
                        <a:t>15</a:t>
                      </a:r>
                      <a:endParaRPr lang="zh-CN" altLang="en-US" sz="2000" b="1" dirty="0">
                        <a:solidFill>
                          <a:schemeClr val="tx1"/>
                        </a:solidFill>
                      </a:endParaRPr>
                    </a:p>
                  </a:txBody>
                  <a:tcPr marL="103122" marR="103122" marT="51561" marB="51561" anchor="ctr">
                    <a:solidFill>
                      <a:schemeClr val="tx1">
                        <a:lumMod val="20000"/>
                        <a:lumOff val="80000"/>
                      </a:schemeClr>
                    </a:solidFill>
                  </a:tcPr>
                </a:tc>
                <a:tc>
                  <a:txBody>
                    <a:bodyPr/>
                    <a:lstStyle/>
                    <a:p>
                      <a:pPr algn="ctr"/>
                      <a:r>
                        <a:rPr lang="en-US" altLang="zh-CN" sz="2000" b="1" dirty="0" smtClean="0">
                          <a:solidFill>
                            <a:schemeClr val="tx1"/>
                          </a:solidFill>
                        </a:rPr>
                        <a:t>16</a:t>
                      </a:r>
                      <a:endParaRPr lang="zh-CN" altLang="en-US" sz="2000" b="1" dirty="0">
                        <a:solidFill>
                          <a:schemeClr val="tx1"/>
                        </a:solidFill>
                      </a:endParaRPr>
                    </a:p>
                  </a:txBody>
                  <a:tcPr marL="103122" marR="103122" marT="51561" marB="51561" anchor="ctr">
                    <a:solidFill>
                      <a:schemeClr val="tx1">
                        <a:lumMod val="20000"/>
                        <a:lumOff val="80000"/>
                      </a:schemeClr>
                    </a:solidFill>
                  </a:tcPr>
                </a:tc>
                <a:extLst>
                  <a:ext uri="{0D108BD9-81ED-4DB2-BD59-A6C34878D82A}">
                    <a16:rowId xmlns:a16="http://schemas.microsoft.com/office/drawing/2014/main" xmlns="" val="10003"/>
                  </a:ext>
                </a:extLst>
              </a:tr>
            </a:tbl>
          </a:graphicData>
        </a:graphic>
      </p:graphicFrame>
      <p:sp>
        <p:nvSpPr>
          <p:cNvPr id="3" name="矩形 2"/>
          <p:cNvSpPr/>
          <p:nvPr/>
        </p:nvSpPr>
        <p:spPr bwMode="auto">
          <a:xfrm>
            <a:off x="4499992" y="6333005"/>
            <a:ext cx="3240360" cy="504056"/>
          </a:xfrm>
          <a:prstGeom prst="rect">
            <a:avLst/>
          </a:prstGeom>
          <a:no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smtClean="0">
                <a:ln>
                  <a:noFill/>
                </a:ln>
                <a:solidFill>
                  <a:schemeClr val="tx1"/>
                </a:solidFill>
                <a:effectLst/>
                <a:latin typeface="Arial" charset="0"/>
                <a:ea typeface="宋体" pitchFamily="2" charset="-122"/>
              </a:rPr>
              <a:t>显示矩阵下三角数值</a:t>
            </a:r>
          </a:p>
        </p:txBody>
      </p:sp>
      <p:graphicFrame>
        <p:nvGraphicFramePr>
          <p:cNvPr id="5" name="表格 4"/>
          <p:cNvGraphicFramePr>
            <a:graphicFrameLocks noGrp="1"/>
          </p:cNvGraphicFramePr>
          <p:nvPr>
            <p:extLst>
              <p:ext uri="{D42A27DB-BD31-4B8C-83A1-F6EECF244321}">
                <p14:modId xmlns:p14="http://schemas.microsoft.com/office/powerpoint/2010/main" val="2248206259"/>
              </p:ext>
            </p:extLst>
          </p:nvPr>
        </p:nvGraphicFramePr>
        <p:xfrm>
          <a:off x="5436096" y="476672"/>
          <a:ext cx="2736304" cy="2728052"/>
        </p:xfrm>
        <a:graphic>
          <a:graphicData uri="http://schemas.openxmlformats.org/drawingml/2006/table">
            <a:tbl>
              <a:tblPr firstRow="1" bandRow="1">
                <a:tableStyleId>{5C22544A-7EE6-4342-B048-85BDC9FD1C3A}</a:tableStyleId>
              </a:tblPr>
              <a:tblGrid>
                <a:gridCol w="684076">
                  <a:extLst>
                    <a:ext uri="{9D8B030D-6E8A-4147-A177-3AD203B41FA5}">
                      <a16:colId xmlns:a16="http://schemas.microsoft.com/office/drawing/2014/main" xmlns="" val="20000"/>
                    </a:ext>
                  </a:extLst>
                </a:gridCol>
                <a:gridCol w="684076">
                  <a:extLst>
                    <a:ext uri="{9D8B030D-6E8A-4147-A177-3AD203B41FA5}">
                      <a16:colId xmlns:a16="http://schemas.microsoft.com/office/drawing/2014/main" xmlns="" val="20001"/>
                    </a:ext>
                  </a:extLst>
                </a:gridCol>
                <a:gridCol w="684076">
                  <a:extLst>
                    <a:ext uri="{9D8B030D-6E8A-4147-A177-3AD203B41FA5}">
                      <a16:colId xmlns:a16="http://schemas.microsoft.com/office/drawing/2014/main" xmlns="" val="20002"/>
                    </a:ext>
                  </a:extLst>
                </a:gridCol>
                <a:gridCol w="684076">
                  <a:extLst>
                    <a:ext uri="{9D8B030D-6E8A-4147-A177-3AD203B41FA5}">
                      <a16:colId xmlns:a16="http://schemas.microsoft.com/office/drawing/2014/main" xmlns="" val="20003"/>
                    </a:ext>
                  </a:extLst>
                </a:gridCol>
              </a:tblGrid>
              <a:tr h="682013">
                <a:tc>
                  <a:txBody>
                    <a:bodyPr/>
                    <a:lstStyle/>
                    <a:p>
                      <a:pPr algn="ctr"/>
                      <a:r>
                        <a:rPr lang="en-US" altLang="zh-CN" sz="1400" b="1" dirty="0" smtClean="0">
                          <a:solidFill>
                            <a:schemeClr val="tx1"/>
                          </a:solidFill>
                        </a:rPr>
                        <a:t>a[0][0]</a:t>
                      </a:r>
                      <a:endParaRPr lang="zh-CN" altLang="en-US" sz="1400" b="1" dirty="0">
                        <a:solidFill>
                          <a:schemeClr val="tx1"/>
                        </a:solidFill>
                      </a:endParaRPr>
                    </a:p>
                  </a:txBody>
                  <a:tcPr marL="95647" marR="95647" marT="47823" marB="47823" anchor="ctr">
                    <a:solidFill>
                      <a:schemeClr val="tx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a[0][1]</a:t>
                      </a:r>
                      <a:endParaRPr lang="zh-CN" altLang="en-US" sz="1400" b="1" dirty="0" smtClean="0">
                        <a:solidFill>
                          <a:schemeClr val="tx1"/>
                        </a:solidFill>
                      </a:endParaRPr>
                    </a:p>
                  </a:txBody>
                  <a:tcPr marL="95647" marR="95647" marT="47823" marB="47823"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a[0][2]</a:t>
                      </a:r>
                      <a:endParaRPr lang="zh-CN" altLang="en-US" sz="1400" b="1" dirty="0" smtClean="0">
                        <a:solidFill>
                          <a:schemeClr val="tx1"/>
                        </a:solidFill>
                      </a:endParaRPr>
                    </a:p>
                  </a:txBody>
                  <a:tcPr marL="95647" marR="95647" marT="47823" marB="47823"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a[0][3]</a:t>
                      </a:r>
                      <a:endParaRPr lang="zh-CN" altLang="en-US" sz="1400" b="1" dirty="0" smtClean="0">
                        <a:solidFill>
                          <a:schemeClr val="tx1"/>
                        </a:solidFill>
                      </a:endParaRPr>
                    </a:p>
                  </a:txBody>
                  <a:tcPr marL="95647" marR="95647" marT="47823" marB="47823" anchor="ctr">
                    <a:noFill/>
                  </a:tcPr>
                </a:tc>
                <a:extLst>
                  <a:ext uri="{0D108BD9-81ED-4DB2-BD59-A6C34878D82A}">
                    <a16:rowId xmlns:a16="http://schemas.microsoft.com/office/drawing/2014/main" xmlns="" val="10000"/>
                  </a:ext>
                </a:extLst>
              </a:tr>
              <a:tr h="6820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a[1][0]</a:t>
                      </a:r>
                      <a:endParaRPr lang="zh-CN" altLang="en-US" sz="1400" b="1" dirty="0" smtClean="0">
                        <a:solidFill>
                          <a:schemeClr val="tx1"/>
                        </a:solidFill>
                      </a:endParaRPr>
                    </a:p>
                  </a:txBody>
                  <a:tcPr marL="95647" marR="95647" marT="47823" marB="47823" anchor="ctr">
                    <a:solidFill>
                      <a:schemeClr val="tx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a[1][1]</a:t>
                      </a:r>
                      <a:endParaRPr lang="zh-CN" altLang="en-US" sz="1400" b="1" dirty="0" smtClean="0">
                        <a:solidFill>
                          <a:schemeClr val="tx1"/>
                        </a:solidFill>
                      </a:endParaRPr>
                    </a:p>
                  </a:txBody>
                  <a:tcPr marL="95647" marR="95647" marT="47823" marB="47823" anchor="ctr">
                    <a:solidFill>
                      <a:schemeClr val="tx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a[1][2]</a:t>
                      </a:r>
                      <a:endParaRPr lang="zh-CN" altLang="en-US" sz="1400" b="1" dirty="0" smtClean="0">
                        <a:solidFill>
                          <a:schemeClr val="tx1"/>
                        </a:solidFill>
                      </a:endParaRPr>
                    </a:p>
                  </a:txBody>
                  <a:tcPr marL="95647" marR="95647" marT="47823" marB="47823"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a[1][3]</a:t>
                      </a:r>
                      <a:endParaRPr lang="zh-CN" altLang="en-US" sz="1400" b="1" dirty="0" smtClean="0">
                        <a:solidFill>
                          <a:schemeClr val="tx1"/>
                        </a:solidFill>
                      </a:endParaRPr>
                    </a:p>
                  </a:txBody>
                  <a:tcPr marL="95647" marR="95647" marT="47823" marB="47823" anchor="ctr">
                    <a:noFill/>
                  </a:tcPr>
                </a:tc>
                <a:extLst>
                  <a:ext uri="{0D108BD9-81ED-4DB2-BD59-A6C34878D82A}">
                    <a16:rowId xmlns:a16="http://schemas.microsoft.com/office/drawing/2014/main" xmlns="" val="10001"/>
                  </a:ext>
                </a:extLst>
              </a:tr>
              <a:tr h="6820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a[2][0]</a:t>
                      </a:r>
                      <a:endParaRPr lang="zh-CN" altLang="en-US" sz="1400" b="1" dirty="0" smtClean="0">
                        <a:solidFill>
                          <a:schemeClr val="tx1"/>
                        </a:solidFill>
                      </a:endParaRPr>
                    </a:p>
                  </a:txBody>
                  <a:tcPr marL="95647" marR="95647" marT="47823" marB="47823" anchor="ctr">
                    <a:solidFill>
                      <a:schemeClr val="tx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a[2][1]</a:t>
                      </a:r>
                      <a:endParaRPr lang="zh-CN" altLang="en-US" sz="1400" b="1" dirty="0" smtClean="0">
                        <a:solidFill>
                          <a:schemeClr val="tx1"/>
                        </a:solidFill>
                      </a:endParaRPr>
                    </a:p>
                  </a:txBody>
                  <a:tcPr marL="95647" marR="95647" marT="47823" marB="47823" anchor="ctr">
                    <a:solidFill>
                      <a:schemeClr val="tx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a[2][2]</a:t>
                      </a:r>
                      <a:endParaRPr lang="zh-CN" altLang="en-US" sz="1400" b="1" dirty="0" smtClean="0">
                        <a:solidFill>
                          <a:schemeClr val="tx1"/>
                        </a:solidFill>
                      </a:endParaRPr>
                    </a:p>
                  </a:txBody>
                  <a:tcPr marL="95647" marR="95647" marT="47823" marB="47823" anchor="ctr">
                    <a:solidFill>
                      <a:schemeClr val="tx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a[2][3]</a:t>
                      </a:r>
                      <a:endParaRPr lang="zh-CN" altLang="en-US" sz="1400" b="1" dirty="0" smtClean="0">
                        <a:solidFill>
                          <a:schemeClr val="tx1"/>
                        </a:solidFill>
                      </a:endParaRPr>
                    </a:p>
                  </a:txBody>
                  <a:tcPr marL="95647" marR="95647" marT="47823" marB="47823" anchor="ctr">
                    <a:noFill/>
                  </a:tcPr>
                </a:tc>
                <a:extLst>
                  <a:ext uri="{0D108BD9-81ED-4DB2-BD59-A6C34878D82A}">
                    <a16:rowId xmlns:a16="http://schemas.microsoft.com/office/drawing/2014/main" xmlns="" val="10002"/>
                  </a:ext>
                </a:extLst>
              </a:tr>
              <a:tr h="6820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a[3][0]</a:t>
                      </a:r>
                      <a:endParaRPr lang="zh-CN" altLang="en-US" sz="1400" b="1" dirty="0" smtClean="0">
                        <a:solidFill>
                          <a:schemeClr val="tx1"/>
                        </a:solidFill>
                      </a:endParaRPr>
                    </a:p>
                  </a:txBody>
                  <a:tcPr marL="95647" marR="95647" marT="47823" marB="47823" anchor="ctr">
                    <a:solidFill>
                      <a:schemeClr val="tx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a[3][1]</a:t>
                      </a:r>
                      <a:endParaRPr lang="zh-CN" altLang="en-US" sz="1400" b="1" dirty="0" smtClean="0">
                        <a:solidFill>
                          <a:schemeClr val="tx1"/>
                        </a:solidFill>
                      </a:endParaRPr>
                    </a:p>
                  </a:txBody>
                  <a:tcPr marL="95647" marR="95647" marT="47823" marB="47823" anchor="ctr">
                    <a:solidFill>
                      <a:schemeClr val="tx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a[3][2]</a:t>
                      </a:r>
                      <a:endParaRPr lang="zh-CN" altLang="en-US" sz="1400" b="1" dirty="0" smtClean="0">
                        <a:solidFill>
                          <a:schemeClr val="tx1"/>
                        </a:solidFill>
                      </a:endParaRPr>
                    </a:p>
                  </a:txBody>
                  <a:tcPr marL="95647" marR="95647" marT="47823" marB="47823" anchor="ctr">
                    <a:solidFill>
                      <a:schemeClr val="tx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a[3][3]</a:t>
                      </a:r>
                      <a:endParaRPr lang="zh-CN" altLang="en-US" sz="1400" b="1" dirty="0" smtClean="0">
                        <a:solidFill>
                          <a:schemeClr val="tx1"/>
                        </a:solidFill>
                      </a:endParaRPr>
                    </a:p>
                  </a:txBody>
                  <a:tcPr marL="95647" marR="95647" marT="47823" marB="47823" anchor="ctr">
                    <a:solidFill>
                      <a:schemeClr val="tx1">
                        <a:lumMod val="20000"/>
                        <a:lumOff val="80000"/>
                      </a:schemeClr>
                    </a:solidFill>
                  </a:tcPr>
                </a:tc>
                <a:extLst>
                  <a:ext uri="{0D108BD9-81ED-4DB2-BD59-A6C34878D82A}">
                    <a16:rowId xmlns:a16="http://schemas.microsoft.com/office/drawing/2014/main" xmlns="" val="10003"/>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1695044566"/>
              </p:ext>
            </p:extLst>
          </p:nvPr>
        </p:nvGraphicFramePr>
        <p:xfrm>
          <a:off x="4716016" y="484924"/>
          <a:ext cx="504056" cy="2728052"/>
        </p:xfrm>
        <a:graphic>
          <a:graphicData uri="http://schemas.openxmlformats.org/drawingml/2006/table">
            <a:tbl>
              <a:tblPr firstRow="1" bandRow="1">
                <a:tableStyleId>{5C22544A-7EE6-4342-B048-85BDC9FD1C3A}</a:tableStyleId>
              </a:tblPr>
              <a:tblGrid>
                <a:gridCol w="504056">
                  <a:extLst>
                    <a:ext uri="{9D8B030D-6E8A-4147-A177-3AD203B41FA5}">
                      <a16:colId xmlns:a16="http://schemas.microsoft.com/office/drawing/2014/main" xmlns="" val="20000"/>
                    </a:ext>
                  </a:extLst>
                </a:gridCol>
              </a:tblGrid>
              <a:tr h="682013">
                <a:tc>
                  <a:txBody>
                    <a:bodyPr/>
                    <a:lstStyle/>
                    <a:p>
                      <a:pPr algn="ctr"/>
                      <a:r>
                        <a:rPr lang="en-US" altLang="zh-CN" sz="1400" b="1" dirty="0" err="1" smtClean="0">
                          <a:solidFill>
                            <a:schemeClr val="tx1"/>
                          </a:solidFill>
                        </a:rPr>
                        <a:t>i</a:t>
                      </a:r>
                      <a:r>
                        <a:rPr lang="en-US" altLang="zh-CN" sz="1400" b="1" dirty="0" smtClean="0">
                          <a:solidFill>
                            <a:schemeClr val="tx1"/>
                          </a:solidFill>
                        </a:rPr>
                        <a:t>=0</a:t>
                      </a:r>
                      <a:endParaRPr lang="zh-CN" altLang="en-US" sz="1400" b="1" dirty="0">
                        <a:solidFill>
                          <a:schemeClr val="tx1"/>
                        </a:solidFill>
                      </a:endParaRPr>
                    </a:p>
                  </a:txBody>
                  <a:tcPr marL="95647" marR="95647" marT="47823" marB="47823" anchor="ctr">
                    <a:solidFill>
                      <a:schemeClr val="tx1">
                        <a:lumMod val="20000"/>
                        <a:lumOff val="80000"/>
                      </a:schemeClr>
                    </a:solidFill>
                  </a:tcPr>
                </a:tc>
                <a:extLst>
                  <a:ext uri="{0D108BD9-81ED-4DB2-BD59-A6C34878D82A}">
                    <a16:rowId xmlns:a16="http://schemas.microsoft.com/office/drawing/2014/main" xmlns="" val="10000"/>
                  </a:ext>
                </a:extLst>
              </a:tr>
              <a:tr h="682013">
                <a:tc>
                  <a:txBody>
                    <a:bodyPr/>
                    <a:lstStyle/>
                    <a:p>
                      <a:pPr algn="ctr"/>
                      <a:r>
                        <a:rPr lang="en-US" altLang="zh-CN" sz="1400" b="1" dirty="0" err="1" smtClean="0">
                          <a:solidFill>
                            <a:schemeClr val="tx1"/>
                          </a:solidFill>
                        </a:rPr>
                        <a:t>i</a:t>
                      </a:r>
                      <a:r>
                        <a:rPr lang="en-US" altLang="zh-CN" sz="1400" b="1" dirty="0" smtClean="0">
                          <a:solidFill>
                            <a:schemeClr val="tx1"/>
                          </a:solidFill>
                        </a:rPr>
                        <a:t>=1</a:t>
                      </a:r>
                      <a:endParaRPr lang="zh-CN" altLang="en-US" sz="1400" b="1" dirty="0">
                        <a:solidFill>
                          <a:schemeClr val="tx1"/>
                        </a:solidFill>
                      </a:endParaRPr>
                    </a:p>
                  </a:txBody>
                  <a:tcPr marL="95647" marR="95647" marT="47823" marB="47823" anchor="ctr">
                    <a:solidFill>
                      <a:schemeClr val="tx1">
                        <a:lumMod val="20000"/>
                        <a:lumOff val="80000"/>
                      </a:schemeClr>
                    </a:solidFill>
                  </a:tcPr>
                </a:tc>
                <a:extLst>
                  <a:ext uri="{0D108BD9-81ED-4DB2-BD59-A6C34878D82A}">
                    <a16:rowId xmlns:a16="http://schemas.microsoft.com/office/drawing/2014/main" xmlns="" val="10001"/>
                  </a:ext>
                </a:extLst>
              </a:tr>
              <a:tr h="682013">
                <a:tc>
                  <a:txBody>
                    <a:bodyPr/>
                    <a:lstStyle/>
                    <a:p>
                      <a:pPr algn="ctr"/>
                      <a:r>
                        <a:rPr lang="en-US" altLang="zh-CN" sz="1400" b="1" dirty="0" err="1" smtClean="0">
                          <a:solidFill>
                            <a:schemeClr val="tx1"/>
                          </a:solidFill>
                        </a:rPr>
                        <a:t>i</a:t>
                      </a:r>
                      <a:r>
                        <a:rPr lang="en-US" altLang="zh-CN" sz="1400" b="1" dirty="0" smtClean="0">
                          <a:solidFill>
                            <a:schemeClr val="tx1"/>
                          </a:solidFill>
                        </a:rPr>
                        <a:t>=2</a:t>
                      </a:r>
                      <a:endParaRPr lang="zh-CN" altLang="en-US" sz="1400" b="1" dirty="0">
                        <a:solidFill>
                          <a:schemeClr val="tx1"/>
                        </a:solidFill>
                      </a:endParaRPr>
                    </a:p>
                  </a:txBody>
                  <a:tcPr marL="95647" marR="95647" marT="47823" marB="47823" anchor="ctr">
                    <a:solidFill>
                      <a:schemeClr val="tx1">
                        <a:lumMod val="20000"/>
                        <a:lumOff val="80000"/>
                      </a:schemeClr>
                    </a:solidFill>
                  </a:tcPr>
                </a:tc>
                <a:extLst>
                  <a:ext uri="{0D108BD9-81ED-4DB2-BD59-A6C34878D82A}">
                    <a16:rowId xmlns:a16="http://schemas.microsoft.com/office/drawing/2014/main" xmlns="" val="10002"/>
                  </a:ext>
                </a:extLst>
              </a:tr>
              <a:tr h="682013">
                <a:tc>
                  <a:txBody>
                    <a:bodyPr/>
                    <a:lstStyle/>
                    <a:p>
                      <a:pPr algn="ctr"/>
                      <a:r>
                        <a:rPr lang="en-US" altLang="zh-CN" sz="1400" b="1" dirty="0" err="1" smtClean="0">
                          <a:solidFill>
                            <a:schemeClr val="tx1"/>
                          </a:solidFill>
                        </a:rPr>
                        <a:t>i</a:t>
                      </a:r>
                      <a:r>
                        <a:rPr lang="en-US" altLang="zh-CN" sz="1400" b="1" dirty="0" smtClean="0">
                          <a:solidFill>
                            <a:schemeClr val="tx1"/>
                          </a:solidFill>
                        </a:rPr>
                        <a:t>=3</a:t>
                      </a:r>
                      <a:endParaRPr lang="zh-CN" altLang="en-US" sz="1400" b="1" dirty="0">
                        <a:solidFill>
                          <a:schemeClr val="tx1"/>
                        </a:solidFill>
                      </a:endParaRPr>
                    </a:p>
                  </a:txBody>
                  <a:tcPr marL="95647" marR="95647" marT="47823" marB="47823" anchor="ctr">
                    <a:solidFill>
                      <a:schemeClr val="tx1">
                        <a:lumMod val="20000"/>
                        <a:lumOff val="80000"/>
                      </a:schemeClr>
                    </a:solidFill>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4157639382"/>
      </p:ext>
    </p:extLst>
  </p:cSld>
  <p:clrMapOvr>
    <a:masterClrMapping/>
  </p:clrMapOvr>
  <p:transition spd="med">
    <p:random/>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395536" y="260648"/>
            <a:ext cx="8568952" cy="5262979"/>
          </a:xfrm>
          <a:prstGeom prst="rect">
            <a:avLst/>
          </a:prstGeom>
        </p:spPr>
        <p:txBody>
          <a:bodyPr wrap="square">
            <a:spAutoFit/>
          </a:bodyPr>
          <a:lstStyle/>
          <a:p>
            <a:r>
              <a:rPr lang="en-US" altLang="zh-CN" sz="2400" b="1" dirty="0"/>
              <a:t>#include &lt;</a:t>
            </a:r>
            <a:r>
              <a:rPr lang="en-US" altLang="zh-CN" sz="2400" b="1" dirty="0" err="1"/>
              <a:t>stdio.h</a:t>
            </a:r>
            <a:r>
              <a:rPr lang="en-US" altLang="zh-CN" sz="2400" b="1" dirty="0"/>
              <a:t>&gt;</a:t>
            </a:r>
          </a:p>
          <a:p>
            <a:r>
              <a:rPr lang="en-US" altLang="zh-CN" sz="2400" b="1" dirty="0" err="1" smtClean="0"/>
              <a:t>int</a:t>
            </a:r>
            <a:r>
              <a:rPr lang="en-US" altLang="zh-CN" sz="2400" b="1" dirty="0" smtClean="0"/>
              <a:t> </a:t>
            </a:r>
            <a:r>
              <a:rPr lang="en-US" altLang="zh-CN" sz="2400" b="1" dirty="0"/>
              <a:t>main()</a:t>
            </a:r>
          </a:p>
          <a:p>
            <a:r>
              <a:rPr lang="en-US" altLang="zh-CN" sz="2400" b="1" dirty="0"/>
              <a:t>{</a:t>
            </a:r>
          </a:p>
          <a:p>
            <a:r>
              <a:rPr lang="en-US" altLang="zh-CN" sz="2400" b="1" dirty="0"/>
              <a:t>  </a:t>
            </a:r>
            <a:r>
              <a:rPr lang="en-US" altLang="zh-CN" sz="2400" b="1" dirty="0" err="1"/>
              <a:t>int</a:t>
            </a:r>
            <a:r>
              <a:rPr lang="en-US" altLang="zh-CN" sz="2400" b="1" dirty="0"/>
              <a:t> </a:t>
            </a:r>
            <a:r>
              <a:rPr lang="en-US" altLang="zh-CN" sz="2400" b="1" dirty="0" err="1" smtClean="0"/>
              <a:t>i,j,k,a</a:t>
            </a:r>
            <a:r>
              <a:rPr lang="en-US" altLang="zh-CN" sz="2400" b="1" dirty="0" smtClean="0"/>
              <a:t>[4][</a:t>
            </a:r>
            <a:r>
              <a:rPr lang="en-US" altLang="zh-CN" sz="2400" b="1" dirty="0"/>
              <a:t>4]={1,2,3,4,5,6,7,8,9,10,11,12,13,14,15,16};</a:t>
            </a:r>
          </a:p>
          <a:p>
            <a:r>
              <a:rPr lang="en-US" altLang="zh-CN" sz="2400" b="1" dirty="0" smtClean="0"/>
              <a:t>  for(</a:t>
            </a:r>
            <a:r>
              <a:rPr lang="en-US" altLang="zh-CN" sz="2400" b="1" dirty="0" err="1" smtClean="0"/>
              <a:t>i</a:t>
            </a:r>
            <a:r>
              <a:rPr lang="en-US" altLang="zh-CN" sz="2400" b="1" dirty="0" smtClean="0"/>
              <a:t>=0;i&lt;</a:t>
            </a:r>
            <a:r>
              <a:rPr lang="en-US" altLang="zh-CN" sz="2400" b="1" dirty="0"/>
              <a:t>4</a:t>
            </a:r>
            <a:r>
              <a:rPr lang="en-US" altLang="zh-CN" sz="2400" b="1" dirty="0" smtClean="0"/>
              <a:t>;i</a:t>
            </a:r>
            <a:r>
              <a:rPr lang="en-US" altLang="zh-CN" sz="2400" b="1" dirty="0"/>
              <a:t>++)</a:t>
            </a:r>
          </a:p>
          <a:p>
            <a:r>
              <a:rPr lang="en-US" altLang="zh-CN" sz="2400" b="1" dirty="0"/>
              <a:t>  {</a:t>
            </a:r>
          </a:p>
          <a:p>
            <a:r>
              <a:rPr lang="en-US" altLang="zh-CN" sz="2400" b="1" dirty="0"/>
              <a:t>    for(k=0;k&lt;</a:t>
            </a:r>
            <a:r>
              <a:rPr lang="en-US" altLang="zh-CN" sz="2400" b="1" dirty="0" err="1"/>
              <a:t>i;k</a:t>
            </a:r>
            <a:r>
              <a:rPr lang="en-US" altLang="zh-CN" sz="2400" b="1" dirty="0"/>
              <a:t>++)</a:t>
            </a:r>
          </a:p>
          <a:p>
            <a:r>
              <a:rPr lang="en-US" altLang="zh-CN" sz="2400" b="1" dirty="0"/>
              <a:t>        </a:t>
            </a:r>
            <a:r>
              <a:rPr lang="en-US" altLang="zh-CN" sz="2400" b="1" dirty="0" err="1"/>
              <a:t>printf</a:t>
            </a:r>
            <a:r>
              <a:rPr lang="en-US" altLang="zh-CN" sz="2400" b="1" dirty="0"/>
              <a:t>("    ");</a:t>
            </a:r>
          </a:p>
          <a:p>
            <a:r>
              <a:rPr lang="en-US" altLang="zh-CN" sz="2400" b="1" dirty="0"/>
              <a:t>    </a:t>
            </a:r>
            <a:r>
              <a:rPr lang="en-US" altLang="zh-CN" sz="2400" b="1" dirty="0" smtClean="0"/>
              <a:t>for(j=</a:t>
            </a:r>
            <a:r>
              <a:rPr lang="en-US" altLang="zh-CN" sz="2400" b="1" dirty="0" err="1" smtClean="0"/>
              <a:t>i;j</a:t>
            </a:r>
            <a:r>
              <a:rPr lang="en-US" altLang="zh-CN" sz="2400" b="1" dirty="0" smtClean="0"/>
              <a:t>&lt;4;j</a:t>
            </a:r>
            <a:r>
              <a:rPr lang="en-US" altLang="zh-CN" sz="2400" b="1" dirty="0"/>
              <a:t>++)</a:t>
            </a:r>
          </a:p>
          <a:p>
            <a:r>
              <a:rPr lang="en-US" altLang="zh-CN" sz="2400" b="1" dirty="0"/>
              <a:t>       </a:t>
            </a:r>
            <a:r>
              <a:rPr lang="en-US" altLang="zh-CN" sz="2400" b="1" dirty="0" err="1"/>
              <a:t>printf</a:t>
            </a:r>
            <a:r>
              <a:rPr lang="en-US" altLang="zh-CN" sz="2400" b="1" dirty="0"/>
              <a:t>("%4d",a[i][j]);</a:t>
            </a:r>
          </a:p>
          <a:p>
            <a:r>
              <a:rPr lang="en-US" altLang="zh-CN" sz="2400" b="1" dirty="0"/>
              <a:t>    </a:t>
            </a:r>
            <a:r>
              <a:rPr lang="en-US" altLang="zh-CN" sz="2400" b="1" dirty="0" err="1"/>
              <a:t>printf</a:t>
            </a:r>
            <a:r>
              <a:rPr lang="en-US" altLang="zh-CN" sz="2400" b="1" dirty="0"/>
              <a:t>("\n");</a:t>
            </a:r>
          </a:p>
          <a:p>
            <a:r>
              <a:rPr lang="en-US" altLang="zh-CN" sz="2400" b="1" dirty="0"/>
              <a:t>  }</a:t>
            </a:r>
          </a:p>
          <a:p>
            <a:r>
              <a:rPr lang="en-US" altLang="zh-CN" sz="2400" b="1" dirty="0"/>
              <a:t>  return 0;</a:t>
            </a:r>
          </a:p>
          <a:p>
            <a:r>
              <a:rPr lang="en-US" altLang="zh-CN" sz="2400" b="1" dirty="0"/>
              <a:t>}</a:t>
            </a:r>
            <a:endParaRPr lang="zh-CN" altLang="en-US" sz="2400" b="1" dirty="0"/>
          </a:p>
        </p:txBody>
      </p:sp>
      <p:graphicFrame>
        <p:nvGraphicFramePr>
          <p:cNvPr id="4" name="表格 3"/>
          <p:cNvGraphicFramePr>
            <a:graphicFrameLocks noGrp="1"/>
          </p:cNvGraphicFramePr>
          <p:nvPr>
            <p:extLst>
              <p:ext uri="{D42A27DB-BD31-4B8C-83A1-F6EECF244321}">
                <p14:modId xmlns:p14="http://schemas.microsoft.com/office/powerpoint/2010/main" val="785152324"/>
              </p:ext>
            </p:extLst>
          </p:nvPr>
        </p:nvGraphicFramePr>
        <p:xfrm>
          <a:off x="6012160" y="1844824"/>
          <a:ext cx="2718084" cy="2709888"/>
        </p:xfrm>
        <a:graphic>
          <a:graphicData uri="http://schemas.openxmlformats.org/drawingml/2006/table">
            <a:tbl>
              <a:tblPr firstRow="1" bandRow="1">
                <a:tableStyleId>{5C22544A-7EE6-4342-B048-85BDC9FD1C3A}</a:tableStyleId>
              </a:tblPr>
              <a:tblGrid>
                <a:gridCol w="679521">
                  <a:extLst>
                    <a:ext uri="{9D8B030D-6E8A-4147-A177-3AD203B41FA5}">
                      <a16:colId xmlns:a16="http://schemas.microsoft.com/office/drawing/2014/main" xmlns="" val="20000"/>
                    </a:ext>
                  </a:extLst>
                </a:gridCol>
                <a:gridCol w="679521">
                  <a:extLst>
                    <a:ext uri="{9D8B030D-6E8A-4147-A177-3AD203B41FA5}">
                      <a16:colId xmlns:a16="http://schemas.microsoft.com/office/drawing/2014/main" xmlns="" val="20001"/>
                    </a:ext>
                  </a:extLst>
                </a:gridCol>
                <a:gridCol w="679521">
                  <a:extLst>
                    <a:ext uri="{9D8B030D-6E8A-4147-A177-3AD203B41FA5}">
                      <a16:colId xmlns:a16="http://schemas.microsoft.com/office/drawing/2014/main" xmlns="" val="20002"/>
                    </a:ext>
                  </a:extLst>
                </a:gridCol>
                <a:gridCol w="679521">
                  <a:extLst>
                    <a:ext uri="{9D8B030D-6E8A-4147-A177-3AD203B41FA5}">
                      <a16:colId xmlns:a16="http://schemas.microsoft.com/office/drawing/2014/main" xmlns="" val="20003"/>
                    </a:ext>
                  </a:extLst>
                </a:gridCol>
              </a:tblGrid>
              <a:tr h="677472">
                <a:tc>
                  <a:txBody>
                    <a:bodyPr/>
                    <a:lstStyle/>
                    <a:p>
                      <a:pPr algn="ctr"/>
                      <a:r>
                        <a:rPr lang="en-US" altLang="zh-CN" sz="1800" b="1" dirty="0" smtClean="0">
                          <a:solidFill>
                            <a:schemeClr val="tx1"/>
                          </a:solidFill>
                        </a:rPr>
                        <a:t>1</a:t>
                      </a:r>
                      <a:endParaRPr lang="zh-CN" altLang="en-US" sz="1800" b="1" dirty="0">
                        <a:solidFill>
                          <a:schemeClr val="tx1"/>
                        </a:solidFill>
                      </a:endParaRPr>
                    </a:p>
                  </a:txBody>
                  <a:tcPr marL="95010" marR="95010" marT="47505" marB="47505" anchor="ctr">
                    <a:solidFill>
                      <a:schemeClr val="tx1">
                        <a:lumMod val="20000"/>
                        <a:lumOff val="80000"/>
                      </a:schemeClr>
                    </a:solidFill>
                  </a:tcPr>
                </a:tc>
                <a:tc>
                  <a:txBody>
                    <a:bodyPr/>
                    <a:lstStyle/>
                    <a:p>
                      <a:pPr algn="ctr"/>
                      <a:r>
                        <a:rPr lang="en-US" altLang="zh-CN" sz="1800" b="1" dirty="0" smtClean="0">
                          <a:solidFill>
                            <a:schemeClr val="tx1"/>
                          </a:solidFill>
                        </a:rPr>
                        <a:t>2</a:t>
                      </a:r>
                      <a:endParaRPr lang="zh-CN" altLang="en-US" sz="1800" b="1" dirty="0">
                        <a:solidFill>
                          <a:schemeClr val="tx1"/>
                        </a:solidFill>
                      </a:endParaRPr>
                    </a:p>
                  </a:txBody>
                  <a:tcPr marL="95010" marR="95010" marT="47505" marB="47505" anchor="ctr">
                    <a:solidFill>
                      <a:schemeClr val="tx1">
                        <a:lumMod val="20000"/>
                        <a:lumOff val="80000"/>
                      </a:schemeClr>
                    </a:solidFill>
                  </a:tcPr>
                </a:tc>
                <a:tc>
                  <a:txBody>
                    <a:bodyPr/>
                    <a:lstStyle/>
                    <a:p>
                      <a:pPr algn="ctr"/>
                      <a:r>
                        <a:rPr lang="en-US" altLang="zh-CN" sz="1800" b="1" dirty="0" smtClean="0">
                          <a:solidFill>
                            <a:schemeClr val="tx1"/>
                          </a:solidFill>
                        </a:rPr>
                        <a:t>3</a:t>
                      </a:r>
                      <a:endParaRPr lang="zh-CN" altLang="en-US" sz="1800" b="1" dirty="0">
                        <a:solidFill>
                          <a:schemeClr val="tx1"/>
                        </a:solidFill>
                      </a:endParaRPr>
                    </a:p>
                  </a:txBody>
                  <a:tcPr marL="95010" marR="95010" marT="47505" marB="47505" anchor="ctr">
                    <a:solidFill>
                      <a:schemeClr val="tx1">
                        <a:lumMod val="20000"/>
                        <a:lumOff val="80000"/>
                      </a:schemeClr>
                    </a:solidFill>
                  </a:tcPr>
                </a:tc>
                <a:tc>
                  <a:txBody>
                    <a:bodyPr/>
                    <a:lstStyle/>
                    <a:p>
                      <a:pPr algn="ctr"/>
                      <a:r>
                        <a:rPr lang="en-US" altLang="zh-CN" sz="1800" b="1" dirty="0" smtClean="0">
                          <a:solidFill>
                            <a:schemeClr val="tx1"/>
                          </a:solidFill>
                        </a:rPr>
                        <a:t>4</a:t>
                      </a:r>
                      <a:endParaRPr lang="zh-CN" altLang="en-US" sz="1800" b="1" dirty="0">
                        <a:solidFill>
                          <a:schemeClr val="tx1"/>
                        </a:solidFill>
                      </a:endParaRPr>
                    </a:p>
                  </a:txBody>
                  <a:tcPr marL="95010" marR="95010" marT="47505" marB="47505" anchor="ctr">
                    <a:solidFill>
                      <a:schemeClr val="tx1">
                        <a:lumMod val="20000"/>
                        <a:lumOff val="80000"/>
                      </a:schemeClr>
                    </a:solidFill>
                  </a:tcPr>
                </a:tc>
                <a:extLst>
                  <a:ext uri="{0D108BD9-81ED-4DB2-BD59-A6C34878D82A}">
                    <a16:rowId xmlns:a16="http://schemas.microsoft.com/office/drawing/2014/main" xmlns="" val="10000"/>
                  </a:ext>
                </a:extLst>
              </a:tr>
              <a:tr h="677472">
                <a:tc>
                  <a:txBody>
                    <a:bodyPr/>
                    <a:lstStyle/>
                    <a:p>
                      <a:pPr algn="ctr"/>
                      <a:r>
                        <a:rPr lang="en-US" altLang="zh-CN" sz="1800" b="1" dirty="0" smtClean="0">
                          <a:solidFill>
                            <a:schemeClr val="tx1"/>
                          </a:solidFill>
                        </a:rPr>
                        <a:t>5</a:t>
                      </a:r>
                      <a:endParaRPr lang="zh-CN" altLang="en-US" sz="1800" b="1" dirty="0">
                        <a:solidFill>
                          <a:schemeClr val="tx1"/>
                        </a:solidFill>
                      </a:endParaRPr>
                    </a:p>
                  </a:txBody>
                  <a:tcPr marL="95010" marR="95010" marT="47505" marB="47505" anchor="ctr">
                    <a:noFill/>
                  </a:tcPr>
                </a:tc>
                <a:tc>
                  <a:txBody>
                    <a:bodyPr/>
                    <a:lstStyle/>
                    <a:p>
                      <a:pPr algn="ctr"/>
                      <a:r>
                        <a:rPr lang="en-US" altLang="zh-CN" sz="1800" b="1" dirty="0" smtClean="0">
                          <a:solidFill>
                            <a:schemeClr val="tx1"/>
                          </a:solidFill>
                        </a:rPr>
                        <a:t>6</a:t>
                      </a:r>
                      <a:endParaRPr lang="zh-CN" altLang="en-US" sz="1800" b="1" dirty="0">
                        <a:solidFill>
                          <a:schemeClr val="tx1"/>
                        </a:solidFill>
                      </a:endParaRPr>
                    </a:p>
                  </a:txBody>
                  <a:tcPr marL="95010" marR="95010" marT="47505" marB="47505" anchor="ctr">
                    <a:solidFill>
                      <a:schemeClr val="tx1">
                        <a:lumMod val="20000"/>
                        <a:lumOff val="80000"/>
                      </a:schemeClr>
                    </a:solidFill>
                  </a:tcPr>
                </a:tc>
                <a:tc>
                  <a:txBody>
                    <a:bodyPr/>
                    <a:lstStyle/>
                    <a:p>
                      <a:pPr algn="ctr"/>
                      <a:r>
                        <a:rPr lang="en-US" altLang="zh-CN" sz="1800" b="1" dirty="0" smtClean="0">
                          <a:solidFill>
                            <a:schemeClr val="tx1"/>
                          </a:solidFill>
                        </a:rPr>
                        <a:t>7</a:t>
                      </a:r>
                      <a:endParaRPr lang="zh-CN" altLang="en-US" sz="1800" b="1" dirty="0">
                        <a:solidFill>
                          <a:schemeClr val="tx1"/>
                        </a:solidFill>
                      </a:endParaRPr>
                    </a:p>
                  </a:txBody>
                  <a:tcPr marL="95010" marR="95010" marT="47505" marB="47505" anchor="ctr">
                    <a:solidFill>
                      <a:schemeClr val="tx1">
                        <a:lumMod val="20000"/>
                        <a:lumOff val="80000"/>
                      </a:schemeClr>
                    </a:solidFill>
                  </a:tcPr>
                </a:tc>
                <a:tc>
                  <a:txBody>
                    <a:bodyPr/>
                    <a:lstStyle/>
                    <a:p>
                      <a:pPr algn="ctr"/>
                      <a:r>
                        <a:rPr lang="en-US" altLang="zh-CN" sz="1800" b="1" dirty="0" smtClean="0">
                          <a:solidFill>
                            <a:schemeClr val="tx1"/>
                          </a:solidFill>
                        </a:rPr>
                        <a:t>8</a:t>
                      </a:r>
                      <a:endParaRPr lang="zh-CN" altLang="en-US" sz="1800" b="1" dirty="0">
                        <a:solidFill>
                          <a:schemeClr val="tx1"/>
                        </a:solidFill>
                      </a:endParaRPr>
                    </a:p>
                  </a:txBody>
                  <a:tcPr marL="95010" marR="95010" marT="47505" marB="47505" anchor="ctr">
                    <a:solidFill>
                      <a:schemeClr val="tx1">
                        <a:lumMod val="20000"/>
                        <a:lumOff val="80000"/>
                      </a:schemeClr>
                    </a:solidFill>
                  </a:tcPr>
                </a:tc>
                <a:extLst>
                  <a:ext uri="{0D108BD9-81ED-4DB2-BD59-A6C34878D82A}">
                    <a16:rowId xmlns:a16="http://schemas.microsoft.com/office/drawing/2014/main" xmlns="" val="10001"/>
                  </a:ext>
                </a:extLst>
              </a:tr>
              <a:tr h="677472">
                <a:tc>
                  <a:txBody>
                    <a:bodyPr/>
                    <a:lstStyle/>
                    <a:p>
                      <a:pPr algn="ctr"/>
                      <a:r>
                        <a:rPr lang="en-US" altLang="zh-CN" sz="1800" b="1" dirty="0" smtClean="0">
                          <a:solidFill>
                            <a:schemeClr val="tx1"/>
                          </a:solidFill>
                        </a:rPr>
                        <a:t>9</a:t>
                      </a:r>
                      <a:endParaRPr lang="zh-CN" altLang="en-US" sz="1800" b="1" dirty="0">
                        <a:solidFill>
                          <a:schemeClr val="tx1"/>
                        </a:solidFill>
                      </a:endParaRPr>
                    </a:p>
                  </a:txBody>
                  <a:tcPr marL="95010" marR="95010" marT="47505" marB="47505" anchor="ctr">
                    <a:noFill/>
                  </a:tcPr>
                </a:tc>
                <a:tc>
                  <a:txBody>
                    <a:bodyPr/>
                    <a:lstStyle/>
                    <a:p>
                      <a:pPr algn="ctr"/>
                      <a:r>
                        <a:rPr lang="en-US" altLang="zh-CN" sz="1800" b="1" dirty="0" smtClean="0">
                          <a:solidFill>
                            <a:schemeClr val="tx1"/>
                          </a:solidFill>
                        </a:rPr>
                        <a:t>10</a:t>
                      </a:r>
                      <a:endParaRPr lang="zh-CN" altLang="en-US" sz="1800" b="1" dirty="0">
                        <a:solidFill>
                          <a:schemeClr val="tx1"/>
                        </a:solidFill>
                      </a:endParaRPr>
                    </a:p>
                  </a:txBody>
                  <a:tcPr marL="95010" marR="95010" marT="47505" marB="47505" anchor="ctr">
                    <a:noFill/>
                  </a:tcPr>
                </a:tc>
                <a:tc>
                  <a:txBody>
                    <a:bodyPr/>
                    <a:lstStyle/>
                    <a:p>
                      <a:pPr algn="ctr"/>
                      <a:r>
                        <a:rPr lang="en-US" altLang="zh-CN" sz="1800" b="1" dirty="0" smtClean="0">
                          <a:solidFill>
                            <a:schemeClr val="tx1"/>
                          </a:solidFill>
                        </a:rPr>
                        <a:t>11</a:t>
                      </a:r>
                      <a:endParaRPr lang="zh-CN" altLang="en-US" sz="1800" b="1" dirty="0">
                        <a:solidFill>
                          <a:schemeClr val="tx1"/>
                        </a:solidFill>
                      </a:endParaRPr>
                    </a:p>
                  </a:txBody>
                  <a:tcPr marL="95010" marR="95010" marT="47505" marB="47505" anchor="ctr">
                    <a:solidFill>
                      <a:schemeClr val="tx1">
                        <a:lumMod val="20000"/>
                        <a:lumOff val="80000"/>
                      </a:schemeClr>
                    </a:solidFill>
                  </a:tcPr>
                </a:tc>
                <a:tc>
                  <a:txBody>
                    <a:bodyPr/>
                    <a:lstStyle/>
                    <a:p>
                      <a:pPr algn="ctr"/>
                      <a:r>
                        <a:rPr lang="en-US" altLang="zh-CN" sz="1800" b="1" dirty="0" smtClean="0">
                          <a:solidFill>
                            <a:schemeClr val="tx1"/>
                          </a:solidFill>
                        </a:rPr>
                        <a:t>12</a:t>
                      </a:r>
                      <a:endParaRPr lang="zh-CN" altLang="en-US" sz="1800" b="1" dirty="0">
                        <a:solidFill>
                          <a:schemeClr val="tx1"/>
                        </a:solidFill>
                      </a:endParaRPr>
                    </a:p>
                  </a:txBody>
                  <a:tcPr marL="95010" marR="95010" marT="47505" marB="47505" anchor="ctr">
                    <a:solidFill>
                      <a:schemeClr val="tx1">
                        <a:lumMod val="20000"/>
                        <a:lumOff val="80000"/>
                      </a:schemeClr>
                    </a:solidFill>
                  </a:tcPr>
                </a:tc>
                <a:extLst>
                  <a:ext uri="{0D108BD9-81ED-4DB2-BD59-A6C34878D82A}">
                    <a16:rowId xmlns:a16="http://schemas.microsoft.com/office/drawing/2014/main" xmlns="" val="10002"/>
                  </a:ext>
                </a:extLst>
              </a:tr>
              <a:tr h="677472">
                <a:tc>
                  <a:txBody>
                    <a:bodyPr/>
                    <a:lstStyle/>
                    <a:p>
                      <a:pPr algn="ctr"/>
                      <a:r>
                        <a:rPr lang="en-US" altLang="zh-CN" sz="1800" b="1" dirty="0" smtClean="0">
                          <a:solidFill>
                            <a:schemeClr val="tx1"/>
                          </a:solidFill>
                        </a:rPr>
                        <a:t>13</a:t>
                      </a:r>
                      <a:endParaRPr lang="zh-CN" altLang="en-US" sz="1800" b="1" dirty="0">
                        <a:solidFill>
                          <a:schemeClr val="tx1"/>
                        </a:solidFill>
                      </a:endParaRPr>
                    </a:p>
                  </a:txBody>
                  <a:tcPr marL="95010" marR="95010" marT="47505" marB="47505" anchor="ctr">
                    <a:noFill/>
                  </a:tcPr>
                </a:tc>
                <a:tc>
                  <a:txBody>
                    <a:bodyPr/>
                    <a:lstStyle/>
                    <a:p>
                      <a:pPr algn="ctr"/>
                      <a:r>
                        <a:rPr lang="en-US" altLang="zh-CN" sz="1800" b="1" dirty="0" smtClean="0">
                          <a:solidFill>
                            <a:schemeClr val="tx1"/>
                          </a:solidFill>
                        </a:rPr>
                        <a:t>14</a:t>
                      </a:r>
                      <a:endParaRPr lang="zh-CN" altLang="en-US" sz="1800" b="1" dirty="0">
                        <a:solidFill>
                          <a:schemeClr val="tx1"/>
                        </a:solidFill>
                      </a:endParaRPr>
                    </a:p>
                  </a:txBody>
                  <a:tcPr marL="95010" marR="95010" marT="47505" marB="47505" anchor="ctr">
                    <a:noFill/>
                  </a:tcPr>
                </a:tc>
                <a:tc>
                  <a:txBody>
                    <a:bodyPr/>
                    <a:lstStyle/>
                    <a:p>
                      <a:pPr algn="ctr"/>
                      <a:r>
                        <a:rPr lang="en-US" altLang="zh-CN" sz="1800" b="1" dirty="0" smtClean="0">
                          <a:solidFill>
                            <a:schemeClr val="tx1"/>
                          </a:solidFill>
                        </a:rPr>
                        <a:t>15</a:t>
                      </a:r>
                      <a:endParaRPr lang="zh-CN" altLang="en-US" sz="1800" b="1" dirty="0">
                        <a:solidFill>
                          <a:schemeClr val="tx1"/>
                        </a:solidFill>
                      </a:endParaRPr>
                    </a:p>
                  </a:txBody>
                  <a:tcPr marL="95010" marR="95010" marT="47505" marB="47505" anchor="ctr">
                    <a:noFill/>
                  </a:tcPr>
                </a:tc>
                <a:tc>
                  <a:txBody>
                    <a:bodyPr/>
                    <a:lstStyle/>
                    <a:p>
                      <a:pPr algn="ctr"/>
                      <a:r>
                        <a:rPr lang="en-US" altLang="zh-CN" sz="1800" b="1" dirty="0" smtClean="0">
                          <a:solidFill>
                            <a:schemeClr val="tx1"/>
                          </a:solidFill>
                        </a:rPr>
                        <a:t>16</a:t>
                      </a:r>
                      <a:endParaRPr lang="zh-CN" altLang="en-US" sz="1800" b="1" dirty="0">
                        <a:solidFill>
                          <a:schemeClr val="tx1"/>
                        </a:solidFill>
                      </a:endParaRPr>
                    </a:p>
                  </a:txBody>
                  <a:tcPr marL="95010" marR="95010" marT="47505" marB="47505" anchor="ctr">
                    <a:solidFill>
                      <a:schemeClr val="tx1">
                        <a:lumMod val="20000"/>
                        <a:lumOff val="80000"/>
                      </a:schemeClr>
                    </a:solidFill>
                  </a:tcPr>
                </a:tc>
                <a:extLst>
                  <a:ext uri="{0D108BD9-81ED-4DB2-BD59-A6C34878D82A}">
                    <a16:rowId xmlns:a16="http://schemas.microsoft.com/office/drawing/2014/main" xmlns="" val="10003"/>
                  </a:ext>
                </a:extLst>
              </a:tr>
            </a:tbl>
          </a:graphicData>
        </a:graphic>
      </p:graphicFrame>
      <p:sp>
        <p:nvSpPr>
          <p:cNvPr id="5" name="矩形 4"/>
          <p:cNvSpPr/>
          <p:nvPr/>
        </p:nvSpPr>
        <p:spPr bwMode="auto">
          <a:xfrm>
            <a:off x="5535434" y="698487"/>
            <a:ext cx="3240360" cy="504056"/>
          </a:xfrm>
          <a:prstGeom prst="rect">
            <a:avLst/>
          </a:prstGeom>
          <a:no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smtClean="0">
                <a:ln>
                  <a:noFill/>
                </a:ln>
                <a:solidFill>
                  <a:schemeClr val="tx1"/>
                </a:solidFill>
                <a:effectLst/>
                <a:latin typeface="Arial" charset="0"/>
                <a:ea typeface="宋体" pitchFamily="2" charset="-122"/>
              </a:rPr>
              <a:t>显示矩阵上三角数值</a:t>
            </a:r>
          </a:p>
        </p:txBody>
      </p:sp>
      <p:graphicFrame>
        <p:nvGraphicFramePr>
          <p:cNvPr id="6" name="表格 5"/>
          <p:cNvGraphicFramePr>
            <a:graphicFrameLocks noGrp="1"/>
          </p:cNvGraphicFramePr>
          <p:nvPr>
            <p:extLst>
              <p:ext uri="{D42A27DB-BD31-4B8C-83A1-F6EECF244321}">
                <p14:modId xmlns:p14="http://schemas.microsoft.com/office/powerpoint/2010/main" val="2028606240"/>
              </p:ext>
            </p:extLst>
          </p:nvPr>
        </p:nvGraphicFramePr>
        <p:xfrm>
          <a:off x="3419872" y="4109577"/>
          <a:ext cx="2736304" cy="2728052"/>
        </p:xfrm>
        <a:graphic>
          <a:graphicData uri="http://schemas.openxmlformats.org/drawingml/2006/table">
            <a:tbl>
              <a:tblPr firstRow="1" bandRow="1">
                <a:tableStyleId>{5C22544A-7EE6-4342-B048-85BDC9FD1C3A}</a:tableStyleId>
              </a:tblPr>
              <a:tblGrid>
                <a:gridCol w="684076">
                  <a:extLst>
                    <a:ext uri="{9D8B030D-6E8A-4147-A177-3AD203B41FA5}">
                      <a16:colId xmlns:a16="http://schemas.microsoft.com/office/drawing/2014/main" xmlns="" val="20000"/>
                    </a:ext>
                  </a:extLst>
                </a:gridCol>
                <a:gridCol w="684076">
                  <a:extLst>
                    <a:ext uri="{9D8B030D-6E8A-4147-A177-3AD203B41FA5}">
                      <a16:colId xmlns:a16="http://schemas.microsoft.com/office/drawing/2014/main" xmlns="" val="20001"/>
                    </a:ext>
                  </a:extLst>
                </a:gridCol>
                <a:gridCol w="684076">
                  <a:extLst>
                    <a:ext uri="{9D8B030D-6E8A-4147-A177-3AD203B41FA5}">
                      <a16:colId xmlns:a16="http://schemas.microsoft.com/office/drawing/2014/main" xmlns="" val="20002"/>
                    </a:ext>
                  </a:extLst>
                </a:gridCol>
                <a:gridCol w="684076">
                  <a:extLst>
                    <a:ext uri="{9D8B030D-6E8A-4147-A177-3AD203B41FA5}">
                      <a16:colId xmlns:a16="http://schemas.microsoft.com/office/drawing/2014/main" xmlns="" val="20003"/>
                    </a:ext>
                  </a:extLst>
                </a:gridCol>
              </a:tblGrid>
              <a:tr h="682013">
                <a:tc>
                  <a:txBody>
                    <a:bodyPr/>
                    <a:lstStyle/>
                    <a:p>
                      <a:pPr algn="ctr"/>
                      <a:r>
                        <a:rPr lang="en-US" altLang="zh-CN" sz="1400" b="1" dirty="0" smtClean="0">
                          <a:solidFill>
                            <a:schemeClr val="tx1"/>
                          </a:solidFill>
                        </a:rPr>
                        <a:t>a[0][0]</a:t>
                      </a:r>
                      <a:endParaRPr lang="zh-CN" altLang="en-US" sz="1400" b="1" dirty="0">
                        <a:solidFill>
                          <a:schemeClr val="tx1"/>
                        </a:solidFill>
                      </a:endParaRPr>
                    </a:p>
                  </a:txBody>
                  <a:tcPr marL="95647" marR="95647" marT="47823" marB="4782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a[0][1]</a:t>
                      </a:r>
                      <a:endParaRPr lang="zh-CN" altLang="en-US" sz="1400" b="1" dirty="0" smtClean="0">
                        <a:solidFill>
                          <a:schemeClr val="tx1"/>
                        </a:solidFill>
                      </a:endParaRPr>
                    </a:p>
                  </a:txBody>
                  <a:tcPr marL="95647" marR="95647" marT="47823" marB="4782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a[0][2]</a:t>
                      </a:r>
                      <a:endParaRPr lang="zh-CN" altLang="en-US" sz="1400" b="1" dirty="0" smtClean="0">
                        <a:solidFill>
                          <a:schemeClr val="tx1"/>
                        </a:solidFill>
                      </a:endParaRPr>
                    </a:p>
                  </a:txBody>
                  <a:tcPr marL="95647" marR="95647" marT="47823" marB="4782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a[0][3]</a:t>
                      </a:r>
                      <a:endParaRPr lang="zh-CN" altLang="en-US" sz="1400" b="1" dirty="0" smtClean="0">
                        <a:solidFill>
                          <a:schemeClr val="tx1"/>
                        </a:solidFill>
                      </a:endParaRPr>
                    </a:p>
                  </a:txBody>
                  <a:tcPr marL="95647" marR="95647" marT="47823" marB="47823" anchor="ctr">
                    <a:solidFill>
                      <a:schemeClr val="accent4">
                        <a:lumMod val="25000"/>
                        <a:lumOff val="75000"/>
                      </a:schemeClr>
                    </a:solidFill>
                  </a:tcPr>
                </a:tc>
                <a:extLst>
                  <a:ext uri="{0D108BD9-81ED-4DB2-BD59-A6C34878D82A}">
                    <a16:rowId xmlns:a16="http://schemas.microsoft.com/office/drawing/2014/main" xmlns="" val="10000"/>
                  </a:ext>
                </a:extLst>
              </a:tr>
              <a:tr h="6820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a[1][0]</a:t>
                      </a:r>
                      <a:endParaRPr lang="zh-CN" altLang="en-US" sz="1400" b="1" dirty="0" smtClean="0">
                        <a:solidFill>
                          <a:schemeClr val="tx1"/>
                        </a:solidFill>
                      </a:endParaRPr>
                    </a:p>
                  </a:txBody>
                  <a:tcPr marL="95647" marR="95647" marT="47823" marB="47823"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a[1][1]</a:t>
                      </a:r>
                      <a:endParaRPr lang="zh-CN" altLang="en-US" sz="1400" b="1" dirty="0" smtClean="0">
                        <a:solidFill>
                          <a:schemeClr val="tx1"/>
                        </a:solidFill>
                      </a:endParaRPr>
                    </a:p>
                  </a:txBody>
                  <a:tcPr marL="95647" marR="95647" marT="47823" marB="4782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a[1][2]</a:t>
                      </a:r>
                      <a:endParaRPr lang="zh-CN" altLang="en-US" sz="1400" b="1" dirty="0" smtClean="0">
                        <a:solidFill>
                          <a:schemeClr val="tx1"/>
                        </a:solidFill>
                      </a:endParaRPr>
                    </a:p>
                  </a:txBody>
                  <a:tcPr marL="95647" marR="95647" marT="47823" marB="4782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a[1][3]</a:t>
                      </a:r>
                      <a:endParaRPr lang="zh-CN" altLang="en-US" sz="1400" b="1" dirty="0" smtClean="0">
                        <a:solidFill>
                          <a:schemeClr val="tx1"/>
                        </a:solidFill>
                      </a:endParaRPr>
                    </a:p>
                  </a:txBody>
                  <a:tcPr marL="95647" marR="95647" marT="47823" marB="47823" anchor="ctr">
                    <a:solidFill>
                      <a:schemeClr val="accent4">
                        <a:lumMod val="25000"/>
                        <a:lumOff val="75000"/>
                      </a:schemeClr>
                    </a:solidFill>
                  </a:tcPr>
                </a:tc>
                <a:extLst>
                  <a:ext uri="{0D108BD9-81ED-4DB2-BD59-A6C34878D82A}">
                    <a16:rowId xmlns:a16="http://schemas.microsoft.com/office/drawing/2014/main" xmlns="" val="10001"/>
                  </a:ext>
                </a:extLst>
              </a:tr>
              <a:tr h="6820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a[2][0]</a:t>
                      </a:r>
                      <a:endParaRPr lang="zh-CN" altLang="en-US" sz="1400" b="1" dirty="0" smtClean="0">
                        <a:solidFill>
                          <a:schemeClr val="tx1"/>
                        </a:solidFill>
                      </a:endParaRPr>
                    </a:p>
                  </a:txBody>
                  <a:tcPr marL="95647" marR="95647" marT="47823" marB="47823"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a[2][1]</a:t>
                      </a:r>
                      <a:endParaRPr lang="zh-CN" altLang="en-US" sz="1400" b="1" dirty="0" smtClean="0">
                        <a:solidFill>
                          <a:schemeClr val="tx1"/>
                        </a:solidFill>
                      </a:endParaRPr>
                    </a:p>
                  </a:txBody>
                  <a:tcPr marL="95647" marR="95647" marT="47823" marB="47823"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a[2][2]</a:t>
                      </a:r>
                      <a:endParaRPr lang="zh-CN" altLang="en-US" sz="1400" b="1" dirty="0" smtClean="0">
                        <a:solidFill>
                          <a:schemeClr val="tx1"/>
                        </a:solidFill>
                      </a:endParaRPr>
                    </a:p>
                  </a:txBody>
                  <a:tcPr marL="95647" marR="95647" marT="47823" marB="4782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a[2][3]</a:t>
                      </a:r>
                      <a:endParaRPr lang="zh-CN" altLang="en-US" sz="1400" b="1" dirty="0" smtClean="0">
                        <a:solidFill>
                          <a:schemeClr val="tx1"/>
                        </a:solidFill>
                      </a:endParaRPr>
                    </a:p>
                  </a:txBody>
                  <a:tcPr marL="95647" marR="95647" marT="47823" marB="47823" anchor="ctr">
                    <a:solidFill>
                      <a:schemeClr val="accent4">
                        <a:lumMod val="25000"/>
                        <a:lumOff val="75000"/>
                      </a:schemeClr>
                    </a:solidFill>
                  </a:tcPr>
                </a:tc>
                <a:extLst>
                  <a:ext uri="{0D108BD9-81ED-4DB2-BD59-A6C34878D82A}">
                    <a16:rowId xmlns:a16="http://schemas.microsoft.com/office/drawing/2014/main" xmlns="" val="10002"/>
                  </a:ext>
                </a:extLst>
              </a:tr>
              <a:tr h="6820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a[3][0]</a:t>
                      </a:r>
                      <a:endParaRPr lang="zh-CN" altLang="en-US" sz="1400" b="1" dirty="0" smtClean="0">
                        <a:solidFill>
                          <a:schemeClr val="tx1"/>
                        </a:solidFill>
                      </a:endParaRPr>
                    </a:p>
                  </a:txBody>
                  <a:tcPr marL="95647" marR="95647" marT="47823" marB="47823"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a[3][1]</a:t>
                      </a:r>
                      <a:endParaRPr lang="zh-CN" altLang="en-US" sz="1400" b="1" dirty="0" smtClean="0">
                        <a:solidFill>
                          <a:schemeClr val="tx1"/>
                        </a:solidFill>
                      </a:endParaRPr>
                    </a:p>
                  </a:txBody>
                  <a:tcPr marL="95647" marR="95647" marT="47823" marB="47823"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a[3][2]</a:t>
                      </a:r>
                      <a:endParaRPr lang="zh-CN" altLang="en-US" sz="1400" b="1" dirty="0" smtClean="0">
                        <a:solidFill>
                          <a:schemeClr val="tx1"/>
                        </a:solidFill>
                      </a:endParaRPr>
                    </a:p>
                  </a:txBody>
                  <a:tcPr marL="95647" marR="95647" marT="47823" marB="47823"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a[3][3]</a:t>
                      </a:r>
                      <a:endParaRPr lang="zh-CN" altLang="en-US" sz="1400" b="1" dirty="0" smtClean="0">
                        <a:solidFill>
                          <a:schemeClr val="tx1"/>
                        </a:solidFill>
                      </a:endParaRPr>
                    </a:p>
                  </a:txBody>
                  <a:tcPr marL="95647" marR="95647" marT="47823" marB="47823" anchor="ctr">
                    <a:solidFill>
                      <a:schemeClr val="accent4">
                        <a:lumMod val="25000"/>
                        <a:lumOff val="75000"/>
                      </a:schemeClr>
                    </a:solidFill>
                  </a:tcPr>
                </a:tc>
                <a:extLst>
                  <a:ext uri="{0D108BD9-81ED-4DB2-BD59-A6C34878D82A}">
                    <a16:rowId xmlns:a16="http://schemas.microsoft.com/office/drawing/2014/main" xmlns="" val="10003"/>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151583290"/>
              </p:ext>
            </p:extLst>
          </p:nvPr>
        </p:nvGraphicFramePr>
        <p:xfrm>
          <a:off x="2843808" y="4117829"/>
          <a:ext cx="504056" cy="2728052"/>
        </p:xfrm>
        <a:graphic>
          <a:graphicData uri="http://schemas.openxmlformats.org/drawingml/2006/table">
            <a:tbl>
              <a:tblPr firstRow="1" bandRow="1">
                <a:tableStyleId>{5C22544A-7EE6-4342-B048-85BDC9FD1C3A}</a:tableStyleId>
              </a:tblPr>
              <a:tblGrid>
                <a:gridCol w="504056">
                  <a:extLst>
                    <a:ext uri="{9D8B030D-6E8A-4147-A177-3AD203B41FA5}">
                      <a16:colId xmlns:a16="http://schemas.microsoft.com/office/drawing/2014/main" xmlns="" val="20000"/>
                    </a:ext>
                  </a:extLst>
                </a:gridCol>
              </a:tblGrid>
              <a:tr h="682013">
                <a:tc>
                  <a:txBody>
                    <a:bodyPr/>
                    <a:lstStyle/>
                    <a:p>
                      <a:pPr algn="ctr"/>
                      <a:r>
                        <a:rPr lang="en-US" altLang="zh-CN" sz="1400" b="1" dirty="0" err="1" smtClean="0">
                          <a:solidFill>
                            <a:schemeClr val="tx1"/>
                          </a:solidFill>
                        </a:rPr>
                        <a:t>i</a:t>
                      </a:r>
                      <a:r>
                        <a:rPr lang="en-US" altLang="zh-CN" sz="1400" b="1" dirty="0" smtClean="0">
                          <a:solidFill>
                            <a:schemeClr val="tx1"/>
                          </a:solidFill>
                        </a:rPr>
                        <a:t>=0</a:t>
                      </a:r>
                      <a:endParaRPr lang="zh-CN" altLang="en-US" sz="1400" b="1" dirty="0">
                        <a:solidFill>
                          <a:schemeClr val="tx1"/>
                        </a:solidFill>
                      </a:endParaRPr>
                    </a:p>
                  </a:txBody>
                  <a:tcPr marL="95647" marR="95647" marT="47823" marB="47823" anchor="ctr">
                    <a:solidFill>
                      <a:schemeClr val="tx1">
                        <a:lumMod val="20000"/>
                        <a:lumOff val="80000"/>
                      </a:schemeClr>
                    </a:solidFill>
                  </a:tcPr>
                </a:tc>
                <a:extLst>
                  <a:ext uri="{0D108BD9-81ED-4DB2-BD59-A6C34878D82A}">
                    <a16:rowId xmlns:a16="http://schemas.microsoft.com/office/drawing/2014/main" xmlns="" val="10000"/>
                  </a:ext>
                </a:extLst>
              </a:tr>
              <a:tr h="682013">
                <a:tc>
                  <a:txBody>
                    <a:bodyPr/>
                    <a:lstStyle/>
                    <a:p>
                      <a:pPr algn="ctr"/>
                      <a:r>
                        <a:rPr lang="en-US" altLang="zh-CN" sz="1400" b="1" dirty="0" err="1" smtClean="0">
                          <a:solidFill>
                            <a:schemeClr val="tx1"/>
                          </a:solidFill>
                        </a:rPr>
                        <a:t>i</a:t>
                      </a:r>
                      <a:r>
                        <a:rPr lang="en-US" altLang="zh-CN" sz="1400" b="1" dirty="0" smtClean="0">
                          <a:solidFill>
                            <a:schemeClr val="tx1"/>
                          </a:solidFill>
                        </a:rPr>
                        <a:t>=1</a:t>
                      </a:r>
                      <a:endParaRPr lang="zh-CN" altLang="en-US" sz="1400" b="1" dirty="0">
                        <a:solidFill>
                          <a:schemeClr val="tx1"/>
                        </a:solidFill>
                      </a:endParaRPr>
                    </a:p>
                  </a:txBody>
                  <a:tcPr marL="95647" marR="95647" marT="47823" marB="47823" anchor="ctr">
                    <a:solidFill>
                      <a:schemeClr val="tx1">
                        <a:lumMod val="20000"/>
                        <a:lumOff val="80000"/>
                      </a:schemeClr>
                    </a:solidFill>
                  </a:tcPr>
                </a:tc>
                <a:extLst>
                  <a:ext uri="{0D108BD9-81ED-4DB2-BD59-A6C34878D82A}">
                    <a16:rowId xmlns:a16="http://schemas.microsoft.com/office/drawing/2014/main" xmlns="" val="10001"/>
                  </a:ext>
                </a:extLst>
              </a:tr>
              <a:tr h="682013">
                <a:tc>
                  <a:txBody>
                    <a:bodyPr/>
                    <a:lstStyle/>
                    <a:p>
                      <a:pPr algn="ctr"/>
                      <a:r>
                        <a:rPr lang="en-US" altLang="zh-CN" sz="1400" b="1" dirty="0" err="1" smtClean="0">
                          <a:solidFill>
                            <a:schemeClr val="tx1"/>
                          </a:solidFill>
                        </a:rPr>
                        <a:t>i</a:t>
                      </a:r>
                      <a:r>
                        <a:rPr lang="en-US" altLang="zh-CN" sz="1400" b="1" dirty="0" smtClean="0">
                          <a:solidFill>
                            <a:schemeClr val="tx1"/>
                          </a:solidFill>
                        </a:rPr>
                        <a:t>=2</a:t>
                      </a:r>
                      <a:endParaRPr lang="zh-CN" altLang="en-US" sz="1400" b="1" dirty="0">
                        <a:solidFill>
                          <a:schemeClr val="tx1"/>
                        </a:solidFill>
                      </a:endParaRPr>
                    </a:p>
                  </a:txBody>
                  <a:tcPr marL="95647" marR="95647" marT="47823" marB="47823" anchor="ctr">
                    <a:solidFill>
                      <a:schemeClr val="tx1">
                        <a:lumMod val="20000"/>
                        <a:lumOff val="80000"/>
                      </a:schemeClr>
                    </a:solidFill>
                  </a:tcPr>
                </a:tc>
                <a:extLst>
                  <a:ext uri="{0D108BD9-81ED-4DB2-BD59-A6C34878D82A}">
                    <a16:rowId xmlns:a16="http://schemas.microsoft.com/office/drawing/2014/main" xmlns="" val="10002"/>
                  </a:ext>
                </a:extLst>
              </a:tr>
              <a:tr h="682013">
                <a:tc>
                  <a:txBody>
                    <a:bodyPr/>
                    <a:lstStyle/>
                    <a:p>
                      <a:pPr algn="ctr"/>
                      <a:r>
                        <a:rPr lang="en-US" altLang="zh-CN" sz="1400" b="1" dirty="0" err="1" smtClean="0">
                          <a:solidFill>
                            <a:schemeClr val="tx1"/>
                          </a:solidFill>
                        </a:rPr>
                        <a:t>i</a:t>
                      </a:r>
                      <a:r>
                        <a:rPr lang="en-US" altLang="zh-CN" sz="1400" b="1" dirty="0" smtClean="0">
                          <a:solidFill>
                            <a:schemeClr val="tx1"/>
                          </a:solidFill>
                        </a:rPr>
                        <a:t>=3</a:t>
                      </a:r>
                      <a:endParaRPr lang="zh-CN" altLang="en-US" sz="1400" b="1" dirty="0">
                        <a:solidFill>
                          <a:schemeClr val="tx1"/>
                        </a:solidFill>
                      </a:endParaRPr>
                    </a:p>
                  </a:txBody>
                  <a:tcPr marL="95647" marR="95647" marT="47823" marB="47823" anchor="ctr">
                    <a:solidFill>
                      <a:schemeClr val="tx1">
                        <a:lumMod val="20000"/>
                        <a:lumOff val="80000"/>
                      </a:schemeClr>
                    </a:solidFill>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1741215547"/>
      </p:ext>
    </p:extLst>
  </p:cSld>
  <p:clrMapOvr>
    <a:masterClrMapping/>
  </p:clrMapOvr>
  <p:transition spd="med">
    <p:random/>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48</a:t>
            </a:fld>
            <a:endParaRPr lang="en-US" altLang="zh-CN" dirty="0"/>
          </a:p>
        </p:txBody>
      </p:sp>
      <p:sp>
        <p:nvSpPr>
          <p:cNvPr id="3" name="Content Placeholder 2"/>
          <p:cNvSpPr>
            <a:spLocks noGrp="1"/>
          </p:cNvSpPr>
          <p:nvPr>
            <p:ph idx="4294967295"/>
          </p:nvPr>
        </p:nvSpPr>
        <p:spPr>
          <a:xfrm>
            <a:off x="3769045" y="665312"/>
            <a:ext cx="5123610" cy="459432"/>
          </a:xfrm>
        </p:spPr>
        <p:txBody>
          <a:bodyPr/>
          <a:lstStyle/>
          <a:p>
            <a:r>
              <a:rPr lang="en-US" altLang="zh-TW" dirty="0">
                <a:solidFill>
                  <a:srgbClr val="0066FF"/>
                </a:solidFill>
              </a:rPr>
              <a:t>【</a:t>
            </a:r>
            <a:r>
              <a:rPr lang="zh-TW" altLang="en-US" dirty="0">
                <a:solidFill>
                  <a:srgbClr val="0066FF"/>
                </a:solidFill>
              </a:rPr>
              <a:t>例</a:t>
            </a:r>
            <a:r>
              <a:rPr lang="en-US" altLang="zh-TW" dirty="0">
                <a:solidFill>
                  <a:srgbClr val="0066FF"/>
                </a:solidFill>
              </a:rPr>
              <a:t>4-11】</a:t>
            </a:r>
            <a:r>
              <a:rPr lang="zh-TW" altLang="en-US" dirty="0">
                <a:solidFill>
                  <a:srgbClr val="0066FF"/>
                </a:solidFill>
              </a:rPr>
              <a:t>构建 </a:t>
            </a:r>
            <a:r>
              <a:rPr lang="en-US" altLang="zh-TW" dirty="0">
                <a:solidFill>
                  <a:srgbClr val="0066FF"/>
                </a:solidFill>
              </a:rPr>
              <a:t>n*n</a:t>
            </a:r>
            <a:r>
              <a:rPr lang="zh-TW" altLang="en-US" dirty="0">
                <a:solidFill>
                  <a:srgbClr val="0066FF"/>
                </a:solidFill>
              </a:rPr>
              <a:t>乘法表。</a:t>
            </a:r>
          </a:p>
          <a:p>
            <a:pPr marL="0" indent="0">
              <a:buNone/>
            </a:pPr>
            <a:endParaRPr lang="en-US" dirty="0"/>
          </a:p>
        </p:txBody>
      </p:sp>
      <p:sp>
        <p:nvSpPr>
          <p:cNvPr id="5" name="Content Placeholder 2"/>
          <p:cNvSpPr txBox="1">
            <a:spLocks/>
          </p:cNvSpPr>
          <p:nvPr/>
        </p:nvSpPr>
        <p:spPr>
          <a:xfrm>
            <a:off x="827585" y="792088"/>
            <a:ext cx="4536504" cy="5877272"/>
          </a:xfrm>
          <a:prstGeom prst="rect">
            <a:avLst/>
          </a:prstGeom>
        </p:spPr>
        <p:txBody>
          <a:bodyPr/>
          <a:lst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rgbClr val="FF3300"/>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rgbClr val="3333FF"/>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a:lstStyle>
          <a:p>
            <a:pPr marL="0" indent="0">
              <a:lnSpc>
                <a:spcPct val="90000"/>
              </a:lnSpc>
              <a:buFont typeface="Webdings" pitchFamily="18" charset="2"/>
              <a:buNone/>
            </a:pPr>
            <a:r>
              <a:rPr lang="ro-RO" altLang="zh-CN" sz="2400" dirty="0" smtClean="0">
                <a:solidFill>
                  <a:schemeClr val="tx1"/>
                </a:solidFill>
                <a:effectLst/>
              </a:rPr>
              <a:t>#define N 6</a:t>
            </a:r>
          </a:p>
          <a:p>
            <a:pPr marL="0" indent="0">
              <a:lnSpc>
                <a:spcPct val="90000"/>
              </a:lnSpc>
              <a:buFont typeface="Webdings" pitchFamily="18" charset="2"/>
              <a:buNone/>
            </a:pPr>
            <a:r>
              <a:rPr lang="ro-RO" altLang="zh-CN" sz="2400" dirty="0" smtClean="0">
                <a:solidFill>
                  <a:schemeClr val="tx1"/>
                </a:solidFill>
                <a:effectLst/>
              </a:rPr>
              <a:t>#include &lt;stdio.h&gt;</a:t>
            </a:r>
          </a:p>
          <a:p>
            <a:pPr marL="0" indent="0">
              <a:lnSpc>
                <a:spcPct val="90000"/>
              </a:lnSpc>
              <a:buFont typeface="Webdings" pitchFamily="18" charset="2"/>
              <a:buNone/>
            </a:pPr>
            <a:r>
              <a:rPr lang="ro-RO" altLang="zh-CN" sz="2400" dirty="0" smtClean="0">
                <a:solidFill>
                  <a:schemeClr val="tx1"/>
                </a:solidFill>
                <a:effectLst/>
              </a:rPr>
              <a:t>int main()</a:t>
            </a:r>
          </a:p>
          <a:p>
            <a:pPr marL="0" indent="0">
              <a:lnSpc>
                <a:spcPct val="90000"/>
              </a:lnSpc>
              <a:buFont typeface="Webdings" pitchFamily="18" charset="2"/>
              <a:buNone/>
            </a:pPr>
            <a:r>
              <a:rPr lang="ro-RO" altLang="zh-CN" sz="2400" dirty="0" smtClean="0">
                <a:solidFill>
                  <a:schemeClr val="tx1"/>
                </a:solidFill>
                <a:effectLst/>
              </a:rPr>
              <a:t>{  int i,j;</a:t>
            </a:r>
          </a:p>
          <a:p>
            <a:pPr marL="0" indent="0">
              <a:lnSpc>
                <a:spcPct val="90000"/>
              </a:lnSpc>
              <a:buFont typeface="Webdings" pitchFamily="18" charset="2"/>
              <a:buNone/>
            </a:pPr>
            <a:r>
              <a:rPr lang="en-US" altLang="zh-CN" sz="2400" dirty="0">
                <a:solidFill>
                  <a:schemeClr val="tx1"/>
                </a:solidFill>
                <a:effectLst/>
              </a:rPr>
              <a:t> </a:t>
            </a:r>
            <a:r>
              <a:rPr lang="en-US" altLang="zh-CN" sz="2400" dirty="0" smtClean="0">
                <a:solidFill>
                  <a:schemeClr val="tx1"/>
                </a:solidFill>
                <a:effectLst/>
              </a:rPr>
              <a:t>   </a:t>
            </a:r>
            <a:r>
              <a:rPr lang="ro-RO" altLang="zh-CN" sz="2400" dirty="0" smtClean="0">
                <a:solidFill>
                  <a:schemeClr val="tx1"/>
                </a:solidFill>
                <a:effectLst/>
              </a:rPr>
              <a:t>int a[N][N];</a:t>
            </a:r>
          </a:p>
          <a:p>
            <a:pPr marL="0" indent="0">
              <a:lnSpc>
                <a:spcPct val="90000"/>
              </a:lnSpc>
              <a:buFont typeface="Webdings" pitchFamily="18" charset="2"/>
              <a:buNone/>
            </a:pPr>
            <a:r>
              <a:rPr lang="ro-RO" altLang="zh-CN" sz="2400" dirty="0" smtClean="0">
                <a:solidFill>
                  <a:schemeClr val="tx1"/>
                </a:solidFill>
                <a:effectLst/>
              </a:rPr>
              <a:t>    for(i = 0; i &lt; N; i++)</a:t>
            </a:r>
          </a:p>
          <a:p>
            <a:pPr marL="0" indent="0">
              <a:lnSpc>
                <a:spcPct val="90000"/>
              </a:lnSpc>
              <a:buFont typeface="Webdings" pitchFamily="18" charset="2"/>
              <a:buNone/>
            </a:pPr>
            <a:r>
              <a:rPr lang="ro-RO" altLang="zh-CN" sz="2400" dirty="0" smtClean="0">
                <a:solidFill>
                  <a:schemeClr val="tx1"/>
                </a:solidFill>
                <a:effectLst/>
              </a:rPr>
              <a:t>        for(j = 0; j &lt; N; j++)  </a:t>
            </a:r>
          </a:p>
          <a:p>
            <a:pPr marL="0" indent="0">
              <a:lnSpc>
                <a:spcPct val="90000"/>
              </a:lnSpc>
              <a:buFont typeface="Webdings" pitchFamily="18" charset="2"/>
              <a:buNone/>
            </a:pPr>
            <a:r>
              <a:rPr lang="ro-RO" altLang="zh-CN" sz="2400" dirty="0" smtClean="0">
                <a:solidFill>
                  <a:schemeClr val="tx1"/>
                </a:solidFill>
                <a:effectLst/>
              </a:rPr>
              <a:t>              a[i][j]=(i+1)*(j+1); </a:t>
            </a:r>
          </a:p>
          <a:p>
            <a:pPr marL="0" indent="0">
              <a:lnSpc>
                <a:spcPct val="90000"/>
              </a:lnSpc>
              <a:buFont typeface="Webdings" pitchFamily="18" charset="2"/>
              <a:buNone/>
            </a:pPr>
            <a:r>
              <a:rPr lang="ro-RO" altLang="zh-CN" sz="2400" dirty="0" smtClean="0">
                <a:solidFill>
                  <a:schemeClr val="tx1"/>
                </a:solidFill>
                <a:effectLst/>
              </a:rPr>
              <a:t>    for(i = 0; i &lt; N; i++){</a:t>
            </a:r>
          </a:p>
          <a:p>
            <a:pPr marL="0" indent="0">
              <a:lnSpc>
                <a:spcPct val="90000"/>
              </a:lnSpc>
              <a:buFont typeface="Webdings" pitchFamily="18" charset="2"/>
              <a:buNone/>
            </a:pPr>
            <a:r>
              <a:rPr lang="ro-RO" altLang="zh-CN" sz="2400" dirty="0" smtClean="0">
                <a:solidFill>
                  <a:schemeClr val="tx1"/>
                </a:solidFill>
                <a:effectLst/>
              </a:rPr>
              <a:t>        for(j = 0; j &lt; N; j++)   </a:t>
            </a:r>
            <a:endParaRPr lang="en-US" altLang="zh-CN" sz="2400" dirty="0" smtClean="0">
              <a:solidFill>
                <a:schemeClr val="tx1"/>
              </a:solidFill>
              <a:effectLst/>
            </a:endParaRPr>
          </a:p>
          <a:p>
            <a:pPr marL="0" indent="0">
              <a:lnSpc>
                <a:spcPct val="90000"/>
              </a:lnSpc>
              <a:buFont typeface="Webdings" pitchFamily="18" charset="2"/>
              <a:buNone/>
            </a:pPr>
            <a:r>
              <a:rPr lang="en-US" altLang="zh-CN" sz="2400" dirty="0">
                <a:solidFill>
                  <a:schemeClr val="tx1"/>
                </a:solidFill>
                <a:effectLst/>
              </a:rPr>
              <a:t> </a:t>
            </a:r>
            <a:r>
              <a:rPr lang="en-US" altLang="zh-CN" sz="2400" dirty="0" smtClean="0">
                <a:solidFill>
                  <a:schemeClr val="tx1"/>
                </a:solidFill>
                <a:effectLst/>
              </a:rPr>
              <a:t>              </a:t>
            </a:r>
            <a:r>
              <a:rPr lang="ro-RO" altLang="zh-CN" sz="2400" dirty="0" smtClean="0">
                <a:solidFill>
                  <a:schemeClr val="tx1"/>
                </a:solidFill>
                <a:effectLst/>
              </a:rPr>
              <a:t>printf("%4d", a[i][j]);  </a:t>
            </a:r>
          </a:p>
          <a:p>
            <a:pPr marL="0" indent="0">
              <a:lnSpc>
                <a:spcPct val="90000"/>
              </a:lnSpc>
              <a:buFont typeface="Webdings" pitchFamily="18" charset="2"/>
              <a:buNone/>
            </a:pPr>
            <a:r>
              <a:rPr lang="en-US" altLang="zh-CN" sz="2400" dirty="0">
                <a:solidFill>
                  <a:schemeClr val="tx1"/>
                </a:solidFill>
                <a:effectLst/>
              </a:rPr>
              <a:t> </a:t>
            </a:r>
            <a:r>
              <a:rPr lang="en-US" altLang="zh-CN" sz="2400" dirty="0" smtClean="0">
                <a:solidFill>
                  <a:schemeClr val="tx1"/>
                </a:solidFill>
                <a:effectLst/>
              </a:rPr>
              <a:t>       </a:t>
            </a:r>
            <a:r>
              <a:rPr lang="ro-RO" altLang="zh-CN" sz="2400" dirty="0" smtClean="0">
                <a:solidFill>
                  <a:schemeClr val="tx1"/>
                </a:solidFill>
                <a:effectLst/>
              </a:rPr>
              <a:t>printf("\n"); </a:t>
            </a:r>
          </a:p>
          <a:p>
            <a:pPr marL="0" indent="0">
              <a:lnSpc>
                <a:spcPct val="90000"/>
              </a:lnSpc>
              <a:buFont typeface="Webdings" pitchFamily="18" charset="2"/>
              <a:buNone/>
            </a:pPr>
            <a:r>
              <a:rPr lang="ro-RO" altLang="zh-CN" sz="2400" dirty="0" smtClean="0">
                <a:solidFill>
                  <a:schemeClr val="tx1"/>
                </a:solidFill>
                <a:effectLst/>
              </a:rPr>
              <a:t>    } </a:t>
            </a:r>
            <a:endParaRPr lang="en-US" altLang="zh-CN" sz="2400" dirty="0" smtClean="0">
              <a:solidFill>
                <a:schemeClr val="tx1"/>
              </a:solidFill>
              <a:effectLst/>
            </a:endParaRPr>
          </a:p>
          <a:p>
            <a:pPr marL="0" indent="0">
              <a:lnSpc>
                <a:spcPct val="90000"/>
              </a:lnSpc>
              <a:buFont typeface="Webdings" pitchFamily="18" charset="2"/>
              <a:buNone/>
            </a:pPr>
            <a:r>
              <a:rPr lang="en-US" altLang="zh-CN" sz="2400" dirty="0">
                <a:solidFill>
                  <a:schemeClr val="tx1"/>
                </a:solidFill>
                <a:effectLst/>
              </a:rPr>
              <a:t> </a:t>
            </a:r>
            <a:r>
              <a:rPr lang="en-US" altLang="zh-CN" sz="2400" dirty="0" smtClean="0">
                <a:solidFill>
                  <a:schemeClr val="tx1"/>
                </a:solidFill>
                <a:effectLst/>
              </a:rPr>
              <a:t>   return 0;</a:t>
            </a:r>
            <a:endParaRPr lang="ro-RO" altLang="zh-CN" sz="2400" dirty="0" smtClean="0">
              <a:solidFill>
                <a:schemeClr val="tx1"/>
              </a:solidFill>
              <a:effectLst/>
            </a:endParaRPr>
          </a:p>
          <a:p>
            <a:pPr marL="0" indent="0">
              <a:lnSpc>
                <a:spcPct val="90000"/>
              </a:lnSpc>
              <a:buFont typeface="Webdings" pitchFamily="18" charset="2"/>
              <a:buNone/>
            </a:pPr>
            <a:r>
              <a:rPr lang="ro-RO" altLang="zh-CN" sz="2400" dirty="0" smtClean="0">
                <a:solidFill>
                  <a:schemeClr val="tx1"/>
                </a:solidFill>
                <a:effectLst/>
              </a:rPr>
              <a:t>}</a:t>
            </a:r>
          </a:p>
          <a:p>
            <a:pPr marL="0" indent="0">
              <a:lnSpc>
                <a:spcPct val="90000"/>
              </a:lnSpc>
              <a:buFont typeface="Webdings" pitchFamily="18" charset="2"/>
              <a:buNone/>
            </a:pPr>
            <a:endParaRPr lang="en-US" sz="2000"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2215" y="1484784"/>
            <a:ext cx="3552448" cy="1908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表格 5"/>
          <p:cNvGraphicFramePr>
            <a:graphicFrameLocks noGrp="1"/>
          </p:cNvGraphicFramePr>
          <p:nvPr>
            <p:extLst>
              <p:ext uri="{D42A27DB-BD31-4B8C-83A1-F6EECF244321}">
                <p14:modId xmlns:p14="http://schemas.microsoft.com/office/powerpoint/2010/main" val="1171578248"/>
              </p:ext>
            </p:extLst>
          </p:nvPr>
        </p:nvGraphicFramePr>
        <p:xfrm>
          <a:off x="5737269" y="3791810"/>
          <a:ext cx="2736304" cy="2728052"/>
        </p:xfrm>
        <a:graphic>
          <a:graphicData uri="http://schemas.openxmlformats.org/drawingml/2006/table">
            <a:tbl>
              <a:tblPr firstRow="1" bandRow="1">
                <a:tableStyleId>{5C22544A-7EE6-4342-B048-85BDC9FD1C3A}</a:tableStyleId>
              </a:tblPr>
              <a:tblGrid>
                <a:gridCol w="684076">
                  <a:extLst>
                    <a:ext uri="{9D8B030D-6E8A-4147-A177-3AD203B41FA5}">
                      <a16:colId xmlns:a16="http://schemas.microsoft.com/office/drawing/2014/main" xmlns="" val="20000"/>
                    </a:ext>
                  </a:extLst>
                </a:gridCol>
                <a:gridCol w="684076">
                  <a:extLst>
                    <a:ext uri="{9D8B030D-6E8A-4147-A177-3AD203B41FA5}">
                      <a16:colId xmlns:a16="http://schemas.microsoft.com/office/drawing/2014/main" xmlns="" val="20001"/>
                    </a:ext>
                  </a:extLst>
                </a:gridCol>
                <a:gridCol w="684076">
                  <a:extLst>
                    <a:ext uri="{9D8B030D-6E8A-4147-A177-3AD203B41FA5}">
                      <a16:colId xmlns:a16="http://schemas.microsoft.com/office/drawing/2014/main" xmlns="" val="20002"/>
                    </a:ext>
                  </a:extLst>
                </a:gridCol>
                <a:gridCol w="684076">
                  <a:extLst>
                    <a:ext uri="{9D8B030D-6E8A-4147-A177-3AD203B41FA5}">
                      <a16:colId xmlns:a16="http://schemas.microsoft.com/office/drawing/2014/main" xmlns="" val="20003"/>
                    </a:ext>
                  </a:extLst>
                </a:gridCol>
              </a:tblGrid>
              <a:tr h="682013">
                <a:tc>
                  <a:txBody>
                    <a:bodyPr/>
                    <a:lstStyle/>
                    <a:p>
                      <a:pPr algn="ctr"/>
                      <a:r>
                        <a:rPr lang="en-US" altLang="zh-CN" sz="1400" b="1" dirty="0" smtClean="0">
                          <a:solidFill>
                            <a:schemeClr val="tx1"/>
                          </a:solidFill>
                        </a:rPr>
                        <a:t>a[0][0]</a:t>
                      </a:r>
                      <a:endParaRPr lang="zh-CN" altLang="en-US" sz="1400" b="1" dirty="0">
                        <a:solidFill>
                          <a:schemeClr val="tx1"/>
                        </a:solidFill>
                      </a:endParaRPr>
                    </a:p>
                  </a:txBody>
                  <a:tcPr marL="95647" marR="95647" marT="47823" marB="4782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a[0][1]</a:t>
                      </a:r>
                      <a:endParaRPr lang="zh-CN" altLang="en-US" sz="1400" b="1" dirty="0" smtClean="0">
                        <a:solidFill>
                          <a:schemeClr val="tx1"/>
                        </a:solidFill>
                      </a:endParaRPr>
                    </a:p>
                  </a:txBody>
                  <a:tcPr marL="95647" marR="95647" marT="47823" marB="4782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a[0][2]</a:t>
                      </a:r>
                      <a:endParaRPr lang="zh-CN" altLang="en-US" sz="1400" b="1" dirty="0" smtClean="0">
                        <a:solidFill>
                          <a:schemeClr val="tx1"/>
                        </a:solidFill>
                      </a:endParaRPr>
                    </a:p>
                  </a:txBody>
                  <a:tcPr marL="95647" marR="95647" marT="47823" marB="4782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a[0][3]</a:t>
                      </a:r>
                      <a:endParaRPr lang="zh-CN" altLang="en-US" sz="1400" b="1" dirty="0" smtClean="0">
                        <a:solidFill>
                          <a:schemeClr val="tx1"/>
                        </a:solidFill>
                      </a:endParaRPr>
                    </a:p>
                  </a:txBody>
                  <a:tcPr marL="95647" marR="95647" marT="47823" marB="47823" anchor="ctr">
                    <a:solidFill>
                      <a:schemeClr val="accent4">
                        <a:lumMod val="25000"/>
                        <a:lumOff val="75000"/>
                      </a:schemeClr>
                    </a:solidFill>
                  </a:tcPr>
                </a:tc>
                <a:extLst>
                  <a:ext uri="{0D108BD9-81ED-4DB2-BD59-A6C34878D82A}">
                    <a16:rowId xmlns:a16="http://schemas.microsoft.com/office/drawing/2014/main" xmlns="" val="10000"/>
                  </a:ext>
                </a:extLst>
              </a:tr>
              <a:tr h="6820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a[1][0]</a:t>
                      </a:r>
                      <a:endParaRPr lang="zh-CN" altLang="en-US" sz="1400" b="1" dirty="0" smtClean="0">
                        <a:solidFill>
                          <a:schemeClr val="tx1"/>
                        </a:solidFill>
                      </a:endParaRPr>
                    </a:p>
                  </a:txBody>
                  <a:tcPr marL="95647" marR="95647" marT="47823" marB="47823"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a[1][1]</a:t>
                      </a:r>
                      <a:endParaRPr lang="zh-CN" altLang="en-US" sz="1400" b="1" dirty="0" smtClean="0">
                        <a:solidFill>
                          <a:schemeClr val="tx1"/>
                        </a:solidFill>
                      </a:endParaRPr>
                    </a:p>
                  </a:txBody>
                  <a:tcPr marL="95647" marR="95647" marT="47823" marB="4782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a[1][2]</a:t>
                      </a:r>
                      <a:endParaRPr lang="zh-CN" altLang="en-US" sz="1400" b="1" dirty="0" smtClean="0">
                        <a:solidFill>
                          <a:schemeClr val="tx1"/>
                        </a:solidFill>
                      </a:endParaRPr>
                    </a:p>
                  </a:txBody>
                  <a:tcPr marL="95647" marR="95647" marT="47823" marB="4782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a[1][3]</a:t>
                      </a:r>
                      <a:endParaRPr lang="zh-CN" altLang="en-US" sz="1400" b="1" dirty="0" smtClean="0">
                        <a:solidFill>
                          <a:schemeClr val="tx1"/>
                        </a:solidFill>
                      </a:endParaRPr>
                    </a:p>
                  </a:txBody>
                  <a:tcPr marL="95647" marR="95647" marT="47823" marB="47823" anchor="ctr">
                    <a:solidFill>
                      <a:schemeClr val="accent4">
                        <a:lumMod val="25000"/>
                        <a:lumOff val="75000"/>
                      </a:schemeClr>
                    </a:solidFill>
                  </a:tcPr>
                </a:tc>
                <a:extLst>
                  <a:ext uri="{0D108BD9-81ED-4DB2-BD59-A6C34878D82A}">
                    <a16:rowId xmlns:a16="http://schemas.microsoft.com/office/drawing/2014/main" xmlns="" val="10001"/>
                  </a:ext>
                </a:extLst>
              </a:tr>
              <a:tr h="6820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a[2][0]</a:t>
                      </a:r>
                      <a:endParaRPr lang="zh-CN" altLang="en-US" sz="1400" b="1" dirty="0" smtClean="0">
                        <a:solidFill>
                          <a:schemeClr val="tx1"/>
                        </a:solidFill>
                      </a:endParaRPr>
                    </a:p>
                  </a:txBody>
                  <a:tcPr marL="95647" marR="95647" marT="47823" marB="47823"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a[2][1]</a:t>
                      </a:r>
                      <a:endParaRPr lang="zh-CN" altLang="en-US" sz="1400" b="1" dirty="0" smtClean="0">
                        <a:solidFill>
                          <a:schemeClr val="tx1"/>
                        </a:solidFill>
                      </a:endParaRPr>
                    </a:p>
                  </a:txBody>
                  <a:tcPr marL="95647" marR="95647" marT="47823" marB="47823"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a[2][2]</a:t>
                      </a:r>
                      <a:endParaRPr lang="zh-CN" altLang="en-US" sz="1400" b="1" dirty="0" smtClean="0">
                        <a:solidFill>
                          <a:schemeClr val="tx1"/>
                        </a:solidFill>
                      </a:endParaRPr>
                    </a:p>
                  </a:txBody>
                  <a:tcPr marL="95647" marR="95647" marT="47823" marB="4782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a[2][3]</a:t>
                      </a:r>
                      <a:endParaRPr lang="zh-CN" altLang="en-US" sz="1400" b="1" dirty="0" smtClean="0">
                        <a:solidFill>
                          <a:schemeClr val="tx1"/>
                        </a:solidFill>
                      </a:endParaRPr>
                    </a:p>
                  </a:txBody>
                  <a:tcPr marL="95647" marR="95647" marT="47823" marB="47823" anchor="ctr">
                    <a:solidFill>
                      <a:schemeClr val="accent4">
                        <a:lumMod val="25000"/>
                        <a:lumOff val="75000"/>
                      </a:schemeClr>
                    </a:solidFill>
                  </a:tcPr>
                </a:tc>
                <a:extLst>
                  <a:ext uri="{0D108BD9-81ED-4DB2-BD59-A6C34878D82A}">
                    <a16:rowId xmlns:a16="http://schemas.microsoft.com/office/drawing/2014/main" xmlns="" val="10002"/>
                  </a:ext>
                </a:extLst>
              </a:tr>
              <a:tr h="6820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a[3][0]</a:t>
                      </a:r>
                      <a:endParaRPr lang="zh-CN" altLang="en-US" sz="1400" b="1" dirty="0" smtClean="0">
                        <a:solidFill>
                          <a:schemeClr val="tx1"/>
                        </a:solidFill>
                      </a:endParaRPr>
                    </a:p>
                  </a:txBody>
                  <a:tcPr marL="95647" marR="95647" marT="47823" marB="47823"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a[3][1]</a:t>
                      </a:r>
                      <a:endParaRPr lang="zh-CN" altLang="en-US" sz="1400" b="1" dirty="0" smtClean="0">
                        <a:solidFill>
                          <a:schemeClr val="tx1"/>
                        </a:solidFill>
                      </a:endParaRPr>
                    </a:p>
                  </a:txBody>
                  <a:tcPr marL="95647" marR="95647" marT="47823" marB="47823"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a[3][2]</a:t>
                      </a:r>
                      <a:endParaRPr lang="zh-CN" altLang="en-US" sz="1400" b="1" dirty="0" smtClean="0">
                        <a:solidFill>
                          <a:schemeClr val="tx1"/>
                        </a:solidFill>
                      </a:endParaRPr>
                    </a:p>
                  </a:txBody>
                  <a:tcPr marL="95647" marR="95647" marT="47823" marB="47823"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solidFill>
                            <a:schemeClr val="tx1"/>
                          </a:solidFill>
                        </a:rPr>
                        <a:t>a[3][3]</a:t>
                      </a:r>
                      <a:endParaRPr lang="zh-CN" altLang="en-US" sz="1400" b="1" dirty="0" smtClean="0">
                        <a:solidFill>
                          <a:schemeClr val="tx1"/>
                        </a:solidFill>
                      </a:endParaRPr>
                    </a:p>
                  </a:txBody>
                  <a:tcPr marL="95647" marR="95647" marT="47823" marB="47823" anchor="ctr">
                    <a:solidFill>
                      <a:schemeClr val="accent4">
                        <a:lumMod val="25000"/>
                        <a:lumOff val="75000"/>
                      </a:schemeClr>
                    </a:solidFill>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191089406"/>
      </p:ext>
    </p:extLst>
  </p:cSld>
  <p:clrMapOvr>
    <a:masterClrMapping/>
  </p:clrMapOvr>
  <p:transition spd="med">
    <p:random/>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49</a:t>
            </a:fld>
            <a:endParaRPr lang="en-US" altLang="zh-CN" dirty="0"/>
          </a:p>
        </p:txBody>
      </p:sp>
      <p:sp>
        <p:nvSpPr>
          <p:cNvPr id="3" name="Content Placeholder 2"/>
          <p:cNvSpPr>
            <a:spLocks noGrp="1"/>
          </p:cNvSpPr>
          <p:nvPr>
            <p:ph idx="4294967295"/>
          </p:nvPr>
        </p:nvSpPr>
        <p:spPr>
          <a:xfrm>
            <a:off x="899592" y="836712"/>
            <a:ext cx="7993062" cy="4537075"/>
          </a:xfrm>
        </p:spPr>
        <p:txBody>
          <a:bodyPr/>
          <a:lstStyle/>
          <a:p>
            <a:r>
              <a:rPr lang="en-US" altLang="zh-TW" dirty="0">
                <a:solidFill>
                  <a:srgbClr val="0066FF"/>
                </a:solidFill>
              </a:rPr>
              <a:t>【</a:t>
            </a:r>
            <a:r>
              <a:rPr lang="zh-TW" altLang="en-US" dirty="0">
                <a:solidFill>
                  <a:srgbClr val="0066FF"/>
                </a:solidFill>
              </a:rPr>
              <a:t>例</a:t>
            </a:r>
            <a:r>
              <a:rPr lang="en-US" altLang="zh-TW" dirty="0">
                <a:solidFill>
                  <a:srgbClr val="0066FF"/>
                </a:solidFill>
              </a:rPr>
              <a:t>4-12】</a:t>
            </a:r>
            <a:r>
              <a:rPr lang="zh-TW" altLang="en-US" dirty="0">
                <a:solidFill>
                  <a:srgbClr val="0066FF"/>
                </a:solidFill>
              </a:rPr>
              <a:t>找出二维数组最大值以及行列下标。</a:t>
            </a:r>
          </a:p>
          <a:p>
            <a:pPr marL="0" indent="0">
              <a:buNone/>
            </a:pPr>
            <a:endParaRPr lang="en-US" dirty="0"/>
          </a:p>
        </p:txBody>
      </p:sp>
      <p:sp>
        <p:nvSpPr>
          <p:cNvPr id="5" name="Content Placeholder 2"/>
          <p:cNvSpPr txBox="1">
            <a:spLocks/>
          </p:cNvSpPr>
          <p:nvPr/>
        </p:nvSpPr>
        <p:spPr>
          <a:xfrm>
            <a:off x="971600" y="1412776"/>
            <a:ext cx="7993063" cy="4969147"/>
          </a:xfrm>
          <a:prstGeom prst="rect">
            <a:avLst/>
          </a:prstGeom>
        </p:spPr>
        <p:txBody>
          <a:bodyPr numCol="2"/>
          <a:lst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rgbClr val="FF3300"/>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rgbClr val="3333FF"/>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a:lstStyle>
          <a:p>
            <a:pPr marL="0" indent="0">
              <a:lnSpc>
                <a:spcPct val="100000"/>
              </a:lnSpc>
              <a:buFont typeface="Webdings" pitchFamily="18" charset="2"/>
              <a:buNone/>
            </a:pPr>
            <a:r>
              <a:rPr lang="ro-RO" altLang="zh-CN" sz="1600" dirty="0" smtClean="0">
                <a:solidFill>
                  <a:schemeClr val="tx1"/>
                </a:solidFill>
                <a:effectLst/>
              </a:rPr>
              <a:t>#define N 5</a:t>
            </a:r>
          </a:p>
          <a:p>
            <a:pPr marL="0" indent="0">
              <a:lnSpc>
                <a:spcPct val="100000"/>
              </a:lnSpc>
              <a:buFont typeface="Webdings" pitchFamily="18" charset="2"/>
              <a:buNone/>
            </a:pPr>
            <a:r>
              <a:rPr lang="ro-RO" altLang="zh-CN" sz="1600" dirty="0" smtClean="0">
                <a:solidFill>
                  <a:schemeClr val="tx1"/>
                </a:solidFill>
                <a:effectLst/>
              </a:rPr>
              <a:t>#define M 6</a:t>
            </a:r>
          </a:p>
          <a:p>
            <a:pPr marL="0" indent="0">
              <a:lnSpc>
                <a:spcPct val="100000"/>
              </a:lnSpc>
              <a:buFont typeface="Webdings" pitchFamily="18" charset="2"/>
              <a:buNone/>
            </a:pPr>
            <a:r>
              <a:rPr lang="ro-RO" altLang="zh-CN" sz="1600" dirty="0" smtClean="0">
                <a:solidFill>
                  <a:schemeClr val="tx1"/>
                </a:solidFill>
                <a:effectLst/>
              </a:rPr>
              <a:t>#include &lt;stdio.h&gt;</a:t>
            </a:r>
          </a:p>
          <a:p>
            <a:pPr marL="0" indent="0">
              <a:lnSpc>
                <a:spcPct val="100000"/>
              </a:lnSpc>
              <a:buFont typeface="Webdings" pitchFamily="18" charset="2"/>
              <a:buNone/>
            </a:pPr>
            <a:r>
              <a:rPr lang="ro-RO" altLang="zh-CN" sz="1600" dirty="0" smtClean="0">
                <a:solidFill>
                  <a:schemeClr val="tx1"/>
                </a:solidFill>
                <a:effectLst/>
              </a:rPr>
              <a:t>int main()</a:t>
            </a:r>
          </a:p>
          <a:p>
            <a:pPr marL="0" indent="0">
              <a:lnSpc>
                <a:spcPct val="100000"/>
              </a:lnSpc>
              <a:buNone/>
            </a:pPr>
            <a:r>
              <a:rPr lang="ro-RO" altLang="zh-CN" sz="1600" dirty="0" smtClean="0">
                <a:solidFill>
                  <a:schemeClr val="tx1"/>
                </a:solidFill>
                <a:effectLst/>
              </a:rPr>
              <a:t>{  </a:t>
            </a:r>
            <a:r>
              <a:rPr lang="en-US" altLang="zh-CN" sz="1600" dirty="0" smtClean="0">
                <a:solidFill>
                  <a:schemeClr val="tx1"/>
                </a:solidFill>
                <a:effectLst/>
              </a:rPr>
              <a:t> </a:t>
            </a:r>
            <a:r>
              <a:rPr lang="ro-RO" altLang="zh-CN" sz="1600" dirty="0">
                <a:solidFill>
                  <a:schemeClr val="tx1"/>
                </a:solidFill>
                <a:effectLst/>
              </a:rPr>
              <a:t>int row,col</a:t>
            </a:r>
            <a:r>
              <a:rPr lang="ro-RO" altLang="zh-CN" sz="1600" dirty="0" smtClean="0">
                <a:solidFill>
                  <a:schemeClr val="tx1"/>
                </a:solidFill>
                <a:effectLst/>
              </a:rPr>
              <a:t>, i</a:t>
            </a:r>
            <a:r>
              <a:rPr lang="ro-RO" altLang="zh-CN" sz="1600" dirty="0">
                <a:solidFill>
                  <a:schemeClr val="tx1"/>
                </a:solidFill>
                <a:effectLst/>
              </a:rPr>
              <a:t>, </a:t>
            </a:r>
            <a:r>
              <a:rPr lang="ro-RO" altLang="zh-CN" sz="1600" dirty="0" smtClean="0">
                <a:solidFill>
                  <a:schemeClr val="tx1"/>
                </a:solidFill>
                <a:effectLst/>
              </a:rPr>
              <a:t>j;  </a:t>
            </a:r>
          </a:p>
          <a:p>
            <a:pPr marL="0" indent="0">
              <a:lnSpc>
                <a:spcPct val="100000"/>
              </a:lnSpc>
              <a:buFont typeface="Webdings" pitchFamily="18" charset="2"/>
              <a:buNone/>
            </a:pPr>
            <a:r>
              <a:rPr lang="en-US" altLang="zh-CN" sz="1600" dirty="0" smtClean="0">
                <a:solidFill>
                  <a:schemeClr val="tx1"/>
                </a:solidFill>
                <a:effectLst/>
              </a:rPr>
              <a:t>    </a:t>
            </a:r>
            <a:r>
              <a:rPr lang="ro-RO" altLang="zh-CN" sz="1600" dirty="0" smtClean="0">
                <a:solidFill>
                  <a:schemeClr val="tx1"/>
                </a:solidFill>
                <a:effectLst/>
              </a:rPr>
              <a:t>int a[N][M];</a:t>
            </a:r>
          </a:p>
          <a:p>
            <a:pPr marL="0" indent="0">
              <a:lnSpc>
                <a:spcPct val="100000"/>
              </a:lnSpc>
              <a:buFont typeface="Webdings" pitchFamily="18" charset="2"/>
              <a:buNone/>
            </a:pPr>
            <a:r>
              <a:rPr lang="ro-RO" altLang="zh-CN" sz="1600" dirty="0" smtClean="0">
                <a:solidFill>
                  <a:schemeClr val="tx1"/>
                </a:solidFill>
                <a:effectLst/>
              </a:rPr>
              <a:t>    printf("Enter integers:\n") ;</a:t>
            </a:r>
          </a:p>
          <a:p>
            <a:pPr marL="0" indent="0">
              <a:lnSpc>
                <a:spcPct val="100000"/>
              </a:lnSpc>
              <a:buFont typeface="Webdings" pitchFamily="18" charset="2"/>
              <a:buNone/>
            </a:pPr>
            <a:r>
              <a:rPr lang="ro-RO" altLang="zh-CN" sz="1600" dirty="0" smtClean="0">
                <a:solidFill>
                  <a:schemeClr val="tx1"/>
                </a:solidFill>
                <a:effectLst/>
              </a:rPr>
              <a:t>    for(i = 0; i &lt; N; i++)</a:t>
            </a:r>
          </a:p>
          <a:p>
            <a:pPr marL="0" indent="0">
              <a:lnSpc>
                <a:spcPct val="100000"/>
              </a:lnSpc>
              <a:buFont typeface="Webdings" pitchFamily="18" charset="2"/>
              <a:buNone/>
            </a:pPr>
            <a:r>
              <a:rPr lang="ro-RO" altLang="zh-CN" sz="1600" dirty="0" smtClean="0">
                <a:solidFill>
                  <a:schemeClr val="tx1"/>
                </a:solidFill>
                <a:effectLst/>
              </a:rPr>
              <a:t>        for(j = 0; j &lt; M; j++)       </a:t>
            </a:r>
          </a:p>
          <a:p>
            <a:pPr marL="0" indent="0">
              <a:lnSpc>
                <a:spcPct val="100000"/>
              </a:lnSpc>
              <a:buFont typeface="Webdings" pitchFamily="18" charset="2"/>
              <a:buNone/>
            </a:pPr>
            <a:r>
              <a:rPr lang="ro-RO" altLang="zh-CN" sz="1600" dirty="0" smtClean="0">
                <a:solidFill>
                  <a:schemeClr val="tx1"/>
                </a:solidFill>
                <a:effectLst/>
              </a:rPr>
              <a:t>            scanf("%d", &amp;a[i][j]); </a:t>
            </a:r>
          </a:p>
          <a:p>
            <a:pPr marL="0" indent="0">
              <a:lnSpc>
                <a:spcPct val="100000"/>
              </a:lnSpc>
              <a:buFont typeface="Webdings" pitchFamily="18" charset="2"/>
              <a:buNone/>
            </a:pPr>
            <a:r>
              <a:rPr lang="ro-RO" altLang="zh-CN" sz="1600" dirty="0" smtClean="0">
                <a:solidFill>
                  <a:schemeClr val="tx1"/>
                </a:solidFill>
                <a:effectLst/>
              </a:rPr>
              <a:t>    for(i = 0; i &lt; N; i++){</a:t>
            </a:r>
          </a:p>
          <a:p>
            <a:pPr marL="0" indent="0">
              <a:lnSpc>
                <a:spcPct val="100000"/>
              </a:lnSpc>
              <a:buFont typeface="Webdings" pitchFamily="18" charset="2"/>
              <a:buNone/>
            </a:pPr>
            <a:r>
              <a:rPr lang="ro-RO" altLang="zh-CN" sz="1600" dirty="0" smtClean="0">
                <a:solidFill>
                  <a:schemeClr val="tx1"/>
                </a:solidFill>
                <a:effectLst/>
              </a:rPr>
              <a:t>        for(j = 0; j &lt;M; j++)</a:t>
            </a:r>
          </a:p>
          <a:p>
            <a:pPr marL="0" indent="0">
              <a:lnSpc>
                <a:spcPct val="100000"/>
              </a:lnSpc>
              <a:buFont typeface="Webdings" pitchFamily="18" charset="2"/>
              <a:buNone/>
            </a:pPr>
            <a:r>
              <a:rPr lang="ro-RO" altLang="zh-CN" sz="1600" dirty="0" smtClean="0">
                <a:solidFill>
                  <a:schemeClr val="tx1"/>
                </a:solidFill>
                <a:effectLst/>
              </a:rPr>
              <a:t>            printf("%4d", a[i][j]); </a:t>
            </a:r>
          </a:p>
          <a:p>
            <a:pPr marL="0" indent="0">
              <a:lnSpc>
                <a:spcPct val="100000"/>
              </a:lnSpc>
              <a:buFont typeface="Webdings" pitchFamily="18" charset="2"/>
              <a:buNone/>
            </a:pPr>
            <a:r>
              <a:rPr lang="ro-RO" altLang="zh-CN" sz="1600" dirty="0" smtClean="0">
                <a:solidFill>
                  <a:schemeClr val="tx1"/>
                </a:solidFill>
                <a:effectLst/>
              </a:rPr>
              <a:t>    </a:t>
            </a:r>
            <a:r>
              <a:rPr lang="en-US" altLang="zh-CN" sz="1600" dirty="0" smtClean="0">
                <a:solidFill>
                  <a:schemeClr val="tx1"/>
                </a:solidFill>
                <a:effectLst/>
              </a:rPr>
              <a:t> </a:t>
            </a:r>
            <a:r>
              <a:rPr lang="ro-RO" altLang="zh-CN" sz="1600" dirty="0" smtClean="0">
                <a:solidFill>
                  <a:schemeClr val="tx1"/>
                </a:solidFill>
                <a:effectLst/>
              </a:rPr>
              <a:t>    printf("\n");</a:t>
            </a:r>
          </a:p>
          <a:p>
            <a:pPr marL="0" indent="0">
              <a:lnSpc>
                <a:spcPct val="100000"/>
              </a:lnSpc>
              <a:buFont typeface="Webdings" pitchFamily="18" charset="2"/>
              <a:buNone/>
            </a:pPr>
            <a:r>
              <a:rPr lang="ro-RO" altLang="zh-CN" sz="1600" dirty="0" smtClean="0">
                <a:solidFill>
                  <a:schemeClr val="tx1"/>
                </a:solidFill>
                <a:effectLst/>
              </a:rPr>
              <a:t>   }</a:t>
            </a:r>
          </a:p>
          <a:p>
            <a:pPr marL="0" indent="0">
              <a:lnSpc>
                <a:spcPct val="100000"/>
              </a:lnSpc>
              <a:buFont typeface="Webdings" pitchFamily="18" charset="2"/>
              <a:buNone/>
            </a:pPr>
            <a:r>
              <a:rPr lang="ro-RO" altLang="zh-CN" sz="1600" dirty="0" smtClean="0">
                <a:solidFill>
                  <a:schemeClr val="tx1"/>
                </a:solidFill>
                <a:effectLst/>
              </a:rPr>
              <a:t>  row = col = 0;</a:t>
            </a:r>
          </a:p>
          <a:p>
            <a:pPr marL="0" indent="0">
              <a:lnSpc>
                <a:spcPct val="100000"/>
              </a:lnSpc>
              <a:buFont typeface="Webdings" pitchFamily="18" charset="2"/>
              <a:buNone/>
            </a:pPr>
            <a:r>
              <a:rPr lang="ro-RO" altLang="zh-CN" sz="1600" dirty="0" smtClean="0">
                <a:solidFill>
                  <a:schemeClr val="tx1"/>
                </a:solidFill>
                <a:effectLst/>
              </a:rPr>
              <a:t>  for(i = 0; i &lt; N; i++) </a:t>
            </a:r>
          </a:p>
          <a:p>
            <a:pPr marL="0" indent="0">
              <a:lnSpc>
                <a:spcPct val="100000"/>
              </a:lnSpc>
              <a:buFont typeface="Webdings" pitchFamily="18" charset="2"/>
              <a:buNone/>
            </a:pPr>
            <a:r>
              <a:rPr lang="ro-RO" altLang="zh-CN" sz="1600" dirty="0" smtClean="0">
                <a:solidFill>
                  <a:schemeClr val="tx1"/>
                </a:solidFill>
                <a:effectLst/>
              </a:rPr>
              <a:t>       for(j = 0; j &lt;M; j++)</a:t>
            </a:r>
          </a:p>
          <a:p>
            <a:pPr marL="0" indent="0">
              <a:lnSpc>
                <a:spcPct val="100000"/>
              </a:lnSpc>
              <a:buFont typeface="Webdings" pitchFamily="18" charset="2"/>
              <a:buNone/>
            </a:pPr>
            <a:r>
              <a:rPr lang="ro-RO" altLang="zh-CN" sz="1600" dirty="0" smtClean="0">
                <a:solidFill>
                  <a:schemeClr val="tx1"/>
                </a:solidFill>
                <a:effectLst/>
              </a:rPr>
              <a:t>          if(a[i][j] &gt; a[row][col]){</a:t>
            </a:r>
          </a:p>
          <a:p>
            <a:pPr marL="0" indent="0">
              <a:lnSpc>
                <a:spcPct val="100000"/>
              </a:lnSpc>
              <a:buFont typeface="Webdings" pitchFamily="18" charset="2"/>
              <a:buNone/>
            </a:pPr>
            <a:r>
              <a:rPr lang="ro-RO" altLang="zh-CN" sz="1600" dirty="0" smtClean="0">
                <a:solidFill>
                  <a:schemeClr val="tx1"/>
                </a:solidFill>
                <a:effectLst/>
              </a:rPr>
              <a:t>              row = i;   col = j; </a:t>
            </a:r>
          </a:p>
          <a:p>
            <a:pPr marL="0" indent="0">
              <a:lnSpc>
                <a:spcPct val="100000"/>
              </a:lnSpc>
              <a:buFont typeface="Webdings" pitchFamily="18" charset="2"/>
              <a:buNone/>
            </a:pPr>
            <a:r>
              <a:rPr lang="ro-RO" altLang="zh-CN" sz="1600" dirty="0" smtClean="0">
                <a:solidFill>
                  <a:schemeClr val="tx1"/>
                </a:solidFill>
                <a:effectLst/>
              </a:rPr>
              <a:t>          }</a:t>
            </a:r>
          </a:p>
          <a:p>
            <a:pPr marL="0" indent="0">
              <a:lnSpc>
                <a:spcPct val="100000"/>
              </a:lnSpc>
              <a:buFont typeface="Webdings" pitchFamily="18" charset="2"/>
              <a:buNone/>
            </a:pPr>
            <a:r>
              <a:rPr lang="ro-RO" altLang="zh-CN" sz="1600" dirty="0" smtClean="0">
                <a:solidFill>
                  <a:schemeClr val="tx1"/>
                </a:solidFill>
                <a:effectLst/>
              </a:rPr>
              <a:t>    printf("max = a[%d][%d] = %d\n", row, col, a[row][col]);</a:t>
            </a:r>
          </a:p>
          <a:p>
            <a:pPr marL="0" indent="0">
              <a:lnSpc>
                <a:spcPct val="100000"/>
              </a:lnSpc>
              <a:buFont typeface="Webdings" pitchFamily="18" charset="2"/>
              <a:buNone/>
            </a:pPr>
            <a:r>
              <a:rPr lang="ro-RO" altLang="zh-CN" sz="1600" dirty="0" smtClean="0">
                <a:solidFill>
                  <a:schemeClr val="tx1"/>
                </a:solidFill>
                <a:effectLst/>
              </a:rPr>
              <a:t>    return 0;</a:t>
            </a:r>
          </a:p>
          <a:p>
            <a:pPr marL="0" indent="0">
              <a:lnSpc>
                <a:spcPct val="100000"/>
              </a:lnSpc>
              <a:buFont typeface="Webdings" pitchFamily="18" charset="2"/>
              <a:buNone/>
            </a:pPr>
            <a:r>
              <a:rPr lang="ro-RO" altLang="zh-CN" sz="1600" dirty="0" smtClean="0">
                <a:solidFill>
                  <a:schemeClr val="tx1"/>
                </a:solidFill>
                <a:effectLst/>
              </a:rPr>
              <a:t>}</a:t>
            </a:r>
          </a:p>
          <a:p>
            <a:pPr marL="0" indent="0">
              <a:lnSpc>
                <a:spcPct val="100000"/>
              </a:lnSpc>
              <a:buFont typeface="Webdings" pitchFamily="18" charset="2"/>
              <a:buNone/>
            </a:pPr>
            <a:endParaRPr lang="en-US" sz="1600" dirty="0">
              <a:solidFill>
                <a:schemeClr val="tx1"/>
              </a:solidFill>
              <a:effectLst/>
            </a:endParaRPr>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6176" y="3897349"/>
            <a:ext cx="2761421" cy="2734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组合 5"/>
          <p:cNvGrpSpPr/>
          <p:nvPr/>
        </p:nvGrpSpPr>
        <p:grpSpPr>
          <a:xfrm>
            <a:off x="2058394" y="6153988"/>
            <a:ext cx="720080" cy="648072"/>
            <a:chOff x="6804248" y="1920969"/>
            <a:chExt cx="720080" cy="648072"/>
          </a:xfrm>
        </p:grpSpPr>
        <p:sp>
          <p:nvSpPr>
            <p:cNvPr id="7" name="椭圆 6"/>
            <p:cNvSpPr/>
            <p:nvPr/>
          </p:nvSpPr>
          <p:spPr bwMode="auto">
            <a:xfrm>
              <a:off x="6804248" y="1920969"/>
              <a:ext cx="648072" cy="648072"/>
            </a:xfrm>
            <a:prstGeom prst="ellipse">
              <a:avLst/>
            </a:prstGeom>
            <a:noFill/>
            <a:ln w="381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smtClean="0">
                  <a:ln>
                    <a:noFill/>
                  </a:ln>
                  <a:solidFill>
                    <a:schemeClr val="accent4"/>
                  </a:solidFill>
                  <a:effectLst/>
                  <a:latin typeface="Arial" charset="0"/>
                  <a:ea typeface="宋体" pitchFamily="2" charset="-122"/>
                </a:rPr>
                <a:t> </a:t>
              </a:r>
              <a:endParaRPr kumimoji="0" lang="zh-CN" altLang="en-US" sz="2000" b="0" i="0" u="none" strike="noStrike" cap="none" normalizeH="0" baseline="0" dirty="0" smtClean="0">
                <a:ln>
                  <a:noFill/>
                </a:ln>
                <a:solidFill>
                  <a:schemeClr val="accent4"/>
                </a:solidFill>
                <a:effectLst/>
                <a:latin typeface="Arial" charset="0"/>
                <a:ea typeface="宋体" pitchFamily="2" charset="-122"/>
              </a:endParaRPr>
            </a:p>
          </p:txBody>
        </p:sp>
        <p:sp>
          <p:nvSpPr>
            <p:cNvPr id="8" name="文本框 7"/>
            <p:cNvSpPr txBox="1"/>
            <p:nvPr/>
          </p:nvSpPr>
          <p:spPr>
            <a:xfrm>
              <a:off x="6804248" y="2027614"/>
              <a:ext cx="720080" cy="400110"/>
            </a:xfrm>
            <a:prstGeom prst="rect">
              <a:avLst/>
            </a:prstGeom>
            <a:noFill/>
          </p:spPr>
          <p:txBody>
            <a:bodyPr wrap="square" rtlCol="0">
              <a:spAutoFit/>
            </a:bodyPr>
            <a:lstStyle/>
            <a:p>
              <a:r>
                <a:rPr lang="en-US" altLang="zh-CN" sz="2000" b="1" dirty="0" smtClean="0">
                  <a:effectLst>
                    <a:outerShdw blurRad="38100" dist="38100" dir="2700000" algn="tl">
                      <a:srgbClr val="000000">
                        <a:alpha val="43137"/>
                      </a:srgbClr>
                    </a:outerShdw>
                  </a:effectLst>
                </a:rPr>
                <a:t>row</a:t>
              </a:r>
              <a:endParaRPr lang="zh-CN" altLang="en-US" sz="2000" b="1" dirty="0">
                <a:effectLst>
                  <a:outerShdw blurRad="38100" dist="38100" dir="2700000" algn="tl">
                    <a:srgbClr val="000000">
                      <a:alpha val="43137"/>
                    </a:srgbClr>
                  </a:outerShdw>
                </a:effectLst>
              </a:endParaRPr>
            </a:p>
          </p:txBody>
        </p:sp>
      </p:grpSp>
      <p:graphicFrame>
        <p:nvGraphicFramePr>
          <p:cNvPr id="9" name="表格 8"/>
          <p:cNvGraphicFramePr>
            <a:graphicFrameLocks noGrp="1"/>
          </p:cNvGraphicFramePr>
          <p:nvPr>
            <p:extLst>
              <p:ext uri="{D42A27DB-BD31-4B8C-83A1-F6EECF244321}">
                <p14:modId xmlns:p14="http://schemas.microsoft.com/office/powerpoint/2010/main" val="3010402628"/>
              </p:ext>
            </p:extLst>
          </p:nvPr>
        </p:nvGraphicFramePr>
        <p:xfrm>
          <a:off x="3874784" y="4475175"/>
          <a:ext cx="2245388" cy="2238616"/>
        </p:xfrm>
        <a:graphic>
          <a:graphicData uri="http://schemas.openxmlformats.org/drawingml/2006/table">
            <a:tbl>
              <a:tblPr firstRow="1" bandRow="1">
                <a:tableStyleId>{5C22544A-7EE6-4342-B048-85BDC9FD1C3A}</a:tableStyleId>
              </a:tblPr>
              <a:tblGrid>
                <a:gridCol w="561347">
                  <a:extLst>
                    <a:ext uri="{9D8B030D-6E8A-4147-A177-3AD203B41FA5}">
                      <a16:colId xmlns:a16="http://schemas.microsoft.com/office/drawing/2014/main" xmlns="" val="20000"/>
                    </a:ext>
                  </a:extLst>
                </a:gridCol>
                <a:gridCol w="561347">
                  <a:extLst>
                    <a:ext uri="{9D8B030D-6E8A-4147-A177-3AD203B41FA5}">
                      <a16:colId xmlns:a16="http://schemas.microsoft.com/office/drawing/2014/main" xmlns="" val="20001"/>
                    </a:ext>
                  </a:extLst>
                </a:gridCol>
                <a:gridCol w="561347">
                  <a:extLst>
                    <a:ext uri="{9D8B030D-6E8A-4147-A177-3AD203B41FA5}">
                      <a16:colId xmlns:a16="http://schemas.microsoft.com/office/drawing/2014/main" xmlns="" val="20002"/>
                    </a:ext>
                  </a:extLst>
                </a:gridCol>
                <a:gridCol w="561347">
                  <a:extLst>
                    <a:ext uri="{9D8B030D-6E8A-4147-A177-3AD203B41FA5}">
                      <a16:colId xmlns:a16="http://schemas.microsoft.com/office/drawing/2014/main" xmlns="" val="20003"/>
                    </a:ext>
                  </a:extLst>
                </a:gridCol>
              </a:tblGrid>
              <a:tr h="559654">
                <a:tc>
                  <a:txBody>
                    <a:bodyPr/>
                    <a:lstStyle/>
                    <a:p>
                      <a:pPr algn="ctr"/>
                      <a:r>
                        <a:rPr lang="en-US" altLang="zh-CN" sz="1100" b="1" dirty="0" smtClean="0">
                          <a:solidFill>
                            <a:schemeClr val="tx1"/>
                          </a:solidFill>
                        </a:rPr>
                        <a:t>a[0][0]</a:t>
                      </a:r>
                      <a:endParaRPr lang="zh-CN" altLang="en-US" sz="1100" b="1" dirty="0">
                        <a:solidFill>
                          <a:schemeClr val="tx1"/>
                        </a:solidFill>
                      </a:endParaRPr>
                    </a:p>
                  </a:txBody>
                  <a:tcPr marL="78487" marR="78487" marT="39243" marB="3924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dirty="0" smtClean="0">
                          <a:solidFill>
                            <a:schemeClr val="tx1"/>
                          </a:solidFill>
                        </a:rPr>
                        <a:t>a[0][1]</a:t>
                      </a:r>
                      <a:endParaRPr lang="zh-CN" altLang="en-US" sz="1100" b="1" dirty="0" smtClean="0">
                        <a:solidFill>
                          <a:schemeClr val="tx1"/>
                        </a:solidFill>
                      </a:endParaRPr>
                    </a:p>
                  </a:txBody>
                  <a:tcPr marL="78487" marR="78487" marT="39243" marB="3924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dirty="0" smtClean="0">
                          <a:solidFill>
                            <a:schemeClr val="tx1"/>
                          </a:solidFill>
                        </a:rPr>
                        <a:t>a[0][2]</a:t>
                      </a:r>
                      <a:endParaRPr lang="zh-CN" altLang="en-US" sz="1100" b="1" dirty="0" smtClean="0">
                        <a:solidFill>
                          <a:schemeClr val="tx1"/>
                        </a:solidFill>
                      </a:endParaRPr>
                    </a:p>
                  </a:txBody>
                  <a:tcPr marL="78487" marR="78487" marT="39243" marB="3924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dirty="0" smtClean="0">
                          <a:solidFill>
                            <a:schemeClr val="tx1"/>
                          </a:solidFill>
                        </a:rPr>
                        <a:t>a[0][3]</a:t>
                      </a:r>
                      <a:endParaRPr lang="zh-CN" altLang="en-US" sz="1100" b="1" dirty="0" smtClean="0">
                        <a:solidFill>
                          <a:schemeClr val="tx1"/>
                        </a:solidFill>
                      </a:endParaRPr>
                    </a:p>
                  </a:txBody>
                  <a:tcPr marL="78487" marR="78487" marT="39243" marB="39243" anchor="ctr">
                    <a:solidFill>
                      <a:schemeClr val="accent4">
                        <a:lumMod val="25000"/>
                        <a:lumOff val="75000"/>
                      </a:schemeClr>
                    </a:solidFill>
                  </a:tcPr>
                </a:tc>
                <a:extLst>
                  <a:ext uri="{0D108BD9-81ED-4DB2-BD59-A6C34878D82A}">
                    <a16:rowId xmlns:a16="http://schemas.microsoft.com/office/drawing/2014/main" xmlns="" val="10000"/>
                  </a:ext>
                </a:extLst>
              </a:tr>
              <a:tr h="5596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dirty="0" smtClean="0">
                          <a:solidFill>
                            <a:schemeClr val="tx1"/>
                          </a:solidFill>
                        </a:rPr>
                        <a:t>a[1][0]</a:t>
                      </a:r>
                      <a:endParaRPr lang="zh-CN" altLang="en-US" sz="1100" b="1" dirty="0" smtClean="0">
                        <a:solidFill>
                          <a:schemeClr val="tx1"/>
                        </a:solidFill>
                      </a:endParaRPr>
                    </a:p>
                  </a:txBody>
                  <a:tcPr marL="78487" marR="78487" marT="39243" marB="3924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dirty="0" smtClean="0">
                          <a:solidFill>
                            <a:schemeClr val="tx1"/>
                          </a:solidFill>
                        </a:rPr>
                        <a:t>a[1][1]</a:t>
                      </a:r>
                      <a:endParaRPr lang="zh-CN" altLang="en-US" sz="1100" b="1" dirty="0" smtClean="0">
                        <a:solidFill>
                          <a:schemeClr val="tx1"/>
                        </a:solidFill>
                      </a:endParaRPr>
                    </a:p>
                  </a:txBody>
                  <a:tcPr marL="78487" marR="78487" marT="39243" marB="3924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dirty="0" smtClean="0">
                          <a:solidFill>
                            <a:schemeClr val="tx1"/>
                          </a:solidFill>
                        </a:rPr>
                        <a:t>a[1][2]</a:t>
                      </a:r>
                      <a:endParaRPr lang="zh-CN" altLang="en-US" sz="1100" b="1" dirty="0" smtClean="0">
                        <a:solidFill>
                          <a:schemeClr val="tx1"/>
                        </a:solidFill>
                      </a:endParaRPr>
                    </a:p>
                  </a:txBody>
                  <a:tcPr marL="78487" marR="78487" marT="39243" marB="3924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dirty="0" smtClean="0">
                          <a:solidFill>
                            <a:schemeClr val="tx1"/>
                          </a:solidFill>
                        </a:rPr>
                        <a:t>a[1][3]</a:t>
                      </a:r>
                      <a:endParaRPr lang="zh-CN" altLang="en-US" sz="1100" b="1" dirty="0" smtClean="0">
                        <a:solidFill>
                          <a:schemeClr val="tx1"/>
                        </a:solidFill>
                      </a:endParaRPr>
                    </a:p>
                  </a:txBody>
                  <a:tcPr marL="78487" marR="78487" marT="39243" marB="39243" anchor="ctr">
                    <a:solidFill>
                      <a:schemeClr val="accent4">
                        <a:lumMod val="25000"/>
                        <a:lumOff val="75000"/>
                      </a:schemeClr>
                    </a:solidFill>
                  </a:tcPr>
                </a:tc>
                <a:extLst>
                  <a:ext uri="{0D108BD9-81ED-4DB2-BD59-A6C34878D82A}">
                    <a16:rowId xmlns:a16="http://schemas.microsoft.com/office/drawing/2014/main" xmlns="" val="10001"/>
                  </a:ext>
                </a:extLst>
              </a:tr>
              <a:tr h="5596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dirty="0" smtClean="0">
                          <a:solidFill>
                            <a:schemeClr val="tx1"/>
                          </a:solidFill>
                        </a:rPr>
                        <a:t>a[2][0]</a:t>
                      </a:r>
                      <a:endParaRPr lang="zh-CN" altLang="en-US" sz="1100" b="1" dirty="0" smtClean="0">
                        <a:solidFill>
                          <a:schemeClr val="tx1"/>
                        </a:solidFill>
                      </a:endParaRPr>
                    </a:p>
                  </a:txBody>
                  <a:tcPr marL="78487" marR="78487" marT="39243" marB="3924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dirty="0" smtClean="0">
                          <a:solidFill>
                            <a:schemeClr val="tx1"/>
                          </a:solidFill>
                        </a:rPr>
                        <a:t>a[2][1]</a:t>
                      </a:r>
                      <a:endParaRPr lang="zh-CN" altLang="en-US" sz="1100" b="1" dirty="0" smtClean="0">
                        <a:solidFill>
                          <a:schemeClr val="tx1"/>
                        </a:solidFill>
                      </a:endParaRPr>
                    </a:p>
                  </a:txBody>
                  <a:tcPr marL="78487" marR="78487" marT="39243" marB="3924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dirty="0" smtClean="0">
                          <a:solidFill>
                            <a:schemeClr val="tx1"/>
                          </a:solidFill>
                        </a:rPr>
                        <a:t>a[2][2]</a:t>
                      </a:r>
                      <a:endParaRPr lang="zh-CN" altLang="en-US" sz="1100" b="1" dirty="0" smtClean="0">
                        <a:solidFill>
                          <a:schemeClr val="tx1"/>
                        </a:solidFill>
                      </a:endParaRPr>
                    </a:p>
                  </a:txBody>
                  <a:tcPr marL="78487" marR="78487" marT="39243" marB="3924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dirty="0" smtClean="0">
                          <a:solidFill>
                            <a:schemeClr val="tx1"/>
                          </a:solidFill>
                        </a:rPr>
                        <a:t>a[2][3]</a:t>
                      </a:r>
                      <a:endParaRPr lang="zh-CN" altLang="en-US" sz="1100" b="1" dirty="0" smtClean="0">
                        <a:solidFill>
                          <a:schemeClr val="tx1"/>
                        </a:solidFill>
                      </a:endParaRPr>
                    </a:p>
                  </a:txBody>
                  <a:tcPr marL="78487" marR="78487" marT="39243" marB="39243" anchor="ctr">
                    <a:solidFill>
                      <a:schemeClr val="accent4">
                        <a:lumMod val="25000"/>
                        <a:lumOff val="75000"/>
                      </a:schemeClr>
                    </a:solidFill>
                  </a:tcPr>
                </a:tc>
                <a:extLst>
                  <a:ext uri="{0D108BD9-81ED-4DB2-BD59-A6C34878D82A}">
                    <a16:rowId xmlns:a16="http://schemas.microsoft.com/office/drawing/2014/main" xmlns="" val="10002"/>
                  </a:ext>
                </a:extLst>
              </a:tr>
              <a:tr h="5596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dirty="0" smtClean="0">
                          <a:solidFill>
                            <a:schemeClr val="tx1"/>
                          </a:solidFill>
                        </a:rPr>
                        <a:t>a[3][0]</a:t>
                      </a:r>
                      <a:endParaRPr lang="zh-CN" altLang="en-US" sz="1100" b="1" dirty="0" smtClean="0">
                        <a:solidFill>
                          <a:schemeClr val="tx1"/>
                        </a:solidFill>
                      </a:endParaRPr>
                    </a:p>
                  </a:txBody>
                  <a:tcPr marL="78487" marR="78487" marT="39243" marB="3924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dirty="0" smtClean="0">
                          <a:solidFill>
                            <a:schemeClr val="tx1"/>
                          </a:solidFill>
                        </a:rPr>
                        <a:t>a[3][1]</a:t>
                      </a:r>
                      <a:endParaRPr lang="zh-CN" altLang="en-US" sz="1100" b="1" dirty="0" smtClean="0">
                        <a:solidFill>
                          <a:schemeClr val="tx1"/>
                        </a:solidFill>
                      </a:endParaRPr>
                    </a:p>
                  </a:txBody>
                  <a:tcPr marL="78487" marR="78487" marT="39243" marB="3924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dirty="0" smtClean="0">
                          <a:solidFill>
                            <a:schemeClr val="tx1"/>
                          </a:solidFill>
                        </a:rPr>
                        <a:t>a[3][2]</a:t>
                      </a:r>
                      <a:endParaRPr lang="zh-CN" altLang="en-US" sz="1100" b="1" dirty="0" smtClean="0">
                        <a:solidFill>
                          <a:schemeClr val="tx1"/>
                        </a:solidFill>
                      </a:endParaRPr>
                    </a:p>
                  </a:txBody>
                  <a:tcPr marL="78487" marR="78487" marT="39243" marB="39243" anchor="ctr">
                    <a:solidFill>
                      <a:schemeClr val="accent4">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dirty="0" smtClean="0">
                          <a:solidFill>
                            <a:schemeClr val="tx1"/>
                          </a:solidFill>
                        </a:rPr>
                        <a:t>a[3][3]</a:t>
                      </a:r>
                      <a:endParaRPr lang="zh-CN" altLang="en-US" sz="1100" b="1" dirty="0" smtClean="0">
                        <a:solidFill>
                          <a:schemeClr val="tx1"/>
                        </a:solidFill>
                      </a:endParaRPr>
                    </a:p>
                  </a:txBody>
                  <a:tcPr marL="78487" marR="78487" marT="39243" marB="39243" anchor="ctr">
                    <a:solidFill>
                      <a:schemeClr val="accent4">
                        <a:lumMod val="25000"/>
                        <a:lumOff val="75000"/>
                      </a:schemeClr>
                    </a:solidFill>
                  </a:tcPr>
                </a:tc>
                <a:extLst>
                  <a:ext uri="{0D108BD9-81ED-4DB2-BD59-A6C34878D82A}">
                    <a16:rowId xmlns:a16="http://schemas.microsoft.com/office/drawing/2014/main" xmlns="" val="10003"/>
                  </a:ext>
                </a:extLst>
              </a:tr>
            </a:tbl>
          </a:graphicData>
        </a:graphic>
      </p:graphicFrame>
      <p:grpSp>
        <p:nvGrpSpPr>
          <p:cNvPr id="10" name="组合 9"/>
          <p:cNvGrpSpPr/>
          <p:nvPr/>
        </p:nvGrpSpPr>
        <p:grpSpPr>
          <a:xfrm>
            <a:off x="2776662" y="6124981"/>
            <a:ext cx="720080" cy="648072"/>
            <a:chOff x="6804248" y="1920969"/>
            <a:chExt cx="720080" cy="648072"/>
          </a:xfrm>
        </p:grpSpPr>
        <p:sp>
          <p:nvSpPr>
            <p:cNvPr id="11" name="椭圆 10"/>
            <p:cNvSpPr/>
            <p:nvPr/>
          </p:nvSpPr>
          <p:spPr bwMode="auto">
            <a:xfrm>
              <a:off x="6804248" y="1920969"/>
              <a:ext cx="648072" cy="648072"/>
            </a:xfrm>
            <a:prstGeom prst="ellipse">
              <a:avLst/>
            </a:prstGeom>
            <a:noFill/>
            <a:ln w="381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smtClean="0">
                  <a:ln>
                    <a:noFill/>
                  </a:ln>
                  <a:solidFill>
                    <a:schemeClr val="accent4"/>
                  </a:solidFill>
                  <a:effectLst/>
                  <a:latin typeface="Arial" charset="0"/>
                  <a:ea typeface="宋体" pitchFamily="2" charset="-122"/>
                </a:rPr>
                <a:t> </a:t>
              </a:r>
              <a:endParaRPr kumimoji="0" lang="zh-CN" altLang="en-US" sz="2000" b="0" i="0" u="none" strike="noStrike" cap="none" normalizeH="0" baseline="0" dirty="0" smtClean="0">
                <a:ln>
                  <a:noFill/>
                </a:ln>
                <a:solidFill>
                  <a:schemeClr val="accent4"/>
                </a:solidFill>
                <a:effectLst/>
                <a:latin typeface="Arial" charset="0"/>
                <a:ea typeface="宋体" pitchFamily="2" charset="-122"/>
              </a:endParaRPr>
            </a:p>
          </p:txBody>
        </p:sp>
        <p:sp>
          <p:nvSpPr>
            <p:cNvPr id="12" name="文本框 11"/>
            <p:cNvSpPr txBox="1"/>
            <p:nvPr/>
          </p:nvSpPr>
          <p:spPr>
            <a:xfrm>
              <a:off x="6804248" y="2027614"/>
              <a:ext cx="720080" cy="400110"/>
            </a:xfrm>
            <a:prstGeom prst="rect">
              <a:avLst/>
            </a:prstGeom>
            <a:noFill/>
          </p:spPr>
          <p:txBody>
            <a:bodyPr wrap="square" rtlCol="0">
              <a:spAutoFit/>
            </a:bodyPr>
            <a:lstStyle/>
            <a:p>
              <a:pPr algn="ctr"/>
              <a:r>
                <a:rPr lang="en-US" altLang="zh-CN" sz="2000" b="1" dirty="0" smtClean="0">
                  <a:effectLst>
                    <a:outerShdw blurRad="38100" dist="38100" dir="2700000" algn="tl">
                      <a:srgbClr val="000000">
                        <a:alpha val="43137"/>
                      </a:srgbClr>
                    </a:outerShdw>
                  </a:effectLst>
                </a:rPr>
                <a:t>col</a:t>
              </a:r>
              <a:endParaRPr lang="zh-CN" altLang="en-US" sz="2000" b="1" dirty="0">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1208646018"/>
      </p:ext>
    </p:extLst>
  </p:cSld>
  <p:clrMapOvr>
    <a:masterClrMapping/>
  </p:clrMapOvr>
  <p:transition spd="med">
    <p:random/>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50</a:t>
            </a:fld>
            <a:endParaRPr lang="en-US" altLang="zh-CN" dirty="0"/>
          </a:p>
        </p:txBody>
      </p:sp>
      <p:sp>
        <p:nvSpPr>
          <p:cNvPr id="3" name="Content Placeholder 2"/>
          <p:cNvSpPr>
            <a:spLocks noGrp="1"/>
          </p:cNvSpPr>
          <p:nvPr>
            <p:ph idx="4294967295"/>
          </p:nvPr>
        </p:nvSpPr>
        <p:spPr>
          <a:xfrm>
            <a:off x="827584" y="764704"/>
            <a:ext cx="7993062" cy="6093296"/>
          </a:xfrm>
        </p:spPr>
        <p:txBody>
          <a:bodyPr/>
          <a:lstStyle/>
          <a:p>
            <a:r>
              <a:rPr lang="zh-CN" altLang="en-US" dirty="0"/>
              <a:t>顺序查找：输入</a:t>
            </a:r>
            <a:r>
              <a:rPr lang="en-US" altLang="zh-CN" dirty="0"/>
              <a:t>10</a:t>
            </a:r>
            <a:r>
              <a:rPr lang="zh-CN" altLang="en-US" dirty="0"/>
              <a:t>个整数，将它们存入数组</a:t>
            </a:r>
            <a:r>
              <a:rPr lang="en-US" altLang="zh-CN" dirty="0"/>
              <a:t>a</a:t>
            </a:r>
            <a:r>
              <a:rPr lang="zh-CN" altLang="en-US" dirty="0"/>
              <a:t>中，再输入</a:t>
            </a:r>
            <a:r>
              <a:rPr lang="en-US" altLang="zh-CN" dirty="0"/>
              <a:t>1</a:t>
            </a:r>
            <a:r>
              <a:rPr lang="zh-CN" altLang="en-US" dirty="0"/>
              <a:t>个数</a:t>
            </a:r>
            <a:r>
              <a:rPr lang="en-US" altLang="zh-CN" dirty="0"/>
              <a:t>x</a:t>
            </a:r>
            <a:r>
              <a:rPr lang="zh-CN" altLang="en-US" dirty="0"/>
              <a:t>，然后在数组中查找</a:t>
            </a:r>
            <a:r>
              <a:rPr lang="en-US" altLang="zh-CN" dirty="0"/>
              <a:t>x</a:t>
            </a:r>
            <a:r>
              <a:rPr lang="zh-CN" altLang="en-US" dirty="0"/>
              <a:t>，如果找到，输出相应的下标，否则，输出“</a:t>
            </a:r>
            <a:r>
              <a:rPr lang="en-US" altLang="zh-CN" dirty="0"/>
              <a:t>Not Found”</a:t>
            </a:r>
            <a:r>
              <a:rPr lang="zh-CN" altLang="en-US" dirty="0" smtClean="0"/>
              <a:t>。</a:t>
            </a:r>
            <a:endParaRPr lang="en-US" altLang="zh-CN" dirty="0" smtClean="0"/>
          </a:p>
          <a:p>
            <a:r>
              <a:rPr lang="zh-CN" altLang="en-US" dirty="0" smtClean="0"/>
              <a:t>重复？</a:t>
            </a:r>
            <a:endParaRPr lang="en-US" dirty="0"/>
          </a:p>
        </p:txBody>
      </p:sp>
    </p:spTree>
    <p:extLst>
      <p:ext uri="{BB962C8B-B14F-4D97-AF65-F5344CB8AC3E}">
        <p14:creationId xmlns:p14="http://schemas.microsoft.com/office/powerpoint/2010/main" val="3716232459"/>
      </p:ext>
    </p:extLst>
  </p:cSld>
  <p:clrMapOvr>
    <a:masterClrMapping/>
  </p:clrMapOvr>
  <p:transition spd="med">
    <p:random/>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矩形 2"/>
          <p:cNvSpPr/>
          <p:nvPr/>
        </p:nvSpPr>
        <p:spPr>
          <a:xfrm>
            <a:off x="1115616" y="116632"/>
            <a:ext cx="5760640" cy="6494085"/>
          </a:xfrm>
          <a:prstGeom prst="rect">
            <a:avLst/>
          </a:prstGeom>
        </p:spPr>
        <p:txBody>
          <a:bodyPr wrap="square">
            <a:spAutoFit/>
          </a:bodyPr>
          <a:lstStyle/>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#include &lt;</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stdio.h</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&gt;</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#define N 10</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int</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main()</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int</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i,j,k,x,a</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[N],flag=0;</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static </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int</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b[N]={0};</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for(</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i</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 0; </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i</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&lt; N; </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i</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scanf</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("%d", &amp;a[</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i</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scanf</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("%d", &amp;x);</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j=0;</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for(</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i</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 0; </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i</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&lt; N; </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i</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if(a[</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i</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 x){</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flag=1;</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b[j]=</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i</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j++</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if(!flag)</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printf</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("Not Found");</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else{</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printf</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("Index is:");</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for(</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i</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 0; </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i</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&lt; N; </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i</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if(b[</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i</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]!=0)</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printf</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("%3d", b[</a:t>
            </a:r>
            <a:r>
              <a:rPr lang="en-US" altLang="zh-CN" sz="1600" b="1" kern="100" dirty="0" err="1">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i</a:t>
            </a: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return 0;</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16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95202731"/>
      </p:ext>
    </p:extLst>
  </p:cSld>
  <p:clrMapOvr>
    <a:masterClrMapping/>
  </p:clrMapOvr>
  <p:transition spd="med">
    <p:random/>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典型案例</a:t>
            </a:r>
            <a:endParaRPr lang="en-US" dirty="0"/>
          </a:p>
        </p:txBody>
      </p:sp>
      <p:sp>
        <p:nvSpPr>
          <p:cNvPr id="3" name="Content Placeholder 2"/>
          <p:cNvSpPr>
            <a:spLocks noGrp="1"/>
          </p:cNvSpPr>
          <p:nvPr>
            <p:ph idx="1"/>
          </p:nvPr>
        </p:nvSpPr>
        <p:spPr>
          <a:xfrm>
            <a:off x="755650" y="1700213"/>
            <a:ext cx="8208838" cy="936699"/>
          </a:xfrm>
        </p:spPr>
        <p:txBody>
          <a:bodyPr/>
          <a:lstStyle/>
          <a:p>
            <a:r>
              <a:rPr lang="zh-CN" altLang="en-US" dirty="0" smtClean="0"/>
              <a:t>排序</a:t>
            </a:r>
            <a:endParaRPr lang="zh-TW" alt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52</a:t>
            </a:fld>
            <a:endParaRPr lang="en-US" altLang="zh-CN" dirty="0"/>
          </a:p>
        </p:txBody>
      </p:sp>
    </p:spTree>
    <p:extLst>
      <p:ext uri="{BB962C8B-B14F-4D97-AF65-F5344CB8AC3E}">
        <p14:creationId xmlns:p14="http://schemas.microsoft.com/office/powerpoint/2010/main" val="1779630920"/>
      </p:ext>
    </p:extLst>
  </p:cSld>
  <p:clrMapOvr>
    <a:masterClrMapping/>
  </p:clrMapOvr>
  <p:transition spd="med">
    <p:random/>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53</a:t>
            </a:fld>
            <a:endParaRPr lang="en-US" altLang="zh-CN" dirty="0"/>
          </a:p>
        </p:txBody>
      </p:sp>
      <p:sp>
        <p:nvSpPr>
          <p:cNvPr id="3" name="Content Placeholder 2"/>
          <p:cNvSpPr>
            <a:spLocks noGrp="1"/>
          </p:cNvSpPr>
          <p:nvPr>
            <p:ph idx="4294967295"/>
          </p:nvPr>
        </p:nvSpPr>
        <p:spPr>
          <a:xfrm>
            <a:off x="827584" y="836712"/>
            <a:ext cx="7993062" cy="2615593"/>
          </a:xfrm>
        </p:spPr>
        <p:txBody>
          <a:bodyPr/>
          <a:lstStyle/>
          <a:p>
            <a:r>
              <a:rPr lang="en-US" altLang="zh-TW" dirty="0">
                <a:solidFill>
                  <a:srgbClr val="0066FF"/>
                </a:solidFill>
              </a:rPr>
              <a:t>【</a:t>
            </a:r>
            <a:r>
              <a:rPr lang="zh-TW" altLang="en-US" dirty="0">
                <a:solidFill>
                  <a:srgbClr val="0066FF"/>
                </a:solidFill>
              </a:rPr>
              <a:t>例</a:t>
            </a:r>
            <a:r>
              <a:rPr lang="en-US" altLang="zh-TW" dirty="0">
                <a:solidFill>
                  <a:srgbClr val="0066FF"/>
                </a:solidFill>
              </a:rPr>
              <a:t>4-7】</a:t>
            </a:r>
            <a:r>
              <a:rPr lang="zh-TW" altLang="en-US" dirty="0">
                <a:solidFill>
                  <a:srgbClr val="0066FF"/>
                </a:solidFill>
              </a:rPr>
              <a:t>选择排序。输入</a:t>
            </a:r>
            <a:r>
              <a:rPr lang="en-US" altLang="zh-TW" dirty="0">
                <a:solidFill>
                  <a:srgbClr val="0066FF"/>
                </a:solidFill>
              </a:rPr>
              <a:t>n</a:t>
            </a:r>
            <a:r>
              <a:rPr lang="zh-TW" altLang="en-US" dirty="0">
                <a:solidFill>
                  <a:srgbClr val="0066FF"/>
                </a:solidFill>
              </a:rPr>
              <a:t>个数值，采用选择排序进行排序后，依次从低到高输出</a:t>
            </a:r>
            <a:r>
              <a:rPr lang="zh-TW" altLang="en-US" dirty="0" smtClean="0">
                <a:solidFill>
                  <a:srgbClr val="0066FF"/>
                </a:solidFill>
              </a:rPr>
              <a:t>。</a:t>
            </a:r>
            <a:r>
              <a:rPr lang="en-US" altLang="zh-TW" dirty="0" smtClean="0">
                <a:solidFill>
                  <a:srgbClr val="0066FF"/>
                </a:solidFill>
              </a:rPr>
              <a:t> </a:t>
            </a:r>
            <a:endParaRPr lang="en-US" dirty="0">
              <a:solidFill>
                <a:srgbClr val="0066FF"/>
              </a:solidFill>
            </a:endParaRPr>
          </a:p>
        </p:txBody>
      </p:sp>
      <p:sp>
        <p:nvSpPr>
          <p:cNvPr id="5" name="Content Placeholder 2"/>
          <p:cNvSpPr txBox="1">
            <a:spLocks/>
          </p:cNvSpPr>
          <p:nvPr/>
        </p:nvSpPr>
        <p:spPr bwMode="auto">
          <a:xfrm>
            <a:off x="899592" y="1916833"/>
            <a:ext cx="7632848" cy="149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rgbClr val="FF3300"/>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rgbClr val="3333FF"/>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a:lstStyle>
          <a:p>
            <a:pPr lvl="1" algn="just"/>
            <a:r>
              <a:rPr lang="zh-TW" altLang="en-US" dirty="0" smtClean="0">
                <a:solidFill>
                  <a:srgbClr val="0066FF"/>
                </a:solidFill>
              </a:rPr>
              <a:t>分析：假设</a:t>
            </a:r>
            <a:r>
              <a:rPr lang="en-US" altLang="zh-TW" dirty="0" smtClean="0">
                <a:solidFill>
                  <a:srgbClr val="0066FF"/>
                </a:solidFill>
              </a:rPr>
              <a:t>5</a:t>
            </a:r>
            <a:r>
              <a:rPr lang="zh-TW" altLang="en-US" dirty="0" smtClean="0">
                <a:solidFill>
                  <a:srgbClr val="0066FF"/>
                </a:solidFill>
              </a:rPr>
              <a:t>个数据</a:t>
            </a:r>
            <a:r>
              <a:rPr lang="en-US" altLang="zh-TW" dirty="0" smtClean="0">
                <a:solidFill>
                  <a:srgbClr val="0066FF"/>
                </a:solidFill>
              </a:rPr>
              <a:t>a[5]={4,2,6,3,7}</a:t>
            </a:r>
            <a:r>
              <a:rPr lang="zh-TW" altLang="en-US" dirty="0" smtClean="0">
                <a:solidFill>
                  <a:srgbClr val="0066FF"/>
                </a:solidFill>
              </a:rPr>
              <a:t>，那么选择排序法至少执行</a:t>
            </a:r>
            <a:r>
              <a:rPr lang="en-US" altLang="zh-TW" dirty="0" smtClean="0">
                <a:solidFill>
                  <a:srgbClr val="0066FF"/>
                </a:solidFill>
              </a:rPr>
              <a:t>4</a:t>
            </a:r>
            <a:r>
              <a:rPr lang="zh-TW" altLang="en-US" dirty="0" smtClean="0">
                <a:solidFill>
                  <a:srgbClr val="0066FF"/>
                </a:solidFill>
              </a:rPr>
              <a:t>次遍历，每次查找</a:t>
            </a:r>
            <a:r>
              <a:rPr lang="en-US" altLang="zh-TW" dirty="0" smtClean="0">
                <a:solidFill>
                  <a:srgbClr val="0066FF"/>
                </a:solidFill>
              </a:rPr>
              <a:t>1</a:t>
            </a:r>
            <a:r>
              <a:rPr lang="zh-TW" altLang="en-US" dirty="0" smtClean="0">
                <a:solidFill>
                  <a:srgbClr val="0066FF"/>
                </a:solidFill>
              </a:rPr>
              <a:t>个最小值并进行排序。对于</a:t>
            </a:r>
            <a:r>
              <a:rPr lang="en-US" altLang="zh-TW" dirty="0" smtClean="0">
                <a:solidFill>
                  <a:srgbClr val="0066FF"/>
                </a:solidFill>
              </a:rPr>
              <a:t>N</a:t>
            </a:r>
            <a:r>
              <a:rPr lang="zh-TW" altLang="en-US" dirty="0" smtClean="0">
                <a:solidFill>
                  <a:srgbClr val="0066FF"/>
                </a:solidFill>
              </a:rPr>
              <a:t>个元素的数组，排序算法至少执行</a:t>
            </a:r>
            <a:r>
              <a:rPr lang="en-US" altLang="zh-TW" dirty="0" smtClean="0">
                <a:solidFill>
                  <a:srgbClr val="0066FF"/>
                </a:solidFill>
              </a:rPr>
              <a:t>N-1</a:t>
            </a:r>
            <a:r>
              <a:rPr lang="zh-TW" altLang="en-US" dirty="0" smtClean="0">
                <a:solidFill>
                  <a:srgbClr val="0066FF"/>
                </a:solidFill>
              </a:rPr>
              <a:t>次。</a:t>
            </a:r>
            <a:endParaRPr lang="en-US" altLang="zh-TW" dirty="0" smtClean="0">
              <a:solidFill>
                <a:srgbClr val="0066FF"/>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1093259794"/>
              </p:ext>
            </p:extLst>
          </p:nvPr>
        </p:nvGraphicFramePr>
        <p:xfrm>
          <a:off x="1522142" y="3789040"/>
          <a:ext cx="3613720" cy="335280"/>
        </p:xfrm>
        <a:graphic>
          <a:graphicData uri="http://schemas.openxmlformats.org/drawingml/2006/table">
            <a:tbl>
              <a:tblPr firstRow="1" bandRow="1">
                <a:tableStyleId>{5C22544A-7EE6-4342-B048-85BDC9FD1C3A}</a:tableStyleId>
              </a:tblPr>
              <a:tblGrid>
                <a:gridCol w="722744">
                  <a:extLst>
                    <a:ext uri="{9D8B030D-6E8A-4147-A177-3AD203B41FA5}">
                      <a16:colId xmlns:a16="http://schemas.microsoft.com/office/drawing/2014/main" xmlns="" val="4573996"/>
                    </a:ext>
                  </a:extLst>
                </a:gridCol>
                <a:gridCol w="722744">
                  <a:extLst>
                    <a:ext uri="{9D8B030D-6E8A-4147-A177-3AD203B41FA5}">
                      <a16:colId xmlns:a16="http://schemas.microsoft.com/office/drawing/2014/main" xmlns="" val="1940628640"/>
                    </a:ext>
                  </a:extLst>
                </a:gridCol>
                <a:gridCol w="722744">
                  <a:extLst>
                    <a:ext uri="{9D8B030D-6E8A-4147-A177-3AD203B41FA5}">
                      <a16:colId xmlns:a16="http://schemas.microsoft.com/office/drawing/2014/main" xmlns="" val="1224197718"/>
                    </a:ext>
                  </a:extLst>
                </a:gridCol>
                <a:gridCol w="722744">
                  <a:extLst>
                    <a:ext uri="{9D8B030D-6E8A-4147-A177-3AD203B41FA5}">
                      <a16:colId xmlns:a16="http://schemas.microsoft.com/office/drawing/2014/main" xmlns="" val="2244228631"/>
                    </a:ext>
                  </a:extLst>
                </a:gridCol>
                <a:gridCol w="722744">
                  <a:extLst>
                    <a:ext uri="{9D8B030D-6E8A-4147-A177-3AD203B41FA5}">
                      <a16:colId xmlns:a16="http://schemas.microsoft.com/office/drawing/2014/main" xmlns="" val="86740440"/>
                    </a:ext>
                  </a:extLst>
                </a:gridCol>
              </a:tblGrid>
              <a:tr h="298832">
                <a:tc>
                  <a:txBody>
                    <a:bodyPr/>
                    <a:lstStyle/>
                    <a:p>
                      <a:pPr algn="ctr"/>
                      <a:r>
                        <a:rPr lang="en-US" altLang="zh-CN" sz="1600" dirty="0" smtClean="0">
                          <a:solidFill>
                            <a:schemeClr val="tx1"/>
                          </a:solidFill>
                        </a:rPr>
                        <a:t>4</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2</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6</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3</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7</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1969233"/>
                  </a:ext>
                </a:extLst>
              </a:tr>
            </a:tbl>
          </a:graphicData>
        </a:graphic>
      </p:graphicFrame>
      <p:sp>
        <p:nvSpPr>
          <p:cNvPr id="14" name="矩形 13"/>
          <p:cNvSpPr/>
          <p:nvPr/>
        </p:nvSpPr>
        <p:spPr bwMode="auto">
          <a:xfrm>
            <a:off x="815295" y="3789040"/>
            <a:ext cx="648072"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dirty="0" smtClean="0">
                <a:ln>
                  <a:noFill/>
                </a:ln>
                <a:solidFill>
                  <a:schemeClr val="tx1"/>
                </a:solidFill>
                <a:effectLst/>
                <a:latin typeface="Arial" charset="0"/>
                <a:ea typeface="宋体" pitchFamily="2" charset="-122"/>
              </a:rPr>
              <a:t>数值</a:t>
            </a:r>
          </a:p>
        </p:txBody>
      </p:sp>
      <p:sp>
        <p:nvSpPr>
          <p:cNvPr id="15" name="矩形 14"/>
          <p:cNvSpPr/>
          <p:nvPr/>
        </p:nvSpPr>
        <p:spPr bwMode="auto">
          <a:xfrm>
            <a:off x="815295" y="3359268"/>
            <a:ext cx="648072"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1400" b="1" dirty="0"/>
              <a:t>a</a:t>
            </a:r>
            <a:r>
              <a:rPr lang="zh-CN" altLang="en-US" sz="1400" b="1" dirty="0" smtClean="0"/>
              <a:t>下标</a:t>
            </a:r>
            <a:endParaRPr kumimoji="0" lang="zh-CN" altLang="en-US" sz="1400" b="1" i="0" u="none" strike="noStrike" cap="none" normalizeH="0" baseline="0" dirty="0" smtClean="0">
              <a:ln>
                <a:noFill/>
              </a:ln>
              <a:solidFill>
                <a:schemeClr val="tx1"/>
              </a:solidFill>
              <a:effectLst/>
            </a:endParaRPr>
          </a:p>
        </p:txBody>
      </p:sp>
      <p:graphicFrame>
        <p:nvGraphicFramePr>
          <p:cNvPr id="21" name="表格 20"/>
          <p:cNvGraphicFramePr>
            <a:graphicFrameLocks noGrp="1"/>
          </p:cNvGraphicFramePr>
          <p:nvPr>
            <p:extLst>
              <p:ext uri="{D42A27DB-BD31-4B8C-83A1-F6EECF244321}">
                <p14:modId xmlns:p14="http://schemas.microsoft.com/office/powerpoint/2010/main" val="4288813929"/>
              </p:ext>
            </p:extLst>
          </p:nvPr>
        </p:nvGraphicFramePr>
        <p:xfrm>
          <a:off x="1534344" y="4149080"/>
          <a:ext cx="3613720" cy="335280"/>
        </p:xfrm>
        <a:graphic>
          <a:graphicData uri="http://schemas.openxmlformats.org/drawingml/2006/table">
            <a:tbl>
              <a:tblPr firstRow="1" bandRow="1">
                <a:tableStyleId>{5C22544A-7EE6-4342-B048-85BDC9FD1C3A}</a:tableStyleId>
              </a:tblPr>
              <a:tblGrid>
                <a:gridCol w="722744">
                  <a:extLst>
                    <a:ext uri="{9D8B030D-6E8A-4147-A177-3AD203B41FA5}">
                      <a16:colId xmlns:a16="http://schemas.microsoft.com/office/drawing/2014/main" xmlns="" val="4573996"/>
                    </a:ext>
                  </a:extLst>
                </a:gridCol>
                <a:gridCol w="722744">
                  <a:extLst>
                    <a:ext uri="{9D8B030D-6E8A-4147-A177-3AD203B41FA5}">
                      <a16:colId xmlns:a16="http://schemas.microsoft.com/office/drawing/2014/main" xmlns="" val="1940628640"/>
                    </a:ext>
                  </a:extLst>
                </a:gridCol>
                <a:gridCol w="722744">
                  <a:extLst>
                    <a:ext uri="{9D8B030D-6E8A-4147-A177-3AD203B41FA5}">
                      <a16:colId xmlns:a16="http://schemas.microsoft.com/office/drawing/2014/main" xmlns="" val="1224197718"/>
                    </a:ext>
                  </a:extLst>
                </a:gridCol>
                <a:gridCol w="722744">
                  <a:extLst>
                    <a:ext uri="{9D8B030D-6E8A-4147-A177-3AD203B41FA5}">
                      <a16:colId xmlns:a16="http://schemas.microsoft.com/office/drawing/2014/main" xmlns="" val="2244228631"/>
                    </a:ext>
                  </a:extLst>
                </a:gridCol>
                <a:gridCol w="722744">
                  <a:extLst>
                    <a:ext uri="{9D8B030D-6E8A-4147-A177-3AD203B41FA5}">
                      <a16:colId xmlns:a16="http://schemas.microsoft.com/office/drawing/2014/main" xmlns="" val="86740440"/>
                    </a:ext>
                  </a:extLst>
                </a:gridCol>
              </a:tblGrid>
              <a:tr h="298832">
                <a:tc>
                  <a:txBody>
                    <a:bodyPr/>
                    <a:lstStyle/>
                    <a:p>
                      <a:pPr algn="ctr"/>
                      <a:r>
                        <a:rPr lang="en-US" altLang="zh-CN" sz="1600" dirty="0" smtClean="0">
                          <a:solidFill>
                            <a:schemeClr val="tx1"/>
                          </a:solidFill>
                        </a:rPr>
                        <a:t>2</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4</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6</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3</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7</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1969233"/>
                  </a:ext>
                </a:extLst>
              </a:tr>
            </a:tbl>
          </a:graphicData>
        </a:graphic>
      </p:graphicFrame>
      <p:graphicFrame>
        <p:nvGraphicFramePr>
          <p:cNvPr id="24" name="表格 23"/>
          <p:cNvGraphicFramePr>
            <a:graphicFrameLocks noGrp="1"/>
          </p:cNvGraphicFramePr>
          <p:nvPr>
            <p:extLst>
              <p:ext uri="{D42A27DB-BD31-4B8C-83A1-F6EECF244321}">
                <p14:modId xmlns:p14="http://schemas.microsoft.com/office/powerpoint/2010/main" val="1065170736"/>
              </p:ext>
            </p:extLst>
          </p:nvPr>
        </p:nvGraphicFramePr>
        <p:xfrm>
          <a:off x="1534344" y="4553809"/>
          <a:ext cx="3613720" cy="335280"/>
        </p:xfrm>
        <a:graphic>
          <a:graphicData uri="http://schemas.openxmlformats.org/drawingml/2006/table">
            <a:tbl>
              <a:tblPr firstRow="1" bandRow="1">
                <a:tableStyleId>{5C22544A-7EE6-4342-B048-85BDC9FD1C3A}</a:tableStyleId>
              </a:tblPr>
              <a:tblGrid>
                <a:gridCol w="722744">
                  <a:extLst>
                    <a:ext uri="{9D8B030D-6E8A-4147-A177-3AD203B41FA5}">
                      <a16:colId xmlns:a16="http://schemas.microsoft.com/office/drawing/2014/main" xmlns="" val="4573996"/>
                    </a:ext>
                  </a:extLst>
                </a:gridCol>
                <a:gridCol w="722744">
                  <a:extLst>
                    <a:ext uri="{9D8B030D-6E8A-4147-A177-3AD203B41FA5}">
                      <a16:colId xmlns:a16="http://schemas.microsoft.com/office/drawing/2014/main" xmlns="" val="1940628640"/>
                    </a:ext>
                  </a:extLst>
                </a:gridCol>
                <a:gridCol w="722744">
                  <a:extLst>
                    <a:ext uri="{9D8B030D-6E8A-4147-A177-3AD203B41FA5}">
                      <a16:colId xmlns:a16="http://schemas.microsoft.com/office/drawing/2014/main" xmlns="" val="1224197718"/>
                    </a:ext>
                  </a:extLst>
                </a:gridCol>
                <a:gridCol w="722744">
                  <a:extLst>
                    <a:ext uri="{9D8B030D-6E8A-4147-A177-3AD203B41FA5}">
                      <a16:colId xmlns:a16="http://schemas.microsoft.com/office/drawing/2014/main" xmlns="" val="2244228631"/>
                    </a:ext>
                  </a:extLst>
                </a:gridCol>
                <a:gridCol w="722744">
                  <a:extLst>
                    <a:ext uri="{9D8B030D-6E8A-4147-A177-3AD203B41FA5}">
                      <a16:colId xmlns:a16="http://schemas.microsoft.com/office/drawing/2014/main" xmlns="" val="86740440"/>
                    </a:ext>
                  </a:extLst>
                </a:gridCol>
              </a:tblGrid>
              <a:tr h="298832">
                <a:tc>
                  <a:txBody>
                    <a:bodyPr/>
                    <a:lstStyle/>
                    <a:p>
                      <a:pPr algn="ctr"/>
                      <a:r>
                        <a:rPr lang="en-US" altLang="zh-CN" sz="1600" dirty="0" smtClean="0">
                          <a:solidFill>
                            <a:schemeClr val="tx1"/>
                          </a:solidFill>
                        </a:rPr>
                        <a:t>2</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3</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6</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4</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7</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1969233"/>
                  </a:ext>
                </a:extLst>
              </a:tr>
            </a:tbl>
          </a:graphicData>
        </a:graphic>
      </p:graphicFrame>
      <p:graphicFrame>
        <p:nvGraphicFramePr>
          <p:cNvPr id="25" name="表格 24"/>
          <p:cNvGraphicFramePr>
            <a:graphicFrameLocks noGrp="1"/>
          </p:cNvGraphicFramePr>
          <p:nvPr>
            <p:extLst>
              <p:ext uri="{D42A27DB-BD31-4B8C-83A1-F6EECF244321}">
                <p14:modId xmlns:p14="http://schemas.microsoft.com/office/powerpoint/2010/main" val="583171626"/>
              </p:ext>
            </p:extLst>
          </p:nvPr>
        </p:nvGraphicFramePr>
        <p:xfrm>
          <a:off x="1527613" y="3356992"/>
          <a:ext cx="3607715" cy="335280"/>
        </p:xfrm>
        <a:graphic>
          <a:graphicData uri="http://schemas.openxmlformats.org/drawingml/2006/table">
            <a:tbl>
              <a:tblPr firstRow="1" bandRow="1">
                <a:tableStyleId>{5C22544A-7EE6-4342-B048-85BDC9FD1C3A}</a:tableStyleId>
              </a:tblPr>
              <a:tblGrid>
                <a:gridCol w="721543">
                  <a:extLst>
                    <a:ext uri="{9D8B030D-6E8A-4147-A177-3AD203B41FA5}">
                      <a16:colId xmlns:a16="http://schemas.microsoft.com/office/drawing/2014/main" xmlns="" val="4573996"/>
                    </a:ext>
                  </a:extLst>
                </a:gridCol>
                <a:gridCol w="721543">
                  <a:extLst>
                    <a:ext uri="{9D8B030D-6E8A-4147-A177-3AD203B41FA5}">
                      <a16:colId xmlns:a16="http://schemas.microsoft.com/office/drawing/2014/main" xmlns="" val="1940628640"/>
                    </a:ext>
                  </a:extLst>
                </a:gridCol>
                <a:gridCol w="721543">
                  <a:extLst>
                    <a:ext uri="{9D8B030D-6E8A-4147-A177-3AD203B41FA5}">
                      <a16:colId xmlns:a16="http://schemas.microsoft.com/office/drawing/2014/main" xmlns="" val="1224197718"/>
                    </a:ext>
                  </a:extLst>
                </a:gridCol>
                <a:gridCol w="721543">
                  <a:extLst>
                    <a:ext uri="{9D8B030D-6E8A-4147-A177-3AD203B41FA5}">
                      <a16:colId xmlns:a16="http://schemas.microsoft.com/office/drawing/2014/main" xmlns="" val="2244228631"/>
                    </a:ext>
                  </a:extLst>
                </a:gridCol>
                <a:gridCol w="721543">
                  <a:extLst>
                    <a:ext uri="{9D8B030D-6E8A-4147-A177-3AD203B41FA5}">
                      <a16:colId xmlns:a16="http://schemas.microsoft.com/office/drawing/2014/main" xmlns="" val="86740440"/>
                    </a:ext>
                  </a:extLst>
                </a:gridCol>
              </a:tblGrid>
              <a:tr h="298832">
                <a:tc>
                  <a:txBody>
                    <a:bodyPr/>
                    <a:lstStyle/>
                    <a:p>
                      <a:pPr algn="ctr"/>
                      <a:r>
                        <a:rPr lang="en-US" altLang="zh-CN" sz="1600" dirty="0" smtClean="0">
                          <a:solidFill>
                            <a:schemeClr val="tx1"/>
                          </a:solidFill>
                        </a:rPr>
                        <a:t>0</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1</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2</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3</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4</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1969233"/>
                  </a:ext>
                </a:extLst>
              </a:tr>
            </a:tbl>
          </a:graphicData>
        </a:graphic>
      </p:graphicFrame>
      <p:graphicFrame>
        <p:nvGraphicFramePr>
          <p:cNvPr id="26" name="表格 25"/>
          <p:cNvGraphicFramePr>
            <a:graphicFrameLocks noGrp="1"/>
          </p:cNvGraphicFramePr>
          <p:nvPr>
            <p:extLst>
              <p:ext uri="{D42A27DB-BD31-4B8C-83A1-F6EECF244321}">
                <p14:modId xmlns:p14="http://schemas.microsoft.com/office/powerpoint/2010/main" val="1875379014"/>
              </p:ext>
            </p:extLst>
          </p:nvPr>
        </p:nvGraphicFramePr>
        <p:xfrm>
          <a:off x="1534344" y="4975034"/>
          <a:ext cx="3613720" cy="335280"/>
        </p:xfrm>
        <a:graphic>
          <a:graphicData uri="http://schemas.openxmlformats.org/drawingml/2006/table">
            <a:tbl>
              <a:tblPr firstRow="1" bandRow="1">
                <a:tableStyleId>{5C22544A-7EE6-4342-B048-85BDC9FD1C3A}</a:tableStyleId>
              </a:tblPr>
              <a:tblGrid>
                <a:gridCol w="722744">
                  <a:extLst>
                    <a:ext uri="{9D8B030D-6E8A-4147-A177-3AD203B41FA5}">
                      <a16:colId xmlns:a16="http://schemas.microsoft.com/office/drawing/2014/main" xmlns="" val="4573996"/>
                    </a:ext>
                  </a:extLst>
                </a:gridCol>
                <a:gridCol w="722744">
                  <a:extLst>
                    <a:ext uri="{9D8B030D-6E8A-4147-A177-3AD203B41FA5}">
                      <a16:colId xmlns:a16="http://schemas.microsoft.com/office/drawing/2014/main" xmlns="" val="1940628640"/>
                    </a:ext>
                  </a:extLst>
                </a:gridCol>
                <a:gridCol w="722744">
                  <a:extLst>
                    <a:ext uri="{9D8B030D-6E8A-4147-A177-3AD203B41FA5}">
                      <a16:colId xmlns:a16="http://schemas.microsoft.com/office/drawing/2014/main" xmlns="" val="1224197718"/>
                    </a:ext>
                  </a:extLst>
                </a:gridCol>
                <a:gridCol w="722744">
                  <a:extLst>
                    <a:ext uri="{9D8B030D-6E8A-4147-A177-3AD203B41FA5}">
                      <a16:colId xmlns:a16="http://schemas.microsoft.com/office/drawing/2014/main" xmlns="" val="2244228631"/>
                    </a:ext>
                  </a:extLst>
                </a:gridCol>
                <a:gridCol w="722744">
                  <a:extLst>
                    <a:ext uri="{9D8B030D-6E8A-4147-A177-3AD203B41FA5}">
                      <a16:colId xmlns:a16="http://schemas.microsoft.com/office/drawing/2014/main" xmlns="" val="86740440"/>
                    </a:ext>
                  </a:extLst>
                </a:gridCol>
              </a:tblGrid>
              <a:tr h="298832">
                <a:tc>
                  <a:txBody>
                    <a:bodyPr/>
                    <a:lstStyle/>
                    <a:p>
                      <a:pPr algn="ctr"/>
                      <a:r>
                        <a:rPr lang="en-US" altLang="zh-CN" sz="1600" dirty="0" smtClean="0">
                          <a:solidFill>
                            <a:schemeClr val="tx1"/>
                          </a:solidFill>
                        </a:rPr>
                        <a:t>2</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3</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4</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6</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7</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1969233"/>
                  </a:ext>
                </a:extLst>
              </a:tr>
            </a:tbl>
          </a:graphicData>
        </a:graphic>
      </p:graphicFrame>
      <p:grpSp>
        <p:nvGrpSpPr>
          <p:cNvPr id="8" name="组合 7"/>
          <p:cNvGrpSpPr/>
          <p:nvPr/>
        </p:nvGrpSpPr>
        <p:grpSpPr>
          <a:xfrm>
            <a:off x="2123728" y="5293512"/>
            <a:ext cx="801719" cy="632833"/>
            <a:chOff x="1223628" y="5147671"/>
            <a:chExt cx="648072" cy="632833"/>
          </a:xfrm>
        </p:grpSpPr>
        <p:cxnSp>
          <p:nvCxnSpPr>
            <p:cNvPr id="9" name="直接箭头连接符 8"/>
            <p:cNvCxnSpPr/>
            <p:nvPr/>
          </p:nvCxnSpPr>
          <p:spPr bwMode="auto">
            <a:xfrm flipV="1">
              <a:off x="1547664" y="5147671"/>
              <a:ext cx="0" cy="297553"/>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矩形 9"/>
            <p:cNvSpPr/>
            <p:nvPr/>
          </p:nvSpPr>
          <p:spPr bwMode="auto">
            <a:xfrm>
              <a:off x="1223628" y="5445224"/>
              <a:ext cx="648072"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index</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spTree>
    <p:extLst>
      <p:ext uri="{BB962C8B-B14F-4D97-AF65-F5344CB8AC3E}">
        <p14:creationId xmlns:p14="http://schemas.microsoft.com/office/powerpoint/2010/main" val="3310689369"/>
      </p:ext>
    </p:extLst>
  </p:cSld>
  <p:clrMapOvr>
    <a:masterClrMapping/>
  </p:clrMapOvr>
  <p:transition spd="med">
    <p:random/>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755576" y="764704"/>
            <a:ext cx="8229600" cy="811213"/>
          </a:xfrm>
        </p:spPr>
        <p:txBody>
          <a:bodyPr/>
          <a:lstStyle/>
          <a:p>
            <a:r>
              <a:rPr lang="zh-CN" altLang="en-US" dirty="0" smtClean="0">
                <a:solidFill>
                  <a:srgbClr val="3333FF"/>
                </a:solidFill>
              </a:rPr>
              <a:t>选择法排序</a:t>
            </a:r>
          </a:p>
        </p:txBody>
      </p:sp>
      <p:sp>
        <p:nvSpPr>
          <p:cNvPr id="27651" name="Rectangle 3"/>
          <p:cNvSpPr>
            <a:spLocks noGrp="1" noChangeArrowheads="1"/>
          </p:cNvSpPr>
          <p:nvPr>
            <p:ph type="body" idx="1"/>
          </p:nvPr>
        </p:nvSpPr>
        <p:spPr>
          <a:xfrm>
            <a:off x="914400" y="1700808"/>
            <a:ext cx="8070776" cy="4680520"/>
          </a:xfrm>
        </p:spPr>
        <p:txBody>
          <a:bodyPr/>
          <a:lstStyle/>
          <a:p>
            <a:r>
              <a:rPr lang="zh-CN" altLang="en-US" dirty="0" smtClean="0"/>
              <a:t>在未排序的</a:t>
            </a:r>
            <a:r>
              <a:rPr lang="en-US" altLang="zh-CN" dirty="0" smtClean="0"/>
              <a:t>n</a:t>
            </a:r>
            <a:r>
              <a:rPr lang="zh-CN" altLang="en-US" dirty="0" smtClean="0"/>
              <a:t>个数</a:t>
            </a:r>
            <a:r>
              <a:rPr lang="en-US" altLang="zh-CN" dirty="0" smtClean="0"/>
              <a:t>(a[0]~a[n-1])</a:t>
            </a:r>
            <a:r>
              <a:rPr lang="zh-CN" altLang="en-US" dirty="0" smtClean="0"/>
              <a:t>中找最小值，并将它与</a:t>
            </a:r>
            <a:r>
              <a:rPr lang="en-US" altLang="zh-CN" dirty="0" smtClean="0"/>
              <a:t>a[0]</a:t>
            </a:r>
            <a:r>
              <a:rPr lang="zh-CN" altLang="en-US" dirty="0" smtClean="0"/>
              <a:t>交换（</a:t>
            </a:r>
            <a:r>
              <a:rPr lang="en-US" altLang="zh-CN" dirty="0" smtClean="0"/>
              <a:t>1~n-1</a:t>
            </a:r>
            <a:r>
              <a:rPr lang="zh-CN" altLang="en-US" dirty="0" smtClean="0"/>
              <a:t>）</a:t>
            </a:r>
          </a:p>
          <a:p>
            <a:r>
              <a:rPr lang="zh-CN" altLang="en-US" dirty="0" smtClean="0"/>
              <a:t>在未排序的</a:t>
            </a:r>
            <a:r>
              <a:rPr lang="en-US" altLang="zh-CN" dirty="0" smtClean="0"/>
              <a:t>n-1</a:t>
            </a:r>
            <a:r>
              <a:rPr lang="zh-CN" altLang="en-US" dirty="0" smtClean="0"/>
              <a:t>个数</a:t>
            </a:r>
            <a:r>
              <a:rPr lang="en-US" altLang="zh-CN" dirty="0" smtClean="0"/>
              <a:t>(a[1]~a[n-1])</a:t>
            </a:r>
            <a:r>
              <a:rPr lang="zh-CN" altLang="en-US" dirty="0" smtClean="0"/>
              <a:t>中找最小值，并将它与</a:t>
            </a:r>
            <a:r>
              <a:rPr lang="en-US" altLang="zh-CN" dirty="0" smtClean="0"/>
              <a:t>a[1]</a:t>
            </a:r>
            <a:r>
              <a:rPr lang="zh-CN" altLang="en-US" dirty="0"/>
              <a:t>交换</a:t>
            </a:r>
            <a:r>
              <a:rPr lang="zh-CN" altLang="en-US" dirty="0" smtClean="0"/>
              <a:t>（</a:t>
            </a:r>
            <a:r>
              <a:rPr lang="en-US" altLang="zh-CN" dirty="0" smtClean="0"/>
              <a:t>2~n-1</a:t>
            </a:r>
            <a:r>
              <a:rPr lang="zh-CN" altLang="en-US" dirty="0" smtClean="0"/>
              <a:t>）</a:t>
            </a:r>
          </a:p>
          <a:p>
            <a:r>
              <a:rPr lang="en-US" altLang="zh-CN" dirty="0" smtClean="0"/>
              <a:t>……</a:t>
            </a:r>
            <a:endParaRPr lang="en-US" altLang="zh-CN" dirty="0" smtClean="0">
              <a:latin typeface="黑体" pitchFamily="2" charset="-122"/>
            </a:endParaRPr>
          </a:p>
          <a:p>
            <a:r>
              <a:rPr lang="zh-CN" altLang="en-US" dirty="0" smtClean="0"/>
              <a:t>在未排序的</a:t>
            </a:r>
            <a:r>
              <a:rPr lang="en-US" altLang="zh-CN" dirty="0" smtClean="0"/>
              <a:t>2</a:t>
            </a:r>
            <a:r>
              <a:rPr lang="zh-CN" altLang="en-US" dirty="0" smtClean="0"/>
              <a:t>个数</a:t>
            </a:r>
            <a:r>
              <a:rPr lang="en-US" altLang="zh-CN" dirty="0" smtClean="0"/>
              <a:t>(a[n-2]~a[n-1])</a:t>
            </a:r>
            <a:r>
              <a:rPr lang="zh-CN" altLang="en-US" dirty="0" smtClean="0"/>
              <a:t>中找最小值，并将它与</a:t>
            </a:r>
            <a:r>
              <a:rPr lang="en-US" altLang="zh-CN" dirty="0" smtClean="0"/>
              <a:t>a[n-2]</a:t>
            </a:r>
            <a:r>
              <a:rPr lang="zh-CN" altLang="en-US" dirty="0" smtClean="0"/>
              <a:t>交换（</a:t>
            </a:r>
            <a:r>
              <a:rPr lang="en-US" altLang="zh-CN" dirty="0" smtClean="0"/>
              <a:t>n-2~n-1</a:t>
            </a:r>
            <a:r>
              <a:rPr lang="zh-CN" altLang="en-US" dirty="0" smtClean="0"/>
              <a:t>）</a:t>
            </a:r>
          </a:p>
          <a:p>
            <a:pPr>
              <a:buFont typeface="Wingdings" pitchFamily="2" charset="2"/>
              <a:buNone/>
            </a:pPr>
            <a:r>
              <a:rPr lang="zh-CN" altLang="en-US" dirty="0" smtClean="0"/>
              <a:t>外循环</a:t>
            </a:r>
            <a:r>
              <a:rPr lang="en-US" altLang="zh-CN" dirty="0" smtClean="0"/>
              <a:t>n-1</a:t>
            </a:r>
            <a:r>
              <a:rPr lang="zh-CN" altLang="en-US" dirty="0" smtClean="0"/>
              <a:t>次，</a:t>
            </a:r>
          </a:p>
        </p:txBody>
      </p:sp>
    </p:spTree>
  </p:cSld>
  <p:clrMapOvr>
    <a:masterClrMapping/>
  </p:clrMapOvr>
  <p:transition spd="med">
    <p:random/>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55</a:t>
            </a:fld>
            <a:endParaRPr lang="en-US" altLang="zh-CN" dirty="0"/>
          </a:p>
        </p:txBody>
      </p:sp>
      <p:sp>
        <p:nvSpPr>
          <p:cNvPr id="3" name="Content Placeholder 2"/>
          <p:cNvSpPr>
            <a:spLocks noGrp="1"/>
          </p:cNvSpPr>
          <p:nvPr>
            <p:ph idx="4294967295"/>
          </p:nvPr>
        </p:nvSpPr>
        <p:spPr>
          <a:xfrm>
            <a:off x="0" y="297280"/>
            <a:ext cx="9252520" cy="7164168"/>
          </a:xfrm>
        </p:spPr>
        <p:txBody>
          <a:bodyPr/>
          <a:lstStyle/>
          <a:p>
            <a:pPr marL="0" indent="0">
              <a:lnSpc>
                <a:spcPct val="80000"/>
              </a:lnSpc>
              <a:buNone/>
            </a:pPr>
            <a:r>
              <a:rPr lang="de-DE" sz="2000" dirty="0" smtClean="0">
                <a:solidFill>
                  <a:srgbClr val="FF0000"/>
                </a:solidFill>
                <a:effectLst/>
              </a:rPr>
              <a:t>#</a:t>
            </a:r>
            <a:r>
              <a:rPr lang="de-DE" sz="2400" dirty="0">
                <a:solidFill>
                  <a:srgbClr val="FF0000"/>
                </a:solidFill>
                <a:effectLst/>
              </a:rPr>
              <a:t>define N 10 </a:t>
            </a:r>
            <a:r>
              <a:rPr lang="de-DE" sz="2400" dirty="0" smtClean="0">
                <a:solidFill>
                  <a:srgbClr val="FF0000"/>
                </a:solidFill>
                <a:effectLst/>
              </a:rPr>
              <a:t>                  </a:t>
            </a:r>
            <a:r>
              <a:rPr lang="de-DE" sz="2400" dirty="0" smtClean="0">
                <a:solidFill>
                  <a:srgbClr val="0000FF"/>
                </a:solidFill>
                <a:effectLst/>
              </a:rPr>
              <a:t>//</a:t>
            </a:r>
            <a:r>
              <a:rPr lang="de-DE" sz="2400" dirty="0">
                <a:solidFill>
                  <a:srgbClr val="0000FF"/>
                </a:solidFill>
                <a:effectLst/>
              </a:rPr>
              <a:t>以10个数为例</a:t>
            </a:r>
          </a:p>
          <a:p>
            <a:pPr marL="0" indent="0">
              <a:lnSpc>
                <a:spcPct val="80000"/>
              </a:lnSpc>
              <a:buNone/>
            </a:pPr>
            <a:r>
              <a:rPr lang="de-DE" sz="2400" dirty="0">
                <a:solidFill>
                  <a:schemeClr val="tx1"/>
                </a:solidFill>
                <a:effectLst/>
              </a:rPr>
              <a:t>#</a:t>
            </a:r>
            <a:r>
              <a:rPr lang="de-DE" sz="2400" dirty="0" err="1">
                <a:solidFill>
                  <a:schemeClr val="tx1"/>
                </a:solidFill>
                <a:effectLst/>
              </a:rPr>
              <a:t>include</a:t>
            </a:r>
            <a:r>
              <a:rPr lang="de-DE" sz="2400" dirty="0">
                <a:solidFill>
                  <a:schemeClr val="tx1"/>
                </a:solidFill>
                <a:effectLst/>
              </a:rPr>
              <a:t> &lt;</a:t>
            </a:r>
            <a:r>
              <a:rPr lang="de-DE" sz="2400" dirty="0" err="1">
                <a:solidFill>
                  <a:schemeClr val="tx1"/>
                </a:solidFill>
                <a:effectLst/>
              </a:rPr>
              <a:t>stdio.h</a:t>
            </a:r>
            <a:r>
              <a:rPr lang="de-DE" sz="2400" dirty="0">
                <a:solidFill>
                  <a:schemeClr val="tx1"/>
                </a:solidFill>
                <a:effectLst/>
              </a:rPr>
              <a:t>&gt;</a:t>
            </a:r>
          </a:p>
          <a:p>
            <a:pPr marL="0" indent="0">
              <a:lnSpc>
                <a:spcPct val="80000"/>
              </a:lnSpc>
              <a:buNone/>
            </a:pPr>
            <a:r>
              <a:rPr lang="de-DE" sz="2400" dirty="0">
                <a:solidFill>
                  <a:schemeClr val="tx1"/>
                </a:solidFill>
                <a:effectLst/>
              </a:rPr>
              <a:t>int main</a:t>
            </a:r>
            <a:r>
              <a:rPr lang="de-DE" sz="2400" dirty="0" smtClean="0">
                <a:solidFill>
                  <a:schemeClr val="tx1"/>
                </a:solidFill>
                <a:effectLst/>
              </a:rPr>
              <a:t>()</a:t>
            </a:r>
          </a:p>
          <a:p>
            <a:pPr marL="0" indent="0">
              <a:lnSpc>
                <a:spcPct val="80000"/>
              </a:lnSpc>
              <a:buNone/>
            </a:pPr>
            <a:r>
              <a:rPr lang="de-DE" sz="2400" dirty="0">
                <a:solidFill>
                  <a:schemeClr val="tx1"/>
                </a:solidFill>
                <a:effectLst/>
              </a:rPr>
              <a:t> </a:t>
            </a:r>
            <a:r>
              <a:rPr lang="de-DE" sz="2400" dirty="0" smtClean="0">
                <a:solidFill>
                  <a:schemeClr val="tx1"/>
                </a:solidFill>
                <a:effectLst/>
              </a:rPr>
              <a:t>{</a:t>
            </a:r>
            <a:endParaRPr lang="de-DE" sz="2400" dirty="0">
              <a:solidFill>
                <a:schemeClr val="tx1"/>
              </a:solidFill>
              <a:effectLst/>
            </a:endParaRPr>
          </a:p>
          <a:p>
            <a:pPr marL="0" indent="0">
              <a:lnSpc>
                <a:spcPct val="80000"/>
              </a:lnSpc>
              <a:buNone/>
            </a:pPr>
            <a:r>
              <a:rPr lang="de-DE" sz="2400" dirty="0" smtClean="0">
                <a:solidFill>
                  <a:schemeClr val="tx1"/>
                </a:solidFill>
                <a:effectLst/>
              </a:rPr>
              <a:t>    int </a:t>
            </a:r>
            <a:r>
              <a:rPr lang="de-DE" sz="2400" dirty="0">
                <a:solidFill>
                  <a:schemeClr val="tx1"/>
                </a:solidFill>
                <a:effectLst/>
              </a:rPr>
              <a:t>a[</a:t>
            </a:r>
            <a:r>
              <a:rPr lang="de-DE" sz="2400" dirty="0">
                <a:solidFill>
                  <a:srgbClr val="FF0000"/>
                </a:solidFill>
                <a:effectLst/>
              </a:rPr>
              <a:t>N</a:t>
            </a:r>
            <a:r>
              <a:rPr lang="de-DE" sz="2400" dirty="0" smtClean="0">
                <a:solidFill>
                  <a:schemeClr val="tx1"/>
                </a:solidFill>
                <a:effectLst/>
              </a:rPr>
              <a:t>],i,j,index,temp</a:t>
            </a:r>
            <a:r>
              <a:rPr lang="de-DE" sz="2400" dirty="0">
                <a:solidFill>
                  <a:schemeClr val="tx1"/>
                </a:solidFill>
                <a:effectLst/>
              </a:rPr>
              <a:t>;</a:t>
            </a:r>
          </a:p>
          <a:p>
            <a:pPr marL="0" indent="0">
              <a:lnSpc>
                <a:spcPct val="80000"/>
              </a:lnSpc>
              <a:buNone/>
            </a:pPr>
            <a:r>
              <a:rPr lang="de-DE" sz="2400" dirty="0" smtClean="0">
                <a:solidFill>
                  <a:schemeClr val="tx1"/>
                </a:solidFill>
                <a:effectLst/>
              </a:rPr>
              <a:t>    for(</a:t>
            </a:r>
            <a:r>
              <a:rPr lang="en-US" altLang="zh-CN" sz="2400" dirty="0" smtClean="0">
                <a:solidFill>
                  <a:schemeClr val="tx1"/>
                </a:solidFill>
                <a:effectLst/>
              </a:rPr>
              <a:t>i</a:t>
            </a:r>
            <a:r>
              <a:rPr lang="de-DE" sz="2400" dirty="0" smtClean="0">
                <a:solidFill>
                  <a:schemeClr val="tx1"/>
                </a:solidFill>
                <a:effectLst/>
              </a:rPr>
              <a:t>=0;</a:t>
            </a:r>
            <a:r>
              <a:rPr lang="en-US" altLang="zh-CN" sz="2400" dirty="0" smtClean="0">
                <a:solidFill>
                  <a:schemeClr val="tx1"/>
                </a:solidFill>
                <a:effectLst/>
              </a:rPr>
              <a:t>i</a:t>
            </a:r>
            <a:r>
              <a:rPr lang="de-DE" sz="2400" dirty="0" smtClean="0">
                <a:solidFill>
                  <a:schemeClr val="tx1"/>
                </a:solidFill>
                <a:effectLst/>
              </a:rPr>
              <a:t>&lt;N;</a:t>
            </a:r>
            <a:r>
              <a:rPr lang="en-US" altLang="zh-CN" sz="2400" dirty="0" smtClean="0">
                <a:solidFill>
                  <a:schemeClr val="tx1"/>
                </a:solidFill>
                <a:effectLst/>
              </a:rPr>
              <a:t>i</a:t>
            </a:r>
            <a:r>
              <a:rPr lang="de-DE" sz="2400" dirty="0" smtClean="0">
                <a:solidFill>
                  <a:schemeClr val="tx1"/>
                </a:solidFill>
                <a:effectLst/>
              </a:rPr>
              <a:t>++) scanf</a:t>
            </a:r>
            <a:r>
              <a:rPr lang="de-DE" sz="2400" dirty="0">
                <a:solidFill>
                  <a:schemeClr val="tx1"/>
                </a:solidFill>
                <a:effectLst/>
              </a:rPr>
              <a:t>("%d",&amp;</a:t>
            </a:r>
            <a:r>
              <a:rPr lang="de-DE" sz="2400" dirty="0" smtClean="0">
                <a:solidFill>
                  <a:schemeClr val="tx1"/>
                </a:solidFill>
                <a:effectLst/>
              </a:rPr>
              <a:t>a[</a:t>
            </a:r>
            <a:r>
              <a:rPr lang="en-US" altLang="zh-CN" sz="2400" dirty="0" smtClean="0">
                <a:solidFill>
                  <a:schemeClr val="tx1"/>
                </a:solidFill>
                <a:effectLst/>
              </a:rPr>
              <a:t>i</a:t>
            </a:r>
            <a:r>
              <a:rPr lang="de-DE" sz="2400" dirty="0" smtClean="0">
                <a:solidFill>
                  <a:schemeClr val="tx1"/>
                </a:solidFill>
                <a:effectLst/>
              </a:rPr>
              <a:t>]);</a:t>
            </a:r>
            <a:endParaRPr lang="de-DE" sz="2400" dirty="0">
              <a:solidFill>
                <a:schemeClr val="tx1"/>
              </a:solidFill>
              <a:effectLst/>
            </a:endParaRPr>
          </a:p>
          <a:p>
            <a:pPr marL="0" indent="0">
              <a:lnSpc>
                <a:spcPct val="80000"/>
              </a:lnSpc>
              <a:buNone/>
            </a:pPr>
            <a:r>
              <a:rPr lang="de-DE" sz="2400" dirty="0" smtClean="0">
                <a:solidFill>
                  <a:schemeClr val="tx1"/>
                </a:solidFill>
                <a:effectLst/>
              </a:rPr>
              <a:t>    for(</a:t>
            </a:r>
            <a:r>
              <a:rPr lang="en-US" sz="2400" dirty="0" smtClean="0">
                <a:solidFill>
                  <a:schemeClr val="tx1"/>
                </a:solidFill>
                <a:effectLst/>
              </a:rPr>
              <a:t>i</a:t>
            </a:r>
            <a:r>
              <a:rPr lang="de-DE" sz="2400" dirty="0" smtClean="0">
                <a:solidFill>
                  <a:schemeClr val="tx1"/>
                </a:solidFill>
                <a:effectLst/>
              </a:rPr>
              <a:t> </a:t>
            </a:r>
            <a:r>
              <a:rPr lang="de-DE" sz="2400" dirty="0">
                <a:solidFill>
                  <a:schemeClr val="tx1"/>
                </a:solidFill>
                <a:effectLst/>
              </a:rPr>
              <a:t>= 0; </a:t>
            </a:r>
            <a:r>
              <a:rPr lang="de-DE" sz="2400" dirty="0" smtClean="0">
                <a:solidFill>
                  <a:schemeClr val="tx1"/>
                </a:solidFill>
                <a:effectLst/>
              </a:rPr>
              <a:t>i&lt; </a:t>
            </a:r>
            <a:r>
              <a:rPr lang="de-DE" sz="2400" dirty="0">
                <a:solidFill>
                  <a:schemeClr val="tx1"/>
                </a:solidFill>
                <a:effectLst/>
              </a:rPr>
              <a:t>N-1; </a:t>
            </a:r>
            <a:r>
              <a:rPr lang="de-DE" sz="2400" dirty="0" smtClean="0">
                <a:solidFill>
                  <a:schemeClr val="tx1"/>
                </a:solidFill>
                <a:effectLst/>
              </a:rPr>
              <a:t>i++)</a:t>
            </a:r>
          </a:p>
          <a:p>
            <a:pPr marL="0" indent="0">
              <a:lnSpc>
                <a:spcPct val="80000"/>
              </a:lnSpc>
              <a:buNone/>
            </a:pPr>
            <a:r>
              <a:rPr lang="de-DE" sz="2400" dirty="0">
                <a:solidFill>
                  <a:schemeClr val="tx1"/>
                </a:solidFill>
                <a:effectLst/>
              </a:rPr>
              <a:t> </a:t>
            </a:r>
            <a:r>
              <a:rPr lang="de-DE" sz="2400" dirty="0" smtClean="0">
                <a:solidFill>
                  <a:schemeClr val="tx1"/>
                </a:solidFill>
                <a:effectLst/>
              </a:rPr>
              <a:t>   {</a:t>
            </a:r>
            <a:endParaRPr lang="de-DE" sz="2400" dirty="0">
              <a:solidFill>
                <a:schemeClr val="tx1"/>
              </a:solidFill>
              <a:effectLst/>
            </a:endParaRPr>
          </a:p>
          <a:p>
            <a:pPr marL="0" indent="0">
              <a:lnSpc>
                <a:spcPct val="80000"/>
              </a:lnSpc>
              <a:buNone/>
            </a:pPr>
            <a:r>
              <a:rPr lang="de-DE" sz="2400" dirty="0">
                <a:solidFill>
                  <a:schemeClr val="tx1"/>
                </a:solidFill>
                <a:effectLst/>
              </a:rPr>
              <a:t>        index </a:t>
            </a:r>
            <a:r>
              <a:rPr lang="de-DE" sz="2400" dirty="0" smtClean="0">
                <a:solidFill>
                  <a:schemeClr val="tx1"/>
                </a:solidFill>
                <a:effectLst/>
              </a:rPr>
              <a:t>=i; </a:t>
            </a:r>
            <a:endParaRPr lang="de-DE" sz="2400" dirty="0">
              <a:solidFill>
                <a:schemeClr val="tx1"/>
              </a:solidFill>
              <a:effectLst/>
            </a:endParaRPr>
          </a:p>
          <a:p>
            <a:pPr marL="0" indent="0">
              <a:lnSpc>
                <a:spcPct val="80000"/>
              </a:lnSpc>
              <a:buNone/>
            </a:pPr>
            <a:r>
              <a:rPr lang="de-DE" sz="2400" dirty="0">
                <a:solidFill>
                  <a:schemeClr val="tx1"/>
                </a:solidFill>
                <a:effectLst/>
              </a:rPr>
              <a:t>        </a:t>
            </a:r>
            <a:r>
              <a:rPr lang="de-DE" sz="2400" dirty="0" smtClean="0">
                <a:solidFill>
                  <a:srgbClr val="FF0000"/>
                </a:solidFill>
                <a:effectLst/>
              </a:rPr>
              <a:t>for(j= i </a:t>
            </a:r>
            <a:r>
              <a:rPr lang="de-DE" sz="2400" dirty="0">
                <a:solidFill>
                  <a:srgbClr val="FF0000"/>
                </a:solidFill>
                <a:effectLst/>
              </a:rPr>
              <a:t>+ </a:t>
            </a:r>
            <a:r>
              <a:rPr lang="de-DE" sz="2400" dirty="0" smtClean="0">
                <a:solidFill>
                  <a:srgbClr val="FF0000"/>
                </a:solidFill>
                <a:effectLst/>
              </a:rPr>
              <a:t>1;j&lt; </a:t>
            </a:r>
            <a:r>
              <a:rPr lang="de-DE" sz="2400" dirty="0">
                <a:solidFill>
                  <a:srgbClr val="FF0000"/>
                </a:solidFill>
                <a:effectLst/>
              </a:rPr>
              <a:t>N; </a:t>
            </a:r>
            <a:r>
              <a:rPr lang="de-DE" sz="2400" dirty="0" smtClean="0">
                <a:solidFill>
                  <a:srgbClr val="FF0000"/>
                </a:solidFill>
                <a:effectLst/>
              </a:rPr>
              <a:t>j++)  </a:t>
            </a:r>
            <a:endParaRPr lang="de-DE" sz="2400" dirty="0">
              <a:solidFill>
                <a:srgbClr val="FF0000"/>
              </a:solidFill>
              <a:effectLst/>
            </a:endParaRPr>
          </a:p>
          <a:p>
            <a:pPr marL="0" indent="0">
              <a:lnSpc>
                <a:spcPct val="80000"/>
              </a:lnSpc>
              <a:buNone/>
            </a:pPr>
            <a:r>
              <a:rPr lang="de-DE" sz="2400" dirty="0">
                <a:solidFill>
                  <a:srgbClr val="FF0000"/>
                </a:solidFill>
                <a:effectLst/>
              </a:rPr>
              <a:t>            </a:t>
            </a:r>
            <a:r>
              <a:rPr lang="de-DE" sz="2400" dirty="0" smtClean="0">
                <a:solidFill>
                  <a:srgbClr val="FF0000"/>
                </a:solidFill>
                <a:effectLst/>
              </a:rPr>
              <a:t>if(a[j] </a:t>
            </a:r>
            <a:r>
              <a:rPr lang="de-DE" sz="2400" dirty="0">
                <a:solidFill>
                  <a:srgbClr val="FF0000"/>
                </a:solidFill>
                <a:effectLst/>
              </a:rPr>
              <a:t>&lt; a[index]) </a:t>
            </a:r>
            <a:r>
              <a:rPr lang="de-DE" sz="2400" dirty="0" smtClean="0">
                <a:solidFill>
                  <a:srgbClr val="FF0000"/>
                </a:solidFill>
                <a:effectLst/>
              </a:rPr>
              <a:t> </a:t>
            </a:r>
            <a:r>
              <a:rPr lang="de-DE" sz="2400" dirty="0">
                <a:solidFill>
                  <a:srgbClr val="FF0000"/>
                </a:solidFill>
                <a:effectLst/>
              </a:rPr>
              <a:t>index </a:t>
            </a:r>
            <a:r>
              <a:rPr lang="de-DE" sz="2400" dirty="0" smtClean="0">
                <a:solidFill>
                  <a:srgbClr val="FF0000"/>
                </a:solidFill>
                <a:effectLst/>
              </a:rPr>
              <a:t>=j;    </a:t>
            </a:r>
            <a:endParaRPr lang="de-DE" sz="2400" dirty="0">
              <a:solidFill>
                <a:srgbClr val="FF0000"/>
              </a:solidFill>
              <a:effectLst/>
            </a:endParaRPr>
          </a:p>
          <a:p>
            <a:pPr marL="0" indent="0">
              <a:lnSpc>
                <a:spcPct val="80000"/>
              </a:lnSpc>
              <a:buNone/>
            </a:pPr>
            <a:r>
              <a:rPr lang="de-DE" sz="2400" dirty="0">
                <a:solidFill>
                  <a:schemeClr val="tx1"/>
                </a:solidFill>
                <a:effectLst/>
              </a:rPr>
              <a:t>        temp = a[index]; </a:t>
            </a:r>
            <a:r>
              <a:rPr lang="de-DE" sz="2400" dirty="0" smtClean="0">
                <a:solidFill>
                  <a:schemeClr val="tx1"/>
                </a:solidFill>
                <a:effectLst/>
              </a:rPr>
              <a:t>         </a:t>
            </a:r>
            <a:r>
              <a:rPr lang="de-DE" sz="2400" dirty="0" smtClean="0">
                <a:solidFill>
                  <a:srgbClr val="0000FF"/>
                </a:solidFill>
                <a:effectLst/>
              </a:rPr>
              <a:t>//</a:t>
            </a:r>
            <a:r>
              <a:rPr lang="de-DE" sz="2400" dirty="0">
                <a:solidFill>
                  <a:srgbClr val="0000FF"/>
                </a:solidFill>
                <a:effectLst/>
              </a:rPr>
              <a:t>找到最小值后，进行互换</a:t>
            </a:r>
          </a:p>
          <a:p>
            <a:pPr marL="0" indent="0">
              <a:lnSpc>
                <a:spcPct val="80000"/>
              </a:lnSpc>
              <a:buNone/>
            </a:pPr>
            <a:r>
              <a:rPr lang="de-DE" sz="2400" dirty="0">
                <a:solidFill>
                  <a:schemeClr val="tx1"/>
                </a:solidFill>
                <a:effectLst/>
              </a:rPr>
              <a:t>        a[index] = </a:t>
            </a:r>
            <a:r>
              <a:rPr lang="de-DE" sz="2400" dirty="0" smtClean="0">
                <a:solidFill>
                  <a:schemeClr val="tx1"/>
                </a:solidFill>
                <a:effectLst/>
              </a:rPr>
              <a:t>a[i]; </a:t>
            </a:r>
            <a:endParaRPr lang="de-DE" sz="2400" dirty="0">
              <a:solidFill>
                <a:schemeClr val="tx1"/>
              </a:solidFill>
              <a:effectLst/>
            </a:endParaRPr>
          </a:p>
          <a:p>
            <a:pPr marL="0" indent="0">
              <a:lnSpc>
                <a:spcPct val="80000"/>
              </a:lnSpc>
              <a:buNone/>
            </a:pPr>
            <a:r>
              <a:rPr lang="de-DE" sz="2400" dirty="0">
                <a:solidFill>
                  <a:schemeClr val="tx1"/>
                </a:solidFill>
                <a:effectLst/>
              </a:rPr>
              <a:t>        </a:t>
            </a:r>
            <a:r>
              <a:rPr lang="de-DE" sz="2400" dirty="0" smtClean="0">
                <a:solidFill>
                  <a:schemeClr val="tx1"/>
                </a:solidFill>
                <a:effectLst/>
              </a:rPr>
              <a:t>a[i] </a:t>
            </a:r>
            <a:r>
              <a:rPr lang="de-DE" sz="2400" dirty="0">
                <a:solidFill>
                  <a:schemeClr val="tx1"/>
                </a:solidFill>
                <a:effectLst/>
              </a:rPr>
              <a:t>= temp;</a:t>
            </a:r>
          </a:p>
          <a:p>
            <a:pPr marL="0" indent="0">
              <a:lnSpc>
                <a:spcPct val="80000"/>
              </a:lnSpc>
              <a:buNone/>
            </a:pPr>
            <a:r>
              <a:rPr lang="de-DE" sz="2400" dirty="0" smtClean="0">
                <a:solidFill>
                  <a:schemeClr val="tx1"/>
                </a:solidFill>
                <a:effectLst/>
              </a:rPr>
              <a:t>    } </a:t>
            </a:r>
            <a:endParaRPr lang="de-DE" sz="2400" dirty="0">
              <a:solidFill>
                <a:schemeClr val="tx1"/>
              </a:solidFill>
              <a:effectLst/>
            </a:endParaRPr>
          </a:p>
          <a:p>
            <a:pPr marL="0" indent="0">
              <a:lnSpc>
                <a:spcPct val="80000"/>
              </a:lnSpc>
              <a:buNone/>
            </a:pPr>
            <a:r>
              <a:rPr lang="de-DE" sz="2400" dirty="0" smtClean="0">
                <a:solidFill>
                  <a:schemeClr val="tx1"/>
                </a:solidFill>
                <a:effectLst/>
              </a:rPr>
              <a:t>    for(i= </a:t>
            </a:r>
            <a:r>
              <a:rPr lang="de-DE" sz="2400" dirty="0">
                <a:solidFill>
                  <a:schemeClr val="tx1"/>
                </a:solidFill>
                <a:effectLst/>
              </a:rPr>
              <a:t>0; i</a:t>
            </a:r>
            <a:r>
              <a:rPr lang="de-DE" sz="2400" dirty="0" smtClean="0">
                <a:solidFill>
                  <a:schemeClr val="tx1"/>
                </a:solidFill>
                <a:effectLst/>
              </a:rPr>
              <a:t>&lt; </a:t>
            </a:r>
            <a:r>
              <a:rPr lang="de-DE" sz="2400" dirty="0">
                <a:solidFill>
                  <a:schemeClr val="tx1"/>
                </a:solidFill>
                <a:effectLst/>
              </a:rPr>
              <a:t>N; </a:t>
            </a:r>
            <a:r>
              <a:rPr lang="de-DE" sz="2400" dirty="0" smtClean="0">
                <a:solidFill>
                  <a:schemeClr val="tx1"/>
                </a:solidFill>
                <a:effectLst/>
              </a:rPr>
              <a:t>i++) printf</a:t>
            </a:r>
            <a:r>
              <a:rPr lang="de-DE" sz="2400" dirty="0">
                <a:solidFill>
                  <a:schemeClr val="tx1"/>
                </a:solidFill>
                <a:effectLst/>
              </a:rPr>
              <a:t>("%4d",</a:t>
            </a:r>
            <a:r>
              <a:rPr lang="de-DE" sz="2400" dirty="0" smtClean="0">
                <a:solidFill>
                  <a:schemeClr val="tx1"/>
                </a:solidFill>
                <a:effectLst/>
              </a:rPr>
              <a:t>a[i]);</a:t>
            </a:r>
            <a:endParaRPr lang="de-DE" sz="2400" dirty="0">
              <a:solidFill>
                <a:schemeClr val="tx1"/>
              </a:solidFill>
              <a:effectLst/>
            </a:endParaRPr>
          </a:p>
          <a:p>
            <a:pPr marL="0" indent="0">
              <a:lnSpc>
                <a:spcPct val="80000"/>
              </a:lnSpc>
              <a:buNone/>
            </a:pPr>
            <a:r>
              <a:rPr lang="de-DE" sz="2400" dirty="0" smtClean="0">
                <a:solidFill>
                  <a:schemeClr val="tx1"/>
                </a:solidFill>
                <a:effectLst/>
              </a:rPr>
              <a:t>    return </a:t>
            </a:r>
            <a:r>
              <a:rPr lang="de-DE" sz="2400" dirty="0">
                <a:solidFill>
                  <a:schemeClr val="tx1"/>
                </a:solidFill>
                <a:effectLst/>
              </a:rPr>
              <a:t>0;</a:t>
            </a:r>
          </a:p>
          <a:p>
            <a:pPr marL="0" indent="0">
              <a:lnSpc>
                <a:spcPct val="80000"/>
              </a:lnSpc>
              <a:buNone/>
            </a:pPr>
            <a:r>
              <a:rPr lang="de-DE" sz="2400" dirty="0">
                <a:solidFill>
                  <a:schemeClr val="tx1"/>
                </a:solidFill>
                <a:effectLst/>
              </a:rPr>
              <a:t>}</a:t>
            </a:r>
          </a:p>
          <a:p>
            <a:pPr marL="0" indent="0">
              <a:lnSpc>
                <a:spcPct val="70000"/>
              </a:lnSpc>
              <a:buNone/>
            </a:pPr>
            <a:endParaRPr lang="en-US" sz="2400" dirty="0"/>
          </a:p>
        </p:txBody>
      </p:sp>
      <p:graphicFrame>
        <p:nvGraphicFramePr>
          <p:cNvPr id="5" name="表格 4"/>
          <p:cNvGraphicFramePr>
            <a:graphicFrameLocks noGrp="1"/>
          </p:cNvGraphicFramePr>
          <p:nvPr>
            <p:extLst>
              <p:ext uri="{D42A27DB-BD31-4B8C-83A1-F6EECF244321}">
                <p14:modId xmlns:p14="http://schemas.microsoft.com/office/powerpoint/2010/main" val="19037669"/>
              </p:ext>
            </p:extLst>
          </p:nvPr>
        </p:nvGraphicFramePr>
        <p:xfrm>
          <a:off x="5298085" y="2376224"/>
          <a:ext cx="3607715" cy="335280"/>
        </p:xfrm>
        <a:graphic>
          <a:graphicData uri="http://schemas.openxmlformats.org/drawingml/2006/table">
            <a:tbl>
              <a:tblPr firstRow="1" bandRow="1">
                <a:tableStyleId>{5C22544A-7EE6-4342-B048-85BDC9FD1C3A}</a:tableStyleId>
              </a:tblPr>
              <a:tblGrid>
                <a:gridCol w="721543">
                  <a:extLst>
                    <a:ext uri="{9D8B030D-6E8A-4147-A177-3AD203B41FA5}">
                      <a16:colId xmlns:a16="http://schemas.microsoft.com/office/drawing/2014/main" xmlns="" val="4573996"/>
                    </a:ext>
                  </a:extLst>
                </a:gridCol>
                <a:gridCol w="721543">
                  <a:extLst>
                    <a:ext uri="{9D8B030D-6E8A-4147-A177-3AD203B41FA5}">
                      <a16:colId xmlns:a16="http://schemas.microsoft.com/office/drawing/2014/main" xmlns="" val="1940628640"/>
                    </a:ext>
                  </a:extLst>
                </a:gridCol>
                <a:gridCol w="721543">
                  <a:extLst>
                    <a:ext uri="{9D8B030D-6E8A-4147-A177-3AD203B41FA5}">
                      <a16:colId xmlns:a16="http://schemas.microsoft.com/office/drawing/2014/main" xmlns="" val="1224197718"/>
                    </a:ext>
                  </a:extLst>
                </a:gridCol>
                <a:gridCol w="721543">
                  <a:extLst>
                    <a:ext uri="{9D8B030D-6E8A-4147-A177-3AD203B41FA5}">
                      <a16:colId xmlns:a16="http://schemas.microsoft.com/office/drawing/2014/main" xmlns="" val="2244228631"/>
                    </a:ext>
                  </a:extLst>
                </a:gridCol>
                <a:gridCol w="721543">
                  <a:extLst>
                    <a:ext uri="{9D8B030D-6E8A-4147-A177-3AD203B41FA5}">
                      <a16:colId xmlns:a16="http://schemas.microsoft.com/office/drawing/2014/main" xmlns="" val="86740440"/>
                    </a:ext>
                  </a:extLst>
                </a:gridCol>
              </a:tblGrid>
              <a:tr h="298832">
                <a:tc>
                  <a:txBody>
                    <a:bodyPr/>
                    <a:lstStyle/>
                    <a:p>
                      <a:pPr algn="ctr"/>
                      <a:r>
                        <a:rPr lang="en-US" altLang="zh-CN" sz="1600" dirty="0" smtClean="0">
                          <a:solidFill>
                            <a:schemeClr val="tx1"/>
                          </a:solidFill>
                        </a:rPr>
                        <a:t>0</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1</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2</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3</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4</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1969233"/>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686121380"/>
              </p:ext>
            </p:extLst>
          </p:nvPr>
        </p:nvGraphicFramePr>
        <p:xfrm>
          <a:off x="5292080" y="1725568"/>
          <a:ext cx="3613720" cy="335280"/>
        </p:xfrm>
        <a:graphic>
          <a:graphicData uri="http://schemas.openxmlformats.org/drawingml/2006/table">
            <a:tbl>
              <a:tblPr firstRow="1" bandRow="1">
                <a:tableStyleId>{5C22544A-7EE6-4342-B048-85BDC9FD1C3A}</a:tableStyleId>
              </a:tblPr>
              <a:tblGrid>
                <a:gridCol w="722744">
                  <a:extLst>
                    <a:ext uri="{9D8B030D-6E8A-4147-A177-3AD203B41FA5}">
                      <a16:colId xmlns:a16="http://schemas.microsoft.com/office/drawing/2014/main" xmlns="" val="4573996"/>
                    </a:ext>
                  </a:extLst>
                </a:gridCol>
                <a:gridCol w="722744">
                  <a:extLst>
                    <a:ext uri="{9D8B030D-6E8A-4147-A177-3AD203B41FA5}">
                      <a16:colId xmlns:a16="http://schemas.microsoft.com/office/drawing/2014/main" xmlns="" val="1940628640"/>
                    </a:ext>
                  </a:extLst>
                </a:gridCol>
                <a:gridCol w="722744">
                  <a:extLst>
                    <a:ext uri="{9D8B030D-6E8A-4147-A177-3AD203B41FA5}">
                      <a16:colId xmlns:a16="http://schemas.microsoft.com/office/drawing/2014/main" xmlns="" val="1224197718"/>
                    </a:ext>
                  </a:extLst>
                </a:gridCol>
                <a:gridCol w="722744">
                  <a:extLst>
                    <a:ext uri="{9D8B030D-6E8A-4147-A177-3AD203B41FA5}">
                      <a16:colId xmlns:a16="http://schemas.microsoft.com/office/drawing/2014/main" xmlns="" val="2244228631"/>
                    </a:ext>
                  </a:extLst>
                </a:gridCol>
                <a:gridCol w="722744">
                  <a:extLst>
                    <a:ext uri="{9D8B030D-6E8A-4147-A177-3AD203B41FA5}">
                      <a16:colId xmlns:a16="http://schemas.microsoft.com/office/drawing/2014/main" xmlns="" val="86740440"/>
                    </a:ext>
                  </a:extLst>
                </a:gridCol>
              </a:tblGrid>
              <a:tr h="298832">
                <a:tc>
                  <a:txBody>
                    <a:bodyPr/>
                    <a:lstStyle/>
                    <a:p>
                      <a:pPr algn="ctr"/>
                      <a:r>
                        <a:rPr lang="en-US" altLang="zh-CN" sz="1600" dirty="0" smtClean="0">
                          <a:solidFill>
                            <a:schemeClr val="tx1"/>
                          </a:solidFill>
                        </a:rPr>
                        <a:t>4</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2</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6</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3</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7</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1969233"/>
                  </a:ext>
                </a:extLst>
              </a:tr>
            </a:tbl>
          </a:graphicData>
        </a:graphic>
      </p:graphicFrame>
      <p:sp>
        <p:nvSpPr>
          <p:cNvPr id="7" name="矩形 6"/>
          <p:cNvSpPr/>
          <p:nvPr/>
        </p:nvSpPr>
        <p:spPr bwMode="auto">
          <a:xfrm>
            <a:off x="4585233" y="1725568"/>
            <a:ext cx="648072"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dirty="0" smtClean="0">
                <a:ln>
                  <a:noFill/>
                </a:ln>
                <a:solidFill>
                  <a:schemeClr val="tx1"/>
                </a:solidFill>
                <a:effectLst/>
                <a:latin typeface="Arial" charset="0"/>
                <a:ea typeface="宋体" pitchFamily="2" charset="-122"/>
              </a:rPr>
              <a:t>数值</a:t>
            </a:r>
          </a:p>
        </p:txBody>
      </p:sp>
      <p:sp>
        <p:nvSpPr>
          <p:cNvPr id="8" name="矩形 7"/>
          <p:cNvSpPr/>
          <p:nvPr/>
        </p:nvSpPr>
        <p:spPr bwMode="auto">
          <a:xfrm>
            <a:off x="4585233" y="1203827"/>
            <a:ext cx="648072"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1400" b="1" dirty="0"/>
              <a:t>a</a:t>
            </a:r>
            <a:r>
              <a:rPr lang="zh-CN" altLang="en-US" sz="1400" b="1" dirty="0" smtClean="0"/>
              <a:t>下标</a:t>
            </a:r>
            <a:endParaRPr kumimoji="0" lang="zh-CN" altLang="en-US" sz="1400" b="1" i="0" u="none" strike="noStrike" cap="none" normalizeH="0" baseline="0" dirty="0" smtClean="0">
              <a:ln>
                <a:noFill/>
              </a:ln>
              <a:solidFill>
                <a:schemeClr val="tx1"/>
              </a:solidFill>
              <a:effectLst/>
            </a:endParaRPr>
          </a:p>
        </p:txBody>
      </p:sp>
      <p:graphicFrame>
        <p:nvGraphicFramePr>
          <p:cNvPr id="9" name="表格 8"/>
          <p:cNvGraphicFramePr>
            <a:graphicFrameLocks noGrp="1"/>
          </p:cNvGraphicFramePr>
          <p:nvPr>
            <p:extLst>
              <p:ext uri="{D42A27DB-BD31-4B8C-83A1-F6EECF244321}">
                <p14:modId xmlns:p14="http://schemas.microsoft.com/office/powerpoint/2010/main" val="630011602"/>
              </p:ext>
            </p:extLst>
          </p:nvPr>
        </p:nvGraphicFramePr>
        <p:xfrm>
          <a:off x="5292080" y="2043897"/>
          <a:ext cx="3613720" cy="335280"/>
        </p:xfrm>
        <a:graphic>
          <a:graphicData uri="http://schemas.openxmlformats.org/drawingml/2006/table">
            <a:tbl>
              <a:tblPr firstRow="1" bandRow="1">
                <a:tableStyleId>{5C22544A-7EE6-4342-B048-85BDC9FD1C3A}</a:tableStyleId>
              </a:tblPr>
              <a:tblGrid>
                <a:gridCol w="722744">
                  <a:extLst>
                    <a:ext uri="{9D8B030D-6E8A-4147-A177-3AD203B41FA5}">
                      <a16:colId xmlns:a16="http://schemas.microsoft.com/office/drawing/2014/main" xmlns="" val="4573996"/>
                    </a:ext>
                  </a:extLst>
                </a:gridCol>
                <a:gridCol w="722744">
                  <a:extLst>
                    <a:ext uri="{9D8B030D-6E8A-4147-A177-3AD203B41FA5}">
                      <a16:colId xmlns:a16="http://schemas.microsoft.com/office/drawing/2014/main" xmlns="" val="1940628640"/>
                    </a:ext>
                  </a:extLst>
                </a:gridCol>
                <a:gridCol w="722744">
                  <a:extLst>
                    <a:ext uri="{9D8B030D-6E8A-4147-A177-3AD203B41FA5}">
                      <a16:colId xmlns:a16="http://schemas.microsoft.com/office/drawing/2014/main" xmlns="" val="1224197718"/>
                    </a:ext>
                  </a:extLst>
                </a:gridCol>
                <a:gridCol w="722744">
                  <a:extLst>
                    <a:ext uri="{9D8B030D-6E8A-4147-A177-3AD203B41FA5}">
                      <a16:colId xmlns:a16="http://schemas.microsoft.com/office/drawing/2014/main" xmlns="" val="2244228631"/>
                    </a:ext>
                  </a:extLst>
                </a:gridCol>
                <a:gridCol w="722744">
                  <a:extLst>
                    <a:ext uri="{9D8B030D-6E8A-4147-A177-3AD203B41FA5}">
                      <a16:colId xmlns:a16="http://schemas.microsoft.com/office/drawing/2014/main" xmlns="" val="86740440"/>
                    </a:ext>
                  </a:extLst>
                </a:gridCol>
              </a:tblGrid>
              <a:tr h="298832">
                <a:tc>
                  <a:txBody>
                    <a:bodyPr/>
                    <a:lstStyle/>
                    <a:p>
                      <a:pPr algn="ctr"/>
                      <a:r>
                        <a:rPr lang="en-US" altLang="zh-CN" sz="1600" dirty="0" smtClean="0">
                          <a:solidFill>
                            <a:schemeClr val="tx1"/>
                          </a:solidFill>
                        </a:rPr>
                        <a:t>2</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4</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6</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3</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7</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1969233"/>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1725647795"/>
              </p:ext>
            </p:extLst>
          </p:nvPr>
        </p:nvGraphicFramePr>
        <p:xfrm>
          <a:off x="5292080" y="2762873"/>
          <a:ext cx="3613720" cy="335280"/>
        </p:xfrm>
        <a:graphic>
          <a:graphicData uri="http://schemas.openxmlformats.org/drawingml/2006/table">
            <a:tbl>
              <a:tblPr firstRow="1" bandRow="1">
                <a:tableStyleId>{5C22544A-7EE6-4342-B048-85BDC9FD1C3A}</a:tableStyleId>
              </a:tblPr>
              <a:tblGrid>
                <a:gridCol w="722744">
                  <a:extLst>
                    <a:ext uri="{9D8B030D-6E8A-4147-A177-3AD203B41FA5}">
                      <a16:colId xmlns:a16="http://schemas.microsoft.com/office/drawing/2014/main" xmlns="" val="4573996"/>
                    </a:ext>
                  </a:extLst>
                </a:gridCol>
                <a:gridCol w="722744">
                  <a:extLst>
                    <a:ext uri="{9D8B030D-6E8A-4147-A177-3AD203B41FA5}">
                      <a16:colId xmlns:a16="http://schemas.microsoft.com/office/drawing/2014/main" xmlns="" val="1940628640"/>
                    </a:ext>
                  </a:extLst>
                </a:gridCol>
                <a:gridCol w="722744">
                  <a:extLst>
                    <a:ext uri="{9D8B030D-6E8A-4147-A177-3AD203B41FA5}">
                      <a16:colId xmlns:a16="http://schemas.microsoft.com/office/drawing/2014/main" xmlns="" val="1224197718"/>
                    </a:ext>
                  </a:extLst>
                </a:gridCol>
                <a:gridCol w="722744">
                  <a:extLst>
                    <a:ext uri="{9D8B030D-6E8A-4147-A177-3AD203B41FA5}">
                      <a16:colId xmlns:a16="http://schemas.microsoft.com/office/drawing/2014/main" xmlns="" val="2244228631"/>
                    </a:ext>
                  </a:extLst>
                </a:gridCol>
                <a:gridCol w="722744">
                  <a:extLst>
                    <a:ext uri="{9D8B030D-6E8A-4147-A177-3AD203B41FA5}">
                      <a16:colId xmlns:a16="http://schemas.microsoft.com/office/drawing/2014/main" xmlns="" val="86740440"/>
                    </a:ext>
                  </a:extLst>
                </a:gridCol>
              </a:tblGrid>
              <a:tr h="298832">
                <a:tc>
                  <a:txBody>
                    <a:bodyPr/>
                    <a:lstStyle/>
                    <a:p>
                      <a:pPr algn="ctr"/>
                      <a:r>
                        <a:rPr lang="en-US" altLang="zh-CN" sz="1600" dirty="0" smtClean="0">
                          <a:solidFill>
                            <a:schemeClr val="tx1"/>
                          </a:solidFill>
                        </a:rPr>
                        <a:t>2</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3</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6</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4</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7</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1969233"/>
                  </a:ext>
                </a:extLst>
              </a:tr>
            </a:tbl>
          </a:graphicData>
        </a:graphic>
      </p:graphicFrame>
      <p:graphicFrame>
        <p:nvGraphicFramePr>
          <p:cNvPr id="11" name="表格 10"/>
          <p:cNvGraphicFramePr>
            <a:graphicFrameLocks noGrp="1"/>
          </p:cNvGraphicFramePr>
          <p:nvPr>
            <p:extLst>
              <p:ext uri="{D42A27DB-BD31-4B8C-83A1-F6EECF244321}">
                <p14:modId xmlns:p14="http://schemas.microsoft.com/office/powerpoint/2010/main" val="3883937338"/>
              </p:ext>
            </p:extLst>
          </p:nvPr>
        </p:nvGraphicFramePr>
        <p:xfrm>
          <a:off x="5297551" y="1201551"/>
          <a:ext cx="3607715" cy="335280"/>
        </p:xfrm>
        <a:graphic>
          <a:graphicData uri="http://schemas.openxmlformats.org/drawingml/2006/table">
            <a:tbl>
              <a:tblPr firstRow="1" bandRow="1">
                <a:tableStyleId>{5C22544A-7EE6-4342-B048-85BDC9FD1C3A}</a:tableStyleId>
              </a:tblPr>
              <a:tblGrid>
                <a:gridCol w="721543">
                  <a:extLst>
                    <a:ext uri="{9D8B030D-6E8A-4147-A177-3AD203B41FA5}">
                      <a16:colId xmlns:a16="http://schemas.microsoft.com/office/drawing/2014/main" xmlns="" val="4573996"/>
                    </a:ext>
                  </a:extLst>
                </a:gridCol>
                <a:gridCol w="721543">
                  <a:extLst>
                    <a:ext uri="{9D8B030D-6E8A-4147-A177-3AD203B41FA5}">
                      <a16:colId xmlns:a16="http://schemas.microsoft.com/office/drawing/2014/main" xmlns="" val="1940628640"/>
                    </a:ext>
                  </a:extLst>
                </a:gridCol>
                <a:gridCol w="721543">
                  <a:extLst>
                    <a:ext uri="{9D8B030D-6E8A-4147-A177-3AD203B41FA5}">
                      <a16:colId xmlns:a16="http://schemas.microsoft.com/office/drawing/2014/main" xmlns="" val="1224197718"/>
                    </a:ext>
                  </a:extLst>
                </a:gridCol>
                <a:gridCol w="721543">
                  <a:extLst>
                    <a:ext uri="{9D8B030D-6E8A-4147-A177-3AD203B41FA5}">
                      <a16:colId xmlns:a16="http://schemas.microsoft.com/office/drawing/2014/main" xmlns="" val="2244228631"/>
                    </a:ext>
                  </a:extLst>
                </a:gridCol>
                <a:gridCol w="721543">
                  <a:extLst>
                    <a:ext uri="{9D8B030D-6E8A-4147-A177-3AD203B41FA5}">
                      <a16:colId xmlns:a16="http://schemas.microsoft.com/office/drawing/2014/main" xmlns="" val="86740440"/>
                    </a:ext>
                  </a:extLst>
                </a:gridCol>
              </a:tblGrid>
              <a:tr h="298832">
                <a:tc>
                  <a:txBody>
                    <a:bodyPr/>
                    <a:lstStyle/>
                    <a:p>
                      <a:pPr algn="ctr"/>
                      <a:r>
                        <a:rPr lang="en-US" altLang="zh-CN" sz="1600" dirty="0" smtClean="0">
                          <a:solidFill>
                            <a:schemeClr val="tx1"/>
                          </a:solidFill>
                        </a:rPr>
                        <a:t>0</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1</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2</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3</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4</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1969233"/>
                  </a:ext>
                </a:extLst>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val="1949426210"/>
              </p:ext>
            </p:extLst>
          </p:nvPr>
        </p:nvGraphicFramePr>
        <p:xfrm>
          <a:off x="5292080" y="3184098"/>
          <a:ext cx="3613720" cy="335280"/>
        </p:xfrm>
        <a:graphic>
          <a:graphicData uri="http://schemas.openxmlformats.org/drawingml/2006/table">
            <a:tbl>
              <a:tblPr firstRow="1" bandRow="1">
                <a:tableStyleId>{5C22544A-7EE6-4342-B048-85BDC9FD1C3A}</a:tableStyleId>
              </a:tblPr>
              <a:tblGrid>
                <a:gridCol w="722744">
                  <a:extLst>
                    <a:ext uri="{9D8B030D-6E8A-4147-A177-3AD203B41FA5}">
                      <a16:colId xmlns:a16="http://schemas.microsoft.com/office/drawing/2014/main" xmlns="" val="4573996"/>
                    </a:ext>
                  </a:extLst>
                </a:gridCol>
                <a:gridCol w="722744">
                  <a:extLst>
                    <a:ext uri="{9D8B030D-6E8A-4147-A177-3AD203B41FA5}">
                      <a16:colId xmlns:a16="http://schemas.microsoft.com/office/drawing/2014/main" xmlns="" val="1940628640"/>
                    </a:ext>
                  </a:extLst>
                </a:gridCol>
                <a:gridCol w="722744">
                  <a:extLst>
                    <a:ext uri="{9D8B030D-6E8A-4147-A177-3AD203B41FA5}">
                      <a16:colId xmlns:a16="http://schemas.microsoft.com/office/drawing/2014/main" xmlns="" val="1224197718"/>
                    </a:ext>
                  </a:extLst>
                </a:gridCol>
                <a:gridCol w="722744">
                  <a:extLst>
                    <a:ext uri="{9D8B030D-6E8A-4147-A177-3AD203B41FA5}">
                      <a16:colId xmlns:a16="http://schemas.microsoft.com/office/drawing/2014/main" xmlns="" val="2244228631"/>
                    </a:ext>
                  </a:extLst>
                </a:gridCol>
                <a:gridCol w="722744">
                  <a:extLst>
                    <a:ext uri="{9D8B030D-6E8A-4147-A177-3AD203B41FA5}">
                      <a16:colId xmlns:a16="http://schemas.microsoft.com/office/drawing/2014/main" xmlns="" val="86740440"/>
                    </a:ext>
                  </a:extLst>
                </a:gridCol>
              </a:tblGrid>
              <a:tr h="298832">
                <a:tc>
                  <a:txBody>
                    <a:bodyPr/>
                    <a:lstStyle/>
                    <a:p>
                      <a:pPr algn="ctr"/>
                      <a:r>
                        <a:rPr lang="en-US" altLang="zh-CN" sz="1600" dirty="0" smtClean="0">
                          <a:solidFill>
                            <a:schemeClr val="tx1"/>
                          </a:solidFill>
                        </a:rPr>
                        <a:t>2</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3</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4</a:t>
                      </a:r>
                      <a:endParaRPr lang="zh-CN"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6</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7</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1969233"/>
                  </a:ext>
                </a:extLst>
              </a:tr>
            </a:tbl>
          </a:graphicData>
        </a:graphic>
      </p:graphicFrame>
      <p:grpSp>
        <p:nvGrpSpPr>
          <p:cNvPr id="13" name="组合 12"/>
          <p:cNvGrpSpPr/>
          <p:nvPr/>
        </p:nvGrpSpPr>
        <p:grpSpPr>
          <a:xfrm>
            <a:off x="7524328" y="3519378"/>
            <a:ext cx="801719" cy="632833"/>
            <a:chOff x="1223628" y="5147671"/>
            <a:chExt cx="648072" cy="632833"/>
          </a:xfrm>
        </p:grpSpPr>
        <p:cxnSp>
          <p:nvCxnSpPr>
            <p:cNvPr id="14" name="直接箭头连接符 13"/>
            <p:cNvCxnSpPr/>
            <p:nvPr/>
          </p:nvCxnSpPr>
          <p:spPr bwMode="auto">
            <a:xfrm flipV="1">
              <a:off x="1547664" y="5147671"/>
              <a:ext cx="0" cy="297553"/>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矩形 14"/>
            <p:cNvSpPr/>
            <p:nvPr/>
          </p:nvSpPr>
          <p:spPr bwMode="auto">
            <a:xfrm>
              <a:off x="1223628" y="5445224"/>
              <a:ext cx="648072"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index</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spTree>
    <p:extLst>
      <p:ext uri="{BB962C8B-B14F-4D97-AF65-F5344CB8AC3E}">
        <p14:creationId xmlns:p14="http://schemas.microsoft.com/office/powerpoint/2010/main" val="3754209978"/>
      </p:ext>
    </p:extLst>
  </p:cSld>
  <p:clrMapOvr>
    <a:masterClrMapping/>
  </p:clrMapOvr>
  <p:transition spd="med">
    <p:random/>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56</a:t>
            </a:fld>
            <a:endParaRPr lang="en-US" altLang="zh-CN" dirty="0"/>
          </a:p>
        </p:txBody>
      </p:sp>
      <p:sp>
        <p:nvSpPr>
          <p:cNvPr id="3" name="Content Placeholder 2"/>
          <p:cNvSpPr>
            <a:spLocks noGrp="1"/>
          </p:cNvSpPr>
          <p:nvPr>
            <p:ph idx="4294967295"/>
          </p:nvPr>
        </p:nvSpPr>
        <p:spPr>
          <a:xfrm>
            <a:off x="827584" y="836712"/>
            <a:ext cx="7993062" cy="4537075"/>
          </a:xfrm>
        </p:spPr>
        <p:txBody>
          <a:bodyPr/>
          <a:lstStyle/>
          <a:p>
            <a:r>
              <a:rPr lang="en-US" altLang="zh-TW" dirty="0">
                <a:solidFill>
                  <a:srgbClr val="0066FF"/>
                </a:solidFill>
              </a:rPr>
              <a:t>【</a:t>
            </a:r>
            <a:r>
              <a:rPr lang="zh-TW" altLang="en-US" dirty="0">
                <a:solidFill>
                  <a:srgbClr val="0066FF"/>
                </a:solidFill>
              </a:rPr>
              <a:t>例</a:t>
            </a:r>
            <a:r>
              <a:rPr lang="en-US" altLang="zh-TW" dirty="0">
                <a:solidFill>
                  <a:srgbClr val="0066FF"/>
                </a:solidFill>
              </a:rPr>
              <a:t>4-8】</a:t>
            </a:r>
            <a:r>
              <a:rPr lang="zh-TW" altLang="en-US" dirty="0">
                <a:solidFill>
                  <a:srgbClr val="0066FF"/>
                </a:solidFill>
              </a:rPr>
              <a:t>冒泡排序。输入</a:t>
            </a:r>
            <a:r>
              <a:rPr lang="en-US" altLang="zh-TW" dirty="0">
                <a:solidFill>
                  <a:srgbClr val="0066FF"/>
                </a:solidFill>
              </a:rPr>
              <a:t>n</a:t>
            </a:r>
            <a:r>
              <a:rPr lang="zh-TW" altLang="en-US" dirty="0">
                <a:solidFill>
                  <a:srgbClr val="0066FF"/>
                </a:solidFill>
              </a:rPr>
              <a:t>个数值，采用冒泡排序进行排序，依次从</a:t>
            </a:r>
            <a:r>
              <a:rPr lang="zh-TW" altLang="en-US" dirty="0" smtClean="0">
                <a:solidFill>
                  <a:srgbClr val="FF0000"/>
                </a:solidFill>
              </a:rPr>
              <a:t>高到</a:t>
            </a:r>
            <a:r>
              <a:rPr lang="zh-TW" altLang="en-US" dirty="0">
                <a:solidFill>
                  <a:srgbClr val="FF0000"/>
                </a:solidFill>
              </a:rPr>
              <a:t>低</a:t>
            </a:r>
            <a:r>
              <a:rPr lang="zh-TW" altLang="en-US" dirty="0" smtClean="0">
                <a:solidFill>
                  <a:srgbClr val="0066FF"/>
                </a:solidFill>
              </a:rPr>
              <a:t>输出。</a:t>
            </a:r>
            <a:r>
              <a:rPr lang="en-US" altLang="zh-TW" dirty="0" smtClean="0">
                <a:solidFill>
                  <a:srgbClr val="0066FF"/>
                </a:solidFill>
              </a:rPr>
              <a:t>P85</a:t>
            </a:r>
            <a:endParaRPr lang="en-US" dirty="0"/>
          </a:p>
        </p:txBody>
      </p:sp>
      <p:sp>
        <p:nvSpPr>
          <p:cNvPr id="5" name="Content Placeholder 2"/>
          <p:cNvSpPr txBox="1">
            <a:spLocks/>
          </p:cNvSpPr>
          <p:nvPr/>
        </p:nvSpPr>
        <p:spPr bwMode="auto">
          <a:xfrm>
            <a:off x="755576" y="1916832"/>
            <a:ext cx="7848872" cy="453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rgbClr val="FF3300"/>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rgbClr val="3333FF"/>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a:lstStyle>
          <a:p>
            <a:pPr lvl="1"/>
            <a:r>
              <a:rPr lang="zh-TW" altLang="en-US" dirty="0" smtClean="0">
                <a:solidFill>
                  <a:srgbClr val="0066FF"/>
                </a:solidFill>
              </a:rPr>
              <a:t>分析：这个算法的名字由来是因为越大的元素会经由交换慢慢地“浮”到数列的顶端。一次比较两个元素，如果他们的顺序错误就把他们交换过来。</a:t>
            </a:r>
            <a:endParaRPr lang="en-US" altLang="zh-TW" dirty="0" smtClean="0">
              <a:solidFill>
                <a:srgbClr val="0066FF"/>
              </a:solidFill>
            </a:endParaRPr>
          </a:p>
          <a:p>
            <a:endParaRPr lang="en-US" dirty="0"/>
          </a:p>
        </p:txBody>
      </p:sp>
    </p:spTree>
    <p:extLst>
      <p:ext uri="{BB962C8B-B14F-4D97-AF65-F5344CB8AC3E}">
        <p14:creationId xmlns:p14="http://schemas.microsoft.com/office/powerpoint/2010/main" val="2982554558"/>
      </p:ext>
    </p:extLst>
  </p:cSld>
  <p:clrMapOvr>
    <a:masterClrMapping/>
  </p:clrMapOvr>
  <p:transition spd="med">
    <p:random/>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1"/>
          </p:nvPr>
        </p:nvSpPr>
        <p:spPr/>
        <p:txBody>
          <a:bodyPr/>
          <a:lstStyle/>
          <a:p>
            <a:pPr>
              <a:defRPr/>
            </a:pPr>
            <a:fld id="{56636351-7D5B-47CE-B54D-C31E7589E5E2}" type="slidenum">
              <a:rPr lang="en-US" altLang="zh-CN" smtClean="0"/>
              <a:pPr>
                <a:defRPr/>
              </a:pPr>
              <a:t>57</a:t>
            </a:fld>
            <a:endParaRPr lang="en-US" altLang="zh-CN" dirty="0"/>
          </a:p>
        </p:txBody>
      </p:sp>
      <p:sp>
        <p:nvSpPr>
          <p:cNvPr id="3" name="TextBox 2"/>
          <p:cNvSpPr txBox="1"/>
          <p:nvPr/>
        </p:nvSpPr>
        <p:spPr>
          <a:xfrm>
            <a:off x="900843" y="668201"/>
            <a:ext cx="6711032" cy="1200329"/>
          </a:xfrm>
          <a:prstGeom prst="rect">
            <a:avLst/>
          </a:prstGeom>
          <a:noFill/>
        </p:spPr>
        <p:txBody>
          <a:bodyPr wrap="square" rtlCol="0">
            <a:spAutoFit/>
          </a:bodyPr>
          <a:lstStyle/>
          <a:p>
            <a:r>
              <a:rPr lang="en-US" altLang="zh-CN" sz="2400" b="1" dirty="0" smtClean="0"/>
              <a:t>N=10</a:t>
            </a:r>
            <a:r>
              <a:rPr lang="zh-CN" altLang="en-US" sz="2400" b="1" dirty="0" smtClean="0"/>
              <a:t>（小数下沉）</a:t>
            </a:r>
            <a:endParaRPr lang="en-US" altLang="zh-CN" sz="2400" b="1" dirty="0" smtClean="0"/>
          </a:p>
          <a:p>
            <a:r>
              <a:rPr lang="zh-CN" altLang="en-US" sz="2400" b="1" dirty="0" smtClean="0"/>
              <a:t>输入</a:t>
            </a:r>
            <a:r>
              <a:rPr lang="zh-CN" altLang="en-US" sz="2400" b="1" dirty="0"/>
              <a:t>数：</a:t>
            </a:r>
            <a:r>
              <a:rPr lang="en-US" altLang="zh-CN" sz="2400" b="1" dirty="0" smtClean="0"/>
              <a:t>1 43 2 4 21 12 11 38 8 2     </a:t>
            </a:r>
          </a:p>
          <a:p>
            <a:r>
              <a:rPr lang="zh-CN" altLang="en-US" sz="2400" b="1" dirty="0" smtClean="0"/>
              <a:t>外循环</a:t>
            </a:r>
            <a:r>
              <a:rPr lang="en-US" altLang="zh-CN" sz="2400" b="1" dirty="0" smtClean="0"/>
              <a:t>N-1</a:t>
            </a:r>
            <a:r>
              <a:rPr lang="zh-CN" altLang="en-US" sz="2400" b="1" dirty="0" smtClean="0"/>
              <a:t>（</a:t>
            </a:r>
            <a:r>
              <a:rPr lang="en-US" altLang="zh-CN" sz="2400" b="1" dirty="0" smtClean="0"/>
              <a:t>9</a:t>
            </a:r>
            <a:r>
              <a:rPr lang="zh-CN" altLang="en-US" sz="2400" b="1" dirty="0" smtClean="0"/>
              <a:t>）次，内循环</a:t>
            </a:r>
            <a:r>
              <a:rPr lang="en-US" altLang="zh-CN" sz="2400" b="1" dirty="0" smtClean="0"/>
              <a:t>N-i</a:t>
            </a:r>
            <a:r>
              <a:rPr lang="zh-CN" altLang="en-US" sz="2400" b="1" dirty="0" smtClean="0"/>
              <a:t>（</a:t>
            </a:r>
            <a:r>
              <a:rPr lang="en-US" altLang="zh-CN" sz="2400" b="1" dirty="0" smtClean="0"/>
              <a:t>10-i</a:t>
            </a:r>
            <a:r>
              <a:rPr lang="zh-CN" altLang="en-US" sz="2400" b="1" dirty="0" smtClean="0"/>
              <a:t>）次</a:t>
            </a:r>
            <a:endParaRPr lang="zh-CN" altLang="en-US" sz="2400" b="1" dirty="0"/>
          </a:p>
        </p:txBody>
      </p:sp>
      <p:graphicFrame>
        <p:nvGraphicFramePr>
          <p:cNvPr id="4" name="表格 3"/>
          <p:cNvGraphicFramePr>
            <a:graphicFrameLocks noGrp="1"/>
          </p:cNvGraphicFramePr>
          <p:nvPr>
            <p:extLst>
              <p:ext uri="{D42A27DB-BD31-4B8C-83A1-F6EECF244321}">
                <p14:modId xmlns:p14="http://schemas.microsoft.com/office/powerpoint/2010/main" val="545211075"/>
              </p:ext>
            </p:extLst>
          </p:nvPr>
        </p:nvGraphicFramePr>
        <p:xfrm>
          <a:off x="1599884" y="2204864"/>
          <a:ext cx="576064" cy="457200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xmlns="" val="1416406016"/>
                    </a:ext>
                  </a:extLst>
                </a:gridCol>
              </a:tblGrid>
              <a:tr h="370840">
                <a:tc>
                  <a:txBody>
                    <a:bodyPr/>
                    <a:lstStyle/>
                    <a:p>
                      <a:pPr algn="ctr"/>
                      <a:r>
                        <a:rPr lang="en-US" altLang="zh-CN" sz="2400" b="1" dirty="0" smtClean="0"/>
                        <a:t>43</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algn="ctr"/>
                      <a:r>
                        <a:rPr lang="en-US" altLang="zh-CN" sz="2400" b="1" dirty="0" smtClean="0"/>
                        <a:t>4</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algn="ctr"/>
                      <a:r>
                        <a:rPr lang="en-US" altLang="zh-CN" sz="2400" b="1" dirty="0" smtClean="0"/>
                        <a:t>21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algn="ctr"/>
                      <a:r>
                        <a:rPr lang="en-US" altLang="zh-CN" sz="2400" b="1" dirty="0" smtClean="0"/>
                        <a:t>12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algn="ctr"/>
                      <a:r>
                        <a:rPr lang="en-US" altLang="zh-CN" sz="2400" b="1" dirty="0" smtClean="0"/>
                        <a:t>11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algn="ctr"/>
                      <a:r>
                        <a:rPr lang="en-US" altLang="zh-CN" sz="2400" b="1" dirty="0" smtClean="0"/>
                        <a:t>38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algn="ctr"/>
                      <a:r>
                        <a:rPr lang="en-US" altLang="zh-CN" sz="2400" b="1" dirty="0" smtClean="0"/>
                        <a:t>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algn="ctr"/>
                      <a:r>
                        <a:rPr lang="en-US" altLang="zh-CN" sz="2400" b="1" dirty="0" smtClean="0">
                          <a:solidFill>
                            <a:srgbClr val="FF0000"/>
                          </a:solidFill>
                        </a:rPr>
                        <a:t>1</a:t>
                      </a:r>
                      <a:endParaRPr lang="zh-CN" altLang="en-US" sz="24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269208058"/>
              </p:ext>
            </p:extLst>
          </p:nvPr>
        </p:nvGraphicFramePr>
        <p:xfrm>
          <a:off x="971600" y="2204864"/>
          <a:ext cx="576064" cy="457200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xmlns="" val="1416406016"/>
                    </a:ext>
                  </a:extLst>
                </a:gridCol>
              </a:tblGrid>
              <a:tr h="370840">
                <a:tc>
                  <a:txBody>
                    <a:bodyPr/>
                    <a:lstStyle/>
                    <a:p>
                      <a:pPr algn="ctr"/>
                      <a:r>
                        <a:rPr lang="en-US" altLang="zh-CN" sz="2400" b="1" dirty="0" smtClean="0"/>
                        <a:t>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algn="ctr"/>
                      <a:r>
                        <a:rPr lang="en-US" altLang="zh-CN" sz="2400" b="1" dirty="0" smtClean="0"/>
                        <a:t>43</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algn="ctr"/>
                      <a:r>
                        <a:rPr lang="en-US" altLang="zh-CN" sz="2400" b="1" dirty="0" smtClean="0"/>
                        <a:t>4</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algn="ctr"/>
                      <a:r>
                        <a:rPr lang="en-US" altLang="zh-CN" sz="2400" b="1" dirty="0" smtClean="0"/>
                        <a:t>21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algn="ctr"/>
                      <a:r>
                        <a:rPr lang="en-US" altLang="zh-CN" sz="2400" b="1" dirty="0" smtClean="0"/>
                        <a:t>12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algn="ctr"/>
                      <a:r>
                        <a:rPr lang="en-US" altLang="zh-CN" sz="2400" b="1" dirty="0" smtClean="0"/>
                        <a:t>11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algn="ctr"/>
                      <a:r>
                        <a:rPr lang="en-US" altLang="zh-CN" sz="2400" b="1" dirty="0" smtClean="0"/>
                        <a:t>38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algn="ctr"/>
                      <a:r>
                        <a:rPr lang="en-US" altLang="zh-CN" sz="2400" b="1" dirty="0" smtClean="0"/>
                        <a:t>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graphicFrame>
        <p:nvGraphicFramePr>
          <p:cNvPr id="14" name="表格 13"/>
          <p:cNvGraphicFramePr>
            <a:graphicFrameLocks noGrp="1"/>
          </p:cNvGraphicFramePr>
          <p:nvPr>
            <p:extLst>
              <p:ext uri="{D42A27DB-BD31-4B8C-83A1-F6EECF244321}">
                <p14:modId xmlns:p14="http://schemas.microsoft.com/office/powerpoint/2010/main" val="1890754260"/>
              </p:ext>
            </p:extLst>
          </p:nvPr>
        </p:nvGraphicFramePr>
        <p:xfrm>
          <a:off x="2267013" y="2204864"/>
          <a:ext cx="576064" cy="457200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xmlns="" val="1416406016"/>
                    </a:ext>
                  </a:extLst>
                </a:gridCol>
              </a:tblGrid>
              <a:tr h="370840">
                <a:tc>
                  <a:txBody>
                    <a:bodyPr/>
                    <a:lstStyle/>
                    <a:p>
                      <a:pPr algn="ctr"/>
                      <a:r>
                        <a:rPr lang="en-US" altLang="zh-CN" sz="2400" b="1" dirty="0" smtClean="0"/>
                        <a:t>43</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algn="ctr"/>
                      <a:r>
                        <a:rPr lang="en-US" altLang="zh-CN" sz="2400" b="1" dirty="0" smtClean="0"/>
                        <a:t>4</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algn="ctr"/>
                      <a:r>
                        <a:rPr lang="en-US" altLang="zh-CN" sz="2400" b="1" dirty="0" smtClean="0"/>
                        <a:t>21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algn="ctr"/>
                      <a:r>
                        <a:rPr lang="en-US" altLang="zh-CN" sz="2400" b="1" dirty="0" smtClean="0"/>
                        <a:t>12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algn="ctr"/>
                      <a:r>
                        <a:rPr lang="en-US" altLang="zh-CN" sz="2400" b="1" dirty="0" smtClean="0"/>
                        <a:t>11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algn="ctr"/>
                      <a:r>
                        <a:rPr lang="en-US" altLang="zh-CN" sz="2400" b="1" dirty="0" smtClean="0"/>
                        <a:t>38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algn="ctr"/>
                      <a:r>
                        <a:rPr lang="en-US" altLang="zh-CN" sz="2400" b="1" dirty="0" smtClean="0"/>
                        <a:t>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algn="ctr"/>
                      <a:r>
                        <a:rPr lang="en-US" altLang="zh-CN" sz="2400" b="1" dirty="0" smtClean="0">
                          <a:solidFill>
                            <a:srgbClr val="FF0000"/>
                          </a:solidFill>
                        </a:rPr>
                        <a:t>2</a:t>
                      </a:r>
                      <a:endParaRPr lang="zh-CN" altLang="en-US" sz="24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algn="ctr"/>
                      <a:r>
                        <a:rPr lang="en-US" altLang="zh-CN" sz="2400" b="1" dirty="0" smtClean="0"/>
                        <a:t>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graphicFrame>
        <p:nvGraphicFramePr>
          <p:cNvPr id="15" name="表格 14"/>
          <p:cNvGraphicFramePr>
            <a:graphicFrameLocks noGrp="1"/>
          </p:cNvGraphicFramePr>
          <p:nvPr>
            <p:extLst>
              <p:ext uri="{D42A27DB-BD31-4B8C-83A1-F6EECF244321}">
                <p14:modId xmlns:p14="http://schemas.microsoft.com/office/powerpoint/2010/main" val="2739801355"/>
              </p:ext>
            </p:extLst>
          </p:nvPr>
        </p:nvGraphicFramePr>
        <p:xfrm>
          <a:off x="2934142" y="2204864"/>
          <a:ext cx="576064" cy="457200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xmlns="" val="1416406016"/>
                    </a:ext>
                  </a:extLst>
                </a:gridCol>
              </a:tblGrid>
              <a:tr h="370840">
                <a:tc>
                  <a:txBody>
                    <a:bodyPr/>
                    <a:lstStyle/>
                    <a:p>
                      <a:pPr algn="ctr"/>
                      <a:r>
                        <a:rPr lang="en-US" altLang="zh-CN" sz="2400" b="1" dirty="0" smtClean="0"/>
                        <a:t>43</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algn="ctr"/>
                      <a:r>
                        <a:rPr lang="en-US" altLang="zh-CN" sz="2400" b="1" dirty="0" smtClean="0"/>
                        <a:t>21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algn="ctr"/>
                      <a:r>
                        <a:rPr lang="en-US" altLang="zh-CN" sz="2400" b="1" dirty="0" smtClean="0"/>
                        <a:t>12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algn="ctr"/>
                      <a:r>
                        <a:rPr lang="en-US" altLang="zh-CN" sz="2400" b="1" dirty="0" smtClean="0"/>
                        <a:t>11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algn="ctr"/>
                      <a:r>
                        <a:rPr lang="en-US" altLang="zh-CN" sz="2400" b="1" dirty="0" smtClean="0"/>
                        <a:t>38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algn="ctr"/>
                      <a:r>
                        <a:rPr lang="en-US" altLang="zh-CN" sz="2400" b="1" dirty="0" smtClean="0"/>
                        <a:t>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algn="ctr"/>
                      <a:r>
                        <a:rPr lang="en-US" altLang="zh-CN" sz="2400" b="1" dirty="0" smtClean="0"/>
                        <a:t>4</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algn="ctr"/>
                      <a:r>
                        <a:rPr lang="en-US" altLang="zh-CN" sz="2400" b="1" dirty="0" smtClean="0">
                          <a:solidFill>
                            <a:srgbClr val="FF0000"/>
                          </a:solidFill>
                        </a:rPr>
                        <a:t>2</a:t>
                      </a:r>
                      <a:endParaRPr lang="zh-CN" altLang="en-US" sz="24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algn="ctr"/>
                      <a:r>
                        <a:rPr lang="en-US" altLang="zh-CN" sz="2400" b="1" dirty="0" smtClean="0"/>
                        <a:t>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graphicFrame>
        <p:nvGraphicFramePr>
          <p:cNvPr id="16" name="表格 15"/>
          <p:cNvGraphicFramePr>
            <a:graphicFrameLocks noGrp="1"/>
          </p:cNvGraphicFramePr>
          <p:nvPr>
            <p:extLst>
              <p:ext uri="{D42A27DB-BD31-4B8C-83A1-F6EECF244321}">
                <p14:modId xmlns:p14="http://schemas.microsoft.com/office/powerpoint/2010/main" val="3249275351"/>
              </p:ext>
            </p:extLst>
          </p:nvPr>
        </p:nvGraphicFramePr>
        <p:xfrm>
          <a:off x="3601271" y="2204864"/>
          <a:ext cx="576064" cy="457200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xmlns="" val="1416406016"/>
                    </a:ext>
                  </a:extLst>
                </a:gridCol>
              </a:tblGrid>
              <a:tr h="370840">
                <a:tc>
                  <a:txBody>
                    <a:bodyPr/>
                    <a:lstStyle/>
                    <a:p>
                      <a:pPr algn="ctr"/>
                      <a:r>
                        <a:rPr lang="en-US" altLang="zh-CN" sz="2400" b="1" dirty="0" smtClean="0"/>
                        <a:t>43</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algn="ctr"/>
                      <a:r>
                        <a:rPr lang="en-US" altLang="zh-CN" sz="2400" b="1" dirty="0" smtClean="0"/>
                        <a:t>21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algn="ctr"/>
                      <a:r>
                        <a:rPr lang="en-US" altLang="zh-CN" sz="2400" b="1" dirty="0" smtClean="0"/>
                        <a:t>12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algn="ctr"/>
                      <a:r>
                        <a:rPr lang="en-US" altLang="zh-CN" sz="2400" b="1" dirty="0" smtClean="0"/>
                        <a:t>38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algn="ctr"/>
                      <a:r>
                        <a:rPr lang="en-US" altLang="zh-CN" sz="2400" b="1" dirty="0" smtClean="0"/>
                        <a:t>11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algn="ctr"/>
                      <a:r>
                        <a:rPr lang="en-US" altLang="zh-CN" sz="2400" b="1" dirty="0" smtClean="0"/>
                        <a:t>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algn="ctr"/>
                      <a:r>
                        <a:rPr lang="en-US" altLang="zh-CN" sz="2400" b="1" dirty="0" smtClean="0">
                          <a:solidFill>
                            <a:srgbClr val="FF0000"/>
                          </a:solidFill>
                        </a:rPr>
                        <a:t>4</a:t>
                      </a:r>
                      <a:endParaRPr lang="zh-CN" altLang="en-US" sz="24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algn="ctr"/>
                      <a:r>
                        <a:rPr lang="en-US" altLang="zh-CN" sz="2400" b="1" dirty="0" smtClean="0"/>
                        <a:t>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sp>
        <p:nvSpPr>
          <p:cNvPr id="17" name="矩形 16"/>
          <p:cNvSpPr/>
          <p:nvPr/>
        </p:nvSpPr>
        <p:spPr bwMode="auto">
          <a:xfrm>
            <a:off x="1599884" y="1869584"/>
            <a:ext cx="570661" cy="27325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1</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sp>
        <p:nvSpPr>
          <p:cNvPr id="18" name="矩形 17"/>
          <p:cNvSpPr/>
          <p:nvPr/>
        </p:nvSpPr>
        <p:spPr bwMode="auto">
          <a:xfrm>
            <a:off x="2267013" y="1869584"/>
            <a:ext cx="570661" cy="27325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2</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sp>
        <p:nvSpPr>
          <p:cNvPr id="19" name="矩形 18"/>
          <p:cNvSpPr/>
          <p:nvPr/>
        </p:nvSpPr>
        <p:spPr bwMode="auto">
          <a:xfrm>
            <a:off x="2927679" y="1869584"/>
            <a:ext cx="570661" cy="27325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3</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sp>
        <p:nvSpPr>
          <p:cNvPr id="20" name="矩形 19"/>
          <p:cNvSpPr/>
          <p:nvPr/>
        </p:nvSpPr>
        <p:spPr bwMode="auto">
          <a:xfrm>
            <a:off x="3606674" y="1869584"/>
            <a:ext cx="570661" cy="27325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4</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sp>
        <p:nvSpPr>
          <p:cNvPr id="21" name="矩形 20"/>
          <p:cNvSpPr/>
          <p:nvPr/>
        </p:nvSpPr>
        <p:spPr bwMode="auto">
          <a:xfrm>
            <a:off x="4321900" y="1869584"/>
            <a:ext cx="570661" cy="27325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5</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sp>
        <p:nvSpPr>
          <p:cNvPr id="22" name="矩形 21"/>
          <p:cNvSpPr/>
          <p:nvPr/>
        </p:nvSpPr>
        <p:spPr bwMode="auto">
          <a:xfrm>
            <a:off x="5007807" y="1869057"/>
            <a:ext cx="570661" cy="27325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6</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sp>
        <p:nvSpPr>
          <p:cNvPr id="23" name="矩形 22"/>
          <p:cNvSpPr/>
          <p:nvPr/>
        </p:nvSpPr>
        <p:spPr bwMode="auto">
          <a:xfrm>
            <a:off x="5682908" y="1887002"/>
            <a:ext cx="570661" cy="27325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7</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sp>
        <p:nvSpPr>
          <p:cNvPr id="24" name="矩形 23"/>
          <p:cNvSpPr/>
          <p:nvPr/>
        </p:nvSpPr>
        <p:spPr bwMode="auto">
          <a:xfrm>
            <a:off x="6366113" y="1858766"/>
            <a:ext cx="570661" cy="27325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8</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sp>
        <p:nvSpPr>
          <p:cNvPr id="25" name="矩形 24"/>
          <p:cNvSpPr/>
          <p:nvPr/>
        </p:nvSpPr>
        <p:spPr bwMode="auto">
          <a:xfrm>
            <a:off x="7041214" y="1868530"/>
            <a:ext cx="570661" cy="27325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9</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aphicFrame>
        <p:nvGraphicFramePr>
          <p:cNvPr id="26" name="表格 25"/>
          <p:cNvGraphicFramePr>
            <a:graphicFrameLocks noGrp="1"/>
          </p:cNvGraphicFramePr>
          <p:nvPr>
            <p:extLst>
              <p:ext uri="{D42A27DB-BD31-4B8C-83A1-F6EECF244321}">
                <p14:modId xmlns:p14="http://schemas.microsoft.com/office/powerpoint/2010/main" val="1891580784"/>
              </p:ext>
            </p:extLst>
          </p:nvPr>
        </p:nvGraphicFramePr>
        <p:xfrm>
          <a:off x="4333635" y="2204864"/>
          <a:ext cx="576064" cy="457200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xmlns="" val="1416406016"/>
                    </a:ext>
                  </a:extLst>
                </a:gridCol>
              </a:tblGrid>
              <a:tr h="370840">
                <a:tc>
                  <a:txBody>
                    <a:bodyPr/>
                    <a:lstStyle/>
                    <a:p>
                      <a:pPr algn="ctr"/>
                      <a:r>
                        <a:rPr lang="en-US" altLang="zh-CN" sz="2400" b="1" dirty="0" smtClean="0"/>
                        <a:t>43</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algn="ctr"/>
                      <a:r>
                        <a:rPr lang="en-US" altLang="zh-CN" sz="2400" b="1" dirty="0" smtClean="0"/>
                        <a:t>21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algn="ctr"/>
                      <a:r>
                        <a:rPr lang="en-US" altLang="zh-CN" sz="2400" b="1" dirty="0" smtClean="0"/>
                        <a:t>38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algn="ctr"/>
                      <a:r>
                        <a:rPr lang="en-US" altLang="zh-CN" sz="2400" b="1" dirty="0" smtClean="0"/>
                        <a:t>12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algn="ctr"/>
                      <a:r>
                        <a:rPr lang="en-US" altLang="zh-CN" sz="2400" b="1" dirty="0" smtClean="0"/>
                        <a:t>11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solidFill>
                            <a:srgbClr val="FF0000"/>
                          </a:solidFill>
                        </a:rPr>
                        <a:t>8</a:t>
                      </a:r>
                      <a:endParaRPr lang="zh-CN" altLang="en-US" sz="24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algn="ctr"/>
                      <a:r>
                        <a:rPr lang="en-US" altLang="zh-CN" sz="2400" b="1" dirty="0" smtClean="0">
                          <a:solidFill>
                            <a:schemeClr val="tx1"/>
                          </a:solidFill>
                        </a:rPr>
                        <a:t>4</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algn="ctr"/>
                      <a:r>
                        <a:rPr lang="en-US" altLang="zh-CN" sz="2400" b="1" dirty="0" smtClean="0"/>
                        <a:t>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graphicFrame>
        <p:nvGraphicFramePr>
          <p:cNvPr id="27" name="表格 26"/>
          <p:cNvGraphicFramePr>
            <a:graphicFrameLocks noGrp="1"/>
          </p:cNvGraphicFramePr>
          <p:nvPr>
            <p:extLst>
              <p:ext uri="{D42A27DB-BD31-4B8C-83A1-F6EECF244321}">
                <p14:modId xmlns:p14="http://schemas.microsoft.com/office/powerpoint/2010/main" val="3969116418"/>
              </p:ext>
            </p:extLst>
          </p:nvPr>
        </p:nvGraphicFramePr>
        <p:xfrm>
          <a:off x="5014332" y="2204864"/>
          <a:ext cx="576064" cy="457200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xmlns="" val="1416406016"/>
                    </a:ext>
                  </a:extLst>
                </a:gridCol>
              </a:tblGrid>
              <a:tr h="370840">
                <a:tc>
                  <a:txBody>
                    <a:bodyPr/>
                    <a:lstStyle/>
                    <a:p>
                      <a:pPr algn="ctr"/>
                      <a:r>
                        <a:rPr lang="en-US" altLang="zh-CN" sz="2400" b="1" dirty="0" smtClean="0"/>
                        <a:t>43</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algn="ctr"/>
                      <a:r>
                        <a:rPr lang="en-US" altLang="zh-CN" sz="2400" b="1" dirty="0" smtClean="0"/>
                        <a:t>38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algn="ctr"/>
                      <a:r>
                        <a:rPr lang="en-US" altLang="zh-CN" sz="2400" b="1" dirty="0" smtClean="0"/>
                        <a:t>21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algn="ctr"/>
                      <a:r>
                        <a:rPr lang="en-US" altLang="zh-CN" sz="2400" b="1" dirty="0" smtClean="0"/>
                        <a:t>12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algn="ctr"/>
                      <a:r>
                        <a:rPr lang="en-US" altLang="zh-CN" sz="2400" b="1" dirty="0" smtClean="0">
                          <a:solidFill>
                            <a:srgbClr val="FF0000"/>
                          </a:solidFill>
                        </a:rPr>
                        <a:t>11</a:t>
                      </a:r>
                      <a:endParaRPr lang="zh-CN" altLang="en-US" sz="24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solidFill>
                            <a:schemeClr val="tx1"/>
                          </a:solidFill>
                        </a:rPr>
                        <a:t>8</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algn="ctr"/>
                      <a:r>
                        <a:rPr lang="en-US" altLang="zh-CN" sz="2400" b="1" dirty="0" smtClean="0">
                          <a:solidFill>
                            <a:schemeClr val="tx1"/>
                          </a:solidFill>
                        </a:rPr>
                        <a:t>4</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algn="ctr"/>
                      <a:r>
                        <a:rPr lang="en-US" altLang="zh-CN" sz="2400" b="1" dirty="0" smtClean="0"/>
                        <a:t>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graphicFrame>
        <p:nvGraphicFramePr>
          <p:cNvPr id="28" name="表格 27"/>
          <p:cNvGraphicFramePr>
            <a:graphicFrameLocks noGrp="1"/>
          </p:cNvGraphicFramePr>
          <p:nvPr>
            <p:extLst>
              <p:ext uri="{D42A27DB-BD31-4B8C-83A1-F6EECF244321}">
                <p14:modId xmlns:p14="http://schemas.microsoft.com/office/powerpoint/2010/main" val="1937278397"/>
              </p:ext>
            </p:extLst>
          </p:nvPr>
        </p:nvGraphicFramePr>
        <p:xfrm>
          <a:off x="5697425" y="2204864"/>
          <a:ext cx="576064" cy="457200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xmlns="" val="1416406016"/>
                    </a:ext>
                  </a:extLst>
                </a:gridCol>
              </a:tblGrid>
              <a:tr h="370840">
                <a:tc>
                  <a:txBody>
                    <a:bodyPr/>
                    <a:lstStyle/>
                    <a:p>
                      <a:pPr algn="ctr"/>
                      <a:r>
                        <a:rPr lang="en-US" altLang="zh-CN" sz="2400" b="1" dirty="0" smtClean="0"/>
                        <a:t>43</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algn="ctr"/>
                      <a:r>
                        <a:rPr lang="en-US" altLang="zh-CN" sz="2400" b="1" dirty="0" smtClean="0"/>
                        <a:t>38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algn="ctr"/>
                      <a:r>
                        <a:rPr lang="en-US" altLang="zh-CN" sz="2400" b="1" dirty="0" smtClean="0"/>
                        <a:t>21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algn="ctr"/>
                      <a:r>
                        <a:rPr lang="en-US" altLang="zh-CN" sz="2400" b="1" dirty="0" smtClean="0">
                          <a:solidFill>
                            <a:srgbClr val="FF0000"/>
                          </a:solidFill>
                        </a:rPr>
                        <a:t>12</a:t>
                      </a:r>
                      <a:endParaRPr lang="zh-CN" altLang="en-US" sz="24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algn="ctr"/>
                      <a:r>
                        <a:rPr lang="en-US" altLang="zh-CN" sz="2400" b="1" dirty="0" smtClean="0">
                          <a:solidFill>
                            <a:schemeClr val="tx1"/>
                          </a:solidFill>
                        </a:rPr>
                        <a:t>11</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solidFill>
                            <a:schemeClr val="tx1"/>
                          </a:solidFill>
                        </a:rPr>
                        <a:t>8</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algn="ctr"/>
                      <a:r>
                        <a:rPr lang="en-US" altLang="zh-CN" sz="2400" b="1" dirty="0" smtClean="0">
                          <a:solidFill>
                            <a:schemeClr val="tx1"/>
                          </a:solidFill>
                        </a:rPr>
                        <a:t>4</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algn="ctr"/>
                      <a:r>
                        <a:rPr lang="en-US" altLang="zh-CN" sz="2400" b="1" dirty="0" smtClean="0"/>
                        <a:t>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graphicFrame>
        <p:nvGraphicFramePr>
          <p:cNvPr id="29" name="表格 28"/>
          <p:cNvGraphicFramePr>
            <a:graphicFrameLocks noGrp="1"/>
          </p:cNvGraphicFramePr>
          <p:nvPr>
            <p:extLst>
              <p:ext uri="{D42A27DB-BD31-4B8C-83A1-F6EECF244321}">
                <p14:modId xmlns:p14="http://schemas.microsoft.com/office/powerpoint/2010/main" val="2571526157"/>
              </p:ext>
            </p:extLst>
          </p:nvPr>
        </p:nvGraphicFramePr>
        <p:xfrm>
          <a:off x="6380518" y="2204864"/>
          <a:ext cx="576064" cy="457200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xmlns="" val="1416406016"/>
                    </a:ext>
                  </a:extLst>
                </a:gridCol>
              </a:tblGrid>
              <a:tr h="370840">
                <a:tc>
                  <a:txBody>
                    <a:bodyPr/>
                    <a:lstStyle/>
                    <a:p>
                      <a:pPr algn="ctr"/>
                      <a:r>
                        <a:rPr lang="en-US" altLang="zh-CN" sz="2400" b="1" dirty="0" smtClean="0"/>
                        <a:t>43</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algn="ctr"/>
                      <a:r>
                        <a:rPr lang="en-US" altLang="zh-CN" sz="2400" b="1" dirty="0" smtClean="0"/>
                        <a:t>38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algn="ctr"/>
                      <a:r>
                        <a:rPr lang="en-US" altLang="zh-CN" sz="2400" b="1" dirty="0" smtClean="0">
                          <a:solidFill>
                            <a:srgbClr val="FF0000"/>
                          </a:solidFill>
                        </a:rPr>
                        <a:t>21</a:t>
                      </a:r>
                      <a:endParaRPr lang="zh-CN" altLang="en-US" sz="24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algn="ctr"/>
                      <a:r>
                        <a:rPr lang="en-US" altLang="zh-CN" sz="2400" b="1" dirty="0" smtClean="0">
                          <a:solidFill>
                            <a:schemeClr val="tx1"/>
                          </a:solidFill>
                        </a:rPr>
                        <a:t>12</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algn="ctr"/>
                      <a:r>
                        <a:rPr lang="en-US" altLang="zh-CN" sz="2400" b="1" dirty="0" smtClean="0">
                          <a:solidFill>
                            <a:schemeClr val="tx1"/>
                          </a:solidFill>
                        </a:rPr>
                        <a:t>11</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solidFill>
                            <a:schemeClr val="tx1"/>
                          </a:solidFill>
                        </a:rPr>
                        <a:t>8</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algn="ctr"/>
                      <a:r>
                        <a:rPr lang="en-US" altLang="zh-CN" sz="2400" b="1" dirty="0" smtClean="0">
                          <a:solidFill>
                            <a:schemeClr val="tx1"/>
                          </a:solidFill>
                        </a:rPr>
                        <a:t>4</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algn="ctr"/>
                      <a:r>
                        <a:rPr lang="en-US" altLang="zh-CN" sz="2400" b="1" dirty="0" smtClean="0"/>
                        <a:t>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graphicFrame>
        <p:nvGraphicFramePr>
          <p:cNvPr id="30" name="表格 29"/>
          <p:cNvGraphicFramePr>
            <a:graphicFrameLocks noGrp="1"/>
          </p:cNvGraphicFramePr>
          <p:nvPr>
            <p:extLst>
              <p:ext uri="{D42A27DB-BD31-4B8C-83A1-F6EECF244321}">
                <p14:modId xmlns:p14="http://schemas.microsoft.com/office/powerpoint/2010/main" val="2181076882"/>
              </p:ext>
            </p:extLst>
          </p:nvPr>
        </p:nvGraphicFramePr>
        <p:xfrm>
          <a:off x="7041214" y="2204864"/>
          <a:ext cx="576064" cy="457200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xmlns="" val="1416406016"/>
                    </a:ext>
                  </a:extLst>
                </a:gridCol>
              </a:tblGrid>
              <a:tr h="370840">
                <a:tc>
                  <a:txBody>
                    <a:bodyPr/>
                    <a:lstStyle/>
                    <a:p>
                      <a:pPr algn="ctr"/>
                      <a:r>
                        <a:rPr lang="en-US" altLang="zh-CN" sz="2400" b="1" dirty="0" smtClean="0"/>
                        <a:t>43</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algn="ctr"/>
                      <a:r>
                        <a:rPr lang="en-US" altLang="zh-CN" sz="2400" b="1" dirty="0" smtClean="0">
                          <a:solidFill>
                            <a:srgbClr val="FF0000"/>
                          </a:solidFill>
                        </a:rPr>
                        <a:t>38</a:t>
                      </a:r>
                      <a:endParaRPr lang="zh-CN" altLang="en-US" sz="24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algn="ctr"/>
                      <a:r>
                        <a:rPr lang="en-US" altLang="zh-CN" sz="2400" b="1" dirty="0" smtClean="0">
                          <a:solidFill>
                            <a:schemeClr val="tx1"/>
                          </a:solidFill>
                        </a:rPr>
                        <a:t>21</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algn="ctr"/>
                      <a:r>
                        <a:rPr lang="en-US" altLang="zh-CN" sz="2400" b="1" dirty="0" smtClean="0">
                          <a:solidFill>
                            <a:schemeClr val="tx1"/>
                          </a:solidFill>
                        </a:rPr>
                        <a:t>12</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algn="ctr"/>
                      <a:r>
                        <a:rPr lang="en-US" altLang="zh-CN" sz="2400" b="1" dirty="0" smtClean="0">
                          <a:solidFill>
                            <a:schemeClr val="tx1"/>
                          </a:solidFill>
                        </a:rPr>
                        <a:t>11</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solidFill>
                            <a:schemeClr val="tx1"/>
                          </a:solidFill>
                        </a:rPr>
                        <a:t>8</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algn="ctr"/>
                      <a:r>
                        <a:rPr lang="en-US" altLang="zh-CN" sz="2400" b="1" dirty="0" smtClean="0">
                          <a:solidFill>
                            <a:schemeClr val="tx1"/>
                          </a:solidFill>
                        </a:rPr>
                        <a:t>4</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algn="ctr"/>
                      <a:r>
                        <a:rPr lang="en-US" altLang="zh-CN" sz="2400" b="1" dirty="0" smtClean="0"/>
                        <a:t>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graphicFrame>
        <p:nvGraphicFramePr>
          <p:cNvPr id="31" name="表格 30"/>
          <p:cNvGraphicFramePr>
            <a:graphicFrameLocks noGrp="1"/>
          </p:cNvGraphicFramePr>
          <p:nvPr>
            <p:extLst>
              <p:ext uri="{D42A27DB-BD31-4B8C-83A1-F6EECF244321}">
                <p14:modId xmlns:p14="http://schemas.microsoft.com/office/powerpoint/2010/main" val="2871359425"/>
              </p:ext>
            </p:extLst>
          </p:nvPr>
        </p:nvGraphicFramePr>
        <p:xfrm>
          <a:off x="117180" y="2204864"/>
          <a:ext cx="658965" cy="4572000"/>
        </p:xfrm>
        <a:graphic>
          <a:graphicData uri="http://schemas.openxmlformats.org/drawingml/2006/table">
            <a:tbl>
              <a:tblPr firstRow="1" bandRow="1">
                <a:tableStyleId>{5C22544A-7EE6-4342-B048-85BDC9FD1C3A}</a:tableStyleId>
              </a:tblPr>
              <a:tblGrid>
                <a:gridCol w="658965">
                  <a:extLst>
                    <a:ext uri="{9D8B030D-6E8A-4147-A177-3AD203B41FA5}">
                      <a16:colId xmlns:a16="http://schemas.microsoft.com/office/drawing/2014/main" xmlns="" val="1416406016"/>
                    </a:ext>
                  </a:extLst>
                </a:gridCol>
              </a:tblGrid>
              <a:tr h="370840">
                <a:tc>
                  <a:txBody>
                    <a:bodyPr/>
                    <a:lstStyle/>
                    <a:p>
                      <a:pPr algn="ctr"/>
                      <a:r>
                        <a:rPr lang="en-US" altLang="zh-CN" sz="2400" b="1" dirty="0" smtClean="0"/>
                        <a:t>a[0]</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a[1]</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a[2]</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a[3]</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a[4]</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a[5]</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a[6]</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a[7]</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a[8]</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a[9]</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spTree>
    <p:extLst>
      <p:ext uri="{BB962C8B-B14F-4D97-AF65-F5344CB8AC3E}">
        <p14:creationId xmlns:p14="http://schemas.microsoft.com/office/powerpoint/2010/main" val="3791145493"/>
      </p:ext>
    </p:extLst>
  </p:cSld>
  <p:clrMapOvr>
    <a:masterClrMapping/>
  </p:clrMapOvr>
  <p:transition spd="med">
    <p:random/>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58</a:t>
            </a:fld>
            <a:endParaRPr lang="en-US" altLang="zh-CN" dirty="0"/>
          </a:p>
        </p:txBody>
      </p:sp>
      <p:sp>
        <p:nvSpPr>
          <p:cNvPr id="3" name="Content Placeholder 2"/>
          <p:cNvSpPr>
            <a:spLocks noGrp="1"/>
          </p:cNvSpPr>
          <p:nvPr>
            <p:ph idx="4294967295"/>
          </p:nvPr>
        </p:nvSpPr>
        <p:spPr>
          <a:xfrm>
            <a:off x="179512" y="188640"/>
            <a:ext cx="8941229" cy="6669360"/>
          </a:xfrm>
        </p:spPr>
        <p:txBody>
          <a:bodyPr/>
          <a:lstStyle/>
          <a:p>
            <a:pPr marL="0" indent="0">
              <a:lnSpc>
                <a:spcPct val="90000"/>
              </a:lnSpc>
              <a:buNone/>
            </a:pPr>
            <a:r>
              <a:rPr lang="en-US" altLang="zh-CN" sz="2200" dirty="0" smtClean="0">
                <a:solidFill>
                  <a:schemeClr val="tx1"/>
                </a:solidFill>
                <a:effectLst/>
              </a:rPr>
              <a:t>#</a:t>
            </a:r>
            <a:r>
              <a:rPr lang="en-US" altLang="zh-CN" sz="2200" dirty="0">
                <a:solidFill>
                  <a:schemeClr val="tx1"/>
                </a:solidFill>
                <a:effectLst/>
              </a:rPr>
              <a:t>define N 10//</a:t>
            </a:r>
            <a:r>
              <a:rPr lang="zh-CN" altLang="en-US" sz="2200" dirty="0">
                <a:solidFill>
                  <a:schemeClr val="tx1"/>
                </a:solidFill>
                <a:effectLst/>
              </a:rPr>
              <a:t>以</a:t>
            </a:r>
            <a:r>
              <a:rPr lang="en-US" altLang="zh-CN" sz="2200" dirty="0">
                <a:solidFill>
                  <a:schemeClr val="tx1"/>
                </a:solidFill>
                <a:effectLst/>
              </a:rPr>
              <a:t>10</a:t>
            </a:r>
            <a:r>
              <a:rPr lang="zh-CN" altLang="en-US" sz="2200" dirty="0">
                <a:solidFill>
                  <a:schemeClr val="tx1"/>
                </a:solidFill>
                <a:effectLst/>
              </a:rPr>
              <a:t>个数为</a:t>
            </a:r>
            <a:r>
              <a:rPr lang="zh-CN" altLang="en-US" sz="2200" dirty="0" smtClean="0">
                <a:solidFill>
                  <a:schemeClr val="tx1"/>
                </a:solidFill>
                <a:effectLst/>
              </a:rPr>
              <a:t>例</a:t>
            </a:r>
            <a:r>
              <a:rPr lang="en-US" altLang="zh-CN" sz="2200" dirty="0" smtClean="0">
                <a:solidFill>
                  <a:schemeClr val="tx1"/>
                </a:solidFill>
                <a:effectLst/>
              </a:rPr>
              <a:t>,</a:t>
            </a:r>
            <a:r>
              <a:rPr lang="zh-CN" altLang="en-US" sz="2200" dirty="0" smtClean="0">
                <a:solidFill>
                  <a:schemeClr val="tx1"/>
                </a:solidFill>
                <a:effectLst/>
              </a:rPr>
              <a:t>降序排列</a:t>
            </a:r>
            <a:endParaRPr lang="zh-CN" altLang="en-US" sz="2200" dirty="0">
              <a:solidFill>
                <a:schemeClr val="tx1"/>
              </a:solidFill>
              <a:effectLst/>
            </a:endParaRPr>
          </a:p>
          <a:p>
            <a:pPr marL="0" indent="0">
              <a:lnSpc>
                <a:spcPct val="90000"/>
              </a:lnSpc>
              <a:buNone/>
            </a:pPr>
            <a:r>
              <a:rPr lang="en-US" altLang="zh-CN" sz="2200" dirty="0">
                <a:solidFill>
                  <a:schemeClr val="tx1"/>
                </a:solidFill>
                <a:effectLst/>
              </a:rPr>
              <a:t>#include &lt;stdio.h&gt;</a:t>
            </a:r>
          </a:p>
          <a:p>
            <a:pPr marL="0" indent="0">
              <a:lnSpc>
                <a:spcPct val="90000"/>
              </a:lnSpc>
              <a:buNone/>
            </a:pPr>
            <a:r>
              <a:rPr lang="en-US" altLang="zh-CN" sz="2200" dirty="0">
                <a:solidFill>
                  <a:schemeClr val="tx1"/>
                </a:solidFill>
                <a:effectLst/>
              </a:rPr>
              <a:t>int </a:t>
            </a:r>
            <a:r>
              <a:rPr lang="en-US" altLang="zh-CN" sz="2200" dirty="0" smtClean="0">
                <a:solidFill>
                  <a:schemeClr val="tx1"/>
                </a:solidFill>
                <a:effectLst/>
              </a:rPr>
              <a:t>main()</a:t>
            </a:r>
            <a:endParaRPr lang="en-US" altLang="zh-CN" sz="2200" dirty="0">
              <a:solidFill>
                <a:schemeClr val="tx1"/>
              </a:solidFill>
              <a:effectLst/>
            </a:endParaRPr>
          </a:p>
          <a:p>
            <a:pPr marL="0" indent="0">
              <a:lnSpc>
                <a:spcPct val="90000"/>
              </a:lnSpc>
              <a:buNone/>
            </a:pPr>
            <a:r>
              <a:rPr lang="en-US" altLang="zh-CN" sz="2200" dirty="0">
                <a:solidFill>
                  <a:schemeClr val="tx1"/>
                </a:solidFill>
                <a:effectLst/>
              </a:rPr>
              <a:t>{  </a:t>
            </a:r>
            <a:endParaRPr lang="en-US" altLang="zh-CN" sz="2200" dirty="0" smtClean="0">
              <a:solidFill>
                <a:schemeClr val="tx1"/>
              </a:solidFill>
              <a:effectLst/>
            </a:endParaRPr>
          </a:p>
          <a:p>
            <a:pPr marL="0" indent="0">
              <a:lnSpc>
                <a:spcPct val="90000"/>
              </a:lnSpc>
              <a:buNone/>
            </a:pPr>
            <a:r>
              <a:rPr lang="en-US" altLang="zh-CN" sz="2200" dirty="0">
                <a:solidFill>
                  <a:schemeClr val="tx1"/>
                </a:solidFill>
                <a:effectLst/>
              </a:rPr>
              <a:t> </a:t>
            </a:r>
            <a:r>
              <a:rPr lang="en-US" altLang="zh-CN" sz="2200" dirty="0" smtClean="0">
                <a:solidFill>
                  <a:schemeClr val="tx1"/>
                </a:solidFill>
                <a:effectLst/>
              </a:rPr>
              <a:t>    </a:t>
            </a:r>
            <a:r>
              <a:rPr lang="en-US" altLang="zh-CN" sz="2200" dirty="0">
                <a:solidFill>
                  <a:schemeClr val="tx1"/>
                </a:solidFill>
                <a:effectLst/>
              </a:rPr>
              <a:t>int i, j, t, a[N]; </a:t>
            </a:r>
          </a:p>
          <a:p>
            <a:pPr marL="0" indent="0">
              <a:lnSpc>
                <a:spcPct val="90000"/>
              </a:lnSpc>
              <a:buNone/>
            </a:pPr>
            <a:r>
              <a:rPr lang="en-US" altLang="zh-CN" sz="2200" dirty="0">
                <a:solidFill>
                  <a:schemeClr val="tx1"/>
                </a:solidFill>
                <a:effectLst/>
              </a:rPr>
              <a:t>    for(i = 0; i &lt; N; i</a:t>
            </a:r>
            <a:r>
              <a:rPr lang="en-US" altLang="zh-CN" sz="2200" dirty="0" smtClean="0">
                <a:solidFill>
                  <a:schemeClr val="tx1"/>
                </a:solidFill>
                <a:effectLst/>
              </a:rPr>
              <a:t>++) </a:t>
            </a:r>
            <a:r>
              <a:rPr lang="en-US" altLang="zh-CN" sz="2200" dirty="0">
                <a:solidFill>
                  <a:schemeClr val="tx1"/>
                </a:solidFill>
                <a:effectLst/>
              </a:rPr>
              <a:t>scanf("%d", &amp;a[i]);</a:t>
            </a:r>
          </a:p>
          <a:p>
            <a:pPr marL="0" indent="0">
              <a:lnSpc>
                <a:spcPct val="90000"/>
              </a:lnSpc>
              <a:buNone/>
            </a:pPr>
            <a:r>
              <a:rPr lang="en-US" altLang="zh-CN" sz="2200" dirty="0">
                <a:solidFill>
                  <a:schemeClr val="tx1"/>
                </a:solidFill>
                <a:effectLst/>
              </a:rPr>
              <a:t>    for(i = 1; i &lt; N; i++)</a:t>
            </a:r>
          </a:p>
          <a:p>
            <a:pPr marL="0" indent="0">
              <a:lnSpc>
                <a:spcPct val="90000"/>
              </a:lnSpc>
              <a:buNone/>
            </a:pPr>
            <a:r>
              <a:rPr lang="en-US" altLang="zh-CN" sz="2200" dirty="0">
                <a:solidFill>
                  <a:schemeClr val="tx1"/>
                </a:solidFill>
                <a:effectLst/>
              </a:rPr>
              <a:t>       for(j = 0; j &lt; N-i; j++)</a:t>
            </a:r>
          </a:p>
          <a:p>
            <a:pPr marL="0" indent="0">
              <a:lnSpc>
                <a:spcPct val="90000"/>
              </a:lnSpc>
              <a:buNone/>
            </a:pPr>
            <a:r>
              <a:rPr lang="en-US" altLang="zh-CN" sz="2200" dirty="0">
                <a:solidFill>
                  <a:schemeClr val="tx1"/>
                </a:solidFill>
                <a:effectLst/>
              </a:rPr>
              <a:t>	      if(a[j]&lt;a[j+1</a:t>
            </a:r>
            <a:r>
              <a:rPr lang="en-US" altLang="zh-CN" sz="2200" dirty="0" smtClean="0">
                <a:solidFill>
                  <a:schemeClr val="tx1"/>
                </a:solidFill>
                <a:effectLst/>
              </a:rPr>
              <a:t>])</a:t>
            </a:r>
          </a:p>
          <a:p>
            <a:pPr marL="0" indent="0">
              <a:lnSpc>
                <a:spcPct val="90000"/>
              </a:lnSpc>
              <a:buNone/>
            </a:pPr>
            <a:r>
              <a:rPr lang="en-US" altLang="zh-CN" sz="2200" dirty="0">
                <a:solidFill>
                  <a:schemeClr val="tx1"/>
                </a:solidFill>
                <a:effectLst/>
              </a:rPr>
              <a:t> </a:t>
            </a:r>
            <a:r>
              <a:rPr lang="en-US" altLang="zh-CN" sz="2200" dirty="0" smtClean="0">
                <a:solidFill>
                  <a:schemeClr val="tx1"/>
                </a:solidFill>
                <a:effectLst/>
              </a:rPr>
              <a:t>               </a:t>
            </a:r>
            <a:r>
              <a:rPr lang="en-US" altLang="zh-CN" sz="2200" dirty="0">
                <a:solidFill>
                  <a:schemeClr val="tx1"/>
                </a:solidFill>
                <a:effectLst/>
              </a:rPr>
              <a:t>{</a:t>
            </a:r>
          </a:p>
          <a:p>
            <a:pPr marL="0" indent="0">
              <a:lnSpc>
                <a:spcPct val="90000"/>
              </a:lnSpc>
              <a:buNone/>
            </a:pPr>
            <a:r>
              <a:rPr lang="en-US" altLang="zh-CN" sz="2200" dirty="0">
                <a:solidFill>
                  <a:schemeClr val="tx1"/>
                </a:solidFill>
                <a:effectLst/>
              </a:rPr>
              <a:t>	         t = a[j];</a:t>
            </a:r>
          </a:p>
          <a:p>
            <a:pPr marL="0" indent="0">
              <a:lnSpc>
                <a:spcPct val="90000"/>
              </a:lnSpc>
              <a:buNone/>
            </a:pPr>
            <a:r>
              <a:rPr lang="en-US" altLang="zh-CN" sz="2200" dirty="0">
                <a:solidFill>
                  <a:schemeClr val="tx1"/>
                </a:solidFill>
                <a:effectLst/>
              </a:rPr>
              <a:t>	         a[j] = a[j+1];</a:t>
            </a:r>
          </a:p>
          <a:p>
            <a:pPr marL="0" indent="0">
              <a:lnSpc>
                <a:spcPct val="90000"/>
              </a:lnSpc>
              <a:buNone/>
            </a:pPr>
            <a:r>
              <a:rPr lang="en-US" altLang="zh-CN" sz="2200" dirty="0">
                <a:solidFill>
                  <a:schemeClr val="tx1"/>
                </a:solidFill>
                <a:effectLst/>
              </a:rPr>
              <a:t>	         a[j+1] = t;</a:t>
            </a:r>
          </a:p>
          <a:p>
            <a:pPr marL="0" indent="0">
              <a:lnSpc>
                <a:spcPct val="90000"/>
              </a:lnSpc>
              <a:buNone/>
            </a:pPr>
            <a:r>
              <a:rPr lang="en-US" altLang="zh-CN" sz="2200" dirty="0">
                <a:solidFill>
                  <a:schemeClr val="tx1"/>
                </a:solidFill>
                <a:effectLst/>
              </a:rPr>
              <a:t>	      </a:t>
            </a:r>
            <a:r>
              <a:rPr lang="en-US" altLang="zh-CN" sz="2200" dirty="0" smtClean="0">
                <a:solidFill>
                  <a:schemeClr val="tx1"/>
                </a:solidFill>
                <a:effectLst/>
              </a:rPr>
              <a:t>}</a:t>
            </a:r>
            <a:endParaRPr lang="en-US" altLang="zh-CN" sz="2200" dirty="0">
              <a:solidFill>
                <a:schemeClr val="tx1"/>
              </a:solidFill>
              <a:effectLst/>
            </a:endParaRPr>
          </a:p>
          <a:p>
            <a:pPr marL="0" indent="0">
              <a:lnSpc>
                <a:spcPct val="90000"/>
              </a:lnSpc>
              <a:buNone/>
            </a:pPr>
            <a:r>
              <a:rPr lang="en-US" altLang="zh-CN" sz="2200" dirty="0">
                <a:solidFill>
                  <a:schemeClr val="tx1"/>
                </a:solidFill>
                <a:effectLst/>
              </a:rPr>
              <a:t> </a:t>
            </a:r>
            <a:r>
              <a:rPr lang="en-US" altLang="zh-CN" sz="2200" dirty="0" smtClean="0">
                <a:solidFill>
                  <a:schemeClr val="tx1"/>
                </a:solidFill>
                <a:effectLst/>
              </a:rPr>
              <a:t>   for(i</a:t>
            </a:r>
            <a:r>
              <a:rPr lang="en-US" altLang="zh-CN" sz="2200" dirty="0">
                <a:solidFill>
                  <a:schemeClr val="tx1"/>
                </a:solidFill>
                <a:effectLst/>
              </a:rPr>
              <a:t>= 0; i&lt; N; i</a:t>
            </a:r>
            <a:r>
              <a:rPr lang="en-US" altLang="zh-CN" sz="2200" dirty="0" smtClean="0">
                <a:solidFill>
                  <a:schemeClr val="tx1"/>
                </a:solidFill>
                <a:effectLst/>
              </a:rPr>
              <a:t>++) printf</a:t>
            </a:r>
            <a:r>
              <a:rPr lang="en-US" altLang="zh-CN" sz="2200" dirty="0">
                <a:solidFill>
                  <a:schemeClr val="tx1"/>
                </a:solidFill>
                <a:effectLst/>
              </a:rPr>
              <a:t>("%4d",a[i]);</a:t>
            </a:r>
          </a:p>
          <a:p>
            <a:pPr marL="0" indent="0">
              <a:lnSpc>
                <a:spcPct val="90000"/>
              </a:lnSpc>
              <a:buNone/>
            </a:pPr>
            <a:r>
              <a:rPr lang="en-US" altLang="zh-CN" sz="2200" dirty="0" smtClean="0">
                <a:solidFill>
                  <a:schemeClr val="tx1"/>
                </a:solidFill>
                <a:effectLst/>
              </a:rPr>
              <a:t>    return </a:t>
            </a:r>
            <a:r>
              <a:rPr lang="en-US" altLang="zh-CN" sz="2200" dirty="0">
                <a:solidFill>
                  <a:schemeClr val="tx1"/>
                </a:solidFill>
                <a:effectLst/>
              </a:rPr>
              <a:t>0</a:t>
            </a:r>
            <a:r>
              <a:rPr lang="en-US" altLang="zh-CN" sz="2200" dirty="0" smtClean="0">
                <a:solidFill>
                  <a:schemeClr val="tx1"/>
                </a:solidFill>
                <a:effectLst/>
              </a:rPr>
              <a:t>;        </a:t>
            </a:r>
          </a:p>
          <a:p>
            <a:pPr marL="0" indent="0">
              <a:lnSpc>
                <a:spcPct val="90000"/>
              </a:lnSpc>
              <a:buNone/>
            </a:pPr>
            <a:r>
              <a:rPr lang="en-US" altLang="zh-CN" sz="2200" dirty="0" smtClean="0">
                <a:solidFill>
                  <a:schemeClr val="tx1"/>
                </a:solidFill>
                <a:effectLst/>
              </a:rPr>
              <a:t> }</a:t>
            </a:r>
            <a:endParaRPr lang="en-US" altLang="zh-CN" sz="2200" dirty="0">
              <a:solidFill>
                <a:schemeClr val="tx1"/>
              </a:solidFill>
              <a:effectLst/>
            </a:endParaRPr>
          </a:p>
          <a:p>
            <a:pPr marL="0" indent="0">
              <a:lnSpc>
                <a:spcPct val="90000"/>
              </a:lnSpc>
              <a:buNone/>
            </a:pPr>
            <a:endParaRPr lang="en-US" altLang="zh-CN" sz="1600" b="0" dirty="0">
              <a:solidFill>
                <a:schemeClr val="tx1"/>
              </a:solidFill>
              <a:effectLst/>
            </a:endParaRPr>
          </a:p>
          <a:p>
            <a:pPr marL="0" indent="0">
              <a:lnSpc>
                <a:spcPct val="90000"/>
              </a:lnSpc>
              <a:buNone/>
            </a:pPr>
            <a:endParaRPr lang="zh-CN" altLang="en-US" sz="1600" b="0" dirty="0" smtClean="0">
              <a:solidFill>
                <a:schemeClr val="tx1"/>
              </a:solidFill>
              <a:effectLst/>
            </a:endParaRPr>
          </a:p>
          <a:p>
            <a:pPr marL="0" indent="0">
              <a:lnSpc>
                <a:spcPct val="90000"/>
              </a:lnSpc>
              <a:buNone/>
            </a:pPr>
            <a:endParaRPr lang="en-US" sz="1600" b="0" dirty="0">
              <a:solidFill>
                <a:schemeClr val="tx1"/>
              </a:solidFill>
              <a:effectLst/>
            </a:endParaRPr>
          </a:p>
        </p:txBody>
      </p:sp>
      <p:graphicFrame>
        <p:nvGraphicFramePr>
          <p:cNvPr id="5" name="表格 4"/>
          <p:cNvGraphicFramePr>
            <a:graphicFrameLocks noGrp="1"/>
          </p:cNvGraphicFramePr>
          <p:nvPr>
            <p:extLst>
              <p:ext uri="{D42A27DB-BD31-4B8C-83A1-F6EECF244321}">
                <p14:modId xmlns:p14="http://schemas.microsoft.com/office/powerpoint/2010/main" val="1991891255"/>
              </p:ext>
            </p:extLst>
          </p:nvPr>
        </p:nvGraphicFramePr>
        <p:xfrm>
          <a:off x="7236296" y="692696"/>
          <a:ext cx="576064" cy="457200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xmlns="" val="1416406016"/>
                    </a:ext>
                  </a:extLst>
                </a:gridCol>
              </a:tblGrid>
              <a:tr h="370840">
                <a:tc>
                  <a:txBody>
                    <a:bodyPr/>
                    <a:lstStyle/>
                    <a:p>
                      <a:pPr algn="ctr"/>
                      <a:r>
                        <a:rPr lang="en-US" altLang="zh-CN" sz="2400" b="1" dirty="0" smtClean="0"/>
                        <a:t>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algn="ctr"/>
                      <a:r>
                        <a:rPr lang="en-US" altLang="zh-CN" sz="2400" b="1" dirty="0" smtClean="0"/>
                        <a:t>43</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algn="ctr"/>
                      <a:r>
                        <a:rPr lang="en-US" altLang="zh-CN" sz="2400" b="1" dirty="0" smtClean="0"/>
                        <a:t>4</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algn="ctr"/>
                      <a:r>
                        <a:rPr lang="en-US" altLang="zh-CN" sz="2400" b="1" dirty="0" smtClean="0"/>
                        <a:t>21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algn="ctr"/>
                      <a:r>
                        <a:rPr lang="en-US" altLang="zh-CN" sz="2400" b="1" dirty="0" smtClean="0"/>
                        <a:t>12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algn="ctr"/>
                      <a:r>
                        <a:rPr lang="en-US" altLang="zh-CN" sz="2400" b="1" dirty="0" smtClean="0"/>
                        <a:t>11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algn="ctr"/>
                      <a:r>
                        <a:rPr lang="en-US" altLang="zh-CN" sz="2400" b="1" dirty="0" smtClean="0"/>
                        <a:t>38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algn="ctr"/>
                      <a:r>
                        <a:rPr lang="en-US" altLang="zh-CN" sz="2400" b="1" dirty="0" smtClean="0"/>
                        <a:t>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4101166783"/>
              </p:ext>
            </p:extLst>
          </p:nvPr>
        </p:nvGraphicFramePr>
        <p:xfrm>
          <a:off x="6381876" y="692696"/>
          <a:ext cx="658965" cy="4572000"/>
        </p:xfrm>
        <a:graphic>
          <a:graphicData uri="http://schemas.openxmlformats.org/drawingml/2006/table">
            <a:tbl>
              <a:tblPr firstRow="1" bandRow="1">
                <a:tableStyleId>{5C22544A-7EE6-4342-B048-85BDC9FD1C3A}</a:tableStyleId>
              </a:tblPr>
              <a:tblGrid>
                <a:gridCol w="658965">
                  <a:extLst>
                    <a:ext uri="{9D8B030D-6E8A-4147-A177-3AD203B41FA5}">
                      <a16:colId xmlns:a16="http://schemas.microsoft.com/office/drawing/2014/main" xmlns="" val="1416406016"/>
                    </a:ext>
                  </a:extLst>
                </a:gridCol>
              </a:tblGrid>
              <a:tr h="370840">
                <a:tc>
                  <a:txBody>
                    <a:bodyPr/>
                    <a:lstStyle/>
                    <a:p>
                      <a:pPr algn="ctr"/>
                      <a:r>
                        <a:rPr lang="en-US" altLang="zh-CN" sz="2400" b="1" dirty="0" smtClean="0"/>
                        <a:t>a[0]</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a[1]</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a[2]</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a[3]</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a[4]</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a[5]</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a[6]</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a[7]</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a[8]</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a[9]</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spTree>
    <p:extLst>
      <p:ext uri="{BB962C8B-B14F-4D97-AF65-F5344CB8AC3E}">
        <p14:creationId xmlns:p14="http://schemas.microsoft.com/office/powerpoint/2010/main" val="2768954714"/>
      </p:ext>
    </p:extLst>
  </p:cSld>
  <p:clrMapOvr>
    <a:masterClrMapping/>
  </p:clrMapOvr>
  <p:transition spd="med">
    <p:random/>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1"/>
          </p:nvPr>
        </p:nvSpPr>
        <p:spPr/>
        <p:txBody>
          <a:bodyPr/>
          <a:lstStyle/>
          <a:p>
            <a:pPr>
              <a:defRPr/>
            </a:pPr>
            <a:fld id="{56636351-7D5B-47CE-B54D-C31E7589E5E2}" type="slidenum">
              <a:rPr lang="en-US" altLang="zh-CN" smtClean="0"/>
              <a:pPr>
                <a:defRPr/>
              </a:pPr>
              <a:t>59</a:t>
            </a:fld>
            <a:endParaRPr lang="en-US" altLang="zh-CN" dirty="0"/>
          </a:p>
        </p:txBody>
      </p:sp>
      <p:sp>
        <p:nvSpPr>
          <p:cNvPr id="3" name="TextBox 2"/>
          <p:cNvSpPr txBox="1"/>
          <p:nvPr/>
        </p:nvSpPr>
        <p:spPr>
          <a:xfrm>
            <a:off x="900843" y="668201"/>
            <a:ext cx="6711032" cy="1200329"/>
          </a:xfrm>
          <a:prstGeom prst="rect">
            <a:avLst/>
          </a:prstGeom>
          <a:noFill/>
        </p:spPr>
        <p:txBody>
          <a:bodyPr wrap="square" rtlCol="0">
            <a:spAutoFit/>
          </a:bodyPr>
          <a:lstStyle/>
          <a:p>
            <a:r>
              <a:rPr lang="en-US" altLang="zh-CN" sz="2400" b="1" dirty="0" smtClean="0"/>
              <a:t>N=10</a:t>
            </a:r>
            <a:r>
              <a:rPr lang="zh-CN" altLang="en-US" sz="2400" b="1" dirty="0" smtClean="0"/>
              <a:t>（大数上浮）</a:t>
            </a:r>
            <a:endParaRPr lang="en-US" altLang="zh-CN" sz="2400" b="1" dirty="0" smtClean="0"/>
          </a:p>
          <a:p>
            <a:r>
              <a:rPr lang="zh-CN" altLang="en-US" sz="2400" b="1" dirty="0" smtClean="0"/>
              <a:t>输入</a:t>
            </a:r>
            <a:r>
              <a:rPr lang="zh-CN" altLang="en-US" sz="2400" b="1" dirty="0"/>
              <a:t>数：</a:t>
            </a:r>
            <a:r>
              <a:rPr lang="en-US" altLang="zh-CN" sz="2400" b="1" dirty="0" smtClean="0"/>
              <a:t>1 43 2 4 21 12 11 38 8 2     </a:t>
            </a:r>
          </a:p>
          <a:p>
            <a:r>
              <a:rPr lang="zh-CN" altLang="en-US" sz="2400" b="1" dirty="0" smtClean="0"/>
              <a:t>外循环</a:t>
            </a:r>
            <a:r>
              <a:rPr lang="en-US" altLang="zh-CN" sz="2400" b="1" dirty="0" smtClean="0"/>
              <a:t>N-1</a:t>
            </a:r>
            <a:r>
              <a:rPr lang="zh-CN" altLang="en-US" sz="2400" b="1" dirty="0" smtClean="0"/>
              <a:t>（</a:t>
            </a:r>
            <a:r>
              <a:rPr lang="en-US" altLang="zh-CN" sz="2400" b="1" dirty="0" smtClean="0"/>
              <a:t>9</a:t>
            </a:r>
            <a:r>
              <a:rPr lang="zh-CN" altLang="en-US" sz="2400" b="1" dirty="0" smtClean="0"/>
              <a:t>）次，内循环</a:t>
            </a:r>
            <a:r>
              <a:rPr lang="en-US" altLang="zh-CN" sz="2400" b="1" dirty="0" smtClean="0"/>
              <a:t>N-i</a:t>
            </a:r>
            <a:r>
              <a:rPr lang="zh-CN" altLang="en-US" sz="2400" b="1" dirty="0" smtClean="0"/>
              <a:t>（</a:t>
            </a:r>
            <a:r>
              <a:rPr lang="en-US" altLang="zh-CN" sz="2400" b="1" dirty="0" smtClean="0"/>
              <a:t>10-i</a:t>
            </a:r>
            <a:r>
              <a:rPr lang="zh-CN" altLang="en-US" sz="2400" b="1" dirty="0" smtClean="0"/>
              <a:t>）次</a:t>
            </a:r>
            <a:endParaRPr lang="zh-CN" altLang="en-US" sz="2400" b="1" dirty="0"/>
          </a:p>
        </p:txBody>
      </p:sp>
      <p:graphicFrame>
        <p:nvGraphicFramePr>
          <p:cNvPr id="4" name="表格 3"/>
          <p:cNvGraphicFramePr>
            <a:graphicFrameLocks noGrp="1"/>
          </p:cNvGraphicFramePr>
          <p:nvPr>
            <p:extLst>
              <p:ext uri="{D42A27DB-BD31-4B8C-83A1-F6EECF244321}">
                <p14:modId xmlns:p14="http://schemas.microsoft.com/office/powerpoint/2010/main" val="177022387"/>
              </p:ext>
            </p:extLst>
          </p:nvPr>
        </p:nvGraphicFramePr>
        <p:xfrm>
          <a:off x="1599884" y="2204864"/>
          <a:ext cx="576064" cy="457200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xmlns="" val="1416406016"/>
                    </a:ext>
                  </a:extLst>
                </a:gridCol>
              </a:tblGrid>
              <a:tr h="370840">
                <a:tc>
                  <a:txBody>
                    <a:bodyPr/>
                    <a:lstStyle/>
                    <a:p>
                      <a:pPr algn="ctr"/>
                      <a:r>
                        <a:rPr lang="en-US" altLang="zh-CN" sz="2400" b="1" dirty="0" smtClean="0">
                          <a:solidFill>
                            <a:srgbClr val="FF0000"/>
                          </a:solidFill>
                        </a:rPr>
                        <a:t>43</a:t>
                      </a:r>
                      <a:endParaRPr lang="zh-CN" altLang="en-US" sz="24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algn="ctr"/>
                      <a:r>
                        <a:rPr lang="en-US" altLang="zh-CN" sz="2400" b="1" dirty="0" smtClean="0"/>
                        <a:t>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algn="ctr"/>
                      <a:r>
                        <a:rPr lang="en-US" altLang="zh-CN" sz="2400" b="1" dirty="0" smtClean="0"/>
                        <a:t>38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algn="ctr"/>
                      <a:r>
                        <a:rPr lang="en-US" altLang="zh-CN" sz="2400" b="1" dirty="0" smtClean="0"/>
                        <a:t>4</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algn="ctr"/>
                      <a:r>
                        <a:rPr lang="en-US" altLang="zh-CN" sz="2400" b="1" dirty="0" smtClean="0"/>
                        <a:t>21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algn="ctr"/>
                      <a:r>
                        <a:rPr lang="en-US" altLang="zh-CN" sz="2400" b="1" dirty="0" smtClean="0"/>
                        <a:t>12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algn="ctr"/>
                      <a:r>
                        <a:rPr lang="en-US" altLang="zh-CN" sz="2400" b="1" dirty="0" smtClean="0"/>
                        <a:t>11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algn="ctr"/>
                      <a:r>
                        <a:rPr lang="en-US" altLang="zh-CN" sz="2400" b="1" dirty="0" smtClean="0"/>
                        <a:t>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algn="ctr"/>
                      <a:r>
                        <a:rPr lang="en-US" altLang="zh-CN" sz="2400" b="1" dirty="0" smtClean="0">
                          <a:solidFill>
                            <a:schemeClr val="tx1"/>
                          </a:solidFill>
                        </a:rPr>
                        <a:t>2</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16713242"/>
              </p:ext>
            </p:extLst>
          </p:nvPr>
        </p:nvGraphicFramePr>
        <p:xfrm>
          <a:off x="971600" y="2204864"/>
          <a:ext cx="576064" cy="457200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xmlns="" val="1416406016"/>
                    </a:ext>
                  </a:extLst>
                </a:gridCol>
              </a:tblGrid>
              <a:tr h="370840">
                <a:tc>
                  <a:txBody>
                    <a:bodyPr/>
                    <a:lstStyle/>
                    <a:p>
                      <a:pPr algn="ctr"/>
                      <a:r>
                        <a:rPr lang="en-US" altLang="zh-CN" sz="2400" b="1" dirty="0" smtClean="0"/>
                        <a:t>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algn="ctr"/>
                      <a:r>
                        <a:rPr lang="en-US" altLang="zh-CN" sz="2400" b="1" dirty="0" smtClean="0"/>
                        <a:t>43</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algn="ctr"/>
                      <a:r>
                        <a:rPr lang="en-US" altLang="zh-CN" sz="2400" b="1" dirty="0" smtClean="0"/>
                        <a:t>4</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algn="ctr"/>
                      <a:r>
                        <a:rPr lang="en-US" altLang="zh-CN" sz="2400" b="1" dirty="0" smtClean="0"/>
                        <a:t>21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algn="ctr"/>
                      <a:r>
                        <a:rPr lang="en-US" altLang="zh-CN" sz="2400" b="1" dirty="0" smtClean="0"/>
                        <a:t>12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algn="ctr"/>
                      <a:r>
                        <a:rPr lang="en-US" altLang="zh-CN" sz="2400" b="1" dirty="0" smtClean="0"/>
                        <a:t>11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algn="ctr"/>
                      <a:r>
                        <a:rPr lang="en-US" altLang="zh-CN" sz="2400" b="1" dirty="0" smtClean="0"/>
                        <a:t>38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algn="ctr"/>
                      <a:r>
                        <a:rPr lang="en-US" altLang="zh-CN" sz="2400" b="1" dirty="0" smtClean="0"/>
                        <a:t>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graphicFrame>
        <p:nvGraphicFramePr>
          <p:cNvPr id="14" name="表格 13"/>
          <p:cNvGraphicFramePr>
            <a:graphicFrameLocks noGrp="1"/>
          </p:cNvGraphicFramePr>
          <p:nvPr>
            <p:extLst>
              <p:ext uri="{D42A27DB-BD31-4B8C-83A1-F6EECF244321}">
                <p14:modId xmlns:p14="http://schemas.microsoft.com/office/powerpoint/2010/main" val="1081596052"/>
              </p:ext>
            </p:extLst>
          </p:nvPr>
        </p:nvGraphicFramePr>
        <p:xfrm>
          <a:off x="2267013" y="2204864"/>
          <a:ext cx="576064" cy="457200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xmlns="" val="1416406016"/>
                    </a:ext>
                  </a:extLst>
                </a:gridCol>
              </a:tblGrid>
              <a:tr h="370840">
                <a:tc>
                  <a:txBody>
                    <a:bodyPr/>
                    <a:lstStyle/>
                    <a:p>
                      <a:pPr algn="ctr"/>
                      <a:r>
                        <a:rPr lang="en-US" altLang="zh-CN" sz="2400" b="1" dirty="0" smtClean="0"/>
                        <a:t>43</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algn="ctr"/>
                      <a:r>
                        <a:rPr lang="en-US" altLang="zh-CN" sz="2400" b="1" dirty="0" smtClean="0">
                          <a:solidFill>
                            <a:srgbClr val="FF0000"/>
                          </a:solidFill>
                        </a:rPr>
                        <a:t>38</a:t>
                      </a:r>
                      <a:endParaRPr lang="zh-CN" altLang="en-US" sz="24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algn="ctr"/>
                      <a:r>
                        <a:rPr lang="en-US" altLang="zh-CN" sz="2400" b="1" dirty="0" smtClean="0"/>
                        <a:t>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algn="ctr"/>
                      <a:r>
                        <a:rPr lang="en-US" altLang="zh-CN" sz="2400" b="1" dirty="0" smtClean="0"/>
                        <a:t>21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algn="ctr"/>
                      <a:r>
                        <a:rPr lang="en-US" altLang="zh-CN" sz="2400" b="1" dirty="0" smtClean="0"/>
                        <a:t>4</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algn="ctr"/>
                      <a:r>
                        <a:rPr lang="en-US" altLang="zh-CN" sz="2400" b="1" dirty="0" smtClean="0"/>
                        <a:t>12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algn="ctr"/>
                      <a:r>
                        <a:rPr lang="en-US" altLang="zh-CN" sz="2400" b="1" dirty="0" smtClean="0"/>
                        <a:t>11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algn="ctr"/>
                      <a:r>
                        <a:rPr lang="en-US" altLang="zh-CN" sz="2400" b="1" dirty="0" smtClean="0">
                          <a:solidFill>
                            <a:schemeClr val="tx1"/>
                          </a:solidFill>
                        </a:rPr>
                        <a:t>8</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graphicFrame>
        <p:nvGraphicFramePr>
          <p:cNvPr id="15" name="表格 14"/>
          <p:cNvGraphicFramePr>
            <a:graphicFrameLocks noGrp="1"/>
          </p:cNvGraphicFramePr>
          <p:nvPr>
            <p:extLst>
              <p:ext uri="{D42A27DB-BD31-4B8C-83A1-F6EECF244321}">
                <p14:modId xmlns:p14="http://schemas.microsoft.com/office/powerpoint/2010/main" val="2248375079"/>
              </p:ext>
            </p:extLst>
          </p:nvPr>
        </p:nvGraphicFramePr>
        <p:xfrm>
          <a:off x="2934142" y="2204864"/>
          <a:ext cx="576064" cy="457200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xmlns="" val="1416406016"/>
                    </a:ext>
                  </a:extLst>
                </a:gridCol>
              </a:tblGrid>
              <a:tr h="370840">
                <a:tc>
                  <a:txBody>
                    <a:bodyPr/>
                    <a:lstStyle/>
                    <a:p>
                      <a:pPr algn="ctr"/>
                      <a:r>
                        <a:rPr lang="en-US" altLang="zh-CN" sz="2400" b="1" dirty="0" smtClean="0"/>
                        <a:t>43</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algn="ctr"/>
                      <a:r>
                        <a:rPr lang="en-US" altLang="zh-CN" sz="2400" b="1" dirty="0" smtClean="0"/>
                        <a:t>38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algn="ctr"/>
                      <a:r>
                        <a:rPr lang="en-US" altLang="zh-CN" sz="2400" b="1" dirty="0" smtClean="0">
                          <a:solidFill>
                            <a:srgbClr val="FF0000"/>
                          </a:solidFill>
                        </a:rPr>
                        <a:t>21</a:t>
                      </a:r>
                      <a:endParaRPr lang="zh-CN" altLang="en-US" sz="24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algn="ctr"/>
                      <a:r>
                        <a:rPr lang="en-US" altLang="zh-CN" sz="2400" b="1" dirty="0" smtClean="0"/>
                        <a:t>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algn="ctr"/>
                      <a:r>
                        <a:rPr lang="en-US" altLang="zh-CN" sz="2400" b="1" dirty="0" smtClean="0"/>
                        <a:t>12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algn="ctr"/>
                      <a:r>
                        <a:rPr lang="en-US" altLang="zh-CN" sz="2400" b="1" dirty="0" smtClean="0"/>
                        <a:t>4</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algn="ctr"/>
                      <a:r>
                        <a:rPr lang="en-US" altLang="zh-CN" sz="2400" b="1" dirty="0" smtClean="0">
                          <a:solidFill>
                            <a:schemeClr val="tx1"/>
                          </a:solidFill>
                        </a:rPr>
                        <a:t>11</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algn="ctr"/>
                      <a:r>
                        <a:rPr lang="en-US" altLang="zh-CN" sz="2400" b="1" dirty="0" smtClean="0"/>
                        <a:t>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graphicFrame>
        <p:nvGraphicFramePr>
          <p:cNvPr id="16" name="表格 15"/>
          <p:cNvGraphicFramePr>
            <a:graphicFrameLocks noGrp="1"/>
          </p:cNvGraphicFramePr>
          <p:nvPr>
            <p:extLst>
              <p:ext uri="{D42A27DB-BD31-4B8C-83A1-F6EECF244321}">
                <p14:modId xmlns:p14="http://schemas.microsoft.com/office/powerpoint/2010/main" val="3950004704"/>
              </p:ext>
            </p:extLst>
          </p:nvPr>
        </p:nvGraphicFramePr>
        <p:xfrm>
          <a:off x="3601271" y="2204864"/>
          <a:ext cx="576064" cy="457200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xmlns="" val="1416406016"/>
                    </a:ext>
                  </a:extLst>
                </a:gridCol>
              </a:tblGrid>
              <a:tr h="370840">
                <a:tc>
                  <a:txBody>
                    <a:bodyPr/>
                    <a:lstStyle/>
                    <a:p>
                      <a:pPr algn="ctr"/>
                      <a:r>
                        <a:rPr lang="en-US" altLang="zh-CN" sz="2400" b="1" dirty="0" smtClean="0"/>
                        <a:t>43</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algn="ctr"/>
                      <a:r>
                        <a:rPr lang="en-US" altLang="zh-CN" sz="2400" b="1" dirty="0" smtClean="0"/>
                        <a:t>38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algn="ctr"/>
                      <a:r>
                        <a:rPr lang="en-US" altLang="zh-CN" sz="2400" b="1" dirty="0" smtClean="0"/>
                        <a:t>21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algn="ctr"/>
                      <a:r>
                        <a:rPr lang="en-US" altLang="zh-CN" sz="2400" b="1" dirty="0" smtClean="0">
                          <a:solidFill>
                            <a:srgbClr val="FF0000"/>
                          </a:solidFill>
                        </a:rPr>
                        <a:t>12</a:t>
                      </a:r>
                      <a:endParaRPr lang="zh-CN" altLang="en-US" sz="24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algn="ctr"/>
                      <a:r>
                        <a:rPr lang="en-US" altLang="zh-CN" sz="2400" b="1" dirty="0" smtClean="0"/>
                        <a:t>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algn="ctr"/>
                      <a:r>
                        <a:rPr lang="en-US" altLang="zh-CN" sz="2400" b="1" dirty="0" smtClean="0"/>
                        <a:t>11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marL="0" algn="ctr" defTabSz="914400" rtl="0" eaLnBrk="1" latinLnBrk="0" hangingPunct="1"/>
                      <a:r>
                        <a:rPr lang="en-US" altLang="zh-CN" sz="2400" b="1" kern="1200" dirty="0" smtClean="0">
                          <a:solidFill>
                            <a:schemeClr val="tx1"/>
                          </a:solidFill>
                          <a:latin typeface="+mn-lt"/>
                          <a:ea typeface="+mn-ea"/>
                          <a:cs typeface="+mn-cs"/>
                        </a:rPr>
                        <a:t>2</a:t>
                      </a:r>
                      <a:endParaRPr lang="zh-CN" altLang="en-US" sz="2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algn="ctr"/>
                      <a:r>
                        <a:rPr lang="en-US" altLang="zh-CN" sz="2400" b="1" dirty="0" smtClean="0"/>
                        <a:t>4</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algn="ctr"/>
                      <a:r>
                        <a:rPr lang="en-US" altLang="zh-CN" sz="2400" b="1" dirty="0" smtClean="0"/>
                        <a:t>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sp>
        <p:nvSpPr>
          <p:cNvPr id="17" name="矩形 16"/>
          <p:cNvSpPr/>
          <p:nvPr/>
        </p:nvSpPr>
        <p:spPr bwMode="auto">
          <a:xfrm>
            <a:off x="1599884" y="1869584"/>
            <a:ext cx="570661" cy="27325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1</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sp>
        <p:nvSpPr>
          <p:cNvPr id="18" name="矩形 17"/>
          <p:cNvSpPr/>
          <p:nvPr/>
        </p:nvSpPr>
        <p:spPr bwMode="auto">
          <a:xfrm>
            <a:off x="2267013" y="1869584"/>
            <a:ext cx="570661" cy="27325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2</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sp>
        <p:nvSpPr>
          <p:cNvPr id="19" name="矩形 18"/>
          <p:cNvSpPr/>
          <p:nvPr/>
        </p:nvSpPr>
        <p:spPr bwMode="auto">
          <a:xfrm>
            <a:off x="2927679" y="1869584"/>
            <a:ext cx="570661" cy="27325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3</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sp>
        <p:nvSpPr>
          <p:cNvPr id="20" name="矩形 19"/>
          <p:cNvSpPr/>
          <p:nvPr/>
        </p:nvSpPr>
        <p:spPr bwMode="auto">
          <a:xfrm>
            <a:off x="3606674" y="1869584"/>
            <a:ext cx="570661" cy="27325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4</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sp>
        <p:nvSpPr>
          <p:cNvPr id="21" name="矩形 20"/>
          <p:cNvSpPr/>
          <p:nvPr/>
        </p:nvSpPr>
        <p:spPr bwMode="auto">
          <a:xfrm>
            <a:off x="4321900" y="1869584"/>
            <a:ext cx="570661" cy="27325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5</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sp>
        <p:nvSpPr>
          <p:cNvPr id="22" name="矩形 21"/>
          <p:cNvSpPr/>
          <p:nvPr/>
        </p:nvSpPr>
        <p:spPr bwMode="auto">
          <a:xfrm>
            <a:off x="5007807" y="1869057"/>
            <a:ext cx="570661" cy="27325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6</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sp>
        <p:nvSpPr>
          <p:cNvPr id="23" name="矩形 22"/>
          <p:cNvSpPr/>
          <p:nvPr/>
        </p:nvSpPr>
        <p:spPr bwMode="auto">
          <a:xfrm>
            <a:off x="5682908" y="1887002"/>
            <a:ext cx="570661" cy="27325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7</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sp>
        <p:nvSpPr>
          <p:cNvPr id="24" name="矩形 23"/>
          <p:cNvSpPr/>
          <p:nvPr/>
        </p:nvSpPr>
        <p:spPr bwMode="auto">
          <a:xfrm>
            <a:off x="6366113" y="1858766"/>
            <a:ext cx="570661" cy="27325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8</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sp>
        <p:nvSpPr>
          <p:cNvPr id="25" name="矩形 24"/>
          <p:cNvSpPr/>
          <p:nvPr/>
        </p:nvSpPr>
        <p:spPr bwMode="auto">
          <a:xfrm>
            <a:off x="7041214" y="1868530"/>
            <a:ext cx="570661" cy="27325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9</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aphicFrame>
        <p:nvGraphicFramePr>
          <p:cNvPr id="26" name="表格 25"/>
          <p:cNvGraphicFramePr>
            <a:graphicFrameLocks noGrp="1"/>
          </p:cNvGraphicFramePr>
          <p:nvPr>
            <p:extLst>
              <p:ext uri="{D42A27DB-BD31-4B8C-83A1-F6EECF244321}">
                <p14:modId xmlns:p14="http://schemas.microsoft.com/office/powerpoint/2010/main" val="2876858709"/>
              </p:ext>
            </p:extLst>
          </p:nvPr>
        </p:nvGraphicFramePr>
        <p:xfrm>
          <a:off x="4333635" y="2204864"/>
          <a:ext cx="576064" cy="457200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xmlns="" val="1416406016"/>
                    </a:ext>
                  </a:extLst>
                </a:gridCol>
              </a:tblGrid>
              <a:tr h="370840">
                <a:tc>
                  <a:txBody>
                    <a:bodyPr/>
                    <a:lstStyle/>
                    <a:p>
                      <a:pPr algn="ctr"/>
                      <a:r>
                        <a:rPr lang="en-US" altLang="zh-CN" sz="2400" b="1" dirty="0" smtClean="0"/>
                        <a:t>43</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algn="ctr"/>
                      <a:r>
                        <a:rPr lang="en-US" altLang="zh-CN" sz="2400" b="1" dirty="0" smtClean="0"/>
                        <a:t>38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algn="ctr"/>
                      <a:r>
                        <a:rPr lang="en-US" altLang="zh-CN" sz="2400" b="1" dirty="0" smtClean="0"/>
                        <a:t>21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algn="ctr"/>
                      <a:r>
                        <a:rPr lang="en-US" altLang="zh-CN" sz="2400" b="1" dirty="0" smtClean="0"/>
                        <a:t>12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algn="ctr"/>
                      <a:r>
                        <a:rPr lang="en-US" altLang="zh-CN" sz="2400" b="1" dirty="0" smtClean="0">
                          <a:solidFill>
                            <a:srgbClr val="FF0000"/>
                          </a:solidFill>
                        </a:rPr>
                        <a:t>11</a:t>
                      </a:r>
                      <a:endParaRPr lang="zh-CN" altLang="en-US" sz="24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kern="1200" dirty="0" smtClean="0">
                          <a:solidFill>
                            <a:schemeClr val="tx1"/>
                          </a:solidFill>
                          <a:latin typeface="+mn-lt"/>
                          <a:ea typeface="+mn-ea"/>
                          <a:cs typeface="+mn-cs"/>
                        </a:rPr>
                        <a:t>1</a:t>
                      </a:r>
                      <a:endParaRPr lang="zh-CN" altLang="en-US" sz="2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algn="ctr"/>
                      <a:r>
                        <a:rPr lang="en-US" altLang="zh-CN" sz="2400" b="1" dirty="0" smtClean="0">
                          <a:solidFill>
                            <a:schemeClr val="tx1"/>
                          </a:solidFill>
                        </a:rPr>
                        <a:t>8</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algn="ctr"/>
                      <a:r>
                        <a:rPr lang="en-US" altLang="zh-CN" sz="2400" b="1" dirty="0" smtClean="0"/>
                        <a:t>4</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graphicFrame>
        <p:nvGraphicFramePr>
          <p:cNvPr id="27" name="表格 26"/>
          <p:cNvGraphicFramePr>
            <a:graphicFrameLocks noGrp="1"/>
          </p:cNvGraphicFramePr>
          <p:nvPr>
            <p:extLst>
              <p:ext uri="{D42A27DB-BD31-4B8C-83A1-F6EECF244321}">
                <p14:modId xmlns:p14="http://schemas.microsoft.com/office/powerpoint/2010/main" val="2138223031"/>
              </p:ext>
            </p:extLst>
          </p:nvPr>
        </p:nvGraphicFramePr>
        <p:xfrm>
          <a:off x="5014332" y="2204864"/>
          <a:ext cx="576064" cy="457200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xmlns="" val="1416406016"/>
                    </a:ext>
                  </a:extLst>
                </a:gridCol>
              </a:tblGrid>
              <a:tr h="370840">
                <a:tc>
                  <a:txBody>
                    <a:bodyPr/>
                    <a:lstStyle/>
                    <a:p>
                      <a:pPr algn="ctr"/>
                      <a:r>
                        <a:rPr lang="en-US" altLang="zh-CN" sz="2400" b="1" dirty="0" smtClean="0"/>
                        <a:t>43</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algn="ctr"/>
                      <a:r>
                        <a:rPr lang="en-US" altLang="zh-CN" sz="2400" b="1" dirty="0" smtClean="0"/>
                        <a:t>38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algn="ctr"/>
                      <a:r>
                        <a:rPr lang="en-US" altLang="zh-CN" sz="2400" b="1" dirty="0" smtClean="0"/>
                        <a:t>21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algn="ctr"/>
                      <a:r>
                        <a:rPr lang="en-US" altLang="zh-CN" sz="2400" b="1" dirty="0" smtClean="0"/>
                        <a:t>12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marL="0" algn="ctr" defTabSz="914400" rtl="0" eaLnBrk="1" latinLnBrk="0" hangingPunct="1"/>
                      <a:r>
                        <a:rPr lang="en-US" altLang="zh-CN" sz="2400" b="1" kern="1200" dirty="0" smtClean="0">
                          <a:solidFill>
                            <a:schemeClr val="tx1"/>
                          </a:solidFill>
                          <a:latin typeface="+mn-lt"/>
                          <a:ea typeface="+mn-ea"/>
                          <a:cs typeface="+mn-cs"/>
                        </a:rPr>
                        <a:t>11</a:t>
                      </a:r>
                      <a:endParaRPr lang="zh-CN" altLang="en-US" sz="2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solidFill>
                            <a:srgbClr val="FF0000"/>
                          </a:solidFill>
                        </a:rPr>
                        <a:t>8</a:t>
                      </a:r>
                      <a:endParaRPr lang="zh-CN" altLang="en-US" sz="24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algn="ctr"/>
                      <a:r>
                        <a:rPr lang="en-US" altLang="zh-CN" sz="2400" b="1" dirty="0" smtClean="0">
                          <a:solidFill>
                            <a:schemeClr val="tx1"/>
                          </a:solidFill>
                        </a:rPr>
                        <a:t>1</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algn="ctr"/>
                      <a:r>
                        <a:rPr lang="en-US" altLang="zh-CN" sz="2400" b="1" dirty="0" smtClean="0"/>
                        <a:t>4</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graphicFrame>
        <p:nvGraphicFramePr>
          <p:cNvPr id="28" name="表格 27"/>
          <p:cNvGraphicFramePr>
            <a:graphicFrameLocks noGrp="1"/>
          </p:cNvGraphicFramePr>
          <p:nvPr>
            <p:extLst>
              <p:ext uri="{D42A27DB-BD31-4B8C-83A1-F6EECF244321}">
                <p14:modId xmlns:p14="http://schemas.microsoft.com/office/powerpoint/2010/main" val="1027939340"/>
              </p:ext>
            </p:extLst>
          </p:nvPr>
        </p:nvGraphicFramePr>
        <p:xfrm>
          <a:off x="5697425" y="2204864"/>
          <a:ext cx="576064" cy="457200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xmlns="" val="1416406016"/>
                    </a:ext>
                  </a:extLst>
                </a:gridCol>
              </a:tblGrid>
              <a:tr h="370840">
                <a:tc>
                  <a:txBody>
                    <a:bodyPr/>
                    <a:lstStyle/>
                    <a:p>
                      <a:pPr algn="ctr"/>
                      <a:r>
                        <a:rPr lang="en-US" altLang="zh-CN" sz="2400" b="1" dirty="0" smtClean="0"/>
                        <a:t>43</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algn="ctr"/>
                      <a:r>
                        <a:rPr lang="en-US" altLang="zh-CN" sz="2400" b="1" dirty="0" smtClean="0"/>
                        <a:t>38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algn="ctr"/>
                      <a:r>
                        <a:rPr lang="en-US" altLang="zh-CN" sz="2400" b="1" dirty="0" smtClean="0"/>
                        <a:t>21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marL="0" algn="ctr" defTabSz="914400" rtl="0" eaLnBrk="1" latinLnBrk="0" hangingPunct="1"/>
                      <a:r>
                        <a:rPr lang="en-US" altLang="zh-CN" sz="2400" b="1" kern="1200" dirty="0" smtClean="0">
                          <a:solidFill>
                            <a:schemeClr val="tx1"/>
                          </a:solidFill>
                          <a:latin typeface="+mn-lt"/>
                          <a:ea typeface="+mn-ea"/>
                          <a:cs typeface="+mn-cs"/>
                        </a:rPr>
                        <a:t>12</a:t>
                      </a:r>
                      <a:endParaRPr lang="zh-CN" altLang="en-US" sz="2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algn="ctr"/>
                      <a:r>
                        <a:rPr lang="en-US" altLang="zh-CN" sz="2400" b="1" dirty="0" smtClean="0">
                          <a:solidFill>
                            <a:schemeClr val="tx1"/>
                          </a:solidFill>
                        </a:rPr>
                        <a:t>11</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solidFill>
                            <a:schemeClr val="tx1"/>
                          </a:solidFill>
                        </a:rPr>
                        <a:t>8</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algn="ctr"/>
                      <a:r>
                        <a:rPr lang="en-US" altLang="zh-CN" sz="2400" b="1" dirty="0" smtClean="0">
                          <a:solidFill>
                            <a:srgbClr val="FF0000"/>
                          </a:solidFill>
                        </a:rPr>
                        <a:t>4</a:t>
                      </a:r>
                      <a:endParaRPr lang="zh-CN" altLang="en-US" sz="24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algn="ctr"/>
                      <a:r>
                        <a:rPr lang="en-US" altLang="zh-CN" sz="2400" b="1" dirty="0" smtClean="0"/>
                        <a:t>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graphicFrame>
        <p:nvGraphicFramePr>
          <p:cNvPr id="29" name="表格 28"/>
          <p:cNvGraphicFramePr>
            <a:graphicFrameLocks noGrp="1"/>
          </p:cNvGraphicFramePr>
          <p:nvPr>
            <p:extLst>
              <p:ext uri="{D42A27DB-BD31-4B8C-83A1-F6EECF244321}">
                <p14:modId xmlns:p14="http://schemas.microsoft.com/office/powerpoint/2010/main" val="185377545"/>
              </p:ext>
            </p:extLst>
          </p:nvPr>
        </p:nvGraphicFramePr>
        <p:xfrm>
          <a:off x="6380518" y="2204864"/>
          <a:ext cx="576064" cy="457200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xmlns="" val="1416406016"/>
                    </a:ext>
                  </a:extLst>
                </a:gridCol>
              </a:tblGrid>
              <a:tr h="370840">
                <a:tc>
                  <a:txBody>
                    <a:bodyPr/>
                    <a:lstStyle/>
                    <a:p>
                      <a:pPr algn="ctr"/>
                      <a:r>
                        <a:rPr lang="en-US" altLang="zh-CN" sz="2400" b="1" dirty="0" smtClean="0"/>
                        <a:t>43</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algn="ctr"/>
                      <a:r>
                        <a:rPr lang="en-US" altLang="zh-CN" sz="2400" b="1" dirty="0" smtClean="0"/>
                        <a:t>38</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marL="0" algn="ctr" defTabSz="914400" rtl="0" eaLnBrk="1" latinLnBrk="0" hangingPunct="1"/>
                      <a:r>
                        <a:rPr lang="en-US" altLang="zh-CN" sz="2400" b="1" kern="1200" dirty="0" smtClean="0">
                          <a:solidFill>
                            <a:schemeClr val="tx1"/>
                          </a:solidFill>
                          <a:latin typeface="+mn-lt"/>
                          <a:ea typeface="+mn-ea"/>
                          <a:cs typeface="+mn-cs"/>
                        </a:rPr>
                        <a:t>21</a:t>
                      </a:r>
                      <a:endParaRPr lang="zh-CN" altLang="en-US" sz="2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algn="ctr"/>
                      <a:r>
                        <a:rPr lang="en-US" altLang="zh-CN" sz="2400" b="1" dirty="0" smtClean="0">
                          <a:solidFill>
                            <a:schemeClr val="tx1"/>
                          </a:solidFill>
                        </a:rPr>
                        <a:t>12</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algn="ctr"/>
                      <a:r>
                        <a:rPr lang="en-US" altLang="zh-CN" sz="2400" b="1" dirty="0" smtClean="0">
                          <a:solidFill>
                            <a:schemeClr val="tx1"/>
                          </a:solidFill>
                        </a:rPr>
                        <a:t>11</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solidFill>
                            <a:schemeClr val="tx1"/>
                          </a:solidFill>
                        </a:rPr>
                        <a:t>8</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algn="ctr"/>
                      <a:r>
                        <a:rPr lang="en-US" altLang="zh-CN" sz="2400" b="1" dirty="0" smtClean="0">
                          <a:solidFill>
                            <a:schemeClr val="tx1"/>
                          </a:solidFill>
                        </a:rPr>
                        <a:t>4</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algn="ctr"/>
                      <a:r>
                        <a:rPr lang="en-US" altLang="zh-CN" sz="2400" b="1" dirty="0" smtClean="0">
                          <a:solidFill>
                            <a:srgbClr val="FF0000"/>
                          </a:solidFill>
                        </a:rPr>
                        <a:t>2</a:t>
                      </a:r>
                      <a:endParaRPr lang="zh-CN" altLang="en-US" sz="24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algn="ctr"/>
                      <a:r>
                        <a:rPr lang="en-US" altLang="zh-CN" sz="2400" b="1" dirty="0" smtClean="0"/>
                        <a:t>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graphicFrame>
        <p:nvGraphicFramePr>
          <p:cNvPr id="30" name="表格 29"/>
          <p:cNvGraphicFramePr>
            <a:graphicFrameLocks noGrp="1"/>
          </p:cNvGraphicFramePr>
          <p:nvPr>
            <p:extLst>
              <p:ext uri="{D42A27DB-BD31-4B8C-83A1-F6EECF244321}">
                <p14:modId xmlns:p14="http://schemas.microsoft.com/office/powerpoint/2010/main" val="2311919985"/>
              </p:ext>
            </p:extLst>
          </p:nvPr>
        </p:nvGraphicFramePr>
        <p:xfrm>
          <a:off x="7041214" y="2204864"/>
          <a:ext cx="576064" cy="457200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xmlns="" val="1416406016"/>
                    </a:ext>
                  </a:extLst>
                </a:gridCol>
              </a:tblGrid>
              <a:tr h="370840">
                <a:tc>
                  <a:txBody>
                    <a:bodyPr/>
                    <a:lstStyle/>
                    <a:p>
                      <a:pPr algn="ctr"/>
                      <a:r>
                        <a:rPr lang="en-US" altLang="zh-CN" sz="2400" b="1" dirty="0" smtClean="0"/>
                        <a:t>43</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marL="0" algn="ctr" defTabSz="914400" rtl="0" eaLnBrk="1" latinLnBrk="0" hangingPunct="1"/>
                      <a:r>
                        <a:rPr lang="en-US" altLang="zh-CN" sz="2400" b="1" kern="1200" dirty="0" smtClean="0">
                          <a:solidFill>
                            <a:schemeClr val="tx1"/>
                          </a:solidFill>
                          <a:latin typeface="+mn-lt"/>
                          <a:ea typeface="+mn-ea"/>
                          <a:cs typeface="+mn-cs"/>
                        </a:rPr>
                        <a:t>38</a:t>
                      </a:r>
                      <a:endParaRPr lang="zh-CN" altLang="en-US" sz="2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algn="ctr"/>
                      <a:r>
                        <a:rPr lang="en-US" altLang="zh-CN" sz="2400" b="1" dirty="0" smtClean="0">
                          <a:solidFill>
                            <a:schemeClr val="tx1"/>
                          </a:solidFill>
                        </a:rPr>
                        <a:t>21</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algn="ctr"/>
                      <a:r>
                        <a:rPr lang="en-US" altLang="zh-CN" sz="2400" b="1" dirty="0" smtClean="0">
                          <a:solidFill>
                            <a:schemeClr val="tx1"/>
                          </a:solidFill>
                        </a:rPr>
                        <a:t>12</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algn="ctr"/>
                      <a:r>
                        <a:rPr lang="en-US" altLang="zh-CN" sz="2400" b="1" dirty="0" smtClean="0">
                          <a:solidFill>
                            <a:schemeClr val="tx1"/>
                          </a:solidFill>
                        </a:rPr>
                        <a:t>11</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solidFill>
                            <a:schemeClr val="tx1"/>
                          </a:solidFill>
                        </a:rPr>
                        <a:t>8</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algn="ctr"/>
                      <a:r>
                        <a:rPr lang="en-US" altLang="zh-CN" sz="2400" b="1" dirty="0" smtClean="0">
                          <a:solidFill>
                            <a:schemeClr val="tx1"/>
                          </a:solidFill>
                        </a:rPr>
                        <a:t>4</a:t>
                      </a:r>
                      <a:endParaRPr lang="zh-CN" alt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algn="ctr"/>
                      <a:r>
                        <a:rPr lang="en-US" altLang="zh-CN" sz="2400" b="1" dirty="0" smtClean="0"/>
                        <a:t>2</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algn="ctr"/>
                      <a:r>
                        <a:rPr lang="en-US" altLang="zh-CN" sz="2400" b="1" dirty="0" smtClean="0">
                          <a:solidFill>
                            <a:srgbClr val="FF0000"/>
                          </a:solidFill>
                        </a:rPr>
                        <a:t>2</a:t>
                      </a:r>
                      <a:endParaRPr lang="zh-CN" altLang="en-US" sz="24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algn="ctr"/>
                      <a:r>
                        <a:rPr lang="en-US" altLang="zh-CN" sz="2400" b="1" dirty="0" smtClean="0"/>
                        <a:t>1</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graphicFrame>
        <p:nvGraphicFramePr>
          <p:cNvPr id="31" name="表格 30"/>
          <p:cNvGraphicFramePr>
            <a:graphicFrameLocks noGrp="1"/>
          </p:cNvGraphicFramePr>
          <p:nvPr>
            <p:extLst>
              <p:ext uri="{D42A27DB-BD31-4B8C-83A1-F6EECF244321}">
                <p14:modId xmlns:p14="http://schemas.microsoft.com/office/powerpoint/2010/main" val="155683705"/>
              </p:ext>
            </p:extLst>
          </p:nvPr>
        </p:nvGraphicFramePr>
        <p:xfrm>
          <a:off x="117180" y="2204864"/>
          <a:ext cx="658965" cy="4572000"/>
        </p:xfrm>
        <a:graphic>
          <a:graphicData uri="http://schemas.openxmlformats.org/drawingml/2006/table">
            <a:tbl>
              <a:tblPr firstRow="1" bandRow="1">
                <a:tableStyleId>{5C22544A-7EE6-4342-B048-85BDC9FD1C3A}</a:tableStyleId>
              </a:tblPr>
              <a:tblGrid>
                <a:gridCol w="658965">
                  <a:extLst>
                    <a:ext uri="{9D8B030D-6E8A-4147-A177-3AD203B41FA5}">
                      <a16:colId xmlns:a16="http://schemas.microsoft.com/office/drawing/2014/main" xmlns="" val="1416406016"/>
                    </a:ext>
                  </a:extLst>
                </a:gridCol>
              </a:tblGrid>
              <a:tr h="370840">
                <a:tc>
                  <a:txBody>
                    <a:bodyPr/>
                    <a:lstStyle/>
                    <a:p>
                      <a:pPr algn="ctr"/>
                      <a:r>
                        <a:rPr lang="en-US" altLang="zh-CN" sz="2400" b="1" dirty="0" smtClean="0"/>
                        <a:t>a[0]</a:t>
                      </a: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44945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a[1]</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35709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a[2]</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507491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a[3]</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67062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a[4]</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83827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a[5]</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482757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a[6]</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987701"/>
                  </a:ext>
                </a:extLst>
              </a:tr>
              <a:tr h="1854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a[7]</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0229172"/>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a[8]</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2604781"/>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a[9]</a:t>
                      </a:r>
                      <a:endParaRPr lang="zh-CN" alt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54449331"/>
                  </a:ext>
                </a:extLst>
              </a:tr>
            </a:tbl>
          </a:graphicData>
        </a:graphic>
      </p:graphicFrame>
    </p:spTree>
    <p:extLst>
      <p:ext uri="{BB962C8B-B14F-4D97-AF65-F5344CB8AC3E}">
        <p14:creationId xmlns:p14="http://schemas.microsoft.com/office/powerpoint/2010/main" val="1124528589"/>
      </p:ext>
    </p:extLst>
  </p:cSld>
  <p:clrMapOvr>
    <a:masterClrMapping/>
  </p:clrMapOvr>
  <p:transition spd="med">
    <p:random/>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60</a:t>
            </a:fld>
            <a:endParaRPr lang="en-US" altLang="zh-CN" dirty="0"/>
          </a:p>
        </p:txBody>
      </p:sp>
      <p:sp>
        <p:nvSpPr>
          <p:cNvPr id="3" name="Content Placeholder 2"/>
          <p:cNvSpPr>
            <a:spLocks noGrp="1"/>
          </p:cNvSpPr>
          <p:nvPr>
            <p:ph idx="4294967295"/>
          </p:nvPr>
        </p:nvSpPr>
        <p:spPr>
          <a:xfrm>
            <a:off x="179512" y="188640"/>
            <a:ext cx="8941229" cy="6669360"/>
          </a:xfrm>
        </p:spPr>
        <p:txBody>
          <a:bodyPr/>
          <a:lstStyle/>
          <a:p>
            <a:pPr marL="0" indent="0">
              <a:lnSpc>
                <a:spcPct val="90000"/>
              </a:lnSpc>
              <a:buNone/>
            </a:pPr>
            <a:r>
              <a:rPr lang="en-US" altLang="zh-CN" sz="2200" dirty="0" smtClean="0">
                <a:solidFill>
                  <a:schemeClr val="tx1"/>
                </a:solidFill>
                <a:effectLst/>
              </a:rPr>
              <a:t>#</a:t>
            </a:r>
            <a:r>
              <a:rPr lang="en-US" altLang="zh-CN" sz="2200" dirty="0">
                <a:solidFill>
                  <a:schemeClr val="tx1"/>
                </a:solidFill>
                <a:effectLst/>
              </a:rPr>
              <a:t>define N 10//</a:t>
            </a:r>
            <a:r>
              <a:rPr lang="zh-CN" altLang="en-US" sz="2200" dirty="0">
                <a:solidFill>
                  <a:schemeClr val="tx1"/>
                </a:solidFill>
                <a:effectLst/>
              </a:rPr>
              <a:t>以</a:t>
            </a:r>
            <a:r>
              <a:rPr lang="en-US" altLang="zh-CN" sz="2200" dirty="0">
                <a:solidFill>
                  <a:schemeClr val="tx1"/>
                </a:solidFill>
                <a:effectLst/>
              </a:rPr>
              <a:t>10</a:t>
            </a:r>
            <a:r>
              <a:rPr lang="zh-CN" altLang="en-US" sz="2200" dirty="0">
                <a:solidFill>
                  <a:schemeClr val="tx1"/>
                </a:solidFill>
                <a:effectLst/>
              </a:rPr>
              <a:t>个数为</a:t>
            </a:r>
            <a:r>
              <a:rPr lang="zh-CN" altLang="en-US" sz="2200" dirty="0" smtClean="0">
                <a:solidFill>
                  <a:schemeClr val="tx1"/>
                </a:solidFill>
                <a:effectLst/>
              </a:rPr>
              <a:t>例</a:t>
            </a:r>
            <a:r>
              <a:rPr lang="en-US" altLang="zh-CN" sz="2200" dirty="0" smtClean="0">
                <a:solidFill>
                  <a:schemeClr val="tx1"/>
                </a:solidFill>
                <a:effectLst/>
              </a:rPr>
              <a:t>,</a:t>
            </a:r>
            <a:r>
              <a:rPr lang="zh-CN" altLang="en-US" sz="2200" dirty="0" smtClean="0">
                <a:solidFill>
                  <a:schemeClr val="tx1"/>
                </a:solidFill>
                <a:effectLst/>
              </a:rPr>
              <a:t>降序排列</a:t>
            </a:r>
            <a:endParaRPr lang="zh-CN" altLang="en-US" sz="2200" dirty="0">
              <a:solidFill>
                <a:schemeClr val="tx1"/>
              </a:solidFill>
              <a:effectLst/>
            </a:endParaRPr>
          </a:p>
          <a:p>
            <a:pPr marL="0" indent="0">
              <a:lnSpc>
                <a:spcPct val="90000"/>
              </a:lnSpc>
              <a:buNone/>
            </a:pPr>
            <a:r>
              <a:rPr lang="en-US" altLang="zh-CN" sz="2200" dirty="0">
                <a:solidFill>
                  <a:schemeClr val="tx1"/>
                </a:solidFill>
                <a:effectLst/>
              </a:rPr>
              <a:t>#include &lt;stdio.h&gt;</a:t>
            </a:r>
          </a:p>
          <a:p>
            <a:pPr marL="0" indent="0">
              <a:lnSpc>
                <a:spcPct val="90000"/>
              </a:lnSpc>
              <a:buNone/>
            </a:pPr>
            <a:r>
              <a:rPr lang="en-US" altLang="zh-CN" sz="2200" dirty="0">
                <a:solidFill>
                  <a:schemeClr val="tx1"/>
                </a:solidFill>
                <a:effectLst/>
              </a:rPr>
              <a:t>int </a:t>
            </a:r>
            <a:r>
              <a:rPr lang="en-US" altLang="zh-CN" sz="2200" dirty="0" smtClean="0">
                <a:solidFill>
                  <a:schemeClr val="tx1"/>
                </a:solidFill>
                <a:effectLst/>
              </a:rPr>
              <a:t>main()</a:t>
            </a:r>
            <a:endParaRPr lang="en-US" altLang="zh-CN" sz="2200" dirty="0">
              <a:solidFill>
                <a:schemeClr val="tx1"/>
              </a:solidFill>
              <a:effectLst/>
            </a:endParaRPr>
          </a:p>
          <a:p>
            <a:pPr marL="0" indent="0">
              <a:lnSpc>
                <a:spcPct val="90000"/>
              </a:lnSpc>
              <a:buNone/>
            </a:pPr>
            <a:r>
              <a:rPr lang="en-US" altLang="zh-CN" sz="2200" dirty="0">
                <a:solidFill>
                  <a:schemeClr val="tx1"/>
                </a:solidFill>
                <a:effectLst/>
              </a:rPr>
              <a:t>{  </a:t>
            </a:r>
            <a:endParaRPr lang="en-US" altLang="zh-CN" sz="2200" dirty="0" smtClean="0">
              <a:solidFill>
                <a:schemeClr val="tx1"/>
              </a:solidFill>
              <a:effectLst/>
            </a:endParaRPr>
          </a:p>
          <a:p>
            <a:pPr marL="0" indent="0">
              <a:lnSpc>
                <a:spcPct val="90000"/>
              </a:lnSpc>
              <a:buNone/>
            </a:pPr>
            <a:r>
              <a:rPr lang="en-US" altLang="zh-CN" sz="2200" dirty="0">
                <a:solidFill>
                  <a:schemeClr val="tx1"/>
                </a:solidFill>
                <a:effectLst/>
              </a:rPr>
              <a:t> </a:t>
            </a:r>
            <a:r>
              <a:rPr lang="en-US" altLang="zh-CN" sz="2200" dirty="0" smtClean="0">
                <a:solidFill>
                  <a:schemeClr val="tx1"/>
                </a:solidFill>
                <a:effectLst/>
              </a:rPr>
              <a:t>    </a:t>
            </a:r>
            <a:r>
              <a:rPr lang="en-US" altLang="zh-CN" sz="2200" dirty="0">
                <a:solidFill>
                  <a:schemeClr val="tx1"/>
                </a:solidFill>
                <a:effectLst/>
              </a:rPr>
              <a:t>int i, j, t, a[N]; </a:t>
            </a:r>
          </a:p>
          <a:p>
            <a:pPr marL="0" indent="0">
              <a:lnSpc>
                <a:spcPct val="90000"/>
              </a:lnSpc>
              <a:buNone/>
            </a:pPr>
            <a:r>
              <a:rPr lang="en-US" altLang="zh-CN" sz="2200" dirty="0">
                <a:solidFill>
                  <a:schemeClr val="tx1"/>
                </a:solidFill>
                <a:effectLst/>
              </a:rPr>
              <a:t>    for(i = 0; i &lt; N; i</a:t>
            </a:r>
            <a:r>
              <a:rPr lang="en-US" altLang="zh-CN" sz="2200" dirty="0" smtClean="0">
                <a:solidFill>
                  <a:schemeClr val="tx1"/>
                </a:solidFill>
                <a:effectLst/>
              </a:rPr>
              <a:t>++) </a:t>
            </a:r>
            <a:r>
              <a:rPr lang="en-US" altLang="zh-CN" sz="2200" dirty="0">
                <a:solidFill>
                  <a:schemeClr val="tx1"/>
                </a:solidFill>
                <a:effectLst/>
              </a:rPr>
              <a:t>scanf("%d", &amp;a[i]);</a:t>
            </a:r>
          </a:p>
          <a:p>
            <a:pPr marL="0" indent="0">
              <a:lnSpc>
                <a:spcPct val="90000"/>
              </a:lnSpc>
              <a:buNone/>
            </a:pPr>
            <a:r>
              <a:rPr lang="en-US" altLang="zh-CN" sz="2200" dirty="0">
                <a:solidFill>
                  <a:schemeClr val="tx1"/>
                </a:solidFill>
                <a:effectLst/>
              </a:rPr>
              <a:t>    for(i = 1; i &lt; N; i++)</a:t>
            </a:r>
          </a:p>
          <a:p>
            <a:pPr marL="0" indent="0">
              <a:lnSpc>
                <a:spcPct val="90000"/>
              </a:lnSpc>
              <a:buNone/>
            </a:pPr>
            <a:r>
              <a:rPr lang="en-US" altLang="zh-CN" sz="2200" dirty="0">
                <a:solidFill>
                  <a:schemeClr val="tx1"/>
                </a:solidFill>
                <a:effectLst/>
              </a:rPr>
              <a:t>       for(j = </a:t>
            </a:r>
            <a:r>
              <a:rPr lang="en-US" altLang="zh-CN" sz="2200" dirty="0" smtClean="0">
                <a:solidFill>
                  <a:schemeClr val="tx1"/>
                </a:solidFill>
                <a:effectLst/>
              </a:rPr>
              <a:t>N-1; </a:t>
            </a:r>
            <a:r>
              <a:rPr lang="en-US" altLang="zh-CN" sz="2200" dirty="0">
                <a:solidFill>
                  <a:schemeClr val="tx1"/>
                </a:solidFill>
                <a:effectLst/>
              </a:rPr>
              <a:t>j </a:t>
            </a:r>
            <a:r>
              <a:rPr lang="en-US" altLang="zh-CN" sz="2200" dirty="0" smtClean="0">
                <a:effectLst/>
              </a:rPr>
              <a:t>&gt;=</a:t>
            </a:r>
            <a:r>
              <a:rPr lang="en-US" altLang="zh-CN" sz="2200" dirty="0" err="1" smtClean="0">
                <a:effectLst/>
              </a:rPr>
              <a:t>i</a:t>
            </a:r>
            <a:r>
              <a:rPr lang="en-US" altLang="zh-CN" sz="2200" dirty="0" smtClean="0">
                <a:solidFill>
                  <a:schemeClr val="tx1"/>
                </a:solidFill>
                <a:effectLst/>
              </a:rPr>
              <a:t>; j--)</a:t>
            </a:r>
            <a:endParaRPr lang="en-US" altLang="zh-CN" sz="2200" dirty="0">
              <a:solidFill>
                <a:schemeClr val="tx1"/>
              </a:solidFill>
              <a:effectLst/>
            </a:endParaRPr>
          </a:p>
          <a:p>
            <a:pPr marL="0" indent="0">
              <a:lnSpc>
                <a:spcPct val="90000"/>
              </a:lnSpc>
              <a:buNone/>
            </a:pPr>
            <a:r>
              <a:rPr lang="en-US" altLang="zh-CN" sz="2200" dirty="0">
                <a:solidFill>
                  <a:schemeClr val="tx1"/>
                </a:solidFill>
                <a:effectLst/>
              </a:rPr>
              <a:t>	      if(a[j</a:t>
            </a:r>
            <a:r>
              <a:rPr lang="en-US" altLang="zh-CN" sz="2200" dirty="0" smtClean="0">
                <a:solidFill>
                  <a:schemeClr val="tx1"/>
                </a:solidFill>
                <a:effectLst/>
              </a:rPr>
              <a:t>]&gt;a[j-1])</a:t>
            </a:r>
          </a:p>
          <a:p>
            <a:pPr marL="0" indent="0">
              <a:lnSpc>
                <a:spcPct val="90000"/>
              </a:lnSpc>
              <a:buNone/>
            </a:pPr>
            <a:r>
              <a:rPr lang="en-US" altLang="zh-CN" sz="2200" dirty="0">
                <a:solidFill>
                  <a:schemeClr val="tx1"/>
                </a:solidFill>
                <a:effectLst/>
              </a:rPr>
              <a:t> </a:t>
            </a:r>
            <a:r>
              <a:rPr lang="en-US" altLang="zh-CN" sz="2200" dirty="0" smtClean="0">
                <a:solidFill>
                  <a:schemeClr val="tx1"/>
                </a:solidFill>
                <a:effectLst/>
              </a:rPr>
              <a:t>               </a:t>
            </a:r>
            <a:r>
              <a:rPr lang="en-US" altLang="zh-CN" sz="2200" dirty="0">
                <a:solidFill>
                  <a:schemeClr val="tx1"/>
                </a:solidFill>
                <a:effectLst/>
              </a:rPr>
              <a:t>{</a:t>
            </a:r>
          </a:p>
          <a:p>
            <a:pPr marL="0" indent="0">
              <a:lnSpc>
                <a:spcPct val="90000"/>
              </a:lnSpc>
              <a:buNone/>
            </a:pPr>
            <a:r>
              <a:rPr lang="en-US" altLang="zh-CN" sz="2200" dirty="0">
                <a:solidFill>
                  <a:schemeClr val="tx1"/>
                </a:solidFill>
                <a:effectLst/>
              </a:rPr>
              <a:t>	         t = a[j];</a:t>
            </a:r>
          </a:p>
          <a:p>
            <a:pPr marL="0" indent="0">
              <a:lnSpc>
                <a:spcPct val="90000"/>
              </a:lnSpc>
              <a:buNone/>
            </a:pPr>
            <a:r>
              <a:rPr lang="en-US" altLang="zh-CN" sz="2200" dirty="0">
                <a:solidFill>
                  <a:schemeClr val="tx1"/>
                </a:solidFill>
                <a:effectLst/>
              </a:rPr>
              <a:t>	         a[j] = </a:t>
            </a:r>
            <a:r>
              <a:rPr lang="en-US" altLang="zh-CN" sz="2200" dirty="0" smtClean="0">
                <a:solidFill>
                  <a:schemeClr val="tx1"/>
                </a:solidFill>
                <a:effectLst/>
              </a:rPr>
              <a:t>a[j-1</a:t>
            </a:r>
            <a:r>
              <a:rPr lang="en-US" altLang="zh-CN" sz="2200" dirty="0">
                <a:solidFill>
                  <a:schemeClr val="tx1"/>
                </a:solidFill>
                <a:effectLst/>
              </a:rPr>
              <a:t>];</a:t>
            </a:r>
          </a:p>
          <a:p>
            <a:pPr marL="0" indent="0">
              <a:lnSpc>
                <a:spcPct val="90000"/>
              </a:lnSpc>
              <a:buNone/>
            </a:pPr>
            <a:r>
              <a:rPr lang="en-US" altLang="zh-CN" sz="2200" dirty="0">
                <a:solidFill>
                  <a:schemeClr val="tx1"/>
                </a:solidFill>
                <a:effectLst/>
              </a:rPr>
              <a:t>	         </a:t>
            </a:r>
            <a:r>
              <a:rPr lang="en-US" altLang="zh-CN" sz="2200" dirty="0" smtClean="0">
                <a:solidFill>
                  <a:schemeClr val="tx1"/>
                </a:solidFill>
                <a:effectLst/>
              </a:rPr>
              <a:t>a[j-1</a:t>
            </a:r>
            <a:r>
              <a:rPr lang="en-US" altLang="zh-CN" sz="2200" dirty="0">
                <a:solidFill>
                  <a:schemeClr val="tx1"/>
                </a:solidFill>
                <a:effectLst/>
              </a:rPr>
              <a:t>] = t;</a:t>
            </a:r>
          </a:p>
          <a:p>
            <a:pPr marL="0" indent="0">
              <a:lnSpc>
                <a:spcPct val="90000"/>
              </a:lnSpc>
              <a:buNone/>
            </a:pPr>
            <a:r>
              <a:rPr lang="en-US" altLang="zh-CN" sz="2200" dirty="0">
                <a:solidFill>
                  <a:schemeClr val="tx1"/>
                </a:solidFill>
                <a:effectLst/>
              </a:rPr>
              <a:t>	      </a:t>
            </a:r>
            <a:r>
              <a:rPr lang="en-US" altLang="zh-CN" sz="2200" dirty="0" smtClean="0">
                <a:solidFill>
                  <a:schemeClr val="tx1"/>
                </a:solidFill>
                <a:effectLst/>
              </a:rPr>
              <a:t>}</a:t>
            </a:r>
            <a:endParaRPr lang="en-US" altLang="zh-CN" sz="2200" dirty="0">
              <a:solidFill>
                <a:schemeClr val="tx1"/>
              </a:solidFill>
              <a:effectLst/>
            </a:endParaRPr>
          </a:p>
          <a:p>
            <a:pPr marL="0" indent="0">
              <a:lnSpc>
                <a:spcPct val="90000"/>
              </a:lnSpc>
              <a:buNone/>
            </a:pPr>
            <a:r>
              <a:rPr lang="en-US" altLang="zh-CN" sz="2200" dirty="0">
                <a:solidFill>
                  <a:schemeClr val="tx1"/>
                </a:solidFill>
                <a:effectLst/>
              </a:rPr>
              <a:t> </a:t>
            </a:r>
            <a:r>
              <a:rPr lang="en-US" altLang="zh-CN" sz="2200" dirty="0" smtClean="0">
                <a:solidFill>
                  <a:schemeClr val="tx1"/>
                </a:solidFill>
                <a:effectLst/>
              </a:rPr>
              <a:t>   for(i</a:t>
            </a:r>
            <a:r>
              <a:rPr lang="en-US" altLang="zh-CN" sz="2200" dirty="0">
                <a:solidFill>
                  <a:schemeClr val="tx1"/>
                </a:solidFill>
                <a:effectLst/>
              </a:rPr>
              <a:t>= 0; i&lt; N; i</a:t>
            </a:r>
            <a:r>
              <a:rPr lang="en-US" altLang="zh-CN" sz="2200" dirty="0" smtClean="0">
                <a:solidFill>
                  <a:schemeClr val="tx1"/>
                </a:solidFill>
                <a:effectLst/>
              </a:rPr>
              <a:t>++) printf</a:t>
            </a:r>
            <a:r>
              <a:rPr lang="en-US" altLang="zh-CN" sz="2200" dirty="0">
                <a:solidFill>
                  <a:schemeClr val="tx1"/>
                </a:solidFill>
                <a:effectLst/>
              </a:rPr>
              <a:t>("%4d",a[i]);</a:t>
            </a:r>
          </a:p>
          <a:p>
            <a:pPr marL="0" indent="0">
              <a:lnSpc>
                <a:spcPct val="90000"/>
              </a:lnSpc>
              <a:buNone/>
            </a:pPr>
            <a:r>
              <a:rPr lang="en-US" altLang="zh-CN" sz="2200" dirty="0" smtClean="0">
                <a:solidFill>
                  <a:schemeClr val="tx1"/>
                </a:solidFill>
                <a:effectLst/>
              </a:rPr>
              <a:t>    return </a:t>
            </a:r>
            <a:r>
              <a:rPr lang="en-US" altLang="zh-CN" sz="2200" dirty="0">
                <a:solidFill>
                  <a:schemeClr val="tx1"/>
                </a:solidFill>
                <a:effectLst/>
              </a:rPr>
              <a:t>0</a:t>
            </a:r>
            <a:r>
              <a:rPr lang="en-US" altLang="zh-CN" sz="2200" dirty="0" smtClean="0">
                <a:solidFill>
                  <a:schemeClr val="tx1"/>
                </a:solidFill>
                <a:effectLst/>
              </a:rPr>
              <a:t>;        </a:t>
            </a:r>
          </a:p>
          <a:p>
            <a:pPr marL="0" indent="0">
              <a:lnSpc>
                <a:spcPct val="90000"/>
              </a:lnSpc>
              <a:buNone/>
            </a:pPr>
            <a:r>
              <a:rPr lang="en-US" altLang="zh-CN" sz="2200" dirty="0" smtClean="0">
                <a:solidFill>
                  <a:schemeClr val="tx1"/>
                </a:solidFill>
                <a:effectLst/>
              </a:rPr>
              <a:t> }</a:t>
            </a:r>
            <a:endParaRPr lang="en-US" altLang="zh-CN" sz="2200" dirty="0">
              <a:solidFill>
                <a:schemeClr val="tx1"/>
              </a:solidFill>
              <a:effectLst/>
            </a:endParaRPr>
          </a:p>
          <a:p>
            <a:pPr marL="0" indent="0">
              <a:lnSpc>
                <a:spcPct val="90000"/>
              </a:lnSpc>
              <a:buNone/>
            </a:pPr>
            <a:endParaRPr lang="en-US" altLang="zh-CN" sz="1600" b="0" dirty="0">
              <a:solidFill>
                <a:schemeClr val="tx1"/>
              </a:solidFill>
              <a:effectLst/>
            </a:endParaRPr>
          </a:p>
          <a:p>
            <a:pPr marL="0" indent="0">
              <a:lnSpc>
                <a:spcPct val="90000"/>
              </a:lnSpc>
              <a:buNone/>
            </a:pPr>
            <a:endParaRPr lang="zh-CN" altLang="en-US" sz="1600" b="0" dirty="0" smtClean="0">
              <a:solidFill>
                <a:schemeClr val="tx1"/>
              </a:solidFill>
              <a:effectLst/>
            </a:endParaRPr>
          </a:p>
          <a:p>
            <a:pPr marL="0" indent="0">
              <a:lnSpc>
                <a:spcPct val="90000"/>
              </a:lnSpc>
              <a:buNone/>
            </a:pPr>
            <a:endParaRPr lang="en-US" sz="1600" b="0" dirty="0">
              <a:solidFill>
                <a:schemeClr val="tx1"/>
              </a:solidFill>
              <a:effectLst/>
            </a:endParaRPr>
          </a:p>
        </p:txBody>
      </p:sp>
    </p:spTree>
    <p:extLst>
      <p:ext uri="{BB962C8B-B14F-4D97-AF65-F5344CB8AC3E}">
        <p14:creationId xmlns:p14="http://schemas.microsoft.com/office/powerpoint/2010/main" val="2494055429"/>
      </p:ext>
    </p:extLst>
  </p:cSld>
  <p:clrMapOvr>
    <a:masterClrMapping/>
  </p:clrMapOvr>
  <p:transition spd="med">
    <p:random/>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61</a:t>
            </a:fld>
            <a:endParaRPr lang="en-US" altLang="zh-CN" dirty="0"/>
          </a:p>
        </p:txBody>
      </p:sp>
      <p:sp>
        <p:nvSpPr>
          <p:cNvPr id="3" name="Content Placeholder 2"/>
          <p:cNvSpPr>
            <a:spLocks noGrp="1"/>
          </p:cNvSpPr>
          <p:nvPr>
            <p:ph idx="4294967295"/>
          </p:nvPr>
        </p:nvSpPr>
        <p:spPr>
          <a:xfrm>
            <a:off x="827584" y="836712"/>
            <a:ext cx="7993062" cy="4537075"/>
          </a:xfrm>
        </p:spPr>
        <p:txBody>
          <a:bodyPr/>
          <a:lstStyle/>
          <a:p>
            <a:r>
              <a:rPr lang="en-US" altLang="zh-TW" dirty="0">
                <a:solidFill>
                  <a:srgbClr val="0066FF"/>
                </a:solidFill>
              </a:rPr>
              <a:t>【</a:t>
            </a:r>
            <a:r>
              <a:rPr lang="zh-TW" altLang="en-US" dirty="0">
                <a:solidFill>
                  <a:srgbClr val="0066FF"/>
                </a:solidFill>
              </a:rPr>
              <a:t>例</a:t>
            </a:r>
            <a:r>
              <a:rPr lang="en-US" altLang="zh-TW" dirty="0">
                <a:solidFill>
                  <a:srgbClr val="0066FF"/>
                </a:solidFill>
              </a:rPr>
              <a:t>4-9】</a:t>
            </a:r>
            <a:r>
              <a:rPr lang="zh-TW" altLang="en-US" dirty="0">
                <a:solidFill>
                  <a:srgbClr val="0066FF"/>
                </a:solidFill>
              </a:rPr>
              <a:t>插入排序。输入</a:t>
            </a:r>
            <a:r>
              <a:rPr lang="en-US" altLang="zh-TW" dirty="0">
                <a:solidFill>
                  <a:srgbClr val="0066FF"/>
                </a:solidFill>
              </a:rPr>
              <a:t>n</a:t>
            </a:r>
            <a:r>
              <a:rPr lang="zh-TW" altLang="en-US" dirty="0">
                <a:solidFill>
                  <a:srgbClr val="0066FF"/>
                </a:solidFill>
              </a:rPr>
              <a:t>个数值，采用插入排序进行排序，依次从低到高输出</a:t>
            </a:r>
            <a:r>
              <a:rPr lang="zh-TW" altLang="en-US" dirty="0" smtClean="0">
                <a:solidFill>
                  <a:srgbClr val="0066FF"/>
                </a:solidFill>
              </a:rPr>
              <a:t>。</a:t>
            </a:r>
            <a:r>
              <a:rPr lang="en-US" altLang="zh-TW" dirty="0" smtClean="0">
                <a:solidFill>
                  <a:srgbClr val="0066FF"/>
                </a:solidFill>
              </a:rPr>
              <a:t> </a:t>
            </a:r>
            <a:endParaRPr lang="zh-TW" altLang="en-US" dirty="0">
              <a:solidFill>
                <a:srgbClr val="0066FF"/>
              </a:solidFill>
            </a:endParaRPr>
          </a:p>
          <a:p>
            <a:endParaRPr lang="en-US" dirty="0"/>
          </a:p>
        </p:txBody>
      </p:sp>
      <p:sp>
        <p:nvSpPr>
          <p:cNvPr id="5" name="Content Placeholder 2"/>
          <p:cNvSpPr txBox="1">
            <a:spLocks/>
          </p:cNvSpPr>
          <p:nvPr/>
        </p:nvSpPr>
        <p:spPr bwMode="auto">
          <a:xfrm>
            <a:off x="611560" y="2060277"/>
            <a:ext cx="7776864" cy="453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rgbClr val="FF3300"/>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rgbClr val="3333FF"/>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a:lstStyle>
          <a:p>
            <a:pPr lvl="1"/>
            <a:r>
              <a:rPr lang="zh-TW" altLang="en-US" dirty="0" smtClean="0">
                <a:solidFill>
                  <a:srgbClr val="0066FF"/>
                </a:solidFill>
              </a:rPr>
              <a:t>分析：从序列中第二个数</a:t>
            </a:r>
            <a:r>
              <a:rPr lang="en-US" altLang="zh-TW" dirty="0" smtClean="0">
                <a:solidFill>
                  <a:srgbClr val="0066FF"/>
                </a:solidFill>
              </a:rPr>
              <a:t>A</a:t>
            </a:r>
            <a:r>
              <a:rPr lang="zh-TW" altLang="en-US" dirty="0" smtClean="0">
                <a:solidFill>
                  <a:srgbClr val="0066FF"/>
                </a:solidFill>
              </a:rPr>
              <a:t>开始，将</a:t>
            </a:r>
            <a:r>
              <a:rPr lang="en-US" altLang="zh-TW" dirty="0" smtClean="0">
                <a:solidFill>
                  <a:srgbClr val="0066FF"/>
                </a:solidFill>
              </a:rPr>
              <a:t>A</a:t>
            </a:r>
            <a:r>
              <a:rPr lang="zh-TW" altLang="en-US" dirty="0" smtClean="0">
                <a:solidFill>
                  <a:srgbClr val="0066FF"/>
                </a:solidFill>
              </a:rPr>
              <a:t>插入前面已经排好的序列中，形成一个新的排序好的序列，以此类推直至最后一个元素。</a:t>
            </a:r>
            <a:endParaRPr lang="en-US" altLang="zh-TW" dirty="0" smtClean="0">
              <a:solidFill>
                <a:srgbClr val="0066FF"/>
              </a:solidFill>
            </a:endParaRPr>
          </a:p>
          <a:p>
            <a:pPr lvl="1"/>
            <a:endParaRPr lang="en-US" dirty="0"/>
          </a:p>
        </p:txBody>
      </p:sp>
      <p:pic>
        <p:nvPicPr>
          <p:cNvPr id="6" name="图片 5"/>
          <p:cNvPicPr>
            <a:picLocks noChangeAspect="1"/>
          </p:cNvPicPr>
          <p:nvPr/>
        </p:nvPicPr>
        <p:blipFill>
          <a:blip r:embed="rId2"/>
          <a:stretch>
            <a:fillRect/>
          </a:stretch>
        </p:blipFill>
        <p:spPr>
          <a:xfrm>
            <a:off x="3635896" y="3297461"/>
            <a:ext cx="3796977" cy="3024336"/>
          </a:xfrm>
          <a:prstGeom prst="rect">
            <a:avLst/>
          </a:prstGeom>
        </p:spPr>
      </p:pic>
    </p:spTree>
    <p:extLst>
      <p:ext uri="{BB962C8B-B14F-4D97-AF65-F5344CB8AC3E}">
        <p14:creationId xmlns:p14="http://schemas.microsoft.com/office/powerpoint/2010/main" val="1091787315"/>
      </p:ext>
    </p:extLst>
  </p:cSld>
  <p:clrMapOvr>
    <a:masterClrMapping/>
  </p:clrMapOvr>
  <p:transition spd="med">
    <p:random/>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62</a:t>
            </a:fld>
            <a:endParaRPr lang="en-US" altLang="zh-CN" dirty="0"/>
          </a:p>
        </p:txBody>
      </p:sp>
      <p:sp>
        <p:nvSpPr>
          <p:cNvPr id="3" name="Content Placeholder 2"/>
          <p:cNvSpPr>
            <a:spLocks noGrp="1"/>
          </p:cNvSpPr>
          <p:nvPr>
            <p:ph idx="4294967295"/>
          </p:nvPr>
        </p:nvSpPr>
        <p:spPr>
          <a:xfrm>
            <a:off x="143842" y="188640"/>
            <a:ext cx="8316590" cy="6669360"/>
          </a:xfrm>
        </p:spPr>
        <p:txBody>
          <a:bodyPr/>
          <a:lstStyle/>
          <a:p>
            <a:pPr marL="0" indent="0">
              <a:lnSpc>
                <a:spcPct val="70000"/>
              </a:lnSpc>
              <a:buNone/>
            </a:pPr>
            <a:r>
              <a:rPr lang="en-US" sz="2400" dirty="0" smtClean="0">
                <a:solidFill>
                  <a:schemeClr val="tx1"/>
                </a:solidFill>
                <a:effectLst/>
              </a:rPr>
              <a:t>#</a:t>
            </a:r>
            <a:r>
              <a:rPr lang="en-US" sz="2400" dirty="0">
                <a:solidFill>
                  <a:schemeClr val="tx1"/>
                </a:solidFill>
                <a:effectLst/>
              </a:rPr>
              <a:t>define N </a:t>
            </a:r>
            <a:r>
              <a:rPr lang="en-US" sz="2400" dirty="0" smtClean="0">
                <a:solidFill>
                  <a:schemeClr val="tx1"/>
                </a:solidFill>
                <a:effectLst/>
              </a:rPr>
              <a:t>6       </a:t>
            </a:r>
            <a:r>
              <a:rPr lang="en-US" sz="2400" dirty="0" smtClean="0">
                <a:solidFill>
                  <a:srgbClr val="0000FF"/>
                </a:solidFill>
                <a:effectLst/>
              </a:rPr>
              <a:t>//</a:t>
            </a:r>
            <a:r>
              <a:rPr lang="en-US" sz="2400" dirty="0">
                <a:solidFill>
                  <a:srgbClr val="0000FF"/>
                </a:solidFill>
                <a:effectLst/>
              </a:rPr>
              <a:t>以6个数为例</a:t>
            </a:r>
          </a:p>
          <a:p>
            <a:pPr marL="0" indent="0">
              <a:lnSpc>
                <a:spcPct val="70000"/>
              </a:lnSpc>
              <a:buNone/>
            </a:pPr>
            <a:r>
              <a:rPr lang="en-US" sz="2400" dirty="0">
                <a:solidFill>
                  <a:schemeClr val="tx1"/>
                </a:solidFill>
                <a:effectLst/>
              </a:rPr>
              <a:t>#include &lt;stdio.h&gt;</a:t>
            </a:r>
          </a:p>
          <a:p>
            <a:pPr marL="0" indent="0">
              <a:lnSpc>
                <a:spcPct val="70000"/>
              </a:lnSpc>
              <a:buNone/>
            </a:pPr>
            <a:r>
              <a:rPr lang="en-US" sz="2400" dirty="0">
                <a:solidFill>
                  <a:schemeClr val="tx1"/>
                </a:solidFill>
                <a:effectLst/>
              </a:rPr>
              <a:t>int </a:t>
            </a:r>
            <a:r>
              <a:rPr lang="en-US" sz="2400" dirty="0" smtClean="0">
                <a:solidFill>
                  <a:schemeClr val="tx1"/>
                </a:solidFill>
                <a:effectLst/>
              </a:rPr>
              <a:t>main()</a:t>
            </a:r>
            <a:endParaRPr lang="en-US" sz="2400" dirty="0">
              <a:solidFill>
                <a:schemeClr val="tx1"/>
              </a:solidFill>
              <a:effectLst/>
            </a:endParaRPr>
          </a:p>
          <a:p>
            <a:pPr marL="0" indent="0">
              <a:lnSpc>
                <a:spcPct val="70000"/>
              </a:lnSpc>
              <a:buNone/>
            </a:pPr>
            <a:r>
              <a:rPr lang="en-US" sz="2400" dirty="0">
                <a:solidFill>
                  <a:schemeClr val="tx1"/>
                </a:solidFill>
                <a:effectLst/>
              </a:rPr>
              <a:t>{  </a:t>
            </a:r>
            <a:endParaRPr lang="en-US" sz="2400" dirty="0" smtClean="0">
              <a:solidFill>
                <a:schemeClr val="tx1"/>
              </a:solidFill>
              <a:effectLst/>
            </a:endParaRPr>
          </a:p>
          <a:p>
            <a:pPr marL="0" indent="0">
              <a:lnSpc>
                <a:spcPct val="70000"/>
              </a:lnSpc>
              <a:buNone/>
            </a:pPr>
            <a:r>
              <a:rPr lang="en-US" sz="2400" dirty="0">
                <a:solidFill>
                  <a:schemeClr val="tx1"/>
                </a:solidFill>
                <a:effectLst/>
              </a:rPr>
              <a:t> </a:t>
            </a:r>
            <a:r>
              <a:rPr lang="en-US" sz="2400" dirty="0" smtClean="0">
                <a:solidFill>
                  <a:schemeClr val="tx1"/>
                </a:solidFill>
                <a:effectLst/>
              </a:rPr>
              <a:t>    </a:t>
            </a:r>
            <a:r>
              <a:rPr lang="en-US" sz="2400" dirty="0">
                <a:solidFill>
                  <a:schemeClr val="tx1"/>
                </a:solidFill>
                <a:effectLst/>
              </a:rPr>
              <a:t>int i, temp, p, a[N]; </a:t>
            </a:r>
          </a:p>
          <a:p>
            <a:pPr marL="0" indent="0">
              <a:lnSpc>
                <a:spcPct val="70000"/>
              </a:lnSpc>
              <a:buNone/>
            </a:pPr>
            <a:r>
              <a:rPr lang="en-US" sz="2400" dirty="0">
                <a:solidFill>
                  <a:schemeClr val="tx1"/>
                </a:solidFill>
                <a:effectLst/>
              </a:rPr>
              <a:t>    for(i = 0; i &lt; N; i</a:t>
            </a:r>
            <a:r>
              <a:rPr lang="en-US" sz="2400" dirty="0" smtClean="0">
                <a:solidFill>
                  <a:schemeClr val="tx1"/>
                </a:solidFill>
                <a:effectLst/>
              </a:rPr>
              <a:t>++) </a:t>
            </a:r>
            <a:r>
              <a:rPr lang="en-US" sz="2400" dirty="0">
                <a:solidFill>
                  <a:schemeClr val="tx1"/>
                </a:solidFill>
                <a:effectLst/>
              </a:rPr>
              <a:t>scanf("%d", &amp;a[i]);</a:t>
            </a:r>
          </a:p>
          <a:p>
            <a:pPr marL="0" indent="0">
              <a:lnSpc>
                <a:spcPct val="70000"/>
              </a:lnSpc>
              <a:buNone/>
            </a:pPr>
            <a:r>
              <a:rPr lang="en-US" sz="2400" dirty="0" smtClean="0">
                <a:solidFill>
                  <a:schemeClr val="tx1"/>
                </a:solidFill>
                <a:effectLst/>
              </a:rPr>
              <a:t>    for(i=1;i&lt;N;i++)</a:t>
            </a:r>
          </a:p>
          <a:p>
            <a:pPr marL="0" indent="0">
              <a:lnSpc>
                <a:spcPct val="70000"/>
              </a:lnSpc>
              <a:buNone/>
            </a:pPr>
            <a:r>
              <a:rPr lang="en-US" sz="2400" dirty="0">
                <a:solidFill>
                  <a:schemeClr val="tx1"/>
                </a:solidFill>
                <a:effectLst/>
              </a:rPr>
              <a:t> </a:t>
            </a:r>
            <a:r>
              <a:rPr lang="en-US" sz="2400" dirty="0" smtClean="0">
                <a:solidFill>
                  <a:schemeClr val="tx1"/>
                </a:solidFill>
                <a:effectLst/>
              </a:rPr>
              <a:t>   {  </a:t>
            </a:r>
            <a:r>
              <a:rPr lang="en-US" sz="2400" dirty="0">
                <a:solidFill>
                  <a:schemeClr val="tx1"/>
                </a:solidFill>
                <a:effectLst/>
              </a:rPr>
              <a:t>//从第二个元素开始</a:t>
            </a:r>
          </a:p>
          <a:p>
            <a:pPr marL="0" indent="0">
              <a:lnSpc>
                <a:spcPct val="70000"/>
              </a:lnSpc>
              <a:buNone/>
            </a:pPr>
            <a:r>
              <a:rPr lang="en-US" sz="2400" dirty="0" smtClean="0">
                <a:solidFill>
                  <a:schemeClr val="tx1"/>
                </a:solidFill>
                <a:effectLst/>
              </a:rPr>
              <a:t>       temp=a[i</a:t>
            </a:r>
            <a:r>
              <a:rPr lang="en-US" sz="2400" dirty="0">
                <a:solidFill>
                  <a:schemeClr val="tx1"/>
                </a:solidFill>
                <a:effectLst/>
              </a:rPr>
              <a:t>];      //</a:t>
            </a:r>
            <a:r>
              <a:rPr lang="en-US" sz="2400" dirty="0" smtClean="0">
                <a:solidFill>
                  <a:schemeClr val="tx1"/>
                </a:solidFill>
                <a:effectLst/>
              </a:rPr>
              <a:t>将待</a:t>
            </a:r>
            <a:r>
              <a:rPr lang="en-US" sz="2400" dirty="0">
                <a:solidFill>
                  <a:schemeClr val="tx1"/>
                </a:solidFill>
                <a:effectLst/>
              </a:rPr>
              <a:t>插入元素取出 </a:t>
            </a:r>
          </a:p>
          <a:p>
            <a:pPr marL="0" indent="0">
              <a:lnSpc>
                <a:spcPct val="70000"/>
              </a:lnSpc>
              <a:buNone/>
            </a:pPr>
            <a:r>
              <a:rPr lang="en-US" sz="2400" dirty="0" smtClean="0">
                <a:solidFill>
                  <a:schemeClr val="tx1"/>
                </a:solidFill>
                <a:effectLst/>
              </a:rPr>
              <a:t>       p=i-1</a:t>
            </a:r>
            <a:r>
              <a:rPr lang="en-US" sz="2400" dirty="0">
                <a:solidFill>
                  <a:schemeClr val="tx1"/>
                </a:solidFill>
                <a:effectLst/>
              </a:rPr>
              <a:t>;</a:t>
            </a:r>
          </a:p>
          <a:p>
            <a:pPr marL="0" indent="0">
              <a:lnSpc>
                <a:spcPct val="70000"/>
              </a:lnSpc>
              <a:buNone/>
            </a:pPr>
            <a:r>
              <a:rPr lang="en-US" sz="2400" dirty="0" smtClean="0">
                <a:solidFill>
                  <a:schemeClr val="tx1"/>
                </a:solidFill>
                <a:effectLst/>
              </a:rPr>
              <a:t>       while(p</a:t>
            </a:r>
            <a:r>
              <a:rPr lang="en-US" sz="2400" dirty="0">
                <a:solidFill>
                  <a:schemeClr val="tx1"/>
                </a:solidFill>
                <a:effectLst/>
              </a:rPr>
              <a:t>&gt;=0&amp;&amp;temp&lt;a[p</a:t>
            </a:r>
            <a:r>
              <a:rPr lang="en-US" sz="2400" dirty="0" smtClean="0">
                <a:solidFill>
                  <a:schemeClr val="tx1"/>
                </a:solidFill>
                <a:effectLst/>
              </a:rPr>
              <a:t>])</a:t>
            </a:r>
          </a:p>
          <a:p>
            <a:pPr marL="0" indent="0">
              <a:lnSpc>
                <a:spcPct val="70000"/>
              </a:lnSpc>
              <a:buNone/>
            </a:pPr>
            <a:r>
              <a:rPr lang="en-US" sz="2400" dirty="0">
                <a:solidFill>
                  <a:schemeClr val="tx1"/>
                </a:solidFill>
                <a:effectLst/>
              </a:rPr>
              <a:t> </a:t>
            </a:r>
            <a:r>
              <a:rPr lang="en-US" sz="2400" dirty="0" smtClean="0">
                <a:solidFill>
                  <a:schemeClr val="tx1"/>
                </a:solidFill>
                <a:effectLst/>
              </a:rPr>
              <a:t>      { </a:t>
            </a:r>
            <a:endParaRPr lang="en-US" sz="2400" dirty="0">
              <a:solidFill>
                <a:schemeClr val="tx1"/>
              </a:solidFill>
              <a:effectLst/>
            </a:endParaRPr>
          </a:p>
          <a:p>
            <a:pPr marL="0" indent="0">
              <a:lnSpc>
                <a:spcPct val="70000"/>
              </a:lnSpc>
              <a:buNone/>
            </a:pPr>
            <a:r>
              <a:rPr lang="en-US" sz="2400" dirty="0">
                <a:solidFill>
                  <a:schemeClr val="tx1"/>
                </a:solidFill>
                <a:effectLst/>
              </a:rPr>
              <a:t>     </a:t>
            </a:r>
            <a:r>
              <a:rPr lang="en-US" sz="2400" dirty="0" smtClean="0">
                <a:solidFill>
                  <a:schemeClr val="tx1"/>
                </a:solidFill>
                <a:effectLst/>
              </a:rPr>
              <a:t>      a[p+1</a:t>
            </a:r>
            <a:r>
              <a:rPr lang="en-US" sz="2400" dirty="0">
                <a:solidFill>
                  <a:schemeClr val="tx1"/>
                </a:solidFill>
                <a:effectLst/>
              </a:rPr>
              <a:t>]=a[p]; </a:t>
            </a:r>
          </a:p>
          <a:p>
            <a:pPr marL="0" indent="0">
              <a:lnSpc>
                <a:spcPct val="70000"/>
              </a:lnSpc>
              <a:buNone/>
            </a:pPr>
            <a:r>
              <a:rPr lang="en-US" sz="2400" dirty="0">
                <a:solidFill>
                  <a:schemeClr val="tx1"/>
                </a:solidFill>
                <a:effectLst/>
              </a:rPr>
              <a:t>     </a:t>
            </a:r>
            <a:r>
              <a:rPr lang="en-US" sz="2400" dirty="0" smtClean="0">
                <a:solidFill>
                  <a:schemeClr val="tx1"/>
                </a:solidFill>
                <a:effectLst/>
              </a:rPr>
              <a:t>      p-</a:t>
            </a:r>
            <a:r>
              <a:rPr lang="en-US" sz="2400" dirty="0">
                <a:solidFill>
                  <a:schemeClr val="tx1"/>
                </a:solidFill>
                <a:effectLst/>
              </a:rPr>
              <a:t>-;</a:t>
            </a:r>
          </a:p>
          <a:p>
            <a:pPr marL="0" indent="0">
              <a:lnSpc>
                <a:spcPct val="70000"/>
              </a:lnSpc>
              <a:buNone/>
            </a:pPr>
            <a:r>
              <a:rPr lang="en-US" sz="2400" dirty="0" smtClean="0">
                <a:solidFill>
                  <a:schemeClr val="tx1"/>
                </a:solidFill>
                <a:effectLst/>
              </a:rPr>
              <a:t>        }</a:t>
            </a:r>
            <a:endParaRPr lang="en-US" sz="2400" dirty="0">
              <a:solidFill>
                <a:schemeClr val="tx1"/>
              </a:solidFill>
              <a:effectLst/>
            </a:endParaRPr>
          </a:p>
          <a:p>
            <a:pPr marL="0" indent="0">
              <a:lnSpc>
                <a:spcPct val="70000"/>
              </a:lnSpc>
              <a:buNone/>
            </a:pPr>
            <a:r>
              <a:rPr lang="en-US" sz="2400" dirty="0" smtClean="0">
                <a:solidFill>
                  <a:schemeClr val="tx1"/>
                </a:solidFill>
                <a:effectLst/>
              </a:rPr>
              <a:t>       a[p+1</a:t>
            </a:r>
            <a:r>
              <a:rPr lang="en-US" sz="2400" dirty="0">
                <a:solidFill>
                  <a:schemeClr val="tx1"/>
                </a:solidFill>
                <a:effectLst/>
              </a:rPr>
              <a:t>]=temp; </a:t>
            </a:r>
          </a:p>
          <a:p>
            <a:pPr marL="0" indent="0">
              <a:lnSpc>
                <a:spcPct val="70000"/>
              </a:lnSpc>
              <a:buNone/>
            </a:pPr>
            <a:r>
              <a:rPr lang="en-US" sz="2400" dirty="0" smtClean="0">
                <a:solidFill>
                  <a:schemeClr val="tx1"/>
                </a:solidFill>
                <a:effectLst/>
              </a:rPr>
              <a:t>    } </a:t>
            </a:r>
            <a:endParaRPr lang="en-US" sz="2400" dirty="0">
              <a:solidFill>
                <a:schemeClr val="tx1"/>
              </a:solidFill>
              <a:effectLst/>
            </a:endParaRPr>
          </a:p>
          <a:p>
            <a:pPr marL="0" indent="0">
              <a:lnSpc>
                <a:spcPct val="70000"/>
              </a:lnSpc>
              <a:buNone/>
            </a:pPr>
            <a:r>
              <a:rPr lang="en-US" sz="2400" dirty="0" smtClean="0">
                <a:solidFill>
                  <a:schemeClr val="tx1"/>
                </a:solidFill>
                <a:effectLst/>
              </a:rPr>
              <a:t>    for(i</a:t>
            </a:r>
            <a:r>
              <a:rPr lang="en-US" sz="2400" dirty="0">
                <a:solidFill>
                  <a:schemeClr val="tx1"/>
                </a:solidFill>
                <a:effectLst/>
              </a:rPr>
              <a:t>= 0; i&lt; N; i</a:t>
            </a:r>
            <a:r>
              <a:rPr lang="en-US" sz="2400" dirty="0" smtClean="0">
                <a:solidFill>
                  <a:schemeClr val="tx1"/>
                </a:solidFill>
                <a:effectLst/>
              </a:rPr>
              <a:t>++) printf</a:t>
            </a:r>
            <a:r>
              <a:rPr lang="en-US" sz="2400" dirty="0">
                <a:solidFill>
                  <a:schemeClr val="tx1"/>
                </a:solidFill>
                <a:effectLst/>
              </a:rPr>
              <a:t>("%4d",a[i]);</a:t>
            </a:r>
          </a:p>
          <a:p>
            <a:pPr marL="0" indent="0">
              <a:lnSpc>
                <a:spcPct val="70000"/>
              </a:lnSpc>
              <a:buNone/>
            </a:pPr>
            <a:r>
              <a:rPr lang="en-US" sz="2400" dirty="0">
                <a:solidFill>
                  <a:schemeClr val="tx1"/>
                </a:solidFill>
                <a:effectLst/>
              </a:rPr>
              <a:t>    return 0</a:t>
            </a:r>
            <a:r>
              <a:rPr lang="en-US" sz="2400" dirty="0" smtClean="0">
                <a:solidFill>
                  <a:schemeClr val="tx1"/>
                </a:solidFill>
                <a:effectLst/>
              </a:rPr>
              <a:t>;      </a:t>
            </a:r>
          </a:p>
          <a:p>
            <a:pPr marL="0" indent="0">
              <a:lnSpc>
                <a:spcPct val="70000"/>
              </a:lnSpc>
              <a:buNone/>
            </a:pPr>
            <a:r>
              <a:rPr lang="en-US" sz="2400" dirty="0" smtClean="0">
                <a:solidFill>
                  <a:schemeClr val="tx1"/>
                </a:solidFill>
                <a:effectLst/>
              </a:rPr>
              <a:t> </a:t>
            </a:r>
            <a:r>
              <a:rPr lang="en-US" altLang="zh-CN" sz="2400" dirty="0">
                <a:solidFill>
                  <a:schemeClr val="tx1"/>
                </a:solidFill>
                <a:effectLst/>
              </a:rPr>
              <a:t>}</a:t>
            </a:r>
            <a:endParaRPr lang="en-US" sz="2400" dirty="0">
              <a:solidFill>
                <a:schemeClr val="tx1"/>
              </a:solidFill>
              <a:effectLst/>
            </a:endParaRPr>
          </a:p>
          <a:p>
            <a:pPr marL="0" indent="0">
              <a:lnSpc>
                <a:spcPct val="70000"/>
              </a:lnSpc>
              <a:buNone/>
            </a:pPr>
            <a:endParaRPr lang="en-US" sz="1600" dirty="0">
              <a:solidFill>
                <a:schemeClr val="tx1"/>
              </a:solidFill>
              <a:effectLst/>
            </a:endParaRPr>
          </a:p>
          <a:p>
            <a:pPr marL="0" indent="0">
              <a:lnSpc>
                <a:spcPct val="70000"/>
              </a:lnSpc>
              <a:buNone/>
            </a:pPr>
            <a:endParaRPr lang="en-US" sz="1600" dirty="0">
              <a:solidFill>
                <a:schemeClr val="tx1"/>
              </a:solidFill>
              <a:effectLst/>
            </a:endParaRPr>
          </a:p>
        </p:txBody>
      </p:sp>
      <p:pic>
        <p:nvPicPr>
          <p:cNvPr id="2" name="图片 1"/>
          <p:cNvPicPr>
            <a:picLocks noChangeAspect="1"/>
          </p:cNvPicPr>
          <p:nvPr/>
        </p:nvPicPr>
        <p:blipFill>
          <a:blip r:embed="rId2"/>
          <a:stretch>
            <a:fillRect/>
          </a:stretch>
        </p:blipFill>
        <p:spPr>
          <a:xfrm>
            <a:off x="5347023" y="2492896"/>
            <a:ext cx="3796977" cy="3024336"/>
          </a:xfrm>
          <a:prstGeom prst="rect">
            <a:avLst/>
          </a:prstGeom>
        </p:spPr>
      </p:pic>
      <p:grpSp>
        <p:nvGrpSpPr>
          <p:cNvPr id="8" name="组合 7"/>
          <p:cNvGrpSpPr/>
          <p:nvPr/>
        </p:nvGrpSpPr>
        <p:grpSpPr>
          <a:xfrm>
            <a:off x="7332118" y="1988840"/>
            <a:ext cx="360040" cy="588781"/>
            <a:chOff x="1223628" y="5489276"/>
            <a:chExt cx="648072" cy="588781"/>
          </a:xfrm>
        </p:grpSpPr>
        <p:cxnSp>
          <p:nvCxnSpPr>
            <p:cNvPr id="9" name="直接箭头连接符 8"/>
            <p:cNvCxnSpPr/>
            <p:nvPr/>
          </p:nvCxnSpPr>
          <p:spPr bwMode="auto">
            <a:xfrm>
              <a:off x="1547664" y="5780504"/>
              <a:ext cx="0" cy="297553"/>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矩形 9"/>
            <p:cNvSpPr/>
            <p:nvPr/>
          </p:nvSpPr>
          <p:spPr bwMode="auto">
            <a:xfrm>
              <a:off x="1223628" y="5489276"/>
              <a:ext cx="648072" cy="291228"/>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p</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grpSp>
        <p:nvGrpSpPr>
          <p:cNvPr id="11" name="组合 10"/>
          <p:cNvGrpSpPr/>
          <p:nvPr/>
        </p:nvGrpSpPr>
        <p:grpSpPr>
          <a:xfrm>
            <a:off x="7494009" y="1556792"/>
            <a:ext cx="690452" cy="924061"/>
            <a:chOff x="1063285" y="5445224"/>
            <a:chExt cx="648072" cy="924061"/>
          </a:xfrm>
        </p:grpSpPr>
        <p:cxnSp>
          <p:nvCxnSpPr>
            <p:cNvPr id="12" name="直接箭头连接符 11"/>
            <p:cNvCxnSpPr/>
            <p:nvPr/>
          </p:nvCxnSpPr>
          <p:spPr bwMode="auto">
            <a:xfrm flipV="1">
              <a:off x="1395829" y="5769352"/>
              <a:ext cx="0" cy="599933"/>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矩形 12"/>
            <p:cNvSpPr/>
            <p:nvPr/>
          </p:nvSpPr>
          <p:spPr bwMode="auto">
            <a:xfrm>
              <a:off x="1063285" y="5445224"/>
              <a:ext cx="648072"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temp</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spTree>
    <p:extLst>
      <p:ext uri="{BB962C8B-B14F-4D97-AF65-F5344CB8AC3E}">
        <p14:creationId xmlns:p14="http://schemas.microsoft.com/office/powerpoint/2010/main" val="4097173632"/>
      </p:ext>
    </p:extLst>
  </p:cSld>
  <p:clrMapOvr>
    <a:masterClrMapping/>
  </p:clrMapOvr>
  <p:transition spd="med">
    <p:random/>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典型案例</a:t>
            </a:r>
            <a:endParaRPr lang="en-US" dirty="0"/>
          </a:p>
        </p:txBody>
      </p:sp>
      <p:sp>
        <p:nvSpPr>
          <p:cNvPr id="3" name="Content Placeholder 2"/>
          <p:cNvSpPr>
            <a:spLocks noGrp="1"/>
          </p:cNvSpPr>
          <p:nvPr>
            <p:ph idx="1"/>
          </p:nvPr>
        </p:nvSpPr>
        <p:spPr>
          <a:xfrm>
            <a:off x="755650" y="1700213"/>
            <a:ext cx="8208838" cy="936699"/>
          </a:xfrm>
        </p:spPr>
        <p:txBody>
          <a:bodyPr/>
          <a:lstStyle/>
          <a:p>
            <a:r>
              <a:rPr lang="zh-CN" altLang="en-US" dirty="0" smtClean="0"/>
              <a:t>二维数组应用</a:t>
            </a:r>
            <a:endParaRPr lang="zh-TW" alt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63</a:t>
            </a:fld>
            <a:endParaRPr lang="en-US" altLang="zh-CN" dirty="0"/>
          </a:p>
        </p:txBody>
      </p:sp>
    </p:spTree>
    <p:extLst>
      <p:ext uri="{BB962C8B-B14F-4D97-AF65-F5344CB8AC3E}">
        <p14:creationId xmlns:p14="http://schemas.microsoft.com/office/powerpoint/2010/main" val="2123992118"/>
      </p:ext>
    </p:extLst>
  </p:cSld>
  <p:clrMapOvr>
    <a:masterClrMapping/>
  </p:clrMapOvr>
  <p:transition spd="med">
    <p:random/>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64</a:t>
            </a:fld>
            <a:endParaRPr lang="en-US" altLang="zh-CN" dirty="0"/>
          </a:p>
        </p:txBody>
      </p:sp>
      <p:sp>
        <p:nvSpPr>
          <p:cNvPr id="6" name="Content Placeholder 2"/>
          <p:cNvSpPr txBox="1">
            <a:spLocks/>
          </p:cNvSpPr>
          <p:nvPr/>
        </p:nvSpPr>
        <p:spPr>
          <a:xfrm>
            <a:off x="755576" y="764704"/>
            <a:ext cx="7993063" cy="5229200"/>
          </a:xfrm>
          <a:prstGeom prst="rect">
            <a:avLst/>
          </a:prstGeom>
        </p:spPr>
        <p:txBody>
          <a:bodyPr/>
          <a:lst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chemeClr val="tx1"/>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chemeClr val="tx1"/>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a:lstStyle>
          <a:p>
            <a:r>
              <a:rPr lang="en-US" altLang="zh-TW" kern="0" dirty="0" smtClean="0">
                <a:solidFill>
                  <a:srgbClr val="0000FF"/>
                </a:solidFill>
              </a:rPr>
              <a:t>【</a:t>
            </a:r>
            <a:r>
              <a:rPr lang="zh-TW" altLang="en-US" kern="0" dirty="0" smtClean="0">
                <a:solidFill>
                  <a:srgbClr val="0000FF"/>
                </a:solidFill>
              </a:rPr>
              <a:t>例</a:t>
            </a:r>
            <a:r>
              <a:rPr lang="en-US" altLang="zh-TW" kern="0" dirty="0" smtClean="0">
                <a:solidFill>
                  <a:srgbClr val="0000FF"/>
                </a:solidFill>
              </a:rPr>
              <a:t>4-10】</a:t>
            </a:r>
            <a:r>
              <a:rPr lang="zh-TW" altLang="en-US" kern="0" dirty="0" smtClean="0">
                <a:solidFill>
                  <a:srgbClr val="0000FF"/>
                </a:solidFill>
              </a:rPr>
              <a:t>矩阵置换。输入一个正整数</a:t>
            </a:r>
            <a:r>
              <a:rPr lang="en-US" altLang="zh-TW" kern="0" dirty="0" smtClean="0">
                <a:solidFill>
                  <a:srgbClr val="0000FF"/>
                </a:solidFill>
              </a:rPr>
              <a:t>n (1&lt;n≤6)</a:t>
            </a:r>
            <a:r>
              <a:rPr lang="zh-TW" altLang="en-US" kern="0" dirty="0" smtClean="0">
                <a:solidFill>
                  <a:srgbClr val="0000FF"/>
                </a:solidFill>
              </a:rPr>
              <a:t>，生成</a:t>
            </a:r>
            <a:r>
              <a:rPr lang="en-US" altLang="zh-TW" kern="0" dirty="0" smtClean="0">
                <a:solidFill>
                  <a:srgbClr val="0000FF"/>
                </a:solidFill>
              </a:rPr>
              <a:t>1</a:t>
            </a:r>
            <a:r>
              <a:rPr lang="zh-TW" altLang="en-US" kern="0" dirty="0" smtClean="0">
                <a:solidFill>
                  <a:srgbClr val="0000FF"/>
                </a:solidFill>
              </a:rPr>
              <a:t>个</a:t>
            </a:r>
            <a:r>
              <a:rPr lang="en-US" altLang="zh-TW" kern="0" dirty="0" smtClean="0">
                <a:solidFill>
                  <a:srgbClr val="0000FF"/>
                </a:solidFill>
              </a:rPr>
              <a:t>n*n</a:t>
            </a:r>
            <a:r>
              <a:rPr lang="zh-TW" altLang="en-US" kern="0" dirty="0" smtClean="0">
                <a:solidFill>
                  <a:srgbClr val="0000FF"/>
                </a:solidFill>
              </a:rPr>
              <a:t>的方阵，然后将该方阵转置（行列互换）后输出。</a:t>
            </a:r>
            <a:endParaRPr lang="en-US" altLang="zh-TW" kern="0" dirty="0" smtClean="0">
              <a:solidFill>
                <a:srgbClr val="0000FF"/>
              </a:solidFill>
            </a:endParaRPr>
          </a:p>
          <a:p>
            <a:r>
              <a:rPr lang="zh-CN" altLang="en-US" kern="0" dirty="0" smtClean="0">
                <a:solidFill>
                  <a:srgbClr val="0000FF"/>
                </a:solidFill>
              </a:rPr>
              <a:t>以</a:t>
            </a:r>
            <a:r>
              <a:rPr lang="en-US" altLang="zh-CN" kern="0" dirty="0" smtClean="0">
                <a:solidFill>
                  <a:srgbClr val="0000FF"/>
                </a:solidFill>
              </a:rPr>
              <a:t>3ˣ3</a:t>
            </a:r>
            <a:r>
              <a:rPr lang="zh-CN" altLang="en-US" kern="0" dirty="0" smtClean="0">
                <a:solidFill>
                  <a:srgbClr val="0000FF"/>
                </a:solidFill>
              </a:rPr>
              <a:t>矩阵 为例 ：</a:t>
            </a:r>
            <a:endParaRPr lang="en-US" kern="0" dirty="0">
              <a:solidFill>
                <a:srgbClr val="0000FF"/>
              </a:solidFill>
            </a:endParaRPr>
          </a:p>
        </p:txBody>
      </p:sp>
      <p:pic>
        <p:nvPicPr>
          <p:cNvPr id="7" name="图片 6"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7864" y="3212976"/>
            <a:ext cx="4639323" cy="1752845"/>
          </a:xfrm>
          <a:prstGeom prst="rect">
            <a:avLst/>
          </a:prstGeom>
        </p:spPr>
      </p:pic>
      <p:grpSp>
        <p:nvGrpSpPr>
          <p:cNvPr id="2" name="组合 1"/>
          <p:cNvGrpSpPr/>
          <p:nvPr/>
        </p:nvGrpSpPr>
        <p:grpSpPr>
          <a:xfrm>
            <a:off x="2195736" y="5238388"/>
            <a:ext cx="5410200" cy="1260475"/>
            <a:chOff x="2123728" y="5247470"/>
            <a:chExt cx="5410200" cy="1260475"/>
          </a:xfrm>
        </p:grpSpPr>
        <p:grpSp>
          <p:nvGrpSpPr>
            <p:cNvPr id="12" name="Group 8"/>
            <p:cNvGrpSpPr>
              <a:grpSpLocks/>
            </p:cNvGrpSpPr>
            <p:nvPr/>
          </p:nvGrpSpPr>
          <p:grpSpPr bwMode="auto">
            <a:xfrm>
              <a:off x="2123728" y="5247470"/>
              <a:ext cx="5410200" cy="1260475"/>
              <a:chOff x="1056" y="2016"/>
              <a:chExt cx="3408" cy="794"/>
            </a:xfrm>
          </p:grpSpPr>
          <p:sp>
            <p:nvSpPr>
              <p:cNvPr id="13" name="Rectangle 5"/>
              <p:cNvSpPr>
                <a:spLocks noChangeArrowheads="1"/>
              </p:cNvSpPr>
              <p:nvPr/>
            </p:nvSpPr>
            <p:spPr bwMode="auto">
              <a:xfrm>
                <a:off x="1056" y="2016"/>
                <a:ext cx="1104" cy="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kumimoji="1" lang="zh-CN" altLang="en-US" sz="2400" b="1" dirty="0"/>
                  <a:t>1    2    3</a:t>
                </a:r>
              </a:p>
              <a:p>
                <a:r>
                  <a:rPr kumimoji="1" lang="zh-CN" altLang="en-US" sz="2400" b="1" dirty="0"/>
                  <a:t>4    5    6</a:t>
                </a:r>
              </a:p>
              <a:p>
                <a:r>
                  <a:rPr kumimoji="1" lang="zh-CN" altLang="en-US" sz="2400" b="1" dirty="0"/>
                  <a:t>7    8    9</a:t>
                </a:r>
              </a:p>
            </p:txBody>
          </p:sp>
          <p:sp>
            <p:nvSpPr>
              <p:cNvPr id="14" name="Line 6"/>
              <p:cNvSpPr>
                <a:spLocks noChangeShapeType="1"/>
              </p:cNvSpPr>
              <p:nvPr/>
            </p:nvSpPr>
            <p:spPr bwMode="auto">
              <a:xfrm>
                <a:off x="2208" y="2400"/>
                <a:ext cx="864" cy="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a:p>
            </p:txBody>
          </p:sp>
          <p:sp>
            <p:nvSpPr>
              <p:cNvPr id="15" name="Rectangle 7"/>
              <p:cNvSpPr>
                <a:spLocks noChangeArrowheads="1"/>
              </p:cNvSpPr>
              <p:nvPr/>
            </p:nvSpPr>
            <p:spPr bwMode="auto">
              <a:xfrm>
                <a:off x="3360" y="2064"/>
                <a:ext cx="1104" cy="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kumimoji="1" lang="zh-CN" altLang="en-US" sz="2400" b="1" dirty="0"/>
                  <a:t>1    4    7       2    5    8</a:t>
                </a:r>
              </a:p>
              <a:p>
                <a:r>
                  <a:rPr kumimoji="1" lang="zh-CN" altLang="en-US" sz="2400" b="1" dirty="0"/>
                  <a:t>3    6    9</a:t>
                </a:r>
              </a:p>
            </p:txBody>
          </p:sp>
        </p:grpSp>
        <p:cxnSp>
          <p:nvCxnSpPr>
            <p:cNvPr id="16" name="直接箭头连接符 15"/>
            <p:cNvCxnSpPr/>
            <p:nvPr/>
          </p:nvCxnSpPr>
          <p:spPr bwMode="auto">
            <a:xfrm flipV="1">
              <a:off x="2411760" y="5607510"/>
              <a:ext cx="288032" cy="232097"/>
            </a:xfrm>
            <a:prstGeom prst="straightConnector1">
              <a:avLst/>
            </a:prstGeom>
            <a:solidFill>
              <a:schemeClr val="accent1"/>
            </a:solidFill>
            <a:ln w="9525" cap="flat" cmpd="sng" algn="ctr">
              <a:solidFill>
                <a:schemeClr val="tx1"/>
              </a:solidFill>
              <a:prstDash val="solid"/>
              <a:round/>
              <a:headEnd type="arrow"/>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箭头连接符 16"/>
            <p:cNvCxnSpPr/>
            <p:nvPr/>
          </p:nvCxnSpPr>
          <p:spPr bwMode="auto">
            <a:xfrm flipV="1">
              <a:off x="2411760" y="5476544"/>
              <a:ext cx="792088" cy="638270"/>
            </a:xfrm>
            <a:prstGeom prst="straightConnector1">
              <a:avLst/>
            </a:prstGeom>
            <a:solidFill>
              <a:schemeClr val="accent1"/>
            </a:solidFill>
            <a:ln w="9525" cap="flat" cmpd="sng" algn="ctr">
              <a:solidFill>
                <a:schemeClr val="tx1"/>
              </a:solidFill>
              <a:prstDash val="solid"/>
              <a:round/>
              <a:headEnd type="arrow"/>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箭头连接符 17"/>
            <p:cNvCxnSpPr/>
            <p:nvPr/>
          </p:nvCxnSpPr>
          <p:spPr bwMode="auto">
            <a:xfrm flipV="1">
              <a:off x="2914824" y="5882717"/>
              <a:ext cx="288032" cy="232097"/>
            </a:xfrm>
            <a:prstGeom prst="straightConnector1">
              <a:avLst/>
            </a:prstGeom>
            <a:solidFill>
              <a:schemeClr val="accent1"/>
            </a:solidFill>
            <a:ln w="9525" cap="flat" cmpd="sng" algn="ctr">
              <a:solidFill>
                <a:schemeClr val="tx1"/>
              </a:solidFill>
              <a:prstDash val="solid"/>
              <a:round/>
              <a:headEnd type="arrow"/>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770795789"/>
      </p:ext>
    </p:extLst>
  </p:cSld>
  <p:clrMapOvr>
    <a:masterClrMapping/>
  </p:clrMapOvr>
  <p:transition spd="med">
    <p:random/>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 3"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83968" y="844749"/>
            <a:ext cx="4639323" cy="1752845"/>
          </a:xfrm>
          <a:prstGeom prst="rect">
            <a:avLst/>
          </a:prstGeom>
        </p:spPr>
      </p:pic>
      <p:sp>
        <p:nvSpPr>
          <p:cNvPr id="3" name="Content Placeholder 2"/>
          <p:cNvSpPr>
            <a:spLocks noGrp="1"/>
          </p:cNvSpPr>
          <p:nvPr>
            <p:ph idx="1"/>
          </p:nvPr>
        </p:nvSpPr>
        <p:spPr>
          <a:xfrm>
            <a:off x="251520" y="44624"/>
            <a:ext cx="8569127" cy="6813376"/>
          </a:xfrm>
        </p:spPr>
        <p:txBody>
          <a:bodyPr/>
          <a:lstStyle/>
          <a:p>
            <a:pPr marL="0" indent="0">
              <a:lnSpc>
                <a:spcPct val="90000"/>
              </a:lnSpc>
              <a:buNone/>
            </a:pPr>
            <a:r>
              <a:rPr lang="en-US" sz="1600" kern="1200" dirty="0">
                <a:solidFill>
                  <a:schemeClr val="tx1"/>
                </a:solidFill>
                <a:effectLst/>
              </a:rPr>
              <a:t>#include &lt;stdio.h&gt;</a:t>
            </a:r>
          </a:p>
          <a:p>
            <a:pPr marL="0" indent="0">
              <a:lnSpc>
                <a:spcPct val="90000"/>
              </a:lnSpc>
              <a:buNone/>
            </a:pPr>
            <a:r>
              <a:rPr lang="en-US" sz="1600" kern="1200" dirty="0">
                <a:solidFill>
                  <a:schemeClr val="tx1"/>
                </a:solidFill>
                <a:effectLst/>
              </a:rPr>
              <a:t>int main()</a:t>
            </a:r>
          </a:p>
          <a:p>
            <a:pPr marL="0" indent="0">
              <a:lnSpc>
                <a:spcPct val="90000"/>
              </a:lnSpc>
              <a:buNone/>
            </a:pPr>
            <a:r>
              <a:rPr lang="en-US" sz="1600" kern="1200" dirty="0">
                <a:solidFill>
                  <a:schemeClr val="tx1"/>
                </a:solidFill>
                <a:effectLst/>
              </a:rPr>
              <a:t>{   </a:t>
            </a:r>
          </a:p>
          <a:p>
            <a:pPr marL="0" indent="0">
              <a:lnSpc>
                <a:spcPct val="90000"/>
              </a:lnSpc>
              <a:buNone/>
            </a:pPr>
            <a:r>
              <a:rPr lang="en-US" sz="1600" kern="1200" dirty="0">
                <a:solidFill>
                  <a:schemeClr val="tx1"/>
                </a:solidFill>
                <a:effectLst/>
              </a:rPr>
              <a:t>    int i, j, n, temp;    int a[6][6];</a:t>
            </a:r>
          </a:p>
          <a:p>
            <a:pPr marL="0" indent="0">
              <a:lnSpc>
                <a:spcPct val="90000"/>
              </a:lnSpc>
              <a:buNone/>
            </a:pPr>
            <a:r>
              <a:rPr lang="en-US" sz="1600" kern="1200" dirty="0">
                <a:solidFill>
                  <a:schemeClr val="tx1"/>
                </a:solidFill>
                <a:effectLst/>
              </a:rPr>
              <a:t>    printf("Enter n: ") ; </a:t>
            </a:r>
          </a:p>
          <a:p>
            <a:pPr marL="0" indent="0">
              <a:lnSpc>
                <a:spcPct val="90000"/>
              </a:lnSpc>
              <a:buNone/>
            </a:pPr>
            <a:r>
              <a:rPr lang="en-US" sz="1600" kern="1200" dirty="0">
                <a:solidFill>
                  <a:schemeClr val="tx1"/>
                </a:solidFill>
                <a:effectLst/>
              </a:rPr>
              <a:t>    scanf("%d", &amp;n); </a:t>
            </a:r>
          </a:p>
          <a:p>
            <a:pPr marL="0" indent="0">
              <a:lnSpc>
                <a:spcPct val="90000"/>
              </a:lnSpc>
              <a:buNone/>
            </a:pPr>
            <a:r>
              <a:rPr lang="en-US" sz="1600" kern="1200" dirty="0">
                <a:solidFill>
                  <a:schemeClr val="tx1"/>
                </a:solidFill>
                <a:effectLst/>
              </a:rPr>
              <a:t>    /* </a:t>
            </a:r>
            <a:r>
              <a:rPr lang="zh-CN" altLang="en-US" sz="1600" kern="1200" dirty="0">
                <a:solidFill>
                  <a:schemeClr val="tx1"/>
                </a:solidFill>
                <a:effectLst/>
              </a:rPr>
              <a:t>给二维数组赋值 *</a:t>
            </a:r>
            <a:r>
              <a:rPr lang="en-US" altLang="zh-CN" sz="1600" kern="1200" dirty="0">
                <a:solidFill>
                  <a:schemeClr val="tx1"/>
                </a:solidFill>
                <a:effectLst/>
              </a:rPr>
              <a:t>/</a:t>
            </a:r>
          </a:p>
          <a:p>
            <a:pPr marL="0" indent="0">
              <a:lnSpc>
                <a:spcPct val="90000"/>
              </a:lnSpc>
              <a:buNone/>
            </a:pPr>
            <a:r>
              <a:rPr lang="en-US" altLang="zh-CN" sz="1600" kern="1200" dirty="0">
                <a:solidFill>
                  <a:schemeClr val="tx1"/>
                </a:solidFill>
                <a:effectLst/>
              </a:rPr>
              <a:t>    </a:t>
            </a:r>
            <a:r>
              <a:rPr lang="en-US" sz="1600" kern="1200" dirty="0">
                <a:solidFill>
                  <a:schemeClr val="tx1"/>
                </a:solidFill>
                <a:effectLst/>
              </a:rPr>
              <a:t>for(i = 0; i &lt; n; i++)</a:t>
            </a:r>
          </a:p>
          <a:p>
            <a:pPr marL="0" indent="0">
              <a:lnSpc>
                <a:spcPct val="90000"/>
              </a:lnSpc>
              <a:buNone/>
            </a:pPr>
            <a:r>
              <a:rPr lang="en-US" sz="1600" kern="1200" dirty="0">
                <a:solidFill>
                  <a:schemeClr val="tx1"/>
                </a:solidFill>
                <a:effectLst/>
              </a:rPr>
              <a:t>        for(j = 0; j &lt; n; j++)  scanf("%d",&amp;a[i][j]);</a:t>
            </a:r>
          </a:p>
          <a:p>
            <a:pPr marL="0" indent="0">
              <a:lnSpc>
                <a:spcPct val="90000"/>
              </a:lnSpc>
              <a:buNone/>
            </a:pPr>
            <a:r>
              <a:rPr lang="en-US" sz="1600" kern="1200" dirty="0">
                <a:solidFill>
                  <a:schemeClr val="tx1"/>
                </a:solidFill>
                <a:effectLst/>
              </a:rPr>
              <a:t>    /* </a:t>
            </a:r>
            <a:r>
              <a:rPr lang="zh-CN" altLang="en-US" sz="1600" kern="1200" dirty="0">
                <a:solidFill>
                  <a:schemeClr val="tx1"/>
                </a:solidFill>
                <a:effectLst/>
              </a:rPr>
              <a:t>行列互换*</a:t>
            </a:r>
            <a:r>
              <a:rPr lang="en-US" altLang="zh-CN" sz="1600" kern="1200" dirty="0">
                <a:solidFill>
                  <a:schemeClr val="tx1"/>
                </a:solidFill>
                <a:effectLst/>
              </a:rPr>
              <a:t>/</a:t>
            </a:r>
          </a:p>
          <a:p>
            <a:pPr marL="0" indent="0">
              <a:lnSpc>
                <a:spcPct val="90000"/>
              </a:lnSpc>
              <a:buNone/>
            </a:pPr>
            <a:r>
              <a:rPr lang="en-US" altLang="zh-CN" sz="1600" kern="1200" dirty="0">
                <a:solidFill>
                  <a:schemeClr val="tx1"/>
                </a:solidFill>
                <a:effectLst/>
              </a:rPr>
              <a:t>    </a:t>
            </a:r>
            <a:r>
              <a:rPr lang="en-US" sz="1600" kern="1200" dirty="0">
                <a:solidFill>
                  <a:schemeClr val="tx1"/>
                </a:solidFill>
                <a:effectLst/>
              </a:rPr>
              <a:t>for(i = 0; i &lt; n; i++)</a:t>
            </a:r>
          </a:p>
          <a:p>
            <a:pPr marL="0" indent="0">
              <a:lnSpc>
                <a:spcPct val="90000"/>
              </a:lnSpc>
              <a:buNone/>
            </a:pPr>
            <a:r>
              <a:rPr lang="en-US" sz="1600" kern="1200" dirty="0">
                <a:solidFill>
                  <a:schemeClr val="tx1"/>
                </a:solidFill>
                <a:effectLst/>
              </a:rPr>
              <a:t>        for(j = 0; j &lt; n; j++)</a:t>
            </a:r>
          </a:p>
          <a:p>
            <a:pPr marL="0" indent="0">
              <a:lnSpc>
                <a:spcPct val="90000"/>
              </a:lnSpc>
              <a:buNone/>
            </a:pPr>
            <a:r>
              <a:rPr lang="en-US" sz="1600" kern="1200" dirty="0">
                <a:solidFill>
                  <a:schemeClr val="tx1"/>
                </a:solidFill>
                <a:effectLst/>
              </a:rPr>
              <a:t>            if(i &lt; j)</a:t>
            </a:r>
          </a:p>
          <a:p>
            <a:pPr marL="0" indent="0">
              <a:lnSpc>
                <a:spcPct val="90000"/>
              </a:lnSpc>
              <a:buNone/>
            </a:pPr>
            <a:r>
              <a:rPr lang="en-US" sz="1600" kern="1200" dirty="0">
                <a:solidFill>
                  <a:schemeClr val="tx1"/>
                </a:solidFill>
                <a:effectLst/>
              </a:rPr>
              <a:t>            {      /* </a:t>
            </a:r>
            <a:r>
              <a:rPr lang="zh-CN" altLang="en-US" sz="1600" kern="1200" dirty="0">
                <a:solidFill>
                  <a:schemeClr val="tx1"/>
                </a:solidFill>
                <a:effectLst/>
              </a:rPr>
              <a:t>只遍历上三角阵 *</a:t>
            </a:r>
            <a:r>
              <a:rPr lang="en-US" altLang="zh-CN" sz="1600" kern="1200" dirty="0">
                <a:solidFill>
                  <a:schemeClr val="tx1"/>
                </a:solidFill>
                <a:effectLst/>
              </a:rPr>
              <a:t>/</a:t>
            </a:r>
          </a:p>
          <a:p>
            <a:pPr marL="0" indent="0">
              <a:lnSpc>
                <a:spcPct val="90000"/>
              </a:lnSpc>
              <a:buNone/>
            </a:pPr>
            <a:r>
              <a:rPr lang="en-US" altLang="zh-CN" sz="1600" kern="1200" dirty="0">
                <a:solidFill>
                  <a:schemeClr val="tx1"/>
                </a:solidFill>
                <a:effectLst/>
              </a:rPr>
              <a:t>                 temp = a[i][j]; a[i][j] = a[j][i]; a[j][i] = temp;</a:t>
            </a:r>
          </a:p>
          <a:p>
            <a:pPr marL="0" indent="0">
              <a:lnSpc>
                <a:spcPct val="90000"/>
              </a:lnSpc>
              <a:buNone/>
            </a:pPr>
            <a:r>
              <a:rPr lang="en-US" altLang="zh-CN" sz="1600" kern="1200" dirty="0">
                <a:solidFill>
                  <a:schemeClr val="tx1"/>
                </a:solidFill>
                <a:effectLst/>
              </a:rPr>
              <a:t>            }</a:t>
            </a:r>
          </a:p>
          <a:p>
            <a:pPr marL="0" indent="0">
              <a:lnSpc>
                <a:spcPct val="90000"/>
              </a:lnSpc>
              <a:buNone/>
            </a:pPr>
            <a:r>
              <a:rPr lang="en-US" altLang="zh-CN" sz="1600" kern="1200" dirty="0">
                <a:solidFill>
                  <a:schemeClr val="tx1"/>
                </a:solidFill>
                <a:effectLst/>
              </a:rPr>
              <a:t>    /* </a:t>
            </a:r>
            <a:r>
              <a:rPr lang="zh-CN" altLang="en-US" sz="1600" kern="1200" dirty="0">
                <a:solidFill>
                  <a:schemeClr val="tx1"/>
                </a:solidFill>
                <a:effectLst/>
              </a:rPr>
              <a:t>按矩阵的形式输出</a:t>
            </a:r>
            <a:r>
              <a:rPr lang="en-US" altLang="zh-CN" sz="1600" kern="1200" dirty="0">
                <a:solidFill>
                  <a:schemeClr val="tx1"/>
                </a:solidFill>
                <a:effectLst/>
              </a:rPr>
              <a:t>a  */</a:t>
            </a:r>
          </a:p>
          <a:p>
            <a:pPr marL="0" indent="0">
              <a:lnSpc>
                <a:spcPct val="90000"/>
              </a:lnSpc>
              <a:buNone/>
            </a:pPr>
            <a:r>
              <a:rPr lang="en-US" altLang="zh-CN" sz="1600" kern="1200" dirty="0">
                <a:solidFill>
                  <a:schemeClr val="tx1"/>
                </a:solidFill>
                <a:effectLst/>
              </a:rPr>
              <a:t>     for(i = 0; i &lt; n; i++)</a:t>
            </a:r>
          </a:p>
          <a:p>
            <a:pPr marL="0" indent="0">
              <a:lnSpc>
                <a:spcPct val="90000"/>
              </a:lnSpc>
              <a:buNone/>
            </a:pPr>
            <a:r>
              <a:rPr lang="en-US" altLang="zh-CN" sz="1600" kern="1200" dirty="0">
                <a:solidFill>
                  <a:schemeClr val="tx1"/>
                </a:solidFill>
                <a:effectLst/>
              </a:rPr>
              <a:t>    {</a:t>
            </a:r>
          </a:p>
          <a:p>
            <a:pPr marL="0" indent="0">
              <a:lnSpc>
                <a:spcPct val="90000"/>
              </a:lnSpc>
              <a:buNone/>
            </a:pPr>
            <a:r>
              <a:rPr lang="en-US" altLang="zh-CN" sz="1600" kern="1200" dirty="0">
                <a:solidFill>
                  <a:schemeClr val="tx1"/>
                </a:solidFill>
                <a:effectLst/>
              </a:rPr>
              <a:t>          for(j = 0; j &lt; n; j++)</a:t>
            </a:r>
          </a:p>
          <a:p>
            <a:pPr marL="0" indent="0">
              <a:lnSpc>
                <a:spcPct val="90000"/>
              </a:lnSpc>
              <a:buNone/>
            </a:pPr>
            <a:r>
              <a:rPr lang="en-US" altLang="zh-CN" sz="1600" kern="1200" dirty="0">
                <a:solidFill>
                  <a:schemeClr val="tx1"/>
                </a:solidFill>
                <a:effectLst/>
              </a:rPr>
              <a:t>	printf("%4d",a[i][j]);</a:t>
            </a:r>
          </a:p>
          <a:p>
            <a:pPr marL="0" indent="0">
              <a:lnSpc>
                <a:spcPct val="90000"/>
              </a:lnSpc>
              <a:buNone/>
            </a:pPr>
            <a:r>
              <a:rPr lang="en-US" altLang="zh-CN" sz="1600" kern="1200" dirty="0">
                <a:solidFill>
                  <a:schemeClr val="tx1"/>
                </a:solidFill>
                <a:effectLst/>
              </a:rPr>
              <a:t>          printf("\n");</a:t>
            </a:r>
          </a:p>
          <a:p>
            <a:pPr marL="0" indent="0">
              <a:lnSpc>
                <a:spcPct val="90000"/>
              </a:lnSpc>
              <a:buNone/>
            </a:pPr>
            <a:r>
              <a:rPr lang="en-US" altLang="zh-CN" sz="1600" kern="1200" dirty="0">
                <a:solidFill>
                  <a:schemeClr val="tx1"/>
                </a:solidFill>
                <a:effectLst/>
              </a:rPr>
              <a:t>     }</a:t>
            </a:r>
          </a:p>
          <a:p>
            <a:pPr marL="0" indent="0">
              <a:lnSpc>
                <a:spcPct val="90000"/>
              </a:lnSpc>
              <a:buNone/>
            </a:pPr>
            <a:r>
              <a:rPr lang="en-US" altLang="zh-CN" sz="1600" kern="1200" dirty="0">
                <a:solidFill>
                  <a:schemeClr val="tx1"/>
                </a:solidFill>
                <a:effectLst/>
              </a:rPr>
              <a:t>    return 0;</a:t>
            </a:r>
          </a:p>
          <a:p>
            <a:pPr marL="0" indent="0">
              <a:lnSpc>
                <a:spcPct val="90000"/>
              </a:lnSpc>
              <a:buNone/>
            </a:pPr>
            <a:r>
              <a:rPr lang="en-US" altLang="zh-CN" sz="1600" kern="1200" dirty="0">
                <a:solidFill>
                  <a:schemeClr val="tx1"/>
                </a:solidFill>
                <a:effectLst/>
              </a:rPr>
              <a:t>} </a:t>
            </a:r>
          </a:p>
          <a:p>
            <a:endParaRPr lang="en-US" altLang="zh-CN" dirty="0"/>
          </a:p>
          <a:p>
            <a:endParaRPr lang="en-US" dirty="0"/>
          </a:p>
        </p:txBody>
      </p:sp>
    </p:spTree>
    <p:extLst>
      <p:ext uri="{BB962C8B-B14F-4D97-AF65-F5344CB8AC3E}">
        <p14:creationId xmlns:p14="http://schemas.microsoft.com/office/powerpoint/2010/main" val="1655907295"/>
      </p:ext>
    </p:extLst>
  </p:cSld>
  <p:clrMapOvr>
    <a:masterClrMapping/>
  </p:clrMapOvr>
  <p:transition spd="med">
    <p:random/>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66</a:t>
            </a:fld>
            <a:endParaRPr lang="en-US" altLang="zh-CN" dirty="0"/>
          </a:p>
        </p:txBody>
      </p:sp>
      <p:sp>
        <p:nvSpPr>
          <p:cNvPr id="3" name="Content Placeholder 2"/>
          <p:cNvSpPr>
            <a:spLocks noGrp="1"/>
          </p:cNvSpPr>
          <p:nvPr>
            <p:ph idx="4294967295"/>
          </p:nvPr>
        </p:nvSpPr>
        <p:spPr>
          <a:xfrm>
            <a:off x="827584" y="656407"/>
            <a:ext cx="7993062" cy="612354"/>
          </a:xfrm>
        </p:spPr>
        <p:txBody>
          <a:bodyPr/>
          <a:lstStyle/>
          <a:p>
            <a:r>
              <a:rPr lang="en-US" altLang="zh-TW" dirty="0">
                <a:solidFill>
                  <a:srgbClr val="0066FF"/>
                </a:solidFill>
              </a:rPr>
              <a:t>【</a:t>
            </a:r>
            <a:r>
              <a:rPr lang="zh-TW" altLang="en-US" dirty="0">
                <a:solidFill>
                  <a:srgbClr val="0066FF"/>
                </a:solidFill>
              </a:rPr>
              <a:t>例</a:t>
            </a:r>
            <a:r>
              <a:rPr lang="en-US" altLang="zh-TW" dirty="0">
                <a:solidFill>
                  <a:srgbClr val="0066FF"/>
                </a:solidFill>
              </a:rPr>
              <a:t>4-13】</a:t>
            </a:r>
            <a:r>
              <a:rPr lang="zh-TW" altLang="en-US" dirty="0">
                <a:solidFill>
                  <a:srgbClr val="0066FF"/>
                </a:solidFill>
              </a:rPr>
              <a:t>二维数组外圈数值之和。</a:t>
            </a:r>
          </a:p>
          <a:p>
            <a:pPr marL="0" indent="0">
              <a:buNone/>
            </a:pPr>
            <a:endParaRPr lang="en-US" dirty="0"/>
          </a:p>
        </p:txBody>
      </p:sp>
      <p:sp>
        <p:nvSpPr>
          <p:cNvPr id="5" name="Content Placeholder 2"/>
          <p:cNvSpPr txBox="1">
            <a:spLocks/>
          </p:cNvSpPr>
          <p:nvPr/>
        </p:nvSpPr>
        <p:spPr>
          <a:xfrm>
            <a:off x="827584" y="1196752"/>
            <a:ext cx="7993063" cy="5256584"/>
          </a:xfrm>
          <a:prstGeom prst="rect">
            <a:avLst/>
          </a:prstGeom>
        </p:spPr>
        <p:txBody>
          <a:bodyPr numCol="2"/>
          <a:lst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rgbClr val="FF3300"/>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rgbClr val="3333FF"/>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a:lstStyle>
          <a:p>
            <a:pPr marL="0" indent="0">
              <a:lnSpc>
                <a:spcPct val="100000"/>
              </a:lnSpc>
              <a:buFont typeface="Webdings" pitchFamily="18" charset="2"/>
              <a:buNone/>
            </a:pPr>
            <a:r>
              <a:rPr lang="ro-RO" altLang="zh-CN" sz="1600" dirty="0" smtClean="0">
                <a:solidFill>
                  <a:schemeClr val="tx1"/>
                </a:solidFill>
                <a:effectLst/>
              </a:rPr>
              <a:t>#define N </a:t>
            </a:r>
            <a:r>
              <a:rPr lang="en-US" altLang="zh-CN" sz="1600" dirty="0" smtClean="0">
                <a:solidFill>
                  <a:schemeClr val="tx1"/>
                </a:solidFill>
                <a:effectLst/>
              </a:rPr>
              <a:t>4</a:t>
            </a:r>
            <a:endParaRPr lang="ro-RO" altLang="zh-CN" sz="1600" dirty="0" smtClean="0">
              <a:solidFill>
                <a:schemeClr val="tx1"/>
              </a:solidFill>
              <a:effectLst/>
            </a:endParaRPr>
          </a:p>
          <a:p>
            <a:pPr marL="0" indent="0">
              <a:lnSpc>
                <a:spcPct val="100000"/>
              </a:lnSpc>
              <a:buFont typeface="Webdings" pitchFamily="18" charset="2"/>
              <a:buNone/>
            </a:pPr>
            <a:r>
              <a:rPr lang="ro-RO" altLang="zh-CN" sz="1600" dirty="0" smtClean="0">
                <a:solidFill>
                  <a:schemeClr val="tx1"/>
                </a:solidFill>
                <a:effectLst/>
              </a:rPr>
              <a:t>#define M </a:t>
            </a:r>
            <a:r>
              <a:rPr lang="en-US" altLang="zh-CN" sz="1600" dirty="0">
                <a:solidFill>
                  <a:schemeClr val="tx1"/>
                </a:solidFill>
                <a:effectLst/>
              </a:rPr>
              <a:t>5</a:t>
            </a:r>
            <a:endParaRPr lang="ro-RO" altLang="zh-CN" sz="1600" dirty="0" smtClean="0">
              <a:solidFill>
                <a:schemeClr val="tx1"/>
              </a:solidFill>
              <a:effectLst/>
            </a:endParaRPr>
          </a:p>
          <a:p>
            <a:pPr marL="0" indent="0">
              <a:lnSpc>
                <a:spcPct val="100000"/>
              </a:lnSpc>
              <a:buFont typeface="Webdings" pitchFamily="18" charset="2"/>
              <a:buNone/>
            </a:pPr>
            <a:r>
              <a:rPr lang="ro-RO" altLang="zh-CN" sz="1600" dirty="0" smtClean="0">
                <a:solidFill>
                  <a:schemeClr val="tx1"/>
                </a:solidFill>
                <a:effectLst/>
              </a:rPr>
              <a:t>#include &lt;stdio.h&gt;</a:t>
            </a:r>
          </a:p>
          <a:p>
            <a:pPr marL="0" indent="0">
              <a:lnSpc>
                <a:spcPct val="100000"/>
              </a:lnSpc>
              <a:buFont typeface="Webdings" pitchFamily="18" charset="2"/>
              <a:buNone/>
            </a:pPr>
            <a:r>
              <a:rPr lang="ro-RO" altLang="zh-CN" sz="1600" dirty="0" smtClean="0">
                <a:solidFill>
                  <a:schemeClr val="tx1"/>
                </a:solidFill>
                <a:effectLst/>
              </a:rPr>
              <a:t>int main()</a:t>
            </a:r>
          </a:p>
          <a:p>
            <a:pPr marL="0" indent="0">
              <a:lnSpc>
                <a:spcPct val="100000"/>
              </a:lnSpc>
              <a:buFont typeface="Webdings" pitchFamily="18" charset="2"/>
              <a:buNone/>
            </a:pPr>
            <a:r>
              <a:rPr lang="ro-RO" altLang="zh-CN" sz="1600" dirty="0" smtClean="0">
                <a:solidFill>
                  <a:schemeClr val="tx1"/>
                </a:solidFill>
                <a:effectLst/>
              </a:rPr>
              <a:t>{   </a:t>
            </a:r>
            <a:endParaRPr lang="en-US" altLang="zh-CN" sz="1600" dirty="0" smtClean="0">
              <a:solidFill>
                <a:schemeClr val="tx1"/>
              </a:solidFill>
              <a:effectLst/>
            </a:endParaRPr>
          </a:p>
          <a:p>
            <a:pPr marL="0" indent="0">
              <a:lnSpc>
                <a:spcPct val="100000"/>
              </a:lnSpc>
              <a:buFont typeface="Webdings" pitchFamily="18" charset="2"/>
              <a:buNone/>
            </a:pPr>
            <a:r>
              <a:rPr lang="en-US" altLang="zh-CN" sz="1600" dirty="0">
                <a:solidFill>
                  <a:schemeClr val="tx1"/>
                </a:solidFill>
                <a:effectLst/>
              </a:rPr>
              <a:t> </a:t>
            </a:r>
            <a:r>
              <a:rPr lang="en-US" altLang="zh-CN" sz="1600" dirty="0" smtClean="0">
                <a:solidFill>
                  <a:schemeClr val="tx1"/>
                </a:solidFill>
                <a:effectLst/>
              </a:rPr>
              <a:t>   </a:t>
            </a:r>
            <a:r>
              <a:rPr lang="ro-RO" altLang="zh-CN" sz="1600" dirty="0" smtClean="0">
                <a:solidFill>
                  <a:schemeClr val="tx1"/>
                </a:solidFill>
                <a:effectLst/>
              </a:rPr>
              <a:t>int i,</a:t>
            </a:r>
            <a:r>
              <a:rPr lang="en-US" altLang="zh-CN" sz="1600" dirty="0" smtClean="0">
                <a:solidFill>
                  <a:schemeClr val="tx1"/>
                </a:solidFill>
                <a:effectLst/>
              </a:rPr>
              <a:t> </a:t>
            </a:r>
            <a:r>
              <a:rPr lang="ro-RO" altLang="zh-CN" sz="1600" dirty="0" smtClean="0">
                <a:solidFill>
                  <a:schemeClr val="tx1"/>
                </a:solidFill>
                <a:effectLst/>
              </a:rPr>
              <a:t>j, sum=0;  </a:t>
            </a:r>
          </a:p>
          <a:p>
            <a:pPr marL="0" indent="0">
              <a:lnSpc>
                <a:spcPct val="100000"/>
              </a:lnSpc>
              <a:buFont typeface="Webdings" pitchFamily="18" charset="2"/>
              <a:buNone/>
            </a:pPr>
            <a:r>
              <a:rPr lang="en-US" altLang="zh-CN" sz="1600" dirty="0" smtClean="0">
                <a:solidFill>
                  <a:schemeClr val="tx1"/>
                </a:solidFill>
                <a:effectLst/>
              </a:rPr>
              <a:t>    </a:t>
            </a:r>
            <a:r>
              <a:rPr lang="ro-RO" altLang="zh-CN" sz="1600" dirty="0" smtClean="0">
                <a:solidFill>
                  <a:schemeClr val="tx1"/>
                </a:solidFill>
                <a:effectLst/>
              </a:rPr>
              <a:t>int a[N][M];</a:t>
            </a:r>
          </a:p>
          <a:p>
            <a:pPr marL="0" indent="0">
              <a:lnSpc>
                <a:spcPct val="100000"/>
              </a:lnSpc>
              <a:buFont typeface="Webdings" pitchFamily="18" charset="2"/>
              <a:buNone/>
            </a:pPr>
            <a:r>
              <a:rPr lang="en-US" altLang="zh-CN" sz="1600" dirty="0" smtClean="0">
                <a:solidFill>
                  <a:schemeClr val="tx1"/>
                </a:solidFill>
                <a:effectLst/>
              </a:rPr>
              <a:t>    </a:t>
            </a:r>
            <a:r>
              <a:rPr lang="ro-RO" altLang="zh-CN" sz="1600" dirty="0" smtClean="0">
                <a:solidFill>
                  <a:schemeClr val="tx1"/>
                </a:solidFill>
                <a:effectLst/>
              </a:rPr>
              <a:t>for(i = 0; i &lt; N; i++)</a:t>
            </a:r>
          </a:p>
          <a:p>
            <a:pPr marL="0" indent="0">
              <a:lnSpc>
                <a:spcPct val="100000"/>
              </a:lnSpc>
              <a:buFont typeface="Webdings" pitchFamily="18" charset="2"/>
              <a:buNone/>
            </a:pPr>
            <a:r>
              <a:rPr lang="ro-RO" altLang="zh-CN" sz="1600" dirty="0" smtClean="0">
                <a:solidFill>
                  <a:schemeClr val="tx1"/>
                </a:solidFill>
                <a:effectLst/>
              </a:rPr>
              <a:t>        for(j = 0; j &lt; M; j++)       </a:t>
            </a:r>
          </a:p>
          <a:p>
            <a:pPr marL="0" indent="0">
              <a:lnSpc>
                <a:spcPct val="100000"/>
              </a:lnSpc>
              <a:buFont typeface="Webdings" pitchFamily="18" charset="2"/>
              <a:buNone/>
            </a:pPr>
            <a:r>
              <a:rPr lang="ro-RO" altLang="zh-CN" sz="1600" dirty="0" smtClean="0">
                <a:solidFill>
                  <a:schemeClr val="tx1"/>
                </a:solidFill>
                <a:effectLst/>
              </a:rPr>
              <a:t>            scanf("%d", &amp;a[i][j]); </a:t>
            </a:r>
          </a:p>
          <a:p>
            <a:pPr marL="0" indent="0">
              <a:lnSpc>
                <a:spcPct val="100000"/>
              </a:lnSpc>
              <a:buFont typeface="Webdings" pitchFamily="18" charset="2"/>
              <a:buNone/>
            </a:pPr>
            <a:r>
              <a:rPr lang="ro-RO" altLang="zh-CN" sz="1600" dirty="0" smtClean="0">
                <a:solidFill>
                  <a:schemeClr val="tx1"/>
                </a:solidFill>
                <a:effectLst/>
              </a:rPr>
              <a:t>    for(i = 0; i &lt; N; i++)</a:t>
            </a:r>
          </a:p>
          <a:p>
            <a:pPr marL="0" indent="0">
              <a:lnSpc>
                <a:spcPct val="100000"/>
              </a:lnSpc>
              <a:buFont typeface="Webdings" pitchFamily="18" charset="2"/>
              <a:buNone/>
            </a:pPr>
            <a:r>
              <a:rPr lang="ro-RO" altLang="zh-CN" sz="1600" dirty="0" smtClean="0">
                <a:solidFill>
                  <a:schemeClr val="tx1"/>
                </a:solidFill>
                <a:effectLst/>
              </a:rPr>
              <a:t>       sum+= a[i][0]+a[i][M-1];</a:t>
            </a:r>
          </a:p>
          <a:p>
            <a:pPr marL="0" indent="0">
              <a:lnSpc>
                <a:spcPct val="100000"/>
              </a:lnSpc>
              <a:buFont typeface="Webdings" pitchFamily="18" charset="2"/>
              <a:buNone/>
            </a:pPr>
            <a:r>
              <a:rPr lang="ro-RO" altLang="zh-CN" sz="1600" dirty="0" smtClean="0">
                <a:solidFill>
                  <a:schemeClr val="tx1"/>
                </a:solidFill>
                <a:effectLst/>
              </a:rPr>
              <a:t>    for(j =1; j &lt; M-1; j++)</a:t>
            </a:r>
          </a:p>
          <a:p>
            <a:pPr marL="0" indent="0">
              <a:lnSpc>
                <a:spcPct val="100000"/>
              </a:lnSpc>
              <a:buFont typeface="Webdings" pitchFamily="18" charset="2"/>
              <a:buNone/>
            </a:pPr>
            <a:r>
              <a:rPr lang="ro-RO" altLang="zh-CN" sz="1600" dirty="0" smtClean="0">
                <a:solidFill>
                  <a:schemeClr val="tx1"/>
                </a:solidFill>
                <a:effectLst/>
              </a:rPr>
              <a:t>       sum+= a[0][j]+a[N-1][j];</a:t>
            </a:r>
          </a:p>
          <a:p>
            <a:pPr marL="0" indent="0">
              <a:lnSpc>
                <a:spcPct val="100000"/>
              </a:lnSpc>
              <a:buFont typeface="Webdings" pitchFamily="18" charset="2"/>
              <a:buNone/>
            </a:pPr>
            <a:r>
              <a:rPr lang="ro-RO" altLang="zh-CN" sz="1600" dirty="0" smtClean="0">
                <a:solidFill>
                  <a:schemeClr val="tx1"/>
                </a:solidFill>
                <a:effectLst/>
              </a:rPr>
              <a:t>    printf("sum=%d",sum);</a:t>
            </a:r>
            <a:endParaRPr lang="en-US" altLang="zh-CN" sz="1600" dirty="0" smtClean="0">
              <a:solidFill>
                <a:schemeClr val="tx1"/>
              </a:solidFill>
              <a:effectLst/>
            </a:endParaRPr>
          </a:p>
          <a:p>
            <a:pPr marL="0" indent="0">
              <a:lnSpc>
                <a:spcPct val="100000"/>
              </a:lnSpc>
              <a:buFont typeface="Webdings" pitchFamily="18" charset="2"/>
              <a:buNone/>
            </a:pPr>
            <a:r>
              <a:rPr lang="ro-RO" altLang="zh-CN" sz="1600" dirty="0" smtClean="0">
                <a:solidFill>
                  <a:schemeClr val="tx1"/>
                </a:solidFill>
                <a:effectLst/>
              </a:rPr>
              <a:t>    return 0;</a:t>
            </a:r>
          </a:p>
          <a:p>
            <a:pPr marL="0" indent="0">
              <a:lnSpc>
                <a:spcPct val="100000"/>
              </a:lnSpc>
              <a:buFont typeface="Webdings" pitchFamily="18" charset="2"/>
              <a:buNone/>
            </a:pPr>
            <a:r>
              <a:rPr lang="ro-RO" altLang="zh-CN" sz="1600" dirty="0" smtClean="0">
                <a:solidFill>
                  <a:schemeClr val="tx1"/>
                </a:solidFill>
                <a:effectLst/>
              </a:rPr>
              <a:t>}</a:t>
            </a:r>
          </a:p>
          <a:p>
            <a:pPr marL="0" indent="0">
              <a:lnSpc>
                <a:spcPct val="100000"/>
              </a:lnSpc>
              <a:buFont typeface="Webdings" pitchFamily="18" charset="2"/>
              <a:buNone/>
            </a:pPr>
            <a:r>
              <a:rPr lang="zh-CN" altLang="en-US" sz="1600" dirty="0" smtClean="0">
                <a:solidFill>
                  <a:schemeClr val="tx1"/>
                </a:solidFill>
                <a:effectLst/>
              </a:rPr>
              <a:t/>
            </a:r>
            <a:br>
              <a:rPr lang="zh-CN" altLang="en-US" sz="1600" dirty="0" smtClean="0">
                <a:solidFill>
                  <a:schemeClr val="tx1"/>
                </a:solidFill>
                <a:effectLst/>
              </a:rPr>
            </a:br>
            <a:endParaRPr lang="en-US" sz="1600" dirty="0">
              <a:solidFill>
                <a:schemeClr val="tx1"/>
              </a:solidFill>
              <a:effectLst/>
            </a:endParaRPr>
          </a:p>
        </p:txBody>
      </p:sp>
      <p:sp>
        <p:nvSpPr>
          <p:cNvPr id="6" name="TextBox 5"/>
          <p:cNvSpPr txBox="1"/>
          <p:nvPr/>
        </p:nvSpPr>
        <p:spPr>
          <a:xfrm>
            <a:off x="4644008" y="2636912"/>
            <a:ext cx="3744416" cy="2000548"/>
          </a:xfrm>
          <a:prstGeom prst="rect">
            <a:avLst/>
          </a:prstGeom>
          <a:noFill/>
        </p:spPr>
        <p:txBody>
          <a:bodyPr wrap="square" rtlCol="0">
            <a:spAutoFit/>
          </a:bodyPr>
          <a:lstStyle/>
          <a:p>
            <a:r>
              <a:rPr lang="en-US" altLang="zh-CN" sz="2800" dirty="0" smtClean="0"/>
              <a:t>  1      2     3     4     </a:t>
            </a:r>
            <a:r>
              <a:rPr lang="en-US" altLang="zh-CN" sz="2800" dirty="0" smtClean="0">
                <a:solidFill>
                  <a:srgbClr val="FF0000"/>
                </a:solidFill>
              </a:rPr>
              <a:t> </a:t>
            </a:r>
            <a:r>
              <a:rPr lang="en-US" altLang="zh-CN" sz="2800" dirty="0" smtClean="0"/>
              <a:t>5</a:t>
            </a:r>
          </a:p>
          <a:p>
            <a:r>
              <a:rPr lang="en-US" altLang="zh-CN" sz="2800" dirty="0"/>
              <a:t> </a:t>
            </a:r>
            <a:r>
              <a:rPr lang="en-US" altLang="zh-CN" sz="2800" dirty="0" smtClean="0"/>
              <a:t> 6      7     8     9     10</a:t>
            </a:r>
          </a:p>
          <a:p>
            <a:r>
              <a:rPr lang="en-US" altLang="zh-CN" sz="2800" dirty="0"/>
              <a:t> </a:t>
            </a:r>
            <a:r>
              <a:rPr lang="en-US" altLang="zh-CN" sz="2800" dirty="0" smtClean="0"/>
              <a:t>11    12   13   14    15</a:t>
            </a:r>
          </a:p>
          <a:p>
            <a:r>
              <a:rPr lang="en-US" altLang="zh-CN" sz="2800" dirty="0"/>
              <a:t> </a:t>
            </a:r>
            <a:r>
              <a:rPr lang="en-US" altLang="zh-CN" sz="2800" dirty="0" smtClean="0"/>
              <a:t>16    17   18   19    20</a:t>
            </a:r>
          </a:p>
          <a:p>
            <a:pPr marL="228600" indent="-228600">
              <a:buAutoNum type="arabicPlain" startAt="11"/>
            </a:pPr>
            <a:endParaRPr lang="zh-CN" altLang="en-US" dirty="0"/>
          </a:p>
        </p:txBody>
      </p:sp>
      <p:cxnSp>
        <p:nvCxnSpPr>
          <p:cNvPr id="8" name="直接连接符 7"/>
          <p:cNvCxnSpPr/>
          <p:nvPr/>
        </p:nvCxnSpPr>
        <p:spPr bwMode="auto">
          <a:xfrm>
            <a:off x="5076056" y="2636912"/>
            <a:ext cx="0" cy="18002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8"/>
          <p:cNvCxnSpPr/>
          <p:nvPr/>
        </p:nvCxnSpPr>
        <p:spPr bwMode="auto">
          <a:xfrm>
            <a:off x="7956376" y="2636912"/>
            <a:ext cx="0" cy="18002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连接符 10"/>
          <p:cNvCxnSpPr/>
          <p:nvPr/>
        </p:nvCxnSpPr>
        <p:spPr bwMode="auto">
          <a:xfrm>
            <a:off x="5724128" y="2924944"/>
            <a:ext cx="1440160" cy="0"/>
          </a:xfrm>
          <a:prstGeom prst="line">
            <a:avLst/>
          </a:prstGeom>
          <a:solidFill>
            <a:schemeClr val="accent1"/>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连接符 11"/>
          <p:cNvCxnSpPr/>
          <p:nvPr/>
        </p:nvCxnSpPr>
        <p:spPr bwMode="auto">
          <a:xfrm>
            <a:off x="5796136" y="4149080"/>
            <a:ext cx="1440160" cy="0"/>
          </a:xfrm>
          <a:prstGeom prst="line">
            <a:avLst/>
          </a:prstGeom>
          <a:solidFill>
            <a:schemeClr val="accent1"/>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 name="表格 1"/>
          <p:cNvGraphicFramePr>
            <a:graphicFrameLocks noGrp="1"/>
          </p:cNvGraphicFramePr>
          <p:nvPr>
            <p:extLst>
              <p:ext uri="{D42A27DB-BD31-4B8C-83A1-F6EECF244321}">
                <p14:modId xmlns:p14="http://schemas.microsoft.com/office/powerpoint/2010/main" val="1041756596"/>
              </p:ext>
            </p:extLst>
          </p:nvPr>
        </p:nvGraphicFramePr>
        <p:xfrm>
          <a:off x="4211962" y="4665168"/>
          <a:ext cx="4779820" cy="1483360"/>
        </p:xfrm>
        <a:graphic>
          <a:graphicData uri="http://schemas.openxmlformats.org/drawingml/2006/table">
            <a:tbl>
              <a:tblPr firstRow="1" bandRow="1">
                <a:tableStyleId>{5C22544A-7EE6-4342-B048-85BDC9FD1C3A}</a:tableStyleId>
              </a:tblPr>
              <a:tblGrid>
                <a:gridCol w="955964">
                  <a:extLst>
                    <a:ext uri="{9D8B030D-6E8A-4147-A177-3AD203B41FA5}">
                      <a16:colId xmlns:a16="http://schemas.microsoft.com/office/drawing/2014/main" xmlns="" val="2359708346"/>
                    </a:ext>
                  </a:extLst>
                </a:gridCol>
                <a:gridCol w="955964">
                  <a:extLst>
                    <a:ext uri="{9D8B030D-6E8A-4147-A177-3AD203B41FA5}">
                      <a16:colId xmlns:a16="http://schemas.microsoft.com/office/drawing/2014/main" xmlns="" val="1685152196"/>
                    </a:ext>
                  </a:extLst>
                </a:gridCol>
                <a:gridCol w="955964">
                  <a:extLst>
                    <a:ext uri="{9D8B030D-6E8A-4147-A177-3AD203B41FA5}">
                      <a16:colId xmlns:a16="http://schemas.microsoft.com/office/drawing/2014/main" xmlns="" val="498552964"/>
                    </a:ext>
                  </a:extLst>
                </a:gridCol>
                <a:gridCol w="955964">
                  <a:extLst>
                    <a:ext uri="{9D8B030D-6E8A-4147-A177-3AD203B41FA5}">
                      <a16:colId xmlns:a16="http://schemas.microsoft.com/office/drawing/2014/main" xmlns="" val="3242306642"/>
                    </a:ext>
                  </a:extLst>
                </a:gridCol>
                <a:gridCol w="955964">
                  <a:extLst>
                    <a:ext uri="{9D8B030D-6E8A-4147-A177-3AD203B41FA5}">
                      <a16:colId xmlns:a16="http://schemas.microsoft.com/office/drawing/2014/main" xmlns="" val="2998126037"/>
                    </a:ext>
                  </a:extLst>
                </a:gridCol>
              </a:tblGrid>
              <a:tr h="370840">
                <a:tc>
                  <a:txBody>
                    <a:bodyPr/>
                    <a:lstStyle/>
                    <a:p>
                      <a:r>
                        <a:rPr lang="en-US" altLang="zh-CN" dirty="0" smtClean="0">
                          <a:solidFill>
                            <a:schemeClr val="tx1"/>
                          </a:solidFill>
                        </a:rPr>
                        <a:t>a[0][0]</a:t>
                      </a:r>
                      <a:endParaRPr lang="zh-CN" altLang="en-US" dirty="0">
                        <a:solidFill>
                          <a:schemeClr val="tx1"/>
                        </a:solidFill>
                      </a:endParaRPr>
                    </a:p>
                  </a:txBody>
                  <a:tcPr>
                    <a:solidFill>
                      <a:schemeClr val="tx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a[0][1]</a:t>
                      </a:r>
                      <a:endParaRPr lang="zh-CN" altLang="en-US" dirty="0" smtClean="0"/>
                    </a:p>
                  </a:txBody>
                  <a:tcPr>
                    <a:solidFill>
                      <a:schemeClr val="accent1">
                        <a:lumMod val="75000"/>
                      </a:schemeClr>
                    </a:solidFill>
                  </a:tcPr>
                </a:tc>
                <a:tc>
                  <a:txBody>
                    <a:bodyPr/>
                    <a:lstStyle/>
                    <a:p>
                      <a:r>
                        <a:rPr lang="en-US" altLang="zh-CN" dirty="0" smtClean="0"/>
                        <a:t>a[0][2]</a:t>
                      </a:r>
                      <a:endParaRPr lang="zh-CN" altLang="en-US" dirty="0"/>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a[0][3]</a:t>
                      </a:r>
                      <a:endParaRPr lang="zh-CN" altLang="en-US" dirty="0" smtClean="0"/>
                    </a:p>
                  </a:txBody>
                  <a:tcPr>
                    <a:solidFill>
                      <a:schemeClr val="accent1">
                        <a:lumMod val="75000"/>
                      </a:schemeClr>
                    </a:solidFill>
                  </a:tcPr>
                </a:tc>
                <a:tc>
                  <a:txBody>
                    <a:bodyPr/>
                    <a:lstStyle/>
                    <a:p>
                      <a:r>
                        <a:rPr lang="en-US" altLang="zh-CN" dirty="0" smtClean="0">
                          <a:solidFill>
                            <a:schemeClr val="tx1"/>
                          </a:solidFill>
                        </a:rPr>
                        <a:t>a[0][4]</a:t>
                      </a:r>
                      <a:endParaRPr lang="zh-CN" altLang="en-US" dirty="0">
                        <a:solidFill>
                          <a:schemeClr val="tx1"/>
                        </a:solidFill>
                      </a:endParaRPr>
                    </a:p>
                  </a:txBody>
                  <a:tcPr>
                    <a:solidFill>
                      <a:schemeClr val="tx1">
                        <a:lumMod val="60000"/>
                        <a:lumOff val="40000"/>
                      </a:schemeClr>
                    </a:solidFill>
                  </a:tcPr>
                </a:tc>
                <a:extLst>
                  <a:ext uri="{0D108BD9-81ED-4DB2-BD59-A6C34878D82A}">
                    <a16:rowId xmlns:a16="http://schemas.microsoft.com/office/drawing/2014/main" xmlns="" val="298761855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tx1"/>
                          </a:solidFill>
                        </a:rPr>
                        <a:t>a[1][0]</a:t>
                      </a:r>
                      <a:endParaRPr lang="zh-CN" altLang="en-US" b="1" dirty="0" smtClean="0">
                        <a:solidFill>
                          <a:schemeClr val="tx1"/>
                        </a:solidFill>
                      </a:endParaRPr>
                    </a:p>
                  </a:txBody>
                  <a:tcPr>
                    <a:solidFill>
                      <a:schemeClr val="tx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a[1][1]</a:t>
                      </a:r>
                      <a:endParaRPr lang="zh-CN" altLang="en-US"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a[1][2]</a:t>
                      </a:r>
                      <a:endParaRPr lang="zh-CN" altLang="en-US"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a[1][3]</a:t>
                      </a:r>
                      <a:endParaRPr lang="zh-CN" altLang="en-US"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a[1][4]</a:t>
                      </a:r>
                      <a:endParaRPr lang="zh-CN" altLang="en-US" b="1" dirty="0" smtClean="0"/>
                    </a:p>
                  </a:txBody>
                  <a:tcPr>
                    <a:solidFill>
                      <a:schemeClr val="tx1">
                        <a:lumMod val="60000"/>
                        <a:lumOff val="40000"/>
                      </a:schemeClr>
                    </a:solidFill>
                  </a:tcPr>
                </a:tc>
                <a:extLst>
                  <a:ext uri="{0D108BD9-81ED-4DB2-BD59-A6C34878D82A}">
                    <a16:rowId xmlns:a16="http://schemas.microsoft.com/office/drawing/2014/main" xmlns="" val="135000416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tx1"/>
                          </a:solidFill>
                        </a:rPr>
                        <a:t>a[2][0]</a:t>
                      </a:r>
                      <a:endParaRPr lang="zh-CN" altLang="en-US" b="1" dirty="0" smtClean="0">
                        <a:solidFill>
                          <a:schemeClr val="tx1"/>
                        </a:solidFill>
                      </a:endParaRPr>
                    </a:p>
                  </a:txBody>
                  <a:tcPr>
                    <a:solidFill>
                      <a:schemeClr val="tx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a[2][1]</a:t>
                      </a:r>
                      <a:endParaRPr lang="zh-CN" altLang="en-US"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a[2][2]</a:t>
                      </a:r>
                      <a:endParaRPr lang="zh-CN" altLang="en-US"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a[2][3]</a:t>
                      </a:r>
                      <a:endParaRPr lang="zh-CN" altLang="en-US"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a[2][4]</a:t>
                      </a:r>
                      <a:endParaRPr lang="zh-CN" altLang="en-US" b="1" dirty="0" smtClean="0"/>
                    </a:p>
                  </a:txBody>
                  <a:tcPr>
                    <a:solidFill>
                      <a:schemeClr val="tx1">
                        <a:lumMod val="60000"/>
                        <a:lumOff val="40000"/>
                      </a:schemeClr>
                    </a:solidFill>
                  </a:tcPr>
                </a:tc>
                <a:extLst>
                  <a:ext uri="{0D108BD9-81ED-4DB2-BD59-A6C34878D82A}">
                    <a16:rowId xmlns:a16="http://schemas.microsoft.com/office/drawing/2014/main" xmlns="" val="118275215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tx1"/>
                          </a:solidFill>
                        </a:rPr>
                        <a:t>a[3][0]</a:t>
                      </a:r>
                      <a:endParaRPr lang="zh-CN" altLang="en-US" b="1" dirty="0" smtClean="0">
                        <a:solidFill>
                          <a:schemeClr val="tx1"/>
                        </a:solidFill>
                      </a:endParaRPr>
                    </a:p>
                  </a:txBody>
                  <a:tcPr>
                    <a:solidFill>
                      <a:schemeClr val="tx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bg1"/>
                          </a:solidFill>
                        </a:rPr>
                        <a:t>a[3][1]</a:t>
                      </a:r>
                      <a:endParaRPr lang="zh-CN" altLang="en-US" b="1" dirty="0" smtClean="0">
                        <a:solidFill>
                          <a:schemeClr val="bg1"/>
                        </a:solidFill>
                      </a:endParaRP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bg1"/>
                          </a:solidFill>
                        </a:rPr>
                        <a:t>a[3][2]</a:t>
                      </a:r>
                      <a:endParaRPr lang="zh-CN" altLang="en-US" b="1" dirty="0" smtClean="0">
                        <a:solidFill>
                          <a:schemeClr val="bg1"/>
                        </a:solidFill>
                      </a:endParaRP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bg1"/>
                          </a:solidFill>
                        </a:rPr>
                        <a:t>a[3][3]</a:t>
                      </a:r>
                      <a:endParaRPr lang="zh-CN" altLang="en-US" b="1" dirty="0" smtClean="0">
                        <a:solidFill>
                          <a:schemeClr val="bg1"/>
                        </a:solidFill>
                      </a:endParaRP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a[3][4]</a:t>
                      </a:r>
                      <a:endParaRPr lang="zh-CN" altLang="en-US" b="1" dirty="0" smtClean="0"/>
                    </a:p>
                  </a:txBody>
                  <a:tcPr>
                    <a:solidFill>
                      <a:schemeClr val="tx1">
                        <a:lumMod val="60000"/>
                        <a:lumOff val="40000"/>
                      </a:schemeClr>
                    </a:solidFill>
                  </a:tcPr>
                </a:tc>
                <a:extLst>
                  <a:ext uri="{0D108BD9-81ED-4DB2-BD59-A6C34878D82A}">
                    <a16:rowId xmlns:a16="http://schemas.microsoft.com/office/drawing/2014/main" xmlns="" val="1343201524"/>
                  </a:ext>
                </a:extLst>
              </a:tr>
            </a:tbl>
          </a:graphicData>
        </a:graphic>
      </p:graphicFrame>
    </p:spTree>
    <p:extLst>
      <p:ext uri="{BB962C8B-B14F-4D97-AF65-F5344CB8AC3E}">
        <p14:creationId xmlns:p14="http://schemas.microsoft.com/office/powerpoint/2010/main" val="3032547580"/>
      </p:ext>
    </p:extLst>
  </p:cSld>
  <p:clrMapOvr>
    <a:masterClrMapping/>
  </p:clrMapOvr>
  <p:transition spd="med">
    <p:random/>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457200" y="457200"/>
            <a:ext cx="8229600" cy="739775"/>
          </a:xfrm>
        </p:spPr>
        <p:txBody>
          <a:bodyPr/>
          <a:lstStyle/>
          <a:p>
            <a:r>
              <a:rPr lang="zh-CN" altLang="en-US" sz="4000" smtClean="0">
                <a:solidFill>
                  <a:srgbClr val="3333FF"/>
                </a:solidFill>
              </a:rPr>
              <a:t>计算矩阵周边各元素之和</a:t>
            </a:r>
          </a:p>
        </p:txBody>
      </p:sp>
      <p:sp>
        <p:nvSpPr>
          <p:cNvPr id="57347" name="Rectangle 3"/>
          <p:cNvSpPr>
            <a:spLocks noGrp="1" noChangeArrowheads="1"/>
          </p:cNvSpPr>
          <p:nvPr>
            <p:ph type="body" idx="1"/>
          </p:nvPr>
        </p:nvSpPr>
        <p:spPr>
          <a:xfrm>
            <a:off x="457200" y="1341438"/>
            <a:ext cx="8229600" cy="4525962"/>
          </a:xfrm>
        </p:spPr>
        <p:txBody>
          <a:bodyPr/>
          <a:lstStyle/>
          <a:p>
            <a:pPr>
              <a:buFont typeface="Wingdings" pitchFamily="2" charset="2"/>
              <a:buNone/>
            </a:pPr>
            <a:r>
              <a:rPr lang="zh-CN" altLang="en-US" dirty="0"/>
              <a:t>另一种</a:t>
            </a:r>
            <a:r>
              <a:rPr lang="zh-CN" altLang="en-US" dirty="0" smtClean="0"/>
              <a:t>解题思路：</a:t>
            </a:r>
          </a:p>
          <a:p>
            <a:pPr>
              <a:buFont typeface="Wingdings" pitchFamily="2" charset="2"/>
              <a:buNone/>
            </a:pPr>
            <a:r>
              <a:rPr lang="zh-CN" altLang="en-US" dirty="0" smtClean="0"/>
              <a:t>矩阵各元之和减去矩阵中间各元之和</a:t>
            </a:r>
          </a:p>
          <a:p>
            <a:pPr>
              <a:buFont typeface="Wingdings" pitchFamily="2" charset="2"/>
              <a:buNone/>
            </a:pPr>
            <a:r>
              <a:rPr lang="zh-CN" altLang="en-US" dirty="0" smtClean="0"/>
              <a:t>如：</a:t>
            </a:r>
            <a:r>
              <a:rPr lang="en-US" altLang="zh-CN" dirty="0" smtClean="0"/>
              <a:t>1    2   3   4   5</a:t>
            </a:r>
          </a:p>
          <a:p>
            <a:pPr>
              <a:buFont typeface="Wingdings" pitchFamily="2" charset="2"/>
              <a:buNone/>
            </a:pPr>
            <a:r>
              <a:rPr lang="en-US" altLang="zh-CN" dirty="0" smtClean="0"/>
              <a:t>       6    7   8   9  10</a:t>
            </a:r>
          </a:p>
          <a:p>
            <a:pPr>
              <a:buFont typeface="Wingdings" pitchFamily="2" charset="2"/>
              <a:buNone/>
            </a:pPr>
            <a:r>
              <a:rPr lang="en-US" altLang="zh-CN" dirty="0" smtClean="0"/>
              <a:t>       11 12 13 14 15</a:t>
            </a:r>
          </a:p>
          <a:p>
            <a:pPr>
              <a:buFont typeface="Wingdings" pitchFamily="2" charset="2"/>
              <a:buNone/>
            </a:pPr>
            <a:r>
              <a:rPr lang="en-US" altLang="zh-CN" dirty="0" smtClean="0"/>
              <a:t>       16 17 18 19 20</a:t>
            </a:r>
          </a:p>
        </p:txBody>
      </p:sp>
      <p:sp>
        <p:nvSpPr>
          <p:cNvPr id="57348" name="Rectangle 4"/>
          <p:cNvSpPr>
            <a:spLocks noChangeArrowheads="1"/>
          </p:cNvSpPr>
          <p:nvPr/>
        </p:nvSpPr>
        <p:spPr bwMode="auto">
          <a:xfrm>
            <a:off x="1259632" y="2780928"/>
            <a:ext cx="2160239" cy="180022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49" name="Rectangle 5"/>
          <p:cNvSpPr>
            <a:spLocks noChangeArrowheads="1"/>
          </p:cNvSpPr>
          <p:nvPr/>
        </p:nvSpPr>
        <p:spPr bwMode="auto">
          <a:xfrm>
            <a:off x="1835696" y="3284538"/>
            <a:ext cx="1223963" cy="792162"/>
          </a:xfrm>
          <a:prstGeom prst="rect">
            <a:avLst/>
          </a:prstGeom>
          <a:noFill/>
          <a:ln w="9525">
            <a:solidFill>
              <a:srgbClr val="3333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 name="表格 2"/>
          <p:cNvGraphicFramePr>
            <a:graphicFrameLocks noGrp="1"/>
          </p:cNvGraphicFramePr>
          <p:nvPr>
            <p:extLst>
              <p:ext uri="{D42A27DB-BD31-4B8C-83A1-F6EECF244321}">
                <p14:modId xmlns:p14="http://schemas.microsoft.com/office/powerpoint/2010/main" val="1192041267"/>
              </p:ext>
            </p:extLst>
          </p:nvPr>
        </p:nvGraphicFramePr>
        <p:xfrm>
          <a:off x="3779912" y="4058832"/>
          <a:ext cx="4779820" cy="1483360"/>
        </p:xfrm>
        <a:graphic>
          <a:graphicData uri="http://schemas.openxmlformats.org/drawingml/2006/table">
            <a:tbl>
              <a:tblPr firstRow="1" bandRow="1">
                <a:tableStyleId>{5C22544A-7EE6-4342-B048-85BDC9FD1C3A}</a:tableStyleId>
              </a:tblPr>
              <a:tblGrid>
                <a:gridCol w="955964">
                  <a:extLst>
                    <a:ext uri="{9D8B030D-6E8A-4147-A177-3AD203B41FA5}">
                      <a16:colId xmlns:a16="http://schemas.microsoft.com/office/drawing/2014/main" xmlns="" val="3920924596"/>
                    </a:ext>
                  </a:extLst>
                </a:gridCol>
                <a:gridCol w="955964">
                  <a:extLst>
                    <a:ext uri="{9D8B030D-6E8A-4147-A177-3AD203B41FA5}">
                      <a16:colId xmlns:a16="http://schemas.microsoft.com/office/drawing/2014/main" xmlns="" val="3984154808"/>
                    </a:ext>
                  </a:extLst>
                </a:gridCol>
                <a:gridCol w="955964">
                  <a:extLst>
                    <a:ext uri="{9D8B030D-6E8A-4147-A177-3AD203B41FA5}">
                      <a16:colId xmlns:a16="http://schemas.microsoft.com/office/drawing/2014/main" xmlns="" val="2073120988"/>
                    </a:ext>
                  </a:extLst>
                </a:gridCol>
                <a:gridCol w="955964">
                  <a:extLst>
                    <a:ext uri="{9D8B030D-6E8A-4147-A177-3AD203B41FA5}">
                      <a16:colId xmlns:a16="http://schemas.microsoft.com/office/drawing/2014/main" xmlns="" val="3640719609"/>
                    </a:ext>
                  </a:extLst>
                </a:gridCol>
                <a:gridCol w="955964">
                  <a:extLst>
                    <a:ext uri="{9D8B030D-6E8A-4147-A177-3AD203B41FA5}">
                      <a16:colId xmlns:a16="http://schemas.microsoft.com/office/drawing/2014/main" xmlns="" val="1853374379"/>
                    </a:ext>
                  </a:extLst>
                </a:gridCol>
              </a:tblGrid>
              <a:tr h="370840">
                <a:tc>
                  <a:txBody>
                    <a:bodyPr/>
                    <a:lstStyle/>
                    <a:p>
                      <a:r>
                        <a:rPr lang="en-US" altLang="zh-CN" dirty="0" smtClean="0">
                          <a:solidFill>
                            <a:schemeClr val="bg1"/>
                          </a:solidFill>
                        </a:rPr>
                        <a:t>a[0][0]</a:t>
                      </a:r>
                      <a:endParaRPr lang="zh-CN" altLang="en-US" dirty="0">
                        <a:solidFill>
                          <a:schemeClr val="bg1"/>
                        </a:solidFill>
                      </a:endParaRP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a[0][1]</a:t>
                      </a:r>
                      <a:endParaRPr lang="zh-CN" altLang="en-US" dirty="0" smtClean="0"/>
                    </a:p>
                  </a:txBody>
                  <a:tcPr>
                    <a:solidFill>
                      <a:schemeClr val="accent1">
                        <a:lumMod val="75000"/>
                      </a:schemeClr>
                    </a:solidFill>
                  </a:tcPr>
                </a:tc>
                <a:tc>
                  <a:txBody>
                    <a:bodyPr/>
                    <a:lstStyle/>
                    <a:p>
                      <a:r>
                        <a:rPr lang="en-US" altLang="zh-CN" dirty="0" smtClean="0"/>
                        <a:t>a[0][2]</a:t>
                      </a:r>
                      <a:endParaRPr lang="zh-CN" altLang="en-US" dirty="0"/>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a[0][3]</a:t>
                      </a:r>
                      <a:endParaRPr lang="zh-CN" altLang="en-US" dirty="0" smtClean="0"/>
                    </a:p>
                  </a:txBody>
                  <a:tcPr>
                    <a:solidFill>
                      <a:schemeClr val="accent1">
                        <a:lumMod val="75000"/>
                      </a:schemeClr>
                    </a:solidFill>
                  </a:tcPr>
                </a:tc>
                <a:tc>
                  <a:txBody>
                    <a:bodyPr/>
                    <a:lstStyle/>
                    <a:p>
                      <a:r>
                        <a:rPr lang="en-US" altLang="zh-CN" dirty="0" smtClean="0">
                          <a:solidFill>
                            <a:schemeClr val="bg1"/>
                          </a:solidFill>
                        </a:rPr>
                        <a:t>a[0][4]</a:t>
                      </a:r>
                      <a:endParaRPr lang="zh-CN" altLang="en-US" dirty="0">
                        <a:solidFill>
                          <a:schemeClr val="bg1"/>
                        </a:solidFill>
                      </a:endParaRPr>
                    </a:p>
                  </a:txBody>
                  <a:tcPr>
                    <a:solidFill>
                      <a:schemeClr val="accent1">
                        <a:lumMod val="75000"/>
                      </a:schemeClr>
                    </a:solidFill>
                  </a:tcPr>
                </a:tc>
                <a:extLst>
                  <a:ext uri="{0D108BD9-81ED-4DB2-BD59-A6C34878D82A}">
                    <a16:rowId xmlns:a16="http://schemas.microsoft.com/office/drawing/2014/main" xmlns="" val="38021772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bg1"/>
                          </a:solidFill>
                        </a:rPr>
                        <a:t>a[1][0]</a:t>
                      </a:r>
                      <a:endParaRPr lang="zh-CN" altLang="en-US" b="1" dirty="0" smtClean="0">
                        <a:solidFill>
                          <a:schemeClr val="bg1"/>
                        </a:solidFill>
                      </a:endParaRP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a[1][1]</a:t>
                      </a:r>
                      <a:endParaRPr lang="zh-CN" altLang="en-US"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a[1][2]</a:t>
                      </a:r>
                      <a:endParaRPr lang="zh-CN" altLang="en-US"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a[1][3]</a:t>
                      </a:r>
                      <a:endParaRPr lang="zh-CN" altLang="en-US"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bg1"/>
                          </a:solidFill>
                        </a:rPr>
                        <a:t>a[1][4]</a:t>
                      </a:r>
                      <a:endParaRPr lang="zh-CN" altLang="en-US" b="1" dirty="0" smtClean="0">
                        <a:solidFill>
                          <a:schemeClr val="bg1"/>
                        </a:solidFill>
                      </a:endParaRPr>
                    </a:p>
                  </a:txBody>
                  <a:tcPr>
                    <a:solidFill>
                      <a:schemeClr val="accent1">
                        <a:lumMod val="75000"/>
                      </a:schemeClr>
                    </a:solidFill>
                  </a:tcPr>
                </a:tc>
                <a:extLst>
                  <a:ext uri="{0D108BD9-81ED-4DB2-BD59-A6C34878D82A}">
                    <a16:rowId xmlns:a16="http://schemas.microsoft.com/office/drawing/2014/main" xmlns="" val="18249026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bg1"/>
                          </a:solidFill>
                        </a:rPr>
                        <a:t>a[2][0]</a:t>
                      </a:r>
                      <a:endParaRPr lang="zh-CN" altLang="en-US" b="1" dirty="0" smtClean="0">
                        <a:solidFill>
                          <a:schemeClr val="bg1"/>
                        </a:solidFill>
                      </a:endParaRP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a[2][1]</a:t>
                      </a:r>
                      <a:endParaRPr lang="zh-CN" altLang="en-US"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a[2][2]</a:t>
                      </a:r>
                      <a:endParaRPr lang="zh-CN" altLang="en-US"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a[2][3]</a:t>
                      </a:r>
                      <a:endParaRPr lang="zh-CN" altLang="en-US"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bg1"/>
                          </a:solidFill>
                        </a:rPr>
                        <a:t>a[2][4]</a:t>
                      </a:r>
                      <a:endParaRPr lang="zh-CN" altLang="en-US" b="1" dirty="0" smtClean="0">
                        <a:solidFill>
                          <a:schemeClr val="bg1"/>
                        </a:solidFill>
                      </a:endParaRPr>
                    </a:p>
                  </a:txBody>
                  <a:tcPr>
                    <a:solidFill>
                      <a:schemeClr val="accent1">
                        <a:lumMod val="75000"/>
                      </a:schemeClr>
                    </a:solidFill>
                  </a:tcPr>
                </a:tc>
                <a:extLst>
                  <a:ext uri="{0D108BD9-81ED-4DB2-BD59-A6C34878D82A}">
                    <a16:rowId xmlns:a16="http://schemas.microsoft.com/office/drawing/2014/main" xmlns="" val="401302599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bg1"/>
                          </a:solidFill>
                        </a:rPr>
                        <a:t>a[3][0]</a:t>
                      </a:r>
                      <a:endParaRPr lang="zh-CN" altLang="en-US" b="1" dirty="0" smtClean="0">
                        <a:solidFill>
                          <a:schemeClr val="bg1"/>
                        </a:solidFill>
                      </a:endParaRP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bg1"/>
                          </a:solidFill>
                        </a:rPr>
                        <a:t>a[3][1]</a:t>
                      </a:r>
                      <a:endParaRPr lang="zh-CN" altLang="en-US" b="1" dirty="0" smtClean="0">
                        <a:solidFill>
                          <a:schemeClr val="bg1"/>
                        </a:solidFill>
                      </a:endParaRP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bg1"/>
                          </a:solidFill>
                        </a:rPr>
                        <a:t>a[3][2]</a:t>
                      </a:r>
                      <a:endParaRPr lang="zh-CN" altLang="en-US" b="1" dirty="0" smtClean="0">
                        <a:solidFill>
                          <a:schemeClr val="bg1"/>
                        </a:solidFill>
                      </a:endParaRP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bg1"/>
                          </a:solidFill>
                        </a:rPr>
                        <a:t>a[3][3]</a:t>
                      </a:r>
                      <a:endParaRPr lang="zh-CN" altLang="en-US" b="1" dirty="0" smtClean="0">
                        <a:solidFill>
                          <a:schemeClr val="bg1"/>
                        </a:solidFill>
                      </a:endParaRP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bg1"/>
                          </a:solidFill>
                        </a:rPr>
                        <a:t>a[3][4]</a:t>
                      </a:r>
                      <a:endParaRPr lang="zh-CN" altLang="en-US" b="1" dirty="0" smtClean="0">
                        <a:solidFill>
                          <a:schemeClr val="bg1"/>
                        </a:solidFill>
                      </a:endParaRPr>
                    </a:p>
                  </a:txBody>
                  <a:tcPr>
                    <a:solidFill>
                      <a:schemeClr val="accent1">
                        <a:lumMod val="75000"/>
                      </a:schemeClr>
                    </a:solidFill>
                  </a:tcPr>
                </a:tc>
                <a:extLst>
                  <a:ext uri="{0D108BD9-81ED-4DB2-BD59-A6C34878D82A}">
                    <a16:rowId xmlns:a16="http://schemas.microsoft.com/office/drawing/2014/main" xmlns="" val="3499609467"/>
                  </a:ext>
                </a:extLst>
              </a:tr>
            </a:tbl>
          </a:graphicData>
        </a:graphic>
      </p:graphicFrame>
    </p:spTree>
  </p:cSld>
  <p:clrMapOvr>
    <a:masterClrMapping/>
  </p:clrMapOvr>
  <p:transition spd="med">
    <p:random/>
  </p:transition>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Rectangle 3"/>
          <p:cNvSpPr>
            <a:spLocks noGrp="1" noChangeArrowheads="1"/>
          </p:cNvSpPr>
          <p:nvPr>
            <p:ph type="body" idx="1"/>
          </p:nvPr>
        </p:nvSpPr>
        <p:spPr>
          <a:xfrm>
            <a:off x="467544" y="188640"/>
            <a:ext cx="8281168" cy="6569348"/>
          </a:xfrm>
        </p:spPr>
        <p:txBody>
          <a:bodyPr/>
          <a:lstStyle/>
          <a:p>
            <a:pPr>
              <a:lnSpc>
                <a:spcPct val="80000"/>
              </a:lnSpc>
              <a:buFont typeface="Wingdings" pitchFamily="2" charset="2"/>
              <a:buNone/>
            </a:pPr>
            <a:r>
              <a:rPr lang="en-US" altLang="zh-CN" sz="1800" dirty="0" smtClean="0"/>
              <a:t>#include &lt;stdio.h&gt;</a:t>
            </a:r>
          </a:p>
          <a:p>
            <a:pPr>
              <a:lnSpc>
                <a:spcPct val="80000"/>
              </a:lnSpc>
              <a:buFont typeface="Wingdings" pitchFamily="2" charset="2"/>
              <a:buNone/>
            </a:pPr>
            <a:r>
              <a:rPr lang="en-US" altLang="zh-CN" sz="1800" dirty="0" smtClean="0"/>
              <a:t>#define N </a:t>
            </a:r>
            <a:r>
              <a:rPr lang="en-US" altLang="zh-CN" sz="1800" dirty="0"/>
              <a:t>4</a:t>
            </a:r>
            <a:endParaRPr lang="en-US" altLang="zh-CN" sz="1800" dirty="0" smtClean="0"/>
          </a:p>
          <a:p>
            <a:pPr>
              <a:lnSpc>
                <a:spcPct val="80000"/>
              </a:lnSpc>
              <a:buNone/>
            </a:pPr>
            <a:r>
              <a:rPr lang="en-US" altLang="zh-CN" sz="1800" dirty="0"/>
              <a:t>#define </a:t>
            </a:r>
            <a:r>
              <a:rPr lang="en-US" altLang="zh-CN" sz="1800" dirty="0" smtClean="0"/>
              <a:t>M 5</a:t>
            </a:r>
          </a:p>
          <a:p>
            <a:pPr>
              <a:lnSpc>
                <a:spcPct val="80000"/>
              </a:lnSpc>
              <a:buFont typeface="Wingdings" pitchFamily="2" charset="2"/>
              <a:buNone/>
            </a:pPr>
            <a:r>
              <a:rPr lang="en-US" altLang="zh-CN" sz="1800" dirty="0" smtClean="0"/>
              <a:t>int main()</a:t>
            </a:r>
          </a:p>
          <a:p>
            <a:pPr>
              <a:lnSpc>
                <a:spcPct val="80000"/>
              </a:lnSpc>
              <a:buFont typeface="Wingdings" pitchFamily="2" charset="2"/>
              <a:buNone/>
            </a:pPr>
            <a:r>
              <a:rPr lang="en-US" altLang="zh-CN" sz="1800" dirty="0" smtClean="0"/>
              <a:t>{  </a:t>
            </a:r>
          </a:p>
          <a:p>
            <a:pPr>
              <a:lnSpc>
                <a:spcPct val="80000"/>
              </a:lnSpc>
              <a:buFont typeface="Wingdings" pitchFamily="2" charset="2"/>
              <a:buNone/>
            </a:pPr>
            <a:r>
              <a:rPr lang="en-US" altLang="zh-CN" sz="1800" dirty="0"/>
              <a:t> </a:t>
            </a:r>
            <a:r>
              <a:rPr lang="en-US" altLang="zh-CN" sz="1800" dirty="0" smtClean="0"/>
              <a:t>   int i, j,sum=0;</a:t>
            </a:r>
          </a:p>
          <a:p>
            <a:pPr>
              <a:lnSpc>
                <a:spcPct val="80000"/>
              </a:lnSpc>
              <a:buFont typeface="Wingdings" pitchFamily="2" charset="2"/>
              <a:buNone/>
            </a:pPr>
            <a:r>
              <a:rPr lang="en-US" altLang="zh-CN" sz="1800" dirty="0" smtClean="0"/>
              <a:t>    int a[N][M];    </a:t>
            </a:r>
          </a:p>
          <a:p>
            <a:pPr>
              <a:lnSpc>
                <a:spcPct val="80000"/>
              </a:lnSpc>
              <a:buFont typeface="Wingdings" pitchFamily="2" charset="2"/>
              <a:buNone/>
            </a:pPr>
            <a:r>
              <a:rPr lang="en-US" altLang="zh-CN" sz="1800" dirty="0" smtClean="0"/>
              <a:t>    for(i=0;i&lt;N; i++) </a:t>
            </a:r>
          </a:p>
          <a:p>
            <a:pPr>
              <a:lnSpc>
                <a:spcPct val="80000"/>
              </a:lnSpc>
              <a:buFont typeface="Wingdings" pitchFamily="2" charset="2"/>
              <a:buNone/>
            </a:pPr>
            <a:r>
              <a:rPr lang="en-US" altLang="zh-CN" sz="1800" dirty="0" smtClean="0"/>
              <a:t>	       for(j=0;j&lt;M;j++)</a:t>
            </a:r>
          </a:p>
          <a:p>
            <a:pPr>
              <a:lnSpc>
                <a:spcPct val="80000"/>
              </a:lnSpc>
              <a:buFont typeface="Wingdings" pitchFamily="2" charset="2"/>
              <a:buNone/>
            </a:pPr>
            <a:r>
              <a:rPr lang="en-US" altLang="zh-CN" sz="1800" dirty="0" smtClean="0"/>
              <a:t>		{</a:t>
            </a:r>
          </a:p>
          <a:p>
            <a:pPr>
              <a:lnSpc>
                <a:spcPct val="80000"/>
              </a:lnSpc>
              <a:buFont typeface="Wingdings" pitchFamily="2" charset="2"/>
              <a:buNone/>
            </a:pPr>
            <a:r>
              <a:rPr lang="en-US" altLang="zh-CN" sz="1800" dirty="0" smtClean="0"/>
              <a:t>		    </a:t>
            </a:r>
            <a:r>
              <a:rPr lang="en-US" altLang="zh-CN" sz="1800" dirty="0" err="1" smtClean="0"/>
              <a:t>scanf</a:t>
            </a:r>
            <a:r>
              <a:rPr lang="en-US" altLang="zh-CN" sz="1800" dirty="0" smtClean="0"/>
              <a:t>("%d", &amp;a[i][j]);</a:t>
            </a:r>
          </a:p>
          <a:p>
            <a:pPr>
              <a:lnSpc>
                <a:spcPct val="80000"/>
              </a:lnSpc>
              <a:buFont typeface="Wingdings" pitchFamily="2" charset="2"/>
              <a:buNone/>
            </a:pPr>
            <a:r>
              <a:rPr lang="en-US" altLang="zh-CN" sz="1800" dirty="0" smtClean="0"/>
              <a:t>		    sum+=a[i][j];</a:t>
            </a:r>
          </a:p>
          <a:p>
            <a:pPr>
              <a:lnSpc>
                <a:spcPct val="80000"/>
              </a:lnSpc>
              <a:buFont typeface="Wingdings" pitchFamily="2" charset="2"/>
              <a:buNone/>
            </a:pPr>
            <a:r>
              <a:rPr lang="en-US" altLang="zh-CN" sz="1800" dirty="0" smtClean="0"/>
              <a:t>		}</a:t>
            </a:r>
          </a:p>
          <a:p>
            <a:pPr>
              <a:lnSpc>
                <a:spcPct val="80000"/>
              </a:lnSpc>
              <a:buFont typeface="Wingdings" pitchFamily="2" charset="2"/>
              <a:buNone/>
            </a:pPr>
            <a:r>
              <a:rPr lang="en-US" altLang="zh-CN" sz="1800" dirty="0" smtClean="0"/>
              <a:t>	  for(i=1; i&lt;N-1; i++) </a:t>
            </a:r>
          </a:p>
          <a:p>
            <a:pPr>
              <a:lnSpc>
                <a:spcPct val="80000"/>
              </a:lnSpc>
              <a:buFont typeface="Wingdings" pitchFamily="2" charset="2"/>
              <a:buNone/>
            </a:pPr>
            <a:r>
              <a:rPr lang="en-US" altLang="zh-CN" sz="1800" dirty="0" smtClean="0"/>
              <a:t>	       for(j=1;j&lt;M-1;j++)</a:t>
            </a:r>
          </a:p>
          <a:p>
            <a:pPr>
              <a:lnSpc>
                <a:spcPct val="80000"/>
              </a:lnSpc>
              <a:buFont typeface="Wingdings" pitchFamily="2" charset="2"/>
              <a:buNone/>
            </a:pPr>
            <a:r>
              <a:rPr lang="en-US" altLang="zh-CN" sz="1800" dirty="0" smtClean="0"/>
              <a:t>			sum-=a[i][j];</a:t>
            </a:r>
          </a:p>
          <a:p>
            <a:pPr>
              <a:lnSpc>
                <a:spcPct val="80000"/>
              </a:lnSpc>
              <a:buFont typeface="Wingdings" pitchFamily="2" charset="2"/>
              <a:buNone/>
            </a:pPr>
            <a:r>
              <a:rPr lang="en-US" altLang="zh-CN" sz="1800" dirty="0" smtClean="0"/>
              <a:t>	   for(i=0; i&lt;N; i++)</a:t>
            </a:r>
          </a:p>
          <a:p>
            <a:pPr>
              <a:lnSpc>
                <a:spcPct val="80000"/>
              </a:lnSpc>
              <a:buFont typeface="Wingdings" pitchFamily="2" charset="2"/>
              <a:buNone/>
            </a:pPr>
            <a:r>
              <a:rPr lang="en-US" altLang="zh-CN" sz="1800" dirty="0" smtClean="0"/>
              <a:t>	  {	</a:t>
            </a:r>
          </a:p>
          <a:p>
            <a:pPr>
              <a:lnSpc>
                <a:spcPct val="80000"/>
              </a:lnSpc>
              <a:buFont typeface="Wingdings" pitchFamily="2" charset="2"/>
              <a:buNone/>
            </a:pPr>
            <a:r>
              <a:rPr lang="en-US" altLang="zh-CN" sz="1800" dirty="0" smtClean="0"/>
              <a:t>	         for(j=0;j&lt;M;j++) printf("%-4d ", a[i][j]);</a:t>
            </a:r>
          </a:p>
          <a:p>
            <a:pPr>
              <a:lnSpc>
                <a:spcPct val="80000"/>
              </a:lnSpc>
              <a:buFont typeface="Wingdings" pitchFamily="2" charset="2"/>
              <a:buNone/>
            </a:pPr>
            <a:r>
              <a:rPr lang="en-US" altLang="zh-CN" sz="1800" dirty="0" smtClean="0"/>
              <a:t>	         printf("\n");</a:t>
            </a:r>
          </a:p>
          <a:p>
            <a:pPr>
              <a:lnSpc>
                <a:spcPct val="80000"/>
              </a:lnSpc>
              <a:buFont typeface="Wingdings" pitchFamily="2" charset="2"/>
              <a:buNone/>
            </a:pPr>
            <a:r>
              <a:rPr lang="en-US" altLang="zh-CN" sz="1800" dirty="0" smtClean="0"/>
              <a:t>   }	</a:t>
            </a:r>
          </a:p>
          <a:p>
            <a:pPr>
              <a:lnSpc>
                <a:spcPct val="80000"/>
              </a:lnSpc>
              <a:buFont typeface="Wingdings" pitchFamily="2" charset="2"/>
              <a:buNone/>
            </a:pPr>
            <a:r>
              <a:rPr lang="en-US" altLang="zh-CN" sz="1800" dirty="0" smtClean="0"/>
              <a:t>	  printf("sum=%d\n",sum);	</a:t>
            </a:r>
          </a:p>
          <a:p>
            <a:pPr>
              <a:lnSpc>
                <a:spcPct val="80000"/>
              </a:lnSpc>
              <a:buFont typeface="Wingdings" pitchFamily="2" charset="2"/>
              <a:buNone/>
            </a:pPr>
            <a:r>
              <a:rPr lang="en-US" altLang="zh-CN" sz="1800" dirty="0" smtClean="0"/>
              <a:t>    return 0;</a:t>
            </a:r>
          </a:p>
          <a:p>
            <a:pPr>
              <a:lnSpc>
                <a:spcPct val="80000"/>
              </a:lnSpc>
              <a:buFont typeface="Wingdings" pitchFamily="2" charset="2"/>
              <a:buNone/>
            </a:pPr>
            <a:r>
              <a:rPr lang="en-US" altLang="zh-CN" sz="1800" dirty="0" smtClean="0"/>
              <a:t>}</a:t>
            </a:r>
            <a:endParaRPr lang="zh-CN" altLang="en-US" sz="1800" dirty="0" smtClean="0"/>
          </a:p>
        </p:txBody>
      </p:sp>
      <p:pic>
        <p:nvPicPr>
          <p:cNvPr id="583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9413" y="549275"/>
            <a:ext cx="2763837" cy="223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 name="表格 4"/>
          <p:cNvGraphicFramePr>
            <a:graphicFrameLocks noGrp="1"/>
          </p:cNvGraphicFramePr>
          <p:nvPr>
            <p:extLst>
              <p:ext uri="{D42A27DB-BD31-4B8C-83A1-F6EECF244321}">
                <p14:modId xmlns:p14="http://schemas.microsoft.com/office/powerpoint/2010/main" val="1308147743"/>
              </p:ext>
            </p:extLst>
          </p:nvPr>
        </p:nvGraphicFramePr>
        <p:xfrm>
          <a:off x="4149074" y="3286284"/>
          <a:ext cx="4779820" cy="1483360"/>
        </p:xfrm>
        <a:graphic>
          <a:graphicData uri="http://schemas.openxmlformats.org/drawingml/2006/table">
            <a:tbl>
              <a:tblPr firstRow="1" bandRow="1">
                <a:tableStyleId>{5C22544A-7EE6-4342-B048-85BDC9FD1C3A}</a:tableStyleId>
              </a:tblPr>
              <a:tblGrid>
                <a:gridCol w="955964">
                  <a:extLst>
                    <a:ext uri="{9D8B030D-6E8A-4147-A177-3AD203B41FA5}">
                      <a16:colId xmlns:a16="http://schemas.microsoft.com/office/drawing/2014/main" xmlns="" val="3920924596"/>
                    </a:ext>
                  </a:extLst>
                </a:gridCol>
                <a:gridCol w="955964">
                  <a:extLst>
                    <a:ext uri="{9D8B030D-6E8A-4147-A177-3AD203B41FA5}">
                      <a16:colId xmlns:a16="http://schemas.microsoft.com/office/drawing/2014/main" xmlns="" val="3984154808"/>
                    </a:ext>
                  </a:extLst>
                </a:gridCol>
                <a:gridCol w="955964">
                  <a:extLst>
                    <a:ext uri="{9D8B030D-6E8A-4147-A177-3AD203B41FA5}">
                      <a16:colId xmlns:a16="http://schemas.microsoft.com/office/drawing/2014/main" xmlns="" val="2073120988"/>
                    </a:ext>
                  </a:extLst>
                </a:gridCol>
                <a:gridCol w="955964">
                  <a:extLst>
                    <a:ext uri="{9D8B030D-6E8A-4147-A177-3AD203B41FA5}">
                      <a16:colId xmlns:a16="http://schemas.microsoft.com/office/drawing/2014/main" xmlns="" val="3640719609"/>
                    </a:ext>
                  </a:extLst>
                </a:gridCol>
                <a:gridCol w="955964">
                  <a:extLst>
                    <a:ext uri="{9D8B030D-6E8A-4147-A177-3AD203B41FA5}">
                      <a16:colId xmlns:a16="http://schemas.microsoft.com/office/drawing/2014/main" xmlns="" val="1853374379"/>
                    </a:ext>
                  </a:extLst>
                </a:gridCol>
              </a:tblGrid>
              <a:tr h="370840">
                <a:tc>
                  <a:txBody>
                    <a:bodyPr/>
                    <a:lstStyle/>
                    <a:p>
                      <a:r>
                        <a:rPr lang="en-US" altLang="zh-CN" dirty="0" smtClean="0">
                          <a:solidFill>
                            <a:schemeClr val="bg1"/>
                          </a:solidFill>
                        </a:rPr>
                        <a:t>a[0][0]</a:t>
                      </a:r>
                      <a:endParaRPr lang="zh-CN" altLang="en-US" dirty="0">
                        <a:solidFill>
                          <a:schemeClr val="bg1"/>
                        </a:solidFill>
                      </a:endParaRP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a[0][1]</a:t>
                      </a:r>
                      <a:endParaRPr lang="zh-CN" altLang="en-US" dirty="0" smtClean="0"/>
                    </a:p>
                  </a:txBody>
                  <a:tcPr>
                    <a:solidFill>
                      <a:schemeClr val="accent1">
                        <a:lumMod val="75000"/>
                      </a:schemeClr>
                    </a:solidFill>
                  </a:tcPr>
                </a:tc>
                <a:tc>
                  <a:txBody>
                    <a:bodyPr/>
                    <a:lstStyle/>
                    <a:p>
                      <a:r>
                        <a:rPr lang="en-US" altLang="zh-CN" dirty="0" smtClean="0"/>
                        <a:t>a[0][2]</a:t>
                      </a:r>
                      <a:endParaRPr lang="zh-CN" altLang="en-US" dirty="0"/>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a[0][3]</a:t>
                      </a:r>
                      <a:endParaRPr lang="zh-CN" altLang="en-US" dirty="0" smtClean="0"/>
                    </a:p>
                  </a:txBody>
                  <a:tcPr>
                    <a:solidFill>
                      <a:schemeClr val="accent1">
                        <a:lumMod val="75000"/>
                      </a:schemeClr>
                    </a:solidFill>
                  </a:tcPr>
                </a:tc>
                <a:tc>
                  <a:txBody>
                    <a:bodyPr/>
                    <a:lstStyle/>
                    <a:p>
                      <a:r>
                        <a:rPr lang="en-US" altLang="zh-CN" dirty="0" smtClean="0">
                          <a:solidFill>
                            <a:schemeClr val="bg1"/>
                          </a:solidFill>
                        </a:rPr>
                        <a:t>a[0][4]</a:t>
                      </a:r>
                      <a:endParaRPr lang="zh-CN" altLang="en-US" dirty="0">
                        <a:solidFill>
                          <a:schemeClr val="bg1"/>
                        </a:solidFill>
                      </a:endParaRPr>
                    </a:p>
                  </a:txBody>
                  <a:tcPr>
                    <a:solidFill>
                      <a:schemeClr val="accent1">
                        <a:lumMod val="75000"/>
                      </a:schemeClr>
                    </a:solidFill>
                  </a:tcPr>
                </a:tc>
                <a:extLst>
                  <a:ext uri="{0D108BD9-81ED-4DB2-BD59-A6C34878D82A}">
                    <a16:rowId xmlns:a16="http://schemas.microsoft.com/office/drawing/2014/main" xmlns="" val="38021772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bg1"/>
                          </a:solidFill>
                        </a:rPr>
                        <a:t>a[1][0]</a:t>
                      </a:r>
                      <a:endParaRPr lang="zh-CN" altLang="en-US" b="1" dirty="0" smtClean="0">
                        <a:solidFill>
                          <a:schemeClr val="bg1"/>
                        </a:solidFill>
                      </a:endParaRP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a[1][1]</a:t>
                      </a:r>
                      <a:endParaRPr lang="zh-CN" altLang="en-US"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a[1][2]</a:t>
                      </a:r>
                      <a:endParaRPr lang="zh-CN" altLang="en-US"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a[1][3]</a:t>
                      </a:r>
                      <a:endParaRPr lang="zh-CN" altLang="en-US"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bg1"/>
                          </a:solidFill>
                        </a:rPr>
                        <a:t>a[1][4]</a:t>
                      </a:r>
                      <a:endParaRPr lang="zh-CN" altLang="en-US" b="1" dirty="0" smtClean="0">
                        <a:solidFill>
                          <a:schemeClr val="bg1"/>
                        </a:solidFill>
                      </a:endParaRPr>
                    </a:p>
                  </a:txBody>
                  <a:tcPr>
                    <a:solidFill>
                      <a:schemeClr val="accent1">
                        <a:lumMod val="75000"/>
                      </a:schemeClr>
                    </a:solidFill>
                  </a:tcPr>
                </a:tc>
                <a:extLst>
                  <a:ext uri="{0D108BD9-81ED-4DB2-BD59-A6C34878D82A}">
                    <a16:rowId xmlns:a16="http://schemas.microsoft.com/office/drawing/2014/main" xmlns="" val="18249026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bg1"/>
                          </a:solidFill>
                        </a:rPr>
                        <a:t>a[2][0]</a:t>
                      </a:r>
                      <a:endParaRPr lang="zh-CN" altLang="en-US" b="1" dirty="0" smtClean="0">
                        <a:solidFill>
                          <a:schemeClr val="bg1"/>
                        </a:solidFill>
                      </a:endParaRP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a[2][1]</a:t>
                      </a:r>
                      <a:endParaRPr lang="zh-CN" altLang="en-US"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a[2][2]</a:t>
                      </a:r>
                      <a:endParaRPr lang="zh-CN" altLang="en-US"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a[2][3]</a:t>
                      </a:r>
                      <a:endParaRPr lang="zh-CN" altLang="en-US"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bg1"/>
                          </a:solidFill>
                        </a:rPr>
                        <a:t>a[2][4]</a:t>
                      </a:r>
                      <a:endParaRPr lang="zh-CN" altLang="en-US" b="1" dirty="0" smtClean="0">
                        <a:solidFill>
                          <a:schemeClr val="bg1"/>
                        </a:solidFill>
                      </a:endParaRPr>
                    </a:p>
                  </a:txBody>
                  <a:tcPr>
                    <a:solidFill>
                      <a:schemeClr val="accent1">
                        <a:lumMod val="75000"/>
                      </a:schemeClr>
                    </a:solidFill>
                  </a:tcPr>
                </a:tc>
                <a:extLst>
                  <a:ext uri="{0D108BD9-81ED-4DB2-BD59-A6C34878D82A}">
                    <a16:rowId xmlns:a16="http://schemas.microsoft.com/office/drawing/2014/main" xmlns="" val="401302599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bg1"/>
                          </a:solidFill>
                        </a:rPr>
                        <a:t>a[3][0]</a:t>
                      </a:r>
                      <a:endParaRPr lang="zh-CN" altLang="en-US" b="1" dirty="0" smtClean="0">
                        <a:solidFill>
                          <a:schemeClr val="bg1"/>
                        </a:solidFill>
                      </a:endParaRP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bg1"/>
                          </a:solidFill>
                        </a:rPr>
                        <a:t>a[3][1]</a:t>
                      </a:r>
                      <a:endParaRPr lang="zh-CN" altLang="en-US" b="1" dirty="0" smtClean="0">
                        <a:solidFill>
                          <a:schemeClr val="bg1"/>
                        </a:solidFill>
                      </a:endParaRP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bg1"/>
                          </a:solidFill>
                        </a:rPr>
                        <a:t>a[3][2]</a:t>
                      </a:r>
                      <a:endParaRPr lang="zh-CN" altLang="en-US" b="1" dirty="0" smtClean="0">
                        <a:solidFill>
                          <a:schemeClr val="bg1"/>
                        </a:solidFill>
                      </a:endParaRP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bg1"/>
                          </a:solidFill>
                        </a:rPr>
                        <a:t>a[3][3]</a:t>
                      </a:r>
                      <a:endParaRPr lang="zh-CN" altLang="en-US" b="1" dirty="0" smtClean="0">
                        <a:solidFill>
                          <a:schemeClr val="bg1"/>
                        </a:solidFill>
                      </a:endParaRP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solidFill>
                            <a:schemeClr val="bg1"/>
                          </a:solidFill>
                        </a:rPr>
                        <a:t>a[3][4]</a:t>
                      </a:r>
                      <a:endParaRPr lang="zh-CN" altLang="en-US" b="1" dirty="0" smtClean="0">
                        <a:solidFill>
                          <a:schemeClr val="bg1"/>
                        </a:solidFill>
                      </a:endParaRPr>
                    </a:p>
                  </a:txBody>
                  <a:tcPr>
                    <a:solidFill>
                      <a:schemeClr val="accent1">
                        <a:lumMod val="75000"/>
                      </a:schemeClr>
                    </a:solidFill>
                  </a:tcPr>
                </a:tc>
                <a:extLst>
                  <a:ext uri="{0D108BD9-81ED-4DB2-BD59-A6C34878D82A}">
                    <a16:rowId xmlns:a16="http://schemas.microsoft.com/office/drawing/2014/main" xmlns="" val="3499609467"/>
                  </a:ext>
                </a:extLst>
              </a:tr>
            </a:tbl>
          </a:graphicData>
        </a:graphic>
      </p:graphicFrame>
    </p:spTree>
  </p:cSld>
  <p:clrMapOvr>
    <a:masterClrMapping/>
  </p:clrMapOvr>
  <p:transition spd="med">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4.3</a:t>
            </a:r>
            <a:r>
              <a:rPr lang="zh-CN" altLang="en-US" dirty="0" smtClean="0"/>
              <a:t>字符数组</a:t>
            </a:r>
            <a:endParaRPr lang="en-US" dirty="0"/>
          </a:p>
        </p:txBody>
      </p:sp>
      <p:sp>
        <p:nvSpPr>
          <p:cNvPr id="3" name="Content Placeholder 2"/>
          <p:cNvSpPr>
            <a:spLocks noGrp="1"/>
          </p:cNvSpPr>
          <p:nvPr>
            <p:ph idx="1"/>
          </p:nvPr>
        </p:nvSpPr>
        <p:spPr>
          <a:xfrm>
            <a:off x="755650" y="1700213"/>
            <a:ext cx="8064822" cy="4537075"/>
          </a:xfrm>
        </p:spPr>
        <p:txBody>
          <a:bodyPr/>
          <a:lstStyle/>
          <a:p>
            <a:pPr>
              <a:lnSpc>
                <a:spcPct val="110000"/>
              </a:lnSpc>
            </a:pPr>
            <a:r>
              <a:rPr lang="zh-TW" altLang="en-US" dirty="0"/>
              <a:t>字符数组是</a:t>
            </a:r>
            <a:r>
              <a:rPr lang="zh-TW" altLang="en-US" dirty="0" smtClean="0"/>
              <a:t>用于存放</a:t>
            </a:r>
            <a:r>
              <a:rPr lang="zh-TW" altLang="en-US" dirty="0"/>
              <a:t>字符型数据的数组，简称字符数组。其定义的形式如下：</a:t>
            </a:r>
          </a:p>
          <a:p>
            <a:pPr lvl="1">
              <a:lnSpc>
                <a:spcPct val="110000"/>
              </a:lnSpc>
            </a:pPr>
            <a:r>
              <a:rPr lang="en-US" altLang="zh-TW" dirty="0"/>
              <a:t>char </a:t>
            </a:r>
            <a:r>
              <a:rPr lang="zh-TW" altLang="en-US" dirty="0"/>
              <a:t>数组名</a:t>
            </a:r>
            <a:r>
              <a:rPr lang="en-US" altLang="zh-TW" dirty="0"/>
              <a:t>[</a:t>
            </a:r>
            <a:r>
              <a:rPr lang="zh-TW" altLang="en-US" dirty="0"/>
              <a:t>常量表达式</a:t>
            </a:r>
            <a:r>
              <a:rPr lang="en-US" altLang="zh-TW" dirty="0"/>
              <a:t>]; </a:t>
            </a:r>
            <a:endParaRPr lang="en-US" altLang="zh-TW" dirty="0" smtClean="0"/>
          </a:p>
          <a:p>
            <a:pPr lvl="1">
              <a:lnSpc>
                <a:spcPct val="110000"/>
              </a:lnSpc>
            </a:pPr>
            <a:r>
              <a:rPr lang="en-US" altLang="zh-TW" dirty="0" smtClean="0"/>
              <a:t>char </a:t>
            </a:r>
            <a:r>
              <a:rPr lang="zh-TW" altLang="en-US" dirty="0"/>
              <a:t>数组名</a:t>
            </a:r>
            <a:r>
              <a:rPr lang="en-US" altLang="zh-TW" dirty="0"/>
              <a:t>[</a:t>
            </a:r>
            <a:r>
              <a:rPr lang="zh-TW" altLang="en-US" dirty="0"/>
              <a:t>常量表达式</a:t>
            </a:r>
            <a:r>
              <a:rPr lang="en-US" altLang="zh-TW" dirty="0"/>
              <a:t>1] [</a:t>
            </a:r>
            <a:r>
              <a:rPr lang="zh-TW" altLang="en-US" dirty="0"/>
              <a:t>常量表达式</a:t>
            </a:r>
            <a:r>
              <a:rPr lang="en-US" altLang="zh-TW" dirty="0"/>
              <a:t>2</a:t>
            </a:r>
            <a:r>
              <a:rPr lang="en-US" altLang="zh-TW" dirty="0" smtClean="0"/>
              <a:t>]; </a:t>
            </a:r>
          </a:p>
          <a:p>
            <a:pPr lvl="1">
              <a:lnSpc>
                <a:spcPct val="110000"/>
              </a:lnSpc>
            </a:pPr>
            <a:r>
              <a:rPr lang="en-US" altLang="zh-TW" dirty="0" smtClean="0"/>
              <a:t>static char </a:t>
            </a:r>
            <a:r>
              <a:rPr lang="zh-TW" altLang="en-US" dirty="0" smtClean="0"/>
              <a:t>数组</a:t>
            </a:r>
            <a:r>
              <a:rPr lang="zh-TW" altLang="en-US" dirty="0"/>
              <a:t>名</a:t>
            </a:r>
            <a:r>
              <a:rPr lang="en-US" altLang="zh-TW" dirty="0"/>
              <a:t>[</a:t>
            </a:r>
            <a:r>
              <a:rPr lang="zh-TW" altLang="en-US" dirty="0"/>
              <a:t>常量表达式</a:t>
            </a:r>
            <a:r>
              <a:rPr lang="en-US" altLang="zh-TW" dirty="0"/>
              <a:t>]; </a:t>
            </a:r>
            <a:endParaRPr lang="en-US" altLang="zh-TW" dirty="0" smtClean="0"/>
          </a:p>
          <a:p>
            <a:pPr lvl="1">
              <a:lnSpc>
                <a:spcPct val="110000"/>
              </a:lnSpc>
            </a:pPr>
            <a:r>
              <a:rPr lang="en-US" altLang="zh-TW" dirty="0" smtClean="0"/>
              <a:t>static </a:t>
            </a:r>
            <a:r>
              <a:rPr lang="en-US" altLang="zh-TW" dirty="0"/>
              <a:t>char </a:t>
            </a:r>
            <a:r>
              <a:rPr lang="zh-TW" altLang="en-US" dirty="0"/>
              <a:t>数组名</a:t>
            </a:r>
            <a:r>
              <a:rPr lang="en-US" altLang="zh-TW" dirty="0"/>
              <a:t>[</a:t>
            </a:r>
            <a:r>
              <a:rPr lang="zh-TW" altLang="en-US" dirty="0"/>
              <a:t>常量表达式</a:t>
            </a:r>
            <a:r>
              <a:rPr lang="en-US" altLang="zh-TW" dirty="0"/>
              <a:t>1] [</a:t>
            </a:r>
            <a:r>
              <a:rPr lang="zh-TW" altLang="en-US" dirty="0"/>
              <a:t>常量表达式</a:t>
            </a:r>
            <a:r>
              <a:rPr lang="en-US" altLang="zh-TW" dirty="0"/>
              <a:t>2</a:t>
            </a:r>
            <a:r>
              <a:rPr lang="en-US" altLang="zh-TW" dirty="0" smtClean="0"/>
              <a:t>]</a:t>
            </a:r>
            <a:endParaRPr lang="en-US" altLang="zh-TW" dirty="0"/>
          </a:p>
          <a:p>
            <a:pPr>
              <a:lnSpc>
                <a:spcPct val="110000"/>
              </a:lnSpc>
            </a:pPr>
            <a:endParaRPr lang="en-US" sz="2400"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69</a:t>
            </a:fld>
            <a:endParaRPr lang="en-US" altLang="zh-CN" dirty="0"/>
          </a:p>
        </p:txBody>
      </p:sp>
    </p:spTree>
    <p:extLst>
      <p:ext uri="{BB962C8B-B14F-4D97-AF65-F5344CB8AC3E}">
        <p14:creationId xmlns:p14="http://schemas.microsoft.com/office/powerpoint/2010/main" val="119598103"/>
      </p:ext>
    </p:extLst>
  </p:cSld>
  <p:clrMapOvr>
    <a:masterClrMapping/>
  </p:clrMapOvr>
  <p:transition spd="med">
    <p:random/>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4.3</a:t>
            </a:r>
            <a:r>
              <a:rPr lang="zh-CN" altLang="en-US" dirty="0" smtClean="0"/>
              <a:t>字符数组</a:t>
            </a:r>
            <a:endParaRPr lang="en-US" dirty="0"/>
          </a:p>
        </p:txBody>
      </p:sp>
      <p:sp>
        <p:nvSpPr>
          <p:cNvPr id="3" name="Content Placeholder 2"/>
          <p:cNvSpPr>
            <a:spLocks noGrp="1"/>
          </p:cNvSpPr>
          <p:nvPr>
            <p:ph idx="1"/>
          </p:nvPr>
        </p:nvSpPr>
        <p:spPr>
          <a:xfrm>
            <a:off x="755650" y="1700213"/>
            <a:ext cx="7993063" cy="3961035"/>
          </a:xfrm>
        </p:spPr>
        <p:txBody>
          <a:bodyPr/>
          <a:lstStyle/>
          <a:p>
            <a:r>
              <a:rPr lang="zh-TW" altLang="en-US" dirty="0"/>
              <a:t>对一个字符数组，如果不作初始化赋值，则必须说明数组长度</a:t>
            </a:r>
            <a:r>
              <a:rPr lang="zh-TW" altLang="en-US" dirty="0" smtClean="0"/>
              <a:t>。</a:t>
            </a:r>
            <a:endParaRPr lang="en-US" altLang="zh-TW" dirty="0" smtClean="0"/>
          </a:p>
          <a:p>
            <a:r>
              <a:rPr lang="zh-TW" altLang="en-US" dirty="0" smtClean="0"/>
              <a:t>静态</a:t>
            </a:r>
            <a:r>
              <a:rPr lang="zh-TW" altLang="en-US" dirty="0"/>
              <a:t>字符数组可只对部分元素赋初值，未赋初值的元素自动赋字</a:t>
            </a:r>
            <a:r>
              <a:rPr lang="zh-TW" altLang="en-US" dirty="0" smtClean="0"/>
              <a:t>符</a:t>
            </a:r>
            <a:r>
              <a:rPr lang="en-US" altLang="zh-TW" dirty="0" smtClean="0"/>
              <a:t>‘0’</a:t>
            </a:r>
            <a:r>
              <a:rPr lang="zh-TW" altLang="en-US" dirty="0" smtClean="0"/>
              <a:t>值，</a:t>
            </a:r>
            <a:r>
              <a:rPr lang="zh-TW" altLang="ru-RU" dirty="0" smtClean="0"/>
              <a:t>即</a:t>
            </a:r>
            <a:r>
              <a:rPr lang="ru-RU" altLang="zh-TW" dirty="0" smtClean="0"/>
              <a:t>‘\0’</a:t>
            </a:r>
            <a:r>
              <a:rPr lang="zh-TW" altLang="en-US" dirty="0" smtClean="0"/>
              <a:t>。</a:t>
            </a:r>
          </a:p>
          <a:p>
            <a:pPr marL="0" indent="0">
              <a:buNone/>
            </a:pPr>
            <a:r>
              <a:rPr lang="en-US" altLang="zh-CN" dirty="0" smtClean="0"/>
              <a:t>static char </a:t>
            </a:r>
            <a:r>
              <a:rPr lang="en-US" altLang="zh-CN" dirty="0"/>
              <a:t>a</a:t>
            </a:r>
            <a:r>
              <a:rPr lang="en-US" altLang="zh-CN" dirty="0" smtClean="0"/>
              <a:t>[5</a:t>
            </a:r>
            <a:r>
              <a:rPr lang="en-US" altLang="zh-CN" dirty="0"/>
              <a:t>]={</a:t>
            </a:r>
            <a:r>
              <a:rPr lang="en-US" altLang="zh-CN" dirty="0" smtClean="0"/>
              <a:t>'a',</a:t>
            </a:r>
            <a:r>
              <a:rPr lang="en-US" altLang="zh-CN" dirty="0"/>
              <a:t> </a:t>
            </a:r>
            <a:r>
              <a:rPr lang="en-US" altLang="zh-CN" dirty="0" smtClean="0"/>
              <a:t>'b',</a:t>
            </a:r>
            <a:r>
              <a:rPr lang="en-US" altLang="zh-CN" dirty="0"/>
              <a:t> </a:t>
            </a:r>
            <a:r>
              <a:rPr lang="en-US" altLang="zh-CN" dirty="0" smtClean="0"/>
              <a:t>'c'};</a:t>
            </a:r>
          </a:p>
          <a:p>
            <a:pPr marL="0" indent="0">
              <a:buNone/>
            </a:pPr>
            <a:r>
              <a:rPr lang="en-US" altLang="zh-CN" dirty="0" smtClean="0"/>
              <a:t>static char </a:t>
            </a:r>
            <a:r>
              <a:rPr lang="en-US" altLang="zh-CN" dirty="0"/>
              <a:t>b</a:t>
            </a:r>
            <a:r>
              <a:rPr lang="en-US" altLang="zh-CN" dirty="0" smtClean="0"/>
              <a:t>[5]={'a', 'b', 'c',</a:t>
            </a:r>
            <a:r>
              <a:rPr lang="en-US" altLang="zh-CN" dirty="0"/>
              <a:t> </a:t>
            </a:r>
            <a:r>
              <a:rPr lang="en-US" altLang="zh-CN" dirty="0" smtClean="0"/>
              <a:t>'\0','\0'};</a:t>
            </a:r>
          </a:p>
          <a:p>
            <a:pPr marL="0" indent="0">
              <a:buNone/>
            </a:pPr>
            <a:r>
              <a:rPr lang="en-US" altLang="zh-CN" dirty="0">
                <a:effectLst>
                  <a:outerShdw blurRad="38100" dist="38100" dir="2700000" algn="tl">
                    <a:srgbClr val="000000">
                      <a:alpha val="43137"/>
                    </a:srgbClr>
                  </a:outerShdw>
                </a:effectLst>
              </a:rPr>
              <a:t>static</a:t>
            </a:r>
            <a:r>
              <a:rPr lang="zh-CN" altLang="en-US" dirty="0">
                <a:effectLst>
                  <a:outerShdw blurRad="38100" dist="38100" dir="2700000" algn="tl">
                    <a:srgbClr val="000000">
                      <a:alpha val="43137"/>
                    </a:srgbClr>
                  </a:outerShdw>
                </a:effectLst>
              </a:rPr>
              <a:t> int </a:t>
            </a:r>
            <a:r>
              <a:rPr lang="en-US" altLang="zh-CN" dirty="0" smtClean="0">
                <a:effectLst>
                  <a:outerShdw blurRad="38100" dist="38100" dir="2700000" algn="tl">
                    <a:srgbClr val="000000">
                      <a:alpha val="43137"/>
                    </a:srgbClr>
                  </a:outerShdw>
                </a:effectLst>
              </a:rPr>
              <a:t>c</a:t>
            </a:r>
            <a:r>
              <a:rPr lang="zh-CN" altLang="en-US" dirty="0" smtClean="0">
                <a:effectLst>
                  <a:outerShdw blurRad="38100" dist="38100" dir="2700000" algn="tl">
                    <a:srgbClr val="000000">
                      <a:alpha val="43137"/>
                    </a:srgbClr>
                  </a:outerShdw>
                </a:effectLst>
              </a:rPr>
              <a:t>[</a:t>
            </a:r>
            <a:r>
              <a:rPr lang="zh-CN" altLang="en-US" dirty="0">
                <a:effectLst>
                  <a:outerShdw blurRad="38100" dist="38100" dir="2700000" algn="tl">
                    <a:srgbClr val="000000">
                      <a:alpha val="43137"/>
                    </a:srgbClr>
                  </a:outerShdw>
                </a:effectLst>
              </a:rPr>
              <a:t>5]={</a:t>
            </a:r>
            <a:r>
              <a:rPr lang="zh-CN" altLang="en-US" dirty="0">
                <a:solidFill>
                  <a:srgbClr val="FF0000"/>
                </a:solidFill>
                <a:effectLst>
                  <a:outerShdw blurRad="38100" dist="38100" dir="2700000" algn="tl">
                    <a:srgbClr val="000000">
                      <a:alpha val="43137"/>
                    </a:srgbClr>
                  </a:outerShdw>
                </a:effectLst>
              </a:rPr>
              <a:t>1,2,3</a:t>
            </a:r>
            <a:r>
              <a:rPr lang="zh-CN" altLang="en-US" dirty="0" smtClean="0">
                <a:effectLst>
                  <a:outerShdw blurRad="38100" dist="38100" dir="2700000" algn="tl">
                    <a:srgbClr val="000000">
                      <a:alpha val="43137"/>
                    </a:srgbClr>
                  </a:outerShdw>
                </a:effectLst>
              </a:rPr>
              <a:t>}</a:t>
            </a:r>
            <a:r>
              <a:rPr lang="en-US" altLang="zh-CN" dirty="0" smtClean="0">
                <a:effectLst>
                  <a:outerShdw blurRad="38100" dist="38100" dir="2700000" algn="tl">
                    <a:srgbClr val="000000">
                      <a:alpha val="43137"/>
                    </a:srgbClr>
                  </a:outerShdw>
                </a:effectLst>
              </a:rPr>
              <a:t>;</a:t>
            </a:r>
            <a:endParaRPr lang="en-US" altLang="zh-CN" dirty="0" smtClean="0"/>
          </a:p>
          <a:p>
            <a:pPr marL="0" indent="0">
              <a:buNone/>
            </a:pP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70</a:t>
            </a:fld>
            <a:endParaRPr lang="en-US" altLang="zh-CN" dirty="0"/>
          </a:p>
        </p:txBody>
      </p:sp>
    </p:spTree>
    <p:extLst>
      <p:ext uri="{BB962C8B-B14F-4D97-AF65-F5344CB8AC3E}">
        <p14:creationId xmlns:p14="http://schemas.microsoft.com/office/powerpoint/2010/main" val="1565405391"/>
      </p:ext>
    </p:extLst>
  </p:cSld>
  <p:clrMapOvr>
    <a:masterClrMapping/>
  </p:clrMapOvr>
  <p:transition spd="med">
    <p:random/>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4.3</a:t>
            </a:r>
            <a:r>
              <a:rPr lang="zh-CN" altLang="en-US" dirty="0" smtClean="0"/>
              <a:t>字符数组</a:t>
            </a:r>
            <a:endParaRPr lang="en-US" dirty="0"/>
          </a:p>
        </p:txBody>
      </p:sp>
      <p:sp>
        <p:nvSpPr>
          <p:cNvPr id="3" name="Content Placeholder 2"/>
          <p:cNvSpPr>
            <a:spLocks noGrp="1"/>
          </p:cNvSpPr>
          <p:nvPr>
            <p:ph idx="1"/>
          </p:nvPr>
        </p:nvSpPr>
        <p:spPr>
          <a:xfrm>
            <a:off x="755650" y="1700213"/>
            <a:ext cx="7993063" cy="2304851"/>
          </a:xfrm>
        </p:spPr>
        <p:txBody>
          <a:bodyPr/>
          <a:lstStyle/>
          <a:p>
            <a:r>
              <a:rPr lang="zh-TW" altLang="en-US" dirty="0" smtClean="0"/>
              <a:t>字符串总是以</a:t>
            </a:r>
            <a:r>
              <a:rPr lang="en-US" altLang="zh-TW" dirty="0" smtClean="0"/>
              <a:t>‘\0’</a:t>
            </a:r>
            <a:r>
              <a:rPr lang="zh-TW" altLang="en-US" dirty="0" smtClean="0"/>
              <a:t>作为</a:t>
            </a:r>
            <a:r>
              <a:rPr lang="zh-TW" altLang="en-US" dirty="0"/>
              <a:t>串的结束符</a:t>
            </a:r>
            <a:r>
              <a:rPr lang="zh-TW" altLang="en-US" dirty="0" smtClean="0"/>
              <a:t>。</a:t>
            </a:r>
            <a:endParaRPr lang="en-US" altLang="zh-TW" dirty="0" smtClean="0"/>
          </a:p>
          <a:p>
            <a:pPr lvl="1"/>
            <a:r>
              <a:rPr lang="zh-TW" altLang="en-US" dirty="0" smtClean="0"/>
              <a:t>因此当把一个字符串存入一个数组时，需要把结束符</a:t>
            </a:r>
            <a:r>
              <a:rPr lang="en-US" altLang="zh-TW" dirty="0" smtClean="0"/>
              <a:t>‘\0’</a:t>
            </a:r>
            <a:r>
              <a:rPr lang="zh-TW" altLang="en-US" dirty="0" smtClean="0"/>
              <a:t>也存入数组。</a:t>
            </a:r>
            <a:endParaRPr lang="en-US" altLang="zh-TW" dirty="0" smtClean="0"/>
          </a:p>
          <a:p>
            <a:pPr lvl="1"/>
            <a:r>
              <a:rPr lang="zh-CN" altLang="en-US" dirty="0" smtClean="0"/>
              <a:t>通常将</a:t>
            </a:r>
            <a:r>
              <a:rPr lang="en-US" altLang="zh-TW" dirty="0"/>
              <a:t>‘\0</a:t>
            </a:r>
            <a:r>
              <a:rPr lang="en-US" altLang="zh-TW" dirty="0" smtClean="0"/>
              <a:t>’</a:t>
            </a:r>
            <a:r>
              <a:rPr lang="zh-CN" altLang="en-US" dirty="0" smtClean="0"/>
              <a:t>作为结束符使用。</a:t>
            </a:r>
            <a:endParaRPr lang="zh-TW" altLang="en-US" dirty="0"/>
          </a:p>
          <a:p>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71</a:t>
            </a:fld>
            <a:endParaRPr lang="en-US" altLang="zh-CN" dirty="0"/>
          </a:p>
        </p:txBody>
      </p:sp>
    </p:spTree>
    <p:extLst>
      <p:ext uri="{BB962C8B-B14F-4D97-AF65-F5344CB8AC3E}">
        <p14:creationId xmlns:p14="http://schemas.microsoft.com/office/powerpoint/2010/main" val="3229173667"/>
      </p:ext>
    </p:extLst>
  </p:cSld>
  <p:clrMapOvr>
    <a:masterClrMapping/>
  </p:clrMapOvr>
  <p:transition spd="med">
    <p:random/>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4.3</a:t>
            </a:r>
            <a:r>
              <a:rPr lang="zh-CN" altLang="en-US" dirty="0" smtClean="0"/>
              <a:t>字符数组</a:t>
            </a:r>
            <a:endParaRPr lang="en-US" dirty="0"/>
          </a:p>
        </p:txBody>
      </p:sp>
      <p:sp>
        <p:nvSpPr>
          <p:cNvPr id="3" name="Content Placeholder 2"/>
          <p:cNvSpPr>
            <a:spLocks noGrp="1"/>
          </p:cNvSpPr>
          <p:nvPr>
            <p:ph idx="1"/>
          </p:nvPr>
        </p:nvSpPr>
        <p:spPr>
          <a:xfrm>
            <a:off x="755650" y="1700213"/>
            <a:ext cx="8388350" cy="5041155"/>
          </a:xfrm>
        </p:spPr>
        <p:txBody>
          <a:bodyPr/>
          <a:lstStyle/>
          <a:p>
            <a:r>
              <a:rPr lang="zh-TW" altLang="en-US" dirty="0"/>
              <a:t>对于字符数组而言，数组实际可用的字符个数必须小于等于数组长度</a:t>
            </a:r>
            <a:r>
              <a:rPr lang="zh-TW" altLang="en-US" dirty="0" smtClean="0"/>
              <a:t>。</a:t>
            </a:r>
          </a:p>
          <a:p>
            <a:pPr lvl="1"/>
            <a:r>
              <a:rPr lang="en-US" dirty="0"/>
              <a:t>char a[4]={ '1', '2', '3', '4'};</a:t>
            </a:r>
            <a:endParaRPr lang="zh-CN" altLang="en-US" dirty="0"/>
          </a:p>
          <a:p>
            <a:pPr lvl="1"/>
            <a:r>
              <a:rPr lang="en-US" dirty="0"/>
              <a:t>char b[4]={ '1', '2', '3', '\0'};</a:t>
            </a:r>
            <a:endParaRPr lang="zh-CN" altLang="en-US" dirty="0"/>
          </a:p>
          <a:p>
            <a:pPr lvl="1"/>
            <a:r>
              <a:rPr lang="en-US" dirty="0"/>
              <a:t>static c[4]={ '1', '2', '3'};</a:t>
            </a:r>
            <a:endParaRPr lang="zh-CN" altLang="en-US" dirty="0"/>
          </a:p>
          <a:p>
            <a:r>
              <a:rPr lang="zh-CN" altLang="en-US" dirty="0"/>
              <a:t>三个字符数组的长度均为</a:t>
            </a:r>
            <a:r>
              <a:rPr lang="en-US" dirty="0"/>
              <a:t>4</a:t>
            </a:r>
            <a:r>
              <a:rPr lang="zh-CN" altLang="en-US" dirty="0"/>
              <a:t>，但是它们的有效长度却不一样。有效长度由结束符</a:t>
            </a:r>
            <a:r>
              <a:rPr lang="en-US" dirty="0"/>
              <a:t>‘\0’</a:t>
            </a:r>
            <a:r>
              <a:rPr lang="zh-CN" altLang="en-US" dirty="0"/>
              <a:t>决定</a:t>
            </a:r>
            <a:r>
              <a:rPr lang="zh-CN" altLang="en-US" dirty="0" smtClean="0"/>
              <a:t>。</a:t>
            </a:r>
            <a:endParaRPr lang="en-US" altLang="zh-CN" dirty="0" smtClean="0"/>
          </a:p>
          <a:p>
            <a:pPr lvl="1"/>
            <a:r>
              <a:rPr lang="zh-CN" altLang="en-US" dirty="0" smtClean="0"/>
              <a:t>字符数组</a:t>
            </a:r>
            <a:r>
              <a:rPr lang="zh-CN" altLang="zh-CN" dirty="0"/>
              <a:t>a</a:t>
            </a:r>
            <a:r>
              <a:rPr lang="zh-CN" altLang="en-US" dirty="0" smtClean="0"/>
              <a:t>有效长度为</a:t>
            </a:r>
            <a:r>
              <a:rPr lang="en-US" dirty="0"/>
              <a:t>4</a:t>
            </a:r>
            <a:r>
              <a:rPr lang="zh-CN" altLang="en-US" dirty="0" smtClean="0"/>
              <a:t>，</a:t>
            </a:r>
            <a:endParaRPr lang="en-US" altLang="zh-CN" dirty="0" smtClean="0"/>
          </a:p>
          <a:p>
            <a:pPr lvl="1"/>
            <a:r>
              <a:rPr lang="zh-CN" altLang="en-US" dirty="0" smtClean="0"/>
              <a:t>字符</a:t>
            </a:r>
            <a:r>
              <a:rPr lang="zh-CN" altLang="en-US" dirty="0"/>
              <a:t>数组</a:t>
            </a:r>
            <a:r>
              <a:rPr lang="en-US" dirty="0"/>
              <a:t>b</a:t>
            </a:r>
            <a:r>
              <a:rPr lang="zh-CN" altLang="en-US" dirty="0"/>
              <a:t>有效长度为</a:t>
            </a:r>
            <a:r>
              <a:rPr lang="en-US" dirty="0"/>
              <a:t>3</a:t>
            </a:r>
            <a:r>
              <a:rPr lang="zh-CN" altLang="en-US" dirty="0" smtClean="0"/>
              <a:t>，</a:t>
            </a:r>
            <a:endParaRPr lang="en-US" altLang="zh-CN" dirty="0" smtClean="0"/>
          </a:p>
          <a:p>
            <a:pPr lvl="1"/>
            <a:r>
              <a:rPr lang="zh-CN" altLang="en-US" dirty="0" smtClean="0"/>
              <a:t>字符</a:t>
            </a:r>
            <a:r>
              <a:rPr lang="zh-CN" altLang="en-US" dirty="0"/>
              <a:t>数组</a:t>
            </a:r>
            <a:r>
              <a:rPr lang="en-US" dirty="0"/>
              <a:t>c</a:t>
            </a:r>
            <a:r>
              <a:rPr lang="zh-CN" altLang="en-US" dirty="0"/>
              <a:t>有效长度为</a:t>
            </a:r>
            <a:r>
              <a:rPr lang="en-US" dirty="0" smtClean="0"/>
              <a:t>3</a:t>
            </a:r>
            <a:r>
              <a:rPr lang="zh-CN" altLang="en-US" dirty="0" smtClean="0"/>
              <a:t>。</a:t>
            </a:r>
            <a:endParaRPr lang="zh-CN" altLang="en-US" dirty="0">
              <a:effectLst/>
            </a:endParaRPr>
          </a:p>
          <a:p>
            <a:pPr marL="0" indent="0">
              <a:buNone/>
            </a:pPr>
            <a:endParaRPr lang="zh-TW" altLang="en-US" dirty="0"/>
          </a:p>
          <a:p>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72</a:t>
            </a:fld>
            <a:endParaRPr lang="en-US" altLang="zh-CN" dirty="0"/>
          </a:p>
        </p:txBody>
      </p:sp>
    </p:spTree>
    <p:extLst>
      <p:ext uri="{BB962C8B-B14F-4D97-AF65-F5344CB8AC3E}">
        <p14:creationId xmlns:p14="http://schemas.microsoft.com/office/powerpoint/2010/main" val="365685111"/>
      </p:ext>
    </p:extLst>
  </p:cSld>
  <p:clrMapOvr>
    <a:masterClrMapping/>
  </p:clrMapOvr>
  <p:transition spd="med">
    <p:random/>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4.3</a:t>
            </a:r>
            <a:r>
              <a:rPr lang="zh-CN" altLang="en-US" dirty="0"/>
              <a:t>字符数组</a:t>
            </a:r>
            <a:endParaRPr lang="en-US" dirty="0"/>
          </a:p>
        </p:txBody>
      </p:sp>
      <p:sp>
        <p:nvSpPr>
          <p:cNvPr id="3" name="Content Placeholder 2"/>
          <p:cNvSpPr>
            <a:spLocks noGrp="1"/>
          </p:cNvSpPr>
          <p:nvPr>
            <p:ph idx="1"/>
          </p:nvPr>
        </p:nvSpPr>
        <p:spPr>
          <a:xfrm>
            <a:off x="755650" y="1700213"/>
            <a:ext cx="8280846" cy="2736899"/>
          </a:xfrm>
        </p:spPr>
        <p:txBody>
          <a:bodyPr/>
          <a:lstStyle/>
          <a:p>
            <a:r>
              <a:rPr lang="zh-TW" altLang="en-US" dirty="0"/>
              <a:t>字符数组的输入与</a:t>
            </a:r>
            <a:r>
              <a:rPr lang="zh-TW" altLang="en-US" dirty="0" smtClean="0"/>
              <a:t>输出</a:t>
            </a:r>
            <a:endParaRPr lang="en-US" altLang="zh-TW" dirty="0" smtClean="0"/>
          </a:p>
          <a:p>
            <a:pPr lvl="1"/>
            <a:r>
              <a:rPr lang="zh-TW" altLang="en-US" dirty="0" smtClean="0"/>
              <a:t>采用</a:t>
            </a:r>
            <a:r>
              <a:rPr lang="zh-TW" altLang="en-US" dirty="0"/>
              <a:t>用</a:t>
            </a:r>
            <a:r>
              <a:rPr lang="en-US" altLang="zh-TW" dirty="0"/>
              <a:t>printf</a:t>
            </a:r>
            <a:r>
              <a:rPr lang="zh-TW" altLang="en-US" dirty="0"/>
              <a:t>函数和</a:t>
            </a:r>
            <a:r>
              <a:rPr lang="en-US" altLang="zh-TW" dirty="0"/>
              <a:t>scanf</a:t>
            </a:r>
            <a:r>
              <a:rPr lang="zh-TW" altLang="en-US" dirty="0"/>
              <a:t>函数格式化输出符</a:t>
            </a:r>
            <a:r>
              <a:rPr lang="en-US" altLang="zh-TW" dirty="0"/>
              <a:t>%c</a:t>
            </a:r>
            <a:r>
              <a:rPr lang="zh-TW" altLang="en-US" dirty="0" smtClean="0"/>
              <a:t>，</a:t>
            </a:r>
            <a:endParaRPr lang="en-US" altLang="zh-TW" dirty="0" smtClean="0"/>
          </a:p>
          <a:p>
            <a:pPr lvl="1"/>
            <a:r>
              <a:rPr lang="zh-TW" altLang="en-US" dirty="0" smtClean="0"/>
              <a:t>也</a:t>
            </a:r>
            <a:r>
              <a:rPr lang="zh-TW" altLang="en-US" dirty="0"/>
              <a:t>可以用格式化符</a:t>
            </a:r>
            <a:r>
              <a:rPr lang="en-US" altLang="zh-TW" dirty="0"/>
              <a:t>%s</a:t>
            </a:r>
            <a:r>
              <a:rPr lang="zh-TW" altLang="en-US" dirty="0"/>
              <a:t>一次性输入或输出字符串</a:t>
            </a:r>
            <a:r>
              <a:rPr lang="zh-TW" altLang="en-US" dirty="0" smtClean="0"/>
              <a:t>。</a:t>
            </a:r>
          </a:p>
          <a:p>
            <a:r>
              <a:rPr lang="zh-TW" altLang="en-US" dirty="0"/>
              <a:t>以</a:t>
            </a:r>
            <a:r>
              <a:rPr lang="en-US" altLang="zh-TW" dirty="0"/>
              <a:t>char ch[5]</a:t>
            </a:r>
            <a:r>
              <a:rPr lang="zh-TW" altLang="en-US" dirty="0"/>
              <a:t>为例</a:t>
            </a:r>
            <a:r>
              <a:rPr lang="zh-TW" altLang="en-US" dirty="0" smtClean="0"/>
              <a:t>，输入输出代码，</a:t>
            </a:r>
            <a:r>
              <a:rPr lang="zh-CN" altLang="en-US" dirty="0" smtClean="0"/>
              <a:t>分别</a:t>
            </a:r>
            <a:r>
              <a:rPr lang="zh-TW" altLang="en-US" dirty="0" smtClean="0"/>
              <a:t>如下</a:t>
            </a:r>
            <a:r>
              <a:rPr lang="zh-TW" altLang="en-US" dirty="0"/>
              <a:t>：</a:t>
            </a:r>
          </a:p>
          <a:p>
            <a:endParaRPr lang="zh-TW" altLang="en-US" dirty="0"/>
          </a:p>
          <a:p>
            <a:pPr marL="0" indent="0">
              <a:buNone/>
            </a:pP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73</a:t>
            </a:fld>
            <a:endParaRPr lang="en-US" altLang="zh-CN" dirty="0"/>
          </a:p>
        </p:txBody>
      </p:sp>
      <p:graphicFrame>
        <p:nvGraphicFramePr>
          <p:cNvPr id="5" name="Table 4"/>
          <p:cNvGraphicFramePr>
            <a:graphicFrameLocks noGrp="1"/>
          </p:cNvGraphicFramePr>
          <p:nvPr>
            <p:extLst>
              <p:ext uri="{D42A27DB-BD31-4B8C-83A1-F6EECF244321}">
                <p14:modId xmlns:p14="http://schemas.microsoft.com/office/powerpoint/2010/main" val="3437155593"/>
              </p:ext>
            </p:extLst>
          </p:nvPr>
        </p:nvGraphicFramePr>
        <p:xfrm>
          <a:off x="1763688" y="4221088"/>
          <a:ext cx="6480720" cy="2377440"/>
        </p:xfrm>
        <a:graphic>
          <a:graphicData uri="http://schemas.openxmlformats.org/drawingml/2006/table">
            <a:tbl>
              <a:tblPr firstRow="1" bandRow="1">
                <a:tableStyleId>{5940675A-B579-460E-94D1-54222C63F5DA}</a:tableStyleId>
              </a:tblPr>
              <a:tblGrid>
                <a:gridCol w="3240360">
                  <a:extLst>
                    <a:ext uri="{9D8B030D-6E8A-4147-A177-3AD203B41FA5}">
                      <a16:colId xmlns:a16="http://schemas.microsoft.com/office/drawing/2014/main" xmlns="" val="20000"/>
                    </a:ext>
                  </a:extLst>
                </a:gridCol>
                <a:gridCol w="3240360">
                  <a:extLst>
                    <a:ext uri="{9D8B030D-6E8A-4147-A177-3AD203B41FA5}">
                      <a16:colId xmlns:a16="http://schemas.microsoft.com/office/drawing/2014/main" xmlns="" val="20001"/>
                    </a:ext>
                  </a:extLst>
                </a:gridCol>
              </a:tblGrid>
              <a:tr h="434364">
                <a:tc>
                  <a:txBody>
                    <a:bodyPr/>
                    <a:lstStyle/>
                    <a:p>
                      <a:r>
                        <a:rPr lang="zh-CN" altLang="en-US" sz="2400" b="1" dirty="0" smtClean="0"/>
                        <a:t>用％</a:t>
                      </a:r>
                      <a:r>
                        <a:rPr lang="en-US" altLang="zh-CN" sz="2400" b="1" dirty="0" smtClean="0"/>
                        <a:t>c</a:t>
                      </a:r>
                      <a:r>
                        <a:rPr lang="zh-CN" altLang="en-US" sz="2400" b="1" dirty="0" smtClean="0"/>
                        <a:t>的输入输出</a:t>
                      </a:r>
                      <a:endParaRPr lang="en-US" sz="2400" b="1" dirty="0"/>
                    </a:p>
                  </a:txBody>
                  <a:tcPr/>
                </a:tc>
                <a:tc>
                  <a:txBody>
                    <a:bodyPr/>
                    <a:lstStyle/>
                    <a:p>
                      <a:r>
                        <a:rPr lang="zh-CN" altLang="en-US" sz="2400" b="1" dirty="0" smtClean="0"/>
                        <a:t>用％</a:t>
                      </a:r>
                      <a:r>
                        <a:rPr lang="en-US" altLang="zh-CN" sz="2400" b="1" dirty="0" smtClean="0"/>
                        <a:t>s</a:t>
                      </a:r>
                      <a:r>
                        <a:rPr lang="zh-CN" altLang="en-US" sz="2400" b="1" dirty="0" smtClean="0"/>
                        <a:t>的输入输出</a:t>
                      </a:r>
                      <a:endParaRPr lang="en-US" sz="2400" b="1" dirty="0"/>
                    </a:p>
                  </a:txBody>
                  <a:tcPr/>
                </a:tc>
                <a:extLst>
                  <a:ext uri="{0D108BD9-81ED-4DB2-BD59-A6C34878D82A}">
                    <a16:rowId xmlns:a16="http://schemas.microsoft.com/office/drawing/2014/main" xmlns="" val="10000"/>
                  </a:ext>
                </a:extLst>
              </a:tr>
              <a:tr h="1535148">
                <a:tc>
                  <a:txBody>
                    <a:bodyPr/>
                    <a:lstStyle/>
                    <a:p>
                      <a:pPr marL="0" indent="0">
                        <a:buNone/>
                      </a:pPr>
                      <a:r>
                        <a:rPr lang="en-US" altLang="zh-TW" sz="2400" b="1" dirty="0" smtClean="0"/>
                        <a:t>for(i=0;i&lt;5;i++)</a:t>
                      </a:r>
                    </a:p>
                    <a:p>
                      <a:pPr marL="0" indent="0">
                        <a:buNone/>
                      </a:pPr>
                      <a:r>
                        <a:rPr lang="en-US" altLang="zh-TW" sz="2400" b="1" dirty="0" smtClean="0"/>
                        <a:t>scanf("%c",</a:t>
                      </a:r>
                      <a:r>
                        <a:rPr lang="en-US" altLang="zh-TW" sz="2400" b="1" dirty="0" smtClean="0">
                          <a:solidFill>
                            <a:srgbClr val="FF0000"/>
                          </a:solidFill>
                        </a:rPr>
                        <a:t>&amp;ch[i]</a:t>
                      </a:r>
                      <a:r>
                        <a:rPr lang="en-US" altLang="zh-TW" sz="2400" b="1" dirty="0" smtClean="0"/>
                        <a:t>);</a:t>
                      </a:r>
                    </a:p>
                    <a:p>
                      <a:pPr marL="0" indent="0">
                        <a:buNone/>
                      </a:pPr>
                      <a:r>
                        <a:rPr lang="en-US" altLang="zh-TW" sz="2400" b="1" dirty="0" smtClean="0"/>
                        <a:t>for(i=0;i&lt;5;i++)</a:t>
                      </a:r>
                    </a:p>
                    <a:p>
                      <a:pPr marL="0" indent="0">
                        <a:buNone/>
                      </a:pPr>
                      <a:r>
                        <a:rPr lang="en-US" altLang="zh-TW" sz="2400" b="1" dirty="0" smtClean="0"/>
                        <a:t>printf("%c",ch[i])</a:t>
                      </a:r>
                    </a:p>
                    <a:p>
                      <a:endParaRPr lang="en-US" sz="2400" b="1" dirty="0"/>
                    </a:p>
                  </a:txBody>
                  <a:tcPr/>
                </a:tc>
                <a:tc>
                  <a:txBody>
                    <a:bodyPr/>
                    <a:lstStyle/>
                    <a:p>
                      <a:r>
                        <a:rPr lang="en-US" sz="2400" b="1" dirty="0" smtClean="0"/>
                        <a:t>scanf("%s",</a:t>
                      </a:r>
                      <a:r>
                        <a:rPr lang="en-US" sz="2400" b="1" dirty="0" smtClean="0">
                          <a:solidFill>
                            <a:srgbClr val="FF0000"/>
                          </a:solidFill>
                        </a:rPr>
                        <a:t>ch</a:t>
                      </a:r>
                      <a:r>
                        <a:rPr lang="en-US" sz="2400" b="1" dirty="0" smtClean="0"/>
                        <a:t>);</a:t>
                      </a:r>
                    </a:p>
                    <a:p>
                      <a:r>
                        <a:rPr lang="en-US" sz="2400" b="1" dirty="0" smtClean="0"/>
                        <a:t>printf("%s",ch);</a:t>
                      </a:r>
                    </a:p>
                    <a:p>
                      <a:endParaRPr lang="en-US" sz="2400" b="1" dirty="0"/>
                    </a:p>
                  </a:txBody>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val="2566551469"/>
      </p:ext>
    </p:extLst>
  </p:cSld>
  <p:clrMapOvr>
    <a:masterClrMapping/>
  </p:clrMapOvr>
  <p:transition spd="med">
    <p:random/>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4.3</a:t>
            </a:r>
            <a:r>
              <a:rPr lang="zh-CN" altLang="en-US" dirty="0" smtClean="0"/>
              <a:t>字符数组</a:t>
            </a:r>
            <a:endParaRPr lang="en-US" dirty="0"/>
          </a:p>
        </p:txBody>
      </p:sp>
      <p:sp>
        <p:nvSpPr>
          <p:cNvPr id="3" name="Content Placeholder 2"/>
          <p:cNvSpPr>
            <a:spLocks noGrp="1"/>
          </p:cNvSpPr>
          <p:nvPr>
            <p:ph idx="1"/>
          </p:nvPr>
        </p:nvSpPr>
        <p:spPr>
          <a:xfrm>
            <a:off x="755650" y="1700213"/>
            <a:ext cx="7993063" cy="2664891"/>
          </a:xfrm>
        </p:spPr>
        <p:txBody>
          <a:bodyPr/>
          <a:lstStyle/>
          <a:p>
            <a:r>
              <a:rPr lang="zh-TW" altLang="en-US" dirty="0"/>
              <a:t>可以通过数组名进行有选择的数组元素输出</a:t>
            </a:r>
            <a:r>
              <a:rPr lang="zh-TW" altLang="en-US" dirty="0" smtClean="0"/>
              <a:t>，</a:t>
            </a:r>
            <a:endParaRPr lang="en-US" altLang="zh-TW" dirty="0" smtClean="0"/>
          </a:p>
          <a:p>
            <a:pPr lvl="1"/>
            <a:r>
              <a:rPr lang="zh-TW" altLang="en-US" dirty="0" smtClean="0"/>
              <a:t>如：</a:t>
            </a:r>
            <a:r>
              <a:rPr lang="en-US" altLang="zh-TW" dirty="0" smtClean="0">
                <a:solidFill>
                  <a:srgbClr val="FF0000"/>
                </a:solidFill>
              </a:rPr>
              <a:t>ptintf</a:t>
            </a:r>
            <a:r>
              <a:rPr lang="en-US" altLang="zh-TW" dirty="0" smtClean="0"/>
              <a:t>("%</a:t>
            </a:r>
            <a:r>
              <a:rPr lang="en-US" altLang="zh-TW" dirty="0"/>
              <a:t>s",ch+2);  //</a:t>
            </a:r>
            <a:r>
              <a:rPr lang="zh-TW" altLang="en-US" dirty="0"/>
              <a:t>从</a:t>
            </a:r>
            <a:r>
              <a:rPr lang="zh-TW" altLang="en-US" dirty="0" smtClean="0"/>
              <a:t>第</a:t>
            </a:r>
            <a:r>
              <a:rPr lang="en-US" altLang="zh-CN" dirty="0" smtClean="0">
                <a:solidFill>
                  <a:srgbClr val="FF0000"/>
                </a:solidFill>
              </a:rPr>
              <a:t>3</a:t>
            </a:r>
            <a:r>
              <a:rPr lang="zh-TW" altLang="en-US" dirty="0" smtClean="0"/>
              <a:t>个</a:t>
            </a:r>
            <a:r>
              <a:rPr lang="zh-TW" altLang="en-US" dirty="0"/>
              <a:t>数组元素开始输出</a:t>
            </a:r>
          </a:p>
          <a:p>
            <a:r>
              <a:rPr lang="zh-TW" altLang="en-US" dirty="0"/>
              <a:t>当用</a:t>
            </a:r>
            <a:r>
              <a:rPr lang="en-US" altLang="zh-TW" dirty="0"/>
              <a:t>scanf</a:t>
            </a:r>
            <a:r>
              <a:rPr lang="zh-TW" altLang="en-US" dirty="0"/>
              <a:t>函数输入字符串时，字符串中不能含有空格，否则将以空格作为字符串的结束符</a:t>
            </a:r>
            <a:r>
              <a:rPr lang="zh-TW" altLang="en-US" dirty="0" smtClean="0"/>
              <a:t>。</a:t>
            </a:r>
            <a:endParaRPr lang="en-US" altLang="zh-TW" dirty="0" smtClean="0"/>
          </a:p>
          <a:p>
            <a:pPr lvl="1"/>
            <a:r>
              <a:rPr lang="zh-TW" altLang="en-US" dirty="0" smtClean="0"/>
              <a:t>如</a:t>
            </a:r>
            <a:r>
              <a:rPr lang="zh-TW" altLang="en-US" dirty="0"/>
              <a:t>，输入内容为“</a:t>
            </a:r>
            <a:r>
              <a:rPr lang="en-US" altLang="zh-TW" dirty="0"/>
              <a:t>It is my university”</a:t>
            </a:r>
            <a:r>
              <a:rPr lang="zh-TW" altLang="en-US" dirty="0"/>
              <a:t>输出则为“</a:t>
            </a:r>
            <a:r>
              <a:rPr lang="en-US" altLang="zh-TW" dirty="0"/>
              <a:t>It”</a:t>
            </a:r>
            <a:r>
              <a:rPr lang="zh-TW" altLang="en-US" dirty="0" smtClean="0"/>
              <a:t>。</a:t>
            </a: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74</a:t>
            </a:fld>
            <a:endParaRPr lang="en-US" altLang="zh-CN" dirty="0"/>
          </a:p>
        </p:txBody>
      </p:sp>
      <p:sp>
        <p:nvSpPr>
          <p:cNvPr id="5" name="矩形 4"/>
          <p:cNvSpPr/>
          <p:nvPr/>
        </p:nvSpPr>
        <p:spPr>
          <a:xfrm>
            <a:off x="2411760" y="4269454"/>
            <a:ext cx="3456384" cy="2554545"/>
          </a:xfrm>
          <a:prstGeom prst="rect">
            <a:avLst/>
          </a:prstGeom>
        </p:spPr>
        <p:txBody>
          <a:bodyPr wrap="square">
            <a:spAutoFit/>
          </a:bodyPr>
          <a:lstStyle/>
          <a:p>
            <a:r>
              <a:rPr lang="en-US" altLang="zh-CN" sz="2000" b="1" dirty="0">
                <a:effectLst>
                  <a:outerShdw blurRad="38100" dist="38100" dir="2700000" algn="tl">
                    <a:srgbClr val="000000">
                      <a:alpha val="43137"/>
                    </a:srgbClr>
                  </a:outerShdw>
                </a:effectLst>
              </a:rPr>
              <a:t>#include &lt;</a:t>
            </a:r>
            <a:r>
              <a:rPr lang="en-US" altLang="zh-CN" sz="2000" b="1" dirty="0" err="1">
                <a:effectLst>
                  <a:outerShdw blurRad="38100" dist="38100" dir="2700000" algn="tl">
                    <a:srgbClr val="000000">
                      <a:alpha val="43137"/>
                    </a:srgbClr>
                  </a:outerShdw>
                </a:effectLst>
              </a:rPr>
              <a:t>stdio.h</a:t>
            </a:r>
            <a:r>
              <a:rPr lang="en-US" altLang="zh-CN" sz="2000" b="1" dirty="0">
                <a:effectLst>
                  <a:outerShdw blurRad="38100" dist="38100" dir="2700000" algn="tl">
                    <a:srgbClr val="000000">
                      <a:alpha val="43137"/>
                    </a:srgbClr>
                  </a:outerShdw>
                </a:effectLst>
              </a:rPr>
              <a:t>&gt;</a:t>
            </a:r>
          </a:p>
          <a:p>
            <a:r>
              <a:rPr lang="en-US" altLang="zh-CN" sz="2000" b="1" dirty="0" err="1">
                <a:effectLst>
                  <a:outerShdw blurRad="38100" dist="38100" dir="2700000" algn="tl">
                    <a:srgbClr val="000000">
                      <a:alpha val="43137"/>
                    </a:srgbClr>
                  </a:outerShdw>
                </a:effectLst>
              </a:rPr>
              <a:t>int</a:t>
            </a:r>
            <a:r>
              <a:rPr lang="en-US" altLang="zh-CN" sz="2000" b="1" dirty="0">
                <a:effectLst>
                  <a:outerShdw blurRad="38100" dist="38100" dir="2700000" algn="tl">
                    <a:srgbClr val="000000">
                      <a:alpha val="43137"/>
                    </a:srgbClr>
                  </a:outerShdw>
                </a:effectLst>
              </a:rPr>
              <a:t> main()</a:t>
            </a:r>
          </a:p>
          <a:p>
            <a:r>
              <a:rPr lang="en-US" altLang="zh-CN" sz="2000" b="1" dirty="0">
                <a:effectLst>
                  <a:outerShdw blurRad="38100" dist="38100" dir="2700000" algn="tl">
                    <a:srgbClr val="000000">
                      <a:alpha val="43137"/>
                    </a:srgbClr>
                  </a:outerShdw>
                </a:effectLst>
              </a:rPr>
              <a:t>{</a:t>
            </a:r>
          </a:p>
          <a:p>
            <a:r>
              <a:rPr lang="en-US" altLang="zh-CN" sz="2000" b="1" dirty="0">
                <a:effectLst>
                  <a:outerShdw blurRad="38100" dist="38100" dir="2700000" algn="tl">
                    <a:srgbClr val="000000">
                      <a:alpha val="43137"/>
                    </a:srgbClr>
                  </a:outerShdw>
                </a:effectLst>
              </a:rPr>
              <a:t>  char s[10];</a:t>
            </a:r>
          </a:p>
          <a:p>
            <a:r>
              <a:rPr lang="en-US" altLang="zh-CN"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scanf</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s",s</a:t>
            </a:r>
            <a:r>
              <a:rPr lang="en-US" altLang="zh-CN" sz="2000" b="1" dirty="0">
                <a:effectLst>
                  <a:outerShdw blurRad="38100" dist="38100" dir="2700000" algn="tl">
                    <a:srgbClr val="000000">
                      <a:alpha val="43137"/>
                    </a:srgbClr>
                  </a:outerShdw>
                </a:effectLst>
              </a:rPr>
              <a:t>);</a:t>
            </a:r>
          </a:p>
          <a:p>
            <a:r>
              <a:rPr lang="en-US" altLang="zh-CN"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printf</a:t>
            </a:r>
            <a:r>
              <a:rPr lang="en-US" altLang="zh-CN" sz="2000" b="1" dirty="0">
                <a:effectLst>
                  <a:outerShdw blurRad="38100" dist="38100" dir="2700000" algn="tl">
                    <a:srgbClr val="000000">
                      <a:alpha val="43137"/>
                    </a:srgbClr>
                  </a:outerShdw>
                </a:effectLst>
              </a:rPr>
              <a:t>("%s\</a:t>
            </a:r>
            <a:r>
              <a:rPr lang="en-US" altLang="zh-CN" sz="2000" b="1" dirty="0" err="1">
                <a:effectLst>
                  <a:outerShdw blurRad="38100" dist="38100" dir="2700000" algn="tl">
                    <a:srgbClr val="000000">
                      <a:alpha val="43137"/>
                    </a:srgbClr>
                  </a:outerShdw>
                </a:effectLst>
              </a:rPr>
              <a:t>n",s</a:t>
            </a:r>
            <a:r>
              <a:rPr lang="en-US" altLang="zh-CN" sz="2000" b="1" dirty="0">
                <a:effectLst>
                  <a:outerShdw blurRad="38100" dist="38100" dir="2700000" algn="tl">
                    <a:srgbClr val="000000">
                      <a:alpha val="43137"/>
                    </a:srgbClr>
                  </a:outerShdw>
                </a:effectLst>
              </a:rPr>
              <a:t>);</a:t>
            </a:r>
          </a:p>
          <a:p>
            <a:r>
              <a:rPr lang="en-US" altLang="zh-CN" sz="2000" b="1" dirty="0">
                <a:effectLst>
                  <a:outerShdw blurRad="38100" dist="38100" dir="2700000" algn="tl">
                    <a:srgbClr val="000000">
                      <a:alpha val="43137"/>
                    </a:srgbClr>
                  </a:outerShdw>
                </a:effectLst>
              </a:rPr>
              <a:t>  return 0;</a:t>
            </a:r>
          </a:p>
          <a:p>
            <a:r>
              <a:rPr lang="en-US" altLang="zh-CN" sz="2000" b="1" dirty="0">
                <a:effectLst>
                  <a:outerShdw blurRad="38100" dist="38100" dir="2700000" algn="tl">
                    <a:srgbClr val="000000">
                      <a:alpha val="43137"/>
                    </a:srgbClr>
                  </a:outerShdw>
                </a:effectLst>
              </a:rPr>
              <a:t>}</a:t>
            </a:r>
            <a:endParaRPr lang="zh-CN" altLang="en-US" sz="20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04302431"/>
      </p:ext>
    </p:extLst>
  </p:cSld>
  <p:clrMapOvr>
    <a:masterClrMapping/>
  </p:clrMapOvr>
  <p:transition spd="med">
    <p:random/>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4.3.1</a:t>
            </a:r>
            <a:r>
              <a:rPr lang="zh-CN" altLang="en-US" dirty="0" smtClean="0"/>
              <a:t>字符串的表示</a:t>
            </a:r>
            <a:endParaRPr lang="en-US" dirty="0"/>
          </a:p>
        </p:txBody>
      </p:sp>
      <p:sp>
        <p:nvSpPr>
          <p:cNvPr id="3" name="Content Placeholder 2"/>
          <p:cNvSpPr>
            <a:spLocks noGrp="1"/>
          </p:cNvSpPr>
          <p:nvPr>
            <p:ph idx="1"/>
          </p:nvPr>
        </p:nvSpPr>
        <p:spPr/>
        <p:txBody>
          <a:bodyPr/>
          <a:lstStyle/>
          <a:p>
            <a:r>
              <a:rPr lang="zh-TW" altLang="en-US" dirty="0" smtClean="0">
                <a:solidFill>
                  <a:srgbClr val="FF0000"/>
                </a:solidFill>
              </a:rPr>
              <a:t>字符串</a:t>
            </a:r>
            <a:r>
              <a:rPr lang="zh-CN" altLang="en-US" dirty="0" smtClean="0"/>
              <a:t>是</a:t>
            </a:r>
            <a:r>
              <a:rPr lang="zh-TW" altLang="en-US" dirty="0" smtClean="0"/>
              <a:t>用一对双引号括起</a:t>
            </a:r>
            <a:r>
              <a:rPr lang="zh-TW" altLang="en-US" dirty="0"/>
              <a:t>来的字符序列，由有效字符和字符串结束符 </a:t>
            </a:r>
            <a:r>
              <a:rPr lang="en-US" altLang="zh-TW" dirty="0" smtClean="0"/>
              <a:t>‘\0’ </a:t>
            </a:r>
            <a:r>
              <a:rPr lang="zh-TW" altLang="en-US" dirty="0"/>
              <a:t>组成</a:t>
            </a:r>
            <a:r>
              <a:rPr lang="zh-TW" altLang="en-US" dirty="0" smtClean="0"/>
              <a:t>。</a:t>
            </a:r>
            <a:endParaRPr lang="zh-TW" altLang="en-US" dirty="0"/>
          </a:p>
          <a:p>
            <a:r>
              <a:rPr lang="zh-TW" altLang="en-US" dirty="0" smtClean="0"/>
              <a:t>当把一个字符串存入一个数组时</a:t>
            </a:r>
            <a:r>
              <a:rPr lang="zh-TW" altLang="en-US" dirty="0"/>
              <a:t>，也把结束</a:t>
            </a:r>
            <a:r>
              <a:rPr lang="zh-TW" altLang="en-US" dirty="0" smtClean="0"/>
              <a:t>符</a:t>
            </a:r>
            <a:r>
              <a:rPr lang="en-US" altLang="zh-TW" dirty="0" smtClean="0"/>
              <a:t>‘\0’</a:t>
            </a:r>
            <a:r>
              <a:rPr lang="zh-TW" altLang="en-US" dirty="0" smtClean="0"/>
              <a:t>存入数组</a:t>
            </a:r>
            <a:r>
              <a:rPr lang="zh-TW" altLang="en-US" dirty="0"/>
              <a:t>，并以此作为该字符串是否结束的标志</a:t>
            </a:r>
            <a:r>
              <a:rPr lang="zh-TW" altLang="en-US" dirty="0" smtClean="0"/>
              <a:t>。</a:t>
            </a:r>
            <a:endParaRPr lang="en-US" altLang="zh-TW" dirty="0" smtClean="0"/>
          </a:p>
          <a:p>
            <a:pPr lvl="1"/>
            <a:r>
              <a:rPr lang="zh-CN" altLang="en-US" dirty="0" smtClean="0"/>
              <a:t>例如：</a:t>
            </a:r>
            <a:r>
              <a:rPr lang="tr-TR" dirty="0" smtClean="0">
                <a:solidFill>
                  <a:srgbClr val="FF0000"/>
                </a:solidFill>
              </a:rPr>
              <a:t>char a[</a:t>
            </a:r>
            <a:r>
              <a:rPr lang="en-US" dirty="0" smtClean="0">
                <a:solidFill>
                  <a:srgbClr val="FF0000"/>
                </a:solidFill>
              </a:rPr>
              <a:t>5</a:t>
            </a:r>
            <a:r>
              <a:rPr lang="tr-TR" dirty="0" smtClean="0">
                <a:solidFill>
                  <a:srgbClr val="FF0000"/>
                </a:solidFill>
              </a:rPr>
              <a:t>]="</a:t>
            </a:r>
            <a:r>
              <a:rPr lang="tr-TR" dirty="0">
                <a:solidFill>
                  <a:srgbClr val="FF0000"/>
                </a:solidFill>
              </a:rPr>
              <a:t>1234"</a:t>
            </a:r>
            <a:r>
              <a:rPr lang="tr-TR" dirty="0"/>
              <a:t>; 定义了字符数组a存储5个元素分别是{'1', '2', '3', '4', '\0'}。</a:t>
            </a:r>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75</a:t>
            </a:fld>
            <a:endParaRPr lang="en-US" altLang="zh-CN" dirty="0"/>
          </a:p>
        </p:txBody>
      </p:sp>
    </p:spTree>
    <p:extLst>
      <p:ext uri="{BB962C8B-B14F-4D97-AF65-F5344CB8AC3E}">
        <p14:creationId xmlns:p14="http://schemas.microsoft.com/office/powerpoint/2010/main" val="1192591193"/>
      </p:ext>
    </p:extLst>
  </p:cSld>
  <p:clrMapOvr>
    <a:masterClrMapping/>
  </p:clrMapOvr>
  <p:transition spd="med">
    <p:random/>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5650" y="1700213"/>
            <a:ext cx="8208450" cy="5157787"/>
          </a:xfrm>
        </p:spPr>
        <p:txBody>
          <a:bodyPr/>
          <a:lstStyle/>
          <a:p>
            <a:r>
              <a:rPr lang="en-US" altLang="zh-TW" dirty="0"/>
              <a:t>【</a:t>
            </a:r>
            <a:r>
              <a:rPr lang="zh-TW" altLang="en-US" dirty="0"/>
              <a:t>例</a:t>
            </a:r>
            <a:r>
              <a:rPr lang="en-US" altLang="zh-TW" dirty="0"/>
              <a:t>4-14】</a:t>
            </a:r>
            <a:r>
              <a:rPr lang="zh-TW" altLang="en-US" dirty="0"/>
              <a:t>输入字符串并将字符串转化为数值</a:t>
            </a:r>
            <a:r>
              <a:rPr lang="zh-TW" altLang="en-US" dirty="0" smtClean="0"/>
              <a:t>输出</a:t>
            </a:r>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76</a:t>
            </a:fld>
            <a:endParaRPr lang="en-US" altLang="zh-CN" dirty="0"/>
          </a:p>
        </p:txBody>
      </p:sp>
      <p:sp>
        <p:nvSpPr>
          <p:cNvPr id="5" name="Title 1"/>
          <p:cNvSpPr>
            <a:spLocks noGrp="1"/>
          </p:cNvSpPr>
          <p:nvPr>
            <p:ph type="title"/>
          </p:nvPr>
        </p:nvSpPr>
        <p:spPr>
          <a:xfrm>
            <a:off x="755650" y="765175"/>
            <a:ext cx="7924800" cy="784225"/>
          </a:xfrm>
        </p:spPr>
        <p:txBody>
          <a:bodyPr/>
          <a:lstStyle/>
          <a:p>
            <a:r>
              <a:rPr lang="en-US" altLang="zh-CN" dirty="0" smtClean="0"/>
              <a:t>4.3.1</a:t>
            </a:r>
            <a:r>
              <a:rPr lang="zh-CN" altLang="en-US" dirty="0" smtClean="0"/>
              <a:t>字符串的表示</a:t>
            </a:r>
            <a:endParaRPr lang="en-US" dirty="0"/>
          </a:p>
        </p:txBody>
      </p:sp>
    </p:spTree>
    <p:extLst>
      <p:ext uri="{BB962C8B-B14F-4D97-AF65-F5344CB8AC3E}">
        <p14:creationId xmlns:p14="http://schemas.microsoft.com/office/powerpoint/2010/main" val="1930992440"/>
      </p:ext>
    </p:extLst>
  </p:cSld>
  <p:clrMapOvr>
    <a:masterClrMapping/>
  </p:clrMapOvr>
  <p:transition spd="med">
    <p:random/>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29029"/>
            <a:ext cx="8208450" cy="6825771"/>
          </a:xfrm>
        </p:spPr>
        <p:txBody>
          <a:bodyPr/>
          <a:lstStyle/>
          <a:p>
            <a:pPr marL="0" indent="0">
              <a:lnSpc>
                <a:spcPct val="100000"/>
              </a:lnSpc>
              <a:buNone/>
            </a:pPr>
            <a:r>
              <a:rPr lang="en-US" altLang="zh-TW" sz="2400" dirty="0">
                <a:effectLst/>
              </a:rPr>
              <a:t>#include &lt;stdio.h&gt;</a:t>
            </a:r>
          </a:p>
          <a:p>
            <a:pPr marL="0" indent="0">
              <a:lnSpc>
                <a:spcPct val="100000"/>
              </a:lnSpc>
              <a:buNone/>
            </a:pPr>
            <a:r>
              <a:rPr lang="en-US" altLang="zh-TW" sz="2400" dirty="0">
                <a:effectLst/>
              </a:rPr>
              <a:t>int main</a:t>
            </a:r>
            <a:r>
              <a:rPr lang="en-US" altLang="zh-TW" sz="2400" dirty="0" smtClean="0">
                <a:effectLst/>
              </a:rPr>
              <a:t>()</a:t>
            </a:r>
            <a:endParaRPr lang="en-US" altLang="zh-TW" sz="2400" dirty="0">
              <a:effectLst/>
            </a:endParaRPr>
          </a:p>
          <a:p>
            <a:pPr marL="0" indent="0">
              <a:lnSpc>
                <a:spcPct val="100000"/>
              </a:lnSpc>
              <a:buNone/>
            </a:pPr>
            <a:r>
              <a:rPr lang="en-US" altLang="zh-TW" sz="2400" dirty="0">
                <a:effectLst/>
              </a:rPr>
              <a:t>{    int i, number;   </a:t>
            </a:r>
          </a:p>
          <a:p>
            <a:pPr marL="0" indent="0">
              <a:lnSpc>
                <a:spcPct val="100000"/>
              </a:lnSpc>
              <a:buNone/>
            </a:pPr>
            <a:r>
              <a:rPr lang="en-US" altLang="zh-TW" sz="2400" dirty="0">
                <a:effectLst/>
              </a:rPr>
              <a:t>     char str[10];</a:t>
            </a:r>
          </a:p>
          <a:p>
            <a:pPr marL="0" indent="0">
              <a:lnSpc>
                <a:spcPct val="100000"/>
              </a:lnSpc>
              <a:buNone/>
            </a:pPr>
            <a:r>
              <a:rPr lang="en-US" altLang="zh-TW" sz="2400" dirty="0">
                <a:effectLst/>
              </a:rPr>
              <a:t>    </a:t>
            </a:r>
            <a:r>
              <a:rPr lang="en-US" altLang="zh-TW" sz="2400" dirty="0" smtClean="0">
                <a:effectLst/>
              </a:rPr>
              <a:t> </a:t>
            </a:r>
            <a:r>
              <a:rPr lang="en-US" altLang="zh-TW" sz="2400" dirty="0" err="1" smtClean="0">
                <a:effectLst/>
              </a:rPr>
              <a:t>printf</a:t>
            </a:r>
            <a:r>
              <a:rPr lang="en-US" altLang="zh-TW" sz="2400" dirty="0">
                <a:effectLst/>
              </a:rPr>
              <a:t>("Enter a string: ");      /* </a:t>
            </a:r>
            <a:r>
              <a:rPr lang="zh-TW" altLang="en-US" sz="2400" dirty="0" smtClean="0">
                <a:effectLst/>
              </a:rPr>
              <a:t>输入</a:t>
            </a:r>
            <a:r>
              <a:rPr lang="zh-CN" altLang="en-US" sz="2400" dirty="0" smtClean="0">
                <a:effectLst/>
              </a:rPr>
              <a:t>数值</a:t>
            </a:r>
            <a:r>
              <a:rPr lang="zh-TW" altLang="en-US" sz="2400" dirty="0" smtClean="0">
                <a:effectLst/>
              </a:rPr>
              <a:t>字符</a:t>
            </a:r>
            <a:r>
              <a:rPr lang="zh-TW" altLang="en-US" sz="2400" dirty="0">
                <a:effectLst/>
              </a:rPr>
              <a:t>串 *</a:t>
            </a:r>
            <a:r>
              <a:rPr lang="en-US" altLang="zh-TW" sz="2400" dirty="0">
                <a:effectLst/>
              </a:rPr>
              <a:t>/</a:t>
            </a:r>
          </a:p>
          <a:p>
            <a:pPr marL="0" indent="0">
              <a:lnSpc>
                <a:spcPct val="100000"/>
              </a:lnSpc>
              <a:buNone/>
            </a:pPr>
            <a:r>
              <a:rPr lang="en-US" altLang="zh-TW" sz="2400" dirty="0">
                <a:solidFill>
                  <a:srgbClr val="FF0000"/>
                </a:solidFill>
                <a:effectLst/>
              </a:rPr>
              <a:t>    </a:t>
            </a:r>
            <a:r>
              <a:rPr lang="en-US" altLang="zh-TW" sz="2400" dirty="0" smtClean="0">
                <a:solidFill>
                  <a:srgbClr val="FF0000"/>
                </a:solidFill>
                <a:effectLst/>
              </a:rPr>
              <a:t> i </a:t>
            </a:r>
            <a:r>
              <a:rPr lang="en-US" altLang="zh-TW" sz="2400" dirty="0">
                <a:solidFill>
                  <a:srgbClr val="FF0000"/>
                </a:solidFill>
                <a:effectLst/>
              </a:rPr>
              <a:t>= 0;</a:t>
            </a:r>
          </a:p>
          <a:p>
            <a:pPr marL="0" indent="0">
              <a:lnSpc>
                <a:spcPct val="100000"/>
              </a:lnSpc>
              <a:buNone/>
            </a:pPr>
            <a:r>
              <a:rPr lang="en-US" altLang="zh-TW" sz="2400" dirty="0">
                <a:solidFill>
                  <a:srgbClr val="FF0000"/>
                </a:solidFill>
                <a:effectLst/>
              </a:rPr>
              <a:t>    </a:t>
            </a:r>
            <a:r>
              <a:rPr lang="en-US" altLang="zh-TW" sz="2400" dirty="0" smtClean="0">
                <a:solidFill>
                  <a:srgbClr val="FF0000"/>
                </a:solidFill>
                <a:effectLst/>
              </a:rPr>
              <a:t> while</a:t>
            </a:r>
            <a:r>
              <a:rPr lang="en-US" altLang="zh-TW" sz="2400" dirty="0">
                <a:solidFill>
                  <a:srgbClr val="FF0000"/>
                </a:solidFill>
                <a:effectLst/>
              </a:rPr>
              <a:t>((str[i] = getchar( )) != '\n') </a:t>
            </a:r>
          </a:p>
          <a:p>
            <a:pPr marL="0" indent="0">
              <a:lnSpc>
                <a:spcPct val="100000"/>
              </a:lnSpc>
              <a:buNone/>
            </a:pPr>
            <a:r>
              <a:rPr lang="en-US" altLang="zh-TW" sz="2400" dirty="0">
                <a:solidFill>
                  <a:srgbClr val="FF0000"/>
                </a:solidFill>
                <a:effectLst/>
              </a:rPr>
              <a:t>        i++; </a:t>
            </a:r>
          </a:p>
          <a:p>
            <a:pPr marL="0" indent="0">
              <a:lnSpc>
                <a:spcPct val="100000"/>
              </a:lnSpc>
              <a:buNone/>
            </a:pPr>
            <a:r>
              <a:rPr lang="en-US" altLang="zh-TW" sz="2400" dirty="0">
                <a:solidFill>
                  <a:srgbClr val="FF0000"/>
                </a:solidFill>
                <a:effectLst/>
              </a:rPr>
              <a:t>    str[i] = '\0';</a:t>
            </a:r>
          </a:p>
          <a:p>
            <a:pPr marL="0" indent="0">
              <a:lnSpc>
                <a:spcPct val="100000"/>
              </a:lnSpc>
              <a:buNone/>
            </a:pPr>
            <a:r>
              <a:rPr lang="en-US" altLang="zh-TW" sz="2400" dirty="0">
                <a:effectLst/>
              </a:rPr>
              <a:t>    number = 0;    /* </a:t>
            </a:r>
            <a:r>
              <a:rPr lang="zh-TW" altLang="en-US" sz="2400" dirty="0">
                <a:effectLst/>
              </a:rPr>
              <a:t>将字符串转换为整数 *</a:t>
            </a:r>
            <a:r>
              <a:rPr lang="en-US" altLang="zh-TW" sz="2400" dirty="0">
                <a:effectLst/>
              </a:rPr>
              <a:t>/</a:t>
            </a:r>
          </a:p>
          <a:p>
            <a:pPr marL="0" indent="0">
              <a:lnSpc>
                <a:spcPct val="100000"/>
              </a:lnSpc>
              <a:buNone/>
            </a:pPr>
            <a:r>
              <a:rPr lang="en-US" altLang="zh-TW" sz="2400" dirty="0">
                <a:effectLst/>
              </a:rPr>
              <a:t>    for(i = 0; str[i] != '\0'; i++)</a:t>
            </a:r>
          </a:p>
          <a:p>
            <a:pPr marL="0" indent="0">
              <a:lnSpc>
                <a:spcPct val="100000"/>
              </a:lnSpc>
              <a:buNone/>
            </a:pPr>
            <a:r>
              <a:rPr lang="en-US" altLang="zh-TW" sz="2400" dirty="0">
                <a:effectLst/>
              </a:rPr>
              <a:t>        if(str[i] &gt;= '0' &amp;&amp; str[i] &lt;= '9') </a:t>
            </a:r>
          </a:p>
          <a:p>
            <a:pPr marL="0" indent="0">
              <a:lnSpc>
                <a:spcPct val="100000"/>
              </a:lnSpc>
              <a:buNone/>
            </a:pPr>
            <a:r>
              <a:rPr lang="en-US" altLang="zh-TW" sz="2400" dirty="0">
                <a:effectLst/>
              </a:rPr>
              <a:t>            </a:t>
            </a:r>
            <a:r>
              <a:rPr lang="en-US" altLang="zh-TW" sz="2400" dirty="0">
                <a:solidFill>
                  <a:srgbClr val="FF0000"/>
                </a:solidFill>
                <a:effectLst/>
              </a:rPr>
              <a:t>number = number * 10 + (str[i] - '0');</a:t>
            </a:r>
          </a:p>
          <a:p>
            <a:pPr marL="0" indent="0">
              <a:lnSpc>
                <a:spcPct val="100000"/>
              </a:lnSpc>
              <a:buNone/>
            </a:pPr>
            <a:r>
              <a:rPr lang="en-US" altLang="zh-TW" sz="2400" dirty="0">
                <a:effectLst/>
              </a:rPr>
              <a:t>    printf("digit = %d\n", number);</a:t>
            </a:r>
          </a:p>
          <a:p>
            <a:pPr marL="0" indent="0">
              <a:lnSpc>
                <a:spcPct val="100000"/>
              </a:lnSpc>
              <a:buNone/>
            </a:pPr>
            <a:r>
              <a:rPr lang="en-US" altLang="zh-TW" sz="2400" dirty="0">
                <a:effectLst/>
              </a:rPr>
              <a:t>    return 0;</a:t>
            </a:r>
          </a:p>
          <a:p>
            <a:pPr marL="0" indent="0">
              <a:lnSpc>
                <a:spcPct val="100000"/>
              </a:lnSpc>
              <a:buNone/>
            </a:pPr>
            <a:r>
              <a:rPr lang="en-US" altLang="zh-TW" sz="2400" dirty="0">
                <a:effectLst/>
              </a:rPr>
              <a:t>}</a:t>
            </a:r>
          </a:p>
          <a:p>
            <a:pPr marL="0" indent="0">
              <a:lnSpc>
                <a:spcPct val="100000"/>
              </a:lnSpc>
              <a:buNone/>
            </a:pPr>
            <a:endParaRPr lang="zh-TW" altLang="en-US" dirty="0">
              <a:effectLst/>
            </a:endParaRPr>
          </a:p>
          <a:p>
            <a:pPr marL="0" indent="0">
              <a:buNone/>
            </a:pPr>
            <a:endParaRPr lang="zh-TW" altLang="en-US" dirty="0" smtClean="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77</a:t>
            </a:fld>
            <a:endParaRPr lang="en-US" altLang="zh-CN" dirty="0"/>
          </a:p>
        </p:txBody>
      </p:sp>
      <p:sp>
        <p:nvSpPr>
          <p:cNvPr id="6" name="TextBox 5"/>
          <p:cNvSpPr txBox="1"/>
          <p:nvPr/>
        </p:nvSpPr>
        <p:spPr>
          <a:xfrm>
            <a:off x="6660232" y="2795920"/>
            <a:ext cx="1944216" cy="584775"/>
          </a:xfrm>
          <a:prstGeom prst="rect">
            <a:avLst/>
          </a:prstGeom>
          <a:noFill/>
        </p:spPr>
        <p:txBody>
          <a:bodyPr wrap="square" rtlCol="0">
            <a:spAutoFit/>
          </a:bodyPr>
          <a:lstStyle/>
          <a:p>
            <a:r>
              <a:rPr lang="en-US" altLang="zh-CN" sz="3200" dirty="0" smtClean="0"/>
              <a:t>gets(str)</a:t>
            </a:r>
            <a:endParaRPr lang="zh-CN" altLang="en-US" sz="3200" dirty="0"/>
          </a:p>
        </p:txBody>
      </p:sp>
    </p:spTree>
    <p:extLst>
      <p:ext uri="{BB962C8B-B14F-4D97-AF65-F5344CB8AC3E}">
        <p14:creationId xmlns:p14="http://schemas.microsoft.com/office/powerpoint/2010/main" val="3746102196"/>
      </p:ext>
    </p:extLst>
  </p:cSld>
  <p:clrMapOvr>
    <a:masterClrMapping/>
  </p:clrMapOvr>
  <p:transition spd="med">
    <p:random/>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403019"/>
            <a:ext cx="8208450" cy="6194333"/>
          </a:xfrm>
        </p:spPr>
        <p:txBody>
          <a:bodyPr/>
          <a:lstStyle/>
          <a:p>
            <a:pPr marL="0" indent="0">
              <a:lnSpc>
                <a:spcPct val="100000"/>
              </a:lnSpc>
              <a:buNone/>
            </a:pPr>
            <a:r>
              <a:rPr lang="en-US" altLang="zh-TW" sz="2400" dirty="0">
                <a:effectLst/>
              </a:rPr>
              <a:t>#include &lt;</a:t>
            </a:r>
            <a:r>
              <a:rPr lang="en-US" altLang="zh-TW" sz="2400" dirty="0" err="1">
                <a:effectLst/>
              </a:rPr>
              <a:t>stdio.h</a:t>
            </a:r>
            <a:r>
              <a:rPr lang="en-US" altLang="zh-TW" sz="2400" dirty="0" smtClean="0">
                <a:effectLst/>
              </a:rPr>
              <a:t>&gt;</a:t>
            </a:r>
          </a:p>
          <a:p>
            <a:pPr marL="0" indent="0">
              <a:lnSpc>
                <a:spcPct val="100000"/>
              </a:lnSpc>
              <a:buNone/>
            </a:pPr>
            <a:r>
              <a:rPr lang="en-US" altLang="zh-TW" sz="2400" dirty="0" smtClean="0">
                <a:effectLst/>
              </a:rPr>
              <a:t>#include &lt;</a:t>
            </a:r>
            <a:r>
              <a:rPr lang="en-US" altLang="zh-TW" sz="2400" dirty="0" err="1" smtClean="0">
                <a:effectLst/>
              </a:rPr>
              <a:t>string.h</a:t>
            </a:r>
            <a:r>
              <a:rPr lang="en-US" altLang="zh-TW" sz="2400" dirty="0" smtClean="0">
                <a:effectLst/>
              </a:rPr>
              <a:t>&gt;</a:t>
            </a:r>
            <a:endParaRPr lang="en-US" altLang="zh-TW" sz="2400" dirty="0">
              <a:effectLst/>
            </a:endParaRPr>
          </a:p>
          <a:p>
            <a:pPr marL="0" indent="0">
              <a:lnSpc>
                <a:spcPct val="100000"/>
              </a:lnSpc>
              <a:buNone/>
            </a:pPr>
            <a:r>
              <a:rPr lang="en-US" altLang="zh-TW" sz="2400" dirty="0">
                <a:effectLst/>
              </a:rPr>
              <a:t>int main</a:t>
            </a:r>
            <a:r>
              <a:rPr lang="en-US" altLang="zh-TW" sz="2400" dirty="0" smtClean="0">
                <a:effectLst/>
              </a:rPr>
              <a:t>()</a:t>
            </a:r>
            <a:endParaRPr lang="en-US" altLang="zh-TW" sz="2400" dirty="0">
              <a:effectLst/>
            </a:endParaRPr>
          </a:p>
          <a:p>
            <a:pPr marL="0" indent="0">
              <a:lnSpc>
                <a:spcPct val="100000"/>
              </a:lnSpc>
              <a:buNone/>
            </a:pPr>
            <a:r>
              <a:rPr lang="en-US" altLang="zh-TW" sz="2400" dirty="0">
                <a:effectLst/>
              </a:rPr>
              <a:t>{   </a:t>
            </a:r>
            <a:r>
              <a:rPr lang="en-US" altLang="zh-TW" sz="2400" dirty="0" err="1" smtClean="0">
                <a:effectLst/>
              </a:rPr>
              <a:t>int</a:t>
            </a:r>
            <a:r>
              <a:rPr lang="en-US" altLang="zh-TW" sz="2400" dirty="0" smtClean="0">
                <a:effectLst/>
              </a:rPr>
              <a:t> </a:t>
            </a:r>
            <a:r>
              <a:rPr lang="en-US" altLang="zh-TW" sz="2400" dirty="0">
                <a:effectLst/>
              </a:rPr>
              <a:t>i, number;   </a:t>
            </a:r>
          </a:p>
          <a:p>
            <a:pPr marL="0" indent="0">
              <a:lnSpc>
                <a:spcPct val="100000"/>
              </a:lnSpc>
              <a:buNone/>
            </a:pPr>
            <a:r>
              <a:rPr lang="en-US" altLang="zh-TW" sz="2400" dirty="0">
                <a:effectLst/>
              </a:rPr>
              <a:t>    </a:t>
            </a:r>
            <a:r>
              <a:rPr lang="en-US" altLang="zh-TW" sz="2400" dirty="0" smtClean="0">
                <a:effectLst/>
              </a:rPr>
              <a:t>char </a:t>
            </a:r>
            <a:r>
              <a:rPr lang="en-US" altLang="zh-TW" sz="2400" dirty="0">
                <a:effectLst/>
              </a:rPr>
              <a:t>str[10];</a:t>
            </a:r>
          </a:p>
          <a:p>
            <a:pPr marL="0" indent="0">
              <a:lnSpc>
                <a:spcPct val="100000"/>
              </a:lnSpc>
              <a:buNone/>
            </a:pPr>
            <a:r>
              <a:rPr lang="en-US" altLang="zh-TW" sz="2400" dirty="0">
                <a:effectLst/>
              </a:rPr>
              <a:t>    </a:t>
            </a:r>
            <a:r>
              <a:rPr lang="en-US" altLang="zh-TW" sz="2400" dirty="0" err="1" smtClean="0">
                <a:effectLst/>
              </a:rPr>
              <a:t>printf</a:t>
            </a:r>
            <a:r>
              <a:rPr lang="en-US" altLang="zh-TW" sz="2400" dirty="0">
                <a:effectLst/>
              </a:rPr>
              <a:t>("Enter a string: ");      /* </a:t>
            </a:r>
            <a:r>
              <a:rPr lang="zh-TW" altLang="en-US" sz="2400" dirty="0" smtClean="0">
                <a:effectLst/>
              </a:rPr>
              <a:t>输入</a:t>
            </a:r>
            <a:r>
              <a:rPr lang="zh-CN" altLang="en-US" sz="2400" dirty="0" smtClean="0">
                <a:effectLst/>
              </a:rPr>
              <a:t>数值</a:t>
            </a:r>
            <a:r>
              <a:rPr lang="zh-TW" altLang="en-US" sz="2400" dirty="0" smtClean="0">
                <a:effectLst/>
              </a:rPr>
              <a:t>字符</a:t>
            </a:r>
            <a:r>
              <a:rPr lang="zh-TW" altLang="en-US" sz="2400" dirty="0">
                <a:effectLst/>
              </a:rPr>
              <a:t>串 *</a:t>
            </a:r>
            <a:r>
              <a:rPr lang="en-US" altLang="zh-TW" sz="2400" dirty="0">
                <a:effectLst/>
              </a:rPr>
              <a:t>/</a:t>
            </a:r>
          </a:p>
          <a:p>
            <a:pPr marL="0" indent="0">
              <a:lnSpc>
                <a:spcPct val="100000"/>
              </a:lnSpc>
              <a:buNone/>
            </a:pPr>
            <a:r>
              <a:rPr lang="en-US" altLang="zh-TW" sz="2400" dirty="0" smtClean="0">
                <a:solidFill>
                  <a:srgbClr val="FF0000"/>
                </a:solidFill>
                <a:effectLst/>
              </a:rPr>
              <a:t>    </a:t>
            </a:r>
            <a:r>
              <a:rPr lang="en-US" altLang="zh-CN" sz="2400" dirty="0" smtClean="0">
                <a:solidFill>
                  <a:srgbClr val="FF0000"/>
                </a:solidFill>
                <a:effectLst/>
              </a:rPr>
              <a:t>gets(</a:t>
            </a:r>
            <a:r>
              <a:rPr lang="en-US" altLang="zh-CN" sz="2400" dirty="0" err="1" smtClean="0">
                <a:solidFill>
                  <a:srgbClr val="FF0000"/>
                </a:solidFill>
                <a:effectLst/>
              </a:rPr>
              <a:t>str</a:t>
            </a:r>
            <a:r>
              <a:rPr lang="en-US" altLang="zh-CN" sz="2400" dirty="0" smtClean="0">
                <a:solidFill>
                  <a:srgbClr val="FF0000"/>
                </a:solidFill>
                <a:effectLst/>
              </a:rPr>
              <a:t>);</a:t>
            </a:r>
            <a:endParaRPr lang="en-US" altLang="zh-TW" sz="2400" dirty="0">
              <a:solidFill>
                <a:srgbClr val="FF0000"/>
              </a:solidFill>
              <a:effectLst/>
            </a:endParaRPr>
          </a:p>
          <a:p>
            <a:pPr marL="0" indent="0">
              <a:lnSpc>
                <a:spcPct val="100000"/>
              </a:lnSpc>
              <a:buNone/>
            </a:pPr>
            <a:r>
              <a:rPr lang="en-US" altLang="zh-TW" sz="2400" dirty="0">
                <a:effectLst/>
              </a:rPr>
              <a:t>    number = 0;    /* </a:t>
            </a:r>
            <a:r>
              <a:rPr lang="zh-TW" altLang="en-US" sz="2400" dirty="0">
                <a:effectLst/>
              </a:rPr>
              <a:t>将字符串转换为整数 *</a:t>
            </a:r>
            <a:r>
              <a:rPr lang="en-US" altLang="zh-TW" sz="2400" dirty="0">
                <a:effectLst/>
              </a:rPr>
              <a:t>/</a:t>
            </a:r>
          </a:p>
          <a:p>
            <a:pPr marL="0" indent="0">
              <a:lnSpc>
                <a:spcPct val="100000"/>
              </a:lnSpc>
              <a:buNone/>
            </a:pPr>
            <a:r>
              <a:rPr lang="en-US" altLang="zh-TW" sz="2400" dirty="0">
                <a:effectLst/>
              </a:rPr>
              <a:t>    for(i = 0; str[i] != '\0'; i++)</a:t>
            </a:r>
          </a:p>
          <a:p>
            <a:pPr marL="0" indent="0">
              <a:lnSpc>
                <a:spcPct val="100000"/>
              </a:lnSpc>
              <a:buNone/>
            </a:pPr>
            <a:r>
              <a:rPr lang="en-US" altLang="zh-TW" sz="2400" dirty="0">
                <a:effectLst/>
              </a:rPr>
              <a:t>        if(str[i] &gt;= '0' &amp;&amp; str[i] &lt;= '9') </a:t>
            </a:r>
          </a:p>
          <a:p>
            <a:pPr marL="0" indent="0">
              <a:lnSpc>
                <a:spcPct val="100000"/>
              </a:lnSpc>
              <a:buNone/>
            </a:pPr>
            <a:r>
              <a:rPr lang="en-US" altLang="zh-TW" sz="2400" dirty="0">
                <a:effectLst/>
              </a:rPr>
              <a:t>            </a:t>
            </a:r>
            <a:r>
              <a:rPr lang="en-US" altLang="zh-TW" sz="2400" dirty="0">
                <a:solidFill>
                  <a:srgbClr val="FF0000"/>
                </a:solidFill>
                <a:effectLst/>
              </a:rPr>
              <a:t>number = number * 10 + (str[i] - '0');</a:t>
            </a:r>
          </a:p>
          <a:p>
            <a:pPr marL="0" indent="0">
              <a:lnSpc>
                <a:spcPct val="100000"/>
              </a:lnSpc>
              <a:buNone/>
            </a:pPr>
            <a:r>
              <a:rPr lang="en-US" altLang="zh-TW" sz="2400" dirty="0">
                <a:effectLst/>
              </a:rPr>
              <a:t>    printf("digit = %d\n", number);</a:t>
            </a:r>
          </a:p>
          <a:p>
            <a:pPr marL="0" indent="0">
              <a:lnSpc>
                <a:spcPct val="100000"/>
              </a:lnSpc>
              <a:buNone/>
            </a:pPr>
            <a:r>
              <a:rPr lang="en-US" altLang="zh-TW" sz="2400" dirty="0">
                <a:effectLst/>
              </a:rPr>
              <a:t>    return 0;</a:t>
            </a:r>
          </a:p>
          <a:p>
            <a:pPr marL="0" indent="0">
              <a:lnSpc>
                <a:spcPct val="100000"/>
              </a:lnSpc>
              <a:buNone/>
            </a:pPr>
            <a:r>
              <a:rPr lang="en-US" altLang="zh-TW" sz="2400" dirty="0">
                <a:effectLst/>
              </a:rPr>
              <a:t>}</a:t>
            </a:r>
          </a:p>
          <a:p>
            <a:pPr marL="0" indent="0">
              <a:lnSpc>
                <a:spcPct val="100000"/>
              </a:lnSpc>
              <a:buNone/>
            </a:pPr>
            <a:endParaRPr lang="zh-TW" altLang="en-US" dirty="0">
              <a:effectLst/>
            </a:endParaRPr>
          </a:p>
          <a:p>
            <a:pPr marL="0" indent="0">
              <a:buNone/>
            </a:pPr>
            <a:endParaRPr lang="zh-TW" altLang="en-US" dirty="0" smtClean="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78</a:t>
            </a:fld>
            <a:endParaRPr lang="en-US" altLang="zh-CN" dirty="0"/>
          </a:p>
        </p:txBody>
      </p:sp>
    </p:spTree>
    <p:extLst>
      <p:ext uri="{BB962C8B-B14F-4D97-AF65-F5344CB8AC3E}">
        <p14:creationId xmlns:p14="http://schemas.microsoft.com/office/powerpoint/2010/main" val="3401496701"/>
      </p:ext>
    </p:extLst>
  </p:cSld>
  <p:clrMapOvr>
    <a:masterClrMapping/>
  </p:clrMapOvr>
  <p:transition spd="med">
    <p:random/>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r>
              <a:rPr lang="zh-TW" altLang="en-US" dirty="0" smtClean="0"/>
              <a:t>字符串</a:t>
            </a:r>
            <a:r>
              <a:rPr lang="zh-TW" altLang="en-US" dirty="0"/>
              <a:t>处理</a:t>
            </a:r>
            <a:r>
              <a:rPr lang="zh-TW" altLang="en-US" dirty="0" smtClean="0"/>
              <a:t>函数</a:t>
            </a:r>
            <a:endParaRPr lang="en-US" dirty="0"/>
          </a:p>
        </p:txBody>
      </p:sp>
      <p:sp>
        <p:nvSpPr>
          <p:cNvPr id="3" name="Content Placeholder 2"/>
          <p:cNvSpPr>
            <a:spLocks noGrp="1"/>
          </p:cNvSpPr>
          <p:nvPr>
            <p:ph idx="1"/>
          </p:nvPr>
        </p:nvSpPr>
        <p:spPr>
          <a:xfrm>
            <a:off x="683569" y="1656184"/>
            <a:ext cx="7776863" cy="4653136"/>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p>
            <a:r>
              <a:rPr lang="zh-CN" altLang="en-US" dirty="0"/>
              <a:t>在程序中包含头文件</a:t>
            </a:r>
            <a:r>
              <a:rPr lang="en-US" altLang="zh-CN" dirty="0"/>
              <a:t>#include &lt;string.h&gt;</a:t>
            </a:r>
            <a:r>
              <a:rPr lang="zh-CN" altLang="en-US" dirty="0" smtClean="0"/>
              <a:t>。</a:t>
            </a:r>
            <a:endParaRPr lang="en-US" altLang="zh-CN" dirty="0" smtClean="0"/>
          </a:p>
          <a:p>
            <a:pPr marL="0" indent="0">
              <a:buNone/>
            </a:pPr>
            <a:endParaRPr lang="en-US" altLang="zh-CN" dirty="0"/>
          </a:p>
          <a:p>
            <a:pPr lvl="1"/>
            <a:r>
              <a:rPr lang="en-US" altLang="zh-CN" dirty="0" smtClean="0"/>
              <a:t>1)</a:t>
            </a:r>
            <a:r>
              <a:rPr lang="zh-CN" altLang="en-US" dirty="0" smtClean="0">
                <a:solidFill>
                  <a:srgbClr val="FF0000"/>
                </a:solidFill>
              </a:rPr>
              <a:t>字符串</a:t>
            </a:r>
            <a:r>
              <a:rPr lang="zh-CN" altLang="en-US" dirty="0"/>
              <a:t>输出函数 </a:t>
            </a:r>
          </a:p>
          <a:p>
            <a:pPr lvl="2"/>
            <a:r>
              <a:rPr lang="en-US" altLang="zh-CN" dirty="0"/>
              <a:t>puts (</a:t>
            </a:r>
            <a:r>
              <a:rPr lang="zh-CN" altLang="en-US" dirty="0"/>
              <a:t>字符数组名</a:t>
            </a:r>
            <a:r>
              <a:rPr lang="en-US" altLang="zh-CN" dirty="0"/>
              <a:t>)</a:t>
            </a:r>
          </a:p>
          <a:p>
            <a:pPr lvl="1"/>
            <a:r>
              <a:rPr lang="en-US" altLang="zh-CN" dirty="0"/>
              <a:t>2)</a:t>
            </a:r>
            <a:r>
              <a:rPr lang="zh-CN" altLang="en-US" dirty="0">
                <a:solidFill>
                  <a:srgbClr val="FF0000"/>
                </a:solidFill>
              </a:rPr>
              <a:t>字符串</a:t>
            </a:r>
            <a:r>
              <a:rPr lang="zh-CN" altLang="en-US" dirty="0"/>
              <a:t>输入函数</a:t>
            </a:r>
            <a:endParaRPr lang="en-US" altLang="zh-CN" dirty="0"/>
          </a:p>
          <a:p>
            <a:pPr lvl="2"/>
            <a:r>
              <a:rPr lang="en-US" altLang="zh-CN" dirty="0" smtClean="0"/>
              <a:t>gets (</a:t>
            </a:r>
            <a:r>
              <a:rPr lang="zh-CN" altLang="en-US" dirty="0" smtClean="0"/>
              <a:t>字符数组名</a:t>
            </a:r>
            <a:r>
              <a:rPr lang="en-US" altLang="zh-CN" dirty="0" smtClean="0"/>
              <a:t>)</a:t>
            </a:r>
          </a:p>
          <a:p>
            <a:pPr marL="536575" lvl="2" indent="0">
              <a:buNone/>
            </a:pPr>
            <a:r>
              <a:rPr lang="en-US" altLang="zh-CN" dirty="0"/>
              <a:t> </a:t>
            </a:r>
            <a:r>
              <a:rPr lang="en-US" altLang="zh-CN" dirty="0" smtClean="0"/>
              <a:t> char </a:t>
            </a:r>
            <a:r>
              <a:rPr lang="en-US" altLang="zh-CN" dirty="0" err="1" smtClean="0"/>
              <a:t>st</a:t>
            </a:r>
            <a:r>
              <a:rPr lang="en-US" altLang="zh-CN" dirty="0" smtClean="0"/>
              <a:t>[15];</a:t>
            </a:r>
          </a:p>
          <a:p>
            <a:pPr marL="536575" lvl="2" indent="0">
              <a:buNone/>
            </a:pPr>
            <a:r>
              <a:rPr lang="en-US" altLang="zh-CN" dirty="0"/>
              <a:t> </a:t>
            </a:r>
            <a:r>
              <a:rPr lang="en-US" altLang="zh-CN" dirty="0" smtClean="0"/>
              <a:t> gets(</a:t>
            </a:r>
            <a:r>
              <a:rPr lang="en-US" altLang="zh-CN" dirty="0" err="1" smtClean="0"/>
              <a:t>st</a:t>
            </a:r>
            <a:r>
              <a:rPr lang="en-US" altLang="zh-CN" dirty="0" smtClean="0"/>
              <a:t>);</a:t>
            </a:r>
          </a:p>
          <a:p>
            <a:pPr marL="536575" lvl="2" indent="0">
              <a:buNone/>
            </a:pPr>
            <a:r>
              <a:rPr lang="en-US" altLang="zh-CN" dirty="0"/>
              <a:t> </a:t>
            </a:r>
            <a:r>
              <a:rPr lang="en-US" altLang="zh-CN" dirty="0" smtClean="0"/>
              <a:t> puts(</a:t>
            </a:r>
            <a:r>
              <a:rPr lang="en-US" altLang="zh-CN" dirty="0" err="1" smtClean="0"/>
              <a:t>st</a:t>
            </a:r>
            <a:r>
              <a:rPr lang="en-US" altLang="zh-CN" dirty="0" smtClean="0"/>
              <a:t>);</a:t>
            </a:r>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79</a:t>
            </a:fld>
            <a:endParaRPr lang="en-US" altLang="zh-CN" dirty="0"/>
          </a:p>
        </p:txBody>
      </p:sp>
      <p:sp>
        <p:nvSpPr>
          <p:cNvPr id="6" name="Content Placeholder 2"/>
          <p:cNvSpPr txBox="1">
            <a:spLocks/>
          </p:cNvSpPr>
          <p:nvPr/>
        </p:nvSpPr>
        <p:spPr bwMode="auto">
          <a:xfrm>
            <a:off x="4056340" y="2132856"/>
            <a:ext cx="4608512" cy="2016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chemeClr val="tx1"/>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chemeClr val="tx1"/>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a:lstStyle>
          <a:p>
            <a:pPr lvl="1"/>
            <a:r>
              <a:rPr lang="en-US" altLang="zh-CN" kern="0" dirty="0" smtClean="0"/>
              <a:t>3)</a:t>
            </a:r>
            <a:r>
              <a:rPr lang="zh-CN" altLang="en-US" kern="0" dirty="0" smtClean="0">
                <a:solidFill>
                  <a:srgbClr val="FF0000"/>
                </a:solidFill>
              </a:rPr>
              <a:t>字符</a:t>
            </a:r>
            <a:r>
              <a:rPr lang="zh-CN" altLang="en-US" kern="0" dirty="0" smtClean="0"/>
              <a:t>输出函数</a:t>
            </a:r>
            <a:endParaRPr lang="en-US" altLang="zh-CN" kern="0" dirty="0" smtClean="0"/>
          </a:p>
          <a:p>
            <a:pPr lvl="2"/>
            <a:r>
              <a:rPr lang="en-US" altLang="zh-CN" kern="0" dirty="0" err="1" smtClean="0"/>
              <a:t>putchar</a:t>
            </a:r>
            <a:r>
              <a:rPr lang="en-US" altLang="zh-CN" kern="0" dirty="0" smtClean="0"/>
              <a:t>(</a:t>
            </a:r>
            <a:r>
              <a:rPr lang="zh-CN" altLang="en-US" kern="0" dirty="0" smtClean="0"/>
              <a:t>字符数组名</a:t>
            </a:r>
            <a:r>
              <a:rPr lang="en-US" altLang="zh-CN" kern="0" dirty="0" smtClean="0"/>
              <a:t>[</a:t>
            </a:r>
            <a:r>
              <a:rPr lang="zh-CN" altLang="en-US" kern="0" dirty="0" smtClean="0"/>
              <a:t>下标</a:t>
            </a:r>
            <a:r>
              <a:rPr lang="en-US" altLang="zh-CN" kern="0" dirty="0" smtClean="0"/>
              <a:t>])</a:t>
            </a:r>
          </a:p>
          <a:p>
            <a:pPr lvl="1"/>
            <a:r>
              <a:rPr lang="en-US" altLang="zh-CN" kern="0" dirty="0" smtClean="0"/>
              <a:t>4)</a:t>
            </a:r>
            <a:r>
              <a:rPr lang="zh-CN" altLang="en-US" kern="0" dirty="0" smtClean="0">
                <a:solidFill>
                  <a:srgbClr val="FF0000"/>
                </a:solidFill>
              </a:rPr>
              <a:t>字符</a:t>
            </a:r>
            <a:r>
              <a:rPr lang="zh-CN" altLang="en-US" kern="0" dirty="0" smtClean="0"/>
              <a:t>输入函数</a:t>
            </a:r>
            <a:endParaRPr lang="en-US" altLang="zh-CN" kern="0" dirty="0" smtClean="0"/>
          </a:p>
          <a:p>
            <a:pPr lvl="2"/>
            <a:r>
              <a:rPr lang="zh-CN" altLang="en-US" kern="0" dirty="0">
                <a:solidFill>
                  <a:srgbClr val="FF0000"/>
                </a:solidFill>
              </a:rPr>
              <a:t>字符数组名</a:t>
            </a:r>
            <a:r>
              <a:rPr lang="en-US" altLang="zh-CN" kern="0" dirty="0">
                <a:solidFill>
                  <a:srgbClr val="FF0000"/>
                </a:solidFill>
              </a:rPr>
              <a:t>[</a:t>
            </a:r>
            <a:r>
              <a:rPr lang="zh-CN" altLang="en-US" kern="0" dirty="0">
                <a:solidFill>
                  <a:srgbClr val="FF0000"/>
                </a:solidFill>
              </a:rPr>
              <a:t>下标</a:t>
            </a:r>
            <a:r>
              <a:rPr lang="en-US" altLang="zh-CN" kern="0" dirty="0" smtClean="0">
                <a:solidFill>
                  <a:srgbClr val="FF0000"/>
                </a:solidFill>
              </a:rPr>
              <a:t>]=</a:t>
            </a:r>
            <a:r>
              <a:rPr lang="en-US" altLang="zh-CN" kern="0" dirty="0" err="1" smtClean="0">
                <a:solidFill>
                  <a:srgbClr val="FF0000"/>
                </a:solidFill>
              </a:rPr>
              <a:t>getchar</a:t>
            </a:r>
            <a:r>
              <a:rPr lang="en-US" altLang="zh-CN" kern="0" dirty="0" smtClean="0">
                <a:solidFill>
                  <a:srgbClr val="FF0000"/>
                </a:solidFill>
              </a:rPr>
              <a:t>()</a:t>
            </a:r>
            <a:endParaRPr lang="en-US" kern="0" dirty="0">
              <a:solidFill>
                <a:srgbClr val="FF0000"/>
              </a:solidFill>
            </a:endParaRPr>
          </a:p>
        </p:txBody>
      </p:sp>
      <p:sp>
        <p:nvSpPr>
          <p:cNvPr id="5" name="矩形 4"/>
          <p:cNvSpPr/>
          <p:nvPr/>
        </p:nvSpPr>
        <p:spPr>
          <a:xfrm>
            <a:off x="4499992" y="4012029"/>
            <a:ext cx="4572000" cy="2862322"/>
          </a:xfrm>
          <a:prstGeom prst="rect">
            <a:avLst/>
          </a:prstGeom>
        </p:spPr>
        <p:txBody>
          <a:bodyPr>
            <a:spAutoFit/>
          </a:bodyPr>
          <a:lstStyle/>
          <a:p>
            <a:pPr marL="0" indent="0">
              <a:lnSpc>
                <a:spcPct val="100000"/>
              </a:lnSpc>
              <a:buNone/>
            </a:pPr>
            <a:r>
              <a:rPr lang="en-US" altLang="zh-TW" sz="2000" b="1" dirty="0" err="1">
                <a:solidFill>
                  <a:srgbClr val="0000FF"/>
                </a:solidFill>
                <a:effectLst>
                  <a:outerShdw blurRad="38100" dist="38100" dir="2700000" algn="tl">
                    <a:srgbClr val="000000">
                      <a:alpha val="43137"/>
                    </a:srgbClr>
                  </a:outerShdw>
                </a:effectLst>
              </a:rPr>
              <a:t>i</a:t>
            </a:r>
            <a:r>
              <a:rPr lang="en-US" altLang="zh-TW" sz="2000" b="1" dirty="0">
                <a:solidFill>
                  <a:srgbClr val="0000FF"/>
                </a:solidFill>
                <a:effectLst>
                  <a:outerShdw blurRad="38100" dist="38100" dir="2700000" algn="tl">
                    <a:srgbClr val="000000">
                      <a:alpha val="43137"/>
                    </a:srgbClr>
                  </a:outerShdw>
                </a:effectLst>
              </a:rPr>
              <a:t> = 0;</a:t>
            </a:r>
          </a:p>
          <a:p>
            <a:pPr marL="0" indent="0">
              <a:lnSpc>
                <a:spcPct val="100000"/>
              </a:lnSpc>
              <a:buNone/>
            </a:pPr>
            <a:r>
              <a:rPr lang="en-US" altLang="zh-TW" sz="2000" b="1" dirty="0" smtClean="0">
                <a:solidFill>
                  <a:srgbClr val="0000FF"/>
                </a:solidFill>
                <a:effectLst>
                  <a:outerShdw blurRad="38100" dist="38100" dir="2700000" algn="tl">
                    <a:srgbClr val="000000">
                      <a:alpha val="43137"/>
                    </a:srgbClr>
                  </a:outerShdw>
                </a:effectLst>
              </a:rPr>
              <a:t>while</a:t>
            </a:r>
            <a:r>
              <a:rPr lang="en-US" altLang="zh-TW" sz="2000" b="1" dirty="0">
                <a:solidFill>
                  <a:srgbClr val="0000FF"/>
                </a:solidFill>
                <a:effectLst>
                  <a:outerShdw blurRad="38100" dist="38100" dir="2700000" algn="tl">
                    <a:srgbClr val="000000">
                      <a:alpha val="43137"/>
                    </a:srgbClr>
                  </a:outerShdw>
                </a:effectLst>
              </a:rPr>
              <a:t>((</a:t>
            </a:r>
            <a:r>
              <a:rPr lang="en-US" altLang="zh-TW" sz="2000" b="1" dirty="0" err="1">
                <a:solidFill>
                  <a:srgbClr val="0000FF"/>
                </a:solidFill>
                <a:effectLst>
                  <a:outerShdw blurRad="38100" dist="38100" dir="2700000" algn="tl">
                    <a:srgbClr val="000000">
                      <a:alpha val="43137"/>
                    </a:srgbClr>
                  </a:outerShdw>
                </a:effectLst>
              </a:rPr>
              <a:t>str</a:t>
            </a:r>
            <a:r>
              <a:rPr lang="en-US" altLang="zh-TW" sz="2000" b="1" dirty="0">
                <a:solidFill>
                  <a:srgbClr val="0000FF"/>
                </a:solidFill>
                <a:effectLst>
                  <a:outerShdw blurRad="38100" dist="38100" dir="2700000" algn="tl">
                    <a:srgbClr val="000000">
                      <a:alpha val="43137"/>
                    </a:srgbClr>
                  </a:outerShdw>
                </a:effectLst>
              </a:rPr>
              <a:t>[</a:t>
            </a:r>
            <a:r>
              <a:rPr lang="en-US" altLang="zh-TW" sz="2000" b="1" dirty="0" err="1">
                <a:solidFill>
                  <a:srgbClr val="0000FF"/>
                </a:solidFill>
                <a:effectLst>
                  <a:outerShdw blurRad="38100" dist="38100" dir="2700000" algn="tl">
                    <a:srgbClr val="000000">
                      <a:alpha val="43137"/>
                    </a:srgbClr>
                  </a:outerShdw>
                </a:effectLst>
              </a:rPr>
              <a:t>i</a:t>
            </a:r>
            <a:r>
              <a:rPr lang="en-US" altLang="zh-TW" sz="2000" b="1" dirty="0">
                <a:solidFill>
                  <a:srgbClr val="0000FF"/>
                </a:solidFill>
                <a:effectLst>
                  <a:outerShdw blurRad="38100" dist="38100" dir="2700000" algn="tl">
                    <a:srgbClr val="000000">
                      <a:alpha val="43137"/>
                    </a:srgbClr>
                  </a:outerShdw>
                </a:effectLst>
              </a:rPr>
              <a:t>] = </a:t>
            </a:r>
            <a:r>
              <a:rPr lang="en-US" altLang="zh-TW" sz="2000" b="1" dirty="0" err="1">
                <a:solidFill>
                  <a:srgbClr val="0000FF"/>
                </a:solidFill>
                <a:effectLst>
                  <a:outerShdw blurRad="38100" dist="38100" dir="2700000" algn="tl">
                    <a:srgbClr val="000000">
                      <a:alpha val="43137"/>
                    </a:srgbClr>
                  </a:outerShdw>
                </a:effectLst>
              </a:rPr>
              <a:t>getchar</a:t>
            </a:r>
            <a:r>
              <a:rPr lang="en-US" altLang="zh-TW" sz="2000" b="1" dirty="0">
                <a:solidFill>
                  <a:srgbClr val="0000FF"/>
                </a:solidFill>
                <a:effectLst>
                  <a:outerShdw blurRad="38100" dist="38100" dir="2700000" algn="tl">
                    <a:srgbClr val="000000">
                      <a:alpha val="43137"/>
                    </a:srgbClr>
                  </a:outerShdw>
                </a:effectLst>
              </a:rPr>
              <a:t>( )) != '\n') </a:t>
            </a:r>
          </a:p>
          <a:p>
            <a:pPr marL="0" indent="0">
              <a:lnSpc>
                <a:spcPct val="100000"/>
              </a:lnSpc>
              <a:buNone/>
            </a:pPr>
            <a:r>
              <a:rPr lang="en-US" altLang="zh-TW" sz="2000" b="1" dirty="0" smtClean="0">
                <a:solidFill>
                  <a:srgbClr val="0000FF"/>
                </a:solidFill>
                <a:effectLst>
                  <a:outerShdw blurRad="38100" dist="38100" dir="2700000" algn="tl">
                    <a:srgbClr val="000000">
                      <a:alpha val="43137"/>
                    </a:srgbClr>
                  </a:outerShdw>
                </a:effectLst>
              </a:rPr>
              <a:t>      </a:t>
            </a:r>
            <a:r>
              <a:rPr lang="en-US" altLang="zh-TW" sz="2000" b="1" dirty="0" err="1">
                <a:solidFill>
                  <a:srgbClr val="0000FF"/>
                </a:solidFill>
                <a:effectLst>
                  <a:outerShdw blurRad="38100" dist="38100" dir="2700000" algn="tl">
                    <a:srgbClr val="000000">
                      <a:alpha val="43137"/>
                    </a:srgbClr>
                  </a:outerShdw>
                </a:effectLst>
              </a:rPr>
              <a:t>i</a:t>
            </a:r>
            <a:r>
              <a:rPr lang="en-US" altLang="zh-TW" sz="2000" b="1" dirty="0">
                <a:solidFill>
                  <a:srgbClr val="0000FF"/>
                </a:solidFill>
                <a:effectLst>
                  <a:outerShdw blurRad="38100" dist="38100" dir="2700000" algn="tl">
                    <a:srgbClr val="000000">
                      <a:alpha val="43137"/>
                    </a:srgbClr>
                  </a:outerShdw>
                </a:effectLst>
              </a:rPr>
              <a:t>++; </a:t>
            </a:r>
          </a:p>
          <a:p>
            <a:pPr marL="0" indent="0">
              <a:lnSpc>
                <a:spcPct val="100000"/>
              </a:lnSpc>
              <a:buNone/>
            </a:pPr>
            <a:r>
              <a:rPr lang="en-US" altLang="zh-TW" sz="2000" b="1" dirty="0" err="1" smtClean="0">
                <a:solidFill>
                  <a:srgbClr val="0000FF"/>
                </a:solidFill>
                <a:effectLst>
                  <a:outerShdw blurRad="38100" dist="38100" dir="2700000" algn="tl">
                    <a:srgbClr val="000000">
                      <a:alpha val="43137"/>
                    </a:srgbClr>
                  </a:outerShdw>
                </a:effectLst>
              </a:rPr>
              <a:t>str</a:t>
            </a:r>
            <a:r>
              <a:rPr lang="en-US" altLang="zh-TW" sz="2000" b="1" dirty="0" smtClean="0">
                <a:solidFill>
                  <a:srgbClr val="0000FF"/>
                </a:solidFill>
                <a:effectLst>
                  <a:outerShdw blurRad="38100" dist="38100" dir="2700000" algn="tl">
                    <a:srgbClr val="000000">
                      <a:alpha val="43137"/>
                    </a:srgbClr>
                  </a:outerShdw>
                </a:effectLst>
              </a:rPr>
              <a:t>[</a:t>
            </a:r>
            <a:r>
              <a:rPr lang="en-US" altLang="zh-TW" sz="2000" b="1" dirty="0" err="1" smtClean="0">
                <a:solidFill>
                  <a:srgbClr val="0000FF"/>
                </a:solidFill>
                <a:effectLst>
                  <a:outerShdw blurRad="38100" dist="38100" dir="2700000" algn="tl">
                    <a:srgbClr val="000000">
                      <a:alpha val="43137"/>
                    </a:srgbClr>
                  </a:outerShdw>
                </a:effectLst>
              </a:rPr>
              <a:t>i</a:t>
            </a:r>
            <a:r>
              <a:rPr lang="en-US" altLang="zh-TW" sz="2000" b="1" dirty="0">
                <a:solidFill>
                  <a:srgbClr val="0000FF"/>
                </a:solidFill>
                <a:effectLst>
                  <a:outerShdw blurRad="38100" dist="38100" dir="2700000" algn="tl">
                    <a:srgbClr val="000000">
                      <a:alpha val="43137"/>
                    </a:srgbClr>
                  </a:outerShdw>
                </a:effectLst>
              </a:rPr>
              <a:t>] = '\0</a:t>
            </a:r>
            <a:r>
              <a:rPr lang="en-US" altLang="zh-TW" sz="2000" b="1" dirty="0" smtClean="0">
                <a:solidFill>
                  <a:srgbClr val="0000FF"/>
                </a:solidFill>
                <a:effectLst>
                  <a:outerShdw blurRad="38100" dist="38100" dir="2700000" algn="tl">
                    <a:srgbClr val="000000">
                      <a:alpha val="43137"/>
                    </a:srgbClr>
                  </a:outerShdw>
                </a:effectLst>
              </a:rPr>
              <a:t>';</a:t>
            </a:r>
          </a:p>
          <a:p>
            <a:pPr marL="0" indent="0">
              <a:lnSpc>
                <a:spcPct val="100000"/>
              </a:lnSpc>
              <a:buNone/>
            </a:pPr>
            <a:r>
              <a:rPr lang="en-US" altLang="zh-TW" sz="2000" b="1" dirty="0" err="1" smtClean="0">
                <a:solidFill>
                  <a:srgbClr val="0000FF"/>
                </a:solidFill>
                <a:effectLst>
                  <a:outerShdw blurRad="38100" dist="38100" dir="2700000" algn="tl">
                    <a:srgbClr val="000000">
                      <a:alpha val="43137"/>
                    </a:srgbClr>
                  </a:outerShdw>
                </a:effectLst>
              </a:rPr>
              <a:t>i</a:t>
            </a:r>
            <a:r>
              <a:rPr lang="en-US" altLang="zh-TW" sz="2000" b="1" dirty="0" smtClean="0">
                <a:solidFill>
                  <a:srgbClr val="0000FF"/>
                </a:solidFill>
                <a:effectLst>
                  <a:outerShdw blurRad="38100" dist="38100" dir="2700000" algn="tl">
                    <a:srgbClr val="000000">
                      <a:alpha val="43137"/>
                    </a:srgbClr>
                  </a:outerShdw>
                </a:effectLst>
              </a:rPr>
              <a:t>=0;</a:t>
            </a:r>
          </a:p>
          <a:p>
            <a:r>
              <a:rPr lang="en-US" altLang="zh-TW" sz="2000" b="1" dirty="0" smtClean="0">
                <a:solidFill>
                  <a:srgbClr val="0000FF"/>
                </a:solidFill>
                <a:effectLst>
                  <a:outerShdw blurRad="38100" dist="38100" dir="2700000" algn="tl">
                    <a:srgbClr val="000000">
                      <a:alpha val="43137"/>
                    </a:srgbClr>
                  </a:outerShdw>
                </a:effectLst>
              </a:rPr>
              <a:t>while(</a:t>
            </a:r>
            <a:r>
              <a:rPr lang="en-US" altLang="zh-TW" sz="2000" b="1" dirty="0" err="1" smtClean="0">
                <a:solidFill>
                  <a:srgbClr val="0000FF"/>
                </a:solidFill>
                <a:effectLst>
                  <a:outerShdw blurRad="38100" dist="38100" dir="2700000" algn="tl">
                    <a:srgbClr val="000000">
                      <a:alpha val="43137"/>
                    </a:srgbClr>
                  </a:outerShdw>
                </a:effectLst>
              </a:rPr>
              <a:t>str</a:t>
            </a:r>
            <a:r>
              <a:rPr lang="en-US" altLang="zh-TW" sz="2000" b="1" dirty="0" smtClean="0">
                <a:solidFill>
                  <a:srgbClr val="0000FF"/>
                </a:solidFill>
                <a:effectLst>
                  <a:outerShdw blurRad="38100" dist="38100" dir="2700000" algn="tl">
                    <a:srgbClr val="000000">
                      <a:alpha val="43137"/>
                    </a:srgbClr>
                  </a:outerShdw>
                </a:effectLst>
              </a:rPr>
              <a:t>[</a:t>
            </a:r>
            <a:r>
              <a:rPr lang="en-US" altLang="zh-TW" sz="2000" b="1" dirty="0" err="1" smtClean="0">
                <a:solidFill>
                  <a:srgbClr val="0000FF"/>
                </a:solidFill>
                <a:effectLst>
                  <a:outerShdw blurRad="38100" dist="38100" dir="2700000" algn="tl">
                    <a:srgbClr val="000000">
                      <a:alpha val="43137"/>
                    </a:srgbClr>
                  </a:outerShdw>
                </a:effectLst>
              </a:rPr>
              <a:t>i</a:t>
            </a:r>
            <a:r>
              <a:rPr lang="en-US" altLang="zh-TW" sz="2000" b="1" dirty="0" smtClean="0">
                <a:solidFill>
                  <a:srgbClr val="0000FF"/>
                </a:solidFill>
                <a:effectLst>
                  <a:outerShdw blurRad="38100" dist="38100" dir="2700000" algn="tl">
                    <a:srgbClr val="000000">
                      <a:alpha val="43137"/>
                    </a:srgbClr>
                  </a:outerShdw>
                </a:effectLst>
              </a:rPr>
              <a:t>]!= '\0') {</a:t>
            </a:r>
          </a:p>
          <a:p>
            <a:r>
              <a:rPr lang="en-US" altLang="zh-TW" sz="2000" b="1" dirty="0">
                <a:solidFill>
                  <a:srgbClr val="0000FF"/>
                </a:solidFill>
                <a:effectLst>
                  <a:outerShdw blurRad="38100" dist="38100" dir="2700000" algn="tl">
                    <a:srgbClr val="000000">
                      <a:alpha val="43137"/>
                    </a:srgbClr>
                  </a:outerShdw>
                </a:effectLst>
              </a:rPr>
              <a:t> </a:t>
            </a:r>
            <a:r>
              <a:rPr lang="en-US" altLang="zh-TW" sz="2000" b="1" dirty="0" smtClean="0">
                <a:solidFill>
                  <a:srgbClr val="0000FF"/>
                </a:solidFill>
                <a:effectLst>
                  <a:outerShdw blurRad="38100" dist="38100" dir="2700000" algn="tl">
                    <a:srgbClr val="000000">
                      <a:alpha val="43137"/>
                    </a:srgbClr>
                  </a:outerShdw>
                </a:effectLst>
              </a:rPr>
              <a:t>     </a:t>
            </a:r>
            <a:r>
              <a:rPr lang="en-US" altLang="zh-TW" sz="2000" b="1" dirty="0" err="1" smtClean="0">
                <a:solidFill>
                  <a:srgbClr val="0000FF"/>
                </a:solidFill>
                <a:effectLst>
                  <a:outerShdw blurRad="38100" dist="38100" dir="2700000" algn="tl">
                    <a:srgbClr val="000000">
                      <a:alpha val="43137"/>
                    </a:srgbClr>
                  </a:outerShdw>
                </a:effectLst>
              </a:rPr>
              <a:t>putchar</a:t>
            </a:r>
            <a:r>
              <a:rPr lang="en-US" altLang="zh-TW" sz="2000" b="1" dirty="0" smtClean="0">
                <a:solidFill>
                  <a:srgbClr val="0000FF"/>
                </a:solidFill>
                <a:effectLst>
                  <a:outerShdw blurRad="38100" dist="38100" dir="2700000" algn="tl">
                    <a:srgbClr val="000000">
                      <a:alpha val="43137"/>
                    </a:srgbClr>
                  </a:outerShdw>
                </a:effectLst>
              </a:rPr>
              <a:t>(</a:t>
            </a:r>
            <a:r>
              <a:rPr lang="en-US" altLang="zh-TW" sz="2000" b="1" dirty="0" err="1" smtClean="0">
                <a:solidFill>
                  <a:srgbClr val="0000FF"/>
                </a:solidFill>
                <a:effectLst>
                  <a:outerShdw blurRad="38100" dist="38100" dir="2700000" algn="tl">
                    <a:srgbClr val="000000">
                      <a:alpha val="43137"/>
                    </a:srgbClr>
                  </a:outerShdw>
                </a:effectLst>
              </a:rPr>
              <a:t>str</a:t>
            </a:r>
            <a:r>
              <a:rPr lang="en-US" altLang="zh-TW" sz="2000" b="1" dirty="0" smtClean="0">
                <a:solidFill>
                  <a:srgbClr val="0000FF"/>
                </a:solidFill>
                <a:effectLst>
                  <a:outerShdw blurRad="38100" dist="38100" dir="2700000" algn="tl">
                    <a:srgbClr val="000000">
                      <a:alpha val="43137"/>
                    </a:srgbClr>
                  </a:outerShdw>
                </a:effectLst>
              </a:rPr>
              <a:t>[</a:t>
            </a:r>
            <a:r>
              <a:rPr lang="en-US" altLang="zh-TW" sz="2000" b="1" dirty="0" err="1" smtClean="0">
                <a:solidFill>
                  <a:srgbClr val="0000FF"/>
                </a:solidFill>
                <a:effectLst>
                  <a:outerShdw blurRad="38100" dist="38100" dir="2700000" algn="tl">
                    <a:srgbClr val="000000">
                      <a:alpha val="43137"/>
                    </a:srgbClr>
                  </a:outerShdw>
                </a:effectLst>
              </a:rPr>
              <a:t>i</a:t>
            </a:r>
            <a:r>
              <a:rPr lang="en-US" altLang="zh-TW" sz="2000" b="1" dirty="0" smtClean="0">
                <a:solidFill>
                  <a:srgbClr val="0000FF"/>
                </a:solidFill>
                <a:effectLst>
                  <a:outerShdw blurRad="38100" dist="38100" dir="2700000" algn="tl">
                    <a:srgbClr val="000000">
                      <a:alpha val="43137"/>
                    </a:srgbClr>
                  </a:outerShdw>
                </a:effectLst>
              </a:rPr>
              <a:t>]);</a:t>
            </a:r>
          </a:p>
          <a:p>
            <a:r>
              <a:rPr lang="en-US" altLang="zh-TW" sz="2000" b="1" dirty="0">
                <a:solidFill>
                  <a:srgbClr val="0000FF"/>
                </a:solidFill>
                <a:effectLst>
                  <a:outerShdw blurRad="38100" dist="38100" dir="2700000" algn="tl">
                    <a:srgbClr val="000000">
                      <a:alpha val="43137"/>
                    </a:srgbClr>
                  </a:outerShdw>
                </a:effectLst>
              </a:rPr>
              <a:t> </a:t>
            </a:r>
            <a:r>
              <a:rPr lang="en-US" altLang="zh-TW" sz="2000" b="1" dirty="0" smtClean="0">
                <a:solidFill>
                  <a:srgbClr val="0000FF"/>
                </a:solidFill>
                <a:effectLst>
                  <a:outerShdw blurRad="38100" dist="38100" dir="2700000" algn="tl">
                    <a:srgbClr val="000000">
                      <a:alpha val="43137"/>
                    </a:srgbClr>
                  </a:outerShdw>
                </a:effectLst>
              </a:rPr>
              <a:t>     </a:t>
            </a:r>
            <a:r>
              <a:rPr lang="en-US" altLang="zh-TW" sz="2000" b="1" dirty="0" err="1" smtClean="0">
                <a:solidFill>
                  <a:srgbClr val="0000FF"/>
                </a:solidFill>
                <a:effectLst>
                  <a:outerShdw blurRad="38100" dist="38100" dir="2700000" algn="tl">
                    <a:srgbClr val="000000">
                      <a:alpha val="43137"/>
                    </a:srgbClr>
                  </a:outerShdw>
                </a:effectLst>
              </a:rPr>
              <a:t>i</a:t>
            </a:r>
            <a:r>
              <a:rPr lang="en-US" altLang="zh-TW" sz="2000" b="1" dirty="0" smtClean="0">
                <a:solidFill>
                  <a:srgbClr val="0000FF"/>
                </a:solidFill>
                <a:effectLst>
                  <a:outerShdw blurRad="38100" dist="38100" dir="2700000" algn="tl">
                    <a:srgbClr val="000000">
                      <a:alpha val="43137"/>
                    </a:srgbClr>
                  </a:outerShdw>
                </a:effectLst>
              </a:rPr>
              <a:t>++;</a:t>
            </a:r>
          </a:p>
          <a:p>
            <a:r>
              <a:rPr lang="en-US" altLang="zh-TW" sz="2000" b="1" dirty="0" smtClean="0">
                <a:solidFill>
                  <a:srgbClr val="0000FF"/>
                </a:solidFill>
                <a:effectLst>
                  <a:outerShdw blurRad="38100" dist="38100" dir="2700000" algn="tl">
                    <a:srgbClr val="000000">
                      <a:alpha val="43137"/>
                    </a:srgbClr>
                  </a:outerShdw>
                </a:effectLst>
              </a:rPr>
              <a:t>}</a:t>
            </a:r>
            <a:endParaRPr lang="en-US" altLang="zh-TW" sz="2000" b="1" dirty="0">
              <a:solidFill>
                <a:srgbClr val="0000FF"/>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94552999"/>
      </p:ext>
    </p:extLst>
  </p:cSld>
  <p:clrMapOvr>
    <a:masterClrMapping/>
  </p:clrMapOvr>
  <p:transition spd="med">
    <p:random/>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r>
              <a:rPr lang="zh-TW" altLang="en-US" dirty="0" smtClean="0"/>
              <a:t>字符串</a:t>
            </a:r>
            <a:r>
              <a:rPr lang="zh-TW" altLang="en-US" dirty="0"/>
              <a:t>处理</a:t>
            </a:r>
            <a:r>
              <a:rPr lang="zh-TW" altLang="en-US" dirty="0" smtClean="0"/>
              <a:t>函数</a:t>
            </a:r>
            <a:endParaRPr lang="en-US" dirty="0"/>
          </a:p>
        </p:txBody>
      </p:sp>
      <p:sp>
        <p:nvSpPr>
          <p:cNvPr id="3" name="Content Placeholder 2"/>
          <p:cNvSpPr>
            <a:spLocks noGrp="1"/>
          </p:cNvSpPr>
          <p:nvPr>
            <p:ph idx="1"/>
          </p:nvPr>
        </p:nvSpPr>
        <p:spPr>
          <a:xfrm>
            <a:off x="539552" y="1700808"/>
            <a:ext cx="5616624" cy="1224136"/>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p>
            <a:pPr lvl="1"/>
            <a:r>
              <a:rPr lang="en-US" altLang="zh-CN" dirty="0" smtClean="0"/>
              <a:t>5</a:t>
            </a:r>
            <a:r>
              <a:rPr lang="en-US" altLang="zh-CN" dirty="0"/>
              <a:t>)</a:t>
            </a:r>
            <a:r>
              <a:rPr lang="zh-CN" altLang="en-US" dirty="0"/>
              <a:t>字符串连接函数</a:t>
            </a:r>
          </a:p>
          <a:p>
            <a:pPr lvl="2"/>
            <a:r>
              <a:rPr lang="en-US" altLang="zh-CN" dirty="0"/>
              <a:t>strcat(</a:t>
            </a:r>
            <a:r>
              <a:rPr lang="zh-CN" altLang="en-US" dirty="0"/>
              <a:t>字符数组名</a:t>
            </a:r>
            <a:r>
              <a:rPr lang="en-US" altLang="zh-CN" dirty="0"/>
              <a:t>1</a:t>
            </a:r>
            <a:r>
              <a:rPr lang="zh-CN" altLang="en-US" dirty="0"/>
              <a:t>，字符数组名</a:t>
            </a:r>
            <a:r>
              <a:rPr lang="en-US" altLang="zh-CN" dirty="0"/>
              <a:t>2</a:t>
            </a:r>
            <a:r>
              <a:rPr lang="en-US" altLang="zh-CN" dirty="0" smtClean="0"/>
              <a:t>)</a:t>
            </a:r>
            <a:endParaRPr lang="en-US" altLang="zh-CN"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80</a:t>
            </a:fld>
            <a:endParaRPr lang="en-US" altLang="zh-CN" dirty="0"/>
          </a:p>
        </p:txBody>
      </p:sp>
      <p:sp>
        <p:nvSpPr>
          <p:cNvPr id="8" name="矩形 7"/>
          <p:cNvSpPr/>
          <p:nvPr/>
        </p:nvSpPr>
        <p:spPr>
          <a:xfrm>
            <a:off x="1259632" y="2924944"/>
            <a:ext cx="4176464" cy="2308324"/>
          </a:xfrm>
          <a:prstGeom prst="rect">
            <a:avLst/>
          </a:prstGeom>
        </p:spPr>
        <p:txBody>
          <a:bodyPr wrap="square">
            <a:spAutoFit/>
          </a:bodyPr>
          <a:lstStyle/>
          <a:p>
            <a:r>
              <a:rPr lang="en-US" altLang="zh-CN" sz="2400" b="1" dirty="0" smtClean="0"/>
              <a:t>char </a:t>
            </a:r>
            <a:r>
              <a:rPr lang="en-US" altLang="zh-CN" sz="2400" b="1" dirty="0"/>
              <a:t>st1[30]="Welcome"; </a:t>
            </a:r>
          </a:p>
          <a:p>
            <a:r>
              <a:rPr lang="en-US" altLang="zh-CN" sz="2400" b="1" dirty="0"/>
              <a:t>char st2[10]="Shanghai"; </a:t>
            </a:r>
          </a:p>
          <a:p>
            <a:r>
              <a:rPr lang="en-US" altLang="zh-CN" sz="2400" b="1" dirty="0"/>
              <a:t>strcat(st1,st2); </a:t>
            </a:r>
          </a:p>
          <a:p>
            <a:r>
              <a:rPr lang="en-US" altLang="zh-CN" sz="2400" b="1" dirty="0"/>
              <a:t>puts(st1); </a:t>
            </a:r>
            <a:endParaRPr lang="en-US" altLang="zh-CN" sz="2400" b="1" dirty="0" smtClean="0"/>
          </a:p>
          <a:p>
            <a:r>
              <a:rPr lang="en-US" altLang="zh-CN" sz="2400" b="1" dirty="0" smtClean="0"/>
              <a:t>//</a:t>
            </a:r>
            <a:r>
              <a:rPr lang="zh-CN" altLang="en-US" sz="2400" b="1" dirty="0"/>
              <a:t>输出结果：</a:t>
            </a:r>
            <a:r>
              <a:rPr lang="en-US" altLang="zh-CN" sz="2400" b="1" dirty="0"/>
              <a:t>WelcomeShanghai </a:t>
            </a:r>
            <a:endParaRPr lang="zh-CN" altLang="en-US" sz="2400" b="1" dirty="0"/>
          </a:p>
        </p:txBody>
      </p:sp>
    </p:spTree>
    <p:extLst>
      <p:ext uri="{BB962C8B-B14F-4D97-AF65-F5344CB8AC3E}">
        <p14:creationId xmlns:p14="http://schemas.microsoft.com/office/powerpoint/2010/main" val="3957198888"/>
      </p:ext>
    </p:extLst>
  </p:cSld>
  <p:clrMapOvr>
    <a:masterClrMapping/>
  </p:clrMapOvr>
  <p:transition spd="med">
    <p:random/>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r>
              <a:rPr lang="zh-TW" altLang="en-US" dirty="0" smtClean="0"/>
              <a:t>字符串</a:t>
            </a:r>
            <a:r>
              <a:rPr lang="zh-TW" altLang="en-US" dirty="0"/>
              <a:t>处理</a:t>
            </a:r>
            <a:r>
              <a:rPr lang="zh-TW" altLang="en-US" dirty="0" smtClean="0"/>
              <a:t>函数</a:t>
            </a:r>
            <a:endParaRPr lang="en-US" dirty="0"/>
          </a:p>
        </p:txBody>
      </p:sp>
      <p:sp>
        <p:nvSpPr>
          <p:cNvPr id="3" name="Content Placeholder 2"/>
          <p:cNvSpPr>
            <a:spLocks noGrp="1"/>
          </p:cNvSpPr>
          <p:nvPr>
            <p:ph idx="1"/>
          </p:nvPr>
        </p:nvSpPr>
        <p:spPr>
          <a:xfrm>
            <a:off x="636629" y="1700808"/>
            <a:ext cx="7993063" cy="1080120"/>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p>
            <a:pPr lvl="1"/>
            <a:r>
              <a:rPr lang="en-US" altLang="zh-CN" dirty="0" smtClean="0"/>
              <a:t>6</a:t>
            </a:r>
            <a:r>
              <a:rPr lang="en-US" altLang="zh-CN" dirty="0"/>
              <a:t>)</a:t>
            </a:r>
            <a:r>
              <a:rPr lang="zh-CN" altLang="en-US" dirty="0"/>
              <a:t>字符串复制函数</a:t>
            </a:r>
            <a:endParaRPr lang="en-US" altLang="zh-CN" dirty="0"/>
          </a:p>
          <a:p>
            <a:pPr lvl="2"/>
            <a:r>
              <a:rPr lang="en-US" altLang="zh-CN" dirty="0"/>
              <a:t>strcpy (</a:t>
            </a:r>
            <a:r>
              <a:rPr lang="zh-CN" altLang="en-US" dirty="0"/>
              <a:t>字符数组名</a:t>
            </a:r>
            <a:r>
              <a:rPr lang="en-US" altLang="zh-CN" dirty="0"/>
              <a:t>1</a:t>
            </a:r>
            <a:r>
              <a:rPr lang="zh-CN" altLang="en-US" dirty="0"/>
              <a:t>，字符数组名</a:t>
            </a:r>
            <a:r>
              <a:rPr lang="en-US" altLang="zh-CN" dirty="0"/>
              <a:t>2</a:t>
            </a:r>
            <a:r>
              <a:rPr lang="en-US" altLang="zh-CN" dirty="0" smtClean="0"/>
              <a:t>)</a:t>
            </a:r>
            <a:endParaRPr lang="en-US" altLang="zh-CN"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81</a:t>
            </a:fld>
            <a:endParaRPr lang="en-US" altLang="zh-CN" dirty="0"/>
          </a:p>
        </p:txBody>
      </p:sp>
      <p:sp>
        <p:nvSpPr>
          <p:cNvPr id="9" name="矩形 8"/>
          <p:cNvSpPr/>
          <p:nvPr/>
        </p:nvSpPr>
        <p:spPr>
          <a:xfrm>
            <a:off x="1043608" y="2952761"/>
            <a:ext cx="7416824" cy="1938992"/>
          </a:xfrm>
          <a:prstGeom prst="rect">
            <a:avLst/>
          </a:prstGeom>
        </p:spPr>
        <p:txBody>
          <a:bodyPr wrap="square">
            <a:spAutoFit/>
          </a:bodyPr>
          <a:lstStyle/>
          <a:p>
            <a:r>
              <a:rPr lang="en-US" altLang="zh-CN" sz="2400" b="1" dirty="0"/>
              <a:t>char st1[15],st2[]="Welcome To </a:t>
            </a:r>
            <a:r>
              <a:rPr lang="en-US" altLang="zh-CN" sz="2400" b="1" dirty="0" smtClean="0"/>
              <a:t>Shanghai</a:t>
            </a:r>
            <a:r>
              <a:rPr lang="en-US" altLang="zh-CN" sz="2400" b="1" dirty="0"/>
              <a:t>"; </a:t>
            </a:r>
          </a:p>
          <a:p>
            <a:r>
              <a:rPr lang="en-US" altLang="zh-CN" sz="2400" b="1" dirty="0"/>
              <a:t>strcpy(st1,st2); </a:t>
            </a:r>
          </a:p>
          <a:p>
            <a:r>
              <a:rPr lang="en-US" altLang="zh-CN" sz="2400" b="1" dirty="0"/>
              <a:t>puts(st1); </a:t>
            </a:r>
            <a:endParaRPr lang="en-US" altLang="zh-CN" sz="2400" b="1" dirty="0" smtClean="0"/>
          </a:p>
          <a:p>
            <a:r>
              <a:rPr lang="en-US" altLang="zh-CN" sz="2400" b="1" dirty="0"/>
              <a:t>//</a:t>
            </a:r>
            <a:r>
              <a:rPr lang="zh-CN" altLang="en-US" sz="2400" b="1" dirty="0"/>
              <a:t>输出结果</a:t>
            </a:r>
            <a:r>
              <a:rPr lang="zh-CN" altLang="en-US" sz="2400" b="1" dirty="0" smtClean="0"/>
              <a:t>：</a:t>
            </a:r>
            <a:endParaRPr lang="en-US" altLang="zh-CN" sz="2400" b="1" dirty="0" smtClean="0"/>
          </a:p>
          <a:p>
            <a:r>
              <a:rPr lang="en-US" altLang="zh-CN" sz="2400" b="1" dirty="0"/>
              <a:t>Welcome To Shanghai</a:t>
            </a:r>
            <a:endParaRPr lang="zh-CN" altLang="en-US" sz="2400" b="1" dirty="0"/>
          </a:p>
        </p:txBody>
      </p:sp>
    </p:spTree>
    <p:extLst>
      <p:ext uri="{BB962C8B-B14F-4D97-AF65-F5344CB8AC3E}">
        <p14:creationId xmlns:p14="http://schemas.microsoft.com/office/powerpoint/2010/main" val="620451657"/>
      </p:ext>
    </p:extLst>
  </p:cSld>
  <p:clrMapOvr>
    <a:masterClrMapping/>
  </p:clrMapOvr>
  <p:transition spd="med">
    <p:random/>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r>
              <a:rPr lang="zh-TW" altLang="en-US" dirty="0" smtClean="0"/>
              <a:t>字符串</a:t>
            </a:r>
            <a:r>
              <a:rPr lang="zh-TW" altLang="en-US" dirty="0"/>
              <a:t>处理</a:t>
            </a:r>
            <a:r>
              <a:rPr lang="zh-TW" altLang="en-US" dirty="0" smtClean="0"/>
              <a:t>函数</a:t>
            </a:r>
            <a:endParaRPr lang="en-US" dirty="0"/>
          </a:p>
        </p:txBody>
      </p:sp>
      <p:sp>
        <p:nvSpPr>
          <p:cNvPr id="3" name="Content Placeholder 2"/>
          <p:cNvSpPr>
            <a:spLocks noGrp="1"/>
          </p:cNvSpPr>
          <p:nvPr>
            <p:ph idx="1"/>
          </p:nvPr>
        </p:nvSpPr>
        <p:spPr>
          <a:xfrm>
            <a:off x="755650" y="1700807"/>
            <a:ext cx="8280846" cy="5030193"/>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p>
            <a:pPr lvl="1">
              <a:lnSpc>
                <a:spcPct val="100000"/>
              </a:lnSpc>
            </a:pPr>
            <a:r>
              <a:rPr lang="en-US" altLang="zh-CN" dirty="0"/>
              <a:t>7</a:t>
            </a:r>
            <a:r>
              <a:rPr lang="zh-CN" altLang="en-US" dirty="0"/>
              <a:t>）字符串比较函数</a:t>
            </a:r>
          </a:p>
          <a:p>
            <a:pPr lvl="2"/>
            <a:r>
              <a:rPr lang="en-US" altLang="zh-CN" sz="2400" dirty="0" err="1"/>
              <a:t>strcmp</a:t>
            </a:r>
            <a:r>
              <a:rPr lang="en-US" altLang="zh-CN" sz="2400" dirty="0"/>
              <a:t>(</a:t>
            </a:r>
            <a:r>
              <a:rPr lang="zh-CN" altLang="en-US" sz="2400" dirty="0"/>
              <a:t>字符数组名</a:t>
            </a:r>
            <a:r>
              <a:rPr lang="en-US" altLang="zh-CN" sz="2400" dirty="0"/>
              <a:t>1</a:t>
            </a:r>
            <a:r>
              <a:rPr lang="zh-CN" altLang="en-US" sz="2400" dirty="0"/>
              <a:t>，字符数组名</a:t>
            </a:r>
            <a:r>
              <a:rPr lang="en-US" altLang="zh-CN" sz="2400" dirty="0"/>
              <a:t>2)</a:t>
            </a:r>
          </a:p>
          <a:p>
            <a:pPr lvl="2"/>
            <a:r>
              <a:rPr lang="zh-CN" altLang="en-US" sz="2400" dirty="0"/>
              <a:t>分为以下三种情况：</a:t>
            </a:r>
            <a:r>
              <a:rPr lang="en-US" altLang="zh-CN" sz="2400" dirty="0"/>
              <a:t>  </a:t>
            </a:r>
          </a:p>
          <a:p>
            <a:pPr lvl="3"/>
            <a:r>
              <a:rPr lang="zh-CN" altLang="en-US" sz="2400" dirty="0"/>
              <a:t>字符串</a:t>
            </a:r>
            <a:r>
              <a:rPr lang="en-US" altLang="zh-CN" sz="2400" dirty="0"/>
              <a:t>1</a:t>
            </a:r>
            <a:r>
              <a:rPr lang="zh-CN" altLang="en-US" sz="2400" dirty="0"/>
              <a:t>等于字符串</a:t>
            </a:r>
            <a:r>
              <a:rPr lang="en-US" altLang="zh-CN" sz="2400" dirty="0"/>
              <a:t>2</a:t>
            </a:r>
            <a:r>
              <a:rPr lang="zh-CN" altLang="en-US" sz="2400" dirty="0"/>
              <a:t>，返回值等于</a:t>
            </a:r>
            <a:r>
              <a:rPr lang="en-US" altLang="zh-CN" sz="2400" dirty="0"/>
              <a:t>0</a:t>
            </a:r>
            <a:r>
              <a:rPr lang="zh-CN" altLang="en-US" sz="2400" dirty="0"/>
              <a:t>；</a:t>
            </a:r>
          </a:p>
          <a:p>
            <a:pPr lvl="3"/>
            <a:r>
              <a:rPr lang="zh-CN" altLang="en-US" sz="2400" dirty="0"/>
              <a:t>字符串</a:t>
            </a:r>
            <a:r>
              <a:rPr lang="en-US" altLang="zh-CN" sz="2400" dirty="0"/>
              <a:t>1</a:t>
            </a:r>
            <a:r>
              <a:rPr lang="zh-CN" altLang="en-US" sz="2400" dirty="0"/>
              <a:t>大于字符串</a:t>
            </a:r>
            <a:r>
              <a:rPr lang="en-US" altLang="zh-CN" sz="2400" dirty="0"/>
              <a:t>2</a:t>
            </a:r>
            <a:r>
              <a:rPr lang="zh-CN" altLang="en-US" sz="2400" dirty="0"/>
              <a:t>，返回值大于</a:t>
            </a:r>
            <a:r>
              <a:rPr lang="en-US" altLang="zh-CN" sz="2400" dirty="0"/>
              <a:t>0</a:t>
            </a:r>
            <a:r>
              <a:rPr lang="zh-CN" altLang="en-US" sz="2400" dirty="0"/>
              <a:t>；</a:t>
            </a:r>
            <a:endParaRPr lang="en-US" altLang="zh-CN" sz="2400" dirty="0"/>
          </a:p>
          <a:p>
            <a:pPr lvl="3"/>
            <a:r>
              <a:rPr lang="zh-CN" altLang="en-US" sz="2400" dirty="0"/>
              <a:t>字符串</a:t>
            </a:r>
            <a:r>
              <a:rPr lang="en-US" altLang="zh-CN" sz="2400" dirty="0"/>
              <a:t>1</a:t>
            </a:r>
            <a:r>
              <a:rPr lang="zh-CN" altLang="en-US" sz="2400" dirty="0"/>
              <a:t>小于字符串</a:t>
            </a:r>
            <a:r>
              <a:rPr lang="en-US" altLang="zh-CN" sz="2400" dirty="0"/>
              <a:t>2</a:t>
            </a:r>
            <a:r>
              <a:rPr lang="zh-CN" altLang="en-US" sz="2400" dirty="0"/>
              <a:t>，返回值小于</a:t>
            </a:r>
            <a:r>
              <a:rPr lang="en-US" altLang="zh-CN" sz="2400" dirty="0"/>
              <a:t>0</a:t>
            </a:r>
            <a:r>
              <a:rPr lang="zh-CN" altLang="en-US" sz="2400" dirty="0"/>
              <a:t>。</a:t>
            </a:r>
            <a:endParaRPr lang="en-US" altLang="zh-CN" sz="2400" dirty="0"/>
          </a:p>
          <a:p>
            <a:pPr lvl="2"/>
            <a:r>
              <a:rPr lang="zh-CN" altLang="en-US" sz="2400" dirty="0"/>
              <a:t>字符串比较是按照每个字符所对应</a:t>
            </a:r>
            <a:r>
              <a:rPr lang="en-US" altLang="zh-CN" sz="2400" dirty="0"/>
              <a:t>ASCII</a:t>
            </a:r>
            <a:r>
              <a:rPr lang="zh-CN" altLang="en-US" sz="2400" dirty="0"/>
              <a:t>值的大小进行比较的，而不是字符串长度的比较。</a:t>
            </a:r>
            <a:endParaRPr lang="en-US" altLang="zh-CN" sz="2400" dirty="0"/>
          </a:p>
          <a:p>
            <a:pPr lvl="3"/>
            <a:r>
              <a:rPr lang="en-US" altLang="zh-CN" sz="2400" dirty="0"/>
              <a:t>char </a:t>
            </a:r>
            <a:r>
              <a:rPr lang="en-US" altLang="zh-CN" sz="2400" dirty="0" smtClean="0"/>
              <a:t>st1[]="</a:t>
            </a:r>
            <a:r>
              <a:rPr lang="en-US" altLang="zh-CN" sz="2400" dirty="0"/>
              <a:t>ab</a:t>
            </a:r>
            <a:r>
              <a:rPr lang="en-US" altLang="zh-CN" sz="2400" dirty="0">
                <a:solidFill>
                  <a:srgbClr val="FF0000"/>
                </a:solidFill>
              </a:rPr>
              <a:t>c</a:t>
            </a:r>
            <a:r>
              <a:rPr lang="en-US" altLang="zh-CN" sz="2400" dirty="0"/>
              <a:t>d",</a:t>
            </a:r>
            <a:r>
              <a:rPr lang="en-US" altLang="zh-CN" sz="2400" dirty="0" smtClean="0"/>
              <a:t>st2[]="</a:t>
            </a:r>
            <a:r>
              <a:rPr lang="en-US" altLang="zh-CN" sz="2400" dirty="0" err="1"/>
              <a:t>ab</a:t>
            </a:r>
            <a:r>
              <a:rPr lang="en-US" altLang="zh-CN" sz="2400" dirty="0" err="1">
                <a:solidFill>
                  <a:srgbClr val="FF0000"/>
                </a:solidFill>
              </a:rPr>
              <a:t>C</a:t>
            </a:r>
            <a:r>
              <a:rPr lang="en-US" altLang="zh-CN" sz="2400" dirty="0" err="1"/>
              <a:t>d</a:t>
            </a:r>
            <a:r>
              <a:rPr lang="en-US" altLang="zh-CN" sz="2400" dirty="0"/>
              <a:t>"; </a:t>
            </a:r>
            <a:r>
              <a:rPr lang="en-US" altLang="zh-CN" sz="2400" dirty="0" err="1"/>
              <a:t>strcmp</a:t>
            </a:r>
            <a:r>
              <a:rPr lang="en-US" altLang="zh-CN" sz="2400" dirty="0"/>
              <a:t>(st1,st2); </a:t>
            </a:r>
          </a:p>
          <a:p>
            <a:pPr lvl="3"/>
            <a:r>
              <a:rPr lang="en-US" altLang="zh-CN" sz="2400" dirty="0"/>
              <a:t>char </a:t>
            </a:r>
            <a:r>
              <a:rPr lang="en-US" altLang="zh-CN" sz="2400" dirty="0" smtClean="0"/>
              <a:t>st1[]="</a:t>
            </a:r>
            <a:r>
              <a:rPr lang="en-US" altLang="zh-CN" sz="2400" dirty="0">
                <a:solidFill>
                  <a:srgbClr val="FF0000"/>
                </a:solidFill>
              </a:rPr>
              <a:t>1</a:t>
            </a:r>
            <a:r>
              <a:rPr lang="en-US" altLang="zh-CN" sz="2400" dirty="0"/>
              <a:t>23456",</a:t>
            </a:r>
            <a:r>
              <a:rPr lang="en-US" altLang="zh-CN" sz="2400" dirty="0" smtClean="0"/>
              <a:t>st2[]="</a:t>
            </a:r>
            <a:r>
              <a:rPr lang="en-US" altLang="zh-CN" sz="2400" dirty="0" err="1">
                <a:solidFill>
                  <a:srgbClr val="FF0000"/>
                </a:solidFill>
              </a:rPr>
              <a:t>a</a:t>
            </a:r>
            <a:r>
              <a:rPr lang="en-US" altLang="zh-CN" sz="2400" dirty="0" err="1"/>
              <a:t>bcd</a:t>
            </a:r>
            <a:r>
              <a:rPr lang="en-US" altLang="zh-CN" sz="2400" dirty="0"/>
              <a:t>"; </a:t>
            </a:r>
            <a:r>
              <a:rPr lang="en-US" altLang="zh-CN" sz="2400" dirty="0" err="1"/>
              <a:t>strcmp</a:t>
            </a:r>
            <a:r>
              <a:rPr lang="en-US" altLang="zh-CN" sz="2400" dirty="0"/>
              <a:t>(st1,st2); </a:t>
            </a:r>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82</a:t>
            </a:fld>
            <a:endParaRPr lang="en-US" altLang="zh-CN" dirty="0"/>
          </a:p>
        </p:txBody>
      </p:sp>
    </p:spTree>
    <p:extLst>
      <p:ext uri="{BB962C8B-B14F-4D97-AF65-F5344CB8AC3E}">
        <p14:creationId xmlns:p14="http://schemas.microsoft.com/office/powerpoint/2010/main" val="1970739608"/>
      </p:ext>
    </p:extLst>
  </p:cSld>
  <p:clrMapOvr>
    <a:masterClrMapping/>
  </p:clrMapOvr>
  <p:transition spd="med">
    <p:random/>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r>
              <a:rPr lang="zh-TW" altLang="en-US" dirty="0" smtClean="0"/>
              <a:t>字符串</a:t>
            </a:r>
            <a:r>
              <a:rPr lang="zh-TW" altLang="en-US" dirty="0"/>
              <a:t>处理</a:t>
            </a:r>
            <a:r>
              <a:rPr lang="zh-TW" altLang="en-US" dirty="0" smtClean="0"/>
              <a:t>函数</a:t>
            </a:r>
            <a:endParaRPr lang="en-US" dirty="0"/>
          </a:p>
        </p:txBody>
      </p:sp>
      <p:sp>
        <p:nvSpPr>
          <p:cNvPr id="3" name="Content Placeholder 2"/>
          <p:cNvSpPr>
            <a:spLocks noGrp="1"/>
          </p:cNvSpPr>
          <p:nvPr>
            <p:ph idx="1"/>
          </p:nvPr>
        </p:nvSpPr>
        <p:spPr>
          <a:xfrm>
            <a:off x="671513" y="1700807"/>
            <a:ext cx="8364983" cy="4607918"/>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p>
            <a:pPr lvl="1">
              <a:lnSpc>
                <a:spcPct val="100000"/>
              </a:lnSpc>
            </a:pPr>
            <a:r>
              <a:rPr lang="en-US" altLang="zh-CN" dirty="0" smtClean="0"/>
              <a:t> 8)</a:t>
            </a:r>
            <a:r>
              <a:rPr lang="zh-CN" altLang="en-US" dirty="0" smtClean="0"/>
              <a:t>字符串</a:t>
            </a:r>
            <a:r>
              <a:rPr lang="zh-CN" altLang="en-US" dirty="0"/>
              <a:t>长度函数</a:t>
            </a:r>
            <a:endParaRPr lang="en-US" altLang="zh-CN" dirty="0"/>
          </a:p>
          <a:p>
            <a:pPr lvl="2">
              <a:lnSpc>
                <a:spcPct val="100000"/>
              </a:lnSpc>
            </a:pPr>
            <a:r>
              <a:rPr lang="en-US" altLang="zh-CN" sz="2400" dirty="0" err="1"/>
              <a:t>strlen</a:t>
            </a:r>
            <a:r>
              <a:rPr lang="en-US" altLang="zh-CN" sz="2400" dirty="0"/>
              <a:t>(</a:t>
            </a:r>
            <a:r>
              <a:rPr lang="zh-CN" altLang="en-US" sz="2400" dirty="0"/>
              <a:t>字符数组名</a:t>
            </a:r>
            <a:r>
              <a:rPr lang="en-US" altLang="zh-CN" sz="2400" dirty="0"/>
              <a:t>) </a:t>
            </a:r>
          </a:p>
          <a:p>
            <a:pPr lvl="2">
              <a:lnSpc>
                <a:spcPct val="100000"/>
              </a:lnSpc>
            </a:pPr>
            <a:r>
              <a:rPr lang="zh-CN" altLang="en-US" sz="2400" dirty="0"/>
              <a:t>获得字符串的实际长度（不含字符串结束标志</a:t>
            </a:r>
            <a:r>
              <a:rPr lang="en-US" altLang="zh-CN" sz="2400" dirty="0"/>
              <a:t>'\0'</a:t>
            </a:r>
            <a:r>
              <a:rPr lang="zh-CN" altLang="en-US" sz="2400" dirty="0"/>
              <a:t>），并作为函数返回值。</a:t>
            </a:r>
            <a:endParaRPr lang="en-US" altLang="zh-CN" sz="2400" dirty="0"/>
          </a:p>
          <a:p>
            <a:pPr lvl="1">
              <a:lnSpc>
                <a:spcPct val="100000"/>
              </a:lnSpc>
            </a:pPr>
            <a:r>
              <a:rPr lang="en-US" altLang="zh-CN" dirty="0" smtClean="0"/>
              <a:t>9)</a:t>
            </a:r>
            <a:r>
              <a:rPr lang="zh-CN" altLang="en-US" dirty="0" smtClean="0"/>
              <a:t>字符串</a:t>
            </a:r>
            <a:r>
              <a:rPr lang="zh-CN" altLang="en-US" dirty="0"/>
              <a:t>逆序输出函数</a:t>
            </a:r>
          </a:p>
          <a:p>
            <a:pPr lvl="2">
              <a:lnSpc>
                <a:spcPct val="100000"/>
              </a:lnSpc>
            </a:pPr>
            <a:r>
              <a:rPr lang="en-US" altLang="zh-CN" sz="2400" dirty="0" err="1" smtClean="0">
                <a:solidFill>
                  <a:srgbClr val="FF0000"/>
                </a:solidFill>
              </a:rPr>
              <a:t>strrev</a:t>
            </a:r>
            <a:r>
              <a:rPr lang="en-US" altLang="zh-CN" sz="2400" dirty="0" smtClean="0"/>
              <a:t> </a:t>
            </a:r>
            <a:r>
              <a:rPr lang="en-US" altLang="zh-CN" sz="2400" dirty="0"/>
              <a:t>(</a:t>
            </a:r>
            <a:r>
              <a:rPr lang="zh-CN" altLang="en-US" sz="2400" dirty="0"/>
              <a:t>字符数组名</a:t>
            </a:r>
            <a:r>
              <a:rPr lang="en-US" altLang="zh-CN" sz="2400" dirty="0"/>
              <a:t>) </a:t>
            </a:r>
            <a:endParaRPr lang="en-US" altLang="zh-CN" sz="2400" dirty="0" smtClean="0"/>
          </a:p>
          <a:p>
            <a:pPr marL="0" indent="0">
              <a:buNone/>
            </a:pPr>
            <a:r>
              <a:rPr lang="en-US" altLang="zh-CN" sz="2400" dirty="0" smtClean="0"/>
              <a:t>       char </a:t>
            </a:r>
            <a:r>
              <a:rPr lang="en-US" altLang="zh-CN" sz="2400" dirty="0" err="1" smtClean="0"/>
              <a:t>st</a:t>
            </a:r>
            <a:r>
              <a:rPr lang="en-US" altLang="zh-CN" sz="2400" dirty="0" smtClean="0"/>
              <a:t>[]="Welcome"; </a:t>
            </a:r>
          </a:p>
          <a:p>
            <a:pPr marL="0" indent="0">
              <a:buNone/>
            </a:pPr>
            <a:r>
              <a:rPr lang="en-US" altLang="zh-CN" sz="2400" dirty="0" smtClean="0"/>
              <a:t>       </a:t>
            </a:r>
            <a:r>
              <a:rPr lang="en-US" altLang="zh-CN" sz="2400" dirty="0" err="1"/>
              <a:t>printf</a:t>
            </a:r>
            <a:r>
              <a:rPr lang="en-US" altLang="zh-CN" sz="2400" dirty="0"/>
              <a:t>("%</a:t>
            </a:r>
            <a:r>
              <a:rPr lang="en-US" altLang="zh-CN" sz="2400" dirty="0" smtClean="0"/>
              <a:t>d\n",</a:t>
            </a:r>
            <a:r>
              <a:rPr lang="en-US" altLang="zh-CN" sz="2400" dirty="0" err="1"/>
              <a:t>strlen</a:t>
            </a:r>
            <a:r>
              <a:rPr lang="en-US" altLang="zh-CN" sz="2400" dirty="0"/>
              <a:t>(</a:t>
            </a:r>
            <a:r>
              <a:rPr lang="en-US" altLang="zh-CN" sz="2400" dirty="0" err="1"/>
              <a:t>st</a:t>
            </a:r>
            <a:r>
              <a:rPr lang="en-US" altLang="zh-CN" sz="2400" dirty="0"/>
              <a:t>));</a:t>
            </a:r>
            <a:endParaRPr lang="en-US" altLang="zh-CN" sz="2400" dirty="0" smtClean="0"/>
          </a:p>
          <a:p>
            <a:pPr marL="0" indent="0">
              <a:buNone/>
            </a:pPr>
            <a:r>
              <a:rPr lang="en-US" altLang="zh-CN" sz="2400" dirty="0"/>
              <a:t> </a:t>
            </a:r>
            <a:r>
              <a:rPr lang="en-US" altLang="zh-CN" sz="2400" dirty="0" smtClean="0"/>
              <a:t>      </a:t>
            </a:r>
            <a:r>
              <a:rPr lang="en-US" altLang="zh-CN" sz="2400" dirty="0" err="1" smtClean="0"/>
              <a:t>strrev</a:t>
            </a:r>
            <a:r>
              <a:rPr lang="en-US" altLang="zh-CN" sz="2400" dirty="0" smtClean="0"/>
              <a:t>(</a:t>
            </a:r>
            <a:r>
              <a:rPr lang="en-US" altLang="zh-CN" sz="2400" dirty="0" err="1" smtClean="0"/>
              <a:t>st</a:t>
            </a:r>
            <a:r>
              <a:rPr lang="en-US" altLang="zh-CN" sz="2400" dirty="0" smtClean="0"/>
              <a:t>); </a:t>
            </a:r>
            <a:endParaRPr lang="en-US" altLang="zh-CN" sz="2400" dirty="0"/>
          </a:p>
          <a:p>
            <a:pPr marL="0" indent="0">
              <a:buNone/>
            </a:pPr>
            <a:r>
              <a:rPr lang="en-US" altLang="zh-CN" sz="2400" dirty="0" smtClean="0"/>
              <a:t>       puts(</a:t>
            </a:r>
            <a:r>
              <a:rPr lang="en-US" altLang="zh-CN" sz="2400" dirty="0" err="1" smtClean="0"/>
              <a:t>st</a:t>
            </a:r>
            <a:r>
              <a:rPr lang="en-US" altLang="zh-CN" sz="2400" dirty="0" smtClean="0"/>
              <a:t>); </a:t>
            </a:r>
          </a:p>
          <a:p>
            <a:pPr lvl="2">
              <a:lnSpc>
                <a:spcPct val="100000"/>
              </a:lnSpc>
            </a:pPr>
            <a:endParaRPr lang="en-US" altLang="zh-CN" sz="2400"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83</a:t>
            </a:fld>
            <a:endParaRPr lang="en-US" altLang="zh-CN" dirty="0"/>
          </a:p>
        </p:txBody>
      </p:sp>
    </p:spTree>
    <p:extLst>
      <p:ext uri="{BB962C8B-B14F-4D97-AF65-F5344CB8AC3E}">
        <p14:creationId xmlns:p14="http://schemas.microsoft.com/office/powerpoint/2010/main" val="4145696829"/>
      </p:ext>
    </p:extLst>
  </p:cSld>
  <p:clrMapOvr>
    <a:masterClrMapping/>
  </p:clrMapOvr>
  <p:transition spd="med">
    <p:random/>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r>
              <a:rPr lang="zh-TW" altLang="en-US" dirty="0" smtClean="0"/>
              <a:t>字符串</a:t>
            </a:r>
            <a:r>
              <a:rPr lang="zh-TW" altLang="en-US" dirty="0"/>
              <a:t>处理</a:t>
            </a:r>
            <a:r>
              <a:rPr lang="zh-TW" altLang="en-US" dirty="0" smtClean="0"/>
              <a:t>函数</a:t>
            </a:r>
            <a:endParaRPr lang="en-US" dirty="0"/>
          </a:p>
        </p:txBody>
      </p:sp>
      <p:sp>
        <p:nvSpPr>
          <p:cNvPr id="3" name="Content Placeholder 2"/>
          <p:cNvSpPr>
            <a:spLocks noGrp="1"/>
          </p:cNvSpPr>
          <p:nvPr>
            <p:ph idx="1"/>
          </p:nvPr>
        </p:nvSpPr>
        <p:spPr>
          <a:xfrm>
            <a:off x="671513" y="1700807"/>
            <a:ext cx="5700687" cy="1872209"/>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p>
            <a:pPr lvl="1">
              <a:lnSpc>
                <a:spcPct val="100000"/>
              </a:lnSpc>
            </a:pPr>
            <a:r>
              <a:rPr lang="en-US" altLang="zh-CN" dirty="0" smtClean="0"/>
              <a:t>10)</a:t>
            </a:r>
            <a:r>
              <a:rPr lang="zh-CN" altLang="en-US" dirty="0" smtClean="0"/>
              <a:t>字符串</a:t>
            </a:r>
            <a:r>
              <a:rPr lang="zh-CN" altLang="en-US" dirty="0"/>
              <a:t>转数字</a:t>
            </a:r>
            <a:endParaRPr lang="en-US" altLang="zh-CN" dirty="0"/>
          </a:p>
          <a:p>
            <a:pPr lvl="2"/>
            <a:r>
              <a:rPr lang="en-US" altLang="zh-CN" sz="2400" dirty="0" err="1"/>
              <a:t>atoi</a:t>
            </a:r>
            <a:r>
              <a:rPr lang="en-US" altLang="zh-CN" sz="2400" dirty="0"/>
              <a:t>(</a:t>
            </a:r>
            <a:r>
              <a:rPr lang="zh-CN" altLang="en-US" sz="2400" dirty="0"/>
              <a:t>字符数组名</a:t>
            </a:r>
            <a:r>
              <a:rPr lang="en-US" altLang="zh-CN" sz="2400" dirty="0"/>
              <a:t>) </a:t>
            </a:r>
          </a:p>
          <a:p>
            <a:pPr lvl="1">
              <a:lnSpc>
                <a:spcPct val="100000"/>
              </a:lnSpc>
            </a:pPr>
            <a:r>
              <a:rPr lang="en-US" altLang="zh-CN" dirty="0" smtClean="0"/>
              <a:t>11)</a:t>
            </a:r>
            <a:r>
              <a:rPr lang="zh-CN" altLang="en-US" dirty="0" smtClean="0"/>
              <a:t>数字</a:t>
            </a:r>
            <a:r>
              <a:rPr lang="zh-CN" altLang="en-US" dirty="0"/>
              <a:t>转字符串</a:t>
            </a:r>
            <a:endParaRPr lang="en-US" altLang="zh-CN" dirty="0"/>
          </a:p>
          <a:p>
            <a:pPr lvl="2"/>
            <a:r>
              <a:rPr lang="en-US" altLang="zh-CN" sz="2400" dirty="0" err="1"/>
              <a:t>itoa</a:t>
            </a:r>
            <a:r>
              <a:rPr lang="en-US" altLang="zh-CN" sz="2400" dirty="0"/>
              <a:t> (</a:t>
            </a:r>
            <a:r>
              <a:rPr lang="zh-CN" altLang="en-US" sz="2400" dirty="0"/>
              <a:t>整形变量</a:t>
            </a:r>
            <a:r>
              <a:rPr lang="en-US" altLang="zh-CN" sz="2400" dirty="0"/>
              <a:t>,</a:t>
            </a:r>
            <a:r>
              <a:rPr lang="zh-CN" altLang="en-US" sz="2400" dirty="0"/>
              <a:t>字符数组</a:t>
            </a:r>
            <a:r>
              <a:rPr lang="zh-CN" altLang="en-US" sz="2400" dirty="0" smtClean="0"/>
              <a:t>名</a:t>
            </a:r>
            <a:r>
              <a:rPr lang="en-US" altLang="zh-CN" sz="2400" dirty="0" smtClean="0"/>
              <a:t>,</a:t>
            </a:r>
            <a:r>
              <a:rPr lang="zh-CN" altLang="en-US" sz="2400" dirty="0" smtClean="0"/>
              <a:t>进制</a:t>
            </a:r>
            <a:r>
              <a:rPr lang="en-US" altLang="zh-CN" sz="2400" dirty="0" smtClean="0"/>
              <a:t>) </a:t>
            </a:r>
            <a:endParaRPr lang="en-US" altLang="zh-CN" sz="2400"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84</a:t>
            </a:fld>
            <a:endParaRPr lang="en-US" altLang="zh-CN" dirty="0"/>
          </a:p>
        </p:txBody>
      </p:sp>
      <p:sp>
        <p:nvSpPr>
          <p:cNvPr id="5" name="矩形 4"/>
          <p:cNvSpPr/>
          <p:nvPr/>
        </p:nvSpPr>
        <p:spPr>
          <a:xfrm>
            <a:off x="1763688" y="3501008"/>
            <a:ext cx="3738264" cy="3170099"/>
          </a:xfrm>
          <a:prstGeom prst="rect">
            <a:avLst/>
          </a:prstGeom>
        </p:spPr>
        <p:txBody>
          <a:bodyPr wrap="square">
            <a:spAutoFit/>
          </a:bodyPr>
          <a:lstStyle/>
          <a:p>
            <a:r>
              <a:rPr lang="zh-CN" altLang="en-US" sz="2000" b="1" dirty="0">
                <a:effectLst>
                  <a:outerShdw blurRad="38100" dist="38100" dir="2700000" algn="tl">
                    <a:srgbClr val="000000">
                      <a:alpha val="43137"/>
                    </a:srgbClr>
                  </a:outerShdw>
                </a:effectLst>
              </a:rPr>
              <a:t>#include &lt;stdio.h&gt;</a:t>
            </a:r>
          </a:p>
          <a:p>
            <a:r>
              <a:rPr lang="zh-CN" altLang="en-US" sz="2000" b="1" dirty="0">
                <a:effectLst>
                  <a:outerShdw blurRad="38100" dist="38100" dir="2700000" algn="tl">
                    <a:srgbClr val="000000">
                      <a:alpha val="43137"/>
                    </a:srgbClr>
                  </a:outerShdw>
                </a:effectLst>
              </a:rPr>
              <a:t>#include &lt;string.h&gt;</a:t>
            </a:r>
          </a:p>
          <a:p>
            <a:r>
              <a:rPr lang="zh-CN" altLang="en-US" sz="2000" b="1" dirty="0">
                <a:effectLst>
                  <a:outerShdw blurRad="38100" dist="38100" dir="2700000" algn="tl">
                    <a:srgbClr val="000000">
                      <a:alpha val="43137"/>
                    </a:srgbClr>
                  </a:outerShdw>
                </a:effectLst>
              </a:rPr>
              <a:t>int main()</a:t>
            </a:r>
          </a:p>
          <a:p>
            <a:r>
              <a:rPr lang="zh-CN" altLang="en-US" sz="2000" b="1" dirty="0">
                <a:effectLst>
                  <a:outerShdw blurRad="38100" dist="38100" dir="2700000" algn="tl">
                    <a:srgbClr val="000000">
                      <a:alpha val="43137"/>
                    </a:srgbClr>
                  </a:outerShdw>
                </a:effectLst>
              </a:rPr>
              <a:t>{   char </a:t>
            </a:r>
            <a:r>
              <a:rPr lang="zh-CN" altLang="en-US" sz="2000" b="1" dirty="0" smtClean="0">
                <a:effectLst>
                  <a:outerShdw blurRad="38100" dist="38100" dir="2700000" algn="tl">
                    <a:srgbClr val="000000">
                      <a:alpha val="43137"/>
                    </a:srgbClr>
                  </a:outerShdw>
                </a:effectLst>
              </a:rPr>
              <a:t>st</a:t>
            </a:r>
            <a:r>
              <a:rPr lang="zh-CN" altLang="en-US" sz="2000" b="1" dirty="0">
                <a:effectLst>
                  <a:outerShdw blurRad="38100" dist="38100" dir="2700000" algn="tl">
                    <a:srgbClr val="000000">
                      <a:alpha val="43137"/>
                    </a:srgbClr>
                  </a:outerShdw>
                </a:effectLst>
              </a:rPr>
              <a:t>[]="123</a:t>
            </a:r>
            <a:r>
              <a:rPr lang="zh-CN" altLang="en-US" sz="2000" b="1" dirty="0" smtClean="0">
                <a:effectLst>
                  <a:outerShdw blurRad="38100" dist="38100" dir="2700000" algn="tl">
                    <a:srgbClr val="000000">
                      <a:alpha val="43137"/>
                    </a:srgbClr>
                  </a:outerShdw>
                </a:effectLst>
              </a:rPr>
              <a:t>"</a:t>
            </a:r>
            <a:r>
              <a:rPr lang="zh-CN" altLang="en-US" sz="2000" b="1" dirty="0">
                <a:effectLst>
                  <a:outerShdw blurRad="38100" dist="38100" dir="2700000" algn="tl">
                    <a:srgbClr val="000000">
                      <a:alpha val="43137"/>
                    </a:srgbClr>
                  </a:outerShdw>
                </a:effectLst>
              </a:rPr>
              <a:t>,</a:t>
            </a:r>
            <a:r>
              <a:rPr lang="zh-CN" altLang="en-US" sz="2000" b="1" dirty="0" smtClean="0">
                <a:effectLst>
                  <a:outerShdw blurRad="38100" dist="38100" dir="2700000" algn="tl">
                    <a:srgbClr val="000000">
                      <a:alpha val="43137"/>
                    </a:srgbClr>
                  </a:outerShdw>
                </a:effectLst>
              </a:rPr>
              <a:t>s</a:t>
            </a:r>
            <a:r>
              <a:rPr lang="zh-CN" altLang="en-US" sz="2000" b="1" dirty="0">
                <a:effectLst>
                  <a:outerShdw blurRad="38100" dist="38100" dir="2700000" algn="tl">
                    <a:srgbClr val="000000">
                      <a:alpha val="43137"/>
                    </a:srgbClr>
                  </a:outerShdw>
                </a:effectLst>
              </a:rPr>
              <a:t>[5</a:t>
            </a:r>
            <a:r>
              <a:rPr lang="zh-CN" altLang="en-US" sz="2000" b="1" dirty="0" smtClean="0">
                <a:effectLst>
                  <a:outerShdw blurRad="38100" dist="38100" dir="2700000" algn="tl">
                    <a:srgbClr val="000000">
                      <a:alpha val="43137"/>
                    </a:srgbClr>
                  </a:outerShdw>
                </a:effectLst>
              </a:rPr>
              <a:t>];</a:t>
            </a:r>
            <a:endParaRPr lang="zh-CN" altLang="en-US" sz="2000" b="1" dirty="0">
              <a:effectLst>
                <a:outerShdw blurRad="38100" dist="38100" dir="2700000" algn="tl">
                  <a:srgbClr val="000000">
                    <a:alpha val="43137"/>
                  </a:srgbClr>
                </a:outerShdw>
              </a:effectLst>
            </a:endParaRPr>
          </a:p>
          <a:p>
            <a:r>
              <a:rPr lang="zh-CN" altLang="en-US" sz="2000" b="1" dirty="0">
                <a:effectLst>
                  <a:outerShdw blurRad="38100" dist="38100" dir="2700000" algn="tl">
                    <a:srgbClr val="000000">
                      <a:alpha val="43137"/>
                    </a:srgbClr>
                  </a:outerShdw>
                </a:effectLst>
              </a:rPr>
              <a:t>    int i=456;</a:t>
            </a:r>
          </a:p>
          <a:p>
            <a:r>
              <a:rPr lang="zh-CN" altLang="en-US" sz="2000" b="1" dirty="0">
                <a:effectLst>
                  <a:outerShdw blurRad="38100" dist="38100" dir="2700000" algn="tl">
                    <a:srgbClr val="000000">
                      <a:alpha val="43137"/>
                    </a:srgbClr>
                  </a:outerShdw>
                </a:effectLst>
              </a:rPr>
              <a:t>    printf("%d\n",atoi(st));</a:t>
            </a:r>
          </a:p>
          <a:p>
            <a:r>
              <a:rPr lang="zh-CN" altLang="en-US" sz="2000" b="1" dirty="0">
                <a:effectLst>
                  <a:outerShdw blurRad="38100" dist="38100" dir="2700000" algn="tl">
                    <a:srgbClr val="000000">
                      <a:alpha val="43137"/>
                    </a:srgbClr>
                  </a:outerShdw>
                </a:effectLst>
              </a:rPr>
              <a:t>    itoa(i,s,10);</a:t>
            </a:r>
          </a:p>
          <a:p>
            <a:r>
              <a:rPr lang="zh-CN" altLang="en-US" sz="2000" b="1" dirty="0">
                <a:effectLst>
                  <a:outerShdw blurRad="38100" dist="38100" dir="2700000" algn="tl">
                    <a:srgbClr val="000000">
                      <a:alpha val="43137"/>
                    </a:srgbClr>
                  </a:outerShdw>
                </a:effectLst>
              </a:rPr>
              <a:t>    puts(s);</a:t>
            </a:r>
          </a:p>
          <a:p>
            <a:r>
              <a:rPr lang="zh-CN" altLang="en-US" sz="2000" b="1" dirty="0">
                <a:effectLst>
                  <a:outerShdw blurRad="38100" dist="38100" dir="2700000" algn="tl">
                    <a:srgbClr val="000000">
                      <a:alpha val="43137"/>
                    </a:srgbClr>
                  </a:outerShdw>
                </a:effectLst>
              </a:rPr>
              <a:t>    return 0;</a:t>
            </a:r>
          </a:p>
          <a:p>
            <a:r>
              <a:rPr lang="zh-CN" altLang="en-US" sz="2000" b="1"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3291081303"/>
      </p:ext>
    </p:extLst>
  </p:cSld>
  <p:clrMapOvr>
    <a:masterClrMapping/>
  </p:clrMapOvr>
  <p:transition spd="med">
    <p:random/>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4.3.3</a:t>
            </a:r>
            <a:r>
              <a:rPr lang="zh-CN" altLang="en-US" dirty="0" smtClean="0"/>
              <a:t>字符串</a:t>
            </a:r>
            <a:r>
              <a:rPr lang="zh-CN" altLang="en-US" dirty="0"/>
              <a:t>的检索、插入和</a:t>
            </a:r>
            <a:r>
              <a:rPr lang="zh-CN" altLang="en-US" dirty="0" smtClean="0"/>
              <a:t>删除</a:t>
            </a:r>
            <a:endParaRPr lang="en-US" dirty="0"/>
          </a:p>
        </p:txBody>
      </p:sp>
      <p:sp>
        <p:nvSpPr>
          <p:cNvPr id="3" name="Content Placeholder 2"/>
          <p:cNvSpPr>
            <a:spLocks noGrp="1"/>
          </p:cNvSpPr>
          <p:nvPr>
            <p:ph idx="1"/>
          </p:nvPr>
        </p:nvSpPr>
        <p:spPr>
          <a:xfrm>
            <a:off x="755650" y="1700213"/>
            <a:ext cx="7993063" cy="5157787"/>
          </a:xfrm>
        </p:spPr>
        <p:txBody>
          <a:bodyPr/>
          <a:lstStyle/>
          <a:p>
            <a:r>
              <a:rPr lang="en-US" altLang="zh-CN" dirty="0" smtClean="0"/>
              <a:t>【</a:t>
            </a:r>
            <a:r>
              <a:rPr lang="zh-CN" altLang="en-US" dirty="0"/>
              <a:t>例</a:t>
            </a:r>
            <a:r>
              <a:rPr lang="en-US" altLang="zh-CN" dirty="0"/>
              <a:t>4-15】</a:t>
            </a:r>
            <a:r>
              <a:rPr lang="zh-CN" altLang="en-US" dirty="0"/>
              <a:t>输入以回车符结束的字符串（少于</a:t>
            </a:r>
            <a:r>
              <a:rPr lang="en-US" altLang="zh-CN" dirty="0"/>
              <a:t>80</a:t>
            </a:r>
            <a:r>
              <a:rPr lang="zh-CN" altLang="en-US" dirty="0"/>
              <a:t>个字符），统计其中数字字符的个数。</a:t>
            </a:r>
          </a:p>
          <a:p>
            <a:pPr lvl="1"/>
            <a:r>
              <a:rPr lang="zh-CN" altLang="en-US" dirty="0"/>
              <a:t>分析：根据输入的数据判断是否在</a:t>
            </a:r>
            <a:r>
              <a:rPr lang="en-US" altLang="zh-CN" dirty="0"/>
              <a:t>[0,9]</a:t>
            </a:r>
            <a:r>
              <a:rPr lang="zh-CN" altLang="en-US" dirty="0"/>
              <a:t>区间内</a:t>
            </a:r>
            <a:r>
              <a:rPr lang="zh-CN" altLang="en-US" dirty="0" smtClean="0"/>
              <a:t>。</a:t>
            </a:r>
            <a:endParaRPr lang="en-US" altLang="zh-CN" dirty="0" smtClean="0"/>
          </a:p>
          <a:p>
            <a:pPr lvl="1"/>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85</a:t>
            </a:fld>
            <a:endParaRPr lang="en-US" altLang="zh-CN" dirty="0"/>
          </a:p>
        </p:txBody>
      </p:sp>
    </p:spTree>
    <p:extLst>
      <p:ext uri="{BB962C8B-B14F-4D97-AF65-F5344CB8AC3E}">
        <p14:creationId xmlns:p14="http://schemas.microsoft.com/office/powerpoint/2010/main" val="1243994620"/>
      </p:ext>
    </p:extLst>
  </p:cSld>
  <p:clrMapOvr>
    <a:masterClrMapping/>
  </p:clrMapOvr>
  <p:transition spd="med">
    <p:random/>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1" y="144016"/>
            <a:ext cx="6480720" cy="6597352"/>
          </a:xfrm>
        </p:spPr>
        <p:txBody>
          <a:bodyPr/>
          <a:lstStyle/>
          <a:p>
            <a:pPr marL="0" indent="0">
              <a:buNone/>
            </a:pPr>
            <a:r>
              <a:rPr lang="en-US" altLang="zh-CN" sz="2400" dirty="0">
                <a:latin typeface="+mj-lt"/>
                <a:ea typeface="+mj-ea"/>
                <a:cs typeface="+mj-cs"/>
              </a:rPr>
              <a:t>#include &lt;stdio.h&gt; </a:t>
            </a:r>
          </a:p>
          <a:p>
            <a:pPr marL="0" indent="0">
              <a:buNone/>
            </a:pPr>
            <a:r>
              <a:rPr lang="en-US" altLang="zh-CN" sz="2400" dirty="0">
                <a:latin typeface="+mj-lt"/>
                <a:ea typeface="+mj-ea"/>
                <a:cs typeface="+mj-cs"/>
              </a:rPr>
              <a:t>int main() </a:t>
            </a:r>
          </a:p>
          <a:p>
            <a:pPr marL="0" indent="0">
              <a:buNone/>
            </a:pPr>
            <a:r>
              <a:rPr lang="en-US" altLang="zh-CN" sz="2400" dirty="0">
                <a:latin typeface="+mj-lt"/>
                <a:ea typeface="+mj-ea"/>
                <a:cs typeface="+mj-cs"/>
              </a:rPr>
              <a:t>{ </a:t>
            </a:r>
          </a:p>
          <a:p>
            <a:pPr marL="0" indent="0">
              <a:buNone/>
            </a:pPr>
            <a:r>
              <a:rPr lang="en-US" altLang="zh-CN" sz="2400" dirty="0">
                <a:latin typeface="+mj-lt"/>
                <a:ea typeface="+mj-ea"/>
                <a:cs typeface="+mj-cs"/>
              </a:rPr>
              <a:t>    int count, i; </a:t>
            </a:r>
            <a:r>
              <a:rPr lang="en-US" altLang="zh-CN" sz="2400" dirty="0" smtClean="0">
                <a:latin typeface="+mj-lt"/>
                <a:ea typeface="+mj-ea"/>
                <a:cs typeface="+mj-cs"/>
              </a:rPr>
              <a:t>char </a:t>
            </a:r>
            <a:r>
              <a:rPr lang="en-US" altLang="zh-CN" sz="2400" dirty="0">
                <a:latin typeface="+mj-lt"/>
                <a:ea typeface="+mj-ea"/>
                <a:cs typeface="+mj-cs"/>
              </a:rPr>
              <a:t>str[80];      </a:t>
            </a:r>
          </a:p>
          <a:p>
            <a:pPr marL="0" indent="0">
              <a:buNone/>
            </a:pPr>
            <a:r>
              <a:rPr lang="en-US" altLang="zh-CN" sz="2400" dirty="0">
                <a:latin typeface="+mj-lt"/>
                <a:ea typeface="+mj-ea"/>
                <a:cs typeface="+mj-cs"/>
              </a:rPr>
              <a:t>    i = 0; </a:t>
            </a:r>
          </a:p>
          <a:p>
            <a:pPr marL="0" indent="0">
              <a:buNone/>
            </a:pPr>
            <a:r>
              <a:rPr lang="en-US" altLang="zh-CN" sz="2400" dirty="0">
                <a:latin typeface="+mj-lt"/>
                <a:ea typeface="+mj-ea"/>
                <a:cs typeface="+mj-cs"/>
              </a:rPr>
              <a:t>    </a:t>
            </a:r>
            <a:r>
              <a:rPr lang="en-US" altLang="zh-CN" sz="2400" dirty="0" smtClean="0">
                <a:solidFill>
                  <a:srgbClr val="FF0000"/>
                </a:solidFill>
                <a:latin typeface="+mj-lt"/>
                <a:ea typeface="+mj-ea"/>
                <a:cs typeface="+mj-cs"/>
              </a:rPr>
              <a:t>while((</a:t>
            </a:r>
            <a:r>
              <a:rPr lang="en-US" altLang="zh-CN" sz="2400" dirty="0" err="1" smtClean="0">
                <a:solidFill>
                  <a:srgbClr val="FF0000"/>
                </a:solidFill>
                <a:latin typeface="+mj-lt"/>
                <a:ea typeface="+mj-ea"/>
                <a:cs typeface="+mj-cs"/>
              </a:rPr>
              <a:t>str</a:t>
            </a:r>
            <a:r>
              <a:rPr lang="en-US" altLang="zh-CN" sz="2400" dirty="0" smtClean="0">
                <a:solidFill>
                  <a:srgbClr val="FF0000"/>
                </a:solidFill>
                <a:latin typeface="+mj-lt"/>
                <a:ea typeface="+mj-ea"/>
                <a:cs typeface="+mj-cs"/>
              </a:rPr>
              <a:t>[</a:t>
            </a:r>
            <a:r>
              <a:rPr lang="en-US" altLang="zh-CN" sz="2400" dirty="0" err="1" smtClean="0">
                <a:solidFill>
                  <a:srgbClr val="FF0000"/>
                </a:solidFill>
                <a:latin typeface="+mj-lt"/>
                <a:ea typeface="+mj-ea"/>
                <a:cs typeface="+mj-cs"/>
              </a:rPr>
              <a:t>i</a:t>
            </a:r>
            <a:r>
              <a:rPr lang="en-US" altLang="zh-CN" sz="2400" dirty="0" smtClean="0">
                <a:solidFill>
                  <a:srgbClr val="FF0000"/>
                </a:solidFill>
                <a:latin typeface="+mj-lt"/>
                <a:ea typeface="+mj-ea"/>
                <a:cs typeface="+mj-cs"/>
              </a:rPr>
              <a:t>] = </a:t>
            </a:r>
            <a:r>
              <a:rPr lang="en-US" altLang="zh-CN" sz="2400" dirty="0" err="1" smtClean="0">
                <a:solidFill>
                  <a:srgbClr val="FF0000"/>
                </a:solidFill>
                <a:latin typeface="+mj-lt"/>
                <a:ea typeface="+mj-ea"/>
                <a:cs typeface="+mj-cs"/>
              </a:rPr>
              <a:t>getchar</a:t>
            </a:r>
            <a:r>
              <a:rPr lang="en-US" altLang="zh-CN" sz="2400" dirty="0" smtClean="0">
                <a:solidFill>
                  <a:srgbClr val="FF0000"/>
                </a:solidFill>
                <a:latin typeface="+mj-lt"/>
                <a:ea typeface="+mj-ea"/>
                <a:cs typeface="+mj-cs"/>
              </a:rPr>
              <a:t>( )) != '\n')     </a:t>
            </a:r>
            <a:r>
              <a:rPr lang="en-US" altLang="zh-CN" sz="2400" dirty="0" err="1" smtClean="0">
                <a:solidFill>
                  <a:srgbClr val="FF0000"/>
                </a:solidFill>
                <a:latin typeface="+mj-lt"/>
                <a:ea typeface="+mj-ea"/>
                <a:cs typeface="+mj-cs"/>
              </a:rPr>
              <a:t>i</a:t>
            </a:r>
            <a:r>
              <a:rPr lang="en-US" altLang="zh-CN" sz="2400" dirty="0" smtClean="0">
                <a:solidFill>
                  <a:srgbClr val="FF0000"/>
                </a:solidFill>
                <a:latin typeface="+mj-lt"/>
                <a:ea typeface="+mj-ea"/>
                <a:cs typeface="+mj-cs"/>
              </a:rPr>
              <a:t>++; </a:t>
            </a:r>
          </a:p>
          <a:p>
            <a:pPr marL="0" indent="0">
              <a:buNone/>
            </a:pPr>
            <a:r>
              <a:rPr lang="en-US" altLang="zh-CN" sz="2400" dirty="0" smtClean="0">
                <a:solidFill>
                  <a:srgbClr val="FF0000"/>
                </a:solidFill>
                <a:latin typeface="+mj-lt"/>
                <a:ea typeface="+mj-ea"/>
                <a:cs typeface="+mj-cs"/>
              </a:rPr>
              <a:t>    </a:t>
            </a:r>
            <a:r>
              <a:rPr lang="en-US" altLang="zh-CN" sz="2400" dirty="0" err="1" smtClean="0">
                <a:solidFill>
                  <a:srgbClr val="FF0000"/>
                </a:solidFill>
                <a:latin typeface="+mj-lt"/>
                <a:ea typeface="+mj-ea"/>
                <a:cs typeface="+mj-cs"/>
              </a:rPr>
              <a:t>str</a:t>
            </a:r>
            <a:r>
              <a:rPr lang="en-US" altLang="zh-CN" sz="2400" dirty="0" smtClean="0">
                <a:solidFill>
                  <a:srgbClr val="FF0000"/>
                </a:solidFill>
                <a:latin typeface="+mj-lt"/>
                <a:ea typeface="+mj-ea"/>
                <a:cs typeface="+mj-cs"/>
              </a:rPr>
              <a:t>[</a:t>
            </a:r>
            <a:r>
              <a:rPr lang="en-US" altLang="zh-CN" sz="2400" dirty="0" err="1" smtClean="0">
                <a:solidFill>
                  <a:srgbClr val="FF0000"/>
                </a:solidFill>
                <a:latin typeface="+mj-lt"/>
                <a:ea typeface="+mj-ea"/>
                <a:cs typeface="+mj-cs"/>
              </a:rPr>
              <a:t>i</a:t>
            </a:r>
            <a:r>
              <a:rPr lang="en-US" altLang="zh-CN" sz="2400" dirty="0" smtClean="0">
                <a:solidFill>
                  <a:srgbClr val="FF0000"/>
                </a:solidFill>
                <a:latin typeface="+mj-lt"/>
                <a:ea typeface="+mj-ea"/>
                <a:cs typeface="+mj-cs"/>
              </a:rPr>
              <a:t>] = '\0'; // </a:t>
            </a:r>
            <a:r>
              <a:rPr lang="zh-CN" altLang="en-US" sz="2400" dirty="0" smtClean="0">
                <a:solidFill>
                  <a:srgbClr val="FF0000"/>
                </a:solidFill>
                <a:latin typeface="+mj-lt"/>
                <a:ea typeface="+mj-ea"/>
                <a:cs typeface="+mj-cs"/>
              </a:rPr>
              <a:t>输入结束符</a:t>
            </a:r>
            <a:r>
              <a:rPr lang="en-US" altLang="zh-CN" sz="2400" dirty="0" smtClean="0">
                <a:solidFill>
                  <a:srgbClr val="FF0000"/>
                </a:solidFill>
                <a:latin typeface="+mj-lt"/>
                <a:ea typeface="+mj-ea"/>
                <a:cs typeface="+mj-cs"/>
              </a:rPr>
              <a:t>=&gt;</a:t>
            </a:r>
            <a:r>
              <a:rPr lang="zh-CN" altLang="en-US" sz="2400" dirty="0" smtClean="0">
                <a:solidFill>
                  <a:srgbClr val="FF0000"/>
                </a:solidFill>
                <a:latin typeface="+mj-lt"/>
                <a:ea typeface="+mj-ea"/>
                <a:cs typeface="+mj-cs"/>
              </a:rPr>
              <a:t>字符串结束符 </a:t>
            </a:r>
          </a:p>
          <a:p>
            <a:pPr marL="0" indent="0">
              <a:buNone/>
            </a:pPr>
            <a:r>
              <a:rPr lang="en-US" altLang="zh-CN" sz="2400" dirty="0" smtClean="0">
                <a:latin typeface="+mj-lt"/>
                <a:ea typeface="+mj-ea"/>
                <a:cs typeface="+mj-cs"/>
              </a:rPr>
              <a:t>    </a:t>
            </a:r>
            <a:r>
              <a:rPr lang="en-US" altLang="zh-CN" sz="2400" dirty="0">
                <a:latin typeface="+mj-lt"/>
                <a:ea typeface="+mj-ea"/>
                <a:cs typeface="+mj-cs"/>
              </a:rPr>
              <a:t>count = 0; </a:t>
            </a:r>
          </a:p>
          <a:p>
            <a:pPr marL="0" indent="0">
              <a:buNone/>
            </a:pPr>
            <a:r>
              <a:rPr lang="en-US" altLang="zh-CN" sz="2400" dirty="0">
                <a:latin typeface="+mj-lt"/>
                <a:ea typeface="+mj-ea"/>
                <a:cs typeface="+mj-cs"/>
              </a:rPr>
              <a:t>    for(i = 0; str[i] != '\0'; i++) </a:t>
            </a:r>
          </a:p>
          <a:p>
            <a:pPr marL="0" indent="0">
              <a:buNone/>
            </a:pPr>
            <a:r>
              <a:rPr lang="en-US" altLang="zh-CN" sz="2400" dirty="0">
                <a:latin typeface="+mj-lt"/>
                <a:ea typeface="+mj-ea"/>
                <a:cs typeface="+mj-cs"/>
              </a:rPr>
              <a:t>    if(str[i] &lt;= '9' &amp;&amp; str[i] &gt;= '0')     count++; </a:t>
            </a:r>
          </a:p>
          <a:p>
            <a:pPr marL="0" indent="0">
              <a:buNone/>
            </a:pPr>
            <a:r>
              <a:rPr lang="en-US" altLang="zh-CN" sz="2400" dirty="0">
                <a:latin typeface="+mj-lt"/>
                <a:ea typeface="+mj-ea"/>
                <a:cs typeface="+mj-cs"/>
              </a:rPr>
              <a:t>    printf("count = %d\n", count); </a:t>
            </a:r>
          </a:p>
          <a:p>
            <a:pPr marL="0" indent="0">
              <a:buNone/>
            </a:pPr>
            <a:r>
              <a:rPr lang="en-US" altLang="zh-CN" sz="2400" dirty="0">
                <a:latin typeface="+mj-lt"/>
                <a:ea typeface="+mj-ea"/>
                <a:cs typeface="+mj-cs"/>
              </a:rPr>
              <a:t>    return 0; </a:t>
            </a:r>
          </a:p>
          <a:p>
            <a:pPr marL="0" indent="0">
              <a:buNone/>
            </a:pPr>
            <a:r>
              <a:rPr lang="en-US" altLang="zh-CN" sz="2400" dirty="0">
                <a:latin typeface="+mj-lt"/>
                <a:ea typeface="+mj-ea"/>
                <a:cs typeface="+mj-cs"/>
              </a:rPr>
              <a:t>}</a:t>
            </a:r>
          </a:p>
          <a:p>
            <a:endParaRPr lang="zh-CN" altLang="en-US" sz="2000"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86</a:t>
            </a:fld>
            <a:endParaRPr lang="en-US" altLang="zh-CN" dirty="0"/>
          </a:p>
        </p:txBody>
      </p:sp>
      <p:sp>
        <p:nvSpPr>
          <p:cNvPr id="2" name="矩形 1"/>
          <p:cNvSpPr/>
          <p:nvPr/>
        </p:nvSpPr>
        <p:spPr bwMode="auto">
          <a:xfrm>
            <a:off x="6876256" y="1700808"/>
            <a:ext cx="1872208" cy="576064"/>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dirty="0" smtClean="0">
                <a:ln>
                  <a:noFill/>
                </a:ln>
                <a:solidFill>
                  <a:schemeClr val="tx1"/>
                </a:solidFill>
                <a:effectLst/>
                <a:latin typeface="Arial" charset="0"/>
                <a:ea typeface="宋体" pitchFamily="2" charset="-122"/>
              </a:rPr>
              <a:t>少</a:t>
            </a:r>
            <a:r>
              <a:rPr kumimoji="0" lang="en-US" altLang="zh-CN" sz="1200" b="0" i="0" u="none" strike="noStrike" cap="none" normalizeH="0" baseline="0" dirty="0" smtClean="0">
                <a:ln>
                  <a:noFill/>
                </a:ln>
                <a:solidFill>
                  <a:schemeClr val="tx1"/>
                </a:solidFill>
                <a:effectLst/>
                <a:latin typeface="Arial" charset="0"/>
                <a:ea typeface="宋体" pitchFamily="2" charset="-122"/>
              </a:rPr>
              <a:t>include &lt;</a:t>
            </a:r>
            <a:r>
              <a:rPr kumimoji="0" lang="en-US" altLang="zh-CN" sz="1200" b="0" i="0" u="none" strike="noStrike" cap="none" normalizeH="0" baseline="0" dirty="0" err="1" smtClean="0">
                <a:ln>
                  <a:noFill/>
                </a:ln>
                <a:solidFill>
                  <a:schemeClr val="tx1"/>
                </a:solidFill>
                <a:effectLst/>
                <a:latin typeface="Arial" charset="0"/>
                <a:ea typeface="宋体" pitchFamily="2" charset="-122"/>
              </a:rPr>
              <a:t>string.h</a:t>
            </a:r>
            <a:r>
              <a:rPr kumimoji="0" lang="en-US" altLang="zh-CN" sz="1200" b="0" i="0" u="none" strike="noStrike" cap="none" normalizeH="0" baseline="0" dirty="0" smtClean="0">
                <a:ln>
                  <a:noFill/>
                </a:ln>
                <a:solidFill>
                  <a:schemeClr val="tx1"/>
                </a:solidFill>
                <a:effectLst/>
                <a:latin typeface="Arial" charset="0"/>
                <a:ea typeface="宋体" pitchFamily="2" charset="-122"/>
              </a:rPr>
              <a:t>&gt;</a:t>
            </a:r>
          </a:p>
          <a:p>
            <a:pPr marL="0" marR="0" indent="0" algn="l" defTabSz="914400" rtl="0" eaLnBrk="0" fontAlgn="base" latinLnBrk="0" hangingPunct="0">
              <a:lnSpc>
                <a:spcPct val="100000"/>
              </a:lnSpc>
              <a:spcBef>
                <a:spcPct val="0"/>
              </a:spcBef>
              <a:spcAft>
                <a:spcPct val="0"/>
              </a:spcAft>
              <a:buClrTx/>
              <a:buSzTx/>
              <a:buFontTx/>
              <a:buNone/>
              <a:tabLst/>
            </a:pPr>
            <a:r>
              <a:rPr lang="en-US" altLang="zh-CN" dirty="0" smtClean="0"/>
              <a:t>gets(</a:t>
            </a:r>
            <a:r>
              <a:rPr lang="en-US" altLang="zh-CN" dirty="0" err="1" smtClean="0"/>
              <a:t>str</a:t>
            </a:r>
            <a:r>
              <a:rPr lang="en-US" altLang="zh-CN" dirty="0" smtClean="0"/>
              <a:t>);</a:t>
            </a:r>
            <a:endParaRPr kumimoji="0" lang="zh-CN" altLang="en-US" sz="1200" b="0" i="0" u="none" strike="noStrike" cap="none" normalizeH="0" baseline="0" dirty="0" smtClean="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653548102"/>
      </p:ext>
    </p:extLst>
  </p:cSld>
  <p:clrMapOvr>
    <a:masterClrMapping/>
  </p:clrMapOvr>
  <p:transition spd="med">
    <p:random/>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4.3.3</a:t>
            </a:r>
            <a:r>
              <a:rPr lang="zh-CN" altLang="en-US" dirty="0"/>
              <a:t>字符串的检索、插入和删除</a:t>
            </a:r>
            <a:endParaRPr lang="en-US" dirty="0"/>
          </a:p>
        </p:txBody>
      </p:sp>
      <p:sp>
        <p:nvSpPr>
          <p:cNvPr id="3" name="Content Placeholder 2"/>
          <p:cNvSpPr>
            <a:spLocks noGrp="1"/>
          </p:cNvSpPr>
          <p:nvPr>
            <p:ph idx="1"/>
          </p:nvPr>
        </p:nvSpPr>
        <p:spPr/>
        <p:txBody>
          <a:bodyPr/>
          <a:lstStyle/>
          <a:p>
            <a:r>
              <a:rPr lang="en-US" altLang="zh-CN" dirty="0" smtClean="0"/>
              <a:t>【</a:t>
            </a:r>
            <a:r>
              <a:rPr lang="zh-CN" altLang="en-US" dirty="0" smtClean="0"/>
              <a:t>例</a:t>
            </a:r>
            <a:r>
              <a:rPr lang="en-US" altLang="zh-CN" dirty="0" smtClean="0"/>
              <a:t>4-16</a:t>
            </a:r>
            <a:r>
              <a:rPr lang="en-US" altLang="zh-CN" dirty="0"/>
              <a:t>】</a:t>
            </a:r>
            <a:r>
              <a:rPr lang="zh-CN" altLang="en-US" dirty="0"/>
              <a:t>输入一个字符串，判断是否是回文</a:t>
            </a:r>
            <a:r>
              <a:rPr lang="zh-CN" altLang="en-US" dirty="0" smtClean="0"/>
              <a:t>。</a:t>
            </a:r>
            <a:endParaRPr lang="en-US" altLang="zh-CN" dirty="0" smtClean="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87</a:t>
            </a:fld>
            <a:endParaRPr lang="en-US" altLang="zh-CN" dirty="0"/>
          </a:p>
        </p:txBody>
      </p:sp>
      <p:sp>
        <p:nvSpPr>
          <p:cNvPr id="7" name="矩形 6"/>
          <p:cNvSpPr/>
          <p:nvPr/>
        </p:nvSpPr>
        <p:spPr>
          <a:xfrm>
            <a:off x="360040" y="2200672"/>
            <a:ext cx="7956376" cy="2677656"/>
          </a:xfrm>
          <a:prstGeom prst="rect">
            <a:avLst/>
          </a:prstGeom>
        </p:spPr>
        <p:txBody>
          <a:bodyPr wrap="square">
            <a:spAutoFit/>
          </a:bodyPr>
          <a:lstStyle/>
          <a:p>
            <a:pPr marL="536575" lvl="2">
              <a:lnSpc>
                <a:spcPct val="120000"/>
              </a:lnSpc>
              <a:spcBef>
                <a:spcPct val="20000"/>
              </a:spcBef>
              <a:buClr>
                <a:srgbClr val="800080"/>
              </a:buClr>
              <a:buSzPct val="75000"/>
            </a:pPr>
            <a:r>
              <a:rPr lang="zh-CN" altLang="en-US" sz="2800" b="1" dirty="0">
                <a:solidFill>
                  <a:srgbClr val="0066FF"/>
                </a:solidFill>
                <a:effectLst>
                  <a:outerShdw blurRad="38100" dist="38100" dir="2700000" algn="tl">
                    <a:srgbClr val="C0C0C0"/>
                  </a:outerShdw>
                </a:effectLst>
                <a:latin typeface="+mn-ea"/>
                <a:ea typeface="+mn-ea"/>
              </a:rPr>
              <a:t>分析：输入</a:t>
            </a:r>
            <a:r>
              <a:rPr lang="en-US" altLang="zh-CN" sz="2800" b="1" dirty="0">
                <a:solidFill>
                  <a:srgbClr val="0066FF"/>
                </a:solidFill>
                <a:effectLst>
                  <a:outerShdw blurRad="38100" dist="38100" dir="2700000" algn="tl">
                    <a:srgbClr val="C0C0C0"/>
                  </a:outerShdw>
                </a:effectLst>
                <a:latin typeface="+mn-ea"/>
                <a:ea typeface="+mn-ea"/>
              </a:rPr>
              <a:t>80</a:t>
            </a:r>
            <a:r>
              <a:rPr lang="zh-CN" altLang="en-US" sz="2800" b="1" dirty="0">
                <a:solidFill>
                  <a:srgbClr val="0066FF"/>
                </a:solidFill>
                <a:effectLst>
                  <a:outerShdw blurRad="38100" dist="38100" dir="2700000" algn="tl">
                    <a:srgbClr val="C0C0C0"/>
                  </a:outerShdw>
                </a:effectLst>
                <a:latin typeface="+mn-ea"/>
                <a:ea typeface="+mn-ea"/>
              </a:rPr>
              <a:t>个字符到字符数组中，从数组的两端分别进行比对，如果相等，则向中间部分各取一个数值进行下一次比对，直至到达数组中部，全部字符比对结束，输出“是回文”，否则，输出“不是回文”。</a:t>
            </a:r>
            <a:endParaRPr lang="en-US" altLang="zh-CN" sz="2800" b="1" dirty="0">
              <a:solidFill>
                <a:srgbClr val="0066FF"/>
              </a:solidFill>
              <a:effectLst>
                <a:outerShdw blurRad="38100" dist="38100" dir="2700000" algn="tl">
                  <a:srgbClr val="C0C0C0"/>
                </a:outerShdw>
              </a:effectLst>
              <a:latin typeface="+mn-ea"/>
              <a:ea typeface="+mn-ea"/>
            </a:endParaRPr>
          </a:p>
        </p:txBody>
      </p:sp>
    </p:spTree>
    <p:extLst>
      <p:ext uri="{BB962C8B-B14F-4D97-AF65-F5344CB8AC3E}">
        <p14:creationId xmlns:p14="http://schemas.microsoft.com/office/powerpoint/2010/main" val="1558593957"/>
      </p:ext>
    </p:extLst>
  </p:cSld>
  <p:clrMapOvr>
    <a:masterClrMapping/>
  </p:clrMapOvr>
  <p:transition spd="med">
    <p:random/>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44624"/>
            <a:ext cx="7993063" cy="6568370"/>
          </a:xfrm>
        </p:spPr>
        <p:txBody>
          <a:bodyPr/>
          <a:lstStyle/>
          <a:p>
            <a:pPr marL="0" indent="0">
              <a:buNone/>
            </a:pPr>
            <a:r>
              <a:rPr lang="en-US" altLang="zh-CN" sz="1800" dirty="0">
                <a:latin typeface="+mj-lt"/>
                <a:ea typeface="+mj-ea"/>
                <a:cs typeface="+mj-cs"/>
              </a:rPr>
              <a:t>#include &lt;stdio.h&gt; </a:t>
            </a:r>
          </a:p>
          <a:p>
            <a:pPr marL="0" indent="0">
              <a:buNone/>
            </a:pPr>
            <a:r>
              <a:rPr lang="en-US" altLang="zh-CN" sz="1800" dirty="0" err="1" smtClean="0">
                <a:latin typeface="+mj-lt"/>
                <a:ea typeface="+mj-ea"/>
                <a:cs typeface="+mj-cs"/>
              </a:rPr>
              <a:t>int</a:t>
            </a:r>
            <a:r>
              <a:rPr lang="en-US" altLang="zh-CN" sz="1800" dirty="0" smtClean="0">
                <a:latin typeface="+mj-lt"/>
                <a:ea typeface="+mj-ea"/>
                <a:cs typeface="+mj-cs"/>
              </a:rPr>
              <a:t> main() </a:t>
            </a:r>
            <a:endParaRPr lang="en-US" altLang="zh-CN" sz="1800" dirty="0">
              <a:latin typeface="+mj-lt"/>
              <a:ea typeface="+mj-ea"/>
              <a:cs typeface="+mj-cs"/>
            </a:endParaRPr>
          </a:p>
          <a:p>
            <a:pPr marL="0" indent="0">
              <a:buNone/>
            </a:pPr>
            <a:r>
              <a:rPr lang="en-US" altLang="zh-CN" sz="1800" dirty="0">
                <a:latin typeface="+mj-lt"/>
                <a:ea typeface="+mj-ea"/>
                <a:cs typeface="+mj-cs"/>
              </a:rPr>
              <a:t>{ </a:t>
            </a:r>
          </a:p>
          <a:p>
            <a:pPr marL="0" indent="0">
              <a:buNone/>
            </a:pPr>
            <a:r>
              <a:rPr lang="en-US" altLang="zh-CN" sz="1800" dirty="0">
                <a:latin typeface="+mj-lt"/>
                <a:ea typeface="+mj-ea"/>
                <a:cs typeface="+mj-cs"/>
              </a:rPr>
              <a:t>    int count, i; </a:t>
            </a:r>
          </a:p>
          <a:p>
            <a:pPr marL="0" indent="0">
              <a:buNone/>
            </a:pPr>
            <a:r>
              <a:rPr lang="en-US" altLang="zh-CN" sz="1800" dirty="0">
                <a:latin typeface="+mj-lt"/>
                <a:ea typeface="+mj-ea"/>
                <a:cs typeface="+mj-cs"/>
              </a:rPr>
              <a:t>    char </a:t>
            </a:r>
            <a:r>
              <a:rPr lang="en-US" altLang="zh-CN" sz="1800" dirty="0" smtClean="0">
                <a:latin typeface="+mj-lt"/>
                <a:ea typeface="+mj-ea"/>
                <a:cs typeface="+mj-cs"/>
              </a:rPr>
              <a:t>str[80</a:t>
            </a:r>
            <a:r>
              <a:rPr lang="en-US" altLang="zh-CN" sz="1800" dirty="0">
                <a:latin typeface="+mj-lt"/>
                <a:ea typeface="+mj-ea"/>
                <a:cs typeface="+mj-cs"/>
              </a:rPr>
              <a:t>]; </a:t>
            </a:r>
          </a:p>
          <a:p>
            <a:pPr marL="0" indent="0">
              <a:buNone/>
            </a:pPr>
            <a:r>
              <a:rPr lang="en-US" altLang="zh-CN" sz="1800" dirty="0">
                <a:latin typeface="+mj-lt"/>
                <a:ea typeface="+mj-ea"/>
                <a:cs typeface="+mj-cs"/>
              </a:rPr>
              <a:t>    printf("Enter a string: "); </a:t>
            </a:r>
          </a:p>
          <a:p>
            <a:pPr marL="0" indent="0">
              <a:buNone/>
            </a:pPr>
            <a:r>
              <a:rPr lang="en-US" altLang="zh-CN" sz="1800" dirty="0">
                <a:latin typeface="+mj-lt"/>
                <a:ea typeface="+mj-ea"/>
                <a:cs typeface="+mj-cs"/>
              </a:rPr>
              <a:t>    i = 0; </a:t>
            </a:r>
          </a:p>
          <a:p>
            <a:pPr marL="0" indent="0">
              <a:buNone/>
            </a:pPr>
            <a:r>
              <a:rPr lang="en-US" altLang="zh-CN" sz="1800" dirty="0">
                <a:latin typeface="+mj-lt"/>
                <a:ea typeface="+mj-ea"/>
                <a:cs typeface="+mj-cs"/>
              </a:rPr>
              <a:t>    </a:t>
            </a:r>
            <a:r>
              <a:rPr lang="en-US" altLang="zh-CN" sz="1800" dirty="0">
                <a:solidFill>
                  <a:srgbClr val="FF0000"/>
                </a:solidFill>
                <a:latin typeface="+mj-lt"/>
                <a:ea typeface="+mj-ea"/>
                <a:cs typeface="+mj-cs"/>
              </a:rPr>
              <a:t>while</a:t>
            </a:r>
            <a:r>
              <a:rPr lang="en-US" altLang="zh-CN" sz="1800" dirty="0" smtClean="0">
                <a:solidFill>
                  <a:srgbClr val="FF0000"/>
                </a:solidFill>
                <a:latin typeface="+mj-lt"/>
                <a:ea typeface="+mj-ea"/>
                <a:cs typeface="+mj-cs"/>
              </a:rPr>
              <a:t>((str[i</a:t>
            </a:r>
            <a:r>
              <a:rPr lang="en-US" altLang="zh-CN" sz="1800" dirty="0">
                <a:solidFill>
                  <a:srgbClr val="FF0000"/>
                </a:solidFill>
                <a:latin typeface="+mj-lt"/>
                <a:ea typeface="+mj-ea"/>
                <a:cs typeface="+mj-cs"/>
              </a:rPr>
              <a:t>] = getchar( )) != '\n')     i++; </a:t>
            </a:r>
          </a:p>
          <a:p>
            <a:pPr marL="0" indent="0">
              <a:buNone/>
            </a:pPr>
            <a:r>
              <a:rPr lang="en-US" altLang="zh-CN" sz="1800" dirty="0">
                <a:solidFill>
                  <a:srgbClr val="FF0000"/>
                </a:solidFill>
                <a:latin typeface="+mj-lt"/>
                <a:ea typeface="+mj-ea"/>
                <a:cs typeface="+mj-cs"/>
              </a:rPr>
              <a:t>    </a:t>
            </a:r>
            <a:r>
              <a:rPr lang="en-US" altLang="zh-CN" sz="1800" dirty="0" smtClean="0">
                <a:solidFill>
                  <a:srgbClr val="FF0000"/>
                </a:solidFill>
                <a:latin typeface="+mj-lt"/>
                <a:ea typeface="+mj-ea"/>
                <a:cs typeface="+mj-cs"/>
              </a:rPr>
              <a:t>str[i</a:t>
            </a:r>
            <a:r>
              <a:rPr lang="en-US" altLang="zh-CN" sz="1800" dirty="0">
                <a:solidFill>
                  <a:srgbClr val="FF0000"/>
                </a:solidFill>
                <a:latin typeface="+mj-lt"/>
                <a:ea typeface="+mj-ea"/>
                <a:cs typeface="+mj-cs"/>
              </a:rPr>
              <a:t>] = '\0'; </a:t>
            </a:r>
          </a:p>
          <a:p>
            <a:pPr marL="0" indent="0">
              <a:buNone/>
            </a:pPr>
            <a:r>
              <a:rPr lang="en-US" altLang="zh-CN" sz="1800" dirty="0">
                <a:latin typeface="+mj-lt"/>
                <a:ea typeface="+mj-ea"/>
                <a:cs typeface="+mj-cs"/>
              </a:rPr>
              <a:t>    for(i = </a:t>
            </a:r>
            <a:r>
              <a:rPr lang="en-US" altLang="zh-CN" sz="1800" dirty="0" smtClean="0">
                <a:latin typeface="+mj-lt"/>
                <a:ea typeface="+mj-ea"/>
                <a:cs typeface="+mj-cs"/>
              </a:rPr>
              <a:t>0,count=strlen(str)-</a:t>
            </a:r>
            <a:r>
              <a:rPr lang="en-US" altLang="zh-CN" sz="1800" dirty="0">
                <a:latin typeface="+mj-lt"/>
                <a:ea typeface="+mj-ea"/>
                <a:cs typeface="+mj-cs"/>
              </a:rPr>
              <a:t>1; i&lt;=count ; i++,count--) </a:t>
            </a:r>
          </a:p>
          <a:p>
            <a:pPr marL="0" indent="0">
              <a:buNone/>
            </a:pPr>
            <a:r>
              <a:rPr lang="en-US" altLang="zh-CN" sz="1800" dirty="0">
                <a:latin typeface="+mj-lt"/>
                <a:ea typeface="+mj-ea"/>
                <a:cs typeface="+mj-cs"/>
              </a:rPr>
              <a:t>    </a:t>
            </a:r>
            <a:r>
              <a:rPr lang="en-US" altLang="zh-CN" sz="1800" dirty="0" smtClean="0">
                <a:latin typeface="+mj-lt"/>
                <a:ea typeface="+mj-ea"/>
                <a:cs typeface="+mj-cs"/>
              </a:rPr>
              <a:t>if(str[i</a:t>
            </a:r>
            <a:r>
              <a:rPr lang="en-US" altLang="zh-CN" sz="1800" dirty="0">
                <a:latin typeface="+mj-lt"/>
                <a:ea typeface="+mj-ea"/>
                <a:cs typeface="+mj-cs"/>
              </a:rPr>
              <a:t>]!=str[count])     break;         // </a:t>
            </a:r>
            <a:r>
              <a:rPr lang="zh-CN" altLang="en-US" sz="1800" dirty="0">
                <a:latin typeface="+mj-lt"/>
                <a:ea typeface="+mj-ea"/>
                <a:cs typeface="+mj-cs"/>
              </a:rPr>
              <a:t>如果不相等则</a:t>
            </a:r>
            <a:r>
              <a:rPr lang="en-US" altLang="zh-CN" sz="1800" dirty="0">
                <a:latin typeface="+mj-lt"/>
                <a:ea typeface="+mj-ea"/>
                <a:cs typeface="+mj-cs"/>
              </a:rPr>
              <a:t>break </a:t>
            </a:r>
          </a:p>
          <a:p>
            <a:pPr marL="0" indent="0">
              <a:buNone/>
            </a:pPr>
            <a:r>
              <a:rPr lang="en-US" altLang="zh-CN" sz="1800" dirty="0">
                <a:latin typeface="+mj-lt"/>
                <a:ea typeface="+mj-ea"/>
                <a:cs typeface="+mj-cs"/>
              </a:rPr>
              <a:t>    if( i &gt;=count) </a:t>
            </a:r>
          </a:p>
          <a:p>
            <a:pPr marL="0" indent="0">
              <a:buNone/>
            </a:pPr>
            <a:r>
              <a:rPr lang="en-US" altLang="zh-CN" sz="1800" dirty="0">
                <a:latin typeface="+mj-lt"/>
                <a:ea typeface="+mj-ea"/>
                <a:cs typeface="+mj-cs"/>
              </a:rPr>
              <a:t>        printf(" It is a palindrome\n"); </a:t>
            </a:r>
          </a:p>
          <a:p>
            <a:pPr marL="0" indent="0">
              <a:buNone/>
            </a:pPr>
            <a:r>
              <a:rPr lang="en-US" altLang="zh-CN" sz="1800" dirty="0">
                <a:latin typeface="+mj-lt"/>
                <a:ea typeface="+mj-ea"/>
                <a:cs typeface="+mj-cs"/>
              </a:rPr>
              <a:t>    else </a:t>
            </a:r>
          </a:p>
          <a:p>
            <a:pPr marL="0" indent="0">
              <a:buNone/>
            </a:pPr>
            <a:r>
              <a:rPr lang="en-US" altLang="zh-CN" sz="1800" dirty="0">
                <a:latin typeface="+mj-lt"/>
                <a:ea typeface="+mj-ea"/>
                <a:cs typeface="+mj-cs"/>
              </a:rPr>
              <a:t>        printf(" It is not a palindrome\n"); </a:t>
            </a:r>
          </a:p>
          <a:p>
            <a:pPr marL="0" indent="0">
              <a:buNone/>
            </a:pPr>
            <a:r>
              <a:rPr lang="en-US" altLang="zh-CN" sz="1800" dirty="0">
                <a:latin typeface="+mj-lt"/>
                <a:ea typeface="+mj-ea"/>
                <a:cs typeface="+mj-cs"/>
              </a:rPr>
              <a:t>    return 0; </a:t>
            </a:r>
          </a:p>
          <a:p>
            <a:pPr marL="0" indent="0">
              <a:buNone/>
            </a:pPr>
            <a:r>
              <a:rPr lang="en-US" altLang="zh-CN" sz="1800" dirty="0">
                <a:latin typeface="+mj-lt"/>
                <a:ea typeface="+mj-ea"/>
                <a:cs typeface="+mj-cs"/>
              </a:rPr>
              <a:t>} </a:t>
            </a:r>
            <a:endParaRPr lang="zh-CN" altLang="en-US" sz="1800" dirty="0">
              <a:latin typeface="+mj-lt"/>
              <a:ea typeface="+mj-ea"/>
              <a:cs typeface="+mj-cs"/>
            </a:endParaRPr>
          </a:p>
          <a:p>
            <a:pPr marL="0" indent="0">
              <a:buNone/>
            </a:pPr>
            <a:endParaRPr lang="en-US" altLang="zh-CN" sz="1800" dirty="0" smtClean="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88</a:t>
            </a:fld>
            <a:endParaRPr lang="en-US" altLang="zh-CN" dirty="0"/>
          </a:p>
        </p:txBody>
      </p:sp>
      <p:sp>
        <p:nvSpPr>
          <p:cNvPr id="6" name="矩形 5"/>
          <p:cNvSpPr/>
          <p:nvPr/>
        </p:nvSpPr>
        <p:spPr bwMode="auto">
          <a:xfrm>
            <a:off x="6300192" y="1700808"/>
            <a:ext cx="2448272" cy="64807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err="1" smtClean="0">
                <a:ln>
                  <a:noFill/>
                </a:ln>
                <a:solidFill>
                  <a:schemeClr val="tx1"/>
                </a:solidFill>
                <a:effectLst/>
                <a:latin typeface="Arial" charset="0"/>
                <a:ea typeface="宋体" pitchFamily="2" charset="-122"/>
              </a:rPr>
              <a:t>ShanggnahS</a:t>
            </a:r>
            <a:endParaRPr kumimoji="0" lang="zh-CN" altLang="en-US" sz="2800" b="0" i="0" u="none" strike="noStrike" cap="none" normalizeH="0" baseline="0" dirty="0" smtClean="0">
              <a:ln>
                <a:noFill/>
              </a:ln>
              <a:solidFill>
                <a:schemeClr val="tx1"/>
              </a:solidFill>
              <a:effectLst/>
              <a:latin typeface="Arial" charset="0"/>
              <a:ea typeface="宋体" pitchFamily="2" charset="-122"/>
            </a:endParaRPr>
          </a:p>
        </p:txBody>
      </p:sp>
      <p:grpSp>
        <p:nvGrpSpPr>
          <p:cNvPr id="7" name="组合 6"/>
          <p:cNvGrpSpPr/>
          <p:nvPr/>
        </p:nvGrpSpPr>
        <p:grpSpPr>
          <a:xfrm>
            <a:off x="6372200" y="2348880"/>
            <a:ext cx="297663" cy="632833"/>
            <a:chOff x="1223628" y="5147671"/>
            <a:chExt cx="648072" cy="632833"/>
          </a:xfrm>
        </p:grpSpPr>
        <p:cxnSp>
          <p:nvCxnSpPr>
            <p:cNvPr id="8" name="直接箭头连接符 7"/>
            <p:cNvCxnSpPr/>
            <p:nvPr/>
          </p:nvCxnSpPr>
          <p:spPr bwMode="auto">
            <a:xfrm flipV="1">
              <a:off x="1547664" y="5147671"/>
              <a:ext cx="0" cy="297553"/>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矩形 8"/>
            <p:cNvSpPr/>
            <p:nvPr/>
          </p:nvSpPr>
          <p:spPr bwMode="auto">
            <a:xfrm>
              <a:off x="1223628" y="5445224"/>
              <a:ext cx="648072"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err="1" smtClean="0">
                  <a:ln>
                    <a:noFill/>
                  </a:ln>
                  <a:solidFill>
                    <a:schemeClr val="tx1"/>
                  </a:solidFill>
                  <a:effectLst/>
                  <a:latin typeface="Arial" charset="0"/>
                  <a:ea typeface="宋体" pitchFamily="2" charset="-122"/>
                </a:rPr>
                <a:t>i</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grpSp>
        <p:nvGrpSpPr>
          <p:cNvPr id="10" name="组合 9"/>
          <p:cNvGrpSpPr/>
          <p:nvPr/>
        </p:nvGrpSpPr>
        <p:grpSpPr>
          <a:xfrm>
            <a:off x="7946745" y="2348880"/>
            <a:ext cx="801719" cy="632833"/>
            <a:chOff x="1223628" y="5147671"/>
            <a:chExt cx="648072" cy="632833"/>
          </a:xfrm>
        </p:grpSpPr>
        <p:cxnSp>
          <p:nvCxnSpPr>
            <p:cNvPr id="11" name="直接箭头连接符 10"/>
            <p:cNvCxnSpPr/>
            <p:nvPr/>
          </p:nvCxnSpPr>
          <p:spPr bwMode="auto">
            <a:xfrm flipV="1">
              <a:off x="1547664" y="5147671"/>
              <a:ext cx="0" cy="297553"/>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矩形 11"/>
            <p:cNvSpPr/>
            <p:nvPr/>
          </p:nvSpPr>
          <p:spPr bwMode="auto">
            <a:xfrm>
              <a:off x="1223628" y="5445224"/>
              <a:ext cx="648072"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count</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spTree>
    <p:extLst>
      <p:ext uri="{BB962C8B-B14F-4D97-AF65-F5344CB8AC3E}">
        <p14:creationId xmlns:p14="http://schemas.microsoft.com/office/powerpoint/2010/main" val="3873559664"/>
      </p:ext>
    </p:extLst>
  </p:cSld>
  <p:clrMapOvr>
    <a:masterClrMapping/>
  </p:clrMapOvr>
  <p:transition spd="med">
    <p:random/>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7773" y="231172"/>
            <a:ext cx="7993063" cy="6279742"/>
          </a:xfrm>
        </p:spPr>
        <p:txBody>
          <a:bodyPr/>
          <a:lstStyle/>
          <a:p>
            <a:pPr marL="0" indent="0">
              <a:buNone/>
            </a:pPr>
            <a:r>
              <a:rPr lang="en-US" altLang="zh-CN" sz="1600" dirty="0">
                <a:latin typeface="+mj-lt"/>
                <a:ea typeface="+mj-ea"/>
                <a:cs typeface="+mj-cs"/>
              </a:rPr>
              <a:t>#include &lt;stdio.h&gt; </a:t>
            </a:r>
          </a:p>
          <a:p>
            <a:pPr marL="0" indent="0">
              <a:buNone/>
            </a:pPr>
            <a:r>
              <a:rPr lang="en-US" altLang="zh-CN" sz="1600" dirty="0">
                <a:latin typeface="+mj-lt"/>
                <a:ea typeface="+mj-ea"/>
                <a:cs typeface="+mj-cs"/>
              </a:rPr>
              <a:t>#include &lt;string.h&gt; </a:t>
            </a:r>
          </a:p>
          <a:p>
            <a:pPr marL="0" indent="0">
              <a:buNone/>
            </a:pPr>
            <a:r>
              <a:rPr lang="en-US" altLang="zh-CN" sz="1600" dirty="0">
                <a:latin typeface="+mj-lt"/>
                <a:ea typeface="+mj-ea"/>
                <a:cs typeface="+mj-cs"/>
              </a:rPr>
              <a:t>int main</a:t>
            </a:r>
            <a:r>
              <a:rPr lang="en-US" altLang="zh-CN" sz="1600" dirty="0" smtClean="0">
                <a:latin typeface="+mj-lt"/>
                <a:ea typeface="+mj-ea"/>
                <a:cs typeface="+mj-cs"/>
              </a:rPr>
              <a:t>() </a:t>
            </a:r>
            <a:endParaRPr lang="en-US" altLang="zh-CN" sz="1600" dirty="0">
              <a:latin typeface="+mj-lt"/>
              <a:ea typeface="+mj-ea"/>
              <a:cs typeface="+mj-cs"/>
            </a:endParaRPr>
          </a:p>
          <a:p>
            <a:pPr marL="0" indent="0">
              <a:buNone/>
            </a:pPr>
            <a:r>
              <a:rPr lang="en-US" altLang="zh-CN" sz="1600" dirty="0">
                <a:latin typeface="+mj-lt"/>
                <a:ea typeface="+mj-ea"/>
                <a:cs typeface="+mj-cs"/>
              </a:rPr>
              <a:t>{ </a:t>
            </a:r>
          </a:p>
          <a:p>
            <a:pPr marL="0" indent="0">
              <a:buNone/>
            </a:pPr>
            <a:r>
              <a:rPr lang="en-US" altLang="zh-CN" sz="1600" dirty="0" smtClean="0">
                <a:latin typeface="+mj-lt"/>
                <a:ea typeface="+mj-ea"/>
                <a:cs typeface="+mj-cs"/>
              </a:rPr>
              <a:t>    int </a:t>
            </a:r>
            <a:r>
              <a:rPr lang="en-US" altLang="zh-CN" sz="1600" dirty="0">
                <a:latin typeface="+mj-lt"/>
                <a:ea typeface="+mj-ea"/>
                <a:cs typeface="+mj-cs"/>
              </a:rPr>
              <a:t>f=0, i;</a:t>
            </a:r>
          </a:p>
          <a:p>
            <a:pPr marL="0" indent="0">
              <a:buNone/>
            </a:pPr>
            <a:r>
              <a:rPr lang="en-US" altLang="zh-CN" sz="1600" dirty="0">
                <a:latin typeface="+mj-lt"/>
                <a:ea typeface="+mj-ea"/>
                <a:cs typeface="+mj-cs"/>
              </a:rPr>
              <a:t>    char str[80];</a:t>
            </a:r>
          </a:p>
          <a:p>
            <a:pPr marL="0" indent="0">
              <a:buNone/>
            </a:pPr>
            <a:r>
              <a:rPr lang="en-US" altLang="zh-CN" sz="1600" dirty="0">
                <a:latin typeface="+mj-lt"/>
                <a:ea typeface="+mj-ea"/>
                <a:cs typeface="+mj-cs"/>
              </a:rPr>
              <a:t>    printf("Enter a string: ");</a:t>
            </a:r>
          </a:p>
          <a:p>
            <a:pPr marL="0" indent="0">
              <a:buNone/>
            </a:pPr>
            <a:r>
              <a:rPr lang="en-US" altLang="zh-CN" sz="1600" dirty="0">
                <a:latin typeface="+mj-lt"/>
                <a:ea typeface="+mj-ea"/>
                <a:cs typeface="+mj-cs"/>
              </a:rPr>
              <a:t>    gets(str);</a:t>
            </a:r>
          </a:p>
          <a:p>
            <a:pPr marL="0" indent="0">
              <a:buNone/>
            </a:pPr>
            <a:r>
              <a:rPr lang="en-US" altLang="zh-CN" sz="1600" dirty="0">
                <a:latin typeface="+mj-lt"/>
                <a:ea typeface="+mj-ea"/>
                <a:cs typeface="+mj-cs"/>
              </a:rPr>
              <a:t>    for(i = 0;str[i]!='\0';i++)</a:t>
            </a:r>
          </a:p>
          <a:p>
            <a:pPr marL="0" indent="0">
              <a:buNone/>
            </a:pPr>
            <a:r>
              <a:rPr lang="en-US" altLang="zh-CN" sz="1600" dirty="0">
                <a:latin typeface="+mj-lt"/>
                <a:ea typeface="+mj-ea"/>
                <a:cs typeface="+mj-cs"/>
              </a:rPr>
              <a:t>    if(str[i]!=str[strlen(str)-1-i])</a:t>
            </a:r>
          </a:p>
          <a:p>
            <a:pPr marL="0" indent="0">
              <a:buNone/>
            </a:pPr>
            <a:r>
              <a:rPr lang="en-US" altLang="zh-CN" sz="1600" dirty="0">
                <a:latin typeface="+mj-lt"/>
                <a:ea typeface="+mj-ea"/>
                <a:cs typeface="+mj-cs"/>
              </a:rPr>
              <a:t>  </a:t>
            </a:r>
            <a:r>
              <a:rPr lang="en-US" altLang="zh-CN" sz="1600" dirty="0" smtClean="0">
                <a:latin typeface="+mj-lt"/>
                <a:ea typeface="+mj-ea"/>
                <a:cs typeface="+mj-cs"/>
              </a:rPr>
              <a:t>  </a:t>
            </a:r>
            <a:r>
              <a:rPr lang="en-US" altLang="zh-CN" sz="1600" dirty="0">
                <a:latin typeface="+mj-lt"/>
                <a:ea typeface="+mj-ea"/>
                <a:cs typeface="+mj-cs"/>
              </a:rPr>
              <a:t>{</a:t>
            </a:r>
          </a:p>
          <a:p>
            <a:pPr marL="0" indent="0">
              <a:buNone/>
            </a:pPr>
            <a:r>
              <a:rPr lang="en-US" altLang="zh-CN" sz="1600" dirty="0">
                <a:latin typeface="+mj-lt"/>
                <a:ea typeface="+mj-ea"/>
                <a:cs typeface="+mj-cs"/>
              </a:rPr>
              <a:t>         f=1;     break;         // </a:t>
            </a:r>
            <a:r>
              <a:rPr lang="zh-CN" altLang="en-US" sz="1600" dirty="0">
                <a:latin typeface="+mj-lt"/>
                <a:ea typeface="+mj-ea"/>
                <a:cs typeface="+mj-cs"/>
              </a:rPr>
              <a:t>如果不相等则</a:t>
            </a:r>
            <a:r>
              <a:rPr lang="en-US" altLang="zh-CN" sz="1600" dirty="0">
                <a:latin typeface="+mj-lt"/>
                <a:ea typeface="+mj-ea"/>
                <a:cs typeface="+mj-cs"/>
              </a:rPr>
              <a:t>break</a:t>
            </a:r>
          </a:p>
          <a:p>
            <a:pPr marL="0" indent="0">
              <a:buNone/>
            </a:pPr>
            <a:r>
              <a:rPr lang="en-US" altLang="zh-CN" sz="1600" dirty="0">
                <a:latin typeface="+mj-lt"/>
                <a:ea typeface="+mj-ea"/>
                <a:cs typeface="+mj-cs"/>
              </a:rPr>
              <a:t>  </a:t>
            </a:r>
            <a:r>
              <a:rPr lang="en-US" altLang="zh-CN" sz="1600" dirty="0" smtClean="0">
                <a:latin typeface="+mj-lt"/>
                <a:ea typeface="+mj-ea"/>
                <a:cs typeface="+mj-cs"/>
              </a:rPr>
              <a:t>  </a:t>
            </a:r>
            <a:r>
              <a:rPr lang="en-US" altLang="zh-CN" sz="1600" dirty="0">
                <a:latin typeface="+mj-lt"/>
                <a:ea typeface="+mj-ea"/>
                <a:cs typeface="+mj-cs"/>
              </a:rPr>
              <a:t>}</a:t>
            </a:r>
          </a:p>
          <a:p>
            <a:pPr marL="0" indent="0">
              <a:buNone/>
            </a:pPr>
            <a:r>
              <a:rPr lang="en-US" altLang="zh-CN" sz="1600" dirty="0" smtClean="0">
                <a:latin typeface="+mj-lt"/>
                <a:ea typeface="+mj-ea"/>
                <a:cs typeface="+mj-cs"/>
              </a:rPr>
              <a:t>    </a:t>
            </a:r>
            <a:r>
              <a:rPr lang="en-US" altLang="zh-CN" sz="1600" dirty="0">
                <a:latin typeface="+mj-lt"/>
                <a:ea typeface="+mj-ea"/>
                <a:cs typeface="+mj-cs"/>
              </a:rPr>
              <a:t>if( f==0)</a:t>
            </a:r>
          </a:p>
          <a:p>
            <a:pPr marL="0" indent="0">
              <a:buNone/>
            </a:pPr>
            <a:r>
              <a:rPr lang="en-US" altLang="zh-CN" sz="1600" dirty="0">
                <a:latin typeface="+mj-lt"/>
                <a:ea typeface="+mj-ea"/>
                <a:cs typeface="+mj-cs"/>
              </a:rPr>
              <a:t>        printf(" It is a palindrome\n");</a:t>
            </a:r>
          </a:p>
          <a:p>
            <a:pPr marL="0" indent="0">
              <a:buNone/>
            </a:pPr>
            <a:r>
              <a:rPr lang="en-US" altLang="zh-CN" sz="1600" dirty="0">
                <a:latin typeface="+mj-lt"/>
                <a:ea typeface="+mj-ea"/>
                <a:cs typeface="+mj-cs"/>
              </a:rPr>
              <a:t>    else</a:t>
            </a:r>
          </a:p>
          <a:p>
            <a:pPr marL="0" indent="0">
              <a:buNone/>
            </a:pPr>
            <a:r>
              <a:rPr lang="en-US" altLang="zh-CN" sz="1600" dirty="0">
                <a:latin typeface="+mj-lt"/>
                <a:ea typeface="+mj-ea"/>
                <a:cs typeface="+mj-cs"/>
              </a:rPr>
              <a:t>        printf(" It is not a palindrome\n");    return 0; </a:t>
            </a:r>
          </a:p>
          <a:p>
            <a:pPr marL="0" indent="0">
              <a:buNone/>
            </a:pPr>
            <a:r>
              <a:rPr lang="en-US" altLang="zh-CN" sz="1600" dirty="0">
                <a:latin typeface="+mj-lt"/>
                <a:ea typeface="+mj-ea"/>
                <a:cs typeface="+mj-cs"/>
              </a:rPr>
              <a:t>} </a:t>
            </a:r>
            <a:endParaRPr lang="zh-CN" altLang="en-US" sz="1600" dirty="0">
              <a:latin typeface="+mj-lt"/>
              <a:ea typeface="+mj-ea"/>
              <a:cs typeface="+mj-cs"/>
            </a:endParaRPr>
          </a:p>
          <a:p>
            <a:pPr marL="0" indent="0">
              <a:buNone/>
            </a:pPr>
            <a:endParaRPr lang="en-US" altLang="zh-CN" sz="1600" dirty="0" smtClean="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89</a:t>
            </a:fld>
            <a:endParaRPr lang="en-US" altLang="zh-CN" dirty="0"/>
          </a:p>
        </p:txBody>
      </p:sp>
    </p:spTree>
    <p:extLst>
      <p:ext uri="{BB962C8B-B14F-4D97-AF65-F5344CB8AC3E}">
        <p14:creationId xmlns:p14="http://schemas.microsoft.com/office/powerpoint/2010/main" val="1247786314"/>
      </p:ext>
    </p:extLst>
  </p:cSld>
  <p:clrMapOvr>
    <a:masterClrMapping/>
  </p:clrMapOvr>
  <p:transition spd="med">
    <p:random/>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4.3.3</a:t>
            </a:r>
            <a:r>
              <a:rPr lang="zh-CN" altLang="en-US" dirty="0"/>
              <a:t>字符串的检索、插入和删除</a:t>
            </a:r>
            <a:endParaRPr lang="en-US" dirty="0"/>
          </a:p>
        </p:txBody>
      </p:sp>
      <p:sp>
        <p:nvSpPr>
          <p:cNvPr id="3" name="Content Placeholder 2"/>
          <p:cNvSpPr>
            <a:spLocks noGrp="1"/>
          </p:cNvSpPr>
          <p:nvPr>
            <p:ph idx="1"/>
          </p:nvPr>
        </p:nvSpPr>
        <p:spPr>
          <a:xfrm>
            <a:off x="755650" y="1700213"/>
            <a:ext cx="7993063" cy="5157787"/>
          </a:xfrm>
        </p:spPr>
        <p:txBody>
          <a:bodyPr/>
          <a:lstStyle/>
          <a:p>
            <a:r>
              <a:rPr lang="en-US" altLang="zh-CN" dirty="0" smtClean="0"/>
              <a:t>【</a:t>
            </a:r>
            <a:r>
              <a:rPr lang="zh-CN" altLang="en-US" dirty="0"/>
              <a:t>例</a:t>
            </a:r>
            <a:r>
              <a:rPr lang="en-US" altLang="zh-CN" dirty="0"/>
              <a:t>4-17】</a:t>
            </a:r>
            <a:r>
              <a:rPr lang="zh-CN" altLang="en-US" dirty="0"/>
              <a:t>输入字符串，然后按以下格式输出</a:t>
            </a:r>
            <a:r>
              <a:rPr lang="zh-CN" altLang="en-US" dirty="0" smtClean="0"/>
              <a:t>。</a:t>
            </a:r>
            <a:endParaRPr lang="en-US" altLang="zh-CN" dirty="0" smtClean="0"/>
          </a:p>
          <a:p>
            <a:endParaRPr lang="en-US" b="0" dirty="0"/>
          </a:p>
          <a:p>
            <a:endParaRPr lang="en-US" b="0" dirty="0" smtClean="0"/>
          </a:p>
          <a:p>
            <a:endParaRPr lang="en-US" b="0" dirty="0"/>
          </a:p>
          <a:p>
            <a:endParaRPr lang="en-US" b="0" dirty="0" smtClean="0"/>
          </a:p>
          <a:p>
            <a:endParaRPr lang="en-US" b="0" dirty="0"/>
          </a:p>
          <a:p>
            <a:endParaRPr lang="en-US" b="0" dirty="0" smtClean="0"/>
          </a:p>
          <a:p>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90</a:t>
            </a:fld>
            <a:endParaRPr lang="en-US" altLang="zh-CN" dirty="0"/>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81580"/>
          <a:stretch/>
        </p:blipFill>
        <p:spPr bwMode="auto">
          <a:xfrm>
            <a:off x="1115616" y="2420888"/>
            <a:ext cx="2304256" cy="801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图片 5" descr="屏幕剪辑"/>
          <p:cNvPicPr>
            <a:picLocks noChangeAspect="1"/>
          </p:cNvPicPr>
          <p:nvPr/>
        </p:nvPicPr>
        <p:blipFill rotWithShape="1">
          <a:blip r:embed="rId3">
            <a:extLst>
              <a:ext uri="{28A0092B-C50C-407E-A947-70E740481C1C}">
                <a14:useLocalDpi xmlns:a14="http://schemas.microsoft.com/office/drawing/2010/main" val="0"/>
              </a:ext>
            </a:extLst>
          </a:blip>
          <a:srcRect t="9630"/>
          <a:stretch/>
        </p:blipFill>
        <p:spPr>
          <a:xfrm>
            <a:off x="5220072" y="2569029"/>
            <a:ext cx="3096344" cy="3956314"/>
          </a:xfrm>
          <a:prstGeom prst="rect">
            <a:avLst/>
          </a:prstGeom>
        </p:spPr>
      </p:pic>
      <p:sp>
        <p:nvSpPr>
          <p:cNvPr id="7" name="TextBox 6"/>
          <p:cNvSpPr txBox="1"/>
          <p:nvPr/>
        </p:nvSpPr>
        <p:spPr>
          <a:xfrm>
            <a:off x="3923928" y="2420888"/>
            <a:ext cx="1116124" cy="461665"/>
          </a:xfrm>
          <a:prstGeom prst="rect">
            <a:avLst/>
          </a:prstGeom>
          <a:noFill/>
        </p:spPr>
        <p:txBody>
          <a:bodyPr wrap="square" rtlCol="0">
            <a:spAutoFit/>
          </a:bodyPr>
          <a:lstStyle/>
          <a:p>
            <a:r>
              <a:rPr lang="zh-CN" altLang="en-US" sz="2400" dirty="0" smtClean="0"/>
              <a:t>输出：</a:t>
            </a:r>
            <a:endParaRPr lang="zh-CN" altLang="en-US" sz="2400" dirty="0"/>
          </a:p>
        </p:txBody>
      </p:sp>
    </p:spTree>
    <p:extLst>
      <p:ext uri="{BB962C8B-B14F-4D97-AF65-F5344CB8AC3E}">
        <p14:creationId xmlns:p14="http://schemas.microsoft.com/office/powerpoint/2010/main" val="904645755"/>
      </p:ext>
    </p:extLst>
  </p:cSld>
  <p:clrMapOvr>
    <a:masterClrMapping/>
  </p:clrMapOvr>
  <p:transition spd="med">
    <p:random/>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88640"/>
            <a:ext cx="8496944" cy="6669360"/>
          </a:xfrm>
        </p:spPr>
        <p:txBody>
          <a:bodyPr/>
          <a:lstStyle/>
          <a:p>
            <a:pPr marL="0" indent="0">
              <a:buNone/>
            </a:pPr>
            <a:r>
              <a:rPr lang="en-US" altLang="zh-CN" sz="2000" dirty="0">
                <a:latin typeface="+mj-lt"/>
                <a:ea typeface="+mj-ea"/>
                <a:cs typeface="+mj-cs"/>
              </a:rPr>
              <a:t>#include &lt;stdio.h&gt; </a:t>
            </a:r>
          </a:p>
          <a:p>
            <a:pPr marL="0" indent="0">
              <a:buNone/>
            </a:pPr>
            <a:r>
              <a:rPr lang="en-US" altLang="zh-CN" sz="2000" dirty="0">
                <a:latin typeface="+mj-lt"/>
                <a:ea typeface="+mj-ea"/>
                <a:cs typeface="+mj-cs"/>
              </a:rPr>
              <a:t>#include &lt;string.h&gt; </a:t>
            </a:r>
          </a:p>
          <a:p>
            <a:pPr marL="0" indent="0">
              <a:buNone/>
            </a:pPr>
            <a:r>
              <a:rPr lang="en-US" altLang="zh-CN" sz="2000" dirty="0">
                <a:latin typeface="+mj-lt"/>
                <a:ea typeface="+mj-ea"/>
                <a:cs typeface="+mj-cs"/>
              </a:rPr>
              <a:t>int </a:t>
            </a:r>
            <a:r>
              <a:rPr lang="en-US" altLang="zh-CN" sz="2000" dirty="0" smtClean="0">
                <a:latin typeface="+mj-lt"/>
                <a:ea typeface="+mj-ea"/>
                <a:cs typeface="+mj-cs"/>
              </a:rPr>
              <a:t>main() </a:t>
            </a:r>
            <a:endParaRPr lang="en-US" altLang="zh-CN" sz="2000" dirty="0">
              <a:latin typeface="+mj-lt"/>
              <a:ea typeface="+mj-ea"/>
              <a:cs typeface="+mj-cs"/>
            </a:endParaRPr>
          </a:p>
          <a:p>
            <a:pPr marL="0" indent="0">
              <a:buNone/>
            </a:pPr>
            <a:r>
              <a:rPr lang="en-US" altLang="zh-CN" sz="2000" dirty="0">
                <a:latin typeface="+mj-lt"/>
                <a:ea typeface="+mj-ea"/>
                <a:cs typeface="+mj-cs"/>
              </a:rPr>
              <a:t>{ </a:t>
            </a:r>
          </a:p>
          <a:p>
            <a:pPr marL="0" indent="0">
              <a:buNone/>
            </a:pPr>
            <a:r>
              <a:rPr lang="en-US" altLang="zh-CN" sz="2000" dirty="0" smtClean="0">
                <a:latin typeface="+mj-lt"/>
                <a:ea typeface="+mj-ea"/>
                <a:cs typeface="+mj-cs"/>
              </a:rPr>
              <a:t>    int </a:t>
            </a:r>
            <a:r>
              <a:rPr lang="en-US" altLang="zh-CN" sz="2000" dirty="0">
                <a:latin typeface="+mj-lt"/>
                <a:ea typeface="+mj-ea"/>
                <a:cs typeface="+mj-cs"/>
              </a:rPr>
              <a:t>i,j; </a:t>
            </a:r>
          </a:p>
          <a:p>
            <a:pPr marL="0" indent="0">
              <a:buNone/>
            </a:pPr>
            <a:r>
              <a:rPr lang="en-US" altLang="zh-CN" sz="2000" dirty="0" smtClean="0">
                <a:latin typeface="+mj-lt"/>
                <a:ea typeface="+mj-ea"/>
                <a:cs typeface="+mj-cs"/>
              </a:rPr>
              <a:t>    char </a:t>
            </a:r>
            <a:r>
              <a:rPr lang="en-US" altLang="zh-CN" sz="2000" dirty="0">
                <a:latin typeface="+mj-lt"/>
                <a:ea typeface="+mj-ea"/>
                <a:cs typeface="+mj-cs"/>
              </a:rPr>
              <a:t>ch[100]; </a:t>
            </a:r>
          </a:p>
          <a:p>
            <a:pPr marL="0" indent="0">
              <a:buNone/>
            </a:pPr>
            <a:r>
              <a:rPr lang="en-US" altLang="zh-CN" sz="2000" dirty="0" smtClean="0">
                <a:latin typeface="+mj-lt"/>
                <a:ea typeface="+mj-ea"/>
                <a:cs typeface="+mj-cs"/>
              </a:rPr>
              <a:t>    gets(ch</a:t>
            </a:r>
            <a:r>
              <a:rPr lang="en-US" altLang="zh-CN" sz="2000" dirty="0">
                <a:latin typeface="+mj-lt"/>
                <a:ea typeface="+mj-ea"/>
                <a:cs typeface="+mj-cs"/>
              </a:rPr>
              <a:t>); </a:t>
            </a:r>
          </a:p>
          <a:p>
            <a:pPr marL="0" indent="0">
              <a:buNone/>
            </a:pPr>
            <a:r>
              <a:rPr lang="en-US" altLang="zh-CN" sz="2000" dirty="0" smtClean="0">
                <a:latin typeface="+mj-lt"/>
                <a:ea typeface="+mj-ea"/>
                <a:cs typeface="+mj-cs"/>
              </a:rPr>
              <a:t>    for(i=0;i</a:t>
            </a:r>
            <a:r>
              <a:rPr lang="en-US" altLang="zh-CN" sz="2000" dirty="0">
                <a:latin typeface="+mj-lt"/>
                <a:ea typeface="+mj-ea"/>
                <a:cs typeface="+mj-cs"/>
              </a:rPr>
              <a:t>&lt; strlen(ch);i</a:t>
            </a:r>
            <a:r>
              <a:rPr lang="en-US" altLang="zh-CN" sz="2000" dirty="0" smtClean="0">
                <a:latin typeface="+mj-lt"/>
                <a:ea typeface="+mj-ea"/>
                <a:cs typeface="+mj-cs"/>
              </a:rPr>
              <a:t>++)</a:t>
            </a:r>
          </a:p>
          <a:p>
            <a:pPr marL="0" indent="0">
              <a:buNone/>
            </a:pPr>
            <a:r>
              <a:rPr lang="en-US" altLang="zh-CN" sz="2000" dirty="0">
                <a:latin typeface="+mj-lt"/>
                <a:ea typeface="+mj-ea"/>
                <a:cs typeface="+mj-cs"/>
              </a:rPr>
              <a:t> </a:t>
            </a:r>
            <a:r>
              <a:rPr lang="en-US" altLang="zh-CN" sz="2000" dirty="0" smtClean="0">
                <a:latin typeface="+mj-lt"/>
                <a:ea typeface="+mj-ea"/>
                <a:cs typeface="+mj-cs"/>
              </a:rPr>
              <a:t>  { </a:t>
            </a:r>
            <a:endParaRPr lang="en-US" altLang="zh-CN" sz="2000" dirty="0">
              <a:latin typeface="+mj-lt"/>
              <a:ea typeface="+mj-ea"/>
              <a:cs typeface="+mj-cs"/>
            </a:endParaRPr>
          </a:p>
          <a:p>
            <a:pPr marL="0" indent="0">
              <a:buNone/>
            </a:pPr>
            <a:r>
              <a:rPr lang="en-US" altLang="zh-CN" sz="2000" dirty="0" smtClean="0">
                <a:latin typeface="+mj-lt"/>
                <a:ea typeface="+mj-ea"/>
                <a:cs typeface="+mj-cs"/>
              </a:rPr>
              <a:t>        printf</a:t>
            </a:r>
            <a:r>
              <a:rPr lang="en-US" altLang="zh-CN" sz="2000" dirty="0">
                <a:latin typeface="+mj-lt"/>
                <a:ea typeface="+mj-ea"/>
                <a:cs typeface="+mj-cs"/>
              </a:rPr>
              <a:t>("%d:",i+1); </a:t>
            </a:r>
          </a:p>
          <a:p>
            <a:pPr marL="0" indent="0">
              <a:buNone/>
            </a:pPr>
            <a:r>
              <a:rPr lang="en-US" altLang="zh-CN" sz="2000" dirty="0" smtClean="0">
                <a:latin typeface="+mj-lt"/>
                <a:ea typeface="+mj-ea"/>
                <a:cs typeface="+mj-cs"/>
              </a:rPr>
              <a:t>        for(j=0;j</a:t>
            </a:r>
            <a:r>
              <a:rPr lang="en-US" altLang="zh-CN" sz="2000" dirty="0">
                <a:latin typeface="+mj-lt"/>
                <a:ea typeface="+mj-ea"/>
                <a:cs typeface="+mj-cs"/>
              </a:rPr>
              <a:t>&lt; i;j</a:t>
            </a:r>
            <a:r>
              <a:rPr lang="en-US" altLang="zh-CN" sz="2000" dirty="0" smtClean="0">
                <a:latin typeface="+mj-lt"/>
                <a:ea typeface="+mj-ea"/>
                <a:cs typeface="+mj-cs"/>
              </a:rPr>
              <a:t>++)   printf</a:t>
            </a:r>
            <a:r>
              <a:rPr lang="en-US" altLang="zh-CN" sz="2000" dirty="0">
                <a:latin typeface="+mj-lt"/>
                <a:ea typeface="+mj-ea"/>
                <a:cs typeface="+mj-cs"/>
              </a:rPr>
              <a:t>(" "); </a:t>
            </a:r>
            <a:r>
              <a:rPr lang="en-US" altLang="zh-CN" sz="2000" dirty="0" smtClean="0">
                <a:latin typeface="+mj-lt"/>
                <a:ea typeface="+mj-ea"/>
                <a:cs typeface="+mj-cs"/>
              </a:rPr>
              <a:t> </a:t>
            </a:r>
            <a:endParaRPr lang="en-US" altLang="zh-CN" sz="2000" dirty="0">
              <a:latin typeface="+mj-lt"/>
              <a:ea typeface="+mj-ea"/>
              <a:cs typeface="+mj-cs"/>
            </a:endParaRPr>
          </a:p>
          <a:p>
            <a:pPr marL="0" indent="0">
              <a:buNone/>
            </a:pPr>
            <a:r>
              <a:rPr lang="en-US" altLang="zh-CN" sz="2000" dirty="0" smtClean="0">
                <a:latin typeface="+mj-lt"/>
                <a:ea typeface="+mj-ea"/>
                <a:cs typeface="+mj-cs"/>
              </a:rPr>
              <a:t>        puts(</a:t>
            </a:r>
            <a:r>
              <a:rPr lang="en-US" altLang="zh-CN" sz="2000" dirty="0" err="1" smtClean="0">
                <a:latin typeface="+mj-lt"/>
                <a:ea typeface="+mj-ea"/>
                <a:cs typeface="+mj-cs"/>
              </a:rPr>
              <a:t>ch+i</a:t>
            </a:r>
            <a:r>
              <a:rPr lang="en-US" altLang="zh-CN" sz="2000" dirty="0">
                <a:latin typeface="+mj-lt"/>
                <a:ea typeface="+mj-ea"/>
                <a:cs typeface="+mj-cs"/>
              </a:rPr>
              <a:t>); </a:t>
            </a:r>
          </a:p>
          <a:p>
            <a:pPr marL="0" indent="0">
              <a:buNone/>
            </a:pPr>
            <a:r>
              <a:rPr lang="en-US" altLang="zh-CN" sz="2000" dirty="0" smtClean="0">
                <a:latin typeface="+mj-lt"/>
                <a:ea typeface="+mj-ea"/>
                <a:cs typeface="+mj-cs"/>
              </a:rPr>
              <a:t>    }   </a:t>
            </a:r>
            <a:endParaRPr lang="en-US" altLang="zh-CN" sz="2000" dirty="0">
              <a:latin typeface="+mj-lt"/>
              <a:ea typeface="+mj-ea"/>
              <a:cs typeface="+mj-cs"/>
            </a:endParaRPr>
          </a:p>
          <a:p>
            <a:pPr marL="0" indent="0">
              <a:buNone/>
            </a:pPr>
            <a:r>
              <a:rPr lang="en-US" altLang="zh-CN" sz="2000" dirty="0" smtClean="0">
                <a:latin typeface="+mj-lt"/>
                <a:ea typeface="+mj-ea"/>
                <a:cs typeface="+mj-cs"/>
              </a:rPr>
              <a:t>    return </a:t>
            </a:r>
            <a:r>
              <a:rPr lang="en-US" altLang="zh-CN" sz="2000" dirty="0">
                <a:latin typeface="+mj-lt"/>
                <a:ea typeface="+mj-ea"/>
                <a:cs typeface="+mj-cs"/>
              </a:rPr>
              <a:t>0; </a:t>
            </a:r>
          </a:p>
          <a:p>
            <a:pPr marL="0" indent="0">
              <a:buNone/>
            </a:pPr>
            <a:r>
              <a:rPr lang="en-US" altLang="zh-CN" sz="2000" dirty="0">
                <a:latin typeface="+mj-lt"/>
                <a:ea typeface="+mj-ea"/>
                <a:cs typeface="+mj-cs"/>
              </a:rPr>
              <a:t>} </a:t>
            </a:r>
            <a:endParaRPr lang="zh-CN" altLang="en-US" sz="2000" dirty="0">
              <a:latin typeface="+mj-lt"/>
              <a:ea typeface="+mj-ea"/>
              <a:cs typeface="+mj-cs"/>
            </a:endParaRPr>
          </a:p>
          <a:p>
            <a:endParaRPr lang="en-US" b="0" dirty="0"/>
          </a:p>
          <a:p>
            <a:endParaRPr lang="en-US" b="0" dirty="0" smtClean="0"/>
          </a:p>
          <a:p>
            <a:endParaRPr lang="en-US" b="0" dirty="0"/>
          </a:p>
          <a:p>
            <a:endParaRPr lang="en-US" b="0" dirty="0" smtClean="0"/>
          </a:p>
          <a:p>
            <a:endParaRPr lang="en-US" b="0" dirty="0"/>
          </a:p>
          <a:p>
            <a:endParaRPr lang="en-US" b="0" dirty="0" smtClean="0"/>
          </a:p>
          <a:p>
            <a:pPr marL="0" indent="0">
              <a:buNone/>
            </a:pPr>
            <a:endParaRPr lang="en-US" dirty="0"/>
          </a:p>
        </p:txBody>
      </p:sp>
      <p:sp>
        <p:nvSpPr>
          <p:cNvPr id="2" name="TextBox 1"/>
          <p:cNvSpPr txBox="1"/>
          <p:nvPr/>
        </p:nvSpPr>
        <p:spPr>
          <a:xfrm>
            <a:off x="5076056" y="3140968"/>
            <a:ext cx="3816424" cy="523220"/>
          </a:xfrm>
          <a:prstGeom prst="rect">
            <a:avLst/>
          </a:prstGeom>
          <a:noFill/>
        </p:spPr>
        <p:txBody>
          <a:bodyPr wrap="square" rtlCol="0">
            <a:spAutoFit/>
          </a:bodyPr>
          <a:lstStyle/>
          <a:p>
            <a:r>
              <a:rPr lang="en-US" altLang="zh-CN" sz="2800" b="1" dirty="0"/>
              <a:t>for(i=0;ch[i]!='\0';i</a:t>
            </a:r>
            <a:r>
              <a:rPr lang="en-US" altLang="zh-CN" sz="2800" b="1" dirty="0" smtClean="0"/>
              <a:t>++)</a:t>
            </a:r>
            <a:endParaRPr lang="zh-CN" altLang="en-US" sz="2800" b="1" dirty="0"/>
          </a:p>
        </p:txBody>
      </p:sp>
      <p:sp>
        <p:nvSpPr>
          <p:cNvPr id="4" name="左右箭头 3"/>
          <p:cNvSpPr/>
          <p:nvPr/>
        </p:nvSpPr>
        <p:spPr bwMode="auto">
          <a:xfrm>
            <a:off x="3995936" y="3330570"/>
            <a:ext cx="864096" cy="170438"/>
          </a:xfrm>
          <a:prstGeom prst="lef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200" b="0" i="0" u="none" strike="noStrike" cap="none" normalizeH="0" baseline="0" smtClean="0">
              <a:ln>
                <a:noFill/>
              </a:ln>
              <a:solidFill>
                <a:schemeClr val="tx1"/>
              </a:solidFill>
              <a:effectLst/>
              <a:latin typeface="Arial" charset="0"/>
              <a:ea typeface="宋体" pitchFamily="2" charset="-122"/>
            </a:endParaRPr>
          </a:p>
        </p:txBody>
      </p:sp>
      <p:pic>
        <p:nvPicPr>
          <p:cNvPr id="5" name="图片 4" descr="屏幕剪辑"/>
          <p:cNvPicPr>
            <a:picLocks noChangeAspect="1"/>
          </p:cNvPicPr>
          <p:nvPr/>
        </p:nvPicPr>
        <p:blipFill rotWithShape="1">
          <a:blip r:embed="rId2">
            <a:extLst>
              <a:ext uri="{28A0092B-C50C-407E-A947-70E740481C1C}">
                <a14:useLocalDpi xmlns:a14="http://schemas.microsoft.com/office/drawing/2010/main" val="0"/>
              </a:ext>
            </a:extLst>
          </a:blip>
          <a:srcRect t="9630"/>
          <a:stretch/>
        </p:blipFill>
        <p:spPr>
          <a:xfrm>
            <a:off x="5724127" y="188640"/>
            <a:ext cx="2254235" cy="2880320"/>
          </a:xfrm>
          <a:prstGeom prst="rect">
            <a:avLst/>
          </a:prstGeom>
        </p:spPr>
      </p:pic>
    </p:spTree>
    <p:extLst>
      <p:ext uri="{BB962C8B-B14F-4D97-AF65-F5344CB8AC3E}">
        <p14:creationId xmlns:p14="http://schemas.microsoft.com/office/powerpoint/2010/main" val="1192146159"/>
      </p:ext>
    </p:extLst>
  </p:cSld>
  <p:clrMapOvr>
    <a:masterClrMapping/>
  </p:clrMapOvr>
  <p:transition spd="med">
    <p:random/>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4.3.3</a:t>
            </a:r>
            <a:r>
              <a:rPr lang="zh-CN" altLang="en-US" dirty="0"/>
              <a:t>字符串的检索、插入和删除</a:t>
            </a:r>
            <a:endParaRPr lang="en-US" dirty="0"/>
          </a:p>
        </p:txBody>
      </p:sp>
      <p:sp>
        <p:nvSpPr>
          <p:cNvPr id="3" name="Content Placeholder 2"/>
          <p:cNvSpPr>
            <a:spLocks noGrp="1"/>
          </p:cNvSpPr>
          <p:nvPr>
            <p:ph idx="1"/>
          </p:nvPr>
        </p:nvSpPr>
        <p:spPr/>
        <p:txBody>
          <a:bodyPr/>
          <a:lstStyle/>
          <a:p>
            <a:r>
              <a:rPr lang="zh-CN" altLang="en-US" dirty="0" smtClean="0"/>
              <a:t>思考</a:t>
            </a:r>
            <a:r>
              <a:rPr lang="zh-CN" altLang="en-US" dirty="0"/>
              <a:t>如何逆序</a:t>
            </a:r>
            <a:r>
              <a:rPr lang="zh-CN" altLang="en-US" dirty="0" smtClean="0"/>
              <a:t>输出结果</a:t>
            </a:r>
            <a:r>
              <a:rPr lang="zh-CN" altLang="en-US" b="0" dirty="0" smtClean="0"/>
              <a:t>：</a:t>
            </a:r>
            <a:endParaRPr lang="en-US" altLang="zh-CN" b="0" dirty="0" smtClean="0"/>
          </a:p>
          <a:p>
            <a:r>
              <a:rPr lang="zh-CN" altLang="en-US" b="0" dirty="0" smtClean="0"/>
              <a:t>输入</a:t>
            </a:r>
            <a:r>
              <a:rPr lang="en-US" altLang="zh-CN" b="0" dirty="0" smtClean="0"/>
              <a:t>shanghai          </a:t>
            </a:r>
            <a:r>
              <a:rPr lang="zh-CN" altLang="en-US" b="0" dirty="0" smtClean="0"/>
              <a:t>输出：</a:t>
            </a: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92</a:t>
            </a:fld>
            <a:endParaRPr lang="en-US" altLang="zh-CN" dirty="0"/>
          </a:p>
        </p:txBody>
      </p:sp>
      <p:pic>
        <p:nvPicPr>
          <p:cNvPr id="6" name="图片 5"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2080" y="2420888"/>
            <a:ext cx="2660933" cy="3695738"/>
          </a:xfrm>
          <a:prstGeom prst="rect">
            <a:avLst/>
          </a:prstGeom>
        </p:spPr>
      </p:pic>
    </p:spTree>
    <p:extLst>
      <p:ext uri="{BB962C8B-B14F-4D97-AF65-F5344CB8AC3E}">
        <p14:creationId xmlns:p14="http://schemas.microsoft.com/office/powerpoint/2010/main" val="33169513"/>
      </p:ext>
    </p:extLst>
  </p:cSld>
  <p:clrMapOvr>
    <a:masterClrMapping/>
  </p:clrMapOvr>
  <p:transition spd="med">
    <p:random/>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0"/>
            <a:ext cx="8820721" cy="6984776"/>
          </a:xfrm>
        </p:spPr>
        <p:txBody>
          <a:bodyPr/>
          <a:lstStyle/>
          <a:p>
            <a:pPr marL="0" indent="0">
              <a:buNone/>
            </a:pPr>
            <a:r>
              <a:rPr lang="en-US" altLang="zh-CN" sz="2000" dirty="0">
                <a:latin typeface="+mj-lt"/>
                <a:ea typeface="+mj-ea"/>
                <a:cs typeface="+mj-cs"/>
              </a:rPr>
              <a:t>#include &lt;stdio.h&gt;</a:t>
            </a:r>
          </a:p>
          <a:p>
            <a:pPr marL="0" indent="0">
              <a:buNone/>
            </a:pPr>
            <a:r>
              <a:rPr lang="en-US" altLang="zh-CN" sz="2000" dirty="0">
                <a:latin typeface="+mj-lt"/>
                <a:ea typeface="+mj-ea"/>
                <a:cs typeface="+mj-cs"/>
              </a:rPr>
              <a:t>#include &lt;string.h&gt;</a:t>
            </a:r>
          </a:p>
          <a:p>
            <a:pPr marL="0" indent="0">
              <a:buNone/>
            </a:pPr>
            <a:r>
              <a:rPr lang="en-US" altLang="zh-CN" sz="2000" dirty="0">
                <a:latin typeface="+mj-lt"/>
                <a:ea typeface="+mj-ea"/>
                <a:cs typeface="+mj-cs"/>
              </a:rPr>
              <a:t>int main()</a:t>
            </a:r>
          </a:p>
          <a:p>
            <a:pPr marL="0" indent="0">
              <a:buNone/>
            </a:pPr>
            <a:r>
              <a:rPr lang="en-US" altLang="zh-CN" sz="2000" dirty="0">
                <a:latin typeface="+mj-lt"/>
                <a:ea typeface="+mj-ea"/>
                <a:cs typeface="+mj-cs"/>
              </a:rPr>
              <a:t>{</a:t>
            </a:r>
          </a:p>
          <a:p>
            <a:pPr marL="0" indent="0">
              <a:buNone/>
            </a:pPr>
            <a:r>
              <a:rPr lang="en-US" altLang="zh-CN" sz="2000" dirty="0">
                <a:latin typeface="+mj-lt"/>
                <a:ea typeface="+mj-ea"/>
                <a:cs typeface="+mj-cs"/>
              </a:rPr>
              <a:t>    int i,j;</a:t>
            </a:r>
          </a:p>
          <a:p>
            <a:pPr marL="0" indent="0">
              <a:buNone/>
            </a:pPr>
            <a:r>
              <a:rPr lang="en-US" altLang="zh-CN" sz="2000" dirty="0">
                <a:latin typeface="+mj-lt"/>
                <a:ea typeface="+mj-ea"/>
                <a:cs typeface="+mj-cs"/>
              </a:rPr>
              <a:t>    char ch[100];</a:t>
            </a:r>
          </a:p>
          <a:p>
            <a:pPr marL="0" indent="0">
              <a:buNone/>
            </a:pPr>
            <a:r>
              <a:rPr lang="en-US" altLang="zh-CN" sz="2000" dirty="0">
                <a:latin typeface="+mj-lt"/>
                <a:ea typeface="+mj-ea"/>
                <a:cs typeface="+mj-cs"/>
              </a:rPr>
              <a:t>    gets(ch);</a:t>
            </a:r>
          </a:p>
          <a:p>
            <a:pPr marL="0" indent="0">
              <a:buNone/>
            </a:pPr>
            <a:r>
              <a:rPr lang="en-US" altLang="zh-CN" sz="2000" dirty="0">
                <a:latin typeface="+mj-lt"/>
                <a:ea typeface="+mj-ea"/>
                <a:cs typeface="+mj-cs"/>
              </a:rPr>
              <a:t>    for(i=0;i&lt; strlen(ch);i++)</a:t>
            </a:r>
          </a:p>
          <a:p>
            <a:pPr marL="0" indent="0">
              <a:buNone/>
            </a:pPr>
            <a:r>
              <a:rPr lang="en-US" altLang="zh-CN" sz="2000" dirty="0">
                <a:latin typeface="+mj-lt"/>
                <a:ea typeface="+mj-ea"/>
                <a:cs typeface="+mj-cs"/>
              </a:rPr>
              <a:t>   {</a:t>
            </a:r>
          </a:p>
          <a:p>
            <a:pPr marL="0" indent="0">
              <a:buNone/>
            </a:pPr>
            <a:r>
              <a:rPr lang="en-US" altLang="zh-CN" sz="2000" dirty="0">
                <a:latin typeface="+mj-lt"/>
                <a:ea typeface="+mj-ea"/>
                <a:cs typeface="+mj-cs"/>
              </a:rPr>
              <a:t>        printf("%d:",i+1);</a:t>
            </a:r>
          </a:p>
          <a:p>
            <a:pPr marL="0" indent="0">
              <a:buNone/>
            </a:pPr>
            <a:r>
              <a:rPr lang="en-US" altLang="zh-CN" sz="2000" dirty="0">
                <a:latin typeface="+mj-lt"/>
                <a:ea typeface="+mj-ea"/>
                <a:cs typeface="+mj-cs"/>
              </a:rPr>
              <a:t>        for(j=0;j&lt; i;j++)   printf(" ");</a:t>
            </a:r>
          </a:p>
          <a:p>
            <a:pPr marL="0" indent="0">
              <a:buNone/>
            </a:pPr>
            <a:r>
              <a:rPr lang="en-US" altLang="zh-CN" sz="2000" dirty="0">
                <a:latin typeface="+mj-lt"/>
                <a:ea typeface="+mj-ea"/>
                <a:cs typeface="+mj-cs"/>
              </a:rPr>
              <a:t>        for(j=strlen(ch)-1;j&gt;=i;j--)  printf("%c",ch[j]);</a:t>
            </a:r>
          </a:p>
          <a:p>
            <a:pPr marL="0" indent="0">
              <a:buNone/>
            </a:pPr>
            <a:r>
              <a:rPr lang="en-US" altLang="zh-CN" sz="2000" dirty="0">
                <a:latin typeface="+mj-lt"/>
                <a:ea typeface="+mj-ea"/>
                <a:cs typeface="+mj-cs"/>
              </a:rPr>
              <a:t>        printf("\n");</a:t>
            </a:r>
          </a:p>
          <a:p>
            <a:pPr marL="0" indent="0">
              <a:buNone/>
            </a:pPr>
            <a:r>
              <a:rPr lang="en-US" altLang="zh-CN" sz="2000" dirty="0">
                <a:latin typeface="+mj-lt"/>
                <a:ea typeface="+mj-ea"/>
                <a:cs typeface="+mj-cs"/>
              </a:rPr>
              <a:t>    }</a:t>
            </a:r>
          </a:p>
          <a:p>
            <a:pPr marL="0" indent="0">
              <a:buNone/>
            </a:pPr>
            <a:r>
              <a:rPr lang="en-US" altLang="zh-CN" sz="2000" dirty="0">
                <a:latin typeface="+mj-lt"/>
                <a:ea typeface="+mj-ea"/>
                <a:cs typeface="+mj-cs"/>
              </a:rPr>
              <a:t>    return 0;</a:t>
            </a:r>
          </a:p>
          <a:p>
            <a:pPr marL="0" indent="0">
              <a:buNone/>
            </a:pPr>
            <a:r>
              <a:rPr lang="en-US" altLang="zh-CN" sz="2000" dirty="0">
                <a:latin typeface="+mj-lt"/>
                <a:ea typeface="+mj-ea"/>
                <a:cs typeface="+mj-cs"/>
              </a:rPr>
              <a:t>}</a:t>
            </a:r>
            <a:endParaRPr lang="zh-CN" altLang="en-US" sz="2000"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93</a:t>
            </a:fld>
            <a:endParaRPr lang="en-US" altLang="zh-CN" dirty="0"/>
          </a:p>
        </p:txBody>
      </p:sp>
    </p:spTree>
    <p:extLst>
      <p:ext uri="{BB962C8B-B14F-4D97-AF65-F5344CB8AC3E}">
        <p14:creationId xmlns:p14="http://schemas.microsoft.com/office/powerpoint/2010/main" val="4285874154"/>
      </p:ext>
    </p:extLst>
  </p:cSld>
  <p:clrMapOvr>
    <a:masterClrMapping/>
  </p:clrMapOvr>
  <p:transition spd="med">
    <p:rand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4.3.3</a:t>
            </a:r>
            <a:r>
              <a:rPr lang="zh-CN" altLang="en-US" dirty="0"/>
              <a:t>字符串的检索、插入和删除</a:t>
            </a:r>
            <a:endParaRPr lang="en-US" dirty="0"/>
          </a:p>
        </p:txBody>
      </p:sp>
      <p:sp>
        <p:nvSpPr>
          <p:cNvPr id="3" name="Content Placeholder 2"/>
          <p:cNvSpPr>
            <a:spLocks noGrp="1"/>
          </p:cNvSpPr>
          <p:nvPr>
            <p:ph idx="1"/>
          </p:nvPr>
        </p:nvSpPr>
        <p:spPr/>
        <p:txBody>
          <a:bodyPr/>
          <a:lstStyle/>
          <a:p>
            <a:r>
              <a:rPr lang="en-US" altLang="zh-CN" dirty="0" smtClean="0"/>
              <a:t>【</a:t>
            </a:r>
            <a:r>
              <a:rPr lang="zh-CN" altLang="en-US" dirty="0"/>
              <a:t>例</a:t>
            </a:r>
            <a:r>
              <a:rPr lang="en-US" altLang="zh-CN" dirty="0"/>
              <a:t>4-18】</a:t>
            </a:r>
            <a:r>
              <a:rPr lang="zh-CN" altLang="en-US" dirty="0"/>
              <a:t>输入一个字符串，检索指定字符并返回元素在数组中的位置。</a:t>
            </a: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94</a:t>
            </a:fld>
            <a:endParaRPr lang="en-US" altLang="zh-C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2160" y="3212976"/>
            <a:ext cx="2391496"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3546916"/>
      </p:ext>
    </p:extLst>
  </p:cSld>
  <p:clrMapOvr>
    <a:masterClrMapping/>
  </p:clrMapOvr>
  <p:transition spd="med">
    <p:random/>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16632"/>
            <a:ext cx="8497193" cy="6624736"/>
          </a:xfrm>
        </p:spPr>
        <p:txBody>
          <a:bodyPr/>
          <a:lstStyle/>
          <a:p>
            <a:pPr marL="0" indent="0">
              <a:buNone/>
            </a:pPr>
            <a:r>
              <a:rPr lang="en-US" altLang="zh-CN" sz="1600" dirty="0">
                <a:latin typeface="+mj-lt"/>
                <a:ea typeface="+mj-ea"/>
                <a:cs typeface="+mj-cs"/>
              </a:rPr>
              <a:t>#include &lt;stdio.h&gt;</a:t>
            </a:r>
          </a:p>
          <a:p>
            <a:pPr marL="0" indent="0">
              <a:buNone/>
            </a:pPr>
            <a:r>
              <a:rPr lang="en-US" altLang="zh-CN" sz="1600" dirty="0">
                <a:latin typeface="+mj-lt"/>
                <a:ea typeface="+mj-ea"/>
                <a:cs typeface="+mj-cs"/>
              </a:rPr>
              <a:t>#include &lt;string.h&gt;</a:t>
            </a:r>
          </a:p>
          <a:p>
            <a:pPr marL="0" indent="0">
              <a:buNone/>
            </a:pPr>
            <a:r>
              <a:rPr lang="en-US" altLang="zh-CN" sz="1600" dirty="0">
                <a:latin typeface="+mj-lt"/>
                <a:ea typeface="+mj-ea"/>
                <a:cs typeface="+mj-cs"/>
              </a:rPr>
              <a:t>int main()</a:t>
            </a:r>
          </a:p>
          <a:p>
            <a:pPr marL="0" indent="0">
              <a:buNone/>
            </a:pPr>
            <a:r>
              <a:rPr lang="en-US" altLang="zh-CN" sz="1600" dirty="0">
                <a:latin typeface="+mj-lt"/>
                <a:ea typeface="+mj-ea"/>
                <a:cs typeface="+mj-cs"/>
              </a:rPr>
              <a:t>{</a:t>
            </a:r>
          </a:p>
          <a:p>
            <a:pPr marL="0" indent="0">
              <a:buNone/>
            </a:pPr>
            <a:r>
              <a:rPr lang="en-US" altLang="zh-CN" sz="1600" dirty="0">
                <a:latin typeface="+mj-lt"/>
                <a:ea typeface="+mj-ea"/>
                <a:cs typeface="+mj-cs"/>
              </a:rPr>
              <a:t>    char </a:t>
            </a:r>
            <a:r>
              <a:rPr lang="en-US" altLang="zh-CN" sz="1600" dirty="0" smtClean="0">
                <a:latin typeface="+mj-lt"/>
                <a:ea typeface="+mj-ea"/>
                <a:cs typeface="+mj-cs"/>
              </a:rPr>
              <a:t>ch[200],s;</a:t>
            </a:r>
            <a:endParaRPr lang="en-US" altLang="zh-CN" sz="1600" dirty="0">
              <a:latin typeface="+mj-lt"/>
              <a:ea typeface="+mj-ea"/>
              <a:cs typeface="+mj-cs"/>
            </a:endParaRPr>
          </a:p>
          <a:p>
            <a:pPr marL="0" indent="0">
              <a:buNone/>
            </a:pPr>
            <a:r>
              <a:rPr lang="en-US" altLang="zh-CN" sz="1600" dirty="0">
                <a:latin typeface="+mj-lt"/>
                <a:ea typeface="+mj-ea"/>
                <a:cs typeface="+mj-cs"/>
              </a:rPr>
              <a:t>    int i;</a:t>
            </a:r>
          </a:p>
          <a:p>
            <a:pPr marL="0" indent="0">
              <a:buNone/>
            </a:pPr>
            <a:r>
              <a:rPr lang="en-US" altLang="zh-CN" sz="1600" dirty="0">
                <a:latin typeface="+mj-lt"/>
                <a:ea typeface="+mj-ea"/>
                <a:cs typeface="+mj-cs"/>
              </a:rPr>
              <a:t>    </a:t>
            </a:r>
            <a:r>
              <a:rPr lang="en-US" altLang="zh-CN" sz="1600" dirty="0" smtClean="0">
                <a:latin typeface="+mj-lt"/>
                <a:ea typeface="+mj-ea"/>
                <a:cs typeface="+mj-cs"/>
              </a:rPr>
              <a:t>gets(ch);</a:t>
            </a:r>
            <a:endParaRPr lang="en-US" altLang="zh-CN" sz="1600" dirty="0">
              <a:latin typeface="+mj-lt"/>
              <a:ea typeface="+mj-ea"/>
              <a:cs typeface="+mj-cs"/>
            </a:endParaRPr>
          </a:p>
          <a:p>
            <a:pPr marL="0" indent="0">
              <a:buNone/>
            </a:pPr>
            <a:r>
              <a:rPr lang="en-US" altLang="zh-CN" sz="1600" dirty="0">
                <a:latin typeface="+mj-lt"/>
                <a:ea typeface="+mj-ea"/>
                <a:cs typeface="+mj-cs"/>
              </a:rPr>
              <a:t>    scanf("%c</a:t>
            </a:r>
            <a:r>
              <a:rPr lang="en-US" altLang="zh-CN" sz="1600" dirty="0" smtClean="0">
                <a:latin typeface="+mj-lt"/>
                <a:ea typeface="+mj-ea"/>
                <a:cs typeface="+mj-cs"/>
              </a:rPr>
              <a:t>",&amp;s);</a:t>
            </a:r>
            <a:endParaRPr lang="en-US" altLang="zh-CN" sz="1600" dirty="0">
              <a:latin typeface="+mj-lt"/>
              <a:ea typeface="+mj-ea"/>
              <a:cs typeface="+mj-cs"/>
            </a:endParaRPr>
          </a:p>
          <a:p>
            <a:pPr marL="0" indent="0">
              <a:buNone/>
            </a:pPr>
            <a:r>
              <a:rPr lang="en-US" altLang="zh-CN" sz="1600" dirty="0">
                <a:latin typeface="+mj-lt"/>
                <a:ea typeface="+mj-ea"/>
                <a:cs typeface="+mj-cs"/>
              </a:rPr>
              <a:t>    </a:t>
            </a:r>
            <a:r>
              <a:rPr lang="en-US" altLang="zh-CN" sz="1600" dirty="0" smtClean="0">
                <a:latin typeface="+mj-lt"/>
                <a:ea typeface="+mj-ea"/>
                <a:cs typeface="+mj-cs"/>
              </a:rPr>
              <a:t>for(i=0;i&lt;strlen(ch);</a:t>
            </a:r>
            <a:r>
              <a:rPr lang="en-US" altLang="zh-CN" sz="1600" dirty="0">
                <a:latin typeface="+mj-lt"/>
                <a:ea typeface="+mj-ea"/>
                <a:cs typeface="+mj-cs"/>
              </a:rPr>
              <a:t>i++)</a:t>
            </a:r>
          </a:p>
          <a:p>
            <a:pPr marL="0" indent="0">
              <a:buNone/>
            </a:pPr>
            <a:r>
              <a:rPr lang="en-US" altLang="zh-CN" sz="1600" dirty="0">
                <a:latin typeface="+mj-lt"/>
                <a:ea typeface="+mj-ea"/>
                <a:cs typeface="+mj-cs"/>
              </a:rPr>
              <a:t>    {</a:t>
            </a:r>
          </a:p>
          <a:p>
            <a:pPr marL="0" indent="0">
              <a:buNone/>
            </a:pPr>
            <a:r>
              <a:rPr lang="en-US" altLang="zh-CN" sz="1600" dirty="0">
                <a:latin typeface="+mj-lt"/>
                <a:ea typeface="+mj-ea"/>
                <a:cs typeface="+mj-cs"/>
              </a:rPr>
              <a:t>      </a:t>
            </a:r>
            <a:r>
              <a:rPr lang="en-US" altLang="zh-CN" sz="1600" dirty="0" smtClean="0">
                <a:latin typeface="+mj-lt"/>
                <a:ea typeface="+mj-ea"/>
                <a:cs typeface="+mj-cs"/>
              </a:rPr>
              <a:t>if(ch[i</a:t>
            </a:r>
            <a:r>
              <a:rPr lang="en-US" altLang="zh-CN" sz="1600" dirty="0">
                <a:latin typeface="+mj-lt"/>
                <a:ea typeface="+mj-ea"/>
                <a:cs typeface="+mj-cs"/>
              </a:rPr>
              <a:t>] </a:t>
            </a:r>
            <a:r>
              <a:rPr lang="en-US" altLang="zh-CN" sz="1600" dirty="0" smtClean="0">
                <a:latin typeface="+mj-lt"/>
                <a:ea typeface="+mj-ea"/>
                <a:cs typeface="+mj-cs"/>
              </a:rPr>
              <a:t>==s)</a:t>
            </a:r>
            <a:endParaRPr lang="en-US" altLang="zh-CN" sz="1600" dirty="0">
              <a:latin typeface="+mj-lt"/>
              <a:ea typeface="+mj-ea"/>
              <a:cs typeface="+mj-cs"/>
            </a:endParaRPr>
          </a:p>
          <a:p>
            <a:pPr marL="0" indent="0">
              <a:buNone/>
            </a:pPr>
            <a:r>
              <a:rPr lang="en-US" altLang="zh-CN" sz="1600" dirty="0">
                <a:latin typeface="+mj-lt"/>
                <a:ea typeface="+mj-ea"/>
                <a:cs typeface="+mj-cs"/>
              </a:rPr>
              <a:t>         break;</a:t>
            </a:r>
          </a:p>
          <a:p>
            <a:pPr marL="0" indent="0">
              <a:buNone/>
            </a:pPr>
            <a:r>
              <a:rPr lang="en-US" altLang="zh-CN" sz="1600" dirty="0">
                <a:latin typeface="+mj-lt"/>
                <a:ea typeface="+mj-ea"/>
                <a:cs typeface="+mj-cs"/>
              </a:rPr>
              <a:t>     }</a:t>
            </a:r>
          </a:p>
          <a:p>
            <a:pPr marL="0" indent="0">
              <a:buNone/>
            </a:pPr>
            <a:r>
              <a:rPr lang="en-US" altLang="zh-CN" sz="1600" dirty="0">
                <a:latin typeface="+mj-lt"/>
                <a:ea typeface="+mj-ea"/>
                <a:cs typeface="+mj-cs"/>
              </a:rPr>
              <a:t>    </a:t>
            </a:r>
            <a:r>
              <a:rPr lang="en-US" altLang="zh-CN" sz="1600" dirty="0" smtClean="0">
                <a:latin typeface="+mj-lt"/>
                <a:ea typeface="+mj-ea"/>
                <a:cs typeface="+mj-cs"/>
              </a:rPr>
              <a:t>if(i&lt;strlen(ch))</a:t>
            </a:r>
            <a:endParaRPr lang="en-US" altLang="zh-CN" sz="1600" dirty="0">
              <a:latin typeface="+mj-lt"/>
              <a:ea typeface="+mj-ea"/>
              <a:cs typeface="+mj-cs"/>
            </a:endParaRPr>
          </a:p>
          <a:p>
            <a:pPr marL="0" indent="0">
              <a:buNone/>
            </a:pPr>
            <a:r>
              <a:rPr lang="en-US" altLang="zh-CN" sz="1600" dirty="0">
                <a:latin typeface="+mj-lt"/>
                <a:ea typeface="+mj-ea"/>
                <a:cs typeface="+mj-cs"/>
              </a:rPr>
              <a:t>        printf("Found the char at %d",(i+1));</a:t>
            </a:r>
          </a:p>
          <a:p>
            <a:pPr marL="0" indent="0">
              <a:buNone/>
            </a:pPr>
            <a:r>
              <a:rPr lang="en-US" altLang="zh-CN" sz="1600" dirty="0">
                <a:latin typeface="+mj-lt"/>
                <a:ea typeface="+mj-ea"/>
                <a:cs typeface="+mj-cs"/>
              </a:rPr>
              <a:t>    else</a:t>
            </a:r>
          </a:p>
          <a:p>
            <a:pPr marL="0" indent="0">
              <a:buNone/>
            </a:pPr>
            <a:r>
              <a:rPr lang="en-US" altLang="zh-CN" sz="1600" dirty="0">
                <a:latin typeface="+mj-lt"/>
                <a:ea typeface="+mj-ea"/>
                <a:cs typeface="+mj-cs"/>
              </a:rPr>
              <a:t>         printf("Not Found");</a:t>
            </a:r>
          </a:p>
          <a:p>
            <a:pPr marL="0" indent="0">
              <a:buNone/>
            </a:pPr>
            <a:r>
              <a:rPr lang="en-US" altLang="zh-CN" sz="1600" dirty="0">
                <a:latin typeface="+mj-lt"/>
                <a:ea typeface="+mj-ea"/>
                <a:cs typeface="+mj-cs"/>
              </a:rPr>
              <a:t>    return 0;</a:t>
            </a:r>
          </a:p>
          <a:p>
            <a:pPr marL="0" indent="0">
              <a:buNone/>
            </a:pPr>
            <a:r>
              <a:rPr lang="en-US" altLang="zh-CN" sz="1600" dirty="0">
                <a:latin typeface="+mj-lt"/>
                <a:ea typeface="+mj-ea"/>
                <a:cs typeface="+mj-cs"/>
              </a:rPr>
              <a:t>}</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2160" y="3212976"/>
            <a:ext cx="2391496"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91077448"/>
      </p:ext>
    </p:extLst>
  </p:cSld>
  <p:clrMapOvr>
    <a:masterClrMapping/>
  </p:clrMapOvr>
  <p:transition spd="med">
    <p:random/>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4.3.3</a:t>
            </a:r>
            <a:r>
              <a:rPr lang="zh-CN" altLang="en-US" dirty="0"/>
              <a:t>字符串的检索、插入和删除</a:t>
            </a:r>
            <a:endParaRPr lang="en-US" dirty="0"/>
          </a:p>
        </p:txBody>
      </p:sp>
      <p:sp>
        <p:nvSpPr>
          <p:cNvPr id="3" name="Content Placeholder 2"/>
          <p:cNvSpPr>
            <a:spLocks noGrp="1"/>
          </p:cNvSpPr>
          <p:nvPr>
            <p:ph idx="1"/>
          </p:nvPr>
        </p:nvSpPr>
        <p:spPr/>
        <p:txBody>
          <a:bodyPr/>
          <a:lstStyle/>
          <a:p>
            <a:r>
              <a:rPr lang="en-US" altLang="zh-CN" dirty="0" smtClean="0"/>
              <a:t>【</a:t>
            </a:r>
            <a:r>
              <a:rPr lang="zh-CN" altLang="en-US" dirty="0"/>
              <a:t>例</a:t>
            </a:r>
            <a:r>
              <a:rPr lang="en-US" altLang="zh-CN" dirty="0"/>
              <a:t>4-19】</a:t>
            </a:r>
            <a:r>
              <a:rPr lang="zh-CN" altLang="en-US" dirty="0"/>
              <a:t>输入一个字符串，在指定下标位置处插入字符。</a:t>
            </a: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96</a:t>
            </a:fld>
            <a:endParaRPr lang="en-US" altLang="zh-CN" dirty="0"/>
          </a:p>
        </p:txBody>
      </p:sp>
      <p:pic>
        <p:nvPicPr>
          <p:cNvPr id="6" name="图片 5"/>
          <p:cNvPicPr>
            <a:picLocks noChangeAspect="1"/>
          </p:cNvPicPr>
          <p:nvPr/>
        </p:nvPicPr>
        <p:blipFill>
          <a:blip r:embed="rId2"/>
          <a:stretch>
            <a:fillRect/>
          </a:stretch>
        </p:blipFill>
        <p:spPr>
          <a:xfrm>
            <a:off x="3347864" y="3429000"/>
            <a:ext cx="5076825" cy="809625"/>
          </a:xfrm>
          <a:prstGeom prst="rect">
            <a:avLst/>
          </a:prstGeom>
        </p:spPr>
      </p:pic>
    </p:spTree>
    <p:extLst>
      <p:ext uri="{BB962C8B-B14F-4D97-AF65-F5344CB8AC3E}">
        <p14:creationId xmlns:p14="http://schemas.microsoft.com/office/powerpoint/2010/main" val="346335412"/>
      </p:ext>
    </p:extLst>
  </p:cSld>
  <p:clrMapOvr>
    <a:masterClrMapping/>
  </p:clrMapOvr>
  <p:transition spd="med">
    <p:random/>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23349"/>
            <a:ext cx="8315109" cy="6834651"/>
          </a:xfrm>
        </p:spPr>
        <p:txBody>
          <a:bodyPr/>
          <a:lstStyle/>
          <a:p>
            <a:pPr marL="0" indent="0">
              <a:buNone/>
            </a:pPr>
            <a:r>
              <a:rPr lang="en-US" altLang="zh-CN" sz="1800" dirty="0"/>
              <a:t>#include &lt;stdio.h&gt; </a:t>
            </a:r>
          </a:p>
          <a:p>
            <a:pPr marL="0" indent="0">
              <a:buNone/>
            </a:pPr>
            <a:r>
              <a:rPr lang="en-US" altLang="zh-CN" sz="1800" dirty="0"/>
              <a:t>#include &lt;string.h&gt; </a:t>
            </a:r>
          </a:p>
          <a:p>
            <a:pPr marL="0" indent="0">
              <a:buNone/>
            </a:pPr>
            <a:r>
              <a:rPr lang="en-US" altLang="zh-CN" sz="1800" dirty="0"/>
              <a:t>int main() </a:t>
            </a:r>
          </a:p>
          <a:p>
            <a:pPr marL="0" indent="0">
              <a:buNone/>
            </a:pPr>
            <a:r>
              <a:rPr lang="en-US" altLang="zh-CN" sz="1800" dirty="0"/>
              <a:t>{ </a:t>
            </a:r>
          </a:p>
          <a:p>
            <a:pPr marL="0" indent="0">
              <a:buNone/>
            </a:pPr>
            <a:r>
              <a:rPr lang="en-US" altLang="zh-CN" sz="1800" dirty="0" smtClean="0"/>
              <a:t>    char ch[200],</a:t>
            </a:r>
            <a:r>
              <a:rPr lang="en-US" altLang="zh-CN" sz="1800" dirty="0"/>
              <a:t>s; </a:t>
            </a:r>
          </a:p>
          <a:p>
            <a:pPr marL="0" indent="0">
              <a:buNone/>
            </a:pPr>
            <a:r>
              <a:rPr lang="en-US" altLang="zh-CN" sz="1800" dirty="0" smtClean="0"/>
              <a:t>    int </a:t>
            </a:r>
            <a:r>
              <a:rPr lang="en-US" altLang="zh-CN" sz="1800" dirty="0"/>
              <a:t>i,k; </a:t>
            </a:r>
          </a:p>
          <a:p>
            <a:pPr marL="0" indent="0">
              <a:buNone/>
            </a:pPr>
            <a:r>
              <a:rPr lang="en-US" altLang="zh-CN" sz="1800" dirty="0" smtClean="0"/>
              <a:t>    gets(ch); </a:t>
            </a:r>
            <a:endParaRPr lang="en-US" altLang="zh-CN" sz="1800" dirty="0"/>
          </a:p>
          <a:p>
            <a:pPr marL="0" indent="0">
              <a:buNone/>
            </a:pPr>
            <a:r>
              <a:rPr lang="en-US" altLang="zh-CN" sz="1800" dirty="0" smtClean="0"/>
              <a:t>    scanf</a:t>
            </a:r>
            <a:r>
              <a:rPr lang="en-US" altLang="zh-CN" sz="1800" dirty="0"/>
              <a:t>("%</a:t>
            </a:r>
            <a:r>
              <a:rPr lang="en-US" altLang="zh-CN" sz="1800" dirty="0" smtClean="0"/>
              <a:t>d</a:t>
            </a:r>
            <a:r>
              <a:rPr lang="en-US" altLang="zh-CN" sz="1800" dirty="0" smtClean="0">
                <a:solidFill>
                  <a:srgbClr val="FF0000"/>
                </a:solidFill>
              </a:rPr>
              <a:t>\</a:t>
            </a:r>
            <a:r>
              <a:rPr lang="en-US" altLang="zh-CN" sz="1800" dirty="0" err="1" smtClean="0">
                <a:solidFill>
                  <a:srgbClr val="FF0000"/>
                </a:solidFill>
              </a:rPr>
              <a:t>n</a:t>
            </a:r>
            <a:r>
              <a:rPr lang="en-US" altLang="zh-CN" sz="1800" dirty="0" err="1" smtClean="0"/>
              <a:t>",&amp;</a:t>
            </a:r>
            <a:r>
              <a:rPr lang="en-US" altLang="zh-CN" sz="1800" dirty="0" err="1"/>
              <a:t>k</a:t>
            </a:r>
            <a:r>
              <a:rPr lang="en-US" altLang="zh-CN" sz="1800" dirty="0"/>
              <a:t>);//</a:t>
            </a:r>
            <a:r>
              <a:rPr lang="zh-CN" altLang="en-US" sz="1800" dirty="0"/>
              <a:t>输入指定的下标值 </a:t>
            </a:r>
          </a:p>
          <a:p>
            <a:pPr marL="0" indent="0">
              <a:buNone/>
            </a:pPr>
            <a:r>
              <a:rPr lang="en-US" altLang="zh-CN" sz="1800" dirty="0" smtClean="0"/>
              <a:t>    scanf</a:t>
            </a:r>
            <a:r>
              <a:rPr lang="en-US" altLang="zh-CN" sz="1800" dirty="0"/>
              <a:t>("%c",&amp;s); </a:t>
            </a:r>
          </a:p>
          <a:p>
            <a:pPr marL="0" indent="0">
              <a:buNone/>
            </a:pPr>
            <a:r>
              <a:rPr lang="en-US" altLang="zh-CN" sz="1800" dirty="0" smtClean="0"/>
              <a:t>    for(i=strlen(ch)+</a:t>
            </a:r>
            <a:r>
              <a:rPr lang="en-US" altLang="zh-CN" sz="1800" dirty="0"/>
              <a:t>1;i&gt;k;i--){//k</a:t>
            </a:r>
            <a:r>
              <a:rPr lang="zh-CN" altLang="en-US" sz="1800" dirty="0"/>
              <a:t>到字符末尾依次后移一位 </a:t>
            </a:r>
          </a:p>
          <a:p>
            <a:pPr marL="0" indent="0">
              <a:buNone/>
            </a:pPr>
            <a:r>
              <a:rPr lang="en-US" altLang="zh-CN" sz="1800" dirty="0" smtClean="0"/>
              <a:t>    ch[i]=ch[i-1</a:t>
            </a:r>
            <a:r>
              <a:rPr lang="en-US" altLang="zh-CN" sz="1800" dirty="0"/>
              <a:t>]; </a:t>
            </a:r>
          </a:p>
          <a:p>
            <a:pPr marL="0" indent="0">
              <a:buNone/>
            </a:pPr>
            <a:r>
              <a:rPr lang="en-US" altLang="zh-CN" sz="1800" dirty="0" smtClean="0"/>
              <a:t>    } </a:t>
            </a:r>
            <a:endParaRPr lang="en-US" altLang="zh-CN" sz="1800" dirty="0"/>
          </a:p>
          <a:p>
            <a:pPr marL="0" indent="0">
              <a:buNone/>
            </a:pPr>
            <a:r>
              <a:rPr lang="en-US" altLang="zh-CN" sz="1800" dirty="0" smtClean="0"/>
              <a:t>    ch[k</a:t>
            </a:r>
            <a:r>
              <a:rPr lang="en-US" altLang="zh-CN" sz="1800" dirty="0"/>
              <a:t>]=s;//</a:t>
            </a:r>
            <a:r>
              <a:rPr lang="zh-CN" altLang="en-US" sz="1800" dirty="0"/>
              <a:t>插入字符 </a:t>
            </a:r>
          </a:p>
          <a:p>
            <a:pPr marL="0" indent="0">
              <a:buNone/>
            </a:pPr>
            <a:r>
              <a:rPr lang="en-US" altLang="zh-CN" sz="1800" dirty="0" smtClean="0"/>
              <a:t>    for(i=0;i&lt;strlen(ch</a:t>
            </a:r>
            <a:r>
              <a:rPr lang="en-US" altLang="zh-CN" sz="1800" dirty="0"/>
              <a:t>)+1;i++){ </a:t>
            </a:r>
          </a:p>
          <a:p>
            <a:pPr marL="0" indent="0">
              <a:buNone/>
            </a:pPr>
            <a:r>
              <a:rPr lang="en-US" altLang="zh-CN" sz="1800" dirty="0" smtClean="0"/>
              <a:t>    printf</a:t>
            </a:r>
            <a:r>
              <a:rPr lang="en-US" altLang="zh-CN" sz="1800" dirty="0"/>
              <a:t>("%4c",ch[i]); </a:t>
            </a:r>
          </a:p>
          <a:p>
            <a:pPr marL="0" indent="0">
              <a:buNone/>
            </a:pPr>
            <a:r>
              <a:rPr lang="en-US" altLang="zh-CN" sz="1800" dirty="0" smtClean="0"/>
              <a:t>    } </a:t>
            </a:r>
            <a:endParaRPr lang="en-US" altLang="zh-CN" sz="1800" dirty="0"/>
          </a:p>
          <a:p>
            <a:pPr marL="0" indent="0">
              <a:buNone/>
            </a:pPr>
            <a:r>
              <a:rPr lang="en-US" altLang="zh-CN" sz="1800" dirty="0" smtClean="0"/>
              <a:t>    return </a:t>
            </a:r>
            <a:r>
              <a:rPr lang="en-US" altLang="zh-CN" sz="1800" dirty="0"/>
              <a:t>0; </a:t>
            </a:r>
          </a:p>
          <a:p>
            <a:pPr marL="0" indent="0">
              <a:buNone/>
            </a:pPr>
            <a:r>
              <a:rPr lang="en-US" altLang="zh-CN" sz="1800" dirty="0"/>
              <a:t>} </a:t>
            </a:r>
            <a:endParaRPr lang="zh-CN" altLang="en-US" sz="1800" dirty="0"/>
          </a:p>
          <a:p>
            <a:pPr marL="0" indent="0">
              <a:buNone/>
            </a:pPr>
            <a:endParaRPr lang="en-US" sz="1600" dirty="0"/>
          </a:p>
        </p:txBody>
      </p:sp>
      <p:pic>
        <p:nvPicPr>
          <p:cNvPr id="2" name="图片 1"/>
          <p:cNvPicPr>
            <a:picLocks noChangeAspect="1"/>
          </p:cNvPicPr>
          <p:nvPr/>
        </p:nvPicPr>
        <p:blipFill>
          <a:blip r:embed="rId2"/>
          <a:stretch>
            <a:fillRect/>
          </a:stretch>
        </p:blipFill>
        <p:spPr>
          <a:xfrm>
            <a:off x="3923928" y="4293096"/>
            <a:ext cx="5076825" cy="809625"/>
          </a:xfrm>
          <a:prstGeom prst="rect">
            <a:avLst/>
          </a:prstGeom>
        </p:spPr>
      </p:pic>
    </p:spTree>
    <p:extLst>
      <p:ext uri="{BB962C8B-B14F-4D97-AF65-F5344CB8AC3E}">
        <p14:creationId xmlns:p14="http://schemas.microsoft.com/office/powerpoint/2010/main" val="3189514474"/>
      </p:ext>
    </p:extLst>
  </p:cSld>
  <p:clrMapOvr>
    <a:masterClrMapping/>
  </p:clrMapOvr>
  <p:transition spd="med">
    <p:random/>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4.3.3</a:t>
            </a:r>
            <a:r>
              <a:rPr lang="zh-CN" altLang="en-US" dirty="0"/>
              <a:t>字符串的检索、插入和删除</a:t>
            </a:r>
            <a:endParaRPr lang="en-US" dirty="0"/>
          </a:p>
        </p:txBody>
      </p:sp>
      <p:sp>
        <p:nvSpPr>
          <p:cNvPr id="3" name="Content Placeholder 2"/>
          <p:cNvSpPr>
            <a:spLocks noGrp="1"/>
          </p:cNvSpPr>
          <p:nvPr>
            <p:ph idx="1"/>
          </p:nvPr>
        </p:nvSpPr>
        <p:spPr/>
        <p:txBody>
          <a:bodyPr/>
          <a:lstStyle/>
          <a:p>
            <a:r>
              <a:rPr lang="en-US" altLang="zh-CN" dirty="0" smtClean="0"/>
              <a:t>【</a:t>
            </a:r>
            <a:r>
              <a:rPr lang="zh-CN" altLang="en-US" dirty="0"/>
              <a:t>例</a:t>
            </a:r>
            <a:r>
              <a:rPr lang="en-US" altLang="zh-CN" dirty="0"/>
              <a:t>4-20】</a:t>
            </a:r>
            <a:r>
              <a:rPr lang="zh-CN" altLang="en-US" dirty="0"/>
              <a:t>输入一个字符串，删除指定的字符</a:t>
            </a:r>
            <a:r>
              <a:rPr lang="zh-CN" altLang="en-US" b="0" dirty="0"/>
              <a:t>。</a:t>
            </a:r>
            <a:endParaRPr lang="en-US" dirty="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98</a:t>
            </a:fld>
            <a:endParaRPr lang="en-US" altLang="zh-CN"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5976" y="2852936"/>
            <a:ext cx="2664296" cy="1272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7252686"/>
      </p:ext>
    </p:extLst>
  </p:cSld>
  <p:clrMapOvr>
    <a:masterClrMapping/>
  </p:clrMapOvr>
  <p:transition spd="med">
    <p:random/>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16632"/>
            <a:ext cx="8497193" cy="6741367"/>
          </a:xfrm>
        </p:spPr>
        <p:txBody>
          <a:bodyPr/>
          <a:lstStyle/>
          <a:p>
            <a:pPr marL="0" indent="0">
              <a:buNone/>
            </a:pPr>
            <a:r>
              <a:rPr lang="en-US" altLang="zh-CN" sz="1600" dirty="0"/>
              <a:t>#include &lt;stdio.h&gt; </a:t>
            </a:r>
          </a:p>
          <a:p>
            <a:pPr marL="0" indent="0">
              <a:buNone/>
            </a:pPr>
            <a:r>
              <a:rPr lang="en-US" altLang="zh-CN" sz="1600" dirty="0"/>
              <a:t>#include &lt;string.h&gt; </a:t>
            </a:r>
          </a:p>
          <a:p>
            <a:pPr marL="0" indent="0">
              <a:buNone/>
            </a:pPr>
            <a:r>
              <a:rPr lang="en-US" altLang="zh-CN" sz="1600" dirty="0"/>
              <a:t>int main() </a:t>
            </a:r>
          </a:p>
          <a:p>
            <a:pPr marL="0" indent="0">
              <a:buNone/>
            </a:pPr>
            <a:r>
              <a:rPr lang="en-US" altLang="zh-CN" sz="1600" dirty="0"/>
              <a:t>{ </a:t>
            </a:r>
          </a:p>
          <a:p>
            <a:pPr marL="0" indent="0">
              <a:buNone/>
            </a:pPr>
            <a:r>
              <a:rPr lang="en-US" altLang="zh-CN" sz="1600" dirty="0" smtClean="0"/>
              <a:t>    char ch[200],s</a:t>
            </a:r>
            <a:r>
              <a:rPr lang="en-US" altLang="zh-CN" sz="1600" dirty="0"/>
              <a:t>; </a:t>
            </a:r>
          </a:p>
          <a:p>
            <a:pPr marL="0" indent="0">
              <a:buNone/>
            </a:pPr>
            <a:r>
              <a:rPr lang="en-US" altLang="zh-CN" sz="1600" dirty="0" smtClean="0"/>
              <a:t>    int </a:t>
            </a:r>
            <a:r>
              <a:rPr lang="en-US" altLang="zh-CN" sz="1600" dirty="0"/>
              <a:t>i,j,n; </a:t>
            </a:r>
          </a:p>
          <a:p>
            <a:pPr marL="0" indent="0">
              <a:buNone/>
            </a:pPr>
            <a:r>
              <a:rPr lang="en-US" altLang="zh-CN" sz="1600" dirty="0" smtClean="0"/>
              <a:t>    gets(ch</a:t>
            </a:r>
            <a:r>
              <a:rPr lang="en-US" altLang="zh-CN" sz="1600" dirty="0"/>
              <a:t>); </a:t>
            </a:r>
          </a:p>
          <a:p>
            <a:pPr marL="0" indent="0">
              <a:buNone/>
            </a:pPr>
            <a:r>
              <a:rPr lang="en-US" altLang="zh-CN" sz="1600" dirty="0" smtClean="0"/>
              <a:t>    n =strlen(ch</a:t>
            </a:r>
            <a:r>
              <a:rPr lang="en-US" altLang="zh-CN" sz="1600" dirty="0"/>
              <a:t>); </a:t>
            </a:r>
          </a:p>
          <a:p>
            <a:pPr marL="0" indent="0">
              <a:buNone/>
            </a:pPr>
            <a:r>
              <a:rPr lang="en-US" altLang="zh-CN" sz="1600" dirty="0" smtClean="0"/>
              <a:t>    scanf</a:t>
            </a:r>
            <a:r>
              <a:rPr lang="en-US" altLang="zh-CN" sz="1600" dirty="0"/>
              <a:t>("%c",&amp;s); </a:t>
            </a:r>
          </a:p>
          <a:p>
            <a:pPr marL="0" indent="0">
              <a:buNone/>
            </a:pPr>
            <a:r>
              <a:rPr lang="en-US" altLang="zh-CN" sz="1600" dirty="0" smtClean="0"/>
              <a:t>    for(i=0;i&lt;n;i++)</a:t>
            </a:r>
          </a:p>
          <a:p>
            <a:pPr marL="0" indent="0">
              <a:buNone/>
            </a:pPr>
            <a:r>
              <a:rPr lang="en-US" altLang="zh-CN" sz="1600" dirty="0"/>
              <a:t> </a:t>
            </a:r>
            <a:r>
              <a:rPr lang="en-US" altLang="zh-CN" sz="1600" dirty="0" smtClean="0"/>
              <a:t>   { </a:t>
            </a:r>
            <a:endParaRPr lang="en-US" altLang="zh-CN" sz="1600" dirty="0"/>
          </a:p>
          <a:p>
            <a:pPr marL="0" indent="0">
              <a:buNone/>
            </a:pPr>
            <a:r>
              <a:rPr lang="en-US" altLang="zh-CN" sz="1600" dirty="0" smtClean="0"/>
              <a:t>        if(ch[i</a:t>
            </a:r>
            <a:r>
              <a:rPr lang="en-US" altLang="zh-CN" sz="1600" dirty="0"/>
              <a:t>]==s</a:t>
            </a:r>
            <a:r>
              <a:rPr lang="en-US" altLang="zh-CN" sz="1600" dirty="0" smtClean="0"/>
              <a:t>)</a:t>
            </a:r>
          </a:p>
          <a:p>
            <a:pPr marL="0" indent="0">
              <a:buNone/>
            </a:pPr>
            <a:r>
              <a:rPr lang="en-US" altLang="zh-CN" sz="1600" dirty="0"/>
              <a:t> </a:t>
            </a:r>
            <a:r>
              <a:rPr lang="en-US" altLang="zh-CN" sz="1600" dirty="0" smtClean="0"/>
              <a:t>      { </a:t>
            </a:r>
            <a:endParaRPr lang="en-US" altLang="zh-CN" sz="1600" dirty="0"/>
          </a:p>
          <a:p>
            <a:pPr marL="0" indent="0">
              <a:buNone/>
            </a:pPr>
            <a:r>
              <a:rPr lang="en-US" altLang="zh-CN" sz="1600" dirty="0" smtClean="0"/>
              <a:t>           for(j=i;j&lt;n;j</a:t>
            </a:r>
            <a:r>
              <a:rPr lang="en-US" altLang="zh-CN" sz="1600" dirty="0"/>
              <a:t>++){ </a:t>
            </a:r>
            <a:r>
              <a:rPr lang="en-US" altLang="zh-CN" sz="1600" dirty="0" smtClean="0"/>
              <a:t> ch[j</a:t>
            </a:r>
            <a:r>
              <a:rPr lang="en-US" altLang="zh-CN" sz="1600" dirty="0"/>
              <a:t>]=ch[j+1]; </a:t>
            </a:r>
            <a:r>
              <a:rPr lang="en-US" altLang="zh-CN" sz="1600" dirty="0" smtClean="0"/>
              <a:t>  } </a:t>
            </a:r>
            <a:endParaRPr lang="en-US" altLang="zh-CN" sz="1600" dirty="0"/>
          </a:p>
          <a:p>
            <a:pPr marL="0" indent="0">
              <a:buNone/>
            </a:pPr>
            <a:r>
              <a:rPr lang="en-US" altLang="zh-CN" sz="1600" dirty="0" smtClean="0"/>
              <a:t>           n=n-1</a:t>
            </a:r>
            <a:r>
              <a:rPr lang="en-US" altLang="zh-CN" sz="1600" dirty="0"/>
              <a:t>; </a:t>
            </a:r>
            <a:endParaRPr lang="en-US" altLang="zh-CN" sz="1600" dirty="0" smtClean="0"/>
          </a:p>
          <a:p>
            <a:pPr marL="0" indent="0">
              <a:buNone/>
            </a:pPr>
            <a:r>
              <a:rPr lang="en-US" altLang="zh-CN" sz="1600" dirty="0">
                <a:solidFill>
                  <a:srgbClr val="FF0000"/>
                </a:solidFill>
              </a:rPr>
              <a:t> </a:t>
            </a:r>
            <a:r>
              <a:rPr lang="en-US" altLang="zh-CN" sz="1600" dirty="0" smtClean="0">
                <a:solidFill>
                  <a:srgbClr val="FF0000"/>
                </a:solidFill>
              </a:rPr>
              <a:t>          i--;</a:t>
            </a:r>
            <a:endParaRPr lang="en-US" altLang="zh-CN" sz="1600" dirty="0">
              <a:solidFill>
                <a:srgbClr val="FF0000"/>
              </a:solidFill>
            </a:endParaRPr>
          </a:p>
          <a:p>
            <a:pPr marL="0" indent="0">
              <a:buNone/>
            </a:pPr>
            <a:r>
              <a:rPr lang="en-US" altLang="zh-CN" sz="1600" dirty="0" smtClean="0"/>
              <a:t>        } </a:t>
            </a:r>
            <a:endParaRPr lang="en-US" altLang="zh-CN" sz="1600" dirty="0"/>
          </a:p>
          <a:p>
            <a:pPr marL="0" indent="0">
              <a:buNone/>
            </a:pPr>
            <a:r>
              <a:rPr lang="en-US" altLang="zh-CN" sz="1600" dirty="0" smtClean="0"/>
              <a:t>    } </a:t>
            </a:r>
            <a:endParaRPr lang="en-US" altLang="zh-CN" sz="1600" dirty="0"/>
          </a:p>
          <a:p>
            <a:pPr marL="0" indent="0">
              <a:buNone/>
            </a:pPr>
            <a:r>
              <a:rPr lang="en-US" altLang="zh-CN" sz="1600" dirty="0" smtClean="0"/>
              <a:t>    puts(ch</a:t>
            </a:r>
            <a:r>
              <a:rPr lang="en-US" altLang="zh-CN" sz="1600" dirty="0"/>
              <a:t>); </a:t>
            </a:r>
          </a:p>
          <a:p>
            <a:pPr marL="0" indent="0">
              <a:buNone/>
            </a:pPr>
            <a:r>
              <a:rPr lang="en-US" altLang="zh-CN" sz="1600" dirty="0"/>
              <a:t>} </a:t>
            </a:r>
            <a:endParaRPr lang="zh-CN" altLang="en-US" sz="1600" dirty="0"/>
          </a:p>
          <a:p>
            <a:pPr marL="0" indent="0">
              <a:buNone/>
            </a:pPr>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5976" y="2852936"/>
            <a:ext cx="2664296" cy="1272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2575205"/>
      </p:ext>
    </p:extLst>
  </p:cSld>
  <p:clrMapOvr>
    <a:masterClrMapping/>
  </p:clrMapOvr>
  <p:transition spd="med">
    <p:random/>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12406"/>
            <a:ext cx="8497193" cy="6700970"/>
          </a:xfrm>
        </p:spPr>
        <p:txBody>
          <a:bodyPr/>
          <a:lstStyle/>
          <a:p>
            <a:pPr marL="0" indent="0">
              <a:lnSpc>
                <a:spcPct val="100000"/>
              </a:lnSpc>
              <a:buNone/>
            </a:pPr>
            <a:r>
              <a:rPr lang="en-US" altLang="zh-CN" sz="2000" dirty="0"/>
              <a:t>#include &lt;</a:t>
            </a:r>
            <a:r>
              <a:rPr lang="en-US" altLang="zh-CN" sz="2000" dirty="0" err="1"/>
              <a:t>stdio.h</a:t>
            </a:r>
            <a:r>
              <a:rPr lang="en-US" altLang="zh-CN" sz="2000" dirty="0"/>
              <a:t>&gt;</a:t>
            </a:r>
          </a:p>
          <a:p>
            <a:pPr marL="0" indent="0">
              <a:lnSpc>
                <a:spcPct val="100000"/>
              </a:lnSpc>
              <a:buNone/>
            </a:pPr>
            <a:r>
              <a:rPr lang="en-US" altLang="zh-CN" sz="2000" dirty="0"/>
              <a:t>#include &lt;</a:t>
            </a:r>
            <a:r>
              <a:rPr lang="en-US" altLang="zh-CN" sz="2000" dirty="0" err="1"/>
              <a:t>string.h</a:t>
            </a:r>
            <a:r>
              <a:rPr lang="en-US" altLang="zh-CN" sz="2000" dirty="0"/>
              <a:t>&gt;</a:t>
            </a:r>
          </a:p>
          <a:p>
            <a:pPr marL="0" indent="0">
              <a:lnSpc>
                <a:spcPct val="100000"/>
              </a:lnSpc>
              <a:buNone/>
            </a:pPr>
            <a:r>
              <a:rPr lang="en-US" altLang="zh-CN" sz="2000" dirty="0" err="1"/>
              <a:t>int</a:t>
            </a:r>
            <a:r>
              <a:rPr lang="en-US" altLang="zh-CN" sz="2000" dirty="0"/>
              <a:t> main()</a:t>
            </a:r>
          </a:p>
          <a:p>
            <a:pPr marL="0" indent="0">
              <a:lnSpc>
                <a:spcPct val="100000"/>
              </a:lnSpc>
              <a:buNone/>
            </a:pPr>
            <a:r>
              <a:rPr lang="en-US" altLang="zh-CN" sz="2000" dirty="0"/>
              <a:t>{</a:t>
            </a:r>
          </a:p>
          <a:p>
            <a:pPr marL="0" indent="0">
              <a:lnSpc>
                <a:spcPct val="100000"/>
              </a:lnSpc>
              <a:buNone/>
            </a:pPr>
            <a:r>
              <a:rPr lang="en-US" altLang="zh-CN" sz="2000" dirty="0"/>
              <a:t>    char </a:t>
            </a:r>
            <a:r>
              <a:rPr lang="en-US" altLang="zh-CN" sz="2000" dirty="0" err="1"/>
              <a:t>ch</a:t>
            </a:r>
            <a:r>
              <a:rPr lang="en-US" altLang="zh-CN" sz="2000" dirty="0"/>
              <a:t>[200],</a:t>
            </a:r>
            <a:r>
              <a:rPr lang="en-US" altLang="zh-CN" sz="2000" dirty="0" smtClean="0"/>
              <a:t>s;</a:t>
            </a:r>
            <a:endParaRPr lang="en-US" altLang="zh-CN" sz="2000" dirty="0"/>
          </a:p>
          <a:p>
            <a:pPr marL="0" indent="0">
              <a:lnSpc>
                <a:spcPct val="100000"/>
              </a:lnSpc>
              <a:buNone/>
            </a:pPr>
            <a:r>
              <a:rPr lang="en-US" altLang="zh-CN" sz="2000" dirty="0"/>
              <a:t>    </a:t>
            </a:r>
            <a:r>
              <a:rPr lang="en-US" altLang="zh-CN" sz="2000" dirty="0" err="1"/>
              <a:t>int</a:t>
            </a:r>
            <a:r>
              <a:rPr lang="en-US" altLang="zh-CN" sz="2000" dirty="0"/>
              <a:t> </a:t>
            </a:r>
            <a:r>
              <a:rPr lang="en-US" altLang="zh-CN" sz="2000" dirty="0" err="1"/>
              <a:t>i,j,n</a:t>
            </a:r>
            <a:r>
              <a:rPr lang="en-US" altLang="zh-CN" sz="2000" dirty="0"/>
              <a:t>;</a:t>
            </a:r>
          </a:p>
          <a:p>
            <a:pPr marL="0" indent="0">
              <a:lnSpc>
                <a:spcPct val="100000"/>
              </a:lnSpc>
              <a:buNone/>
            </a:pPr>
            <a:r>
              <a:rPr lang="en-US" altLang="zh-CN" sz="2000" dirty="0"/>
              <a:t>    gets(</a:t>
            </a:r>
            <a:r>
              <a:rPr lang="en-US" altLang="zh-CN" sz="2000" dirty="0" err="1"/>
              <a:t>ch</a:t>
            </a:r>
            <a:r>
              <a:rPr lang="en-US" altLang="zh-CN" sz="2000" dirty="0"/>
              <a:t>);</a:t>
            </a:r>
          </a:p>
          <a:p>
            <a:pPr marL="0" indent="0">
              <a:lnSpc>
                <a:spcPct val="100000"/>
              </a:lnSpc>
              <a:buNone/>
            </a:pPr>
            <a:r>
              <a:rPr lang="en-US" altLang="zh-CN" sz="2000" dirty="0" smtClean="0"/>
              <a:t>    </a:t>
            </a:r>
            <a:r>
              <a:rPr lang="en-US" altLang="zh-CN" sz="2000" dirty="0" err="1" smtClean="0"/>
              <a:t>scanf</a:t>
            </a:r>
            <a:r>
              <a:rPr lang="en-US" altLang="zh-CN" sz="2000" dirty="0"/>
              <a:t>("%</a:t>
            </a:r>
            <a:r>
              <a:rPr lang="en-US" altLang="zh-CN" sz="2000" dirty="0" err="1"/>
              <a:t>c",&amp;s</a:t>
            </a:r>
            <a:r>
              <a:rPr lang="en-US" altLang="zh-CN" sz="2000" dirty="0"/>
              <a:t>);</a:t>
            </a:r>
          </a:p>
          <a:p>
            <a:pPr marL="0" indent="0">
              <a:lnSpc>
                <a:spcPct val="100000"/>
              </a:lnSpc>
              <a:buNone/>
            </a:pPr>
            <a:r>
              <a:rPr lang="en-US" altLang="zh-CN" sz="2000" dirty="0"/>
              <a:t>    for(</a:t>
            </a:r>
            <a:r>
              <a:rPr lang="en-US" altLang="zh-CN" sz="2000" dirty="0" err="1"/>
              <a:t>i</a:t>
            </a:r>
            <a:r>
              <a:rPr lang="en-US" altLang="zh-CN" sz="2000" dirty="0"/>
              <a:t>=0;ch[</a:t>
            </a:r>
            <a:r>
              <a:rPr lang="en-US" altLang="zh-CN" sz="2000" dirty="0" err="1"/>
              <a:t>i</a:t>
            </a:r>
            <a:r>
              <a:rPr lang="en-US" altLang="zh-CN" sz="2000" dirty="0"/>
              <a:t>]!='\0';i++)</a:t>
            </a:r>
          </a:p>
          <a:p>
            <a:pPr marL="0" indent="0">
              <a:lnSpc>
                <a:spcPct val="100000"/>
              </a:lnSpc>
              <a:buNone/>
            </a:pPr>
            <a:r>
              <a:rPr lang="en-US" altLang="zh-CN" sz="2000" dirty="0"/>
              <a:t>      if(</a:t>
            </a:r>
            <a:r>
              <a:rPr lang="en-US" altLang="zh-CN" sz="2000" dirty="0" err="1"/>
              <a:t>ch</a:t>
            </a:r>
            <a:r>
              <a:rPr lang="en-US" altLang="zh-CN" sz="2000" dirty="0"/>
              <a:t>[</a:t>
            </a:r>
            <a:r>
              <a:rPr lang="en-US" altLang="zh-CN" sz="2000" dirty="0" err="1"/>
              <a:t>i</a:t>
            </a:r>
            <a:r>
              <a:rPr lang="en-US" altLang="zh-CN" sz="2000" dirty="0"/>
              <a:t>]==s)</a:t>
            </a:r>
          </a:p>
          <a:p>
            <a:pPr marL="0" indent="0">
              <a:lnSpc>
                <a:spcPct val="100000"/>
              </a:lnSpc>
              <a:buNone/>
            </a:pPr>
            <a:r>
              <a:rPr lang="en-US" altLang="zh-CN" sz="2000" dirty="0"/>
              <a:t>      {</a:t>
            </a:r>
          </a:p>
          <a:p>
            <a:pPr marL="0" indent="0">
              <a:lnSpc>
                <a:spcPct val="100000"/>
              </a:lnSpc>
              <a:buNone/>
            </a:pPr>
            <a:r>
              <a:rPr lang="en-US" altLang="zh-CN" sz="2000" dirty="0"/>
              <a:t>         for(j=</a:t>
            </a:r>
            <a:r>
              <a:rPr lang="en-US" altLang="zh-CN" sz="2000" dirty="0" err="1"/>
              <a:t>i;ch</a:t>
            </a:r>
            <a:r>
              <a:rPr lang="en-US" altLang="zh-CN" sz="2000" dirty="0"/>
              <a:t>[j]!='\0';j++)</a:t>
            </a:r>
          </a:p>
          <a:p>
            <a:pPr marL="0" indent="0">
              <a:lnSpc>
                <a:spcPct val="100000"/>
              </a:lnSpc>
              <a:buNone/>
            </a:pPr>
            <a:r>
              <a:rPr lang="en-US" altLang="zh-CN" sz="2000" dirty="0"/>
              <a:t>            </a:t>
            </a:r>
            <a:r>
              <a:rPr lang="en-US" altLang="zh-CN" sz="2000" dirty="0" err="1"/>
              <a:t>ch</a:t>
            </a:r>
            <a:r>
              <a:rPr lang="en-US" altLang="zh-CN" sz="2000" dirty="0"/>
              <a:t>[j]=</a:t>
            </a:r>
            <a:r>
              <a:rPr lang="en-US" altLang="zh-CN" sz="2000" dirty="0" err="1"/>
              <a:t>ch</a:t>
            </a:r>
            <a:r>
              <a:rPr lang="en-US" altLang="zh-CN" sz="2000" dirty="0"/>
              <a:t>[j+1];</a:t>
            </a:r>
          </a:p>
          <a:p>
            <a:pPr marL="0" indent="0">
              <a:lnSpc>
                <a:spcPct val="100000"/>
              </a:lnSpc>
              <a:buNone/>
            </a:pPr>
            <a:r>
              <a:rPr lang="en-US" altLang="zh-CN" sz="2000" dirty="0"/>
              <a:t> </a:t>
            </a:r>
            <a:r>
              <a:rPr lang="en-US" altLang="zh-CN" sz="2000" dirty="0" smtClean="0"/>
              <a:t>        </a:t>
            </a:r>
            <a:r>
              <a:rPr lang="en-US" altLang="zh-CN" sz="2000" dirty="0" err="1" smtClean="0"/>
              <a:t>i</a:t>
            </a:r>
            <a:r>
              <a:rPr lang="en-US" altLang="zh-CN" sz="2000" dirty="0" smtClean="0"/>
              <a:t>-</a:t>
            </a:r>
            <a:r>
              <a:rPr lang="en-US" altLang="zh-CN" sz="2000" dirty="0"/>
              <a:t>-;</a:t>
            </a:r>
          </a:p>
          <a:p>
            <a:pPr marL="0" indent="0">
              <a:lnSpc>
                <a:spcPct val="100000"/>
              </a:lnSpc>
              <a:buNone/>
            </a:pPr>
            <a:r>
              <a:rPr lang="en-US" altLang="zh-CN" sz="2000" dirty="0"/>
              <a:t>      }</a:t>
            </a:r>
          </a:p>
          <a:p>
            <a:pPr marL="0" indent="0">
              <a:lnSpc>
                <a:spcPct val="100000"/>
              </a:lnSpc>
              <a:buNone/>
            </a:pPr>
            <a:r>
              <a:rPr lang="en-US" altLang="zh-CN" sz="2000" dirty="0"/>
              <a:t>    puts(</a:t>
            </a:r>
            <a:r>
              <a:rPr lang="en-US" altLang="zh-CN" sz="2000" dirty="0" err="1"/>
              <a:t>ch</a:t>
            </a:r>
            <a:r>
              <a:rPr lang="en-US" altLang="zh-CN" sz="2000" dirty="0"/>
              <a:t>);</a:t>
            </a:r>
          </a:p>
          <a:p>
            <a:pPr marL="0" indent="0">
              <a:lnSpc>
                <a:spcPct val="100000"/>
              </a:lnSpc>
              <a:buNone/>
            </a:pPr>
            <a:r>
              <a:rPr lang="en-US" altLang="zh-CN" sz="2000" dirty="0"/>
              <a:t>    return 0;</a:t>
            </a:r>
          </a:p>
          <a:p>
            <a:pPr marL="0" indent="0">
              <a:lnSpc>
                <a:spcPct val="100000"/>
              </a:lnSpc>
              <a:buNone/>
            </a:pPr>
            <a:r>
              <a:rPr lang="en-US" altLang="zh-CN" sz="2000" dirty="0"/>
              <a:t>}</a:t>
            </a:r>
            <a:endParaRPr lang="en-US" sz="2000" dirty="0"/>
          </a:p>
        </p:txBody>
      </p:sp>
      <p:grpSp>
        <p:nvGrpSpPr>
          <p:cNvPr id="4" name="组合 3"/>
          <p:cNvGrpSpPr/>
          <p:nvPr/>
        </p:nvGrpSpPr>
        <p:grpSpPr>
          <a:xfrm>
            <a:off x="4850401" y="2257830"/>
            <a:ext cx="297663" cy="632833"/>
            <a:chOff x="1223628" y="5445224"/>
            <a:chExt cx="648072" cy="632833"/>
          </a:xfrm>
        </p:grpSpPr>
        <p:cxnSp>
          <p:nvCxnSpPr>
            <p:cNvPr id="5" name="直接箭头连接符 4"/>
            <p:cNvCxnSpPr/>
            <p:nvPr/>
          </p:nvCxnSpPr>
          <p:spPr bwMode="auto">
            <a:xfrm>
              <a:off x="1540045" y="5780504"/>
              <a:ext cx="0" cy="297553"/>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矩形 5"/>
            <p:cNvSpPr/>
            <p:nvPr/>
          </p:nvSpPr>
          <p:spPr bwMode="auto">
            <a:xfrm>
              <a:off x="1223628" y="5445224"/>
              <a:ext cx="648072"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err="1" smtClean="0">
                  <a:ln>
                    <a:noFill/>
                  </a:ln>
                  <a:solidFill>
                    <a:schemeClr val="tx1"/>
                  </a:solidFill>
                  <a:effectLst/>
                  <a:latin typeface="Arial" charset="0"/>
                  <a:ea typeface="宋体" pitchFamily="2" charset="-122"/>
                </a:rPr>
                <a:t>i</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grpSp>
        <p:nvGrpSpPr>
          <p:cNvPr id="7" name="组合 6"/>
          <p:cNvGrpSpPr/>
          <p:nvPr/>
        </p:nvGrpSpPr>
        <p:grpSpPr>
          <a:xfrm>
            <a:off x="4846901" y="1416745"/>
            <a:ext cx="297663" cy="632833"/>
            <a:chOff x="1223628" y="5445224"/>
            <a:chExt cx="648072" cy="632833"/>
          </a:xfrm>
        </p:grpSpPr>
        <p:cxnSp>
          <p:nvCxnSpPr>
            <p:cNvPr id="8" name="直接箭头连接符 7"/>
            <p:cNvCxnSpPr/>
            <p:nvPr/>
          </p:nvCxnSpPr>
          <p:spPr bwMode="auto">
            <a:xfrm>
              <a:off x="1540045" y="5780504"/>
              <a:ext cx="0" cy="297553"/>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矩形 8"/>
            <p:cNvSpPr/>
            <p:nvPr/>
          </p:nvSpPr>
          <p:spPr bwMode="auto">
            <a:xfrm>
              <a:off x="1223628" y="5445224"/>
              <a:ext cx="648072"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j</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pic>
        <p:nvPicPr>
          <p:cNvPr id="2" name="图片 1"/>
          <p:cNvPicPr>
            <a:picLocks noChangeAspect="1"/>
          </p:cNvPicPr>
          <p:nvPr/>
        </p:nvPicPr>
        <p:blipFill>
          <a:blip r:embed="rId2"/>
          <a:stretch>
            <a:fillRect/>
          </a:stretch>
        </p:blipFill>
        <p:spPr>
          <a:xfrm>
            <a:off x="4332889" y="2890663"/>
            <a:ext cx="1986026" cy="1485046"/>
          </a:xfrm>
          <a:prstGeom prst="rect">
            <a:avLst/>
          </a:prstGeom>
        </p:spPr>
      </p:pic>
      <p:graphicFrame>
        <p:nvGraphicFramePr>
          <p:cNvPr id="10" name="表格 9"/>
          <p:cNvGraphicFramePr>
            <a:graphicFrameLocks noGrp="1"/>
          </p:cNvGraphicFramePr>
          <p:nvPr>
            <p:extLst>
              <p:ext uri="{D42A27DB-BD31-4B8C-83A1-F6EECF244321}">
                <p14:modId xmlns:p14="http://schemas.microsoft.com/office/powerpoint/2010/main" val="350993678"/>
              </p:ext>
            </p:extLst>
          </p:nvPr>
        </p:nvGraphicFramePr>
        <p:xfrm>
          <a:off x="3707904" y="4792213"/>
          <a:ext cx="4392486" cy="370840"/>
        </p:xfrm>
        <a:graphic>
          <a:graphicData uri="http://schemas.openxmlformats.org/drawingml/2006/table">
            <a:tbl>
              <a:tblPr firstRow="1" bandRow="1">
                <a:tableStyleId>{5C22544A-7EE6-4342-B048-85BDC9FD1C3A}</a:tableStyleId>
              </a:tblPr>
              <a:tblGrid>
                <a:gridCol w="488054">
                  <a:extLst>
                    <a:ext uri="{9D8B030D-6E8A-4147-A177-3AD203B41FA5}">
                      <a16:colId xmlns:a16="http://schemas.microsoft.com/office/drawing/2014/main" xmlns="" val="1665857292"/>
                    </a:ext>
                  </a:extLst>
                </a:gridCol>
                <a:gridCol w="488054">
                  <a:extLst>
                    <a:ext uri="{9D8B030D-6E8A-4147-A177-3AD203B41FA5}">
                      <a16:colId xmlns:a16="http://schemas.microsoft.com/office/drawing/2014/main" xmlns="" val="2191060235"/>
                    </a:ext>
                  </a:extLst>
                </a:gridCol>
                <a:gridCol w="488054">
                  <a:extLst>
                    <a:ext uri="{9D8B030D-6E8A-4147-A177-3AD203B41FA5}">
                      <a16:colId xmlns:a16="http://schemas.microsoft.com/office/drawing/2014/main" xmlns="" val="3106570465"/>
                    </a:ext>
                  </a:extLst>
                </a:gridCol>
                <a:gridCol w="488054">
                  <a:extLst>
                    <a:ext uri="{9D8B030D-6E8A-4147-A177-3AD203B41FA5}">
                      <a16:colId xmlns:a16="http://schemas.microsoft.com/office/drawing/2014/main" xmlns="" val="1704663014"/>
                    </a:ext>
                  </a:extLst>
                </a:gridCol>
                <a:gridCol w="488054">
                  <a:extLst>
                    <a:ext uri="{9D8B030D-6E8A-4147-A177-3AD203B41FA5}">
                      <a16:colId xmlns:a16="http://schemas.microsoft.com/office/drawing/2014/main" xmlns="" val="1744079242"/>
                    </a:ext>
                  </a:extLst>
                </a:gridCol>
                <a:gridCol w="488054">
                  <a:extLst>
                    <a:ext uri="{9D8B030D-6E8A-4147-A177-3AD203B41FA5}">
                      <a16:colId xmlns:a16="http://schemas.microsoft.com/office/drawing/2014/main" xmlns="" val="2084807285"/>
                    </a:ext>
                  </a:extLst>
                </a:gridCol>
                <a:gridCol w="488054">
                  <a:extLst>
                    <a:ext uri="{9D8B030D-6E8A-4147-A177-3AD203B41FA5}">
                      <a16:colId xmlns:a16="http://schemas.microsoft.com/office/drawing/2014/main" xmlns="" val="2120196010"/>
                    </a:ext>
                  </a:extLst>
                </a:gridCol>
                <a:gridCol w="488054">
                  <a:extLst>
                    <a:ext uri="{9D8B030D-6E8A-4147-A177-3AD203B41FA5}">
                      <a16:colId xmlns:a16="http://schemas.microsoft.com/office/drawing/2014/main" xmlns="" val="1171188644"/>
                    </a:ext>
                  </a:extLst>
                </a:gridCol>
                <a:gridCol w="488054">
                  <a:extLst>
                    <a:ext uri="{9D8B030D-6E8A-4147-A177-3AD203B41FA5}">
                      <a16:colId xmlns:a16="http://schemas.microsoft.com/office/drawing/2014/main" xmlns="" val="2441416395"/>
                    </a:ext>
                  </a:extLst>
                </a:gridCol>
              </a:tblGrid>
              <a:tr h="370840">
                <a:tc>
                  <a:txBody>
                    <a:bodyPr/>
                    <a:lstStyle/>
                    <a:p>
                      <a:pPr algn="ctr"/>
                      <a:r>
                        <a:rPr lang="en-US" altLang="zh-CN" dirty="0" smtClean="0">
                          <a:solidFill>
                            <a:schemeClr val="tx1"/>
                          </a:solidFill>
                        </a:rPr>
                        <a:t>l</a:t>
                      </a:r>
                      <a:endParaRPr lang="zh-CN" altLang="en-US" dirty="0">
                        <a:solidFill>
                          <a:schemeClr val="tx1"/>
                        </a:solidFill>
                      </a:endParaRPr>
                    </a:p>
                  </a:txBody>
                  <a:tcPr/>
                </a:tc>
                <a:tc>
                  <a:txBody>
                    <a:bodyPr/>
                    <a:lstStyle/>
                    <a:p>
                      <a:pPr algn="ctr"/>
                      <a:r>
                        <a:rPr lang="en-US" altLang="zh-CN" dirty="0" smtClean="0">
                          <a:solidFill>
                            <a:schemeClr val="tx1"/>
                          </a:solidFill>
                        </a:rPr>
                        <a:t>o</a:t>
                      </a:r>
                      <a:endParaRPr lang="zh-CN" altLang="en-US" dirty="0">
                        <a:solidFill>
                          <a:schemeClr val="tx1"/>
                        </a:solidFill>
                      </a:endParaRPr>
                    </a:p>
                  </a:txBody>
                  <a:tcPr/>
                </a:tc>
                <a:tc>
                  <a:txBody>
                    <a:bodyPr/>
                    <a:lstStyle/>
                    <a:p>
                      <a:pPr algn="ctr"/>
                      <a:r>
                        <a:rPr lang="en-US" altLang="zh-CN" dirty="0" smtClean="0">
                          <a:solidFill>
                            <a:schemeClr val="tx1"/>
                          </a:solidFill>
                        </a:rPr>
                        <a:t>v</a:t>
                      </a:r>
                      <a:endParaRPr lang="zh-CN" altLang="en-US" dirty="0">
                        <a:solidFill>
                          <a:schemeClr val="tx1"/>
                        </a:solidFill>
                      </a:endParaRPr>
                    </a:p>
                  </a:txBody>
                  <a:tcPr/>
                </a:tc>
                <a:tc>
                  <a:txBody>
                    <a:bodyPr/>
                    <a:lstStyle/>
                    <a:p>
                      <a:pPr algn="ctr"/>
                      <a:r>
                        <a:rPr lang="en-US" altLang="zh-CN" dirty="0" smtClean="0">
                          <a:solidFill>
                            <a:schemeClr val="tx1"/>
                          </a:solidFill>
                        </a:rPr>
                        <a:t>e</a:t>
                      </a:r>
                      <a:endParaRPr lang="zh-CN" altLang="en-US" dirty="0">
                        <a:solidFill>
                          <a:schemeClr val="tx1"/>
                        </a:solidFill>
                      </a:endParaRPr>
                    </a:p>
                  </a:txBody>
                  <a:tcPr/>
                </a:tc>
                <a:tc>
                  <a:txBody>
                    <a:bodyPr/>
                    <a:lstStyle/>
                    <a:p>
                      <a:pPr algn="ctr"/>
                      <a:r>
                        <a:rPr lang="en-US" altLang="zh-CN" dirty="0" smtClean="0">
                          <a:solidFill>
                            <a:schemeClr val="tx1"/>
                          </a:solidFill>
                        </a:rPr>
                        <a:t>e</a:t>
                      </a:r>
                      <a:endParaRPr lang="zh-CN" altLang="en-US" dirty="0">
                        <a:solidFill>
                          <a:schemeClr val="tx1"/>
                        </a:solidFill>
                      </a:endParaRPr>
                    </a:p>
                  </a:txBody>
                  <a:tcPr/>
                </a:tc>
                <a:tc>
                  <a:txBody>
                    <a:bodyPr/>
                    <a:lstStyle/>
                    <a:p>
                      <a:pPr algn="ctr"/>
                      <a:r>
                        <a:rPr lang="en-US" altLang="zh-CN" dirty="0" smtClean="0">
                          <a:solidFill>
                            <a:schemeClr val="tx1"/>
                          </a:solidFill>
                        </a:rPr>
                        <a:t>s</a:t>
                      </a:r>
                      <a:endParaRPr lang="zh-CN" altLang="en-US" dirty="0">
                        <a:solidFill>
                          <a:schemeClr val="tx1"/>
                        </a:solidFill>
                      </a:endParaRPr>
                    </a:p>
                  </a:txBody>
                  <a:tcPr/>
                </a:tc>
                <a:tc>
                  <a:txBody>
                    <a:bodyPr/>
                    <a:lstStyle/>
                    <a:p>
                      <a:pPr algn="ctr"/>
                      <a:r>
                        <a:rPr lang="en-US" altLang="zh-CN" dirty="0" smtClean="0">
                          <a:solidFill>
                            <a:schemeClr val="tx1"/>
                          </a:solidFill>
                        </a:rPr>
                        <a:t>h</a:t>
                      </a:r>
                      <a:endParaRPr lang="zh-CN" altLang="en-US" dirty="0">
                        <a:solidFill>
                          <a:schemeClr val="tx1"/>
                        </a:solidFill>
                      </a:endParaRPr>
                    </a:p>
                  </a:txBody>
                  <a:tcPr/>
                </a:tc>
                <a:tc>
                  <a:txBody>
                    <a:bodyPr/>
                    <a:lstStyle/>
                    <a:p>
                      <a:pPr algn="ctr"/>
                      <a:r>
                        <a:rPr lang="en-US" altLang="zh-CN" dirty="0" smtClean="0">
                          <a:solidFill>
                            <a:schemeClr val="tx1"/>
                          </a:solidFill>
                        </a:rPr>
                        <a:t>e</a:t>
                      </a:r>
                      <a:endParaRPr lang="zh-CN" altLang="en-US" dirty="0">
                        <a:solidFill>
                          <a:schemeClr val="tx1"/>
                        </a:solidFill>
                      </a:endParaRPr>
                    </a:p>
                  </a:txBody>
                  <a:tcPr/>
                </a:tc>
                <a:tc>
                  <a:txBody>
                    <a:bodyPr/>
                    <a:lstStyle/>
                    <a:p>
                      <a:pPr algn="ctr"/>
                      <a:r>
                        <a:rPr lang="en-US" altLang="zh-CN" dirty="0" smtClean="0">
                          <a:solidFill>
                            <a:schemeClr val="tx1"/>
                          </a:solidFill>
                        </a:rPr>
                        <a:t>\0</a:t>
                      </a:r>
                      <a:endParaRPr lang="zh-CN" altLang="en-US" dirty="0">
                        <a:solidFill>
                          <a:schemeClr val="tx1"/>
                        </a:solidFill>
                      </a:endParaRPr>
                    </a:p>
                  </a:txBody>
                  <a:tcPr/>
                </a:tc>
                <a:extLst>
                  <a:ext uri="{0D108BD9-81ED-4DB2-BD59-A6C34878D82A}">
                    <a16:rowId xmlns:a16="http://schemas.microsoft.com/office/drawing/2014/main" xmlns="" val="213979606"/>
                  </a:ext>
                </a:extLst>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val="1054774651"/>
              </p:ext>
            </p:extLst>
          </p:nvPr>
        </p:nvGraphicFramePr>
        <p:xfrm>
          <a:off x="3707904" y="5295133"/>
          <a:ext cx="4392486" cy="370840"/>
        </p:xfrm>
        <a:graphic>
          <a:graphicData uri="http://schemas.openxmlformats.org/drawingml/2006/table">
            <a:tbl>
              <a:tblPr firstRow="1" bandRow="1">
                <a:tableStyleId>{5C22544A-7EE6-4342-B048-85BDC9FD1C3A}</a:tableStyleId>
              </a:tblPr>
              <a:tblGrid>
                <a:gridCol w="488054">
                  <a:extLst>
                    <a:ext uri="{9D8B030D-6E8A-4147-A177-3AD203B41FA5}">
                      <a16:colId xmlns:a16="http://schemas.microsoft.com/office/drawing/2014/main" xmlns="" val="1665857292"/>
                    </a:ext>
                  </a:extLst>
                </a:gridCol>
                <a:gridCol w="488054">
                  <a:extLst>
                    <a:ext uri="{9D8B030D-6E8A-4147-A177-3AD203B41FA5}">
                      <a16:colId xmlns:a16="http://schemas.microsoft.com/office/drawing/2014/main" xmlns="" val="2191060235"/>
                    </a:ext>
                  </a:extLst>
                </a:gridCol>
                <a:gridCol w="488054">
                  <a:extLst>
                    <a:ext uri="{9D8B030D-6E8A-4147-A177-3AD203B41FA5}">
                      <a16:colId xmlns:a16="http://schemas.microsoft.com/office/drawing/2014/main" xmlns="" val="3106570465"/>
                    </a:ext>
                  </a:extLst>
                </a:gridCol>
                <a:gridCol w="488054">
                  <a:extLst>
                    <a:ext uri="{9D8B030D-6E8A-4147-A177-3AD203B41FA5}">
                      <a16:colId xmlns:a16="http://schemas.microsoft.com/office/drawing/2014/main" xmlns="" val="1704663014"/>
                    </a:ext>
                  </a:extLst>
                </a:gridCol>
                <a:gridCol w="488054">
                  <a:extLst>
                    <a:ext uri="{9D8B030D-6E8A-4147-A177-3AD203B41FA5}">
                      <a16:colId xmlns:a16="http://schemas.microsoft.com/office/drawing/2014/main" xmlns="" val="1744079242"/>
                    </a:ext>
                  </a:extLst>
                </a:gridCol>
                <a:gridCol w="488054">
                  <a:extLst>
                    <a:ext uri="{9D8B030D-6E8A-4147-A177-3AD203B41FA5}">
                      <a16:colId xmlns:a16="http://schemas.microsoft.com/office/drawing/2014/main" xmlns="" val="2084807285"/>
                    </a:ext>
                  </a:extLst>
                </a:gridCol>
                <a:gridCol w="488054">
                  <a:extLst>
                    <a:ext uri="{9D8B030D-6E8A-4147-A177-3AD203B41FA5}">
                      <a16:colId xmlns:a16="http://schemas.microsoft.com/office/drawing/2014/main" xmlns="" val="2120196010"/>
                    </a:ext>
                  </a:extLst>
                </a:gridCol>
                <a:gridCol w="488054">
                  <a:extLst>
                    <a:ext uri="{9D8B030D-6E8A-4147-A177-3AD203B41FA5}">
                      <a16:colId xmlns:a16="http://schemas.microsoft.com/office/drawing/2014/main" xmlns="" val="1171188644"/>
                    </a:ext>
                  </a:extLst>
                </a:gridCol>
                <a:gridCol w="488054">
                  <a:extLst>
                    <a:ext uri="{9D8B030D-6E8A-4147-A177-3AD203B41FA5}">
                      <a16:colId xmlns:a16="http://schemas.microsoft.com/office/drawing/2014/main" xmlns="" val="2441416395"/>
                    </a:ext>
                  </a:extLst>
                </a:gridCol>
              </a:tblGrid>
              <a:tr h="370840">
                <a:tc>
                  <a:txBody>
                    <a:bodyPr/>
                    <a:lstStyle/>
                    <a:p>
                      <a:pPr algn="ctr"/>
                      <a:r>
                        <a:rPr lang="en-US" altLang="zh-CN" dirty="0" smtClean="0">
                          <a:solidFill>
                            <a:schemeClr val="tx1"/>
                          </a:solidFill>
                        </a:rPr>
                        <a:t>l</a:t>
                      </a:r>
                      <a:endParaRPr lang="zh-CN" altLang="en-US" dirty="0">
                        <a:solidFill>
                          <a:schemeClr val="tx1"/>
                        </a:solidFill>
                      </a:endParaRPr>
                    </a:p>
                  </a:txBody>
                  <a:tcPr/>
                </a:tc>
                <a:tc>
                  <a:txBody>
                    <a:bodyPr/>
                    <a:lstStyle/>
                    <a:p>
                      <a:pPr algn="ctr"/>
                      <a:r>
                        <a:rPr lang="en-US" altLang="zh-CN" dirty="0" smtClean="0">
                          <a:solidFill>
                            <a:schemeClr val="tx1"/>
                          </a:solidFill>
                        </a:rPr>
                        <a:t>o</a:t>
                      </a:r>
                      <a:endParaRPr lang="zh-CN" altLang="en-US" dirty="0">
                        <a:solidFill>
                          <a:schemeClr val="tx1"/>
                        </a:solidFill>
                      </a:endParaRPr>
                    </a:p>
                  </a:txBody>
                  <a:tcPr/>
                </a:tc>
                <a:tc>
                  <a:txBody>
                    <a:bodyPr/>
                    <a:lstStyle/>
                    <a:p>
                      <a:pPr algn="ctr"/>
                      <a:r>
                        <a:rPr lang="en-US" altLang="zh-CN" dirty="0" smtClean="0">
                          <a:solidFill>
                            <a:schemeClr val="tx1"/>
                          </a:solidFill>
                        </a:rPr>
                        <a:t>v</a:t>
                      </a:r>
                      <a:endParaRPr lang="zh-CN" altLang="en-US" dirty="0">
                        <a:solidFill>
                          <a:schemeClr val="tx1"/>
                        </a:solidFill>
                      </a:endParaRPr>
                    </a:p>
                  </a:txBody>
                  <a:tcPr/>
                </a:tc>
                <a:tc>
                  <a:txBody>
                    <a:bodyPr/>
                    <a:lstStyle/>
                    <a:p>
                      <a:pPr algn="ctr"/>
                      <a:r>
                        <a:rPr lang="en-US" altLang="zh-CN" dirty="0" smtClean="0">
                          <a:solidFill>
                            <a:schemeClr val="tx1"/>
                          </a:solidFill>
                        </a:rPr>
                        <a:t>e</a:t>
                      </a:r>
                      <a:endParaRPr lang="zh-CN" altLang="en-US" dirty="0">
                        <a:solidFill>
                          <a:schemeClr val="tx1"/>
                        </a:solidFill>
                      </a:endParaRPr>
                    </a:p>
                  </a:txBody>
                  <a:tcPr/>
                </a:tc>
                <a:tc>
                  <a:txBody>
                    <a:bodyPr/>
                    <a:lstStyle/>
                    <a:p>
                      <a:pPr algn="ctr"/>
                      <a:r>
                        <a:rPr lang="en-US" altLang="zh-CN" dirty="0" smtClean="0">
                          <a:solidFill>
                            <a:schemeClr val="tx1"/>
                          </a:solidFill>
                        </a:rPr>
                        <a:t>s</a:t>
                      </a:r>
                      <a:endParaRPr lang="zh-CN" altLang="en-US" dirty="0">
                        <a:solidFill>
                          <a:schemeClr val="tx1"/>
                        </a:solidFill>
                      </a:endParaRPr>
                    </a:p>
                  </a:txBody>
                  <a:tcPr/>
                </a:tc>
                <a:tc>
                  <a:txBody>
                    <a:bodyPr/>
                    <a:lstStyle/>
                    <a:p>
                      <a:pPr algn="ctr"/>
                      <a:r>
                        <a:rPr lang="en-US" altLang="zh-CN" dirty="0" smtClean="0">
                          <a:solidFill>
                            <a:schemeClr val="tx1"/>
                          </a:solidFill>
                        </a:rPr>
                        <a:t>h</a:t>
                      </a:r>
                      <a:endParaRPr lang="zh-CN" altLang="en-US" dirty="0">
                        <a:solidFill>
                          <a:schemeClr val="tx1"/>
                        </a:solidFill>
                      </a:endParaRPr>
                    </a:p>
                  </a:txBody>
                  <a:tcPr/>
                </a:tc>
                <a:tc>
                  <a:txBody>
                    <a:bodyPr/>
                    <a:lstStyle/>
                    <a:p>
                      <a:pPr algn="ctr"/>
                      <a:r>
                        <a:rPr lang="en-US" altLang="zh-CN" dirty="0" smtClean="0">
                          <a:solidFill>
                            <a:schemeClr val="tx1"/>
                          </a:solidFill>
                        </a:rPr>
                        <a:t>e</a:t>
                      </a:r>
                      <a:endParaRPr lang="zh-CN" altLang="en-US" dirty="0">
                        <a:solidFill>
                          <a:schemeClr val="tx1"/>
                        </a:solidFill>
                      </a:endParaRPr>
                    </a:p>
                  </a:txBody>
                  <a:tcPr/>
                </a:tc>
                <a:tc>
                  <a:txBody>
                    <a:bodyPr/>
                    <a:lstStyle/>
                    <a:p>
                      <a:pPr algn="ctr"/>
                      <a:r>
                        <a:rPr lang="en-US" altLang="zh-CN" dirty="0" smtClean="0">
                          <a:solidFill>
                            <a:schemeClr val="tx1"/>
                          </a:solidFill>
                        </a:rPr>
                        <a:t>\0</a:t>
                      </a:r>
                      <a:endParaRPr lang="zh-CN" altLang="en-US" dirty="0">
                        <a:solidFill>
                          <a:schemeClr val="tx1"/>
                        </a:solidFill>
                      </a:endParaRPr>
                    </a:p>
                  </a:txBody>
                  <a:tcPr/>
                </a:tc>
                <a:tc>
                  <a:txBody>
                    <a:bodyPr/>
                    <a:lstStyle/>
                    <a:p>
                      <a:pPr algn="ctr"/>
                      <a:endParaRPr lang="zh-CN" altLang="en-US" dirty="0">
                        <a:solidFill>
                          <a:schemeClr val="tx1"/>
                        </a:solidFill>
                      </a:endParaRPr>
                    </a:p>
                  </a:txBody>
                  <a:tcPr/>
                </a:tc>
                <a:extLst>
                  <a:ext uri="{0D108BD9-81ED-4DB2-BD59-A6C34878D82A}">
                    <a16:rowId xmlns:a16="http://schemas.microsoft.com/office/drawing/2014/main" xmlns="" val="213979606"/>
                  </a:ext>
                </a:extLst>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30554266"/>
              </p:ext>
            </p:extLst>
          </p:nvPr>
        </p:nvGraphicFramePr>
        <p:xfrm>
          <a:off x="3718489" y="5798053"/>
          <a:ext cx="4392486" cy="370840"/>
        </p:xfrm>
        <a:graphic>
          <a:graphicData uri="http://schemas.openxmlformats.org/drawingml/2006/table">
            <a:tbl>
              <a:tblPr firstRow="1" bandRow="1">
                <a:tableStyleId>{5C22544A-7EE6-4342-B048-85BDC9FD1C3A}</a:tableStyleId>
              </a:tblPr>
              <a:tblGrid>
                <a:gridCol w="488054">
                  <a:extLst>
                    <a:ext uri="{9D8B030D-6E8A-4147-A177-3AD203B41FA5}">
                      <a16:colId xmlns:a16="http://schemas.microsoft.com/office/drawing/2014/main" xmlns="" val="1665857292"/>
                    </a:ext>
                  </a:extLst>
                </a:gridCol>
                <a:gridCol w="488054">
                  <a:extLst>
                    <a:ext uri="{9D8B030D-6E8A-4147-A177-3AD203B41FA5}">
                      <a16:colId xmlns:a16="http://schemas.microsoft.com/office/drawing/2014/main" xmlns="" val="2191060235"/>
                    </a:ext>
                  </a:extLst>
                </a:gridCol>
                <a:gridCol w="488054">
                  <a:extLst>
                    <a:ext uri="{9D8B030D-6E8A-4147-A177-3AD203B41FA5}">
                      <a16:colId xmlns:a16="http://schemas.microsoft.com/office/drawing/2014/main" xmlns="" val="3106570465"/>
                    </a:ext>
                  </a:extLst>
                </a:gridCol>
                <a:gridCol w="488054">
                  <a:extLst>
                    <a:ext uri="{9D8B030D-6E8A-4147-A177-3AD203B41FA5}">
                      <a16:colId xmlns:a16="http://schemas.microsoft.com/office/drawing/2014/main" xmlns="" val="1704663014"/>
                    </a:ext>
                  </a:extLst>
                </a:gridCol>
                <a:gridCol w="488054">
                  <a:extLst>
                    <a:ext uri="{9D8B030D-6E8A-4147-A177-3AD203B41FA5}">
                      <a16:colId xmlns:a16="http://schemas.microsoft.com/office/drawing/2014/main" xmlns="" val="1744079242"/>
                    </a:ext>
                  </a:extLst>
                </a:gridCol>
                <a:gridCol w="488054">
                  <a:extLst>
                    <a:ext uri="{9D8B030D-6E8A-4147-A177-3AD203B41FA5}">
                      <a16:colId xmlns:a16="http://schemas.microsoft.com/office/drawing/2014/main" xmlns="" val="2084807285"/>
                    </a:ext>
                  </a:extLst>
                </a:gridCol>
                <a:gridCol w="488054">
                  <a:extLst>
                    <a:ext uri="{9D8B030D-6E8A-4147-A177-3AD203B41FA5}">
                      <a16:colId xmlns:a16="http://schemas.microsoft.com/office/drawing/2014/main" xmlns="" val="2120196010"/>
                    </a:ext>
                  </a:extLst>
                </a:gridCol>
                <a:gridCol w="488054">
                  <a:extLst>
                    <a:ext uri="{9D8B030D-6E8A-4147-A177-3AD203B41FA5}">
                      <a16:colId xmlns:a16="http://schemas.microsoft.com/office/drawing/2014/main" xmlns="" val="1171188644"/>
                    </a:ext>
                  </a:extLst>
                </a:gridCol>
                <a:gridCol w="488054">
                  <a:extLst>
                    <a:ext uri="{9D8B030D-6E8A-4147-A177-3AD203B41FA5}">
                      <a16:colId xmlns:a16="http://schemas.microsoft.com/office/drawing/2014/main" xmlns="" val="2441416395"/>
                    </a:ext>
                  </a:extLst>
                </a:gridCol>
              </a:tblGrid>
              <a:tr h="370840">
                <a:tc>
                  <a:txBody>
                    <a:bodyPr/>
                    <a:lstStyle/>
                    <a:p>
                      <a:pPr algn="ctr"/>
                      <a:r>
                        <a:rPr lang="en-US" altLang="zh-CN" dirty="0" smtClean="0">
                          <a:solidFill>
                            <a:schemeClr val="tx1"/>
                          </a:solidFill>
                        </a:rPr>
                        <a:t>l</a:t>
                      </a:r>
                      <a:endParaRPr lang="zh-CN" altLang="en-US" dirty="0">
                        <a:solidFill>
                          <a:schemeClr val="tx1"/>
                        </a:solidFill>
                      </a:endParaRPr>
                    </a:p>
                  </a:txBody>
                  <a:tcPr/>
                </a:tc>
                <a:tc>
                  <a:txBody>
                    <a:bodyPr/>
                    <a:lstStyle/>
                    <a:p>
                      <a:pPr algn="ctr"/>
                      <a:r>
                        <a:rPr lang="en-US" altLang="zh-CN" dirty="0" smtClean="0">
                          <a:solidFill>
                            <a:schemeClr val="tx1"/>
                          </a:solidFill>
                        </a:rPr>
                        <a:t>o</a:t>
                      </a:r>
                      <a:endParaRPr lang="zh-CN" altLang="en-US" dirty="0">
                        <a:solidFill>
                          <a:schemeClr val="tx1"/>
                        </a:solidFill>
                      </a:endParaRPr>
                    </a:p>
                  </a:txBody>
                  <a:tcPr/>
                </a:tc>
                <a:tc>
                  <a:txBody>
                    <a:bodyPr/>
                    <a:lstStyle/>
                    <a:p>
                      <a:pPr algn="ctr"/>
                      <a:r>
                        <a:rPr lang="en-US" altLang="zh-CN" dirty="0" smtClean="0">
                          <a:solidFill>
                            <a:schemeClr val="tx1"/>
                          </a:solidFill>
                        </a:rPr>
                        <a:t>v</a:t>
                      </a:r>
                      <a:endParaRPr lang="zh-CN" altLang="en-US" dirty="0">
                        <a:solidFill>
                          <a:schemeClr val="tx1"/>
                        </a:solidFill>
                      </a:endParaRPr>
                    </a:p>
                  </a:txBody>
                  <a:tcPr/>
                </a:tc>
                <a:tc>
                  <a:txBody>
                    <a:bodyPr/>
                    <a:lstStyle/>
                    <a:p>
                      <a:pPr algn="ctr"/>
                      <a:r>
                        <a:rPr lang="en-US" altLang="zh-CN" dirty="0" smtClean="0">
                          <a:solidFill>
                            <a:schemeClr val="tx1"/>
                          </a:solidFill>
                        </a:rPr>
                        <a:t>s</a:t>
                      </a:r>
                      <a:endParaRPr lang="zh-CN" altLang="en-US" dirty="0">
                        <a:solidFill>
                          <a:schemeClr val="tx1"/>
                        </a:solidFill>
                      </a:endParaRPr>
                    </a:p>
                  </a:txBody>
                  <a:tcPr/>
                </a:tc>
                <a:tc>
                  <a:txBody>
                    <a:bodyPr/>
                    <a:lstStyle/>
                    <a:p>
                      <a:pPr algn="ctr"/>
                      <a:r>
                        <a:rPr lang="en-US" altLang="zh-CN" dirty="0" smtClean="0">
                          <a:solidFill>
                            <a:schemeClr val="tx1"/>
                          </a:solidFill>
                        </a:rPr>
                        <a:t>h</a:t>
                      </a:r>
                      <a:endParaRPr lang="zh-CN" altLang="en-US" dirty="0">
                        <a:solidFill>
                          <a:schemeClr val="tx1"/>
                        </a:solidFill>
                      </a:endParaRPr>
                    </a:p>
                  </a:txBody>
                  <a:tcPr/>
                </a:tc>
                <a:tc>
                  <a:txBody>
                    <a:bodyPr/>
                    <a:lstStyle/>
                    <a:p>
                      <a:pPr algn="ctr"/>
                      <a:r>
                        <a:rPr lang="en-US" altLang="zh-CN" dirty="0" smtClean="0">
                          <a:solidFill>
                            <a:schemeClr val="tx1"/>
                          </a:solidFill>
                        </a:rPr>
                        <a:t>e</a:t>
                      </a:r>
                      <a:endParaRPr lang="zh-CN" altLang="en-US" dirty="0">
                        <a:solidFill>
                          <a:schemeClr val="tx1"/>
                        </a:solidFill>
                      </a:endParaRPr>
                    </a:p>
                  </a:txBody>
                  <a:tcPr/>
                </a:tc>
                <a:tc>
                  <a:txBody>
                    <a:bodyPr/>
                    <a:lstStyle/>
                    <a:p>
                      <a:pPr algn="ctr"/>
                      <a:r>
                        <a:rPr lang="en-US" altLang="zh-CN" dirty="0" smtClean="0">
                          <a:solidFill>
                            <a:schemeClr val="tx1"/>
                          </a:solidFill>
                        </a:rPr>
                        <a:t>\0</a:t>
                      </a:r>
                      <a:endParaRPr lang="zh-CN" altLang="en-US" dirty="0">
                        <a:solidFill>
                          <a:schemeClr val="tx1"/>
                        </a:solidFill>
                      </a:endParaRPr>
                    </a:p>
                  </a:txBody>
                  <a:tcPr/>
                </a:tc>
                <a:tc>
                  <a:txBody>
                    <a:bodyPr/>
                    <a:lstStyle/>
                    <a:p>
                      <a:pPr algn="ctr"/>
                      <a:endParaRPr lang="zh-CN" altLang="en-US" dirty="0">
                        <a:solidFill>
                          <a:schemeClr val="tx1"/>
                        </a:solidFill>
                      </a:endParaRPr>
                    </a:p>
                  </a:txBody>
                  <a:tcPr/>
                </a:tc>
                <a:tc>
                  <a:txBody>
                    <a:bodyPr/>
                    <a:lstStyle/>
                    <a:p>
                      <a:pPr algn="ctr"/>
                      <a:endParaRPr lang="zh-CN" altLang="en-US" dirty="0">
                        <a:solidFill>
                          <a:schemeClr val="tx1"/>
                        </a:solidFill>
                      </a:endParaRPr>
                    </a:p>
                  </a:txBody>
                  <a:tcPr/>
                </a:tc>
                <a:extLst>
                  <a:ext uri="{0D108BD9-81ED-4DB2-BD59-A6C34878D82A}">
                    <a16:rowId xmlns:a16="http://schemas.microsoft.com/office/drawing/2014/main" xmlns="" val="213979606"/>
                  </a:ext>
                </a:extLst>
              </a:tr>
            </a:tbl>
          </a:graphicData>
        </a:graphic>
      </p:graphicFrame>
      <p:graphicFrame>
        <p:nvGraphicFramePr>
          <p:cNvPr id="14" name="表格 13"/>
          <p:cNvGraphicFramePr>
            <a:graphicFrameLocks noGrp="1"/>
          </p:cNvGraphicFramePr>
          <p:nvPr>
            <p:extLst>
              <p:ext uri="{D42A27DB-BD31-4B8C-83A1-F6EECF244321}">
                <p14:modId xmlns:p14="http://schemas.microsoft.com/office/powerpoint/2010/main" val="989572410"/>
              </p:ext>
            </p:extLst>
          </p:nvPr>
        </p:nvGraphicFramePr>
        <p:xfrm>
          <a:off x="3718489" y="6302746"/>
          <a:ext cx="4392486" cy="370840"/>
        </p:xfrm>
        <a:graphic>
          <a:graphicData uri="http://schemas.openxmlformats.org/drawingml/2006/table">
            <a:tbl>
              <a:tblPr firstRow="1" bandRow="1">
                <a:tableStyleId>{5C22544A-7EE6-4342-B048-85BDC9FD1C3A}</a:tableStyleId>
              </a:tblPr>
              <a:tblGrid>
                <a:gridCol w="488054">
                  <a:extLst>
                    <a:ext uri="{9D8B030D-6E8A-4147-A177-3AD203B41FA5}">
                      <a16:colId xmlns:a16="http://schemas.microsoft.com/office/drawing/2014/main" xmlns="" val="1665857292"/>
                    </a:ext>
                  </a:extLst>
                </a:gridCol>
                <a:gridCol w="488054">
                  <a:extLst>
                    <a:ext uri="{9D8B030D-6E8A-4147-A177-3AD203B41FA5}">
                      <a16:colId xmlns:a16="http://schemas.microsoft.com/office/drawing/2014/main" xmlns="" val="2191060235"/>
                    </a:ext>
                  </a:extLst>
                </a:gridCol>
                <a:gridCol w="488054">
                  <a:extLst>
                    <a:ext uri="{9D8B030D-6E8A-4147-A177-3AD203B41FA5}">
                      <a16:colId xmlns:a16="http://schemas.microsoft.com/office/drawing/2014/main" xmlns="" val="3106570465"/>
                    </a:ext>
                  </a:extLst>
                </a:gridCol>
                <a:gridCol w="488054">
                  <a:extLst>
                    <a:ext uri="{9D8B030D-6E8A-4147-A177-3AD203B41FA5}">
                      <a16:colId xmlns:a16="http://schemas.microsoft.com/office/drawing/2014/main" xmlns="" val="1704663014"/>
                    </a:ext>
                  </a:extLst>
                </a:gridCol>
                <a:gridCol w="488054">
                  <a:extLst>
                    <a:ext uri="{9D8B030D-6E8A-4147-A177-3AD203B41FA5}">
                      <a16:colId xmlns:a16="http://schemas.microsoft.com/office/drawing/2014/main" xmlns="" val="1744079242"/>
                    </a:ext>
                  </a:extLst>
                </a:gridCol>
                <a:gridCol w="488054">
                  <a:extLst>
                    <a:ext uri="{9D8B030D-6E8A-4147-A177-3AD203B41FA5}">
                      <a16:colId xmlns:a16="http://schemas.microsoft.com/office/drawing/2014/main" xmlns="" val="2084807285"/>
                    </a:ext>
                  </a:extLst>
                </a:gridCol>
                <a:gridCol w="488054">
                  <a:extLst>
                    <a:ext uri="{9D8B030D-6E8A-4147-A177-3AD203B41FA5}">
                      <a16:colId xmlns:a16="http://schemas.microsoft.com/office/drawing/2014/main" xmlns="" val="2120196010"/>
                    </a:ext>
                  </a:extLst>
                </a:gridCol>
                <a:gridCol w="488054">
                  <a:extLst>
                    <a:ext uri="{9D8B030D-6E8A-4147-A177-3AD203B41FA5}">
                      <a16:colId xmlns:a16="http://schemas.microsoft.com/office/drawing/2014/main" xmlns="" val="1171188644"/>
                    </a:ext>
                  </a:extLst>
                </a:gridCol>
                <a:gridCol w="488054">
                  <a:extLst>
                    <a:ext uri="{9D8B030D-6E8A-4147-A177-3AD203B41FA5}">
                      <a16:colId xmlns:a16="http://schemas.microsoft.com/office/drawing/2014/main" xmlns="" val="2441416395"/>
                    </a:ext>
                  </a:extLst>
                </a:gridCol>
              </a:tblGrid>
              <a:tr h="370840">
                <a:tc>
                  <a:txBody>
                    <a:bodyPr/>
                    <a:lstStyle/>
                    <a:p>
                      <a:pPr algn="ctr"/>
                      <a:r>
                        <a:rPr lang="en-US" altLang="zh-CN" dirty="0" smtClean="0">
                          <a:solidFill>
                            <a:schemeClr val="tx1"/>
                          </a:solidFill>
                        </a:rPr>
                        <a:t>l</a:t>
                      </a:r>
                      <a:endParaRPr lang="zh-CN" altLang="en-US" dirty="0">
                        <a:solidFill>
                          <a:schemeClr val="tx1"/>
                        </a:solidFill>
                      </a:endParaRPr>
                    </a:p>
                  </a:txBody>
                  <a:tcPr/>
                </a:tc>
                <a:tc>
                  <a:txBody>
                    <a:bodyPr/>
                    <a:lstStyle/>
                    <a:p>
                      <a:pPr algn="ctr"/>
                      <a:r>
                        <a:rPr lang="en-US" altLang="zh-CN" dirty="0" smtClean="0">
                          <a:solidFill>
                            <a:schemeClr val="tx1"/>
                          </a:solidFill>
                        </a:rPr>
                        <a:t>o</a:t>
                      </a:r>
                      <a:endParaRPr lang="zh-CN" altLang="en-US" dirty="0">
                        <a:solidFill>
                          <a:schemeClr val="tx1"/>
                        </a:solidFill>
                      </a:endParaRPr>
                    </a:p>
                  </a:txBody>
                  <a:tcPr/>
                </a:tc>
                <a:tc>
                  <a:txBody>
                    <a:bodyPr/>
                    <a:lstStyle/>
                    <a:p>
                      <a:pPr algn="ctr"/>
                      <a:r>
                        <a:rPr lang="en-US" altLang="zh-CN" dirty="0" smtClean="0">
                          <a:solidFill>
                            <a:schemeClr val="tx1"/>
                          </a:solidFill>
                        </a:rPr>
                        <a:t>v</a:t>
                      </a:r>
                      <a:endParaRPr lang="zh-CN" altLang="en-US" dirty="0">
                        <a:solidFill>
                          <a:schemeClr val="tx1"/>
                        </a:solidFill>
                      </a:endParaRPr>
                    </a:p>
                  </a:txBody>
                  <a:tcPr/>
                </a:tc>
                <a:tc>
                  <a:txBody>
                    <a:bodyPr/>
                    <a:lstStyle/>
                    <a:p>
                      <a:pPr algn="ctr"/>
                      <a:r>
                        <a:rPr lang="en-US" altLang="zh-CN" dirty="0" smtClean="0">
                          <a:solidFill>
                            <a:schemeClr val="tx1"/>
                          </a:solidFill>
                        </a:rPr>
                        <a:t>s</a:t>
                      </a:r>
                      <a:endParaRPr lang="zh-CN" altLang="en-US" dirty="0">
                        <a:solidFill>
                          <a:schemeClr val="tx1"/>
                        </a:solidFill>
                      </a:endParaRPr>
                    </a:p>
                  </a:txBody>
                  <a:tcPr/>
                </a:tc>
                <a:tc>
                  <a:txBody>
                    <a:bodyPr/>
                    <a:lstStyle/>
                    <a:p>
                      <a:pPr algn="ctr"/>
                      <a:r>
                        <a:rPr lang="en-US" altLang="zh-CN" dirty="0" smtClean="0">
                          <a:solidFill>
                            <a:schemeClr val="tx1"/>
                          </a:solidFill>
                        </a:rPr>
                        <a:t>h</a:t>
                      </a:r>
                      <a:endParaRPr lang="zh-CN" altLang="en-US" dirty="0">
                        <a:solidFill>
                          <a:schemeClr val="tx1"/>
                        </a:solidFill>
                      </a:endParaRPr>
                    </a:p>
                  </a:txBody>
                  <a:tcPr/>
                </a:tc>
                <a:tc>
                  <a:txBody>
                    <a:bodyPr/>
                    <a:lstStyle/>
                    <a:p>
                      <a:pPr algn="ctr"/>
                      <a:r>
                        <a:rPr lang="en-US" altLang="zh-CN" dirty="0" smtClean="0">
                          <a:solidFill>
                            <a:schemeClr val="tx1"/>
                          </a:solidFill>
                        </a:rPr>
                        <a:t>\0</a:t>
                      </a:r>
                      <a:endParaRPr lang="zh-CN" altLang="en-US" dirty="0">
                        <a:solidFill>
                          <a:schemeClr val="tx1"/>
                        </a:solidFill>
                      </a:endParaRPr>
                    </a:p>
                  </a:txBody>
                  <a:tcPr/>
                </a:tc>
                <a:tc>
                  <a:txBody>
                    <a:bodyPr/>
                    <a:lstStyle/>
                    <a:p>
                      <a:pPr algn="ctr"/>
                      <a:endParaRPr lang="zh-CN" altLang="en-US" dirty="0">
                        <a:solidFill>
                          <a:schemeClr val="tx1"/>
                        </a:solidFill>
                      </a:endParaRPr>
                    </a:p>
                  </a:txBody>
                  <a:tcPr/>
                </a:tc>
                <a:tc>
                  <a:txBody>
                    <a:bodyPr/>
                    <a:lstStyle/>
                    <a:p>
                      <a:pPr algn="ctr"/>
                      <a:endParaRPr lang="zh-CN" altLang="en-US" dirty="0">
                        <a:solidFill>
                          <a:schemeClr val="tx1"/>
                        </a:solidFill>
                      </a:endParaRPr>
                    </a:p>
                  </a:txBody>
                  <a:tcPr/>
                </a:tc>
                <a:tc>
                  <a:txBody>
                    <a:bodyPr/>
                    <a:lstStyle/>
                    <a:p>
                      <a:pPr algn="ctr"/>
                      <a:endParaRPr lang="zh-CN" altLang="en-US" dirty="0">
                        <a:solidFill>
                          <a:schemeClr val="tx1"/>
                        </a:solidFill>
                      </a:endParaRPr>
                    </a:p>
                  </a:txBody>
                  <a:tcPr/>
                </a:tc>
                <a:extLst>
                  <a:ext uri="{0D108BD9-81ED-4DB2-BD59-A6C34878D82A}">
                    <a16:rowId xmlns:a16="http://schemas.microsoft.com/office/drawing/2014/main" xmlns="" val="213979606"/>
                  </a:ext>
                </a:extLst>
              </a:tr>
            </a:tbl>
          </a:graphicData>
        </a:graphic>
      </p:graphicFrame>
      <p:grpSp>
        <p:nvGrpSpPr>
          <p:cNvPr id="15" name="组合 14"/>
          <p:cNvGrpSpPr/>
          <p:nvPr/>
        </p:nvGrpSpPr>
        <p:grpSpPr>
          <a:xfrm>
            <a:off x="5305368" y="4159380"/>
            <a:ext cx="297663" cy="632833"/>
            <a:chOff x="1223628" y="5445224"/>
            <a:chExt cx="648072" cy="632833"/>
          </a:xfrm>
        </p:grpSpPr>
        <p:cxnSp>
          <p:nvCxnSpPr>
            <p:cNvPr id="16" name="直接箭头连接符 15"/>
            <p:cNvCxnSpPr/>
            <p:nvPr/>
          </p:nvCxnSpPr>
          <p:spPr bwMode="auto">
            <a:xfrm>
              <a:off x="1540045" y="5780504"/>
              <a:ext cx="0" cy="297553"/>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矩形 16"/>
            <p:cNvSpPr/>
            <p:nvPr/>
          </p:nvSpPr>
          <p:spPr bwMode="auto">
            <a:xfrm>
              <a:off x="1223628" y="5445224"/>
              <a:ext cx="648072"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err="1" smtClean="0">
                  <a:ln>
                    <a:noFill/>
                  </a:ln>
                  <a:solidFill>
                    <a:schemeClr val="tx1"/>
                  </a:solidFill>
                  <a:effectLst/>
                  <a:latin typeface="Arial" charset="0"/>
                  <a:ea typeface="宋体" pitchFamily="2" charset="-122"/>
                </a:rPr>
                <a:t>i</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spTree>
    <p:extLst>
      <p:ext uri="{BB962C8B-B14F-4D97-AF65-F5344CB8AC3E}">
        <p14:creationId xmlns:p14="http://schemas.microsoft.com/office/powerpoint/2010/main" val="3519899304"/>
      </p:ext>
    </p:extLst>
  </p:cSld>
  <p:clrMapOvr>
    <a:masterClrMapping/>
  </p:clrMapOvr>
  <p:transition spd="med">
    <p:random/>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4.3.3</a:t>
            </a:r>
            <a:r>
              <a:rPr lang="zh-CN" altLang="en-US" dirty="0"/>
              <a:t>字符串的检索、插入和删除</a:t>
            </a:r>
            <a:endParaRPr lang="en-US" dirty="0"/>
          </a:p>
        </p:txBody>
      </p:sp>
      <p:sp>
        <p:nvSpPr>
          <p:cNvPr id="3" name="Content Placeholder 2"/>
          <p:cNvSpPr>
            <a:spLocks noGrp="1"/>
          </p:cNvSpPr>
          <p:nvPr>
            <p:ph idx="1"/>
          </p:nvPr>
        </p:nvSpPr>
        <p:spPr/>
        <p:txBody>
          <a:bodyPr/>
          <a:lstStyle/>
          <a:p>
            <a:r>
              <a:rPr lang="en-US" altLang="zh-CN" dirty="0" smtClean="0"/>
              <a:t>【</a:t>
            </a:r>
            <a:r>
              <a:rPr lang="zh-CN" altLang="en-US" dirty="0"/>
              <a:t>例</a:t>
            </a:r>
            <a:r>
              <a:rPr lang="en-US" altLang="zh-CN" dirty="0"/>
              <a:t>4-21】</a:t>
            </a:r>
            <a:r>
              <a:rPr lang="zh-CN" altLang="en-US" dirty="0"/>
              <a:t>输入一个字符串，删除重复的字符</a:t>
            </a:r>
            <a:r>
              <a:rPr lang="zh-CN" altLang="en-US" dirty="0" smtClean="0"/>
              <a:t>。</a:t>
            </a:r>
            <a:endParaRPr lang="en-US" altLang="zh-CN" dirty="0" smtClean="0"/>
          </a:p>
          <a:p>
            <a:pPr marL="92075" lvl="1" indent="-92075">
              <a:buClr>
                <a:srgbClr val="A50021"/>
              </a:buClr>
              <a:buFont typeface="Webdings" pitchFamily="18" charset="2"/>
              <a:buChar char="·"/>
            </a:pPr>
            <a:r>
              <a:rPr lang="zh-CN" altLang="en-US" sz="2800" dirty="0">
                <a:cs typeface="+mn-cs"/>
              </a:rPr>
              <a:t>难点分析：</a:t>
            </a:r>
            <a:endParaRPr lang="en-US" altLang="zh-CN" sz="2800" dirty="0">
              <a:cs typeface="+mn-cs"/>
            </a:endParaRPr>
          </a:p>
          <a:p>
            <a:pPr lvl="1"/>
            <a:r>
              <a:rPr lang="en-US" altLang="zh-CN" dirty="0" smtClean="0"/>
              <a:t>1</a:t>
            </a:r>
            <a:r>
              <a:rPr lang="zh-CN" altLang="en-US" dirty="0" smtClean="0"/>
              <a:t>，搜索的策略需要考虑每个字符是否都存在重复；</a:t>
            </a:r>
            <a:endParaRPr lang="en-US" altLang="zh-CN" dirty="0" smtClean="0"/>
          </a:p>
          <a:p>
            <a:pPr lvl="1"/>
            <a:r>
              <a:rPr lang="en-US" altLang="zh-CN" dirty="0" smtClean="0"/>
              <a:t>2</a:t>
            </a:r>
            <a:r>
              <a:rPr lang="zh-CN" altLang="en-US" dirty="0" smtClean="0"/>
              <a:t>，删除一</a:t>
            </a:r>
            <a:r>
              <a:rPr lang="zh-CN" altLang="en-US" dirty="0"/>
              <a:t>个重复字符时要继续删除后续重复字符</a:t>
            </a:r>
            <a:r>
              <a:rPr lang="zh-CN" altLang="en-US" dirty="0" smtClean="0"/>
              <a:t>；</a:t>
            </a:r>
            <a:endParaRPr lang="en-US" altLang="zh-CN" dirty="0" smtClean="0"/>
          </a:p>
          <a:p>
            <a:pPr lvl="1"/>
            <a:r>
              <a:rPr lang="en-US" altLang="zh-CN" dirty="0" smtClean="0"/>
              <a:t>3</a:t>
            </a:r>
            <a:r>
              <a:rPr lang="zh-CN" altLang="en-US" dirty="0" smtClean="0"/>
              <a:t>，删除操作如何实现？</a:t>
            </a:r>
            <a:endParaRPr lang="en-US" altLang="zh-CN" dirty="0"/>
          </a:p>
          <a:p>
            <a:pPr lvl="1"/>
            <a:endParaRPr lang="en-US" altLang="zh-CN" b="0" dirty="0" smtClean="0"/>
          </a:p>
          <a:p>
            <a:pPr lvl="1"/>
            <a:endParaRPr lang="en-US" altLang="zh-CN" b="0" dirty="0" smtClean="0"/>
          </a:p>
        </p:txBody>
      </p:sp>
      <p:sp>
        <p:nvSpPr>
          <p:cNvPr id="4" name="Slide Number Placeholder 3"/>
          <p:cNvSpPr>
            <a:spLocks noGrp="1"/>
          </p:cNvSpPr>
          <p:nvPr>
            <p:ph type="sldNum" sz="quarter" idx="11"/>
          </p:nvPr>
        </p:nvSpPr>
        <p:spPr/>
        <p:txBody>
          <a:bodyPr/>
          <a:lstStyle/>
          <a:p>
            <a:pPr>
              <a:defRPr/>
            </a:pPr>
            <a:fld id="{1B21A633-576F-46D6-9FAA-ECFADAC6F967}" type="slidenum">
              <a:rPr lang="en-US" altLang="zh-CN" smtClean="0"/>
              <a:pPr>
                <a:defRPr/>
              </a:pPr>
              <a:t>101</a:t>
            </a:fld>
            <a:endParaRPr lang="en-US" altLang="zh-CN" dirty="0"/>
          </a:p>
        </p:txBody>
      </p:sp>
    </p:spTree>
    <p:extLst>
      <p:ext uri="{BB962C8B-B14F-4D97-AF65-F5344CB8AC3E}">
        <p14:creationId xmlns:p14="http://schemas.microsoft.com/office/powerpoint/2010/main" val="2522145196"/>
      </p:ext>
    </p:extLst>
  </p:cSld>
  <p:clrMapOvr>
    <a:masterClrMapping/>
  </p:clrMapOvr>
  <p:transition spd="med">
    <p:random/>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矩形 4"/>
          <p:cNvSpPr/>
          <p:nvPr/>
        </p:nvSpPr>
        <p:spPr>
          <a:xfrm>
            <a:off x="395536" y="404664"/>
            <a:ext cx="5688632" cy="5909310"/>
          </a:xfrm>
          <a:prstGeom prst="rect">
            <a:avLst/>
          </a:prstGeom>
        </p:spPr>
        <p:txBody>
          <a:bodyPr wrap="square">
            <a:spAutoFit/>
          </a:bodyPr>
          <a:lstStyle/>
          <a:p>
            <a:r>
              <a:rPr lang="en-US" altLang="zh-CN" sz="1400" b="1" dirty="0"/>
              <a:t>#include &lt;</a:t>
            </a:r>
            <a:r>
              <a:rPr lang="en-US" altLang="zh-CN" sz="1400" b="1" dirty="0" err="1"/>
              <a:t>stdio.h</a:t>
            </a:r>
            <a:r>
              <a:rPr lang="en-US" altLang="zh-CN" sz="1400" b="1" dirty="0"/>
              <a:t>&gt;</a:t>
            </a:r>
          </a:p>
          <a:p>
            <a:r>
              <a:rPr lang="en-US" altLang="zh-CN" sz="1400" b="1" dirty="0"/>
              <a:t>#define N 200</a:t>
            </a:r>
          </a:p>
          <a:p>
            <a:r>
              <a:rPr lang="en-US" altLang="zh-CN" sz="1400" b="1" dirty="0" err="1"/>
              <a:t>int</a:t>
            </a:r>
            <a:r>
              <a:rPr lang="en-US" altLang="zh-CN" sz="1400" b="1" dirty="0"/>
              <a:t> main()</a:t>
            </a:r>
          </a:p>
          <a:p>
            <a:r>
              <a:rPr lang="en-US" altLang="zh-CN" sz="1400" b="1" dirty="0"/>
              <a:t>{</a:t>
            </a:r>
          </a:p>
          <a:p>
            <a:r>
              <a:rPr lang="en-US" altLang="zh-CN" sz="1400" b="1" dirty="0"/>
              <a:t>    </a:t>
            </a:r>
            <a:r>
              <a:rPr lang="en-US" altLang="zh-CN" sz="1400" b="1" dirty="0" err="1"/>
              <a:t>int</a:t>
            </a:r>
            <a:r>
              <a:rPr lang="en-US" altLang="zh-CN" sz="1400" b="1" dirty="0"/>
              <a:t> </a:t>
            </a:r>
            <a:r>
              <a:rPr lang="en-US" altLang="zh-CN" sz="1400" b="1" dirty="0" err="1"/>
              <a:t>i,j,k,flag</a:t>
            </a:r>
            <a:r>
              <a:rPr lang="en-US" altLang="zh-CN" sz="1400" b="1" dirty="0"/>
              <a:t>=0;</a:t>
            </a:r>
          </a:p>
          <a:p>
            <a:r>
              <a:rPr lang="en-US" altLang="zh-CN" sz="1400" b="1" dirty="0"/>
              <a:t>    char </a:t>
            </a:r>
            <a:r>
              <a:rPr lang="en-US" altLang="zh-CN" sz="1400" b="1" dirty="0" err="1"/>
              <a:t>str</a:t>
            </a:r>
            <a:r>
              <a:rPr lang="en-US" altLang="zh-CN" sz="1400" b="1" dirty="0"/>
              <a:t>[N];</a:t>
            </a:r>
          </a:p>
          <a:p>
            <a:r>
              <a:rPr lang="en-US" altLang="zh-CN" sz="1400" b="1" dirty="0"/>
              <a:t>    gets(</a:t>
            </a:r>
            <a:r>
              <a:rPr lang="en-US" altLang="zh-CN" sz="1400" b="1" dirty="0" err="1"/>
              <a:t>str</a:t>
            </a:r>
            <a:r>
              <a:rPr lang="en-US" altLang="zh-CN" sz="1400" b="1" dirty="0"/>
              <a:t>);</a:t>
            </a:r>
          </a:p>
          <a:p>
            <a:r>
              <a:rPr lang="en-US" altLang="zh-CN" sz="1400" b="1" dirty="0"/>
              <a:t>    for(</a:t>
            </a:r>
            <a:r>
              <a:rPr lang="en-US" altLang="zh-CN" sz="1400" b="1" dirty="0" err="1"/>
              <a:t>i</a:t>
            </a:r>
            <a:r>
              <a:rPr lang="en-US" altLang="zh-CN" sz="1400" b="1" dirty="0"/>
              <a:t>=0;str[</a:t>
            </a:r>
            <a:r>
              <a:rPr lang="en-US" altLang="zh-CN" sz="1400" b="1" dirty="0" err="1"/>
              <a:t>i</a:t>
            </a:r>
            <a:r>
              <a:rPr lang="en-US" altLang="zh-CN" sz="1400" b="1" dirty="0"/>
              <a:t>]!='\0';i++){</a:t>
            </a:r>
          </a:p>
          <a:p>
            <a:r>
              <a:rPr lang="en-US" altLang="zh-CN" sz="1400" b="1" dirty="0"/>
              <a:t>      flag=0; //</a:t>
            </a:r>
            <a:r>
              <a:rPr lang="zh-CN" altLang="en-US" sz="1400" b="1" dirty="0"/>
              <a:t>标记</a:t>
            </a:r>
          </a:p>
          <a:p>
            <a:r>
              <a:rPr lang="zh-CN" altLang="en-US" sz="1400" b="1" dirty="0"/>
              <a:t>      </a:t>
            </a:r>
            <a:r>
              <a:rPr lang="en-US" altLang="zh-CN" sz="1400" b="1" dirty="0"/>
              <a:t>for(j=i+1;str[j]!='\0';j++){</a:t>
            </a:r>
          </a:p>
          <a:p>
            <a:r>
              <a:rPr lang="en-US" altLang="zh-CN" sz="1400" b="1" dirty="0"/>
              <a:t>        if(</a:t>
            </a:r>
            <a:r>
              <a:rPr lang="en-US" altLang="zh-CN" sz="1400" b="1" dirty="0" err="1"/>
              <a:t>str</a:t>
            </a:r>
            <a:r>
              <a:rPr lang="en-US" altLang="zh-CN" sz="1400" b="1" dirty="0"/>
              <a:t>[j]==</a:t>
            </a:r>
            <a:r>
              <a:rPr lang="en-US" altLang="zh-CN" sz="1400" b="1" dirty="0" err="1"/>
              <a:t>str</a:t>
            </a:r>
            <a:r>
              <a:rPr lang="en-US" altLang="zh-CN" sz="1400" b="1" dirty="0"/>
              <a:t>[</a:t>
            </a:r>
            <a:r>
              <a:rPr lang="en-US" altLang="zh-CN" sz="1400" b="1" dirty="0" err="1"/>
              <a:t>i</a:t>
            </a:r>
            <a:r>
              <a:rPr lang="en-US" altLang="zh-CN" sz="1400" b="1" dirty="0"/>
              <a:t>]){//</a:t>
            </a:r>
            <a:r>
              <a:rPr lang="zh-CN" altLang="en-US" sz="1400" b="1" dirty="0"/>
              <a:t>如果找到一个相同的</a:t>
            </a:r>
          </a:p>
          <a:p>
            <a:r>
              <a:rPr lang="zh-CN" altLang="en-US" sz="1400" b="1" dirty="0"/>
              <a:t>        </a:t>
            </a:r>
            <a:r>
              <a:rPr lang="en-US" altLang="zh-CN" sz="1400" b="1" dirty="0"/>
              <a:t>flag=1;</a:t>
            </a:r>
          </a:p>
          <a:p>
            <a:r>
              <a:rPr lang="en-US" altLang="zh-CN" sz="1400" b="1" dirty="0"/>
              <a:t>        for(k=</a:t>
            </a:r>
            <a:r>
              <a:rPr lang="en-US" altLang="zh-CN" sz="1400" b="1" dirty="0" err="1"/>
              <a:t>j;str</a:t>
            </a:r>
            <a:r>
              <a:rPr lang="en-US" altLang="zh-CN" sz="1400" b="1" dirty="0"/>
              <a:t>[k]!='\0';k++)</a:t>
            </a:r>
          </a:p>
          <a:p>
            <a:r>
              <a:rPr lang="en-US" altLang="zh-CN" sz="1400" b="1" dirty="0"/>
              <a:t>          </a:t>
            </a:r>
            <a:r>
              <a:rPr lang="en-US" altLang="zh-CN" sz="1400" b="1" dirty="0" err="1"/>
              <a:t>str</a:t>
            </a:r>
            <a:r>
              <a:rPr lang="en-US" altLang="zh-CN" sz="1400" b="1" dirty="0"/>
              <a:t>[k]=</a:t>
            </a:r>
            <a:r>
              <a:rPr lang="en-US" altLang="zh-CN" sz="1400" b="1" dirty="0" err="1"/>
              <a:t>str</a:t>
            </a:r>
            <a:r>
              <a:rPr lang="en-US" altLang="zh-CN" sz="1400" b="1" dirty="0"/>
              <a:t>[k+1];//</a:t>
            </a:r>
            <a:r>
              <a:rPr lang="zh-CN" altLang="en-US" sz="1400" b="1" dirty="0"/>
              <a:t>删除后继相同的后一个赋值给前一个</a:t>
            </a:r>
          </a:p>
          <a:p>
            <a:r>
              <a:rPr lang="zh-CN" altLang="en-US" sz="1400" b="1" dirty="0"/>
              <a:t>        </a:t>
            </a:r>
            <a:r>
              <a:rPr lang="en-US" altLang="zh-CN" sz="1400" b="1" dirty="0"/>
              <a:t>j--;//</a:t>
            </a:r>
            <a:r>
              <a:rPr lang="zh-CN" altLang="en-US" sz="1400" b="1" dirty="0"/>
              <a:t>重新将</a:t>
            </a:r>
            <a:r>
              <a:rPr lang="en-US" altLang="zh-CN" sz="1400" b="1" dirty="0"/>
              <a:t>j</a:t>
            </a:r>
            <a:r>
              <a:rPr lang="zh-CN" altLang="en-US" sz="1400" b="1" dirty="0"/>
              <a:t>回退，因此删除了一个值</a:t>
            </a:r>
          </a:p>
          <a:p>
            <a:r>
              <a:rPr lang="zh-CN" altLang="en-US" sz="1400" b="1" dirty="0"/>
              <a:t>        </a:t>
            </a:r>
            <a:r>
              <a:rPr lang="en-US" altLang="zh-CN" sz="1400" b="1" dirty="0"/>
              <a:t>}</a:t>
            </a:r>
          </a:p>
          <a:p>
            <a:r>
              <a:rPr lang="en-US" altLang="zh-CN" sz="1400" b="1" dirty="0"/>
              <a:t>      }</a:t>
            </a:r>
          </a:p>
          <a:p>
            <a:r>
              <a:rPr lang="en-US" altLang="zh-CN" sz="1400" b="1" dirty="0"/>
              <a:t>      if(flag==1){//flag==1</a:t>
            </a:r>
            <a:r>
              <a:rPr lang="zh-CN" altLang="en-US" sz="1400" b="1" dirty="0"/>
              <a:t>表明有相同的，需要删除</a:t>
            </a:r>
            <a:r>
              <a:rPr lang="en-US" altLang="zh-CN" sz="1400" b="1" dirty="0" err="1"/>
              <a:t>i</a:t>
            </a:r>
            <a:r>
              <a:rPr lang="zh-CN" altLang="en-US" sz="1400" b="1" dirty="0"/>
              <a:t>下标的值</a:t>
            </a:r>
          </a:p>
          <a:p>
            <a:r>
              <a:rPr lang="zh-CN" altLang="en-US" sz="1400" b="1" dirty="0"/>
              <a:t>      </a:t>
            </a:r>
            <a:r>
              <a:rPr lang="en-US" altLang="zh-CN" sz="1400" b="1" dirty="0"/>
              <a:t>for(k=</a:t>
            </a:r>
            <a:r>
              <a:rPr lang="en-US" altLang="zh-CN" sz="1400" b="1" dirty="0" err="1"/>
              <a:t>i;str</a:t>
            </a:r>
            <a:r>
              <a:rPr lang="en-US" altLang="zh-CN" sz="1400" b="1" dirty="0"/>
              <a:t>[k]!='\0';k++)</a:t>
            </a:r>
          </a:p>
          <a:p>
            <a:r>
              <a:rPr lang="en-US" altLang="zh-CN" sz="1400" b="1" dirty="0"/>
              <a:t>        </a:t>
            </a:r>
            <a:r>
              <a:rPr lang="en-US" altLang="zh-CN" sz="1400" b="1" dirty="0" err="1"/>
              <a:t>str</a:t>
            </a:r>
            <a:r>
              <a:rPr lang="en-US" altLang="zh-CN" sz="1400" b="1" dirty="0"/>
              <a:t>[k]=</a:t>
            </a:r>
            <a:r>
              <a:rPr lang="en-US" altLang="zh-CN" sz="1400" b="1" dirty="0" err="1"/>
              <a:t>str</a:t>
            </a:r>
            <a:r>
              <a:rPr lang="en-US" altLang="zh-CN" sz="1400" b="1" dirty="0"/>
              <a:t>[k+1]; //</a:t>
            </a:r>
            <a:r>
              <a:rPr lang="zh-CN" altLang="en-US" sz="1400" b="1" dirty="0"/>
              <a:t>后一个赋值给前一个</a:t>
            </a:r>
          </a:p>
          <a:p>
            <a:r>
              <a:rPr lang="zh-CN" altLang="en-US" sz="1400" b="1" dirty="0"/>
              <a:t>      </a:t>
            </a:r>
            <a:r>
              <a:rPr lang="en-US" altLang="zh-CN" sz="1400" b="1" dirty="0"/>
              <a:t>flag=0;</a:t>
            </a:r>
          </a:p>
          <a:p>
            <a:r>
              <a:rPr lang="en-US" altLang="zh-CN" sz="1400" b="1" dirty="0"/>
              <a:t>      </a:t>
            </a:r>
            <a:r>
              <a:rPr lang="en-US" altLang="zh-CN" sz="1400" b="1" dirty="0" err="1"/>
              <a:t>i</a:t>
            </a:r>
            <a:r>
              <a:rPr lang="en-US" altLang="zh-CN" sz="1400" b="1" dirty="0"/>
              <a:t>--;//</a:t>
            </a:r>
            <a:r>
              <a:rPr lang="zh-CN" altLang="en-US" sz="1400" b="1" dirty="0"/>
              <a:t>下标回退</a:t>
            </a:r>
          </a:p>
          <a:p>
            <a:r>
              <a:rPr lang="zh-CN" altLang="en-US" sz="1400" b="1" dirty="0"/>
              <a:t>      </a:t>
            </a:r>
            <a:r>
              <a:rPr lang="en-US" altLang="zh-CN" sz="1400" b="1" dirty="0"/>
              <a:t>}</a:t>
            </a:r>
          </a:p>
          <a:p>
            <a:r>
              <a:rPr lang="en-US" altLang="zh-CN" sz="1400" b="1" dirty="0"/>
              <a:t>    }</a:t>
            </a:r>
          </a:p>
          <a:p>
            <a:r>
              <a:rPr lang="en-US" altLang="zh-CN" sz="1400" b="1" dirty="0"/>
              <a:t>    puts(</a:t>
            </a:r>
            <a:r>
              <a:rPr lang="en-US" altLang="zh-CN" sz="1400" b="1" dirty="0" err="1"/>
              <a:t>str</a:t>
            </a:r>
            <a:r>
              <a:rPr lang="en-US" altLang="zh-CN" sz="1400" b="1" dirty="0"/>
              <a:t>);</a:t>
            </a:r>
          </a:p>
          <a:p>
            <a:r>
              <a:rPr lang="en-US" altLang="zh-CN" sz="1400" b="1" dirty="0"/>
              <a:t>    return 0;</a:t>
            </a:r>
          </a:p>
          <a:p>
            <a:r>
              <a:rPr lang="en-US" altLang="zh-CN" sz="1400" b="1" dirty="0" smtClean="0"/>
              <a:t>}</a:t>
            </a:r>
            <a:endParaRPr lang="zh-CN" altLang="en-US" sz="1400" b="1"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040" y="1772816"/>
            <a:ext cx="3506286" cy="757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组合 5"/>
          <p:cNvGrpSpPr/>
          <p:nvPr/>
        </p:nvGrpSpPr>
        <p:grpSpPr>
          <a:xfrm>
            <a:off x="5004048" y="4149080"/>
            <a:ext cx="297663" cy="632833"/>
            <a:chOff x="1223628" y="5445224"/>
            <a:chExt cx="648072" cy="632833"/>
          </a:xfrm>
        </p:grpSpPr>
        <p:cxnSp>
          <p:nvCxnSpPr>
            <p:cNvPr id="7" name="直接箭头连接符 6"/>
            <p:cNvCxnSpPr/>
            <p:nvPr/>
          </p:nvCxnSpPr>
          <p:spPr bwMode="auto">
            <a:xfrm>
              <a:off x="1540045" y="5780504"/>
              <a:ext cx="0" cy="297553"/>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矩形 7"/>
            <p:cNvSpPr/>
            <p:nvPr/>
          </p:nvSpPr>
          <p:spPr bwMode="auto">
            <a:xfrm>
              <a:off x="1223628" y="5445224"/>
              <a:ext cx="648072"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err="1" smtClean="0">
                  <a:ln>
                    <a:noFill/>
                  </a:ln>
                  <a:solidFill>
                    <a:schemeClr val="tx1"/>
                  </a:solidFill>
                  <a:effectLst/>
                  <a:latin typeface="Arial" charset="0"/>
                  <a:ea typeface="宋体" pitchFamily="2" charset="-122"/>
                </a:rPr>
                <a:t>i</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grpSp>
        <p:nvGrpSpPr>
          <p:cNvPr id="9" name="组合 8"/>
          <p:cNvGrpSpPr/>
          <p:nvPr/>
        </p:nvGrpSpPr>
        <p:grpSpPr>
          <a:xfrm>
            <a:off x="5935336" y="4167943"/>
            <a:ext cx="297663" cy="632833"/>
            <a:chOff x="1223628" y="5445224"/>
            <a:chExt cx="648072" cy="632833"/>
          </a:xfrm>
        </p:grpSpPr>
        <p:cxnSp>
          <p:nvCxnSpPr>
            <p:cNvPr id="10" name="直接箭头连接符 9"/>
            <p:cNvCxnSpPr/>
            <p:nvPr/>
          </p:nvCxnSpPr>
          <p:spPr bwMode="auto">
            <a:xfrm>
              <a:off x="1540045" y="5780504"/>
              <a:ext cx="0" cy="297553"/>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矩形 10"/>
            <p:cNvSpPr/>
            <p:nvPr/>
          </p:nvSpPr>
          <p:spPr bwMode="auto">
            <a:xfrm>
              <a:off x="1223628" y="5445224"/>
              <a:ext cx="648072"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j</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grpSp>
        <p:nvGrpSpPr>
          <p:cNvPr id="12" name="组合 11"/>
          <p:cNvGrpSpPr/>
          <p:nvPr/>
        </p:nvGrpSpPr>
        <p:grpSpPr>
          <a:xfrm>
            <a:off x="5931836" y="3485589"/>
            <a:ext cx="297663" cy="632833"/>
            <a:chOff x="1223628" y="5445224"/>
            <a:chExt cx="648072" cy="632833"/>
          </a:xfrm>
        </p:grpSpPr>
        <p:cxnSp>
          <p:nvCxnSpPr>
            <p:cNvPr id="13" name="直接箭头连接符 12"/>
            <p:cNvCxnSpPr/>
            <p:nvPr/>
          </p:nvCxnSpPr>
          <p:spPr bwMode="auto">
            <a:xfrm>
              <a:off x="1540045" y="5780504"/>
              <a:ext cx="0" cy="297553"/>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矩形 13"/>
            <p:cNvSpPr/>
            <p:nvPr/>
          </p:nvSpPr>
          <p:spPr bwMode="auto">
            <a:xfrm>
              <a:off x="1223628" y="5445224"/>
              <a:ext cx="648072" cy="3352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Arial" charset="0"/>
                  <a:ea typeface="宋体" pitchFamily="2" charset="-122"/>
                </a:rPr>
                <a:t>k</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p:txBody>
        </p:sp>
      </p:grpSp>
      <p:graphicFrame>
        <p:nvGraphicFramePr>
          <p:cNvPr id="15" name="表格 14"/>
          <p:cNvGraphicFramePr>
            <a:graphicFrameLocks noGrp="1"/>
          </p:cNvGraphicFramePr>
          <p:nvPr>
            <p:extLst>
              <p:ext uri="{D42A27DB-BD31-4B8C-83A1-F6EECF244321}">
                <p14:modId xmlns:p14="http://schemas.microsoft.com/office/powerpoint/2010/main" val="3520644105"/>
              </p:ext>
            </p:extLst>
          </p:nvPr>
        </p:nvGraphicFramePr>
        <p:xfrm>
          <a:off x="4427984" y="4869160"/>
          <a:ext cx="4392486" cy="370840"/>
        </p:xfrm>
        <a:graphic>
          <a:graphicData uri="http://schemas.openxmlformats.org/drawingml/2006/table">
            <a:tbl>
              <a:tblPr firstRow="1" bandRow="1">
                <a:tableStyleId>{5C22544A-7EE6-4342-B048-85BDC9FD1C3A}</a:tableStyleId>
              </a:tblPr>
              <a:tblGrid>
                <a:gridCol w="488054">
                  <a:extLst>
                    <a:ext uri="{9D8B030D-6E8A-4147-A177-3AD203B41FA5}">
                      <a16:colId xmlns:a16="http://schemas.microsoft.com/office/drawing/2014/main" xmlns="" val="1665857292"/>
                    </a:ext>
                  </a:extLst>
                </a:gridCol>
                <a:gridCol w="488054">
                  <a:extLst>
                    <a:ext uri="{9D8B030D-6E8A-4147-A177-3AD203B41FA5}">
                      <a16:colId xmlns:a16="http://schemas.microsoft.com/office/drawing/2014/main" xmlns="" val="2191060235"/>
                    </a:ext>
                  </a:extLst>
                </a:gridCol>
                <a:gridCol w="488054">
                  <a:extLst>
                    <a:ext uri="{9D8B030D-6E8A-4147-A177-3AD203B41FA5}">
                      <a16:colId xmlns:a16="http://schemas.microsoft.com/office/drawing/2014/main" xmlns="" val="3106570465"/>
                    </a:ext>
                  </a:extLst>
                </a:gridCol>
                <a:gridCol w="488054">
                  <a:extLst>
                    <a:ext uri="{9D8B030D-6E8A-4147-A177-3AD203B41FA5}">
                      <a16:colId xmlns:a16="http://schemas.microsoft.com/office/drawing/2014/main" xmlns="" val="1704663014"/>
                    </a:ext>
                  </a:extLst>
                </a:gridCol>
                <a:gridCol w="488054">
                  <a:extLst>
                    <a:ext uri="{9D8B030D-6E8A-4147-A177-3AD203B41FA5}">
                      <a16:colId xmlns:a16="http://schemas.microsoft.com/office/drawing/2014/main" xmlns="" val="1744079242"/>
                    </a:ext>
                  </a:extLst>
                </a:gridCol>
                <a:gridCol w="488054">
                  <a:extLst>
                    <a:ext uri="{9D8B030D-6E8A-4147-A177-3AD203B41FA5}">
                      <a16:colId xmlns:a16="http://schemas.microsoft.com/office/drawing/2014/main" xmlns="" val="2084807285"/>
                    </a:ext>
                  </a:extLst>
                </a:gridCol>
                <a:gridCol w="488054">
                  <a:extLst>
                    <a:ext uri="{9D8B030D-6E8A-4147-A177-3AD203B41FA5}">
                      <a16:colId xmlns:a16="http://schemas.microsoft.com/office/drawing/2014/main" xmlns="" val="2120196010"/>
                    </a:ext>
                  </a:extLst>
                </a:gridCol>
                <a:gridCol w="488054">
                  <a:extLst>
                    <a:ext uri="{9D8B030D-6E8A-4147-A177-3AD203B41FA5}">
                      <a16:colId xmlns:a16="http://schemas.microsoft.com/office/drawing/2014/main" xmlns="" val="1171188644"/>
                    </a:ext>
                  </a:extLst>
                </a:gridCol>
                <a:gridCol w="488054">
                  <a:extLst>
                    <a:ext uri="{9D8B030D-6E8A-4147-A177-3AD203B41FA5}">
                      <a16:colId xmlns:a16="http://schemas.microsoft.com/office/drawing/2014/main" xmlns="" val="2441416395"/>
                    </a:ext>
                  </a:extLst>
                </a:gridCol>
              </a:tblGrid>
              <a:tr h="370840">
                <a:tc>
                  <a:txBody>
                    <a:bodyPr/>
                    <a:lstStyle/>
                    <a:p>
                      <a:pPr algn="ctr"/>
                      <a:r>
                        <a:rPr lang="en-US" altLang="zh-CN" dirty="0" smtClean="0">
                          <a:solidFill>
                            <a:schemeClr val="tx1"/>
                          </a:solidFill>
                        </a:rPr>
                        <a:t>l</a:t>
                      </a:r>
                      <a:endParaRPr lang="zh-CN" altLang="en-US" dirty="0">
                        <a:solidFill>
                          <a:schemeClr val="tx1"/>
                        </a:solidFill>
                      </a:endParaRPr>
                    </a:p>
                  </a:txBody>
                  <a:tcPr/>
                </a:tc>
                <a:tc>
                  <a:txBody>
                    <a:bodyPr/>
                    <a:lstStyle/>
                    <a:p>
                      <a:pPr algn="ctr"/>
                      <a:r>
                        <a:rPr lang="en-US" altLang="zh-CN" dirty="0" smtClean="0">
                          <a:solidFill>
                            <a:schemeClr val="tx1"/>
                          </a:solidFill>
                        </a:rPr>
                        <a:t>o</a:t>
                      </a:r>
                      <a:endParaRPr lang="zh-CN" altLang="en-US" dirty="0">
                        <a:solidFill>
                          <a:schemeClr val="tx1"/>
                        </a:solidFill>
                      </a:endParaRPr>
                    </a:p>
                  </a:txBody>
                  <a:tcPr/>
                </a:tc>
                <a:tc>
                  <a:txBody>
                    <a:bodyPr/>
                    <a:lstStyle/>
                    <a:p>
                      <a:pPr algn="ctr"/>
                      <a:r>
                        <a:rPr lang="en-US" altLang="zh-CN" dirty="0" smtClean="0">
                          <a:solidFill>
                            <a:schemeClr val="tx1"/>
                          </a:solidFill>
                        </a:rPr>
                        <a:t>v</a:t>
                      </a:r>
                      <a:endParaRPr lang="zh-CN" altLang="en-US" dirty="0">
                        <a:solidFill>
                          <a:schemeClr val="tx1"/>
                        </a:solidFill>
                      </a:endParaRPr>
                    </a:p>
                  </a:txBody>
                  <a:tcPr/>
                </a:tc>
                <a:tc>
                  <a:txBody>
                    <a:bodyPr/>
                    <a:lstStyle/>
                    <a:p>
                      <a:pPr algn="ctr"/>
                      <a:r>
                        <a:rPr lang="en-US" altLang="zh-CN" dirty="0" smtClean="0">
                          <a:solidFill>
                            <a:schemeClr val="tx1"/>
                          </a:solidFill>
                        </a:rPr>
                        <a:t>o</a:t>
                      </a:r>
                      <a:endParaRPr lang="zh-CN" altLang="en-US" dirty="0">
                        <a:solidFill>
                          <a:schemeClr val="tx1"/>
                        </a:solidFill>
                      </a:endParaRPr>
                    </a:p>
                  </a:txBody>
                  <a:tcPr/>
                </a:tc>
                <a:tc>
                  <a:txBody>
                    <a:bodyPr/>
                    <a:lstStyle/>
                    <a:p>
                      <a:pPr algn="ctr"/>
                      <a:r>
                        <a:rPr lang="en-US" altLang="zh-CN" dirty="0" smtClean="0">
                          <a:solidFill>
                            <a:schemeClr val="tx1"/>
                          </a:solidFill>
                        </a:rPr>
                        <a:t>o</a:t>
                      </a:r>
                      <a:endParaRPr lang="zh-CN" altLang="en-US" dirty="0">
                        <a:solidFill>
                          <a:schemeClr val="tx1"/>
                        </a:solidFill>
                      </a:endParaRPr>
                    </a:p>
                  </a:txBody>
                  <a:tcPr/>
                </a:tc>
                <a:tc>
                  <a:txBody>
                    <a:bodyPr/>
                    <a:lstStyle/>
                    <a:p>
                      <a:pPr algn="ctr"/>
                      <a:r>
                        <a:rPr lang="en-US" altLang="zh-CN" dirty="0" smtClean="0">
                          <a:solidFill>
                            <a:schemeClr val="tx1"/>
                          </a:solidFill>
                        </a:rPr>
                        <a:t>v</a:t>
                      </a:r>
                      <a:endParaRPr lang="zh-CN" altLang="en-US" dirty="0">
                        <a:solidFill>
                          <a:schemeClr val="tx1"/>
                        </a:solidFill>
                      </a:endParaRPr>
                    </a:p>
                  </a:txBody>
                  <a:tcPr/>
                </a:tc>
                <a:tc>
                  <a:txBody>
                    <a:bodyPr/>
                    <a:lstStyle/>
                    <a:p>
                      <a:pPr algn="ctr"/>
                      <a:r>
                        <a:rPr lang="en-US" altLang="zh-CN" dirty="0" smtClean="0">
                          <a:solidFill>
                            <a:schemeClr val="tx1"/>
                          </a:solidFill>
                        </a:rPr>
                        <a:t>h</a:t>
                      </a:r>
                      <a:endParaRPr lang="zh-CN" altLang="en-US" dirty="0">
                        <a:solidFill>
                          <a:schemeClr val="tx1"/>
                        </a:solidFill>
                      </a:endParaRPr>
                    </a:p>
                  </a:txBody>
                  <a:tcPr/>
                </a:tc>
                <a:tc>
                  <a:txBody>
                    <a:bodyPr/>
                    <a:lstStyle/>
                    <a:p>
                      <a:pPr algn="ctr"/>
                      <a:r>
                        <a:rPr lang="en-US" altLang="zh-CN" dirty="0" smtClean="0">
                          <a:solidFill>
                            <a:schemeClr val="tx1"/>
                          </a:solidFill>
                        </a:rPr>
                        <a:t>e</a:t>
                      </a:r>
                      <a:endParaRPr lang="zh-CN" altLang="en-US" dirty="0">
                        <a:solidFill>
                          <a:schemeClr val="tx1"/>
                        </a:solidFill>
                      </a:endParaRPr>
                    </a:p>
                  </a:txBody>
                  <a:tcPr/>
                </a:tc>
                <a:tc>
                  <a:txBody>
                    <a:bodyPr/>
                    <a:lstStyle/>
                    <a:p>
                      <a:pPr algn="ctr"/>
                      <a:r>
                        <a:rPr lang="en-US" altLang="zh-CN" dirty="0" smtClean="0">
                          <a:solidFill>
                            <a:schemeClr val="tx1"/>
                          </a:solidFill>
                        </a:rPr>
                        <a:t>\0</a:t>
                      </a:r>
                      <a:endParaRPr lang="zh-CN" altLang="en-US" dirty="0">
                        <a:solidFill>
                          <a:schemeClr val="tx1"/>
                        </a:solidFill>
                      </a:endParaRPr>
                    </a:p>
                  </a:txBody>
                  <a:tcPr/>
                </a:tc>
                <a:extLst>
                  <a:ext uri="{0D108BD9-81ED-4DB2-BD59-A6C34878D82A}">
                    <a16:rowId xmlns:a16="http://schemas.microsoft.com/office/drawing/2014/main" xmlns="" val="213979606"/>
                  </a:ext>
                </a:extLst>
              </a:tr>
            </a:tbl>
          </a:graphicData>
        </a:graphic>
      </p:graphicFrame>
      <p:graphicFrame>
        <p:nvGraphicFramePr>
          <p:cNvPr id="16" name="表格 15"/>
          <p:cNvGraphicFramePr>
            <a:graphicFrameLocks noGrp="1"/>
          </p:cNvGraphicFramePr>
          <p:nvPr>
            <p:extLst>
              <p:ext uri="{D42A27DB-BD31-4B8C-83A1-F6EECF244321}">
                <p14:modId xmlns:p14="http://schemas.microsoft.com/office/powerpoint/2010/main" val="2018794504"/>
              </p:ext>
            </p:extLst>
          </p:nvPr>
        </p:nvGraphicFramePr>
        <p:xfrm>
          <a:off x="4427984" y="5229200"/>
          <a:ext cx="4392486" cy="370840"/>
        </p:xfrm>
        <a:graphic>
          <a:graphicData uri="http://schemas.openxmlformats.org/drawingml/2006/table">
            <a:tbl>
              <a:tblPr firstRow="1" bandRow="1">
                <a:tableStyleId>{5C22544A-7EE6-4342-B048-85BDC9FD1C3A}</a:tableStyleId>
              </a:tblPr>
              <a:tblGrid>
                <a:gridCol w="488054">
                  <a:extLst>
                    <a:ext uri="{9D8B030D-6E8A-4147-A177-3AD203B41FA5}">
                      <a16:colId xmlns:a16="http://schemas.microsoft.com/office/drawing/2014/main" xmlns="" val="1665857292"/>
                    </a:ext>
                  </a:extLst>
                </a:gridCol>
                <a:gridCol w="488054">
                  <a:extLst>
                    <a:ext uri="{9D8B030D-6E8A-4147-A177-3AD203B41FA5}">
                      <a16:colId xmlns:a16="http://schemas.microsoft.com/office/drawing/2014/main" xmlns="" val="2191060235"/>
                    </a:ext>
                  </a:extLst>
                </a:gridCol>
                <a:gridCol w="488054">
                  <a:extLst>
                    <a:ext uri="{9D8B030D-6E8A-4147-A177-3AD203B41FA5}">
                      <a16:colId xmlns:a16="http://schemas.microsoft.com/office/drawing/2014/main" xmlns="" val="3106570465"/>
                    </a:ext>
                  </a:extLst>
                </a:gridCol>
                <a:gridCol w="488054">
                  <a:extLst>
                    <a:ext uri="{9D8B030D-6E8A-4147-A177-3AD203B41FA5}">
                      <a16:colId xmlns:a16="http://schemas.microsoft.com/office/drawing/2014/main" xmlns="" val="1704663014"/>
                    </a:ext>
                  </a:extLst>
                </a:gridCol>
                <a:gridCol w="488054">
                  <a:extLst>
                    <a:ext uri="{9D8B030D-6E8A-4147-A177-3AD203B41FA5}">
                      <a16:colId xmlns:a16="http://schemas.microsoft.com/office/drawing/2014/main" xmlns="" val="1744079242"/>
                    </a:ext>
                  </a:extLst>
                </a:gridCol>
                <a:gridCol w="488054">
                  <a:extLst>
                    <a:ext uri="{9D8B030D-6E8A-4147-A177-3AD203B41FA5}">
                      <a16:colId xmlns:a16="http://schemas.microsoft.com/office/drawing/2014/main" xmlns="" val="2084807285"/>
                    </a:ext>
                  </a:extLst>
                </a:gridCol>
                <a:gridCol w="488054">
                  <a:extLst>
                    <a:ext uri="{9D8B030D-6E8A-4147-A177-3AD203B41FA5}">
                      <a16:colId xmlns:a16="http://schemas.microsoft.com/office/drawing/2014/main" xmlns="" val="2120196010"/>
                    </a:ext>
                  </a:extLst>
                </a:gridCol>
                <a:gridCol w="488054">
                  <a:extLst>
                    <a:ext uri="{9D8B030D-6E8A-4147-A177-3AD203B41FA5}">
                      <a16:colId xmlns:a16="http://schemas.microsoft.com/office/drawing/2014/main" xmlns="" val="1171188644"/>
                    </a:ext>
                  </a:extLst>
                </a:gridCol>
                <a:gridCol w="488054">
                  <a:extLst>
                    <a:ext uri="{9D8B030D-6E8A-4147-A177-3AD203B41FA5}">
                      <a16:colId xmlns:a16="http://schemas.microsoft.com/office/drawing/2014/main" xmlns="" val="2441416395"/>
                    </a:ext>
                  </a:extLst>
                </a:gridCol>
              </a:tblGrid>
              <a:tr h="370840">
                <a:tc>
                  <a:txBody>
                    <a:bodyPr/>
                    <a:lstStyle/>
                    <a:p>
                      <a:pPr algn="ctr"/>
                      <a:r>
                        <a:rPr lang="en-US" altLang="zh-CN" dirty="0" smtClean="0">
                          <a:solidFill>
                            <a:schemeClr val="tx1"/>
                          </a:solidFill>
                        </a:rPr>
                        <a:t>l</a:t>
                      </a:r>
                      <a:endParaRPr lang="zh-CN" altLang="en-US" dirty="0">
                        <a:solidFill>
                          <a:schemeClr val="tx1"/>
                        </a:solidFill>
                      </a:endParaRPr>
                    </a:p>
                  </a:txBody>
                  <a:tcPr/>
                </a:tc>
                <a:tc>
                  <a:txBody>
                    <a:bodyPr/>
                    <a:lstStyle/>
                    <a:p>
                      <a:pPr algn="ctr"/>
                      <a:r>
                        <a:rPr lang="en-US" altLang="zh-CN" dirty="0" smtClean="0">
                          <a:solidFill>
                            <a:schemeClr val="tx1"/>
                          </a:solidFill>
                        </a:rPr>
                        <a:t>o</a:t>
                      </a:r>
                      <a:endParaRPr lang="zh-CN" altLang="en-US" dirty="0">
                        <a:solidFill>
                          <a:schemeClr val="tx1"/>
                        </a:solidFill>
                      </a:endParaRPr>
                    </a:p>
                  </a:txBody>
                  <a:tcPr/>
                </a:tc>
                <a:tc>
                  <a:txBody>
                    <a:bodyPr/>
                    <a:lstStyle/>
                    <a:p>
                      <a:pPr algn="ctr"/>
                      <a:r>
                        <a:rPr lang="en-US" altLang="zh-CN" dirty="0" smtClean="0">
                          <a:solidFill>
                            <a:schemeClr val="tx1"/>
                          </a:solidFill>
                        </a:rPr>
                        <a:t>v</a:t>
                      </a:r>
                      <a:endParaRPr lang="zh-CN" altLang="en-US" dirty="0">
                        <a:solidFill>
                          <a:schemeClr val="tx1"/>
                        </a:solidFill>
                      </a:endParaRPr>
                    </a:p>
                  </a:txBody>
                  <a:tcPr/>
                </a:tc>
                <a:tc>
                  <a:txBody>
                    <a:bodyPr/>
                    <a:lstStyle/>
                    <a:p>
                      <a:pPr algn="ctr"/>
                      <a:r>
                        <a:rPr lang="en-US" altLang="zh-CN" dirty="0" smtClean="0">
                          <a:solidFill>
                            <a:schemeClr val="tx1"/>
                          </a:solidFill>
                        </a:rPr>
                        <a:t>o</a:t>
                      </a:r>
                      <a:endParaRPr lang="zh-CN" altLang="en-US" dirty="0">
                        <a:solidFill>
                          <a:schemeClr val="tx1"/>
                        </a:solidFill>
                      </a:endParaRPr>
                    </a:p>
                  </a:txBody>
                  <a:tcPr/>
                </a:tc>
                <a:tc>
                  <a:txBody>
                    <a:bodyPr/>
                    <a:lstStyle/>
                    <a:p>
                      <a:pPr algn="ctr"/>
                      <a:r>
                        <a:rPr lang="en-US" altLang="zh-CN" dirty="0" smtClean="0">
                          <a:solidFill>
                            <a:schemeClr val="tx1"/>
                          </a:solidFill>
                        </a:rPr>
                        <a:t>v</a:t>
                      </a:r>
                      <a:endParaRPr lang="zh-CN" altLang="en-US" dirty="0">
                        <a:solidFill>
                          <a:schemeClr val="tx1"/>
                        </a:solidFill>
                      </a:endParaRPr>
                    </a:p>
                  </a:txBody>
                  <a:tcPr/>
                </a:tc>
                <a:tc>
                  <a:txBody>
                    <a:bodyPr/>
                    <a:lstStyle/>
                    <a:p>
                      <a:pPr algn="ctr"/>
                      <a:r>
                        <a:rPr lang="en-US" altLang="zh-CN" dirty="0" smtClean="0">
                          <a:solidFill>
                            <a:schemeClr val="tx1"/>
                          </a:solidFill>
                        </a:rPr>
                        <a:t>h</a:t>
                      </a:r>
                      <a:endParaRPr lang="zh-CN" altLang="en-US" dirty="0">
                        <a:solidFill>
                          <a:schemeClr val="tx1"/>
                        </a:solidFill>
                      </a:endParaRPr>
                    </a:p>
                  </a:txBody>
                  <a:tcPr/>
                </a:tc>
                <a:tc>
                  <a:txBody>
                    <a:bodyPr/>
                    <a:lstStyle/>
                    <a:p>
                      <a:pPr algn="ctr"/>
                      <a:r>
                        <a:rPr lang="en-US" altLang="zh-CN" dirty="0" smtClean="0">
                          <a:solidFill>
                            <a:schemeClr val="tx1"/>
                          </a:solidFill>
                        </a:rPr>
                        <a:t>e</a:t>
                      </a:r>
                      <a:endParaRPr lang="zh-CN" altLang="en-US" dirty="0">
                        <a:solidFill>
                          <a:schemeClr val="tx1"/>
                        </a:solidFill>
                      </a:endParaRPr>
                    </a:p>
                  </a:txBody>
                  <a:tcPr/>
                </a:tc>
                <a:tc>
                  <a:txBody>
                    <a:bodyPr/>
                    <a:lstStyle/>
                    <a:p>
                      <a:pPr algn="ctr"/>
                      <a:r>
                        <a:rPr lang="en-US" altLang="zh-CN" dirty="0" smtClean="0">
                          <a:solidFill>
                            <a:schemeClr val="tx1"/>
                          </a:solidFill>
                        </a:rPr>
                        <a:t>\0</a:t>
                      </a:r>
                      <a:endParaRPr lang="zh-CN" altLang="en-US" dirty="0">
                        <a:solidFill>
                          <a:schemeClr val="tx1"/>
                        </a:solidFill>
                      </a:endParaRPr>
                    </a:p>
                  </a:txBody>
                  <a:tcPr/>
                </a:tc>
                <a:tc>
                  <a:txBody>
                    <a:bodyPr/>
                    <a:lstStyle/>
                    <a:p>
                      <a:pPr algn="ctr"/>
                      <a:r>
                        <a:rPr lang="en-US" altLang="zh-CN" dirty="0" smtClean="0">
                          <a:solidFill>
                            <a:schemeClr val="tx1"/>
                          </a:solidFill>
                        </a:rPr>
                        <a:t>\0</a:t>
                      </a:r>
                      <a:endParaRPr lang="zh-CN" altLang="en-US" dirty="0">
                        <a:solidFill>
                          <a:schemeClr val="tx1"/>
                        </a:solidFill>
                      </a:endParaRPr>
                    </a:p>
                  </a:txBody>
                  <a:tcPr/>
                </a:tc>
                <a:extLst>
                  <a:ext uri="{0D108BD9-81ED-4DB2-BD59-A6C34878D82A}">
                    <a16:rowId xmlns:a16="http://schemas.microsoft.com/office/drawing/2014/main" xmlns="" val="213979606"/>
                  </a:ext>
                </a:extLst>
              </a:tr>
            </a:tbl>
          </a:graphicData>
        </a:graphic>
      </p:graphicFrame>
      <p:graphicFrame>
        <p:nvGraphicFramePr>
          <p:cNvPr id="17" name="表格 16"/>
          <p:cNvGraphicFramePr>
            <a:graphicFrameLocks noGrp="1"/>
          </p:cNvGraphicFramePr>
          <p:nvPr>
            <p:extLst>
              <p:ext uri="{D42A27DB-BD31-4B8C-83A1-F6EECF244321}">
                <p14:modId xmlns:p14="http://schemas.microsoft.com/office/powerpoint/2010/main" val="1464937529"/>
              </p:ext>
            </p:extLst>
          </p:nvPr>
        </p:nvGraphicFramePr>
        <p:xfrm>
          <a:off x="4427984" y="5589240"/>
          <a:ext cx="4392486" cy="370840"/>
        </p:xfrm>
        <a:graphic>
          <a:graphicData uri="http://schemas.openxmlformats.org/drawingml/2006/table">
            <a:tbl>
              <a:tblPr firstRow="1" bandRow="1">
                <a:tableStyleId>{5C22544A-7EE6-4342-B048-85BDC9FD1C3A}</a:tableStyleId>
              </a:tblPr>
              <a:tblGrid>
                <a:gridCol w="488054">
                  <a:extLst>
                    <a:ext uri="{9D8B030D-6E8A-4147-A177-3AD203B41FA5}">
                      <a16:colId xmlns:a16="http://schemas.microsoft.com/office/drawing/2014/main" xmlns="" val="1665857292"/>
                    </a:ext>
                  </a:extLst>
                </a:gridCol>
                <a:gridCol w="488054">
                  <a:extLst>
                    <a:ext uri="{9D8B030D-6E8A-4147-A177-3AD203B41FA5}">
                      <a16:colId xmlns:a16="http://schemas.microsoft.com/office/drawing/2014/main" xmlns="" val="2191060235"/>
                    </a:ext>
                  </a:extLst>
                </a:gridCol>
                <a:gridCol w="488054">
                  <a:extLst>
                    <a:ext uri="{9D8B030D-6E8A-4147-A177-3AD203B41FA5}">
                      <a16:colId xmlns:a16="http://schemas.microsoft.com/office/drawing/2014/main" xmlns="" val="3106570465"/>
                    </a:ext>
                  </a:extLst>
                </a:gridCol>
                <a:gridCol w="488054">
                  <a:extLst>
                    <a:ext uri="{9D8B030D-6E8A-4147-A177-3AD203B41FA5}">
                      <a16:colId xmlns:a16="http://schemas.microsoft.com/office/drawing/2014/main" xmlns="" val="1704663014"/>
                    </a:ext>
                  </a:extLst>
                </a:gridCol>
                <a:gridCol w="488054">
                  <a:extLst>
                    <a:ext uri="{9D8B030D-6E8A-4147-A177-3AD203B41FA5}">
                      <a16:colId xmlns:a16="http://schemas.microsoft.com/office/drawing/2014/main" xmlns="" val="1744079242"/>
                    </a:ext>
                  </a:extLst>
                </a:gridCol>
                <a:gridCol w="488054">
                  <a:extLst>
                    <a:ext uri="{9D8B030D-6E8A-4147-A177-3AD203B41FA5}">
                      <a16:colId xmlns:a16="http://schemas.microsoft.com/office/drawing/2014/main" xmlns="" val="2084807285"/>
                    </a:ext>
                  </a:extLst>
                </a:gridCol>
                <a:gridCol w="488054">
                  <a:extLst>
                    <a:ext uri="{9D8B030D-6E8A-4147-A177-3AD203B41FA5}">
                      <a16:colId xmlns:a16="http://schemas.microsoft.com/office/drawing/2014/main" xmlns="" val="2120196010"/>
                    </a:ext>
                  </a:extLst>
                </a:gridCol>
                <a:gridCol w="488054">
                  <a:extLst>
                    <a:ext uri="{9D8B030D-6E8A-4147-A177-3AD203B41FA5}">
                      <a16:colId xmlns:a16="http://schemas.microsoft.com/office/drawing/2014/main" xmlns="" val="1171188644"/>
                    </a:ext>
                  </a:extLst>
                </a:gridCol>
                <a:gridCol w="488054">
                  <a:extLst>
                    <a:ext uri="{9D8B030D-6E8A-4147-A177-3AD203B41FA5}">
                      <a16:colId xmlns:a16="http://schemas.microsoft.com/office/drawing/2014/main" xmlns="" val="2441416395"/>
                    </a:ext>
                  </a:extLst>
                </a:gridCol>
              </a:tblGrid>
              <a:tr h="370840">
                <a:tc>
                  <a:txBody>
                    <a:bodyPr/>
                    <a:lstStyle/>
                    <a:p>
                      <a:pPr algn="ctr"/>
                      <a:r>
                        <a:rPr lang="en-US" altLang="zh-CN" dirty="0" smtClean="0">
                          <a:solidFill>
                            <a:schemeClr val="tx1"/>
                          </a:solidFill>
                        </a:rPr>
                        <a:t>l</a:t>
                      </a:r>
                      <a:endParaRPr lang="zh-CN" altLang="en-US" dirty="0">
                        <a:solidFill>
                          <a:schemeClr val="tx1"/>
                        </a:solidFill>
                      </a:endParaRPr>
                    </a:p>
                  </a:txBody>
                  <a:tcPr/>
                </a:tc>
                <a:tc>
                  <a:txBody>
                    <a:bodyPr/>
                    <a:lstStyle/>
                    <a:p>
                      <a:pPr algn="ctr"/>
                      <a:r>
                        <a:rPr lang="en-US" altLang="zh-CN" dirty="0" smtClean="0">
                          <a:solidFill>
                            <a:schemeClr val="tx1"/>
                          </a:solidFill>
                        </a:rPr>
                        <a:t>o</a:t>
                      </a:r>
                      <a:endParaRPr lang="zh-CN" altLang="en-US" dirty="0">
                        <a:solidFill>
                          <a:schemeClr val="tx1"/>
                        </a:solidFill>
                      </a:endParaRPr>
                    </a:p>
                  </a:txBody>
                  <a:tcPr/>
                </a:tc>
                <a:tc>
                  <a:txBody>
                    <a:bodyPr/>
                    <a:lstStyle/>
                    <a:p>
                      <a:pPr algn="ctr"/>
                      <a:r>
                        <a:rPr lang="en-US" altLang="zh-CN" dirty="0" smtClean="0">
                          <a:solidFill>
                            <a:schemeClr val="tx1"/>
                          </a:solidFill>
                        </a:rPr>
                        <a:t>v</a:t>
                      </a:r>
                      <a:endParaRPr lang="zh-CN" altLang="en-US" dirty="0">
                        <a:solidFill>
                          <a:schemeClr val="tx1"/>
                        </a:solidFill>
                      </a:endParaRPr>
                    </a:p>
                  </a:txBody>
                  <a:tcPr/>
                </a:tc>
                <a:tc>
                  <a:txBody>
                    <a:bodyPr/>
                    <a:lstStyle/>
                    <a:p>
                      <a:pPr algn="ctr"/>
                      <a:r>
                        <a:rPr lang="en-US" altLang="zh-CN" dirty="0" smtClean="0">
                          <a:solidFill>
                            <a:schemeClr val="tx1"/>
                          </a:solidFill>
                        </a:rPr>
                        <a:t>v</a:t>
                      </a:r>
                      <a:endParaRPr lang="zh-CN" altLang="en-US" dirty="0">
                        <a:solidFill>
                          <a:schemeClr val="tx1"/>
                        </a:solidFill>
                      </a:endParaRPr>
                    </a:p>
                  </a:txBody>
                  <a:tcPr/>
                </a:tc>
                <a:tc>
                  <a:txBody>
                    <a:bodyPr/>
                    <a:lstStyle/>
                    <a:p>
                      <a:pPr algn="ctr"/>
                      <a:r>
                        <a:rPr lang="en-US" altLang="zh-CN" dirty="0" smtClean="0">
                          <a:solidFill>
                            <a:schemeClr val="tx1"/>
                          </a:solidFill>
                        </a:rPr>
                        <a:t>h</a:t>
                      </a:r>
                      <a:endParaRPr lang="zh-CN" altLang="en-US" dirty="0">
                        <a:solidFill>
                          <a:schemeClr val="tx1"/>
                        </a:solidFill>
                      </a:endParaRPr>
                    </a:p>
                  </a:txBody>
                  <a:tcPr/>
                </a:tc>
                <a:tc>
                  <a:txBody>
                    <a:bodyPr/>
                    <a:lstStyle/>
                    <a:p>
                      <a:pPr algn="ctr"/>
                      <a:r>
                        <a:rPr lang="en-US" altLang="zh-CN" dirty="0" smtClean="0">
                          <a:solidFill>
                            <a:schemeClr val="tx1"/>
                          </a:solidFill>
                        </a:rPr>
                        <a:t>e</a:t>
                      </a:r>
                      <a:endParaRPr lang="zh-CN" altLang="en-US" dirty="0">
                        <a:solidFill>
                          <a:schemeClr val="tx1"/>
                        </a:solidFill>
                      </a:endParaRPr>
                    </a:p>
                  </a:txBody>
                  <a:tcPr/>
                </a:tc>
                <a:tc>
                  <a:txBody>
                    <a:bodyPr/>
                    <a:lstStyle/>
                    <a:p>
                      <a:pPr algn="ctr"/>
                      <a:r>
                        <a:rPr lang="en-US" altLang="zh-CN" dirty="0" smtClean="0">
                          <a:solidFill>
                            <a:schemeClr val="tx1"/>
                          </a:solidFill>
                        </a:rPr>
                        <a:t>\0</a:t>
                      </a:r>
                      <a:endParaRPr lang="zh-CN" altLang="en-US" dirty="0">
                        <a:solidFill>
                          <a:schemeClr val="tx1"/>
                        </a:solidFill>
                      </a:endParaRPr>
                    </a:p>
                  </a:txBody>
                  <a:tcPr/>
                </a:tc>
                <a:tc>
                  <a:txBody>
                    <a:bodyPr/>
                    <a:lstStyle/>
                    <a:p>
                      <a:pPr algn="ctr"/>
                      <a:r>
                        <a:rPr lang="en-US" altLang="zh-CN" dirty="0" smtClean="0">
                          <a:solidFill>
                            <a:schemeClr val="tx1"/>
                          </a:solidFill>
                        </a:rPr>
                        <a:t>\0</a:t>
                      </a:r>
                      <a:endParaRPr lang="zh-CN" altLang="en-US" dirty="0">
                        <a:solidFill>
                          <a:schemeClr val="tx1"/>
                        </a:solidFill>
                      </a:endParaRPr>
                    </a:p>
                  </a:txBody>
                  <a:tcPr/>
                </a:tc>
                <a:tc>
                  <a:txBody>
                    <a:bodyPr/>
                    <a:lstStyle/>
                    <a:p>
                      <a:pPr algn="ctr"/>
                      <a:r>
                        <a:rPr lang="en-US" altLang="zh-CN" dirty="0" smtClean="0">
                          <a:solidFill>
                            <a:schemeClr val="tx1"/>
                          </a:solidFill>
                        </a:rPr>
                        <a:t>\0</a:t>
                      </a:r>
                      <a:endParaRPr lang="zh-CN" altLang="en-US" dirty="0">
                        <a:solidFill>
                          <a:schemeClr val="tx1"/>
                        </a:solidFill>
                      </a:endParaRPr>
                    </a:p>
                  </a:txBody>
                  <a:tcPr/>
                </a:tc>
                <a:extLst>
                  <a:ext uri="{0D108BD9-81ED-4DB2-BD59-A6C34878D82A}">
                    <a16:rowId xmlns:a16="http://schemas.microsoft.com/office/drawing/2014/main" xmlns="" val="213979606"/>
                  </a:ext>
                </a:extLst>
              </a:tr>
            </a:tbl>
          </a:graphicData>
        </a:graphic>
      </p:graphicFrame>
      <p:graphicFrame>
        <p:nvGraphicFramePr>
          <p:cNvPr id="18" name="表格 17"/>
          <p:cNvGraphicFramePr>
            <a:graphicFrameLocks noGrp="1"/>
          </p:cNvGraphicFramePr>
          <p:nvPr>
            <p:extLst>
              <p:ext uri="{D42A27DB-BD31-4B8C-83A1-F6EECF244321}">
                <p14:modId xmlns:p14="http://schemas.microsoft.com/office/powerpoint/2010/main" val="2986887185"/>
              </p:ext>
            </p:extLst>
          </p:nvPr>
        </p:nvGraphicFramePr>
        <p:xfrm>
          <a:off x="4427984" y="6015480"/>
          <a:ext cx="4392486" cy="370840"/>
        </p:xfrm>
        <a:graphic>
          <a:graphicData uri="http://schemas.openxmlformats.org/drawingml/2006/table">
            <a:tbl>
              <a:tblPr firstRow="1" bandRow="1">
                <a:tableStyleId>{5C22544A-7EE6-4342-B048-85BDC9FD1C3A}</a:tableStyleId>
              </a:tblPr>
              <a:tblGrid>
                <a:gridCol w="488054">
                  <a:extLst>
                    <a:ext uri="{9D8B030D-6E8A-4147-A177-3AD203B41FA5}">
                      <a16:colId xmlns:a16="http://schemas.microsoft.com/office/drawing/2014/main" xmlns="" val="1665857292"/>
                    </a:ext>
                  </a:extLst>
                </a:gridCol>
                <a:gridCol w="488054">
                  <a:extLst>
                    <a:ext uri="{9D8B030D-6E8A-4147-A177-3AD203B41FA5}">
                      <a16:colId xmlns:a16="http://schemas.microsoft.com/office/drawing/2014/main" xmlns="" val="2191060235"/>
                    </a:ext>
                  </a:extLst>
                </a:gridCol>
                <a:gridCol w="488054">
                  <a:extLst>
                    <a:ext uri="{9D8B030D-6E8A-4147-A177-3AD203B41FA5}">
                      <a16:colId xmlns:a16="http://schemas.microsoft.com/office/drawing/2014/main" xmlns="" val="3106570465"/>
                    </a:ext>
                  </a:extLst>
                </a:gridCol>
                <a:gridCol w="488054">
                  <a:extLst>
                    <a:ext uri="{9D8B030D-6E8A-4147-A177-3AD203B41FA5}">
                      <a16:colId xmlns:a16="http://schemas.microsoft.com/office/drawing/2014/main" xmlns="" val="1704663014"/>
                    </a:ext>
                  </a:extLst>
                </a:gridCol>
                <a:gridCol w="488054">
                  <a:extLst>
                    <a:ext uri="{9D8B030D-6E8A-4147-A177-3AD203B41FA5}">
                      <a16:colId xmlns:a16="http://schemas.microsoft.com/office/drawing/2014/main" xmlns="" val="1744079242"/>
                    </a:ext>
                  </a:extLst>
                </a:gridCol>
                <a:gridCol w="488054">
                  <a:extLst>
                    <a:ext uri="{9D8B030D-6E8A-4147-A177-3AD203B41FA5}">
                      <a16:colId xmlns:a16="http://schemas.microsoft.com/office/drawing/2014/main" xmlns="" val="2084807285"/>
                    </a:ext>
                  </a:extLst>
                </a:gridCol>
                <a:gridCol w="488054">
                  <a:extLst>
                    <a:ext uri="{9D8B030D-6E8A-4147-A177-3AD203B41FA5}">
                      <a16:colId xmlns:a16="http://schemas.microsoft.com/office/drawing/2014/main" xmlns="" val="2120196010"/>
                    </a:ext>
                  </a:extLst>
                </a:gridCol>
                <a:gridCol w="488054">
                  <a:extLst>
                    <a:ext uri="{9D8B030D-6E8A-4147-A177-3AD203B41FA5}">
                      <a16:colId xmlns:a16="http://schemas.microsoft.com/office/drawing/2014/main" xmlns="" val="1171188644"/>
                    </a:ext>
                  </a:extLst>
                </a:gridCol>
                <a:gridCol w="488054">
                  <a:extLst>
                    <a:ext uri="{9D8B030D-6E8A-4147-A177-3AD203B41FA5}">
                      <a16:colId xmlns:a16="http://schemas.microsoft.com/office/drawing/2014/main" xmlns="" val="2441416395"/>
                    </a:ext>
                  </a:extLst>
                </a:gridCol>
              </a:tblGrid>
              <a:tr h="370840">
                <a:tc>
                  <a:txBody>
                    <a:bodyPr/>
                    <a:lstStyle/>
                    <a:p>
                      <a:pPr algn="ctr"/>
                      <a:r>
                        <a:rPr lang="en-US" altLang="zh-CN" dirty="0" smtClean="0">
                          <a:solidFill>
                            <a:schemeClr val="tx1"/>
                          </a:solidFill>
                        </a:rPr>
                        <a:t>l</a:t>
                      </a:r>
                      <a:endParaRPr lang="zh-CN" altLang="en-US" dirty="0">
                        <a:solidFill>
                          <a:schemeClr val="tx1"/>
                        </a:solidFill>
                      </a:endParaRPr>
                    </a:p>
                  </a:txBody>
                  <a:tcPr/>
                </a:tc>
                <a:tc>
                  <a:txBody>
                    <a:bodyPr/>
                    <a:lstStyle/>
                    <a:p>
                      <a:pPr algn="ctr"/>
                      <a:r>
                        <a:rPr lang="en-US" altLang="zh-CN" dirty="0" smtClean="0">
                          <a:solidFill>
                            <a:schemeClr val="tx1"/>
                          </a:solidFill>
                        </a:rPr>
                        <a:t>v</a:t>
                      </a:r>
                      <a:endParaRPr lang="zh-CN" altLang="en-US" dirty="0">
                        <a:solidFill>
                          <a:schemeClr val="tx1"/>
                        </a:solidFill>
                      </a:endParaRPr>
                    </a:p>
                  </a:txBody>
                  <a:tcPr/>
                </a:tc>
                <a:tc>
                  <a:txBody>
                    <a:bodyPr/>
                    <a:lstStyle/>
                    <a:p>
                      <a:pPr algn="ctr"/>
                      <a:r>
                        <a:rPr lang="en-US" altLang="zh-CN" dirty="0" smtClean="0">
                          <a:solidFill>
                            <a:schemeClr val="tx1"/>
                          </a:solidFill>
                        </a:rPr>
                        <a:t>v</a:t>
                      </a:r>
                      <a:endParaRPr lang="zh-CN" altLang="en-US" dirty="0">
                        <a:solidFill>
                          <a:schemeClr val="tx1"/>
                        </a:solidFill>
                      </a:endParaRPr>
                    </a:p>
                  </a:txBody>
                  <a:tcPr/>
                </a:tc>
                <a:tc>
                  <a:txBody>
                    <a:bodyPr/>
                    <a:lstStyle/>
                    <a:p>
                      <a:pPr algn="ctr"/>
                      <a:r>
                        <a:rPr lang="en-US" altLang="zh-CN" dirty="0" smtClean="0">
                          <a:solidFill>
                            <a:schemeClr val="tx1"/>
                          </a:solidFill>
                        </a:rPr>
                        <a:t>h</a:t>
                      </a:r>
                      <a:endParaRPr lang="zh-CN" altLang="en-US" dirty="0">
                        <a:solidFill>
                          <a:schemeClr val="tx1"/>
                        </a:solidFill>
                      </a:endParaRPr>
                    </a:p>
                  </a:txBody>
                  <a:tcPr/>
                </a:tc>
                <a:tc>
                  <a:txBody>
                    <a:bodyPr/>
                    <a:lstStyle/>
                    <a:p>
                      <a:pPr algn="ctr"/>
                      <a:r>
                        <a:rPr lang="en-US" altLang="zh-CN" dirty="0" smtClean="0">
                          <a:solidFill>
                            <a:schemeClr val="tx1"/>
                          </a:solidFill>
                        </a:rPr>
                        <a:t>e</a:t>
                      </a:r>
                      <a:endParaRPr lang="zh-CN" altLang="en-US" dirty="0">
                        <a:solidFill>
                          <a:schemeClr val="tx1"/>
                        </a:solidFill>
                      </a:endParaRPr>
                    </a:p>
                  </a:txBody>
                  <a:tcPr/>
                </a:tc>
                <a:tc>
                  <a:txBody>
                    <a:bodyPr/>
                    <a:lstStyle/>
                    <a:p>
                      <a:pPr algn="ctr"/>
                      <a:r>
                        <a:rPr lang="en-US" altLang="zh-CN" dirty="0" smtClean="0">
                          <a:solidFill>
                            <a:schemeClr val="tx1"/>
                          </a:solidFill>
                        </a:rPr>
                        <a:t>\0</a:t>
                      </a:r>
                      <a:endParaRPr lang="zh-CN" altLang="en-US" dirty="0">
                        <a:solidFill>
                          <a:schemeClr val="tx1"/>
                        </a:solidFill>
                      </a:endParaRPr>
                    </a:p>
                  </a:txBody>
                  <a:tcPr/>
                </a:tc>
                <a:tc>
                  <a:txBody>
                    <a:bodyPr/>
                    <a:lstStyle/>
                    <a:p>
                      <a:pPr algn="ctr"/>
                      <a:r>
                        <a:rPr lang="en-US" altLang="zh-CN" dirty="0" smtClean="0">
                          <a:solidFill>
                            <a:schemeClr val="tx1"/>
                          </a:solidFill>
                        </a:rPr>
                        <a:t>\0</a:t>
                      </a:r>
                      <a:endParaRPr lang="zh-CN" altLang="en-US" dirty="0">
                        <a:solidFill>
                          <a:schemeClr val="tx1"/>
                        </a:solidFill>
                      </a:endParaRPr>
                    </a:p>
                  </a:txBody>
                  <a:tcPr/>
                </a:tc>
                <a:tc>
                  <a:txBody>
                    <a:bodyPr/>
                    <a:lstStyle/>
                    <a:p>
                      <a:pPr algn="ctr"/>
                      <a:r>
                        <a:rPr lang="en-US" altLang="zh-CN" dirty="0" smtClean="0">
                          <a:solidFill>
                            <a:schemeClr val="tx1"/>
                          </a:solidFill>
                        </a:rPr>
                        <a:t>\0</a:t>
                      </a:r>
                      <a:endParaRPr lang="zh-CN" altLang="en-US" dirty="0">
                        <a:solidFill>
                          <a:schemeClr val="tx1"/>
                        </a:solidFill>
                      </a:endParaRPr>
                    </a:p>
                  </a:txBody>
                  <a:tcPr/>
                </a:tc>
                <a:tc>
                  <a:txBody>
                    <a:bodyPr/>
                    <a:lstStyle/>
                    <a:p>
                      <a:pPr algn="ctr"/>
                      <a:r>
                        <a:rPr lang="en-US" altLang="zh-CN" dirty="0" smtClean="0">
                          <a:solidFill>
                            <a:schemeClr val="tx1"/>
                          </a:solidFill>
                        </a:rPr>
                        <a:t>\0</a:t>
                      </a:r>
                      <a:endParaRPr lang="zh-CN" altLang="en-US" dirty="0">
                        <a:solidFill>
                          <a:schemeClr val="tx1"/>
                        </a:solidFill>
                      </a:endParaRPr>
                    </a:p>
                  </a:txBody>
                  <a:tcPr/>
                </a:tc>
                <a:extLst>
                  <a:ext uri="{0D108BD9-81ED-4DB2-BD59-A6C34878D82A}">
                    <a16:rowId xmlns:a16="http://schemas.microsoft.com/office/drawing/2014/main" xmlns="" val="213979606"/>
                  </a:ext>
                </a:extLst>
              </a:tr>
            </a:tbl>
          </a:graphicData>
        </a:graphic>
      </p:graphicFrame>
    </p:spTree>
    <p:extLst>
      <p:ext uri="{BB962C8B-B14F-4D97-AF65-F5344CB8AC3E}">
        <p14:creationId xmlns:p14="http://schemas.microsoft.com/office/powerpoint/2010/main" val="3150220386"/>
      </p:ext>
    </p:extLst>
  </p:cSld>
  <p:clrMapOvr>
    <a:masterClrMapping/>
  </p:clrMapOvr>
  <p:transition spd="med">
    <p:random/>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755650" y="1700213"/>
            <a:ext cx="8388350" cy="5030787"/>
          </a:xfrm>
        </p:spPr>
        <p:txBody>
          <a:bodyPr/>
          <a:lstStyle/>
          <a:p>
            <a:pPr eaLnBrk="1" hangingPunct="1">
              <a:defRPr/>
            </a:pPr>
            <a:r>
              <a:rPr lang="zh-CN" altLang="en-US" kern="1200" dirty="0" smtClean="0">
                <a:effectLst>
                  <a:outerShdw blurRad="38100" dist="38100" dir="2700000" algn="tl">
                    <a:srgbClr val="000000">
                      <a:alpha val="43137"/>
                    </a:srgbClr>
                  </a:outerShdw>
                </a:effectLst>
              </a:rPr>
              <a:t>数组</a:t>
            </a:r>
            <a:r>
              <a:rPr lang="zh-CN" altLang="en-US" kern="1200" dirty="0">
                <a:effectLst>
                  <a:outerShdw blurRad="38100" dist="38100" dir="2700000" algn="tl">
                    <a:srgbClr val="000000">
                      <a:alpha val="43137"/>
                    </a:srgbClr>
                  </a:outerShdw>
                </a:effectLst>
              </a:rPr>
              <a:t>是有序数据的集合，只能存放同一数据类型的变量</a:t>
            </a:r>
            <a:r>
              <a:rPr lang="zh-CN" altLang="en-US" kern="1200" dirty="0" smtClean="0">
                <a:effectLst>
                  <a:outerShdw blurRad="38100" dist="38100" dir="2700000" algn="tl">
                    <a:srgbClr val="000000">
                      <a:alpha val="43137"/>
                    </a:srgbClr>
                  </a:outerShdw>
                </a:effectLst>
              </a:rPr>
              <a:t>。</a:t>
            </a:r>
            <a:endParaRPr lang="en-US" altLang="zh-CN" kern="1200" dirty="0" smtClean="0">
              <a:effectLst>
                <a:outerShdw blurRad="38100" dist="38100" dir="2700000" algn="tl">
                  <a:srgbClr val="000000">
                    <a:alpha val="43137"/>
                  </a:srgbClr>
                </a:outerShdw>
              </a:effectLst>
            </a:endParaRPr>
          </a:p>
          <a:p>
            <a:pPr eaLnBrk="1" hangingPunct="1">
              <a:defRPr/>
            </a:pPr>
            <a:r>
              <a:rPr lang="zh-CN" altLang="en-US" kern="1200" dirty="0" smtClean="0">
                <a:effectLst>
                  <a:outerShdw blurRad="38100" dist="38100" dir="2700000" algn="tl">
                    <a:srgbClr val="000000">
                      <a:alpha val="43137"/>
                    </a:srgbClr>
                  </a:outerShdw>
                </a:effectLst>
              </a:rPr>
              <a:t>数组定义必须是常量或常量表达式</a:t>
            </a:r>
            <a:endParaRPr lang="zh-CN" altLang="en-US" kern="1200" dirty="0">
              <a:effectLst>
                <a:outerShdw blurRad="38100" dist="38100" dir="2700000" algn="tl">
                  <a:srgbClr val="000000">
                    <a:alpha val="43137"/>
                  </a:srgbClr>
                </a:outerShdw>
              </a:effectLst>
            </a:endParaRPr>
          </a:p>
          <a:p>
            <a:pPr eaLnBrk="1" hangingPunct="1">
              <a:defRPr/>
            </a:pPr>
            <a:r>
              <a:rPr lang="zh-CN" altLang="en-US" kern="1200" dirty="0" smtClean="0">
                <a:effectLst>
                  <a:outerShdw blurRad="38100" dist="38100" dir="2700000" algn="tl">
                    <a:srgbClr val="000000">
                      <a:alpha val="43137"/>
                    </a:srgbClr>
                  </a:outerShdw>
                </a:effectLst>
              </a:rPr>
              <a:t>需要</a:t>
            </a:r>
            <a:r>
              <a:rPr lang="zh-CN" altLang="en-US" kern="1200" dirty="0">
                <a:effectLst>
                  <a:outerShdw blurRad="38100" dist="38100" dir="2700000" algn="tl">
                    <a:srgbClr val="000000">
                      <a:alpha val="43137"/>
                    </a:srgbClr>
                  </a:outerShdw>
                </a:effectLst>
              </a:rPr>
              <a:t>区分数组定义和数组</a:t>
            </a:r>
            <a:r>
              <a:rPr lang="zh-CN" altLang="en-US" kern="1200" dirty="0" smtClean="0">
                <a:effectLst>
                  <a:outerShdw blurRad="38100" dist="38100" dir="2700000" algn="tl">
                    <a:srgbClr val="000000">
                      <a:alpha val="43137"/>
                    </a:srgbClr>
                  </a:outerShdw>
                </a:effectLst>
              </a:rPr>
              <a:t>引用</a:t>
            </a:r>
            <a:endParaRPr lang="zh-CN" altLang="en-US" kern="1200" dirty="0">
              <a:effectLst>
                <a:outerShdw blurRad="38100" dist="38100" dir="2700000" algn="tl">
                  <a:srgbClr val="000000">
                    <a:alpha val="43137"/>
                  </a:srgbClr>
                </a:outerShdw>
              </a:effectLst>
            </a:endParaRPr>
          </a:p>
          <a:p>
            <a:pPr eaLnBrk="1" hangingPunct="1">
              <a:defRPr/>
            </a:pPr>
            <a:r>
              <a:rPr lang="en-US" altLang="zh-CN" kern="1200" dirty="0">
                <a:effectLst>
                  <a:outerShdw blurRad="38100" dist="38100" dir="2700000" algn="tl">
                    <a:srgbClr val="000000">
                      <a:alpha val="43137"/>
                    </a:srgbClr>
                  </a:outerShdw>
                </a:effectLst>
              </a:rPr>
              <a:t>int a[5</a:t>
            </a:r>
            <a:r>
              <a:rPr lang="en-US" altLang="zh-CN" kern="1200" dirty="0" smtClean="0">
                <a:effectLst>
                  <a:outerShdw blurRad="38100" dist="38100" dir="2700000" algn="tl">
                    <a:srgbClr val="000000">
                      <a:alpha val="43137"/>
                    </a:srgbClr>
                  </a:outerShdw>
                </a:effectLst>
              </a:rPr>
              <a:t>]; //</a:t>
            </a:r>
            <a:r>
              <a:rPr lang="zh-CN" altLang="en-US" kern="1200" dirty="0" smtClean="0">
                <a:effectLst>
                  <a:outerShdw blurRad="38100" dist="38100" dir="2700000" algn="tl">
                    <a:srgbClr val="000000">
                      <a:alpha val="43137"/>
                    </a:srgbClr>
                  </a:outerShdw>
                </a:effectLst>
              </a:rPr>
              <a:t>定义</a:t>
            </a:r>
            <a:r>
              <a:rPr lang="zh-CN" altLang="en-US" kern="1200" dirty="0">
                <a:effectLst>
                  <a:outerShdw blurRad="38100" dist="38100" dir="2700000" algn="tl">
                    <a:srgbClr val="000000">
                      <a:alpha val="43137"/>
                    </a:srgbClr>
                  </a:outerShdw>
                </a:effectLst>
              </a:rPr>
              <a:t>数组长度为</a:t>
            </a:r>
            <a:r>
              <a:rPr lang="en-US" altLang="zh-CN" kern="1200" dirty="0">
                <a:effectLst>
                  <a:outerShdw blurRad="38100" dist="38100" dir="2700000" algn="tl">
                    <a:srgbClr val="000000">
                      <a:alpha val="43137"/>
                    </a:srgbClr>
                  </a:outerShdw>
                </a:effectLst>
              </a:rPr>
              <a:t>5</a:t>
            </a:r>
            <a:r>
              <a:rPr lang="zh-CN" altLang="en-US" kern="1200" dirty="0">
                <a:effectLst>
                  <a:outerShdw blurRad="38100" dist="38100" dir="2700000" algn="tl">
                    <a:srgbClr val="000000">
                      <a:alpha val="43137"/>
                    </a:srgbClr>
                  </a:outerShdw>
                </a:effectLst>
              </a:rPr>
              <a:t>，其中下标从</a:t>
            </a:r>
            <a:r>
              <a:rPr lang="en-US" altLang="zh-CN" kern="1200" dirty="0">
                <a:effectLst>
                  <a:outerShdw blurRad="38100" dist="38100" dir="2700000" algn="tl">
                    <a:srgbClr val="000000">
                      <a:alpha val="43137"/>
                    </a:srgbClr>
                  </a:outerShdw>
                </a:effectLst>
              </a:rPr>
              <a:t>0</a:t>
            </a:r>
            <a:r>
              <a:rPr lang="zh-CN" altLang="en-US" kern="1200" dirty="0">
                <a:effectLst>
                  <a:outerShdw blurRad="38100" dist="38100" dir="2700000" algn="tl">
                    <a:srgbClr val="000000">
                      <a:alpha val="43137"/>
                    </a:srgbClr>
                  </a:outerShdw>
                </a:effectLst>
              </a:rPr>
              <a:t>开始 </a:t>
            </a:r>
          </a:p>
          <a:p>
            <a:pPr eaLnBrk="1" hangingPunct="1">
              <a:defRPr/>
            </a:pPr>
            <a:r>
              <a:rPr lang="en-US" altLang="zh-CN" kern="1200" dirty="0">
                <a:effectLst>
                  <a:outerShdw blurRad="38100" dist="38100" dir="2700000" algn="tl">
                    <a:srgbClr val="000000">
                      <a:alpha val="43137"/>
                    </a:srgbClr>
                  </a:outerShdw>
                </a:effectLst>
              </a:rPr>
              <a:t>a[2]; //</a:t>
            </a:r>
            <a:r>
              <a:rPr lang="zh-CN" altLang="en-US" kern="1200" dirty="0">
                <a:effectLst>
                  <a:outerShdw blurRad="38100" dist="38100" dir="2700000" algn="tl">
                    <a:srgbClr val="000000">
                      <a:alpha val="43137"/>
                    </a:srgbClr>
                  </a:outerShdw>
                </a:effectLst>
              </a:rPr>
              <a:t>数组引用，访问第</a:t>
            </a:r>
            <a:r>
              <a:rPr lang="en-US" altLang="zh-CN" kern="1200" dirty="0">
                <a:effectLst>
                  <a:outerShdw blurRad="38100" dist="38100" dir="2700000" algn="tl">
                    <a:srgbClr val="000000">
                      <a:alpha val="43137"/>
                    </a:srgbClr>
                  </a:outerShdw>
                </a:effectLst>
              </a:rPr>
              <a:t>3</a:t>
            </a:r>
            <a:r>
              <a:rPr lang="zh-CN" altLang="en-US" kern="1200" dirty="0">
                <a:effectLst>
                  <a:outerShdw blurRad="38100" dist="38100" dir="2700000" algn="tl">
                    <a:srgbClr val="000000">
                      <a:alpha val="43137"/>
                    </a:srgbClr>
                  </a:outerShdw>
                </a:effectLst>
              </a:rPr>
              <a:t>个元素 </a:t>
            </a:r>
          </a:p>
          <a:p>
            <a:pPr eaLnBrk="1" hangingPunct="1">
              <a:defRPr/>
            </a:pPr>
            <a:r>
              <a:rPr lang="zh-CN" altLang="en-US" kern="1200" dirty="0" smtClean="0">
                <a:effectLst>
                  <a:outerShdw blurRad="38100" dist="38100" dir="2700000" algn="tl">
                    <a:srgbClr val="000000">
                      <a:alpha val="43137"/>
                    </a:srgbClr>
                  </a:outerShdw>
                </a:effectLst>
              </a:rPr>
              <a:t>数组</a:t>
            </a:r>
            <a:r>
              <a:rPr lang="zh-CN" altLang="en-US" kern="1200" dirty="0">
                <a:effectLst>
                  <a:outerShdw blurRad="38100" dist="38100" dir="2700000" algn="tl">
                    <a:srgbClr val="000000">
                      <a:alpha val="43137"/>
                    </a:srgbClr>
                  </a:outerShdw>
                </a:effectLst>
              </a:rPr>
              <a:t>存储方式是线性连续的，数组名代表的首地址。</a:t>
            </a:r>
          </a:p>
          <a:p>
            <a:pPr eaLnBrk="1" hangingPunct="1">
              <a:defRPr/>
            </a:pPr>
            <a:r>
              <a:rPr lang="zh-CN" altLang="en-US" kern="1200" dirty="0" smtClean="0">
                <a:effectLst>
                  <a:outerShdw blurRad="38100" dist="38100" dir="2700000" algn="tl">
                    <a:srgbClr val="000000">
                      <a:alpha val="43137"/>
                    </a:srgbClr>
                  </a:outerShdw>
                </a:effectLst>
              </a:rPr>
              <a:t>字符串</a:t>
            </a:r>
            <a:r>
              <a:rPr lang="zh-CN" altLang="en-US" kern="1200" dirty="0">
                <a:effectLst>
                  <a:outerShdw blurRad="38100" dist="38100" dir="2700000" algn="tl">
                    <a:srgbClr val="000000">
                      <a:alpha val="43137"/>
                    </a:srgbClr>
                  </a:outerShdw>
                </a:effectLst>
              </a:rPr>
              <a:t>和字符数组的</a:t>
            </a:r>
            <a:r>
              <a:rPr lang="zh-CN" altLang="en-US" kern="1200" dirty="0" smtClean="0">
                <a:effectLst>
                  <a:outerShdw blurRad="38100" dist="38100" dir="2700000" algn="tl">
                    <a:srgbClr val="000000">
                      <a:alpha val="43137"/>
                    </a:srgbClr>
                  </a:outerShdw>
                </a:effectLst>
              </a:rPr>
              <a:t>区别</a:t>
            </a:r>
            <a:r>
              <a:rPr lang="zh-CN" altLang="en-US" kern="1200" dirty="0">
                <a:effectLst>
                  <a:outerShdw blurRad="38100" dist="38100" dir="2700000" algn="tl">
                    <a:srgbClr val="000000">
                      <a:alpha val="43137"/>
                    </a:srgbClr>
                  </a:outerShdw>
                </a:effectLst>
              </a:rPr>
              <a:t>：</a:t>
            </a:r>
            <a:r>
              <a:rPr lang="zh-CN" altLang="en-US" kern="1200" dirty="0" smtClean="0">
                <a:effectLst>
                  <a:outerShdw blurRad="38100" dist="38100" dir="2700000" algn="tl">
                    <a:srgbClr val="000000">
                      <a:alpha val="43137"/>
                    </a:srgbClr>
                  </a:outerShdw>
                </a:effectLst>
              </a:rPr>
              <a:t>以</a:t>
            </a:r>
            <a:r>
              <a:rPr lang="en-US" altLang="zh-CN" kern="1200" dirty="0">
                <a:effectLst>
                  <a:outerShdw blurRad="38100" dist="38100" dir="2700000" algn="tl">
                    <a:srgbClr val="000000">
                      <a:alpha val="43137"/>
                    </a:srgbClr>
                  </a:outerShdw>
                </a:effectLst>
              </a:rPr>
              <a:t>'\0'</a:t>
            </a:r>
            <a:r>
              <a:rPr lang="zh-CN" altLang="en-US" kern="1200" dirty="0">
                <a:effectLst>
                  <a:outerShdw blurRad="38100" dist="38100" dir="2700000" algn="tl">
                    <a:srgbClr val="000000">
                      <a:alpha val="43137"/>
                    </a:srgbClr>
                  </a:outerShdw>
                </a:effectLst>
              </a:rPr>
              <a:t>为字符串结束标志，有效长度不包括结束符</a:t>
            </a:r>
            <a:r>
              <a:rPr lang="zh-CN" altLang="en-US" kern="1200" dirty="0" smtClean="0">
                <a:effectLst>
                  <a:outerShdw blurRad="38100" dist="38100" dir="2700000" algn="tl">
                    <a:srgbClr val="000000">
                      <a:alpha val="43137"/>
                    </a:srgbClr>
                  </a:outerShdw>
                </a:effectLst>
              </a:rPr>
              <a:t>。</a:t>
            </a:r>
            <a:endParaRPr lang="zh-CN" altLang="en-US" kern="1200" dirty="0">
              <a:effectLst>
                <a:outerShdw blurRad="38100" dist="38100" dir="2700000" algn="tl">
                  <a:srgbClr val="000000">
                    <a:alpha val="43137"/>
                  </a:srgbClr>
                </a:outerShdw>
              </a:effectLst>
            </a:endParaRPr>
          </a:p>
        </p:txBody>
      </p:sp>
      <p:sp>
        <p:nvSpPr>
          <p:cNvPr id="2" name="灯片编号占位符 1"/>
          <p:cNvSpPr>
            <a:spLocks noGrp="1"/>
          </p:cNvSpPr>
          <p:nvPr>
            <p:ph type="sldNum" sz="quarter" idx="11"/>
          </p:nvPr>
        </p:nvSpPr>
        <p:spPr/>
        <p:txBody>
          <a:bodyPr/>
          <a:lstStyle/>
          <a:p>
            <a:pPr>
              <a:defRPr/>
            </a:pPr>
            <a:fld id="{56636351-7D5B-47CE-B54D-C31E7589E5E2}" type="slidenum">
              <a:rPr lang="en-US" altLang="zh-CN" smtClean="0"/>
              <a:pPr>
                <a:defRPr/>
              </a:pPr>
              <a:t>103</a:t>
            </a:fld>
            <a:endParaRPr lang="en-US" altLang="zh-CN" dirty="0"/>
          </a:p>
        </p:txBody>
      </p:sp>
      <p:sp>
        <p:nvSpPr>
          <p:cNvPr id="6" name="AutoShape 2"/>
          <p:cNvSpPr>
            <a:spLocks noGrp="1" noChangeArrowheads="1"/>
          </p:cNvSpPr>
          <p:nvPr>
            <p:ph type="title"/>
          </p:nvPr>
        </p:nvSpPr>
        <p:spPr bwMode="auto">
          <a:prstGeom prst="roundRect">
            <a:avLst>
              <a:gd name="adj" fmla="val 29759"/>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mj-lt"/>
                <a:ea typeface="+mj-ea"/>
                <a:cs typeface="+mj-cs"/>
              </a:defRPr>
            </a:lvl1pPr>
            <a:lvl2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2pPr>
            <a:lvl3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3pPr>
            <a:lvl4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4pPr>
            <a:lvl5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5pPr>
            <a:lvl6pPr marL="4572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6pPr>
            <a:lvl7pPr marL="9144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7pPr>
            <a:lvl8pPr marL="13716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8pPr>
            <a:lvl9pPr marL="18288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9pPr>
          </a:lstStyle>
          <a:p>
            <a:pPr eaLnBrk="1" hangingPunct="1">
              <a:defRPr/>
            </a:pPr>
            <a:r>
              <a:rPr lang="zh-CN" altLang="en-US" dirty="0" smtClean="0"/>
              <a:t>本章小结</a:t>
            </a:r>
          </a:p>
        </p:txBody>
      </p:sp>
    </p:spTree>
    <p:extLst>
      <p:ext uri="{BB962C8B-B14F-4D97-AF65-F5344CB8AC3E}">
        <p14:creationId xmlns:p14="http://schemas.microsoft.com/office/powerpoint/2010/main" val="777063313"/>
      </p:ext>
    </p:extLst>
  </p:cSld>
  <p:clrMapOvr>
    <a:masterClrMapping/>
  </p:clrMapOvr>
  <p:transition spd="med">
    <p:random/>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755650" y="1700213"/>
            <a:ext cx="6984702" cy="2448867"/>
          </a:xfrm>
        </p:spPr>
        <p:txBody>
          <a:bodyPr/>
          <a:lstStyle/>
          <a:p>
            <a:pPr eaLnBrk="1" hangingPunct="1">
              <a:defRPr/>
            </a:pPr>
            <a:r>
              <a:rPr lang="zh-CN" altLang="en-US" kern="1200" dirty="0" smtClean="0">
                <a:effectLst>
                  <a:outerShdw blurRad="38100" dist="38100" dir="2700000" algn="tl">
                    <a:srgbClr val="000000">
                      <a:alpha val="43137"/>
                    </a:srgbClr>
                  </a:outerShdw>
                </a:effectLst>
              </a:rPr>
              <a:t>使用</a:t>
            </a:r>
            <a:r>
              <a:rPr lang="zh-CN" altLang="en-US" kern="1200" dirty="0">
                <a:effectLst>
                  <a:outerShdw blurRad="38100" dist="38100" dir="2700000" algn="tl">
                    <a:srgbClr val="000000">
                      <a:alpha val="43137"/>
                    </a:srgbClr>
                  </a:outerShdw>
                </a:effectLst>
              </a:rPr>
              <a:t>字符数组的常用函数前，需要引入</a:t>
            </a:r>
            <a:r>
              <a:rPr lang="en-US" altLang="zh-CN" kern="1200" dirty="0">
                <a:effectLst>
                  <a:outerShdw blurRad="38100" dist="38100" dir="2700000" algn="tl">
                    <a:srgbClr val="000000">
                      <a:alpha val="43137"/>
                    </a:srgbClr>
                  </a:outerShdw>
                </a:effectLst>
              </a:rPr>
              <a:t>string.h</a:t>
            </a:r>
            <a:r>
              <a:rPr lang="zh-CN" altLang="en-US" kern="1200" dirty="0">
                <a:effectLst>
                  <a:outerShdw blurRad="38100" dist="38100" dir="2700000" algn="tl">
                    <a:srgbClr val="000000">
                      <a:alpha val="43137"/>
                    </a:srgbClr>
                  </a:outerShdw>
                </a:effectLst>
              </a:rPr>
              <a:t>头文件。</a:t>
            </a:r>
          </a:p>
          <a:p>
            <a:pPr eaLnBrk="1" hangingPunct="1">
              <a:defRPr/>
            </a:pPr>
            <a:r>
              <a:rPr lang="zh-CN" altLang="en-US" kern="1200" dirty="0" smtClean="0">
                <a:effectLst>
                  <a:outerShdw blurRad="38100" dist="38100" dir="2700000" algn="tl">
                    <a:srgbClr val="000000">
                      <a:alpha val="43137"/>
                    </a:srgbClr>
                  </a:outerShdw>
                </a:effectLst>
              </a:rPr>
              <a:t>思考</a:t>
            </a:r>
            <a:r>
              <a:rPr lang="zh-CN" altLang="en-US" kern="1200" dirty="0">
                <a:effectLst>
                  <a:outerShdw blurRad="38100" dist="38100" dir="2700000" algn="tl">
                    <a:srgbClr val="000000">
                      <a:alpha val="43137"/>
                    </a:srgbClr>
                  </a:outerShdw>
                </a:effectLst>
              </a:rPr>
              <a:t>基于数组实现排序和查询等算法有哪些相同之处？有哪些不同之处</a:t>
            </a:r>
            <a:r>
              <a:rPr lang="zh-CN" altLang="en-US" kern="1200" dirty="0" smtClean="0">
                <a:effectLst>
                  <a:outerShdw blurRad="38100" dist="38100" dir="2700000" algn="tl">
                    <a:srgbClr val="000000">
                      <a:alpha val="43137"/>
                    </a:srgbClr>
                  </a:outerShdw>
                </a:effectLst>
              </a:rPr>
              <a:t>？</a:t>
            </a:r>
            <a:endParaRPr lang="zh-CN" altLang="en-US" kern="1200" dirty="0">
              <a:effectLst>
                <a:outerShdw blurRad="38100" dist="38100" dir="2700000" algn="tl">
                  <a:srgbClr val="000000">
                    <a:alpha val="43137"/>
                  </a:srgbClr>
                </a:outerShdw>
              </a:effectLst>
            </a:endParaRPr>
          </a:p>
        </p:txBody>
      </p:sp>
      <p:sp>
        <p:nvSpPr>
          <p:cNvPr id="2" name="灯片编号占位符 1"/>
          <p:cNvSpPr>
            <a:spLocks noGrp="1"/>
          </p:cNvSpPr>
          <p:nvPr>
            <p:ph type="sldNum" sz="quarter" idx="11"/>
          </p:nvPr>
        </p:nvSpPr>
        <p:spPr/>
        <p:txBody>
          <a:bodyPr/>
          <a:lstStyle/>
          <a:p>
            <a:pPr>
              <a:defRPr/>
            </a:pPr>
            <a:fld id="{56636351-7D5B-47CE-B54D-C31E7589E5E2}" type="slidenum">
              <a:rPr lang="en-US" altLang="zh-CN" smtClean="0"/>
              <a:pPr>
                <a:defRPr/>
              </a:pPr>
              <a:t>104</a:t>
            </a:fld>
            <a:endParaRPr lang="en-US" altLang="zh-CN" dirty="0"/>
          </a:p>
        </p:txBody>
      </p:sp>
      <p:sp>
        <p:nvSpPr>
          <p:cNvPr id="6" name="AutoShape 2"/>
          <p:cNvSpPr>
            <a:spLocks noGrp="1" noChangeArrowheads="1"/>
          </p:cNvSpPr>
          <p:nvPr>
            <p:ph type="title"/>
          </p:nvPr>
        </p:nvSpPr>
        <p:spPr bwMode="auto">
          <a:prstGeom prst="roundRect">
            <a:avLst>
              <a:gd name="adj" fmla="val 29759"/>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mj-lt"/>
                <a:ea typeface="+mj-ea"/>
                <a:cs typeface="+mj-cs"/>
              </a:defRPr>
            </a:lvl1pPr>
            <a:lvl2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2pPr>
            <a:lvl3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3pPr>
            <a:lvl4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4pPr>
            <a:lvl5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5pPr>
            <a:lvl6pPr marL="4572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6pPr>
            <a:lvl7pPr marL="9144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7pPr>
            <a:lvl8pPr marL="13716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8pPr>
            <a:lvl9pPr marL="18288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9pPr>
          </a:lstStyle>
          <a:p>
            <a:pPr eaLnBrk="1" hangingPunct="1">
              <a:defRPr/>
            </a:pPr>
            <a:r>
              <a:rPr lang="zh-CN" altLang="en-US" dirty="0" smtClean="0"/>
              <a:t>本章小结</a:t>
            </a:r>
          </a:p>
        </p:txBody>
      </p:sp>
    </p:spTree>
    <p:extLst>
      <p:ext uri="{BB962C8B-B14F-4D97-AF65-F5344CB8AC3E}">
        <p14:creationId xmlns:p14="http://schemas.microsoft.com/office/powerpoint/2010/main" val="3606348298"/>
      </p:ext>
    </p:extLst>
  </p:cSld>
  <p:clrMapOvr>
    <a:masterClrMapping/>
  </p:clrMapOvr>
  <p:transition spd="med">
    <p:random/>
  </p:transition>
</p:sld>
</file>

<file path=ppt/theme/theme1.xml><?xml version="1.0" encoding="utf-8"?>
<a:theme xmlns:a="http://schemas.openxmlformats.org/drawingml/2006/main" name="Capsules">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2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2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2966</TotalTime>
  <Words>9150</Words>
  <Application>Microsoft Office PowerPoint</Application>
  <PresentationFormat>全屏显示(4:3)</PresentationFormat>
  <Paragraphs>1843</Paragraphs>
  <Slides>105</Slides>
  <Notes>3</Notes>
  <HiddenSlides>0</HiddenSlides>
  <MMClips>0</MMClips>
  <ScaleCrop>false</ScaleCrop>
  <HeadingPairs>
    <vt:vector size="4" baseType="variant">
      <vt:variant>
        <vt:lpstr>主题</vt:lpstr>
      </vt:variant>
      <vt:variant>
        <vt:i4>2</vt:i4>
      </vt:variant>
      <vt:variant>
        <vt:lpstr>幻灯片标题</vt:lpstr>
      </vt:variant>
      <vt:variant>
        <vt:i4>105</vt:i4>
      </vt:variant>
    </vt:vector>
  </HeadingPairs>
  <TitlesOfParts>
    <vt:vector size="107" baseType="lpstr">
      <vt:lpstr>Capsules</vt:lpstr>
      <vt:lpstr>Office 主题​​</vt:lpstr>
      <vt:lpstr>第四章 数组</vt:lpstr>
      <vt:lpstr>数组</vt:lpstr>
      <vt:lpstr>主要内容</vt:lpstr>
      <vt:lpstr>4.1一维数组</vt:lpstr>
      <vt:lpstr>4.1.1定义</vt:lpstr>
      <vt:lpstr>4.1.1定义</vt:lpstr>
      <vt:lpstr>4.1.1定义</vt:lpstr>
      <vt:lpstr>4.1.1定义</vt:lpstr>
      <vt:lpstr>4.1.2存储</vt:lpstr>
      <vt:lpstr>PowerPoint 演示文稿</vt:lpstr>
      <vt:lpstr>4.1.2存储</vt:lpstr>
      <vt:lpstr>4.1.3引用</vt:lpstr>
      <vt:lpstr>4.1.3引用</vt:lpstr>
      <vt:lpstr>4.1.3引用</vt:lpstr>
      <vt:lpstr>4.1.4初始化</vt:lpstr>
      <vt:lpstr>4.1.4初始化</vt:lpstr>
      <vt:lpstr>4.1.4初始化</vt:lpstr>
      <vt:lpstr>4.1一维数组</vt:lpstr>
      <vt:lpstr>4.1一维数组</vt:lpstr>
      <vt:lpstr>4.1一维数组</vt:lpstr>
      <vt:lpstr>4.1一维数组</vt:lpstr>
      <vt:lpstr>4.1一维数组</vt:lpstr>
      <vt:lpstr>4.1一维数组</vt:lpstr>
      <vt:lpstr>4.1一维数组</vt:lpstr>
      <vt:lpstr>4.2二维数组</vt:lpstr>
      <vt:lpstr>4.2 二维数组存储</vt:lpstr>
      <vt:lpstr>4.2 二维数组输入输出</vt:lpstr>
      <vt:lpstr>4.2 二维数组初始化赋值</vt:lpstr>
      <vt:lpstr>4.2 二维数组初始化赋值</vt:lpstr>
      <vt:lpstr>4.2 二维数组初始化赋值</vt:lpstr>
      <vt:lpstr>4.2 二维数组初始化赋值</vt:lpstr>
      <vt:lpstr>4.2 二维数组初始化赋值</vt:lpstr>
      <vt:lpstr>4.1 一维数组典型例题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4.2 二维数组典型案例</vt:lpstr>
      <vt:lpstr>4.2 二维数组典型案例</vt:lpstr>
      <vt:lpstr>PowerPoint 演示文稿</vt:lpstr>
      <vt:lpstr>PowerPoint 演示文稿</vt:lpstr>
      <vt:lpstr>PowerPoint 演示文稿</vt:lpstr>
      <vt:lpstr>PowerPoint 演示文稿</vt:lpstr>
      <vt:lpstr>PowerPoint 演示文稿</vt:lpstr>
      <vt:lpstr>PowerPoint 演示文稿</vt:lpstr>
      <vt:lpstr>典型案例</vt:lpstr>
      <vt:lpstr>PowerPoint 演示文稿</vt:lpstr>
      <vt:lpstr>选择法排序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典型案例</vt:lpstr>
      <vt:lpstr>PowerPoint 演示文稿</vt:lpstr>
      <vt:lpstr>PowerPoint 演示文稿</vt:lpstr>
      <vt:lpstr>PowerPoint 演示文稿</vt:lpstr>
      <vt:lpstr>计算矩阵周边各元素之和</vt:lpstr>
      <vt:lpstr>PowerPoint 演示文稿</vt:lpstr>
      <vt:lpstr>4.3字符数组</vt:lpstr>
      <vt:lpstr>4.3字符数组</vt:lpstr>
      <vt:lpstr>4.3字符数组</vt:lpstr>
      <vt:lpstr>4.3字符数组</vt:lpstr>
      <vt:lpstr>4.3字符数组</vt:lpstr>
      <vt:lpstr>4.3字符数组</vt:lpstr>
      <vt:lpstr>4.3.1字符串的表示</vt:lpstr>
      <vt:lpstr>4.3.1字符串的表示</vt:lpstr>
      <vt:lpstr>PowerPoint 演示文稿</vt:lpstr>
      <vt:lpstr>PowerPoint 演示文稿</vt:lpstr>
      <vt:lpstr>字符串处理函数</vt:lpstr>
      <vt:lpstr>字符串处理函数</vt:lpstr>
      <vt:lpstr>字符串处理函数</vt:lpstr>
      <vt:lpstr>字符串处理函数</vt:lpstr>
      <vt:lpstr>字符串处理函数</vt:lpstr>
      <vt:lpstr>字符串处理函数</vt:lpstr>
      <vt:lpstr>4.3.3字符串的检索、插入和删除</vt:lpstr>
      <vt:lpstr>PowerPoint 演示文稿</vt:lpstr>
      <vt:lpstr>4.3.3字符串的检索、插入和删除</vt:lpstr>
      <vt:lpstr>PowerPoint 演示文稿</vt:lpstr>
      <vt:lpstr>PowerPoint 演示文稿</vt:lpstr>
      <vt:lpstr>4.3.3字符串的检索、插入和删除</vt:lpstr>
      <vt:lpstr>PowerPoint 演示文稿</vt:lpstr>
      <vt:lpstr>4.3.3字符串的检索、插入和删除</vt:lpstr>
      <vt:lpstr>PowerPoint 演示文稿</vt:lpstr>
      <vt:lpstr>4.3.3字符串的检索、插入和删除</vt:lpstr>
      <vt:lpstr>PowerPoint 演示文稿</vt:lpstr>
      <vt:lpstr>4.3.3字符串的检索、插入和删除</vt:lpstr>
      <vt:lpstr>PowerPoint 演示文稿</vt:lpstr>
      <vt:lpstr>4.3.3字符串的检索、插入和删除</vt:lpstr>
      <vt:lpstr>PowerPoint 演示文稿</vt:lpstr>
      <vt:lpstr>PowerPoint 演示文稿</vt:lpstr>
      <vt:lpstr>4.3.3字符串的检索、插入和删除</vt:lpstr>
      <vt:lpstr>PowerPoint 演示文稿</vt:lpstr>
      <vt:lpstr>本章小结</vt:lpstr>
      <vt:lpstr>本章小结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数组</dc:title>
  <dc:creator>Administrator</dc:creator>
  <cp:lastModifiedBy>Windows 用户</cp:lastModifiedBy>
  <cp:revision>345</cp:revision>
  <dcterms:modified xsi:type="dcterms:W3CDTF">2020-04-18T16:07:25Z</dcterms:modified>
</cp:coreProperties>
</file>