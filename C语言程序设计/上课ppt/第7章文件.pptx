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53" r:id="rId1"/>
  </p:sldMasterIdLst>
  <p:notesMasterIdLst>
    <p:notesMasterId r:id="rId22"/>
  </p:notesMasterIdLst>
  <p:sldIdLst>
    <p:sldId id="600" r:id="rId2"/>
    <p:sldId id="608" r:id="rId3"/>
    <p:sldId id="611" r:id="rId4"/>
    <p:sldId id="614" r:id="rId5"/>
    <p:sldId id="616" r:id="rId6"/>
    <p:sldId id="693" r:id="rId7"/>
    <p:sldId id="619" r:id="rId8"/>
    <p:sldId id="620" r:id="rId9"/>
    <p:sldId id="625" r:id="rId10"/>
    <p:sldId id="691" r:id="rId11"/>
    <p:sldId id="633" r:id="rId12"/>
    <p:sldId id="696" r:id="rId13"/>
    <p:sldId id="695" r:id="rId14"/>
    <p:sldId id="697" r:id="rId15"/>
    <p:sldId id="700" r:id="rId16"/>
    <p:sldId id="698" r:id="rId17"/>
    <p:sldId id="689" r:id="rId18"/>
    <p:sldId id="699" r:id="rId19"/>
    <p:sldId id="694" r:id="rId20"/>
    <p:sldId id="692" r:id="rId21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3333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847" autoAdjust="0"/>
    <p:restoredTop sz="94660" autoAdjust="0"/>
  </p:normalViewPr>
  <p:slideViewPr>
    <p:cSldViewPr>
      <p:cViewPr>
        <p:scale>
          <a:sx n="90" d="100"/>
          <a:sy n="90" d="100"/>
        </p:scale>
        <p:origin x="648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338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338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3338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338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/>
            </a:lvl1pPr>
          </a:lstStyle>
          <a:p>
            <a:pPr>
              <a:defRPr/>
            </a:pPr>
            <a:fld id="{06A1E78A-2B14-4A82-8C68-BF0F1494DE6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63457825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suppt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8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16013" y="3406775"/>
            <a:ext cx="7397750" cy="1822450"/>
          </a:xfrm>
        </p:spPr>
        <p:txBody>
          <a:bodyPr lIns="91440" tIns="45720" rIns="91440" bIns="45720" anchor="b"/>
          <a:lstStyle>
            <a:lvl1pPr marL="0" indent="0" algn="ctr">
              <a:buFont typeface="Webdings" pitchFamily="18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398340" name="AutoShape 4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163638"/>
            <a:ext cx="8229600" cy="1905000"/>
          </a:xfrm>
          <a:prstGeom prst="roundRect">
            <a:avLst>
              <a:gd name="adj" fmla="val 50000"/>
            </a:avLst>
          </a:prstGeom>
        </p:spPr>
        <p:txBody>
          <a:bodyPr anchor="ctr"/>
          <a:lstStyle>
            <a:lvl1pPr algn="ctr"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39130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0066FF"/>
                </a:solidFill>
              </a:defRPr>
            </a:lvl1pPr>
            <a:lvl2pPr>
              <a:defRPr>
                <a:solidFill>
                  <a:srgbClr val="0066FF"/>
                </a:solidFill>
              </a:defRPr>
            </a:lvl2pPr>
            <a:lvl3pPr>
              <a:defRPr>
                <a:solidFill>
                  <a:srgbClr val="0066FF"/>
                </a:solidFill>
              </a:defRPr>
            </a:lvl3pPr>
            <a:lvl4pPr>
              <a:defRPr>
                <a:solidFill>
                  <a:srgbClr val="0066FF"/>
                </a:solidFill>
              </a:defRPr>
            </a:lvl4pPr>
            <a:lvl5pPr>
              <a:defRPr>
                <a:solidFill>
                  <a:srgbClr val="0066FF"/>
                </a:solidFill>
              </a:defRPr>
            </a:lvl5pPr>
          </a:lstStyle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21A633-576F-46D6-9FAA-ECFADAC6F967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5612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DEFFE2-EFC8-4A69-95FE-4D1D8AB31B48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154063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55650" y="1700213"/>
            <a:ext cx="3919538" cy="4537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27588" y="1700213"/>
            <a:ext cx="3921125" cy="45370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3631AF-0BB6-41EF-8F20-F2D0D077CE60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31915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8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14BCB1-FD36-4419-B043-9BB339528B50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016661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44BEA9-DAA6-436C-834D-87E17424C89D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91559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636351-7D5B-47CE-B54D-C31E7589E5E2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58528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F0A702-BEA2-4348-8357-24E594FB1A51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70582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E11A0E-3169-4162-AF4A-D1DE4B8167BF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0047981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749E25-5995-484F-9A62-6B7229AD865A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843899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51638" y="765175"/>
            <a:ext cx="1997075" cy="547211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55650" y="765175"/>
            <a:ext cx="5843588" cy="547211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72F90D5-A31F-4C2A-BB7D-2C6A931A09EA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43869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9525" y="1588"/>
            <a:ext cx="76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Freeform 3"/>
          <p:cNvSpPr>
            <a:spLocks/>
          </p:cNvSpPr>
          <p:nvPr/>
        </p:nvSpPr>
        <p:spPr bwMode="auto">
          <a:xfrm>
            <a:off x="468313" y="0"/>
            <a:ext cx="2743200" cy="1052513"/>
          </a:xfrm>
          <a:custGeom>
            <a:avLst/>
            <a:gdLst>
              <a:gd name="T0" fmla="*/ 2147483647 w 1728"/>
              <a:gd name="T1" fmla="*/ 0 h 735"/>
              <a:gd name="T2" fmla="*/ 2147483647 w 1728"/>
              <a:gd name="T3" fmla="*/ 984285814 h 735"/>
              <a:gd name="T4" fmla="*/ 957659375 w 1728"/>
              <a:gd name="T5" fmla="*/ 988387034 h 735"/>
              <a:gd name="T6" fmla="*/ 892135313 w 1728"/>
              <a:gd name="T7" fmla="*/ 984285814 h 735"/>
              <a:gd name="T8" fmla="*/ 776208125 w 1728"/>
              <a:gd name="T9" fmla="*/ 1002741307 h 735"/>
              <a:gd name="T10" fmla="*/ 619958438 w 1728"/>
              <a:gd name="T11" fmla="*/ 1088866942 h 735"/>
              <a:gd name="T12" fmla="*/ 519152188 w 1728"/>
              <a:gd name="T13" fmla="*/ 1224205794 h 735"/>
              <a:gd name="T14" fmla="*/ 483870000 w 1728"/>
              <a:gd name="T15" fmla="*/ 1365697909 h 735"/>
              <a:gd name="T16" fmla="*/ 483870000 w 1728"/>
              <a:gd name="T17" fmla="*/ 1507188592 h 735"/>
              <a:gd name="T18" fmla="*/ 0 w 1728"/>
              <a:gd name="T19" fmla="*/ 1507188592 h 735"/>
              <a:gd name="T20" fmla="*/ 0 w 1728"/>
              <a:gd name="T21" fmla="*/ 984285814 h 735"/>
              <a:gd name="T22" fmla="*/ 0 w 1728"/>
              <a:gd name="T23" fmla="*/ 0 h 735"/>
              <a:gd name="T24" fmla="*/ 2147483647 w 1728"/>
              <a:gd name="T25" fmla="*/ 0 h 735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728" h="735">
                <a:moveTo>
                  <a:pt x="1728" y="0"/>
                </a:moveTo>
                <a:lnTo>
                  <a:pt x="1728" y="480"/>
                </a:lnTo>
                <a:lnTo>
                  <a:pt x="380" y="482"/>
                </a:lnTo>
                <a:lnTo>
                  <a:pt x="354" y="480"/>
                </a:lnTo>
                <a:lnTo>
                  <a:pt x="308" y="489"/>
                </a:lnTo>
                <a:cubicBezTo>
                  <a:pt x="290" y="498"/>
                  <a:pt x="263" y="513"/>
                  <a:pt x="246" y="531"/>
                </a:cubicBezTo>
                <a:cubicBezTo>
                  <a:pt x="229" y="549"/>
                  <a:pt x="215" y="574"/>
                  <a:pt x="206" y="597"/>
                </a:cubicBezTo>
                <a:cubicBezTo>
                  <a:pt x="197" y="620"/>
                  <a:pt x="194" y="643"/>
                  <a:pt x="192" y="666"/>
                </a:cubicBezTo>
                <a:lnTo>
                  <a:pt x="192" y="735"/>
                </a:lnTo>
                <a:lnTo>
                  <a:pt x="0" y="735"/>
                </a:lnTo>
                <a:lnTo>
                  <a:pt x="0" y="480"/>
                </a:lnTo>
                <a:lnTo>
                  <a:pt x="0" y="0"/>
                </a:lnTo>
                <a:lnTo>
                  <a:pt x="1728" y="0"/>
                </a:lnTo>
                <a:close/>
              </a:path>
            </a:pathLst>
          </a:custGeom>
          <a:gradFill rotWithShape="1">
            <a:gsLst>
              <a:gs pos="0">
                <a:schemeClr val="accent2"/>
              </a:gs>
              <a:gs pos="100000">
                <a:srgbClr val="C7E8C4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cap="flat" cmpd="sng">
                <a:solidFill>
                  <a:schemeClr val="tx1"/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250825" y="1557338"/>
            <a:ext cx="7391400" cy="93662"/>
            <a:chOff x="144" y="1248"/>
            <a:chExt cx="4656" cy="201"/>
          </a:xfrm>
        </p:grpSpPr>
        <p:sp>
          <p:nvSpPr>
            <p:cNvPr id="1037" name="AutoShape 5"/>
            <p:cNvSpPr>
              <a:spLocks noChangeArrowheads="1"/>
            </p:cNvSpPr>
            <p:nvPr userDrawn="1"/>
          </p:nvSpPr>
          <p:spPr bwMode="auto">
            <a:xfrm>
              <a:off x="384" y="1248"/>
              <a:ext cx="4416" cy="200"/>
            </a:xfrm>
            <a:prstGeom prst="roundRect">
              <a:avLst>
                <a:gd name="adj" fmla="val 0"/>
              </a:avLst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8" name="AutoShape 6"/>
            <p:cNvSpPr>
              <a:spLocks noChangeArrowheads="1"/>
            </p:cNvSpPr>
            <p:nvPr userDrawn="1"/>
          </p:nvSpPr>
          <p:spPr bwMode="auto">
            <a:xfrm flipH="1">
              <a:off x="144" y="1248"/>
              <a:ext cx="248" cy="201"/>
            </a:xfrm>
            <a:prstGeom prst="flowChartDelay">
              <a:avLst/>
            </a:prstGeom>
            <a:solidFill>
              <a:schemeClr val="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97319" name="AutoShape 7"/>
          <p:cNvSpPr>
            <a:spLocks noGrp="1" noChangeArrowheads="1"/>
          </p:cNvSpPr>
          <p:nvPr>
            <p:ph type="title"/>
          </p:nvPr>
        </p:nvSpPr>
        <p:spPr bwMode="auto">
          <a:xfrm>
            <a:off x="755650" y="765175"/>
            <a:ext cx="7924800" cy="784225"/>
          </a:xfrm>
          <a:prstGeom prst="roundRect">
            <a:avLst>
              <a:gd name="adj" fmla="val 29759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397320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0" y="1700213"/>
            <a:ext cx="7993063" cy="4537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8000" tIns="10800" rIns="18000" bIns="10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397321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500563" y="6524625"/>
            <a:ext cx="4576762" cy="288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FF0000"/>
                </a:solidFill>
                <a:ea typeface="+mn-ea"/>
              </a:defRPr>
            </a:lvl1pPr>
          </a:lstStyle>
          <a:p>
            <a:pPr>
              <a:defRPr/>
            </a:pPr>
            <a:endParaRPr lang="en-US" altLang="zh-CN" dirty="0"/>
          </a:p>
        </p:txBody>
      </p:sp>
      <p:sp>
        <p:nvSpPr>
          <p:cNvPr id="397322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138" y="6308725"/>
            <a:ext cx="587375" cy="422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</a:bodyPr>
          <a:lstStyle>
            <a:lvl1pPr eaLnBrk="1" hangingPunct="1">
              <a:defRPr sz="2600" b="1">
                <a:solidFill>
                  <a:schemeClr val="bg1"/>
                </a:solidFill>
              </a:defRPr>
            </a:lvl1pPr>
          </a:lstStyle>
          <a:p>
            <a:pPr>
              <a:defRPr/>
            </a:pPr>
            <a:fld id="{6517A816-AE02-46E7-BAEE-4C81B905E149}" type="slidenum">
              <a:rPr lang="en-US" altLang="zh-CN"/>
              <a:pPr>
                <a:defRPr/>
              </a:pPr>
              <a:t>‹#›</a:t>
            </a:fld>
            <a:endParaRPr lang="en-US" altLang="zh-CN" dirty="0"/>
          </a:p>
        </p:txBody>
      </p:sp>
      <p:sp>
        <p:nvSpPr>
          <p:cNvPr id="1033" name="Text Box 11"/>
          <p:cNvSpPr txBox="1">
            <a:spLocks noChangeArrowheads="1"/>
          </p:cNvSpPr>
          <p:nvPr/>
        </p:nvSpPr>
        <p:spPr bwMode="auto">
          <a:xfrm>
            <a:off x="107950" y="4078288"/>
            <a:ext cx="549275" cy="2087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>
            <a:lvl1pPr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smtClean="0">
                <a:solidFill>
                  <a:srgbClr val="FFFFCC"/>
                </a:solidFill>
                <a:ea typeface="方正姚体" pitchFamily="2" charset="-122"/>
              </a:rPr>
              <a:t>计算中心编制</a:t>
            </a:r>
          </a:p>
        </p:txBody>
      </p:sp>
      <p:sp>
        <p:nvSpPr>
          <p:cNvPr id="1034" name="Rectangle 12"/>
          <p:cNvSpPr>
            <a:spLocks noChangeArrowheads="1"/>
          </p:cNvSpPr>
          <p:nvPr/>
        </p:nvSpPr>
        <p:spPr bwMode="auto">
          <a:xfrm>
            <a:off x="3197225" y="4763"/>
            <a:ext cx="3097213" cy="692150"/>
          </a:xfrm>
          <a:prstGeom prst="rect">
            <a:avLst/>
          </a:prstGeom>
          <a:gradFill rotWithShape="1">
            <a:gsLst>
              <a:gs pos="0">
                <a:srgbClr val="C7E8C4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7325" name="Text Box 13"/>
          <p:cNvSpPr txBox="1">
            <a:spLocks noChangeArrowheads="1"/>
          </p:cNvSpPr>
          <p:nvPr/>
        </p:nvSpPr>
        <p:spPr bwMode="auto">
          <a:xfrm>
            <a:off x="1116013" y="112713"/>
            <a:ext cx="56165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3200" b="1">
                <a:solidFill>
                  <a:srgbClr val="FFFF99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华文楷体" pitchFamily="2" charset="-122"/>
              </a:rPr>
              <a:t>上海大学</a:t>
            </a:r>
            <a:r>
              <a:rPr lang="zh-CN" altLang="en-US" sz="3200" b="1">
                <a:solidFill>
                  <a:srgbClr val="FFFFCC"/>
                </a:solidFill>
                <a:ea typeface="华文楷体" pitchFamily="2" charset="-122"/>
              </a:rPr>
              <a:t>    </a:t>
            </a:r>
            <a:r>
              <a:rPr lang="en-US" altLang="zh-CN" sz="2200" b="1" dirty="0">
                <a:solidFill>
                  <a:srgbClr val="339933"/>
                </a:solidFill>
                <a:latin typeface="Gautami" pitchFamily="2"/>
                <a:ea typeface="Dotum" pitchFamily="34" charset="-127"/>
              </a:rPr>
              <a:t>Shanghai University</a:t>
            </a:r>
          </a:p>
        </p:txBody>
      </p:sp>
      <p:pic>
        <p:nvPicPr>
          <p:cNvPr id="1036" name="Picture 14" descr="bg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3" y="69850"/>
            <a:ext cx="600075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黑体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黑体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黑体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黑体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黑体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黑体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黑体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ea typeface="黑体" pitchFamily="2" charset="-122"/>
        </a:defRPr>
      </a:lvl9pPr>
    </p:titleStyle>
    <p:bodyStyle>
      <a:lvl1pPr marL="92075" indent="-92075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A50021"/>
        </a:buClr>
        <a:buSzPct val="75000"/>
        <a:buFont typeface="Webdings" pitchFamily="18" charset="2"/>
        <a:buChar char="·"/>
        <a:defRPr sz="2800" b="1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  <a:cs typeface="+mn-cs"/>
        </a:defRPr>
      </a:lvl1pPr>
      <a:lvl2pPr marL="357188" indent="-85725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996633"/>
        </a:buClr>
        <a:buSzPct val="75000"/>
        <a:buFont typeface="Wingdings" pitchFamily="2" charset="2"/>
        <a:buChar char="]"/>
        <a:defRPr sz="2400"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2pPr>
      <a:lvl3pPr marL="622300" indent="-85725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800080"/>
        </a:buClr>
        <a:buSzPct val="75000"/>
        <a:buFont typeface="Wingdings" pitchFamily="2" charset="2"/>
        <a:buChar char="µ"/>
        <a:defRPr sz="2200" b="1">
          <a:solidFill>
            <a:srgbClr val="3333FF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3pPr>
      <a:lvl4pPr marL="808038" indent="-63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4pPr>
      <a:lvl5pPr marL="987425" indent="841375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5pPr>
      <a:lvl6pPr marL="1444625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6pPr>
      <a:lvl7pPr marL="1901825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7pPr>
      <a:lvl8pPr marL="2359025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8pPr>
      <a:lvl9pPr marL="2816225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 b="1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fld id="{28F4AE1B-9DAC-4F0E-BA48-11944D710201}" type="slidenum">
              <a:rPr lang="en-US" altLang="zh-CN" sz="2600" smtClean="0">
                <a:solidFill>
                  <a:schemeClr val="bg1"/>
                </a:solidFill>
              </a:rPr>
              <a:pPr/>
              <a:t>0</a:t>
            </a:fld>
            <a:endParaRPr lang="en-US" altLang="zh-CN" sz="2600" dirty="0" smtClean="0">
              <a:solidFill>
                <a:schemeClr val="bg1"/>
              </a:solidFill>
            </a:endParaRPr>
          </a:p>
        </p:txBody>
      </p:sp>
      <p:sp>
        <p:nvSpPr>
          <p:cNvPr id="869378" name="AutoShap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/>
              <a:t>主要内容</a:t>
            </a:r>
          </a:p>
        </p:txBody>
      </p:sp>
      <p:sp>
        <p:nvSpPr>
          <p:cNvPr id="869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zh-CN" altLang="en-US" dirty="0" smtClean="0">
                <a:solidFill>
                  <a:schemeClr val="tx1"/>
                </a:solidFill>
              </a:rPr>
              <a:t>文件与缓冲</a:t>
            </a:r>
            <a:r>
              <a:rPr lang="zh-CN" altLang="en-US" dirty="0">
                <a:solidFill>
                  <a:schemeClr val="tx1"/>
                </a:solidFill>
              </a:rPr>
              <a:t>文件</a:t>
            </a:r>
            <a:r>
              <a:rPr lang="zh-CN" altLang="en-US" dirty="0" smtClean="0">
                <a:solidFill>
                  <a:schemeClr val="tx1"/>
                </a:solidFill>
              </a:rPr>
              <a:t>系统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eaLnBrk="1" hangingPunct="1">
              <a:defRPr/>
            </a:pPr>
            <a:r>
              <a:rPr lang="zh-CN" altLang="en-US" dirty="0" smtClean="0">
                <a:solidFill>
                  <a:schemeClr val="tx1"/>
                </a:solidFill>
              </a:rPr>
              <a:t>文件的打开与关闭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eaLnBrk="1" hangingPunct="1">
              <a:defRPr/>
            </a:pPr>
            <a:r>
              <a:rPr lang="zh-CN" altLang="en-US" dirty="0">
                <a:solidFill>
                  <a:schemeClr val="tx1"/>
                </a:solidFill>
              </a:rPr>
              <a:t>文件</a:t>
            </a:r>
            <a:r>
              <a:rPr lang="zh-CN" altLang="en-US" dirty="0" smtClean="0">
                <a:solidFill>
                  <a:schemeClr val="tx1"/>
                </a:solidFill>
              </a:rPr>
              <a:t>的读写</a:t>
            </a:r>
            <a:endParaRPr lang="en-US" altLang="zh-CN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文件的类型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C</a:t>
            </a:r>
            <a:r>
              <a:rPr lang="zh-CN" altLang="en-US" dirty="0">
                <a:solidFill>
                  <a:schemeClr val="tx1"/>
                </a:solidFill>
              </a:rPr>
              <a:t>语言中，所有文件都通过流进行输入输出</a:t>
            </a:r>
            <a:r>
              <a:rPr lang="zh-CN" altLang="en-US" dirty="0" smtClean="0">
                <a:solidFill>
                  <a:schemeClr val="tx1"/>
                </a:solidFill>
              </a:rPr>
              <a:t>操作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en-US" altLang="zh-CN" dirty="0" smtClean="0">
                <a:solidFill>
                  <a:schemeClr val="tx1"/>
                </a:solidFill>
              </a:rPr>
              <a:t>1. </a:t>
            </a:r>
            <a:r>
              <a:rPr lang="zh-CN" altLang="en-US" dirty="0" smtClean="0">
                <a:solidFill>
                  <a:schemeClr val="tx1"/>
                </a:solidFill>
              </a:rPr>
              <a:t>文本文件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lvl="1"/>
            <a:r>
              <a:rPr lang="zh-CN" altLang="zh-CN" dirty="0">
                <a:solidFill>
                  <a:schemeClr val="tx1"/>
                </a:solidFill>
                <a:effectLst/>
              </a:rPr>
              <a:t>基于字符</a:t>
            </a:r>
            <a:r>
              <a:rPr lang="zh-CN" altLang="zh-CN" dirty="0" smtClean="0">
                <a:solidFill>
                  <a:schemeClr val="tx1"/>
                </a:solidFill>
                <a:effectLst/>
              </a:rPr>
              <a:t>编码</a:t>
            </a:r>
            <a:r>
              <a:rPr lang="zh-CN" altLang="zh-CN" dirty="0">
                <a:solidFill>
                  <a:schemeClr val="tx1"/>
                </a:solidFill>
                <a:effectLst/>
              </a:rPr>
              <a:t>的</a:t>
            </a:r>
            <a:r>
              <a:rPr lang="zh-CN" altLang="zh-CN" dirty="0" smtClean="0">
                <a:solidFill>
                  <a:schemeClr val="tx1"/>
                </a:solidFill>
                <a:effectLst/>
              </a:rPr>
              <a:t>文件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en-US" altLang="zh-CN" dirty="0">
                <a:solidFill>
                  <a:schemeClr val="tx1"/>
                </a:solidFill>
              </a:rPr>
              <a:t>2</a:t>
            </a:r>
            <a:r>
              <a:rPr lang="en-US" altLang="zh-CN" dirty="0" smtClean="0">
                <a:solidFill>
                  <a:schemeClr val="tx1"/>
                </a:solidFill>
              </a:rPr>
              <a:t>. </a:t>
            </a:r>
            <a:r>
              <a:rPr lang="zh-CN" altLang="en-US" dirty="0" smtClean="0">
                <a:solidFill>
                  <a:schemeClr val="tx1"/>
                </a:solidFill>
              </a:rPr>
              <a:t>二进制文件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lvl="1"/>
            <a:r>
              <a:rPr lang="zh-CN" altLang="zh-CN" dirty="0">
                <a:solidFill>
                  <a:schemeClr val="tx1"/>
                </a:solidFill>
                <a:effectLst/>
              </a:rPr>
              <a:t>基于值编码的文件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1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445968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缓冲</a:t>
            </a:r>
            <a:r>
              <a:rPr lang="zh-CN" altLang="en-US" dirty="0"/>
              <a:t>文件系统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5651" y="1700213"/>
            <a:ext cx="7924800" cy="4537075"/>
          </a:xfrm>
        </p:spPr>
        <p:txBody>
          <a:bodyPr/>
          <a:lstStyle/>
          <a:p>
            <a:pPr marL="271463" lvl="1" indent="0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向磁盘输出数据：数据               缓冲区，装满缓冲区后                </a:t>
            </a:r>
            <a:r>
              <a:rPr lang="zh-CN" altLang="en-US" sz="2800" dirty="0" smtClean="0">
                <a:solidFill>
                  <a:schemeClr val="tx1"/>
                </a:solidFill>
              </a:rPr>
              <a:t>磁盘文件</a:t>
            </a:r>
            <a:endParaRPr lang="en-US" altLang="zh-CN" sz="2800" dirty="0" smtClean="0">
              <a:solidFill>
                <a:schemeClr val="tx1"/>
              </a:solidFill>
            </a:endParaRPr>
          </a:p>
          <a:p>
            <a:pPr marL="271463" lvl="1" indent="0">
              <a:buNone/>
            </a:pPr>
            <a:endParaRPr lang="zh-CN" altLang="en-US" sz="2800" dirty="0">
              <a:solidFill>
                <a:schemeClr val="tx1"/>
              </a:solidFill>
            </a:endParaRPr>
          </a:p>
          <a:p>
            <a:pPr marL="271463" lvl="1" indent="0">
              <a:lnSpc>
                <a:spcPct val="10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从磁盘读入数据：先</a:t>
            </a:r>
            <a:r>
              <a:rPr lang="zh-CN" altLang="en-US" sz="2800" dirty="0">
                <a:solidFill>
                  <a:srgbClr val="FF0000"/>
                </a:solidFill>
              </a:rPr>
              <a:t>一次性</a:t>
            </a:r>
            <a:r>
              <a:rPr lang="zh-CN" altLang="en-US" sz="2800" dirty="0">
                <a:solidFill>
                  <a:schemeClr val="tx1"/>
                </a:solidFill>
              </a:rPr>
              <a:t>从磁盘文件将</a:t>
            </a:r>
            <a:r>
              <a:rPr lang="zh-CN" altLang="en-US" sz="2800" dirty="0">
                <a:solidFill>
                  <a:srgbClr val="FF0000"/>
                </a:solidFill>
              </a:rPr>
              <a:t>一批数据</a:t>
            </a:r>
            <a:r>
              <a:rPr lang="zh-CN" altLang="en-US" sz="2800" dirty="0">
                <a:solidFill>
                  <a:schemeClr val="tx1"/>
                </a:solidFill>
              </a:rPr>
              <a:t>输入到</a:t>
            </a:r>
            <a:r>
              <a:rPr lang="zh-CN" altLang="en-US" sz="2800" dirty="0">
                <a:solidFill>
                  <a:srgbClr val="FF0000"/>
                </a:solidFill>
              </a:rPr>
              <a:t>缓冲区</a:t>
            </a:r>
            <a:r>
              <a:rPr lang="zh-CN" altLang="en-US" sz="2800" dirty="0">
                <a:solidFill>
                  <a:schemeClr val="tx1"/>
                </a:solidFill>
              </a:rPr>
              <a:t>，然后再从缓冲区</a:t>
            </a:r>
            <a:r>
              <a:rPr lang="zh-CN" altLang="en-US" sz="2800" dirty="0">
                <a:solidFill>
                  <a:srgbClr val="FF0000"/>
                </a:solidFill>
              </a:rPr>
              <a:t>逐个读入</a:t>
            </a:r>
            <a:r>
              <a:rPr lang="zh-CN" altLang="en-US" sz="2800" dirty="0" smtClean="0">
                <a:solidFill>
                  <a:schemeClr val="tx1"/>
                </a:solidFill>
              </a:rPr>
              <a:t>数据到</a:t>
            </a:r>
            <a:r>
              <a:rPr lang="zh-CN" altLang="en-US" sz="2800" dirty="0">
                <a:solidFill>
                  <a:schemeClr val="tx1"/>
                </a:solidFill>
              </a:rPr>
              <a:t>变量</a:t>
            </a:r>
            <a:endParaRPr lang="zh-CN" altLang="en-US" sz="4800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2</a:t>
            </a:fld>
            <a:endParaRPr lang="en-US" altLang="zh-CN" dirty="0"/>
          </a:p>
        </p:txBody>
      </p:sp>
      <p:sp>
        <p:nvSpPr>
          <p:cNvPr id="6" name="Line 16"/>
          <p:cNvSpPr>
            <a:spLocks noChangeShapeType="1"/>
          </p:cNvSpPr>
          <p:nvPr/>
        </p:nvSpPr>
        <p:spPr bwMode="auto">
          <a:xfrm>
            <a:off x="4788024" y="1988840"/>
            <a:ext cx="1219200" cy="0"/>
          </a:xfrm>
          <a:prstGeom prst="line">
            <a:avLst/>
          </a:prstGeom>
          <a:ln>
            <a:headEnd/>
            <a:tailEnd type="triangle" w="med" len="med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Line 16"/>
          <p:cNvSpPr>
            <a:spLocks noChangeShapeType="1"/>
          </p:cNvSpPr>
          <p:nvPr/>
        </p:nvSpPr>
        <p:spPr bwMode="auto">
          <a:xfrm>
            <a:off x="2195736" y="2492896"/>
            <a:ext cx="1219200" cy="0"/>
          </a:xfrm>
          <a:prstGeom prst="line">
            <a:avLst/>
          </a:prstGeom>
          <a:ln>
            <a:headEnd/>
            <a:tailEnd type="triangle" w="med" len="med"/>
          </a:ln>
          <a:extLst/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0145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文件</a:t>
            </a:r>
            <a:r>
              <a:rPr lang="zh-CN" altLang="en-US" dirty="0"/>
              <a:t>指针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定义文件指针变量的一般形式为：</a:t>
            </a:r>
          </a:p>
          <a:p>
            <a:pPr marL="0" indent="0">
              <a:buNone/>
            </a:pPr>
            <a:r>
              <a:rPr lang="en-US" altLang="zh-CN" dirty="0" smtClean="0">
                <a:solidFill>
                  <a:schemeClr val="tx1"/>
                </a:solidFill>
              </a:rPr>
              <a:t>    FILE </a:t>
            </a:r>
            <a:r>
              <a:rPr lang="en-US" altLang="zh-CN" dirty="0">
                <a:solidFill>
                  <a:schemeClr val="tx1"/>
                </a:solidFill>
              </a:rPr>
              <a:t>*</a:t>
            </a:r>
            <a:r>
              <a:rPr lang="zh-CN" altLang="en-US" dirty="0">
                <a:solidFill>
                  <a:schemeClr val="tx1"/>
                </a:solidFill>
              </a:rPr>
              <a:t>文件结构指针变量名</a:t>
            </a:r>
          </a:p>
          <a:p>
            <a:pPr marL="0" indent="0">
              <a:buNone/>
            </a:pPr>
            <a:r>
              <a:rPr lang="zh-CN" altLang="en-US" dirty="0" smtClean="0">
                <a:solidFill>
                  <a:schemeClr val="tx1"/>
                </a:solidFill>
              </a:rPr>
              <a:t>    如</a:t>
            </a:r>
            <a:r>
              <a:rPr lang="zh-CN" altLang="en-US" dirty="0">
                <a:solidFill>
                  <a:schemeClr val="tx1"/>
                </a:solidFill>
              </a:rPr>
              <a:t>：</a:t>
            </a:r>
            <a:r>
              <a:rPr lang="en-US" altLang="zh-CN" dirty="0">
                <a:solidFill>
                  <a:srgbClr val="FF0000"/>
                </a:solidFill>
              </a:rPr>
              <a:t>FILE *fp;</a:t>
            </a:r>
          </a:p>
          <a:p>
            <a:pPr marL="0" indent="0">
              <a:buNone/>
            </a:pP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 smtClean="0">
                <a:solidFill>
                  <a:schemeClr val="tx1"/>
                </a:solidFill>
              </a:rPr>
              <a:t>     fp</a:t>
            </a:r>
            <a:r>
              <a:rPr lang="zh-CN" altLang="en-US" dirty="0">
                <a:solidFill>
                  <a:schemeClr val="tx1"/>
                </a:solidFill>
              </a:rPr>
              <a:t>是一个指向</a:t>
            </a:r>
            <a:r>
              <a:rPr lang="en-US" altLang="zh-CN" dirty="0">
                <a:solidFill>
                  <a:schemeClr val="tx1"/>
                </a:solidFill>
              </a:rPr>
              <a:t>FILE</a:t>
            </a:r>
            <a:r>
              <a:rPr lang="zh-CN" altLang="en-US" dirty="0">
                <a:solidFill>
                  <a:schemeClr val="tx1"/>
                </a:solidFill>
              </a:rPr>
              <a:t>类型的指针变量，通过</a:t>
            </a:r>
            <a:r>
              <a:rPr lang="en-US" altLang="zh-CN" dirty="0">
                <a:solidFill>
                  <a:schemeClr val="tx1"/>
                </a:solidFill>
              </a:rPr>
              <a:t>fp</a:t>
            </a:r>
            <a:r>
              <a:rPr lang="zh-CN" altLang="en-US" dirty="0">
                <a:solidFill>
                  <a:schemeClr val="tx1"/>
                </a:solidFill>
              </a:rPr>
              <a:t>就能够找到与它关联的文件</a:t>
            </a:r>
            <a:r>
              <a:rPr lang="zh-CN" altLang="en-US" dirty="0" smtClean="0">
                <a:solidFill>
                  <a:schemeClr val="tx1"/>
                </a:solidFill>
              </a:rPr>
              <a:t>。</a:t>
            </a:r>
            <a:endParaRPr lang="en-US" altLang="zh-CN" dirty="0" smtClean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3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9885976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文件</a:t>
            </a:r>
            <a:r>
              <a:rPr lang="zh-CN" altLang="en-US" dirty="0"/>
              <a:t>的打开与关闭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文件操作基本步骤</a:t>
            </a:r>
          </a:p>
          <a:p>
            <a:pPr marL="536575" lvl="2" indent="0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① 定义文件指针</a:t>
            </a:r>
          </a:p>
          <a:p>
            <a:pPr marL="536575" lvl="2" indent="0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② 打开文件：文件指针指向磁盘文件缓冲区</a:t>
            </a:r>
          </a:p>
          <a:p>
            <a:pPr marL="536575" lvl="2" indent="0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③ 文件处理：文件读写操作</a:t>
            </a:r>
          </a:p>
          <a:p>
            <a:pPr marL="536575" lvl="2" indent="0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④ 关闭文件</a:t>
            </a:r>
          </a:p>
          <a:p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56395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5</a:t>
            </a:fld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225" y="0"/>
            <a:ext cx="83375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424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打开</a:t>
            </a:r>
            <a:r>
              <a:rPr lang="zh-CN" altLang="en-US" dirty="0"/>
              <a:t>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99592" y="1982787"/>
            <a:ext cx="7992888" cy="453707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 smtClean="0">
                <a:solidFill>
                  <a:schemeClr val="tx1"/>
                </a:solidFill>
              </a:rPr>
              <a:t>例：</a:t>
            </a:r>
            <a:endParaRPr lang="en-US" altLang="zh-CN" sz="24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dirty="0" smtClean="0">
                <a:solidFill>
                  <a:schemeClr val="tx1"/>
                </a:solidFill>
              </a:rPr>
              <a:t>FILE </a:t>
            </a:r>
            <a:r>
              <a:rPr lang="en-US" altLang="zh-CN" sz="2400" dirty="0">
                <a:solidFill>
                  <a:schemeClr val="tx1"/>
                </a:solidFill>
              </a:rPr>
              <a:t>*fp1</a:t>
            </a:r>
            <a:r>
              <a:rPr lang="zh-CN" altLang="en-US" sz="2400" dirty="0" smtClean="0">
                <a:solidFill>
                  <a:schemeClr val="tx1"/>
                </a:solidFill>
              </a:rPr>
              <a:t>；   </a:t>
            </a:r>
            <a:r>
              <a:rPr lang="en-US" altLang="zh-CN" sz="2400" dirty="0">
                <a:solidFill>
                  <a:schemeClr val="tx1"/>
                </a:solidFill>
              </a:rPr>
              <a:t>/*</a:t>
            </a:r>
            <a:r>
              <a:rPr lang="zh-CN" altLang="en-US" sz="2400" dirty="0">
                <a:solidFill>
                  <a:schemeClr val="tx1"/>
                </a:solidFill>
              </a:rPr>
              <a:t>定义一个指向文件的指针变量</a:t>
            </a:r>
            <a:r>
              <a:rPr lang="en-US" altLang="zh-CN" sz="2400" dirty="0">
                <a:solidFill>
                  <a:schemeClr val="tx1"/>
                </a:solidFill>
              </a:rPr>
              <a:t>fp1*/</a:t>
            </a:r>
          </a:p>
          <a:p>
            <a:pPr marL="0" indent="0">
              <a:buNone/>
            </a:pPr>
            <a:r>
              <a:rPr lang="en-US" altLang="zh-CN" sz="2400" dirty="0" smtClean="0">
                <a:solidFill>
                  <a:schemeClr val="tx1"/>
                </a:solidFill>
              </a:rPr>
              <a:t>fp1=</a:t>
            </a:r>
            <a:r>
              <a:rPr lang="en-US" altLang="zh-CN" sz="2400" dirty="0" smtClean="0">
                <a:solidFill>
                  <a:srgbClr val="FF0000"/>
                </a:solidFill>
              </a:rPr>
              <a:t>fopen</a:t>
            </a:r>
            <a:r>
              <a:rPr lang="en-US" altLang="zh-CN" sz="2400" dirty="0" smtClean="0">
                <a:solidFill>
                  <a:schemeClr val="tx1"/>
                </a:solidFill>
              </a:rPr>
              <a:t>(“a1.txt”,“r"); 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 </a:t>
            </a:r>
            <a:r>
              <a:rPr lang="en-US" altLang="zh-CN" sz="2400" dirty="0" smtClean="0">
                <a:solidFill>
                  <a:schemeClr val="tx1"/>
                </a:solidFill>
              </a:rPr>
              <a:t>             /*</a:t>
            </a:r>
            <a:r>
              <a:rPr lang="zh-CN" altLang="en-US" sz="2400" dirty="0">
                <a:solidFill>
                  <a:schemeClr val="tx1"/>
                </a:solidFill>
              </a:rPr>
              <a:t>将</a:t>
            </a:r>
            <a:r>
              <a:rPr lang="en-US" altLang="zh-CN" sz="2400" dirty="0">
                <a:solidFill>
                  <a:schemeClr val="tx1"/>
                </a:solidFill>
              </a:rPr>
              <a:t>fopen</a:t>
            </a:r>
            <a:r>
              <a:rPr lang="zh-CN" altLang="en-US" sz="2400" dirty="0">
                <a:solidFill>
                  <a:schemeClr val="tx1"/>
                </a:solidFill>
              </a:rPr>
              <a:t>函数的返回值赋值给指针</a:t>
            </a:r>
            <a:r>
              <a:rPr lang="zh-CN" altLang="en-US" sz="2400" dirty="0" smtClean="0">
                <a:solidFill>
                  <a:schemeClr val="tx1"/>
                </a:solidFill>
              </a:rPr>
              <a:t>变量 </a:t>
            </a:r>
            <a:r>
              <a:rPr lang="en-US" altLang="zh-CN" sz="2400" dirty="0" smtClean="0">
                <a:solidFill>
                  <a:schemeClr val="tx1"/>
                </a:solidFill>
              </a:rPr>
              <a:t>fp1</a:t>
            </a:r>
            <a:r>
              <a:rPr lang="en-US" altLang="zh-CN" sz="2400" dirty="0">
                <a:solidFill>
                  <a:schemeClr val="tx1"/>
                </a:solidFill>
              </a:rPr>
              <a:t>*/</a:t>
            </a:r>
          </a:p>
          <a:p>
            <a:pPr marL="0" indent="0">
              <a:buNone/>
            </a:pPr>
            <a:endParaRPr lang="en-US" altLang="zh-CN" sz="24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zh-CN" altLang="en-US" sz="2400" dirty="0" smtClean="0">
                <a:solidFill>
                  <a:schemeClr val="tx1"/>
                </a:solidFill>
              </a:rPr>
              <a:t>这</a:t>
            </a:r>
            <a:r>
              <a:rPr lang="zh-CN" altLang="en-US" sz="2400" dirty="0">
                <a:solidFill>
                  <a:schemeClr val="tx1"/>
                </a:solidFill>
              </a:rPr>
              <a:t>两行代码的含义是在当前目录下打开文件</a:t>
            </a:r>
            <a:r>
              <a:rPr lang="en-US" altLang="zh-CN" sz="2400" dirty="0">
                <a:solidFill>
                  <a:schemeClr val="tx1"/>
                </a:solidFill>
              </a:rPr>
              <a:t>a1.txt</a:t>
            </a:r>
            <a:r>
              <a:rPr lang="zh-CN" altLang="en-US" sz="2400" dirty="0">
                <a:solidFill>
                  <a:schemeClr val="tx1"/>
                </a:solidFill>
              </a:rPr>
              <a:t>，只允许进行“读”操作，并使文件指针</a:t>
            </a:r>
            <a:r>
              <a:rPr lang="en-US" altLang="zh-CN" sz="2400" dirty="0">
                <a:solidFill>
                  <a:schemeClr val="tx1"/>
                </a:solidFill>
              </a:rPr>
              <a:t>fp</a:t>
            </a:r>
            <a:r>
              <a:rPr lang="zh-CN" altLang="en-US" sz="2400" dirty="0">
                <a:solidFill>
                  <a:schemeClr val="tx1"/>
                </a:solidFill>
              </a:rPr>
              <a:t>指向该文件。</a:t>
            </a:r>
          </a:p>
          <a:p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6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446424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打开</a:t>
            </a:r>
            <a:r>
              <a:rPr lang="zh-CN" altLang="en-US" dirty="0"/>
              <a:t>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71600" y="1779783"/>
            <a:ext cx="7920880" cy="4537075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例：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dirty="0" smtClean="0">
                <a:solidFill>
                  <a:schemeClr val="tx1"/>
                </a:solidFill>
              </a:rPr>
              <a:t>FILE </a:t>
            </a:r>
            <a:r>
              <a:rPr lang="en-US" altLang="zh-CN" sz="2400" dirty="0">
                <a:solidFill>
                  <a:schemeClr val="tx1"/>
                </a:solidFill>
              </a:rPr>
              <a:t>*fp2           /*</a:t>
            </a:r>
            <a:r>
              <a:rPr lang="zh-CN" altLang="en-US" sz="2400" dirty="0">
                <a:solidFill>
                  <a:schemeClr val="tx1"/>
                </a:solidFill>
              </a:rPr>
              <a:t>定义一个指向文件的指针变量</a:t>
            </a:r>
            <a:r>
              <a:rPr lang="en-US" altLang="zh-CN" sz="2400" dirty="0">
                <a:solidFill>
                  <a:schemeClr val="tx1"/>
                </a:solidFill>
              </a:rPr>
              <a:t>fp2*/</a:t>
            </a:r>
          </a:p>
          <a:p>
            <a:pPr marL="0" indent="0">
              <a:buNone/>
            </a:pPr>
            <a:r>
              <a:rPr lang="en-US" altLang="zh-CN" sz="2400" dirty="0" smtClean="0">
                <a:solidFill>
                  <a:schemeClr val="tx1"/>
                </a:solidFill>
              </a:rPr>
              <a:t>fp2=</a:t>
            </a:r>
            <a:r>
              <a:rPr lang="en-US" altLang="zh-CN" sz="2400" dirty="0" smtClean="0">
                <a:solidFill>
                  <a:srgbClr val="FF0000"/>
                </a:solidFill>
              </a:rPr>
              <a:t>fopen</a:t>
            </a:r>
            <a:r>
              <a:rPr lang="en-US" altLang="zh-CN" sz="2400" dirty="0" smtClean="0">
                <a:solidFill>
                  <a:schemeClr val="tx1"/>
                </a:solidFill>
              </a:rPr>
              <a:t>("</a:t>
            </a:r>
            <a:r>
              <a:rPr lang="en-US" altLang="zh-CN" sz="2400" dirty="0">
                <a:solidFill>
                  <a:schemeClr val="tx1"/>
                </a:solidFill>
              </a:rPr>
              <a:t>d</a:t>
            </a:r>
            <a:r>
              <a:rPr lang="en-US" altLang="zh-CN" sz="2400" dirty="0" smtClean="0">
                <a:solidFill>
                  <a:schemeClr val="tx1"/>
                </a:solidFill>
              </a:rPr>
              <a:t>:</a:t>
            </a:r>
            <a:r>
              <a:rPr lang="en-US" altLang="zh-CN" sz="2400" dirty="0" smtClean="0">
                <a:solidFill>
                  <a:srgbClr val="FF0000"/>
                </a:solidFill>
              </a:rPr>
              <a:t>\\</a:t>
            </a:r>
            <a:r>
              <a:rPr lang="en-US" altLang="zh-CN" sz="2400" dirty="0" smtClean="0">
                <a:solidFill>
                  <a:schemeClr val="tx1"/>
                </a:solidFill>
              </a:rPr>
              <a:t>test1","rb") </a:t>
            </a:r>
            <a:endParaRPr lang="en-US" altLang="zh-CN" sz="24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 </a:t>
            </a:r>
            <a:r>
              <a:rPr lang="en-US" altLang="zh-CN" sz="2400" dirty="0" smtClean="0">
                <a:solidFill>
                  <a:schemeClr val="tx1"/>
                </a:solidFill>
              </a:rPr>
              <a:t>                    /*</a:t>
            </a:r>
            <a:r>
              <a:rPr lang="zh-CN" altLang="en-US" sz="2400" dirty="0">
                <a:solidFill>
                  <a:schemeClr val="tx1"/>
                </a:solidFill>
              </a:rPr>
              <a:t>将</a:t>
            </a:r>
            <a:r>
              <a:rPr lang="en-US" altLang="zh-CN" sz="2400" dirty="0">
                <a:solidFill>
                  <a:schemeClr val="tx1"/>
                </a:solidFill>
              </a:rPr>
              <a:t>fopen</a:t>
            </a:r>
            <a:r>
              <a:rPr lang="zh-CN" altLang="en-US" sz="2400" dirty="0">
                <a:solidFill>
                  <a:schemeClr val="tx1"/>
                </a:solidFill>
              </a:rPr>
              <a:t>函数的返回值赋值给指针变量</a:t>
            </a:r>
            <a:r>
              <a:rPr lang="en-US" altLang="zh-CN" sz="2400" dirty="0">
                <a:solidFill>
                  <a:schemeClr val="tx1"/>
                </a:solidFill>
              </a:rPr>
              <a:t>fp2*/</a:t>
            </a:r>
          </a:p>
          <a:p>
            <a:pPr marL="0" indent="0">
              <a:buNone/>
            </a:pPr>
            <a:endParaRPr lang="en-US" altLang="zh-CN" sz="2400" dirty="0" smtClean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 </a:t>
            </a:r>
            <a:r>
              <a:rPr lang="en-US" altLang="zh-CN" sz="2400" dirty="0" smtClean="0">
                <a:solidFill>
                  <a:schemeClr val="tx1"/>
                </a:solidFill>
              </a:rPr>
              <a:t>  </a:t>
            </a:r>
          </a:p>
          <a:p>
            <a:pPr marL="0" indent="0">
              <a:buNone/>
            </a:pPr>
            <a:r>
              <a:rPr lang="zh-CN" altLang="zh-CN" sz="2400" dirty="0">
                <a:solidFill>
                  <a:schemeClr val="tx1"/>
                </a:solidFill>
                <a:effectLst/>
              </a:rPr>
              <a:t>这两行代码的含义是打开驱动器磁盘</a:t>
            </a:r>
            <a:r>
              <a:rPr lang="en-US" altLang="zh-CN" sz="2400" dirty="0">
                <a:solidFill>
                  <a:schemeClr val="tx1"/>
                </a:solidFill>
                <a:effectLst/>
              </a:rPr>
              <a:t>D</a:t>
            </a:r>
            <a:r>
              <a:rPr lang="zh-CN" altLang="zh-CN" sz="2400" dirty="0">
                <a:solidFill>
                  <a:schemeClr val="tx1"/>
                </a:solidFill>
                <a:effectLst/>
              </a:rPr>
              <a:t>分区根目录下的文件</a:t>
            </a:r>
            <a:r>
              <a:rPr lang="en-US" altLang="zh-CN" sz="2400" dirty="0" smtClean="0">
                <a:solidFill>
                  <a:schemeClr val="tx1"/>
                </a:solidFill>
                <a:effectLst/>
              </a:rPr>
              <a:t>b1</a:t>
            </a:r>
            <a:r>
              <a:rPr lang="zh-CN" altLang="zh-CN" sz="2400" dirty="0" smtClean="0">
                <a:solidFill>
                  <a:schemeClr val="tx1"/>
                </a:solidFill>
                <a:effectLst/>
              </a:rPr>
              <a:t>，</a:t>
            </a:r>
            <a:r>
              <a:rPr lang="zh-CN" altLang="zh-CN" sz="2400" dirty="0">
                <a:solidFill>
                  <a:schemeClr val="tx1"/>
                </a:solidFill>
                <a:effectLst/>
              </a:rPr>
              <a:t>这是一个二进制文件，只允许按二进制方式进行读</a:t>
            </a:r>
            <a:r>
              <a:rPr lang="zh-CN" altLang="zh-CN" sz="2400" dirty="0" smtClean="0">
                <a:solidFill>
                  <a:schemeClr val="tx1"/>
                </a:solidFill>
                <a:effectLst/>
              </a:rPr>
              <a:t>操作</a:t>
            </a:r>
            <a:r>
              <a:rPr lang="zh-CN" altLang="en-US" sz="2400" dirty="0" smtClean="0">
                <a:solidFill>
                  <a:schemeClr val="tx1"/>
                </a:solidFill>
              </a:rPr>
              <a:t> </a:t>
            </a:r>
            <a:r>
              <a:rPr lang="zh-CN" altLang="en-US" sz="2400" dirty="0">
                <a:solidFill>
                  <a:schemeClr val="tx1"/>
                </a:solidFill>
              </a:rPr>
              <a:t>，并使文件指针</a:t>
            </a:r>
            <a:r>
              <a:rPr lang="en-US" altLang="zh-CN" sz="2400" dirty="0">
                <a:solidFill>
                  <a:schemeClr val="tx1"/>
                </a:solidFill>
              </a:rPr>
              <a:t>fp</a:t>
            </a:r>
            <a:r>
              <a:rPr lang="zh-CN" altLang="en-US" sz="2400" dirty="0">
                <a:solidFill>
                  <a:schemeClr val="tx1"/>
                </a:solidFill>
              </a:rPr>
              <a:t>指向该</a:t>
            </a:r>
            <a:r>
              <a:rPr lang="zh-CN" altLang="en-US" sz="2400" dirty="0" smtClean="0">
                <a:solidFill>
                  <a:schemeClr val="tx1"/>
                </a:solidFill>
              </a:rPr>
              <a:t>文件</a:t>
            </a:r>
            <a:r>
              <a:rPr lang="zh-CN" altLang="zh-CN" sz="2400" dirty="0">
                <a:solidFill>
                  <a:schemeClr val="tx1"/>
                </a:solidFill>
                <a:effectLst/>
              </a:rPr>
              <a:t>。</a:t>
            </a:r>
          </a:p>
          <a:p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7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11283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关闭</a:t>
            </a:r>
            <a:r>
              <a:rPr lang="zh-CN" altLang="en-US" dirty="0"/>
              <a:t>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  <a:effectLst/>
              </a:rPr>
              <a:t>fclose(</a:t>
            </a:r>
            <a:r>
              <a:rPr lang="zh-CN" altLang="zh-CN" dirty="0">
                <a:solidFill>
                  <a:schemeClr val="tx1"/>
                </a:solidFill>
                <a:effectLst/>
              </a:rPr>
              <a:t>文件指针</a:t>
            </a:r>
            <a:r>
              <a:rPr lang="en-US" altLang="zh-CN" dirty="0" smtClean="0">
                <a:solidFill>
                  <a:schemeClr val="tx1"/>
                </a:solidFill>
                <a:effectLst/>
              </a:rPr>
              <a:t>);</a:t>
            </a:r>
          </a:p>
          <a:p>
            <a:pPr lvl="1"/>
            <a:r>
              <a:rPr lang="zh-CN" altLang="en-US" dirty="0" smtClean="0">
                <a:solidFill>
                  <a:schemeClr val="tx1"/>
                </a:solidFill>
                <a:effectLst/>
              </a:rPr>
              <a:t>关闭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先前</a:t>
            </a:r>
            <a:r>
              <a:rPr lang="en-US" altLang="zh-CN" dirty="0">
                <a:solidFill>
                  <a:schemeClr val="tx1"/>
                </a:solidFill>
                <a:effectLst/>
              </a:rPr>
              <a:t>fopen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打开的文件，将缓冲区内的数据写入文件</a:t>
            </a:r>
            <a:r>
              <a:rPr lang="zh-CN" altLang="en-US" dirty="0" smtClean="0">
                <a:solidFill>
                  <a:schemeClr val="tx1"/>
                </a:solidFill>
                <a:effectLst/>
              </a:rPr>
              <a:t>中</a:t>
            </a:r>
            <a:endParaRPr lang="en-US" altLang="zh-CN" dirty="0" smtClean="0">
              <a:solidFill>
                <a:schemeClr val="tx1"/>
              </a:solidFill>
              <a:effectLst/>
            </a:endParaRPr>
          </a:p>
          <a:p>
            <a:pPr lvl="1"/>
            <a:r>
              <a:rPr lang="zh-CN" altLang="en-US" dirty="0" smtClean="0">
                <a:solidFill>
                  <a:schemeClr val="tx1"/>
                </a:solidFill>
                <a:effectLst/>
              </a:rPr>
              <a:t>使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文件指针与文件脱离，释放文件指针和相关缓冲区</a:t>
            </a:r>
            <a:r>
              <a:rPr lang="zh-CN" altLang="en-US" dirty="0" smtClean="0">
                <a:solidFill>
                  <a:schemeClr val="tx1"/>
                </a:solidFill>
                <a:effectLst/>
              </a:rPr>
              <a:t>。</a:t>
            </a:r>
            <a:endParaRPr lang="en-US" altLang="zh-CN" dirty="0" smtClean="0">
              <a:solidFill>
                <a:schemeClr val="tx1"/>
              </a:solidFill>
              <a:effectLst/>
            </a:endParaRPr>
          </a:p>
          <a:p>
            <a:r>
              <a:rPr lang="en-US" altLang="zh-CN" dirty="0">
                <a:solidFill>
                  <a:schemeClr val="tx1"/>
                </a:solidFill>
                <a:effectLst/>
              </a:rPr>
              <a:t>fclose</a:t>
            </a:r>
            <a:r>
              <a:rPr lang="zh-CN" altLang="zh-CN" dirty="0">
                <a:solidFill>
                  <a:schemeClr val="tx1"/>
                </a:solidFill>
                <a:effectLst/>
              </a:rPr>
              <a:t>函数返回值为整型</a:t>
            </a:r>
            <a:endParaRPr lang="en-US" altLang="zh-CN" dirty="0">
              <a:solidFill>
                <a:schemeClr val="tx1"/>
              </a:solidFill>
              <a:effectLst/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  <a:effectLst/>
              </a:rPr>
              <a:t>正常执行：返回</a:t>
            </a:r>
            <a:r>
              <a:rPr lang="en-US" altLang="zh-CN" dirty="0">
                <a:solidFill>
                  <a:schemeClr val="tx1"/>
                </a:solidFill>
                <a:effectLst/>
              </a:rPr>
              <a:t>0</a:t>
            </a:r>
          </a:p>
          <a:p>
            <a:pPr lvl="1"/>
            <a:r>
              <a:rPr lang="zh-CN" altLang="en-US" dirty="0">
                <a:solidFill>
                  <a:schemeClr val="tx1"/>
                </a:solidFill>
                <a:effectLst/>
              </a:rPr>
              <a:t>异常执行：返回</a:t>
            </a:r>
            <a:r>
              <a:rPr lang="en-US" altLang="zh-CN" dirty="0">
                <a:solidFill>
                  <a:schemeClr val="tx1"/>
                </a:solidFill>
                <a:effectLst/>
              </a:rPr>
              <a:t>EOF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，表示文件在关闭时发生错误。</a:t>
            </a:r>
            <a:endParaRPr lang="en-US" altLang="zh-CN" dirty="0">
              <a:solidFill>
                <a:schemeClr val="tx1"/>
              </a:solidFill>
              <a:effectLst/>
            </a:endParaRPr>
          </a:p>
          <a:p>
            <a:pPr lvl="1"/>
            <a:endParaRPr lang="en-US" altLang="zh-CN" dirty="0">
              <a:solidFill>
                <a:schemeClr val="tx1"/>
              </a:solidFill>
              <a:effectLst/>
            </a:endParaRPr>
          </a:p>
          <a:p>
            <a:pPr lvl="1"/>
            <a:r>
              <a:rPr lang="en-US" altLang="zh-CN" dirty="0">
                <a:solidFill>
                  <a:schemeClr val="tx1"/>
                </a:solidFill>
                <a:effectLst/>
              </a:rPr>
              <a:t>EOF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称为文件结束符，在</a:t>
            </a:r>
            <a:r>
              <a:rPr lang="en-US" altLang="zh-CN" dirty="0">
                <a:solidFill>
                  <a:schemeClr val="tx1"/>
                </a:solidFill>
                <a:effectLst/>
              </a:rPr>
              <a:t>&lt;stdio.h&gt;</a:t>
            </a:r>
            <a:r>
              <a:rPr lang="zh-CN" altLang="en-US" dirty="0">
                <a:solidFill>
                  <a:schemeClr val="tx1"/>
                </a:solidFill>
                <a:effectLst/>
              </a:rPr>
              <a:t>中定义，值为</a:t>
            </a:r>
            <a:r>
              <a:rPr lang="en-US" altLang="zh-CN" dirty="0">
                <a:solidFill>
                  <a:schemeClr val="tx1"/>
                </a:solidFill>
                <a:effectLst/>
              </a:rPr>
              <a:t>-1</a:t>
            </a:r>
            <a:endParaRPr lang="zh-CN" altLang="zh-CN" dirty="0">
              <a:solidFill>
                <a:schemeClr val="tx1"/>
              </a:solidFill>
              <a:effectLst/>
            </a:endParaRPr>
          </a:p>
          <a:p>
            <a:pPr lvl="1"/>
            <a:endParaRPr lang="zh-CN" altLang="zh-CN" dirty="0">
              <a:solidFill>
                <a:schemeClr val="tx1"/>
              </a:solidFill>
              <a:effectLst/>
            </a:endParaRPr>
          </a:p>
          <a:p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8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282269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6636351-7D5B-47CE-B54D-C31E7589E5E2}" type="slidenum">
              <a:rPr lang="en-US" altLang="zh-CN" smtClean="0"/>
              <a:pPr>
                <a:defRPr/>
              </a:pPr>
              <a:t>9</a:t>
            </a:fld>
            <a:endParaRPr lang="en-US" altLang="zh-CN" dirty="0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775453" y="404664"/>
            <a:ext cx="8352928" cy="5688632"/>
          </a:xfrm>
          <a:prstGeom prst="rect">
            <a:avLst/>
          </a:prstGeom>
        </p:spPr>
        <p:txBody>
          <a:bodyPr/>
          <a:lstStyle>
            <a:lvl1pPr marL="92075" indent="-92075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A50021"/>
              </a:buClr>
              <a:buSzPct val="75000"/>
              <a:buFont typeface="Webdings" pitchFamily="18" charset="2"/>
              <a:buChar char="·"/>
              <a:defRPr sz="28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357188" indent="-85725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996633"/>
              </a:buClr>
              <a:buSzPct val="75000"/>
              <a:buFont typeface="Wingdings" pitchFamily="2" charset="2"/>
              <a:buChar char="]"/>
              <a:defRPr sz="2400"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2pPr>
            <a:lvl3pPr marL="622300" indent="-85725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800080"/>
              </a:buClr>
              <a:buSzPct val="75000"/>
              <a:buFont typeface="Wingdings" pitchFamily="2" charset="2"/>
              <a:buChar char="µ"/>
              <a:defRPr sz="2200" b="1">
                <a:solidFill>
                  <a:srgbClr val="3333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3pPr>
            <a:lvl4pPr marL="808038" indent="-63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Char char="–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4pPr>
            <a:lvl5pPr marL="987425" indent="841375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5pPr>
            <a:lvl6pPr marL="1444625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6pPr>
            <a:lvl7pPr marL="1901825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7pPr>
            <a:lvl8pPr marL="2359025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8pPr>
            <a:lvl9pPr marL="2816225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itchFamily="2" charset="2"/>
              <a:buChar char="l"/>
              <a:defRPr b="1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kern="0" dirty="0" smtClean="0">
                <a:solidFill>
                  <a:schemeClr val="tx1"/>
                </a:solidFill>
              </a:rPr>
              <a:t>#include &lt;</a:t>
            </a:r>
            <a:r>
              <a:rPr lang="en-US" altLang="zh-CN" sz="2000" kern="0" dirty="0" err="1" smtClean="0">
                <a:solidFill>
                  <a:schemeClr val="tx1"/>
                </a:solidFill>
              </a:rPr>
              <a:t>stdio.h</a:t>
            </a:r>
            <a:r>
              <a:rPr lang="en-US" altLang="zh-CN" sz="2000" kern="0" dirty="0" smtClean="0">
                <a:solidFill>
                  <a:schemeClr val="tx1"/>
                </a:solidFill>
              </a:rPr>
              <a:t>&gt;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kern="0" dirty="0" smtClean="0">
                <a:solidFill>
                  <a:schemeClr val="tx1"/>
                </a:solidFill>
              </a:rPr>
              <a:t>#include &lt;</a:t>
            </a:r>
            <a:r>
              <a:rPr lang="en-US" altLang="zh-CN" sz="2000" kern="0" dirty="0" err="1" smtClean="0">
                <a:solidFill>
                  <a:schemeClr val="tx1"/>
                </a:solidFill>
              </a:rPr>
              <a:t>stdlib.h</a:t>
            </a:r>
            <a:r>
              <a:rPr lang="en-US" altLang="zh-CN" sz="2000" kern="0" dirty="0" smtClean="0">
                <a:solidFill>
                  <a:schemeClr val="tx1"/>
                </a:solidFill>
              </a:rPr>
              <a:t>&gt;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kern="0" dirty="0" err="1" smtClean="0">
                <a:solidFill>
                  <a:schemeClr val="tx1"/>
                </a:solidFill>
              </a:rPr>
              <a:t>int</a:t>
            </a:r>
            <a:r>
              <a:rPr lang="en-US" altLang="zh-CN" sz="2000" kern="0" dirty="0" smtClean="0">
                <a:solidFill>
                  <a:schemeClr val="tx1"/>
                </a:solidFill>
              </a:rPr>
              <a:t> main()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kern="0" dirty="0" smtClean="0">
                <a:solidFill>
                  <a:schemeClr val="tx1"/>
                </a:solidFill>
              </a:rPr>
              <a:t>{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kern="0" dirty="0" smtClean="0">
                <a:solidFill>
                  <a:schemeClr val="tx1"/>
                </a:solidFill>
              </a:rPr>
              <a:t>    FILE *</a:t>
            </a:r>
            <a:r>
              <a:rPr lang="en-US" altLang="zh-CN" sz="2000" kern="0" dirty="0" err="1" smtClean="0">
                <a:solidFill>
                  <a:schemeClr val="tx1"/>
                </a:solidFill>
              </a:rPr>
              <a:t>fp</a:t>
            </a:r>
            <a:r>
              <a:rPr lang="en-US" altLang="zh-CN" sz="2000" kern="0" dirty="0" smtClean="0">
                <a:solidFill>
                  <a:schemeClr val="tx1"/>
                </a:solidFill>
              </a:rPr>
              <a:t>;			                     	  /* </a:t>
            </a:r>
            <a:r>
              <a:rPr lang="zh-CN" altLang="en-US" sz="2000" kern="0" dirty="0" smtClean="0">
                <a:solidFill>
                  <a:schemeClr val="tx1"/>
                </a:solidFill>
              </a:rPr>
              <a:t>定义文件指针*</a:t>
            </a:r>
            <a:r>
              <a:rPr lang="en-US" altLang="zh-CN" sz="2000" kern="0" dirty="0" smtClean="0">
                <a:solidFill>
                  <a:schemeClr val="tx1"/>
                </a:solidFill>
              </a:rPr>
              <a:t>/</a:t>
            </a:r>
          </a:p>
          <a:p>
            <a:pPr eaLnBrk="1" hangingPunct="1">
              <a:lnSpc>
                <a:spcPct val="80000"/>
              </a:lnSpc>
              <a:buFont typeface="Webdings" pitchFamily="18" charset="2"/>
              <a:buNone/>
            </a:pPr>
            <a:r>
              <a:rPr lang="en-US" altLang="zh-CN" sz="2000" kern="0" dirty="0" smtClean="0">
                <a:solidFill>
                  <a:schemeClr val="tx1"/>
                </a:solidFill>
              </a:rPr>
              <a:t>    if</a:t>
            </a:r>
            <a:r>
              <a:rPr lang="en-US" altLang="zh-CN" sz="2000" kern="0" dirty="0" smtClean="0">
                <a:solidFill>
                  <a:srgbClr val="FF0000"/>
                </a:solidFill>
              </a:rPr>
              <a:t>( ( </a:t>
            </a:r>
            <a:r>
              <a:rPr lang="en-US" altLang="zh-CN" sz="2000" kern="0" dirty="0" err="1" smtClean="0">
                <a:solidFill>
                  <a:srgbClr val="FF0000"/>
                </a:solidFill>
              </a:rPr>
              <a:t>fp</a:t>
            </a:r>
            <a:r>
              <a:rPr lang="en-US" altLang="zh-CN" sz="2000" kern="0" dirty="0" smtClean="0">
                <a:solidFill>
                  <a:srgbClr val="FF0000"/>
                </a:solidFill>
              </a:rPr>
              <a:t> = </a:t>
            </a:r>
            <a:r>
              <a:rPr lang="en-US" altLang="zh-CN" sz="2000" kern="0" dirty="0" err="1" smtClean="0">
                <a:solidFill>
                  <a:srgbClr val="FF0000"/>
                </a:solidFill>
              </a:rPr>
              <a:t>fopen</a:t>
            </a:r>
            <a:r>
              <a:rPr lang="en-US" altLang="zh-CN" sz="2000" kern="0" dirty="0" smtClean="0">
                <a:solidFill>
                  <a:srgbClr val="FF0000"/>
                </a:solidFill>
              </a:rPr>
              <a:t>("d:\\test.txt", "w") ) == NULL)  </a:t>
            </a:r>
            <a:r>
              <a:rPr lang="en-US" altLang="zh-CN" sz="2000" kern="0" dirty="0" smtClean="0">
                <a:solidFill>
                  <a:schemeClr val="tx1"/>
                </a:solidFill>
              </a:rPr>
              <a:t>/* </a:t>
            </a:r>
            <a:r>
              <a:rPr lang="zh-CN" altLang="en-US" sz="2000" kern="0" dirty="0" smtClean="0">
                <a:solidFill>
                  <a:schemeClr val="tx1"/>
                </a:solidFill>
              </a:rPr>
              <a:t>打开文件 *</a:t>
            </a:r>
            <a:r>
              <a:rPr lang="en-US" altLang="zh-CN" sz="2000" kern="0" dirty="0" smtClean="0">
                <a:solidFill>
                  <a:schemeClr val="tx1"/>
                </a:solidFill>
              </a:rPr>
              <a:t>/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kern="0" dirty="0" smtClean="0">
                <a:solidFill>
                  <a:schemeClr val="tx1"/>
                </a:solidFill>
              </a:rPr>
              <a:t>   {	   	   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kern="0" dirty="0" smtClean="0">
                <a:solidFill>
                  <a:schemeClr val="tx1"/>
                </a:solidFill>
              </a:rPr>
              <a:t>                 printf("File open error!\n");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kern="0" dirty="0" smtClean="0">
                <a:solidFill>
                  <a:schemeClr val="tx1"/>
                </a:solidFill>
              </a:rPr>
              <a:t>   	    exit(0);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kern="0" dirty="0" smtClean="0">
                <a:solidFill>
                  <a:schemeClr val="tx1"/>
                </a:solidFill>
              </a:rPr>
              <a:t>    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kern="0" dirty="0" smtClean="0">
                <a:solidFill>
                  <a:schemeClr val="tx1"/>
                </a:solidFill>
              </a:rPr>
              <a:t>	  </a:t>
            </a:r>
            <a:r>
              <a:rPr lang="en-US" altLang="zh-CN" sz="2000" kern="0" dirty="0" err="1" smtClean="0">
                <a:solidFill>
                  <a:srgbClr val="FF0000"/>
                </a:solidFill>
              </a:rPr>
              <a:t>fprintf</a:t>
            </a:r>
            <a:r>
              <a:rPr lang="en-US" altLang="zh-CN" sz="2000" kern="0" dirty="0" smtClean="0">
                <a:solidFill>
                  <a:srgbClr val="FF0000"/>
                </a:solidFill>
              </a:rPr>
              <a:t>( </a:t>
            </a:r>
            <a:r>
              <a:rPr lang="en-US" altLang="zh-CN" sz="2000" kern="0" dirty="0" err="1" smtClean="0">
                <a:solidFill>
                  <a:srgbClr val="FF0000"/>
                </a:solidFill>
              </a:rPr>
              <a:t>fp</a:t>
            </a:r>
            <a:r>
              <a:rPr lang="en-US" altLang="zh-CN" sz="2000" kern="0" dirty="0" smtClean="0">
                <a:solidFill>
                  <a:srgbClr val="FF0000"/>
                </a:solidFill>
              </a:rPr>
              <a:t>, "%s", "Hello World! " );        </a:t>
            </a:r>
            <a:r>
              <a:rPr lang="en-US" altLang="zh-CN" sz="2000" kern="0" dirty="0" smtClean="0">
                <a:solidFill>
                  <a:schemeClr val="tx1"/>
                </a:solidFill>
              </a:rPr>
              <a:t>	/* </a:t>
            </a:r>
            <a:r>
              <a:rPr lang="zh-CN" altLang="en-US" sz="2000" kern="0" dirty="0" smtClean="0">
                <a:solidFill>
                  <a:schemeClr val="tx1"/>
                </a:solidFill>
              </a:rPr>
              <a:t>写文件 *</a:t>
            </a:r>
            <a:r>
              <a:rPr lang="en-US" altLang="zh-CN" sz="2000" kern="0" dirty="0" smtClean="0">
                <a:solidFill>
                  <a:schemeClr val="tx1"/>
                </a:solidFill>
              </a:rPr>
              <a:t>/   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kern="0" dirty="0" smtClean="0">
                <a:solidFill>
                  <a:schemeClr val="tx1"/>
                </a:solidFill>
              </a:rPr>
              <a:t>   if( </a:t>
            </a:r>
            <a:r>
              <a:rPr lang="en-US" altLang="zh-CN" sz="2000" kern="0" dirty="0" err="1" smtClean="0">
                <a:solidFill>
                  <a:srgbClr val="FF0000"/>
                </a:solidFill>
              </a:rPr>
              <a:t>fclose</a:t>
            </a:r>
            <a:r>
              <a:rPr lang="en-US" altLang="zh-CN" sz="2000" kern="0" dirty="0" smtClean="0">
                <a:solidFill>
                  <a:srgbClr val="FF0000"/>
                </a:solidFill>
              </a:rPr>
              <a:t>( </a:t>
            </a:r>
            <a:r>
              <a:rPr lang="en-US" altLang="zh-CN" sz="2000" kern="0" dirty="0" err="1" smtClean="0">
                <a:solidFill>
                  <a:srgbClr val="FF0000"/>
                </a:solidFill>
              </a:rPr>
              <a:t>fp</a:t>
            </a:r>
            <a:r>
              <a:rPr lang="en-US" altLang="zh-CN" sz="2000" kern="0" dirty="0" smtClean="0">
                <a:solidFill>
                  <a:srgbClr val="FF0000"/>
                </a:solidFill>
              </a:rPr>
              <a:t> ) </a:t>
            </a:r>
            <a:r>
              <a:rPr lang="en-US" altLang="zh-CN" sz="2000" kern="0" dirty="0" smtClean="0">
                <a:solidFill>
                  <a:schemeClr val="tx1"/>
                </a:solidFill>
              </a:rPr>
              <a:t>) </a:t>
            </a:r>
            <a:r>
              <a:rPr lang="en-US" altLang="zh-CN" sz="2000" kern="0" dirty="0" smtClean="0">
                <a:solidFill>
                  <a:schemeClr val="tx1"/>
                </a:solidFill>
              </a:rPr>
              <a:t>                                                 </a:t>
            </a:r>
            <a:r>
              <a:rPr lang="en-US" altLang="zh-CN" sz="2000" kern="0" dirty="0" smtClean="0">
                <a:solidFill>
                  <a:schemeClr val="tx1"/>
                </a:solidFill>
              </a:rPr>
              <a:t>/* </a:t>
            </a:r>
            <a:r>
              <a:rPr lang="zh-CN" altLang="en-US" sz="2000" kern="0" dirty="0" smtClean="0">
                <a:solidFill>
                  <a:schemeClr val="tx1"/>
                </a:solidFill>
              </a:rPr>
              <a:t>关闭文件 *</a:t>
            </a:r>
            <a:r>
              <a:rPr lang="en-US" altLang="zh-CN" sz="2000" kern="0" dirty="0" smtClean="0">
                <a:solidFill>
                  <a:schemeClr val="tx1"/>
                </a:solidFill>
              </a:rPr>
              <a:t>/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kern="0" dirty="0" smtClean="0">
                <a:solidFill>
                  <a:schemeClr val="tx1"/>
                </a:solidFill>
              </a:rPr>
              <a:t>   {			       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kern="0" dirty="0" smtClean="0">
                <a:solidFill>
                  <a:schemeClr val="tx1"/>
                </a:solidFill>
              </a:rPr>
              <a:t>        printf( "Can not close the file!\n" 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kern="0" dirty="0" smtClean="0">
                <a:solidFill>
                  <a:schemeClr val="tx1"/>
                </a:solidFill>
              </a:rPr>
              <a:t>        exit(0);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kern="0" dirty="0" smtClean="0">
                <a:solidFill>
                  <a:schemeClr val="tx1"/>
                </a:solidFill>
              </a:rPr>
              <a:t>    }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kern="0" dirty="0" smtClean="0">
                <a:solidFill>
                  <a:schemeClr val="tx1"/>
                </a:solidFill>
              </a:rPr>
              <a:t>    return 0;</a:t>
            </a: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r>
              <a:rPr lang="en-US" altLang="zh-CN" sz="2000" kern="0" dirty="0" smtClean="0">
                <a:solidFill>
                  <a:schemeClr val="tx1"/>
                </a:solidFill>
              </a:rPr>
              <a:t>} </a:t>
            </a:r>
            <a:endParaRPr lang="zh-CN" altLang="en-US" sz="2000" kern="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935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文件</a:t>
            </a:r>
            <a:r>
              <a:rPr lang="zh-CN" altLang="en-US" dirty="0"/>
              <a:t>的读写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10</a:t>
            </a:fld>
            <a:endParaRPr lang="en-US" altLang="zh-CN" dirty="0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755650" y="1700213"/>
            <a:ext cx="7993063" cy="4537075"/>
          </a:xfrm>
        </p:spPr>
        <p:txBody>
          <a:bodyPr/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读</a:t>
            </a:r>
            <a:r>
              <a:rPr lang="zh-CN" altLang="en-US" dirty="0">
                <a:solidFill>
                  <a:schemeClr val="tx1"/>
                </a:solidFill>
              </a:rPr>
              <a:t>／</a:t>
            </a:r>
            <a:r>
              <a:rPr lang="zh-CN" altLang="en-US" dirty="0" smtClean="0">
                <a:solidFill>
                  <a:schemeClr val="tx1"/>
                </a:solidFill>
              </a:rPr>
              <a:t>写文本文件</a:t>
            </a:r>
            <a:endParaRPr lang="en-US" altLang="zh-CN" dirty="0" smtClean="0">
              <a:solidFill>
                <a:schemeClr val="tx1"/>
              </a:solidFill>
            </a:endParaRP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字符读写函数</a:t>
            </a:r>
            <a:r>
              <a:rPr lang="en-US" altLang="zh-CN" dirty="0">
                <a:solidFill>
                  <a:schemeClr val="tx1"/>
                </a:solidFill>
              </a:rPr>
              <a:t>: </a:t>
            </a:r>
            <a:r>
              <a:rPr lang="en-US" altLang="zh-CN" dirty="0" smtClean="0">
                <a:solidFill>
                  <a:schemeClr val="tx1"/>
                </a:solidFill>
              </a:rPr>
              <a:t>     </a:t>
            </a:r>
            <a:r>
              <a:rPr lang="en-US" altLang="zh-CN" dirty="0" err="1" smtClean="0">
                <a:solidFill>
                  <a:schemeClr val="tx1"/>
                </a:solidFill>
              </a:rPr>
              <a:t>fgetc</a:t>
            </a:r>
            <a:r>
              <a:rPr lang="en-US" altLang="zh-CN" dirty="0">
                <a:solidFill>
                  <a:schemeClr val="tx1"/>
                </a:solidFill>
              </a:rPr>
              <a:t>() / fputc()</a:t>
            </a: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字符串读写函数</a:t>
            </a:r>
            <a:r>
              <a:rPr lang="zh-CN" altLang="en-US" dirty="0" smtClean="0">
                <a:solidFill>
                  <a:schemeClr val="tx1"/>
                </a:solidFill>
              </a:rPr>
              <a:t>：</a:t>
            </a:r>
            <a:r>
              <a:rPr lang="en-US" altLang="zh-CN" dirty="0" err="1">
                <a:solidFill>
                  <a:schemeClr val="tx1"/>
                </a:solidFill>
              </a:rPr>
              <a:t>fgets</a:t>
            </a:r>
            <a:r>
              <a:rPr lang="en-US" altLang="zh-CN" dirty="0">
                <a:solidFill>
                  <a:schemeClr val="tx1"/>
                </a:solidFill>
              </a:rPr>
              <a:t>() / </a:t>
            </a:r>
            <a:r>
              <a:rPr lang="en-US" altLang="zh-CN" dirty="0" err="1" smtClean="0">
                <a:solidFill>
                  <a:schemeClr val="tx1"/>
                </a:solidFill>
              </a:rPr>
              <a:t>fputs</a:t>
            </a:r>
            <a:r>
              <a:rPr lang="en-US" altLang="zh-CN" dirty="0">
                <a:solidFill>
                  <a:schemeClr val="tx1"/>
                </a:solidFill>
              </a:rPr>
              <a:t>() </a:t>
            </a:r>
          </a:p>
          <a:p>
            <a:pPr lvl="1"/>
            <a:r>
              <a:rPr lang="zh-CN" altLang="en-US" dirty="0">
                <a:solidFill>
                  <a:schemeClr val="tx1"/>
                </a:solidFill>
              </a:rPr>
              <a:t>格式化读写函数：</a:t>
            </a:r>
            <a:r>
              <a:rPr lang="en-US" altLang="zh-CN" dirty="0">
                <a:solidFill>
                  <a:schemeClr val="tx1"/>
                </a:solidFill>
              </a:rPr>
              <a:t>fscanf() / fprintf()</a:t>
            </a:r>
            <a:endParaRPr lang="en-US" altLang="zh-CN" dirty="0" smtClean="0">
              <a:solidFill>
                <a:schemeClr val="tx1"/>
              </a:solidFill>
            </a:endParaRPr>
          </a:p>
          <a:p>
            <a:r>
              <a:rPr lang="zh-CN" altLang="zh-CN" dirty="0">
                <a:solidFill>
                  <a:schemeClr val="tx1"/>
                </a:solidFill>
                <a:effectLst/>
              </a:rPr>
              <a:t>读／写二进制</a:t>
            </a:r>
            <a:r>
              <a:rPr lang="zh-CN" altLang="zh-CN" dirty="0" smtClean="0">
                <a:solidFill>
                  <a:schemeClr val="tx1"/>
                </a:solidFill>
                <a:effectLst/>
              </a:rPr>
              <a:t>文件</a:t>
            </a:r>
            <a:endParaRPr lang="en-US" altLang="zh-CN" dirty="0">
              <a:solidFill>
                <a:schemeClr val="tx1"/>
              </a:solidFill>
            </a:endParaRPr>
          </a:p>
          <a:p>
            <a:pPr lvl="1"/>
            <a:r>
              <a:rPr lang="zh-CN" altLang="en-US" dirty="0" smtClean="0">
                <a:solidFill>
                  <a:schemeClr val="tx1"/>
                </a:solidFill>
                <a:effectLst/>
              </a:rPr>
              <a:t>块读写函数：</a:t>
            </a:r>
            <a:r>
              <a:rPr lang="en-US" altLang="zh-CN" dirty="0" err="1">
                <a:solidFill>
                  <a:schemeClr val="tx1"/>
                </a:solidFill>
                <a:effectLst/>
              </a:rPr>
              <a:t>fread</a:t>
            </a:r>
            <a:r>
              <a:rPr lang="en-US" altLang="zh-CN" dirty="0" smtClean="0">
                <a:solidFill>
                  <a:schemeClr val="tx1"/>
                </a:solidFill>
                <a:effectLst/>
              </a:rPr>
              <a:t>()/</a:t>
            </a:r>
            <a:r>
              <a:rPr lang="en-US" altLang="zh-CN" dirty="0" err="1" smtClean="0">
                <a:solidFill>
                  <a:schemeClr val="tx1"/>
                </a:solidFill>
                <a:effectLst/>
              </a:rPr>
              <a:t>fwrite</a:t>
            </a:r>
            <a:r>
              <a:rPr lang="en-US" altLang="zh-CN" dirty="0" smtClean="0">
                <a:solidFill>
                  <a:schemeClr val="tx1"/>
                </a:solidFill>
                <a:effectLst/>
              </a:rPr>
              <a:t>()</a:t>
            </a:r>
          </a:p>
          <a:p>
            <a:r>
              <a:rPr lang="zh-CN" altLang="en-US" dirty="0">
                <a:solidFill>
                  <a:schemeClr val="tx1"/>
                </a:solidFill>
                <a:effectLst/>
              </a:rPr>
              <a:t>判断文件指针是否到达文件末尾</a:t>
            </a:r>
            <a:endParaRPr lang="en-US" altLang="zh-CN" dirty="0">
              <a:solidFill>
                <a:schemeClr val="tx1"/>
              </a:solidFill>
              <a:effectLst/>
            </a:endParaRPr>
          </a:p>
          <a:p>
            <a:pPr lvl="1"/>
            <a:r>
              <a:rPr lang="en-US" altLang="zh-CN" dirty="0" err="1" smtClean="0">
                <a:solidFill>
                  <a:schemeClr val="tx1"/>
                </a:solidFill>
                <a:effectLst/>
              </a:rPr>
              <a:t>feof</a:t>
            </a:r>
            <a:r>
              <a:rPr lang="en-US" altLang="zh-CN" dirty="0" smtClean="0">
                <a:solidFill>
                  <a:schemeClr val="tx1"/>
                </a:solidFill>
                <a:effectLst/>
              </a:rPr>
              <a:t>()</a:t>
            </a:r>
            <a:endParaRPr lang="zh-CN" altLang="zh-CN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99984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文件</a:t>
            </a:r>
            <a:r>
              <a:rPr lang="zh-CN" altLang="en-US" dirty="0"/>
              <a:t>的读写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11</a:t>
            </a:fld>
            <a:endParaRPr lang="en-US" altLang="zh-CN" dirty="0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671514" y="1700213"/>
            <a:ext cx="8077200" cy="4537075"/>
          </a:xfrm>
        </p:spPr>
        <p:txBody>
          <a:bodyPr/>
          <a:lstStyle/>
          <a:p>
            <a:r>
              <a:rPr lang="zh-CN" altLang="en-US" dirty="0" smtClean="0">
                <a:solidFill>
                  <a:schemeClr val="tx1"/>
                </a:solidFill>
              </a:rPr>
              <a:t>字符</a:t>
            </a:r>
            <a:r>
              <a:rPr lang="zh-CN" altLang="en-US" dirty="0">
                <a:solidFill>
                  <a:schemeClr val="tx1"/>
                </a:solidFill>
              </a:rPr>
              <a:t>读写函数</a:t>
            </a:r>
            <a:r>
              <a:rPr lang="en-US" altLang="zh-CN" dirty="0">
                <a:solidFill>
                  <a:schemeClr val="tx1"/>
                </a:solidFill>
              </a:rPr>
              <a:t>: fgetc() / fputc()</a:t>
            </a:r>
          </a:p>
          <a:p>
            <a:pPr lvl="1"/>
            <a:r>
              <a:rPr lang="zh-CN" altLang="zh-CN" sz="2800" dirty="0">
                <a:solidFill>
                  <a:schemeClr val="tx1"/>
                </a:solidFill>
                <a:effectLst/>
              </a:rPr>
              <a:t>函数调用</a:t>
            </a:r>
            <a:r>
              <a:rPr lang="zh-CN" altLang="zh-CN" sz="2800" dirty="0" smtClean="0">
                <a:solidFill>
                  <a:schemeClr val="tx1"/>
                </a:solidFill>
                <a:effectLst/>
              </a:rPr>
              <a:t>形式</a:t>
            </a:r>
            <a:endParaRPr lang="en-US" altLang="zh-CN" sz="2800" dirty="0" smtClean="0">
              <a:solidFill>
                <a:schemeClr val="tx1"/>
              </a:solidFill>
              <a:effectLst/>
            </a:endParaRPr>
          </a:p>
          <a:p>
            <a:pPr lvl="2"/>
            <a:r>
              <a:rPr lang="en-US" altLang="zh-CN" sz="2800" dirty="0" err="1" smtClean="0">
                <a:solidFill>
                  <a:schemeClr val="tx1"/>
                </a:solidFill>
                <a:effectLst/>
              </a:rPr>
              <a:t>ch</a:t>
            </a:r>
            <a:r>
              <a:rPr lang="en-US" altLang="zh-CN" sz="2800" dirty="0">
                <a:solidFill>
                  <a:schemeClr val="tx1"/>
                </a:solidFill>
                <a:effectLst/>
              </a:rPr>
              <a:t>= </a:t>
            </a:r>
            <a:r>
              <a:rPr lang="en-US" altLang="zh-CN" sz="2800" dirty="0" err="1">
                <a:solidFill>
                  <a:schemeClr val="tx1"/>
                </a:solidFill>
                <a:effectLst/>
              </a:rPr>
              <a:t>fgetc</a:t>
            </a:r>
            <a:r>
              <a:rPr lang="en-US" altLang="zh-CN" sz="2800" dirty="0">
                <a:solidFill>
                  <a:schemeClr val="tx1"/>
                </a:solidFill>
                <a:effectLst/>
              </a:rPr>
              <a:t>(</a:t>
            </a:r>
            <a:r>
              <a:rPr lang="en-US" altLang="zh-CN" sz="2800" dirty="0" err="1">
                <a:solidFill>
                  <a:schemeClr val="tx1"/>
                </a:solidFill>
                <a:effectLst/>
              </a:rPr>
              <a:t>fp</a:t>
            </a:r>
            <a:r>
              <a:rPr lang="en-US" altLang="zh-CN" sz="2800" dirty="0" smtClean="0">
                <a:solidFill>
                  <a:schemeClr val="tx1"/>
                </a:solidFill>
                <a:effectLst/>
              </a:rPr>
              <a:t>);</a:t>
            </a:r>
          </a:p>
          <a:p>
            <a:pPr marL="895350" lvl="3" indent="-173038"/>
            <a:r>
              <a:rPr lang="zh-CN" altLang="en-US" sz="2400" dirty="0" smtClean="0">
                <a:solidFill>
                  <a:schemeClr val="tx1"/>
                </a:solidFill>
                <a:effectLst/>
              </a:rPr>
              <a:t>从文件指针</a:t>
            </a:r>
            <a:r>
              <a:rPr lang="en-US" altLang="zh-CN" sz="2400" dirty="0" err="1" smtClean="0">
                <a:solidFill>
                  <a:schemeClr val="tx1"/>
                </a:solidFill>
                <a:effectLst/>
              </a:rPr>
              <a:t>fp</a:t>
            </a:r>
            <a:r>
              <a:rPr lang="zh-CN" altLang="en-US" sz="2400" dirty="0" smtClean="0">
                <a:solidFill>
                  <a:schemeClr val="tx1"/>
                </a:solidFill>
                <a:effectLst/>
              </a:rPr>
              <a:t>所指向的文件的当前位置读入一个字符</a:t>
            </a:r>
            <a:endParaRPr lang="en-US" altLang="zh-CN" sz="2400" dirty="0" smtClean="0">
              <a:solidFill>
                <a:schemeClr val="tx1"/>
              </a:solidFill>
              <a:effectLst/>
            </a:endParaRPr>
          </a:p>
          <a:p>
            <a:pPr lvl="2"/>
            <a:r>
              <a:rPr lang="en-US" altLang="zh-CN" sz="2800" dirty="0" err="1" smtClean="0">
                <a:solidFill>
                  <a:schemeClr val="tx1"/>
                </a:solidFill>
                <a:effectLst/>
              </a:rPr>
              <a:t>fputc</a:t>
            </a:r>
            <a:r>
              <a:rPr lang="en-US" altLang="zh-CN" sz="2800" dirty="0" smtClean="0">
                <a:solidFill>
                  <a:schemeClr val="tx1"/>
                </a:solidFill>
                <a:effectLst/>
              </a:rPr>
              <a:t>(</a:t>
            </a:r>
            <a:r>
              <a:rPr lang="en-US" altLang="zh-CN" sz="2800" dirty="0" err="1" smtClean="0">
                <a:solidFill>
                  <a:schemeClr val="tx1"/>
                </a:solidFill>
                <a:effectLst/>
              </a:rPr>
              <a:t>ch,fp</a:t>
            </a:r>
            <a:r>
              <a:rPr lang="en-US" altLang="zh-CN" sz="2800" dirty="0" smtClean="0">
                <a:solidFill>
                  <a:schemeClr val="tx1"/>
                </a:solidFill>
                <a:effectLst/>
              </a:rPr>
              <a:t>);</a:t>
            </a:r>
          </a:p>
          <a:p>
            <a:pPr marL="895350" lvl="3" indent="-173038"/>
            <a:r>
              <a:rPr lang="zh-CN" altLang="en-US" sz="2400" dirty="0">
                <a:solidFill>
                  <a:schemeClr val="tx1"/>
                </a:solidFill>
                <a:effectLst/>
              </a:rPr>
              <a:t>把字符</a:t>
            </a:r>
            <a:r>
              <a:rPr lang="en-US" altLang="zh-CN" sz="2400" dirty="0" err="1">
                <a:solidFill>
                  <a:schemeClr val="tx1"/>
                </a:solidFill>
                <a:effectLst/>
              </a:rPr>
              <a:t>ch</a:t>
            </a:r>
            <a:r>
              <a:rPr lang="zh-CN" altLang="en-US" sz="2400" dirty="0">
                <a:solidFill>
                  <a:schemeClr val="tx1"/>
                </a:solidFill>
                <a:effectLst/>
              </a:rPr>
              <a:t>写到文件指针变量</a:t>
            </a:r>
            <a:r>
              <a:rPr lang="en-US" altLang="zh-CN" sz="2400" dirty="0" err="1">
                <a:solidFill>
                  <a:schemeClr val="tx1"/>
                </a:solidFill>
                <a:effectLst/>
              </a:rPr>
              <a:t>fp</a:t>
            </a:r>
            <a:r>
              <a:rPr lang="zh-CN" altLang="en-US" sz="2400" dirty="0">
                <a:solidFill>
                  <a:schemeClr val="tx1"/>
                </a:solidFill>
                <a:effectLst/>
              </a:rPr>
              <a:t>所指向的文件</a:t>
            </a:r>
            <a:r>
              <a:rPr lang="zh-CN" altLang="en-US" sz="2400" dirty="0" smtClean="0">
                <a:solidFill>
                  <a:schemeClr val="tx1"/>
                </a:solidFill>
                <a:effectLst/>
              </a:rPr>
              <a:t>中</a:t>
            </a:r>
            <a:endParaRPr lang="en-US" altLang="zh-CN" sz="2400" dirty="0" smtClean="0">
              <a:solidFill>
                <a:schemeClr val="tx1"/>
              </a:solidFill>
              <a:effectLst/>
            </a:endParaRPr>
          </a:p>
          <a:p>
            <a:pPr marL="895350" lvl="3" indent="-173038"/>
            <a:r>
              <a:rPr lang="en-US" altLang="zh-CN" sz="2400" dirty="0" err="1">
                <a:solidFill>
                  <a:schemeClr val="tx1"/>
                </a:solidFill>
              </a:rPr>
              <a:t>fputc</a:t>
            </a:r>
            <a:r>
              <a:rPr lang="en-US" altLang="zh-CN" sz="2400" dirty="0">
                <a:solidFill>
                  <a:schemeClr val="tx1"/>
                </a:solidFill>
              </a:rPr>
              <a:t>(‘A’,</a:t>
            </a:r>
            <a:r>
              <a:rPr lang="en-US" altLang="zh-CN" sz="2400" dirty="0" err="1">
                <a:solidFill>
                  <a:schemeClr val="tx1"/>
                </a:solidFill>
              </a:rPr>
              <a:t>fp</a:t>
            </a:r>
            <a:r>
              <a:rPr lang="en-US" altLang="zh-CN" sz="2400" dirty="0">
                <a:solidFill>
                  <a:schemeClr val="tx1"/>
                </a:solidFill>
              </a:rPr>
              <a:t>);</a:t>
            </a:r>
            <a:endParaRPr lang="zh-CN" altLang="zh-CN" sz="240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15131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6636351-7D5B-47CE-B54D-C31E7589E5E2}" type="slidenum">
              <a:rPr lang="en-US" altLang="zh-CN" smtClean="0"/>
              <a:pPr>
                <a:defRPr/>
              </a:pPr>
              <a:t>12</a:t>
            </a:fld>
            <a:endParaRPr lang="en-US" altLang="zh-CN" dirty="0"/>
          </a:p>
        </p:txBody>
      </p:sp>
      <p:sp>
        <p:nvSpPr>
          <p:cNvPr id="4" name="矩形 3"/>
          <p:cNvSpPr/>
          <p:nvPr/>
        </p:nvSpPr>
        <p:spPr>
          <a:xfrm>
            <a:off x="1043608" y="267692"/>
            <a:ext cx="6192688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800" b="1" dirty="0"/>
              <a:t>#include &lt;stdio.h&gt;</a:t>
            </a:r>
          </a:p>
          <a:p>
            <a:r>
              <a:rPr lang="zh-CN" altLang="en-US" sz="1800" b="1" dirty="0"/>
              <a:t>#include &lt;stdlib.h&gt;</a:t>
            </a:r>
          </a:p>
          <a:p>
            <a:r>
              <a:rPr lang="zh-CN" altLang="en-US" sz="1800" b="1" dirty="0"/>
              <a:t>int main()</a:t>
            </a:r>
          </a:p>
          <a:p>
            <a:r>
              <a:rPr lang="zh-CN" altLang="en-US" sz="1800" b="1" dirty="0"/>
              <a:t>{</a:t>
            </a:r>
          </a:p>
          <a:p>
            <a:r>
              <a:rPr lang="zh-CN" altLang="en-US" sz="1800" b="1" dirty="0"/>
              <a:t>    </a:t>
            </a:r>
            <a:r>
              <a:rPr lang="zh-CN" altLang="en-US" sz="1800" b="1" dirty="0">
                <a:solidFill>
                  <a:srgbClr val="FF0000"/>
                </a:solidFill>
              </a:rPr>
              <a:t>FILE *fp;</a:t>
            </a:r>
          </a:p>
          <a:p>
            <a:r>
              <a:rPr lang="zh-CN" altLang="en-US" sz="1800" b="1" dirty="0"/>
              <a:t>    char ch;</a:t>
            </a:r>
          </a:p>
          <a:p>
            <a:r>
              <a:rPr lang="zh-CN" altLang="en-US" sz="1800" b="1" dirty="0"/>
              <a:t>    fp=</a:t>
            </a:r>
            <a:r>
              <a:rPr lang="zh-CN" altLang="en-US" sz="1800" b="1" dirty="0">
                <a:solidFill>
                  <a:srgbClr val="FF0000"/>
                </a:solidFill>
              </a:rPr>
              <a:t>fopen("d:\\test1.txt","w");</a:t>
            </a:r>
          </a:p>
          <a:p>
            <a:r>
              <a:rPr lang="zh-CN" altLang="en-US" sz="1800" b="1" dirty="0"/>
              <a:t>    while((ch=getchar())!='\n')</a:t>
            </a:r>
          </a:p>
          <a:p>
            <a:r>
              <a:rPr lang="zh-CN" altLang="en-US" sz="1800" b="1" dirty="0">
                <a:solidFill>
                  <a:srgbClr val="FF0000"/>
                </a:solidFill>
              </a:rPr>
              <a:t>        fputc(ch,fp);</a:t>
            </a:r>
          </a:p>
          <a:p>
            <a:r>
              <a:rPr lang="zh-CN" altLang="en-US" sz="1800" b="1" dirty="0"/>
              <a:t>    </a:t>
            </a:r>
            <a:r>
              <a:rPr lang="zh-CN" altLang="en-US" sz="1800" b="1" dirty="0">
                <a:solidFill>
                  <a:srgbClr val="FF0000"/>
                </a:solidFill>
              </a:rPr>
              <a:t>fclose(fp);</a:t>
            </a:r>
          </a:p>
          <a:p>
            <a:r>
              <a:rPr lang="zh-CN" altLang="en-US" sz="1800" b="1" dirty="0"/>
              <a:t>    if</a:t>
            </a:r>
            <a:r>
              <a:rPr lang="zh-CN" altLang="en-US" sz="1800" b="1" dirty="0">
                <a:solidFill>
                  <a:srgbClr val="FF0000"/>
                </a:solidFill>
              </a:rPr>
              <a:t>((fp=fopen("d:\\test1.txt","r"))!=NULL</a:t>
            </a:r>
            <a:r>
              <a:rPr lang="zh-CN" altLang="en-US" sz="1800" b="1" dirty="0"/>
              <a:t>)</a:t>
            </a:r>
          </a:p>
          <a:p>
            <a:r>
              <a:rPr lang="zh-CN" altLang="en-US" sz="1800" b="1" dirty="0"/>
              <a:t>       printf("File Open Success!\n");</a:t>
            </a:r>
          </a:p>
          <a:p>
            <a:r>
              <a:rPr lang="zh-CN" altLang="en-US" sz="1800" b="1" dirty="0"/>
              <a:t>    else{</a:t>
            </a:r>
          </a:p>
          <a:p>
            <a:r>
              <a:rPr lang="zh-CN" altLang="en-US" sz="1800" b="1" dirty="0"/>
              <a:t>        printf("File Open Failure!\n");</a:t>
            </a:r>
          </a:p>
          <a:p>
            <a:r>
              <a:rPr lang="zh-CN" altLang="en-US" sz="1800" b="1" dirty="0"/>
              <a:t>        exit(0);</a:t>
            </a:r>
          </a:p>
          <a:p>
            <a:r>
              <a:rPr lang="zh-CN" altLang="en-US" sz="1800" b="1" dirty="0"/>
              <a:t>    }</a:t>
            </a:r>
          </a:p>
          <a:p>
            <a:r>
              <a:rPr lang="zh-CN" altLang="en-US" sz="1800" b="1" dirty="0"/>
              <a:t>    while(</a:t>
            </a:r>
            <a:r>
              <a:rPr lang="zh-CN" altLang="en-US" sz="1800" b="1" dirty="0">
                <a:solidFill>
                  <a:srgbClr val="FF0000"/>
                </a:solidFill>
              </a:rPr>
              <a:t>!feof(fp)</a:t>
            </a:r>
            <a:r>
              <a:rPr lang="zh-CN" altLang="en-US" sz="1800" b="1" dirty="0"/>
              <a:t>){</a:t>
            </a:r>
          </a:p>
          <a:p>
            <a:r>
              <a:rPr lang="zh-CN" altLang="en-US" sz="1800" b="1" dirty="0"/>
              <a:t>        ch=</a:t>
            </a:r>
            <a:r>
              <a:rPr lang="zh-CN" altLang="en-US" sz="1800" b="1" dirty="0">
                <a:solidFill>
                  <a:srgbClr val="FF0000"/>
                </a:solidFill>
              </a:rPr>
              <a:t>fgetc(fp);</a:t>
            </a:r>
          </a:p>
          <a:p>
            <a:r>
              <a:rPr lang="zh-CN" altLang="en-US" sz="1800" b="1" dirty="0"/>
              <a:t>        putchar(ch);</a:t>
            </a:r>
          </a:p>
          <a:p>
            <a:r>
              <a:rPr lang="zh-CN" altLang="en-US" sz="1800" b="1" dirty="0"/>
              <a:t>    }</a:t>
            </a:r>
          </a:p>
          <a:p>
            <a:r>
              <a:rPr lang="zh-CN" altLang="en-US" sz="1800" b="1" dirty="0"/>
              <a:t>    </a:t>
            </a:r>
            <a:r>
              <a:rPr lang="zh-CN" altLang="en-US" sz="1800" b="1" dirty="0">
                <a:solidFill>
                  <a:srgbClr val="FF0000"/>
                </a:solidFill>
              </a:rPr>
              <a:t>fclose(fp);</a:t>
            </a:r>
          </a:p>
          <a:p>
            <a:r>
              <a:rPr lang="zh-CN" altLang="en-US" sz="1800" b="1" dirty="0"/>
              <a:t>    return 0;</a:t>
            </a:r>
          </a:p>
          <a:p>
            <a:r>
              <a:rPr lang="zh-CN" altLang="en-US" sz="18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325682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文件</a:t>
            </a:r>
            <a:r>
              <a:rPr lang="zh-CN" altLang="en-US" dirty="0"/>
              <a:t>的读写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13</a:t>
            </a:fld>
            <a:endParaRPr lang="en-US" altLang="zh-CN" dirty="0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755650" y="1700213"/>
            <a:ext cx="7993063" cy="453707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字符串读写函数：</a:t>
            </a:r>
            <a:r>
              <a:rPr lang="en-US" altLang="zh-CN" dirty="0" err="1">
                <a:solidFill>
                  <a:schemeClr val="tx1"/>
                </a:solidFill>
              </a:rPr>
              <a:t>fgets</a:t>
            </a:r>
            <a:r>
              <a:rPr lang="en-US" altLang="zh-CN" dirty="0">
                <a:solidFill>
                  <a:schemeClr val="tx1"/>
                </a:solidFill>
              </a:rPr>
              <a:t>() / </a:t>
            </a:r>
            <a:r>
              <a:rPr lang="en-US" altLang="zh-CN" dirty="0" err="1">
                <a:solidFill>
                  <a:schemeClr val="tx1"/>
                </a:solidFill>
              </a:rPr>
              <a:t>fputs</a:t>
            </a:r>
            <a:r>
              <a:rPr lang="en-US" altLang="zh-CN" dirty="0" smtClean="0">
                <a:solidFill>
                  <a:schemeClr val="tx1"/>
                </a:solidFill>
              </a:rPr>
              <a:t>()</a:t>
            </a:r>
          </a:p>
          <a:p>
            <a:pPr lvl="1"/>
            <a:r>
              <a:rPr lang="zh-CN" altLang="zh-CN" sz="2800" dirty="0" smtClean="0">
                <a:solidFill>
                  <a:schemeClr val="tx1"/>
                </a:solidFill>
                <a:effectLst/>
              </a:rPr>
              <a:t>函数</a:t>
            </a:r>
            <a:r>
              <a:rPr lang="zh-CN" altLang="zh-CN" sz="2800" dirty="0">
                <a:solidFill>
                  <a:schemeClr val="tx1"/>
                </a:solidFill>
                <a:effectLst/>
              </a:rPr>
              <a:t>调用</a:t>
            </a:r>
            <a:r>
              <a:rPr lang="zh-CN" altLang="zh-CN" sz="2800" dirty="0" smtClean="0">
                <a:solidFill>
                  <a:schemeClr val="tx1"/>
                </a:solidFill>
                <a:effectLst/>
              </a:rPr>
              <a:t>形式</a:t>
            </a:r>
            <a:endParaRPr lang="en-US" altLang="zh-CN" sz="2800" dirty="0" smtClean="0">
              <a:solidFill>
                <a:schemeClr val="tx1"/>
              </a:solidFill>
              <a:effectLst/>
            </a:endParaRPr>
          </a:p>
          <a:p>
            <a:pPr lvl="2">
              <a:lnSpc>
                <a:spcPct val="100000"/>
              </a:lnSpc>
            </a:pPr>
            <a:r>
              <a:rPr lang="en-US" altLang="zh-CN" sz="2800" dirty="0" err="1">
                <a:solidFill>
                  <a:schemeClr val="tx1"/>
                </a:solidFill>
                <a:effectLst/>
              </a:rPr>
              <a:t>fgets</a:t>
            </a:r>
            <a:r>
              <a:rPr lang="en-US" altLang="zh-CN" sz="2800" dirty="0">
                <a:solidFill>
                  <a:schemeClr val="tx1"/>
                </a:solidFill>
                <a:effectLst/>
              </a:rPr>
              <a:t> (</a:t>
            </a:r>
            <a:r>
              <a:rPr lang="en-US" altLang="zh-CN" sz="2800" dirty="0" err="1">
                <a:solidFill>
                  <a:schemeClr val="tx1"/>
                </a:solidFill>
                <a:effectLst/>
              </a:rPr>
              <a:t>str,n,fp</a:t>
            </a:r>
            <a:r>
              <a:rPr lang="en-US" altLang="zh-CN" sz="2800" dirty="0" smtClean="0">
                <a:solidFill>
                  <a:schemeClr val="tx1"/>
                </a:solidFill>
                <a:effectLst/>
              </a:rPr>
              <a:t>);</a:t>
            </a:r>
          </a:p>
          <a:p>
            <a:pPr lvl="3">
              <a:lnSpc>
                <a:spcPct val="100000"/>
              </a:lnSpc>
            </a:pPr>
            <a:r>
              <a:rPr lang="zh-CN" altLang="en-US" sz="2400" dirty="0">
                <a:solidFill>
                  <a:schemeClr val="tx1"/>
                </a:solidFill>
                <a:effectLst/>
              </a:rPr>
              <a:t>从文件指针</a:t>
            </a:r>
            <a:r>
              <a:rPr lang="en-US" altLang="zh-CN" sz="2400" dirty="0" err="1">
                <a:solidFill>
                  <a:schemeClr val="tx1"/>
                </a:solidFill>
                <a:effectLst/>
              </a:rPr>
              <a:t>fp</a:t>
            </a:r>
            <a:r>
              <a:rPr lang="zh-CN" altLang="en-US" sz="2400" dirty="0">
                <a:solidFill>
                  <a:schemeClr val="tx1"/>
                </a:solidFill>
                <a:effectLst/>
              </a:rPr>
              <a:t>所指向的文件的当前位置读入一个长度为</a:t>
            </a:r>
            <a:r>
              <a:rPr lang="en-US" altLang="zh-CN" sz="2400" dirty="0">
                <a:solidFill>
                  <a:schemeClr val="tx1"/>
                </a:solidFill>
                <a:effectLst/>
              </a:rPr>
              <a:t>n-1</a:t>
            </a:r>
            <a:r>
              <a:rPr lang="zh-CN" altLang="en-US" sz="2400" dirty="0">
                <a:solidFill>
                  <a:schemeClr val="tx1"/>
                </a:solidFill>
                <a:effectLst/>
              </a:rPr>
              <a:t>的字符串，存放到字符数组</a:t>
            </a:r>
            <a:r>
              <a:rPr lang="en-US" altLang="zh-CN" sz="2400" dirty="0" err="1">
                <a:solidFill>
                  <a:schemeClr val="tx1"/>
                </a:solidFill>
                <a:effectLst/>
              </a:rPr>
              <a:t>str</a:t>
            </a:r>
            <a:endParaRPr lang="en-US" altLang="zh-CN" sz="2400" dirty="0">
              <a:solidFill>
                <a:schemeClr val="tx1"/>
              </a:solidFill>
              <a:effectLst/>
            </a:endParaRPr>
          </a:p>
          <a:p>
            <a:pPr lvl="2"/>
            <a:r>
              <a:rPr lang="en-US" altLang="zh-CN" sz="2800" dirty="0" err="1" smtClean="0">
                <a:solidFill>
                  <a:schemeClr val="tx1"/>
                </a:solidFill>
                <a:effectLst/>
              </a:rPr>
              <a:t>fputs</a:t>
            </a:r>
            <a:r>
              <a:rPr lang="en-US" altLang="zh-CN" sz="2800" dirty="0" smtClean="0">
                <a:solidFill>
                  <a:schemeClr val="tx1"/>
                </a:solidFill>
                <a:effectLst/>
              </a:rPr>
              <a:t> (</a:t>
            </a:r>
            <a:r>
              <a:rPr lang="en-US" altLang="zh-CN" sz="2800" dirty="0" err="1" smtClean="0">
                <a:solidFill>
                  <a:schemeClr val="tx1"/>
                </a:solidFill>
                <a:effectLst/>
              </a:rPr>
              <a:t>str,fp</a:t>
            </a:r>
            <a:r>
              <a:rPr lang="en-US" altLang="zh-CN" sz="2800" dirty="0" smtClean="0">
                <a:solidFill>
                  <a:schemeClr val="tx1"/>
                </a:solidFill>
                <a:effectLst/>
              </a:rPr>
              <a:t>);</a:t>
            </a:r>
          </a:p>
          <a:p>
            <a:pPr lvl="3"/>
            <a:r>
              <a:rPr lang="zh-CN" altLang="en-US" sz="2400" dirty="0">
                <a:solidFill>
                  <a:schemeClr val="tx1"/>
                </a:solidFill>
                <a:effectLst/>
              </a:rPr>
              <a:t>从字符串</a:t>
            </a:r>
            <a:r>
              <a:rPr lang="en-US" altLang="zh-CN" sz="2400" dirty="0" err="1">
                <a:solidFill>
                  <a:schemeClr val="tx1"/>
                </a:solidFill>
                <a:effectLst/>
              </a:rPr>
              <a:t>str</a:t>
            </a:r>
            <a:r>
              <a:rPr lang="zh-CN" altLang="en-US" sz="2400" dirty="0">
                <a:solidFill>
                  <a:schemeClr val="tx1"/>
                </a:solidFill>
                <a:effectLst/>
              </a:rPr>
              <a:t>写入到文件指针</a:t>
            </a:r>
            <a:r>
              <a:rPr lang="en-US" altLang="zh-CN" sz="2400" dirty="0" err="1">
                <a:solidFill>
                  <a:schemeClr val="tx1"/>
                </a:solidFill>
                <a:effectLst/>
              </a:rPr>
              <a:t>fp</a:t>
            </a:r>
            <a:r>
              <a:rPr lang="zh-CN" altLang="en-US" sz="2400" dirty="0">
                <a:solidFill>
                  <a:schemeClr val="tx1"/>
                </a:solidFill>
                <a:effectLst/>
              </a:rPr>
              <a:t>所指向的文件</a:t>
            </a:r>
            <a:r>
              <a:rPr lang="zh-CN" altLang="en-US" sz="2400" dirty="0" smtClean="0">
                <a:solidFill>
                  <a:schemeClr val="tx1"/>
                </a:solidFill>
                <a:effectLst/>
              </a:rPr>
              <a:t>中</a:t>
            </a:r>
            <a:endParaRPr lang="en-US" altLang="zh-CN" sz="240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040875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6636351-7D5B-47CE-B54D-C31E7589E5E2}" type="slidenum">
              <a:rPr lang="en-US" altLang="zh-CN" smtClean="0"/>
              <a:pPr>
                <a:defRPr/>
              </a:pPr>
              <a:t>14</a:t>
            </a:fld>
            <a:endParaRPr lang="en-US" altLang="zh-CN" dirty="0"/>
          </a:p>
        </p:txBody>
      </p:sp>
      <p:sp>
        <p:nvSpPr>
          <p:cNvPr id="3" name="矩形 2"/>
          <p:cNvSpPr/>
          <p:nvPr/>
        </p:nvSpPr>
        <p:spPr>
          <a:xfrm>
            <a:off x="827584" y="764704"/>
            <a:ext cx="770485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#include &lt;stdio.h</a:t>
            </a:r>
            <a:r>
              <a:rPr lang="zh-CN" altLang="en-US" sz="2400" b="1" dirty="0" smtClean="0"/>
              <a:t>&gt;</a:t>
            </a:r>
            <a:endParaRPr lang="en-US" altLang="zh-CN" sz="2400" b="1" dirty="0" smtClean="0"/>
          </a:p>
          <a:p>
            <a:r>
              <a:rPr lang="en-US" altLang="zh-CN" sz="2400" b="1" dirty="0"/>
              <a:t>#include &lt;</a:t>
            </a:r>
            <a:r>
              <a:rPr lang="en-US" altLang="zh-CN" sz="2400" b="1" dirty="0" err="1"/>
              <a:t>string.h</a:t>
            </a:r>
            <a:r>
              <a:rPr lang="en-US" altLang="zh-CN" sz="2400" b="1" dirty="0" smtClean="0"/>
              <a:t>&gt;</a:t>
            </a:r>
            <a:endParaRPr lang="zh-CN" altLang="en-US" sz="2400" b="1" dirty="0"/>
          </a:p>
          <a:p>
            <a:r>
              <a:rPr lang="zh-CN" altLang="en-US" sz="2400" b="1" dirty="0"/>
              <a:t>int main()</a:t>
            </a:r>
          </a:p>
          <a:p>
            <a:r>
              <a:rPr lang="zh-CN" altLang="en-US" sz="2400" b="1" dirty="0"/>
              <a:t>{</a:t>
            </a:r>
          </a:p>
          <a:p>
            <a:r>
              <a:rPr lang="zh-CN" altLang="en-US" sz="2400" b="1" dirty="0">
                <a:solidFill>
                  <a:srgbClr val="FF0000"/>
                </a:solidFill>
              </a:rPr>
              <a:t>    FILE *fp;</a:t>
            </a:r>
          </a:p>
          <a:p>
            <a:r>
              <a:rPr lang="zh-CN" altLang="en-US" sz="2400" b="1" dirty="0"/>
              <a:t>    char ch[80]="Welcome to shanghai",str</a:t>
            </a:r>
            <a:r>
              <a:rPr lang="zh-CN" altLang="en-US" sz="2400" b="1" dirty="0" smtClean="0"/>
              <a:t>[</a:t>
            </a:r>
            <a:r>
              <a:rPr lang="en-US" altLang="zh-CN" sz="2400" b="1" dirty="0" smtClean="0"/>
              <a:t>8</a:t>
            </a:r>
            <a:r>
              <a:rPr lang="zh-CN" altLang="en-US" sz="2400" b="1" dirty="0" smtClean="0"/>
              <a:t>0</a:t>
            </a:r>
            <a:r>
              <a:rPr lang="zh-CN" altLang="en-US" sz="2400" b="1" dirty="0"/>
              <a:t>];</a:t>
            </a:r>
          </a:p>
          <a:p>
            <a:r>
              <a:rPr lang="zh-CN" altLang="en-US" sz="2400" b="1" dirty="0"/>
              <a:t>    fp=</a:t>
            </a:r>
            <a:r>
              <a:rPr lang="zh-CN" altLang="en-US" sz="2400" b="1" dirty="0">
                <a:solidFill>
                  <a:srgbClr val="FF0000"/>
                </a:solidFill>
              </a:rPr>
              <a:t>fopen("d:\\test2.txt","w");</a:t>
            </a:r>
          </a:p>
          <a:p>
            <a:r>
              <a:rPr lang="zh-CN" altLang="en-US" sz="2400" b="1" dirty="0"/>
              <a:t>    </a:t>
            </a:r>
            <a:r>
              <a:rPr lang="zh-CN" altLang="en-US" sz="2400" b="1" dirty="0">
                <a:solidFill>
                  <a:srgbClr val="FF0000"/>
                </a:solidFill>
              </a:rPr>
              <a:t>fputs(ch,fp);</a:t>
            </a:r>
          </a:p>
          <a:p>
            <a:r>
              <a:rPr lang="zh-CN" altLang="en-US" sz="2400" b="1" dirty="0"/>
              <a:t>    fclose(fp);</a:t>
            </a:r>
          </a:p>
          <a:p>
            <a:r>
              <a:rPr lang="zh-CN" altLang="en-US" sz="2400" b="1" dirty="0"/>
              <a:t>    fp=</a:t>
            </a:r>
            <a:r>
              <a:rPr lang="zh-CN" altLang="en-US" sz="2400" b="1" dirty="0">
                <a:solidFill>
                  <a:srgbClr val="FF0000"/>
                </a:solidFill>
              </a:rPr>
              <a:t>fopen("d:\\test2.txt","r");</a:t>
            </a:r>
          </a:p>
          <a:p>
            <a:r>
              <a:rPr lang="zh-CN" altLang="en-US" sz="2400" b="1" dirty="0"/>
              <a:t>    </a:t>
            </a:r>
            <a:r>
              <a:rPr lang="zh-CN" altLang="en-US" sz="2400" b="1" dirty="0">
                <a:solidFill>
                  <a:srgbClr val="FF0000"/>
                </a:solidFill>
              </a:rPr>
              <a:t>fgets(str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,</a:t>
            </a:r>
            <a:r>
              <a:rPr lang="en-US" altLang="zh-CN" sz="2400" b="1" dirty="0" err="1" smtClean="0">
                <a:solidFill>
                  <a:srgbClr val="FF0000"/>
                </a:solidFill>
              </a:rPr>
              <a:t>strlen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(</a:t>
            </a:r>
            <a:r>
              <a:rPr lang="en-US" altLang="zh-CN" sz="2400" b="1" dirty="0" err="1" smtClean="0">
                <a:solidFill>
                  <a:srgbClr val="FF0000"/>
                </a:solidFill>
              </a:rPr>
              <a:t>ch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)+1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,</a:t>
            </a:r>
            <a:r>
              <a:rPr lang="zh-CN" altLang="en-US" sz="2400" b="1" dirty="0">
                <a:solidFill>
                  <a:srgbClr val="FF0000"/>
                </a:solidFill>
              </a:rPr>
              <a:t>fp);</a:t>
            </a:r>
          </a:p>
          <a:p>
            <a:r>
              <a:rPr lang="zh-CN" altLang="en-US" sz="2400" b="1" dirty="0"/>
              <a:t>    fclose(fp);</a:t>
            </a:r>
          </a:p>
          <a:p>
            <a:r>
              <a:rPr lang="zh-CN" altLang="en-US" sz="2400" b="1" dirty="0"/>
              <a:t>    puts(str);</a:t>
            </a:r>
          </a:p>
          <a:p>
            <a:r>
              <a:rPr lang="zh-CN" altLang="en-US" sz="2400" b="1" dirty="0"/>
              <a:t>    return 0;</a:t>
            </a:r>
          </a:p>
          <a:p>
            <a:r>
              <a:rPr lang="zh-CN" altLang="en-US" sz="24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5732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文件</a:t>
            </a:r>
            <a:r>
              <a:rPr lang="zh-CN" altLang="en-US" dirty="0"/>
              <a:t>的读写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15</a:t>
            </a:fld>
            <a:endParaRPr lang="en-US" altLang="zh-CN" dirty="0"/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755650" y="1700213"/>
            <a:ext cx="8136830" cy="453707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格式化读写函数：</a:t>
            </a:r>
            <a:r>
              <a:rPr lang="en-US" altLang="zh-CN" dirty="0" err="1">
                <a:solidFill>
                  <a:schemeClr val="tx1"/>
                </a:solidFill>
              </a:rPr>
              <a:t>fscanf</a:t>
            </a:r>
            <a:r>
              <a:rPr lang="en-US" altLang="zh-CN" dirty="0">
                <a:solidFill>
                  <a:schemeClr val="tx1"/>
                </a:solidFill>
              </a:rPr>
              <a:t>() / </a:t>
            </a:r>
            <a:r>
              <a:rPr lang="en-US" altLang="zh-CN" dirty="0" err="1">
                <a:solidFill>
                  <a:schemeClr val="tx1"/>
                </a:solidFill>
              </a:rPr>
              <a:t>fprintf</a:t>
            </a:r>
            <a:r>
              <a:rPr lang="en-US" altLang="zh-CN" dirty="0">
                <a:solidFill>
                  <a:schemeClr val="tx1"/>
                </a:solidFill>
              </a:rPr>
              <a:t>()</a:t>
            </a:r>
          </a:p>
          <a:p>
            <a:pPr lvl="1"/>
            <a:r>
              <a:rPr lang="zh-CN" altLang="zh-CN" sz="2800" dirty="0" smtClean="0">
                <a:solidFill>
                  <a:schemeClr val="tx1"/>
                </a:solidFill>
                <a:effectLst/>
              </a:rPr>
              <a:t>函数</a:t>
            </a:r>
            <a:r>
              <a:rPr lang="zh-CN" altLang="zh-CN" sz="2800" dirty="0">
                <a:solidFill>
                  <a:schemeClr val="tx1"/>
                </a:solidFill>
                <a:effectLst/>
              </a:rPr>
              <a:t>调用</a:t>
            </a:r>
            <a:r>
              <a:rPr lang="zh-CN" altLang="zh-CN" sz="2800" dirty="0" smtClean="0">
                <a:solidFill>
                  <a:schemeClr val="tx1"/>
                </a:solidFill>
                <a:effectLst/>
              </a:rPr>
              <a:t>形式</a:t>
            </a:r>
            <a:endParaRPr lang="en-US" altLang="zh-CN" sz="2800" dirty="0" smtClean="0">
              <a:solidFill>
                <a:schemeClr val="tx1"/>
              </a:solidFill>
              <a:effectLst/>
            </a:endParaRPr>
          </a:p>
          <a:p>
            <a:pPr lvl="2"/>
            <a:r>
              <a:rPr lang="en-US" altLang="zh-CN" sz="2800" dirty="0" err="1">
                <a:solidFill>
                  <a:schemeClr val="tx1"/>
                </a:solidFill>
              </a:rPr>
              <a:t>fscanf</a:t>
            </a:r>
            <a:r>
              <a:rPr lang="en-US" altLang="zh-CN" sz="2800" dirty="0">
                <a:solidFill>
                  <a:schemeClr val="tx1"/>
                </a:solidFill>
              </a:rPr>
              <a:t> (</a:t>
            </a:r>
            <a:r>
              <a:rPr lang="zh-CN" altLang="en-US" sz="2800" dirty="0">
                <a:solidFill>
                  <a:schemeClr val="tx1"/>
                </a:solidFill>
              </a:rPr>
              <a:t>文件指针</a:t>
            </a:r>
            <a:r>
              <a:rPr lang="en-US" altLang="zh-CN" sz="2800" dirty="0">
                <a:solidFill>
                  <a:schemeClr val="tx1"/>
                </a:solidFill>
              </a:rPr>
              <a:t>,</a:t>
            </a:r>
            <a:r>
              <a:rPr lang="zh-CN" altLang="en-US" sz="2800" dirty="0">
                <a:solidFill>
                  <a:schemeClr val="tx1"/>
                </a:solidFill>
              </a:rPr>
              <a:t>格式字符串</a:t>
            </a:r>
            <a:r>
              <a:rPr lang="en-US" altLang="zh-CN" sz="2800" dirty="0">
                <a:solidFill>
                  <a:schemeClr val="tx1"/>
                </a:solidFill>
              </a:rPr>
              <a:t>,</a:t>
            </a:r>
            <a:r>
              <a:rPr lang="zh-CN" altLang="en-US" sz="2800" dirty="0">
                <a:solidFill>
                  <a:schemeClr val="tx1"/>
                </a:solidFill>
              </a:rPr>
              <a:t>输入列表</a:t>
            </a:r>
            <a:r>
              <a:rPr lang="en-US" altLang="zh-CN" sz="2800" dirty="0" smtClean="0">
                <a:solidFill>
                  <a:schemeClr val="tx1"/>
                </a:solidFill>
              </a:rPr>
              <a:t>);</a:t>
            </a:r>
          </a:p>
          <a:p>
            <a:pPr lvl="3"/>
            <a:r>
              <a:rPr lang="zh-CN" altLang="en-US" sz="2400" dirty="0">
                <a:solidFill>
                  <a:schemeClr val="tx1"/>
                </a:solidFill>
                <a:effectLst/>
              </a:rPr>
              <a:t>从文件指针</a:t>
            </a:r>
            <a:r>
              <a:rPr lang="en-US" altLang="zh-CN" sz="2400" dirty="0" err="1">
                <a:solidFill>
                  <a:schemeClr val="tx1"/>
                </a:solidFill>
                <a:effectLst/>
              </a:rPr>
              <a:t>fp</a:t>
            </a:r>
            <a:r>
              <a:rPr lang="zh-CN" altLang="en-US" sz="2400" dirty="0">
                <a:solidFill>
                  <a:schemeClr val="tx1"/>
                </a:solidFill>
                <a:effectLst/>
              </a:rPr>
              <a:t>所指向的文件进行格式化读操作，遇到空格或换行时</a:t>
            </a:r>
            <a:r>
              <a:rPr lang="zh-CN" altLang="en-US" sz="2400" dirty="0" smtClean="0">
                <a:solidFill>
                  <a:schemeClr val="tx1"/>
                </a:solidFill>
                <a:effectLst/>
              </a:rPr>
              <a:t>结束</a:t>
            </a:r>
            <a:endParaRPr lang="en-US" altLang="zh-CN" sz="2400" dirty="0" smtClean="0">
              <a:solidFill>
                <a:schemeClr val="tx1"/>
              </a:solidFill>
              <a:effectLst/>
            </a:endParaRPr>
          </a:p>
          <a:p>
            <a:pPr lvl="2"/>
            <a:r>
              <a:rPr lang="en-US" altLang="zh-CN" sz="2800" dirty="0" err="1" smtClean="0">
                <a:solidFill>
                  <a:schemeClr val="tx1"/>
                </a:solidFill>
              </a:rPr>
              <a:t>fprintf</a:t>
            </a:r>
            <a:r>
              <a:rPr lang="en-US" altLang="zh-CN" sz="2800" dirty="0" smtClean="0">
                <a:solidFill>
                  <a:schemeClr val="tx1"/>
                </a:solidFill>
              </a:rPr>
              <a:t> </a:t>
            </a:r>
            <a:r>
              <a:rPr lang="en-US" altLang="zh-CN" sz="2800" dirty="0">
                <a:solidFill>
                  <a:schemeClr val="tx1"/>
                </a:solidFill>
              </a:rPr>
              <a:t>(</a:t>
            </a:r>
            <a:r>
              <a:rPr lang="zh-CN" altLang="en-US" sz="2800" dirty="0">
                <a:solidFill>
                  <a:schemeClr val="tx1"/>
                </a:solidFill>
              </a:rPr>
              <a:t>文件指针</a:t>
            </a:r>
            <a:r>
              <a:rPr lang="en-US" altLang="zh-CN" sz="2800" dirty="0">
                <a:solidFill>
                  <a:schemeClr val="tx1"/>
                </a:solidFill>
              </a:rPr>
              <a:t>,</a:t>
            </a:r>
            <a:r>
              <a:rPr lang="zh-CN" altLang="en-US" sz="2800" dirty="0">
                <a:solidFill>
                  <a:schemeClr val="tx1"/>
                </a:solidFill>
              </a:rPr>
              <a:t>格式字符串</a:t>
            </a:r>
            <a:r>
              <a:rPr lang="en-US" altLang="zh-CN" sz="2800" dirty="0">
                <a:solidFill>
                  <a:schemeClr val="tx1"/>
                </a:solidFill>
              </a:rPr>
              <a:t>,</a:t>
            </a:r>
            <a:r>
              <a:rPr lang="zh-CN" altLang="en-US" sz="2800" dirty="0">
                <a:solidFill>
                  <a:schemeClr val="tx1"/>
                </a:solidFill>
              </a:rPr>
              <a:t>输出列表</a:t>
            </a:r>
            <a:r>
              <a:rPr lang="en-US" altLang="zh-CN" sz="2800" dirty="0" smtClean="0">
                <a:solidFill>
                  <a:schemeClr val="tx1"/>
                </a:solidFill>
              </a:rPr>
              <a:t>);</a:t>
            </a:r>
          </a:p>
          <a:p>
            <a:pPr lvl="3"/>
            <a:r>
              <a:rPr lang="zh-CN" altLang="en-US" sz="2400" dirty="0">
                <a:solidFill>
                  <a:schemeClr val="tx1"/>
                </a:solidFill>
                <a:effectLst/>
              </a:rPr>
              <a:t>进行格式化写操作，写入文件指针</a:t>
            </a:r>
            <a:r>
              <a:rPr lang="en-US" altLang="zh-CN" sz="2400" dirty="0" err="1">
                <a:solidFill>
                  <a:schemeClr val="tx1"/>
                </a:solidFill>
                <a:effectLst/>
              </a:rPr>
              <a:t>fp</a:t>
            </a:r>
            <a:r>
              <a:rPr lang="zh-CN" altLang="en-US" sz="2400" dirty="0">
                <a:solidFill>
                  <a:schemeClr val="tx1"/>
                </a:solidFill>
                <a:effectLst/>
              </a:rPr>
              <a:t>所指向的</a:t>
            </a:r>
            <a:r>
              <a:rPr lang="zh-CN" altLang="en-US" sz="2400" dirty="0" smtClean="0">
                <a:solidFill>
                  <a:schemeClr val="tx1"/>
                </a:solidFill>
                <a:effectLst/>
              </a:rPr>
              <a:t>文件</a:t>
            </a:r>
            <a:endParaRPr lang="en-US" altLang="zh-CN" sz="2400" dirty="0" smtClean="0">
              <a:solidFill>
                <a:schemeClr val="tx1"/>
              </a:solidFill>
              <a:effectLst/>
            </a:endParaRPr>
          </a:p>
          <a:p>
            <a:pPr lvl="2"/>
            <a:endParaRPr lang="en-US" altLang="zh-CN" sz="2800" dirty="0" smtClean="0">
              <a:solidFill>
                <a:schemeClr val="tx1"/>
              </a:solidFill>
            </a:endParaRPr>
          </a:p>
          <a:p>
            <a:pPr lvl="2"/>
            <a:endParaRPr lang="en-US" altLang="zh-CN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7996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16</a:t>
            </a:fld>
            <a:endParaRPr lang="en-US" altLang="zh-CN" dirty="0"/>
          </a:p>
        </p:txBody>
      </p:sp>
      <p:sp>
        <p:nvSpPr>
          <p:cNvPr id="2" name="矩形 1"/>
          <p:cNvSpPr/>
          <p:nvPr/>
        </p:nvSpPr>
        <p:spPr>
          <a:xfrm>
            <a:off x="1979712" y="31238"/>
            <a:ext cx="6696744" cy="67710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00" b="1" dirty="0"/>
              <a:t>#include &lt;stdio.h&gt;</a:t>
            </a:r>
          </a:p>
          <a:p>
            <a:r>
              <a:rPr lang="zh-CN" altLang="en-US" sz="1400" b="1" dirty="0"/>
              <a:t>#include &lt;stdlib.h&gt;</a:t>
            </a:r>
          </a:p>
          <a:p>
            <a:r>
              <a:rPr lang="zh-CN" altLang="en-US" sz="1400" b="1" dirty="0"/>
              <a:t>int main()</a:t>
            </a:r>
          </a:p>
          <a:p>
            <a:r>
              <a:rPr lang="zh-CN" altLang="en-US" sz="1400" b="1" dirty="0"/>
              <a:t>{</a:t>
            </a:r>
          </a:p>
          <a:p>
            <a:r>
              <a:rPr lang="zh-CN" altLang="en-US" sz="1400" b="1" dirty="0"/>
              <a:t>    </a:t>
            </a:r>
            <a:r>
              <a:rPr lang="zh-CN" altLang="en-US" sz="1400" b="1" dirty="0">
                <a:solidFill>
                  <a:srgbClr val="FF0000"/>
                </a:solidFill>
              </a:rPr>
              <a:t>FILE *fp;</a:t>
            </a:r>
          </a:p>
          <a:p>
            <a:r>
              <a:rPr lang="zh-CN" altLang="en-US" sz="1400" b="1" dirty="0"/>
              <a:t>    int *a,n,sum,max,min,i,j,m;</a:t>
            </a:r>
          </a:p>
          <a:p>
            <a:r>
              <a:rPr lang="zh-CN" altLang="en-US" sz="1400" b="1" dirty="0"/>
              <a:t>    float avg;</a:t>
            </a:r>
          </a:p>
          <a:p>
            <a:r>
              <a:rPr lang="zh-CN" altLang="en-US" sz="1400" b="1" dirty="0"/>
              <a:t>    fp=</a:t>
            </a:r>
            <a:r>
              <a:rPr lang="zh-CN" altLang="en-US" sz="1400" b="1" dirty="0">
                <a:solidFill>
                  <a:srgbClr val="FF0000"/>
                </a:solidFill>
              </a:rPr>
              <a:t>fopen("d:</a:t>
            </a:r>
            <a:r>
              <a:rPr lang="zh-CN" altLang="en-US" sz="1400" b="1" dirty="0" smtClean="0">
                <a:solidFill>
                  <a:srgbClr val="FF0000"/>
                </a:solidFill>
              </a:rPr>
              <a:t>\\test</a:t>
            </a:r>
            <a:r>
              <a:rPr lang="en-US" altLang="zh-CN" sz="1400" b="1" dirty="0" smtClean="0">
                <a:solidFill>
                  <a:srgbClr val="FF0000"/>
                </a:solidFill>
              </a:rPr>
              <a:t>3</a:t>
            </a:r>
            <a:r>
              <a:rPr lang="zh-CN" altLang="en-US" sz="1400" b="1" dirty="0" smtClean="0">
                <a:solidFill>
                  <a:srgbClr val="FF0000"/>
                </a:solidFill>
              </a:rPr>
              <a:t>.</a:t>
            </a:r>
            <a:r>
              <a:rPr lang="zh-CN" altLang="en-US" sz="1400" b="1" dirty="0">
                <a:solidFill>
                  <a:srgbClr val="FF0000"/>
                </a:solidFill>
              </a:rPr>
              <a:t>txt","w");</a:t>
            </a:r>
          </a:p>
          <a:p>
            <a:r>
              <a:rPr lang="zh-CN" altLang="en-US" sz="1400" b="1" dirty="0"/>
              <a:t>    printf("Input n:");</a:t>
            </a:r>
          </a:p>
          <a:p>
            <a:r>
              <a:rPr lang="zh-CN" altLang="en-US" sz="1400" b="1" dirty="0"/>
              <a:t>    scanf("%d",&amp;n);</a:t>
            </a:r>
          </a:p>
          <a:p>
            <a:r>
              <a:rPr lang="zh-CN" altLang="en-US" sz="1400" b="1" dirty="0"/>
              <a:t>    printf("Input %d numbers:",n);</a:t>
            </a:r>
          </a:p>
          <a:p>
            <a:r>
              <a:rPr lang="zh-CN" altLang="en-US" sz="1400" b="1" dirty="0"/>
              <a:t>    for(i=0;i&lt;n;i++){</a:t>
            </a:r>
          </a:p>
          <a:p>
            <a:r>
              <a:rPr lang="zh-CN" altLang="en-US" sz="1400" b="1" dirty="0"/>
              <a:t>        scanf("%d",&amp;m);</a:t>
            </a:r>
          </a:p>
          <a:p>
            <a:r>
              <a:rPr lang="zh-CN" altLang="en-US" sz="1400" b="1" dirty="0"/>
              <a:t>        </a:t>
            </a:r>
            <a:r>
              <a:rPr lang="zh-CN" altLang="en-US" sz="1400" b="1" dirty="0">
                <a:solidFill>
                  <a:srgbClr val="FF0000"/>
                </a:solidFill>
              </a:rPr>
              <a:t>fprintf(fp,"%d ",m);</a:t>
            </a:r>
          </a:p>
          <a:p>
            <a:r>
              <a:rPr lang="zh-CN" altLang="en-US" sz="1400" b="1" dirty="0"/>
              <a:t>    }</a:t>
            </a:r>
          </a:p>
          <a:p>
            <a:r>
              <a:rPr lang="zh-CN" altLang="en-US" sz="1400" b="1" dirty="0">
                <a:solidFill>
                  <a:srgbClr val="FF0000"/>
                </a:solidFill>
              </a:rPr>
              <a:t>    fclose(fp);</a:t>
            </a:r>
          </a:p>
          <a:p>
            <a:r>
              <a:rPr lang="zh-CN" altLang="en-US" sz="1400" b="1" dirty="0"/>
              <a:t>    fp=</a:t>
            </a:r>
            <a:r>
              <a:rPr lang="zh-CN" altLang="en-US" sz="1400" b="1" dirty="0">
                <a:solidFill>
                  <a:srgbClr val="FF0000"/>
                </a:solidFill>
              </a:rPr>
              <a:t>fopen("d:</a:t>
            </a:r>
            <a:r>
              <a:rPr lang="zh-CN" altLang="en-US" sz="1400" b="1" dirty="0" smtClean="0">
                <a:solidFill>
                  <a:srgbClr val="FF0000"/>
                </a:solidFill>
              </a:rPr>
              <a:t>\\test</a:t>
            </a:r>
            <a:r>
              <a:rPr lang="en-US" altLang="zh-CN" sz="1400" b="1" dirty="0" smtClean="0">
                <a:solidFill>
                  <a:srgbClr val="FF0000"/>
                </a:solidFill>
              </a:rPr>
              <a:t>3</a:t>
            </a:r>
            <a:r>
              <a:rPr lang="zh-CN" altLang="en-US" sz="1400" b="1" dirty="0" smtClean="0">
                <a:solidFill>
                  <a:srgbClr val="FF0000"/>
                </a:solidFill>
              </a:rPr>
              <a:t>.</a:t>
            </a:r>
            <a:r>
              <a:rPr lang="zh-CN" altLang="en-US" sz="1400" b="1" dirty="0">
                <a:solidFill>
                  <a:srgbClr val="FF0000"/>
                </a:solidFill>
              </a:rPr>
              <a:t>txt","r");</a:t>
            </a:r>
          </a:p>
          <a:p>
            <a:r>
              <a:rPr lang="zh-CN" altLang="en-US" sz="1400" b="1" dirty="0"/>
              <a:t>    a=</a:t>
            </a:r>
            <a:r>
              <a:rPr lang="zh-CN" altLang="en-US" sz="1400" b="1" dirty="0">
                <a:solidFill>
                  <a:srgbClr val="FF0000"/>
                </a:solidFill>
              </a:rPr>
              <a:t>(int *)malloc(n*sizeof(int));</a:t>
            </a:r>
          </a:p>
          <a:p>
            <a:r>
              <a:rPr lang="zh-CN" altLang="en-US" sz="1400" b="1" dirty="0"/>
              <a:t>    for(i=0;i&lt;n;i++)</a:t>
            </a:r>
          </a:p>
          <a:p>
            <a:r>
              <a:rPr lang="zh-CN" altLang="en-US" sz="1400" b="1" dirty="0">
                <a:solidFill>
                  <a:srgbClr val="FF0000"/>
                </a:solidFill>
              </a:rPr>
              <a:t>        fscanf(fp,"%d",a+i);</a:t>
            </a:r>
          </a:p>
          <a:p>
            <a:r>
              <a:rPr lang="zh-CN" altLang="en-US" sz="1400" b="1" dirty="0">
                <a:solidFill>
                  <a:srgbClr val="FF0000"/>
                </a:solidFill>
              </a:rPr>
              <a:t>    fclose(fp);</a:t>
            </a:r>
          </a:p>
          <a:p>
            <a:r>
              <a:rPr lang="zh-CN" altLang="en-US" sz="1400" b="1" dirty="0"/>
              <a:t>    sum=0;max=min=a[0];</a:t>
            </a:r>
          </a:p>
          <a:p>
            <a:r>
              <a:rPr lang="zh-CN" altLang="en-US" sz="1400" b="1" dirty="0"/>
              <a:t>    for(i=0;i&lt;n;i++){</a:t>
            </a:r>
          </a:p>
          <a:p>
            <a:r>
              <a:rPr lang="zh-CN" altLang="en-US" sz="1400" b="1" dirty="0"/>
              <a:t>        sum+=a[i];</a:t>
            </a:r>
          </a:p>
          <a:p>
            <a:r>
              <a:rPr lang="zh-CN" altLang="en-US" sz="1400" b="1" dirty="0"/>
              <a:t>        if(max&lt;a[i]) max=a[i];</a:t>
            </a:r>
          </a:p>
          <a:p>
            <a:r>
              <a:rPr lang="zh-CN" altLang="en-US" sz="1400" b="1" dirty="0"/>
              <a:t>        if(min&gt;a[i]) min=a[i];</a:t>
            </a:r>
          </a:p>
          <a:p>
            <a:r>
              <a:rPr lang="zh-CN" altLang="en-US" sz="1400" b="1" dirty="0"/>
              <a:t>     }</a:t>
            </a:r>
          </a:p>
          <a:p>
            <a:r>
              <a:rPr lang="zh-CN" altLang="en-US" sz="1400" b="1" dirty="0"/>
              <a:t>     avg=(float)sum/n;</a:t>
            </a:r>
          </a:p>
          <a:p>
            <a:r>
              <a:rPr lang="zh-CN" altLang="en-US" sz="1400" b="1" dirty="0"/>
              <a:t>     printf("sum=%d\navg=%2.1f\nmax=%d\nmin=%d\n",sum,avg,max,min);</a:t>
            </a:r>
          </a:p>
          <a:p>
            <a:r>
              <a:rPr lang="zh-CN" altLang="en-US" sz="1400" b="1" dirty="0"/>
              <a:t>     return 0;</a:t>
            </a:r>
          </a:p>
          <a:p>
            <a:r>
              <a:rPr lang="zh-CN" altLang="en-US" sz="14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10066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文件</a:t>
            </a:r>
            <a:r>
              <a:rPr lang="zh-CN" altLang="en-US" dirty="0"/>
              <a:t>的读写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17</a:t>
            </a:fld>
            <a:endParaRPr lang="en-US" altLang="zh-CN" dirty="0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755650" y="1700213"/>
            <a:ext cx="7993063" cy="453707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  <a:effectLst/>
              </a:rPr>
              <a:t>块读写函数：</a:t>
            </a:r>
            <a:r>
              <a:rPr lang="en-US" altLang="zh-CN" dirty="0" err="1">
                <a:solidFill>
                  <a:schemeClr val="tx1"/>
                </a:solidFill>
                <a:effectLst/>
              </a:rPr>
              <a:t>fread</a:t>
            </a:r>
            <a:r>
              <a:rPr lang="en-US" altLang="zh-CN" dirty="0">
                <a:solidFill>
                  <a:schemeClr val="tx1"/>
                </a:solidFill>
                <a:effectLst/>
              </a:rPr>
              <a:t>()/</a:t>
            </a:r>
            <a:r>
              <a:rPr lang="en-US" altLang="zh-CN" dirty="0" err="1">
                <a:solidFill>
                  <a:schemeClr val="tx1"/>
                </a:solidFill>
                <a:effectLst/>
              </a:rPr>
              <a:t>fwrite</a:t>
            </a:r>
            <a:r>
              <a:rPr lang="en-US" altLang="zh-CN" dirty="0">
                <a:solidFill>
                  <a:schemeClr val="tx1"/>
                </a:solidFill>
                <a:effectLst/>
              </a:rPr>
              <a:t>()</a:t>
            </a:r>
          </a:p>
          <a:p>
            <a:pPr lvl="1"/>
            <a:r>
              <a:rPr lang="zh-CN" altLang="zh-CN" sz="2800" dirty="0" smtClean="0">
                <a:solidFill>
                  <a:schemeClr val="tx1"/>
                </a:solidFill>
                <a:effectLst/>
              </a:rPr>
              <a:t>函数</a:t>
            </a:r>
            <a:r>
              <a:rPr lang="zh-CN" altLang="zh-CN" sz="2800" dirty="0">
                <a:solidFill>
                  <a:schemeClr val="tx1"/>
                </a:solidFill>
                <a:effectLst/>
              </a:rPr>
              <a:t>调用</a:t>
            </a:r>
            <a:r>
              <a:rPr lang="zh-CN" altLang="zh-CN" sz="2800" dirty="0" smtClean="0">
                <a:solidFill>
                  <a:schemeClr val="tx1"/>
                </a:solidFill>
                <a:effectLst/>
              </a:rPr>
              <a:t>形式</a:t>
            </a:r>
            <a:endParaRPr lang="en-US" altLang="zh-CN" sz="2800" dirty="0" smtClean="0">
              <a:solidFill>
                <a:schemeClr val="tx1"/>
              </a:solidFill>
              <a:effectLst/>
            </a:endParaRPr>
          </a:p>
          <a:p>
            <a:pPr lvl="2"/>
            <a:r>
              <a:rPr lang="en-US" altLang="zh-CN" sz="2800" dirty="0" err="1">
                <a:solidFill>
                  <a:schemeClr val="tx1"/>
                </a:solidFill>
                <a:effectLst/>
              </a:rPr>
              <a:t>fread</a:t>
            </a:r>
            <a:r>
              <a:rPr lang="en-US" altLang="zh-CN" sz="2800" dirty="0">
                <a:solidFill>
                  <a:schemeClr val="tx1"/>
                </a:solidFill>
                <a:effectLst/>
              </a:rPr>
              <a:t>(buffer, size, count, </a:t>
            </a:r>
            <a:r>
              <a:rPr lang="en-US" altLang="zh-CN" sz="2800" dirty="0" err="1">
                <a:solidFill>
                  <a:schemeClr val="tx1"/>
                </a:solidFill>
                <a:effectLst/>
              </a:rPr>
              <a:t>fp</a:t>
            </a:r>
            <a:r>
              <a:rPr lang="en-US" altLang="zh-CN" sz="2800" dirty="0" smtClean="0">
                <a:solidFill>
                  <a:schemeClr val="tx1"/>
                </a:solidFill>
                <a:effectLst/>
              </a:rPr>
              <a:t>);</a:t>
            </a:r>
          </a:p>
          <a:p>
            <a:pPr lvl="3"/>
            <a:r>
              <a:rPr lang="zh-CN" altLang="en-US" sz="2400" dirty="0">
                <a:solidFill>
                  <a:schemeClr val="tx1"/>
                </a:solidFill>
              </a:rPr>
              <a:t>从二进制文件中读入一个数据块到</a:t>
            </a:r>
            <a:r>
              <a:rPr lang="zh-CN" altLang="en-US" sz="2400" dirty="0" smtClean="0">
                <a:solidFill>
                  <a:schemeClr val="tx1"/>
                </a:solidFill>
              </a:rPr>
              <a:t>变量</a:t>
            </a:r>
            <a:endParaRPr lang="en-US" altLang="zh-CN" sz="2400" dirty="0">
              <a:solidFill>
                <a:schemeClr val="tx1"/>
              </a:solidFill>
              <a:effectLst/>
            </a:endParaRPr>
          </a:p>
          <a:p>
            <a:pPr lvl="2"/>
            <a:r>
              <a:rPr lang="en-US" altLang="zh-CN" sz="2800" dirty="0" err="1" smtClean="0">
                <a:solidFill>
                  <a:schemeClr val="tx1"/>
                </a:solidFill>
                <a:effectLst/>
              </a:rPr>
              <a:t>fwrite</a:t>
            </a:r>
            <a:r>
              <a:rPr lang="en-US" altLang="zh-CN" sz="2800" dirty="0" smtClean="0">
                <a:solidFill>
                  <a:schemeClr val="tx1"/>
                </a:solidFill>
                <a:effectLst/>
              </a:rPr>
              <a:t>(buffer</a:t>
            </a:r>
            <a:r>
              <a:rPr lang="en-US" altLang="zh-CN" sz="2800" dirty="0">
                <a:solidFill>
                  <a:schemeClr val="tx1"/>
                </a:solidFill>
                <a:effectLst/>
              </a:rPr>
              <a:t>, size, count, </a:t>
            </a:r>
            <a:r>
              <a:rPr lang="en-US" altLang="zh-CN" sz="2800" dirty="0" err="1">
                <a:solidFill>
                  <a:schemeClr val="tx1"/>
                </a:solidFill>
                <a:effectLst/>
              </a:rPr>
              <a:t>fp</a:t>
            </a:r>
            <a:r>
              <a:rPr lang="en-US" altLang="zh-CN" sz="2800" dirty="0" smtClean="0">
                <a:solidFill>
                  <a:schemeClr val="tx1"/>
                </a:solidFill>
                <a:effectLst/>
              </a:rPr>
              <a:t>);</a:t>
            </a:r>
          </a:p>
          <a:p>
            <a:pPr marL="809625" lvl="3" indent="0"/>
            <a:r>
              <a:rPr lang="zh-CN" altLang="en-US" sz="2400" dirty="0">
                <a:solidFill>
                  <a:schemeClr val="tx1"/>
                </a:solidFill>
              </a:rPr>
              <a:t>向二进制文件中写入一个数据</a:t>
            </a:r>
            <a:r>
              <a:rPr lang="zh-CN" altLang="en-US" sz="2400" dirty="0" smtClean="0">
                <a:solidFill>
                  <a:schemeClr val="tx1"/>
                </a:solidFill>
              </a:rPr>
              <a:t>块</a:t>
            </a:r>
            <a:endParaRPr lang="en-US" altLang="zh-CN" sz="2400" dirty="0" smtClean="0">
              <a:solidFill>
                <a:schemeClr val="tx1"/>
              </a:solidFill>
            </a:endParaRPr>
          </a:p>
          <a:p>
            <a:pPr marL="809625" lvl="3" indent="0"/>
            <a:r>
              <a:rPr lang="en-US" altLang="zh-CN" sz="2400" dirty="0" err="1">
                <a:solidFill>
                  <a:schemeClr val="tx1"/>
                </a:solidFill>
              </a:rPr>
              <a:t>fwrite</a:t>
            </a:r>
            <a:r>
              <a:rPr lang="en-US" altLang="zh-CN" sz="2400" dirty="0">
                <a:solidFill>
                  <a:schemeClr val="tx1"/>
                </a:solidFill>
              </a:rPr>
              <a:t>(</a:t>
            </a:r>
            <a:r>
              <a:rPr lang="en-US" altLang="zh-CN" sz="2400" dirty="0" err="1">
                <a:solidFill>
                  <a:schemeClr val="tx1"/>
                </a:solidFill>
              </a:rPr>
              <a:t>str,sizeof</a:t>
            </a:r>
            <a:r>
              <a:rPr lang="en-US" altLang="zh-CN" sz="2400" dirty="0">
                <a:solidFill>
                  <a:schemeClr val="tx1"/>
                </a:solidFill>
              </a:rPr>
              <a:t>(char),</a:t>
            </a:r>
            <a:r>
              <a:rPr lang="en-US" altLang="zh-CN" sz="2400" dirty="0" err="1">
                <a:solidFill>
                  <a:schemeClr val="tx1"/>
                </a:solidFill>
              </a:rPr>
              <a:t>strlen</a:t>
            </a:r>
            <a:r>
              <a:rPr lang="en-US" altLang="zh-CN" sz="2400" dirty="0">
                <a:solidFill>
                  <a:schemeClr val="tx1"/>
                </a:solidFill>
              </a:rPr>
              <a:t>(</a:t>
            </a:r>
            <a:r>
              <a:rPr lang="en-US" altLang="zh-CN" sz="2400" dirty="0" err="1">
                <a:solidFill>
                  <a:schemeClr val="tx1"/>
                </a:solidFill>
              </a:rPr>
              <a:t>str</a:t>
            </a:r>
            <a:r>
              <a:rPr lang="en-US" altLang="zh-CN" sz="2400" dirty="0">
                <a:solidFill>
                  <a:schemeClr val="tx1"/>
                </a:solidFill>
              </a:rPr>
              <a:t>),</a:t>
            </a:r>
            <a:r>
              <a:rPr lang="en-US" altLang="zh-CN" sz="2400" dirty="0" err="1">
                <a:solidFill>
                  <a:schemeClr val="tx1"/>
                </a:solidFill>
              </a:rPr>
              <a:t>fp</a:t>
            </a:r>
            <a:r>
              <a:rPr lang="en-US" altLang="zh-CN" sz="2400" dirty="0" smtClean="0">
                <a:solidFill>
                  <a:schemeClr val="tx1"/>
                </a:solidFill>
              </a:rPr>
              <a:t>);</a:t>
            </a:r>
            <a:r>
              <a:rPr lang="zh-CN" altLang="en-US" sz="2400" dirty="0">
                <a:solidFill>
                  <a:schemeClr val="tx1"/>
                </a:solidFill>
              </a:rPr>
              <a:t>	</a:t>
            </a:r>
            <a:endParaRPr lang="zh-CN" altLang="zh-CN" sz="2400" dirty="0"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023298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B21A633-576F-46D6-9FAA-ECFADAC6F967}" type="slidenum">
              <a:rPr lang="en-US" altLang="zh-CN" smtClean="0"/>
              <a:pPr>
                <a:defRPr/>
              </a:pPr>
              <a:t>18</a:t>
            </a:fld>
            <a:endParaRPr lang="en-US" altLang="zh-CN" dirty="0"/>
          </a:p>
        </p:txBody>
      </p:sp>
      <p:sp>
        <p:nvSpPr>
          <p:cNvPr id="2" name="矩形 1"/>
          <p:cNvSpPr/>
          <p:nvPr/>
        </p:nvSpPr>
        <p:spPr>
          <a:xfrm>
            <a:off x="1187624" y="260648"/>
            <a:ext cx="5904656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/>
              <a:t>#include &lt;stdio.h&gt;</a:t>
            </a:r>
          </a:p>
          <a:p>
            <a:r>
              <a:rPr lang="zh-CN" altLang="en-US" sz="2400" b="1" dirty="0"/>
              <a:t>#define N 5</a:t>
            </a:r>
          </a:p>
          <a:p>
            <a:r>
              <a:rPr lang="zh-CN" altLang="en-US" sz="2400" b="1" dirty="0"/>
              <a:t>int main()</a:t>
            </a:r>
          </a:p>
          <a:p>
            <a:r>
              <a:rPr lang="zh-CN" altLang="en-US" sz="2400" b="1" dirty="0"/>
              <a:t>{</a:t>
            </a:r>
          </a:p>
          <a:p>
            <a:r>
              <a:rPr lang="zh-CN" altLang="en-US" sz="2400" b="1" dirty="0"/>
              <a:t>    </a:t>
            </a:r>
            <a:r>
              <a:rPr lang="zh-CN" altLang="en-US" sz="2400" b="1" dirty="0">
                <a:solidFill>
                  <a:srgbClr val="FF0000"/>
                </a:solidFill>
              </a:rPr>
              <a:t>FILE *fp;</a:t>
            </a:r>
          </a:p>
          <a:p>
            <a:r>
              <a:rPr lang="zh-CN" altLang="en-US" sz="2400" b="1" dirty="0"/>
              <a:t>    int a[N]={2,4,6,8,10},b[N],i;</a:t>
            </a:r>
          </a:p>
          <a:p>
            <a:r>
              <a:rPr lang="zh-CN" altLang="en-US" sz="2400" b="1" dirty="0"/>
              <a:t>    fp=</a:t>
            </a:r>
            <a:r>
              <a:rPr lang="zh-CN" altLang="en-US" sz="2400" b="1" dirty="0">
                <a:solidFill>
                  <a:srgbClr val="FF0000"/>
                </a:solidFill>
              </a:rPr>
              <a:t>fopen("d: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\\test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4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.</a:t>
            </a:r>
            <a:r>
              <a:rPr lang="zh-CN" altLang="en-US" sz="2400" b="1" dirty="0">
                <a:solidFill>
                  <a:srgbClr val="FF0000"/>
                </a:solidFill>
              </a:rPr>
              <a:t>dat","wb");</a:t>
            </a:r>
          </a:p>
          <a:p>
            <a:r>
              <a:rPr lang="zh-CN" altLang="en-US" sz="2400" b="1" dirty="0"/>
              <a:t>    </a:t>
            </a:r>
            <a:r>
              <a:rPr lang="zh-CN" altLang="en-US" sz="2400" b="1" dirty="0">
                <a:solidFill>
                  <a:srgbClr val="FF0000"/>
                </a:solidFill>
              </a:rPr>
              <a:t>fwrite(a,sizeof(int),N,fp);</a:t>
            </a:r>
          </a:p>
          <a:p>
            <a:r>
              <a:rPr lang="zh-CN" altLang="en-US" sz="2400" b="1" dirty="0">
                <a:solidFill>
                  <a:srgbClr val="FF0000"/>
                </a:solidFill>
              </a:rPr>
              <a:t>    fclose(fp);</a:t>
            </a:r>
          </a:p>
          <a:p>
            <a:r>
              <a:rPr lang="zh-CN" altLang="en-US" sz="2400" b="1" dirty="0"/>
              <a:t>    fp=</a:t>
            </a:r>
            <a:r>
              <a:rPr lang="zh-CN" altLang="en-US" sz="2400" b="1" dirty="0">
                <a:solidFill>
                  <a:srgbClr val="FF0000"/>
                </a:solidFill>
              </a:rPr>
              <a:t>fopen("d: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\\test</a:t>
            </a:r>
            <a:r>
              <a:rPr lang="en-US" altLang="zh-CN" sz="2400" b="1" dirty="0" smtClean="0">
                <a:solidFill>
                  <a:srgbClr val="FF0000"/>
                </a:solidFill>
              </a:rPr>
              <a:t>4</a:t>
            </a:r>
            <a:r>
              <a:rPr lang="zh-CN" altLang="en-US" sz="2400" b="1" dirty="0" smtClean="0">
                <a:solidFill>
                  <a:srgbClr val="FF0000"/>
                </a:solidFill>
              </a:rPr>
              <a:t>.</a:t>
            </a:r>
            <a:r>
              <a:rPr lang="zh-CN" altLang="en-US" sz="2400" b="1" dirty="0">
                <a:solidFill>
                  <a:srgbClr val="FF0000"/>
                </a:solidFill>
              </a:rPr>
              <a:t>dat","rb");</a:t>
            </a:r>
          </a:p>
          <a:p>
            <a:r>
              <a:rPr lang="zh-CN" altLang="en-US" sz="2400" b="1" dirty="0"/>
              <a:t>    </a:t>
            </a:r>
            <a:r>
              <a:rPr lang="zh-CN" altLang="en-US" sz="2400" b="1" dirty="0">
                <a:solidFill>
                  <a:srgbClr val="FF0000"/>
                </a:solidFill>
              </a:rPr>
              <a:t>fread(b,sizeof(int),N,fp);</a:t>
            </a:r>
          </a:p>
          <a:p>
            <a:r>
              <a:rPr lang="zh-CN" altLang="en-US" sz="2400" b="1" dirty="0">
                <a:solidFill>
                  <a:srgbClr val="FF0000"/>
                </a:solidFill>
              </a:rPr>
              <a:t>    fclose(fp);</a:t>
            </a:r>
          </a:p>
          <a:p>
            <a:r>
              <a:rPr lang="zh-CN" altLang="en-US" sz="2400" b="1" dirty="0"/>
              <a:t>    for(i=0;i&lt;N;i++)</a:t>
            </a:r>
          </a:p>
          <a:p>
            <a:r>
              <a:rPr lang="zh-CN" altLang="en-US" sz="2400" b="1" dirty="0"/>
              <a:t>        printf("%d ",b[i]);</a:t>
            </a:r>
          </a:p>
          <a:p>
            <a:r>
              <a:rPr lang="zh-CN" altLang="en-US" sz="2400" b="1" dirty="0"/>
              <a:t>    printf("\n");</a:t>
            </a:r>
          </a:p>
          <a:p>
            <a:r>
              <a:rPr lang="zh-CN" altLang="en-US" sz="2400" b="1" dirty="0"/>
              <a:t>    return 0;</a:t>
            </a:r>
          </a:p>
          <a:p>
            <a:r>
              <a:rPr lang="zh-CN" altLang="en-US" sz="24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33868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10134" y="0"/>
            <a:ext cx="6334074" cy="67864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500" b="1" dirty="0"/>
              <a:t>#include &lt;stdio.h&gt;</a:t>
            </a:r>
          </a:p>
          <a:p>
            <a:r>
              <a:rPr lang="en-US" altLang="zh-CN" sz="1500" b="1" dirty="0"/>
              <a:t>struct sfile</a:t>
            </a:r>
          </a:p>
          <a:p>
            <a:r>
              <a:rPr lang="en-US" altLang="zh-CN" sz="1500" b="1" dirty="0"/>
              <a:t>{</a:t>
            </a:r>
          </a:p>
          <a:p>
            <a:r>
              <a:rPr lang="en-US" altLang="zh-CN" sz="1500" b="1" dirty="0"/>
              <a:t>	char  </a:t>
            </a:r>
            <a:r>
              <a:rPr lang="en-US" altLang="zh-CN" sz="1500" b="1" dirty="0" smtClean="0"/>
              <a:t>file[20</a:t>
            </a:r>
            <a:r>
              <a:rPr lang="en-US" altLang="zh-CN" sz="1500" b="1" dirty="0"/>
              <a:t>];</a:t>
            </a:r>
          </a:p>
          <a:p>
            <a:r>
              <a:rPr lang="en-US" altLang="zh-CN" sz="1500" b="1" dirty="0"/>
              <a:t>	</a:t>
            </a:r>
            <a:r>
              <a:rPr lang="en-US" altLang="zh-CN" sz="1500" b="1" dirty="0" smtClean="0"/>
              <a:t>FILE  *</a:t>
            </a:r>
            <a:r>
              <a:rPr lang="en-US" altLang="zh-CN" sz="1500" b="1" dirty="0" err="1" smtClean="0"/>
              <a:t>fp</a:t>
            </a:r>
            <a:r>
              <a:rPr lang="en-US" altLang="zh-CN" sz="1500" b="1" dirty="0"/>
              <a:t>;</a:t>
            </a:r>
          </a:p>
          <a:p>
            <a:r>
              <a:rPr lang="en-US" altLang="zh-CN" sz="1500" b="1" dirty="0"/>
              <a:t>};</a:t>
            </a:r>
          </a:p>
          <a:p>
            <a:r>
              <a:rPr lang="en-US" altLang="zh-CN" sz="1500" b="1" dirty="0"/>
              <a:t>void fun(struct sfile *p,int cmd)</a:t>
            </a:r>
          </a:p>
          <a:p>
            <a:r>
              <a:rPr lang="en-US" altLang="zh-CN" sz="1500" b="1" dirty="0"/>
              <a:t>{</a:t>
            </a:r>
          </a:p>
          <a:p>
            <a:r>
              <a:rPr lang="en-US" altLang="zh-CN" sz="1500" b="1" dirty="0"/>
              <a:t>	</a:t>
            </a:r>
            <a:r>
              <a:rPr lang="en-US" altLang="zh-CN" sz="1500" b="1" dirty="0" smtClean="0"/>
              <a:t>char s[81</a:t>
            </a:r>
            <a:r>
              <a:rPr lang="en-US" altLang="zh-CN" sz="1500" b="1" dirty="0"/>
              <a:t>];</a:t>
            </a:r>
          </a:p>
          <a:p>
            <a:r>
              <a:rPr lang="en-US" altLang="zh-CN" sz="1500" b="1" dirty="0"/>
              <a:t>	</a:t>
            </a:r>
            <a:r>
              <a:rPr lang="en-US" altLang="zh-CN" sz="1500" b="1" dirty="0" err="1" smtClean="0"/>
              <a:t>int</a:t>
            </a:r>
            <a:r>
              <a:rPr lang="en-US" altLang="zh-CN" sz="1500" b="1" dirty="0" smtClean="0"/>
              <a:t> </a:t>
            </a:r>
            <a:r>
              <a:rPr lang="en-US" altLang="zh-CN" sz="1500" b="1" dirty="0"/>
              <a:t>n;</a:t>
            </a:r>
          </a:p>
          <a:p>
            <a:r>
              <a:rPr lang="en-US" altLang="zh-CN" sz="1500" b="1" dirty="0"/>
              <a:t>	switch (cmd)</a:t>
            </a:r>
          </a:p>
          <a:p>
            <a:r>
              <a:rPr lang="en-US" altLang="zh-CN" sz="1500" b="1" dirty="0"/>
              <a:t>	{</a:t>
            </a:r>
          </a:p>
          <a:p>
            <a:r>
              <a:rPr lang="en-US" altLang="zh-CN" sz="1500" b="1" dirty="0"/>
              <a:t>		case 0:	</a:t>
            </a:r>
            <a:r>
              <a:rPr lang="en-US" altLang="zh-CN" sz="1500" b="1" dirty="0">
                <a:solidFill>
                  <a:srgbClr val="FF0000"/>
                </a:solidFill>
              </a:rPr>
              <a:t> p-&gt;fp=fopen(p-&gt;file,"r");</a:t>
            </a:r>
          </a:p>
          <a:p>
            <a:r>
              <a:rPr lang="en-US" altLang="zh-CN" sz="1500" b="1" dirty="0"/>
              <a:t>			     break;</a:t>
            </a:r>
          </a:p>
          <a:p>
            <a:r>
              <a:rPr lang="en-US" altLang="zh-CN" sz="1500" b="1" dirty="0"/>
              <a:t>		case 9:	</a:t>
            </a:r>
            <a:r>
              <a:rPr lang="en-US" altLang="zh-CN" sz="1500" b="1" dirty="0">
                <a:solidFill>
                  <a:srgbClr val="FF0000"/>
                </a:solidFill>
              </a:rPr>
              <a:t> fclose(p-&gt;fp);</a:t>
            </a:r>
          </a:p>
          <a:p>
            <a:r>
              <a:rPr lang="en-US" altLang="zh-CN" sz="1500" b="1" dirty="0"/>
              <a:t>			     break;</a:t>
            </a:r>
          </a:p>
          <a:p>
            <a:r>
              <a:rPr lang="en-US" altLang="zh-CN" sz="1500" b="1" dirty="0" smtClean="0"/>
              <a:t>		default:     </a:t>
            </a:r>
            <a:r>
              <a:rPr lang="en-US" altLang="zh-CN" sz="1500" b="1" dirty="0" err="1" smtClean="0">
                <a:solidFill>
                  <a:srgbClr val="FF0000"/>
                </a:solidFill>
              </a:rPr>
              <a:t>fscanf</a:t>
            </a:r>
            <a:r>
              <a:rPr lang="en-US" altLang="zh-CN" sz="1500" b="1" dirty="0" smtClean="0">
                <a:solidFill>
                  <a:srgbClr val="FF0000"/>
                </a:solidFill>
              </a:rPr>
              <a:t>(p-&gt;</a:t>
            </a:r>
            <a:r>
              <a:rPr lang="en-US" altLang="zh-CN" sz="1500" b="1" dirty="0" err="1" smtClean="0">
                <a:solidFill>
                  <a:srgbClr val="FF0000"/>
                </a:solidFill>
              </a:rPr>
              <a:t>fp</a:t>
            </a:r>
            <a:r>
              <a:rPr lang="en-US" altLang="zh-CN" sz="1500" b="1" dirty="0" smtClean="0">
                <a:solidFill>
                  <a:srgbClr val="FF0000"/>
                </a:solidFill>
              </a:rPr>
              <a:t>,"%d %s",&amp;</a:t>
            </a:r>
            <a:r>
              <a:rPr lang="en-US" altLang="zh-CN" sz="1500" b="1" dirty="0" err="1" smtClean="0">
                <a:solidFill>
                  <a:srgbClr val="FF0000"/>
                </a:solidFill>
              </a:rPr>
              <a:t>n,s</a:t>
            </a:r>
            <a:r>
              <a:rPr lang="en-US" altLang="zh-CN" sz="1500" b="1" dirty="0" smtClean="0">
                <a:solidFill>
                  <a:srgbClr val="FF0000"/>
                </a:solidFill>
              </a:rPr>
              <a:t>);</a:t>
            </a:r>
          </a:p>
          <a:p>
            <a:r>
              <a:rPr lang="en-US" altLang="zh-CN" sz="1500" b="1" dirty="0"/>
              <a:t>			</a:t>
            </a:r>
            <a:r>
              <a:rPr lang="en-US" altLang="zh-CN" sz="1500" b="1" dirty="0" smtClean="0"/>
              <a:t> printf("%</a:t>
            </a:r>
            <a:r>
              <a:rPr lang="en-US" altLang="zh-CN" sz="1500" b="1" dirty="0" err="1" smtClean="0"/>
              <a:t>d,%s</a:t>
            </a:r>
            <a:r>
              <a:rPr lang="en-US" altLang="zh-CN" sz="1500" b="1" dirty="0" smtClean="0"/>
              <a:t>\n",</a:t>
            </a:r>
            <a:r>
              <a:rPr lang="en-US" altLang="zh-CN" sz="1500" b="1" dirty="0" err="1" smtClean="0"/>
              <a:t>n,s</a:t>
            </a:r>
            <a:r>
              <a:rPr lang="en-US" altLang="zh-CN" sz="1500" b="1" dirty="0" smtClean="0"/>
              <a:t>);</a:t>
            </a:r>
          </a:p>
          <a:p>
            <a:r>
              <a:rPr lang="en-US" altLang="zh-CN" sz="1500" b="1" dirty="0" smtClean="0"/>
              <a:t>	}</a:t>
            </a:r>
          </a:p>
          <a:p>
            <a:r>
              <a:rPr lang="en-US" altLang="zh-CN" sz="1500" b="1" dirty="0" smtClean="0"/>
              <a:t>}</a:t>
            </a:r>
            <a:endParaRPr lang="en-US" altLang="zh-CN" sz="1500" b="1" dirty="0"/>
          </a:p>
          <a:p>
            <a:r>
              <a:rPr lang="en-US" altLang="zh-CN" sz="1500" b="1" dirty="0"/>
              <a:t>int main()</a:t>
            </a:r>
          </a:p>
          <a:p>
            <a:r>
              <a:rPr lang="en-US" altLang="zh-CN" sz="1500" b="1" dirty="0"/>
              <a:t>{</a:t>
            </a:r>
          </a:p>
          <a:p>
            <a:r>
              <a:rPr lang="en-US" altLang="zh-CN" sz="1500" b="1" dirty="0"/>
              <a:t>	struct sfile sf={"d:\\</a:t>
            </a:r>
            <a:r>
              <a:rPr lang="en-US" altLang="zh-CN" sz="1500" b="1" dirty="0" smtClean="0"/>
              <a:t>test5.txt</a:t>
            </a:r>
            <a:r>
              <a:rPr lang="en-US" altLang="zh-CN" sz="1500" b="1" dirty="0"/>
              <a:t>",NULL};</a:t>
            </a:r>
          </a:p>
          <a:p>
            <a:r>
              <a:rPr lang="en-US" altLang="zh-CN" sz="1500" b="1" dirty="0"/>
              <a:t>	int i;</a:t>
            </a:r>
          </a:p>
          <a:p>
            <a:r>
              <a:rPr lang="en-US" altLang="zh-CN" sz="1500" b="1" dirty="0"/>
              <a:t>	for (i=0;i&lt;=2;i++)</a:t>
            </a:r>
          </a:p>
          <a:p>
            <a:r>
              <a:rPr lang="en-US" altLang="zh-CN" sz="1500" b="1" dirty="0"/>
              <a:t>		fun(</a:t>
            </a:r>
            <a:r>
              <a:rPr lang="en-US" altLang="zh-CN" sz="1500" b="1" dirty="0">
                <a:solidFill>
                  <a:srgbClr val="FF0000"/>
                </a:solidFill>
              </a:rPr>
              <a:t>&amp;sf</a:t>
            </a:r>
            <a:r>
              <a:rPr lang="en-US" altLang="zh-CN" sz="1500" b="1" dirty="0"/>
              <a:t>,i);</a:t>
            </a:r>
          </a:p>
          <a:p>
            <a:r>
              <a:rPr lang="en-US" altLang="zh-CN" sz="1500" b="1" dirty="0"/>
              <a:t>	fun(&amp;sf,9);</a:t>
            </a:r>
          </a:p>
          <a:p>
            <a:r>
              <a:rPr lang="en-US" altLang="zh-CN" sz="1500" b="1" dirty="0"/>
              <a:t>	return 0;</a:t>
            </a:r>
          </a:p>
          <a:p>
            <a:r>
              <a:rPr lang="en-US" altLang="zh-CN" sz="1500" b="1" dirty="0" smtClean="0"/>
              <a:t>}</a:t>
            </a:r>
            <a:endParaRPr lang="en-US" altLang="zh-CN" sz="15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6012160" y="1268760"/>
            <a:ext cx="18722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660232" y="2204864"/>
            <a:ext cx="207988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800" b="1" dirty="0"/>
              <a:t>/*</a:t>
            </a:r>
            <a:r>
              <a:rPr lang="zh-CN" altLang="en-US" sz="1800" b="1" dirty="0"/>
              <a:t>假设文件操作总是成功的，且</a:t>
            </a:r>
            <a:r>
              <a:rPr lang="en-US" altLang="zh-CN" sz="1800" b="1" dirty="0" smtClean="0"/>
              <a:t>test5.txt</a:t>
            </a:r>
            <a:r>
              <a:rPr lang="zh-CN" altLang="en-US" sz="1800" b="1" dirty="0"/>
              <a:t>的内容为</a:t>
            </a:r>
          </a:p>
          <a:p>
            <a:r>
              <a:rPr lang="en-US" altLang="zh-CN" sz="1800" b="1" dirty="0"/>
              <a:t>11 word</a:t>
            </a:r>
          </a:p>
          <a:p>
            <a:r>
              <a:rPr lang="en-US" altLang="zh-CN" sz="1800" b="1" dirty="0"/>
              <a:t>22 powerpoint</a:t>
            </a:r>
          </a:p>
          <a:p>
            <a:r>
              <a:rPr lang="en-US" altLang="zh-CN" sz="1800" b="1" dirty="0"/>
              <a:t>33 outlook */</a:t>
            </a:r>
          </a:p>
        </p:txBody>
      </p:sp>
    </p:spTree>
    <p:extLst>
      <p:ext uri="{BB962C8B-B14F-4D97-AF65-F5344CB8AC3E}">
        <p14:creationId xmlns:p14="http://schemas.microsoft.com/office/powerpoint/2010/main" val="1371635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apsules">
  <a:themeElements>
    <a:clrScheme name="Capsules 1">
      <a:dk1>
        <a:srgbClr val="003366"/>
      </a:dk1>
      <a:lt1>
        <a:srgbClr val="FFFFFF"/>
      </a:lt1>
      <a:dk2>
        <a:srgbClr val="006666"/>
      </a:dk2>
      <a:lt2>
        <a:srgbClr val="666699"/>
      </a:lt2>
      <a:accent1>
        <a:srgbClr val="33CCCC"/>
      </a:accent1>
      <a:accent2>
        <a:srgbClr val="99CC99"/>
      </a:accent2>
      <a:accent3>
        <a:srgbClr val="FFFFFF"/>
      </a:accent3>
      <a:accent4>
        <a:srgbClr val="002A56"/>
      </a:accent4>
      <a:accent5>
        <a:srgbClr val="ADE2E2"/>
      </a:accent5>
      <a:accent6>
        <a:srgbClr val="8AB98A"/>
      </a:accent6>
      <a:hlink>
        <a:srgbClr val="003366"/>
      </a:hlink>
      <a:folHlink>
        <a:srgbClr val="CC99FF"/>
      </a:folHlink>
    </a:clrScheme>
    <a:fontScheme name="Capsules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Capsules 1">
        <a:dk1>
          <a:srgbClr val="003366"/>
        </a:dk1>
        <a:lt1>
          <a:srgbClr val="FFFFFF"/>
        </a:lt1>
        <a:dk2>
          <a:srgbClr val="006666"/>
        </a:dk2>
        <a:lt2>
          <a:srgbClr val="666699"/>
        </a:lt2>
        <a:accent1>
          <a:srgbClr val="33CCCC"/>
        </a:accent1>
        <a:accent2>
          <a:srgbClr val="99CC99"/>
        </a:accent2>
        <a:accent3>
          <a:srgbClr val="FFFFFF"/>
        </a:accent3>
        <a:accent4>
          <a:srgbClr val="002A56"/>
        </a:accent4>
        <a:accent5>
          <a:srgbClr val="ADE2E2"/>
        </a:accent5>
        <a:accent6>
          <a:srgbClr val="8AB98A"/>
        </a:accent6>
        <a:hlink>
          <a:srgbClr val="003366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2">
        <a:dk1>
          <a:srgbClr val="000000"/>
        </a:dk1>
        <a:lt1>
          <a:srgbClr val="FFFFFF"/>
        </a:lt1>
        <a:dk2>
          <a:srgbClr val="000000"/>
        </a:dk2>
        <a:lt2>
          <a:srgbClr val="808000"/>
        </a:lt2>
        <a:accent1>
          <a:srgbClr val="FFCC99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8AB900"/>
        </a:accent6>
        <a:hlink>
          <a:srgbClr val="336600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3">
        <a:dk1>
          <a:srgbClr val="006699"/>
        </a:dk1>
        <a:lt1>
          <a:srgbClr val="FFFFFF"/>
        </a:lt1>
        <a:dk2>
          <a:srgbClr val="6699FF"/>
        </a:dk2>
        <a:lt2>
          <a:srgbClr val="FFFFFF"/>
        </a:lt2>
        <a:accent1>
          <a:srgbClr val="33CCCC"/>
        </a:accent1>
        <a:accent2>
          <a:srgbClr val="006699"/>
        </a:accent2>
        <a:accent3>
          <a:srgbClr val="B8CAFF"/>
        </a:accent3>
        <a:accent4>
          <a:srgbClr val="DADADA"/>
        </a:accent4>
        <a:accent5>
          <a:srgbClr val="ADE2E2"/>
        </a:accent5>
        <a:accent6>
          <a:srgbClr val="005C8A"/>
        </a:accent6>
        <a:hlink>
          <a:srgbClr val="99CC00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4">
        <a:dk1>
          <a:srgbClr val="000000"/>
        </a:dk1>
        <a:lt1>
          <a:srgbClr val="FFFFFF"/>
        </a:lt1>
        <a:dk2>
          <a:srgbClr val="9900CC"/>
        </a:dk2>
        <a:lt2>
          <a:srgbClr val="006600"/>
        </a:lt2>
        <a:accent1>
          <a:srgbClr val="33CC33"/>
        </a:accent1>
        <a:accent2>
          <a:srgbClr val="FFCC66"/>
        </a:accent2>
        <a:accent3>
          <a:srgbClr val="FFFFFF"/>
        </a:accent3>
        <a:accent4>
          <a:srgbClr val="000000"/>
        </a:accent4>
        <a:accent5>
          <a:srgbClr val="ADE2AD"/>
        </a:accent5>
        <a:accent6>
          <a:srgbClr val="E7B95C"/>
        </a:accent6>
        <a:hlink>
          <a:srgbClr val="0033CC"/>
        </a:hlink>
        <a:folHlink>
          <a:srgbClr val="CC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es 5">
        <a:dk1>
          <a:srgbClr val="000066"/>
        </a:dk1>
        <a:lt1>
          <a:srgbClr val="FFFFFF"/>
        </a:lt1>
        <a:dk2>
          <a:srgbClr val="336699"/>
        </a:dk2>
        <a:lt2>
          <a:srgbClr val="FFFFEB"/>
        </a:lt2>
        <a:accent1>
          <a:srgbClr val="99CCFF"/>
        </a:accent1>
        <a:accent2>
          <a:srgbClr val="9999FF"/>
        </a:accent2>
        <a:accent3>
          <a:srgbClr val="ADB8CA"/>
        </a:accent3>
        <a:accent4>
          <a:srgbClr val="DADADA"/>
        </a:accent4>
        <a:accent5>
          <a:srgbClr val="CAE2FF"/>
        </a:accent5>
        <a:accent6>
          <a:srgbClr val="8A8A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6">
        <a:dk1>
          <a:srgbClr val="808000"/>
        </a:dk1>
        <a:lt1>
          <a:srgbClr val="FFFFFF"/>
        </a:lt1>
        <a:dk2>
          <a:srgbClr val="006666"/>
        </a:dk2>
        <a:lt2>
          <a:srgbClr val="FFFFFF"/>
        </a:lt2>
        <a:accent1>
          <a:srgbClr val="FFCC66"/>
        </a:accent1>
        <a:accent2>
          <a:srgbClr val="00ACA8"/>
        </a:accent2>
        <a:accent3>
          <a:srgbClr val="AAB8B8"/>
        </a:accent3>
        <a:accent4>
          <a:srgbClr val="DADADA"/>
        </a:accent4>
        <a:accent5>
          <a:srgbClr val="FFE2B8"/>
        </a:accent5>
        <a:accent6>
          <a:srgbClr val="009B98"/>
        </a:accent6>
        <a:hlink>
          <a:srgbClr val="CCCC00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7">
        <a:dk1>
          <a:srgbClr val="FFFFCC"/>
        </a:dk1>
        <a:lt1>
          <a:srgbClr val="FFFFFF"/>
        </a:lt1>
        <a:dk2>
          <a:srgbClr val="660033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B8AAAD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FFCC00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es 8">
        <a:dk1>
          <a:srgbClr val="FF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CC00"/>
        </a:accent1>
        <a:accent2>
          <a:srgbClr val="CC3300"/>
        </a:accent2>
        <a:accent3>
          <a:srgbClr val="AA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FF6600"/>
        </a:hlink>
        <a:folHlink>
          <a:srgbClr val="FF7C8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apsules 1">
    <a:dk1>
      <a:srgbClr val="003366"/>
    </a:dk1>
    <a:lt1>
      <a:srgbClr val="FFFFFF"/>
    </a:lt1>
    <a:dk2>
      <a:srgbClr val="006666"/>
    </a:dk2>
    <a:lt2>
      <a:srgbClr val="666699"/>
    </a:lt2>
    <a:accent1>
      <a:srgbClr val="33CCCC"/>
    </a:accent1>
    <a:accent2>
      <a:srgbClr val="99CC99"/>
    </a:accent2>
    <a:accent3>
      <a:srgbClr val="FFFFFF"/>
    </a:accent3>
    <a:accent4>
      <a:srgbClr val="002A56"/>
    </a:accent4>
    <a:accent5>
      <a:srgbClr val="ADE2E2"/>
    </a:accent5>
    <a:accent6>
      <a:srgbClr val="8AB98A"/>
    </a:accent6>
    <a:hlink>
      <a:srgbClr val="003366"/>
    </a:hlink>
    <a:folHlink>
      <a:srgbClr val="CC99FF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5403</TotalTime>
  <Words>1721</Words>
  <Application>Microsoft Office PowerPoint</Application>
  <PresentationFormat>全屏显示(4:3)</PresentationFormat>
  <Paragraphs>244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Dotum</vt:lpstr>
      <vt:lpstr>Gautami</vt:lpstr>
      <vt:lpstr>方正姚体</vt:lpstr>
      <vt:lpstr>黑体</vt:lpstr>
      <vt:lpstr>华文楷体</vt:lpstr>
      <vt:lpstr>宋体</vt:lpstr>
      <vt:lpstr>Arial</vt:lpstr>
      <vt:lpstr>Webdings</vt:lpstr>
      <vt:lpstr>Wingdings</vt:lpstr>
      <vt:lpstr>Capsules</vt:lpstr>
      <vt:lpstr>主要内容</vt:lpstr>
      <vt:lpstr>文件的类型</vt:lpstr>
      <vt:lpstr>缓冲文件系统</vt:lpstr>
      <vt:lpstr>文件指针</vt:lpstr>
      <vt:lpstr>文件的打开与关闭</vt:lpstr>
      <vt:lpstr>PowerPoint 演示文稿</vt:lpstr>
      <vt:lpstr>打开文件</vt:lpstr>
      <vt:lpstr>打开文件</vt:lpstr>
      <vt:lpstr>关闭文件</vt:lpstr>
      <vt:lpstr>PowerPoint 演示文稿</vt:lpstr>
      <vt:lpstr>文件的读写</vt:lpstr>
      <vt:lpstr>文件的读写</vt:lpstr>
      <vt:lpstr>PowerPoint 演示文稿</vt:lpstr>
      <vt:lpstr>文件的读写</vt:lpstr>
      <vt:lpstr>PowerPoint 演示文稿</vt:lpstr>
      <vt:lpstr>文件的读写</vt:lpstr>
      <vt:lpstr>PowerPoint 演示文稿</vt:lpstr>
      <vt:lpstr>文件的读写</vt:lpstr>
      <vt:lpstr>PowerPoint 演示文稿</vt:lpstr>
      <vt:lpstr>PowerPoint 演示文稿</vt:lpstr>
    </vt:vector>
  </TitlesOfParts>
  <Company>Shanghai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第一章</dc:title>
  <dc:creator>Richard M. Lu</dc:creator>
  <dc:description>2007年第五版</dc:description>
  <cp:lastModifiedBy>Windows 用户</cp:lastModifiedBy>
  <cp:revision>1040</cp:revision>
  <dcterms:created xsi:type="dcterms:W3CDTF">2007-07-11T13:28:25Z</dcterms:created>
  <dcterms:modified xsi:type="dcterms:W3CDTF">2020-03-20T03:41:58Z</dcterms:modified>
</cp:coreProperties>
</file>